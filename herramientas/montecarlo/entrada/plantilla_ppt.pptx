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403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"/>
          </a:xfrm>
          <a:prstGeom prst="rect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1000" dirty="0">
                <a:solidFill>
                  <a:srgbClr val="FFA0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BLOOMBERG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DE COLORES OFICIAL  ·  Data Visualization · Financial Authority · Analytical Precision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781812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Shape 4"/>
          <p:cNvSpPr/>
          <p:nvPr/>
        </p:nvSpPr>
        <p:spPr>
          <a:xfrm>
            <a:off x="8183880" y="73152"/>
            <a:ext cx="18288" cy="6720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274320" y="694944"/>
            <a:ext cx="7818120" cy="201168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>
            <a:off x="274320" y="694944"/>
            <a:ext cx="36576" cy="201168"/>
          </a:xfrm>
          <a:prstGeom prst="rect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Text 7"/>
          <p:cNvSpPr/>
          <p:nvPr/>
        </p:nvSpPr>
        <p:spPr>
          <a:xfrm>
            <a:off x="365760" y="6949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CORPORATIVA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4320" y="694944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Mobbin · BrandColorCode · Bloomberg.com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274320" y="896112"/>
            <a:ext cx="2563368" cy="77952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" name="Text 10"/>
          <p:cNvSpPr/>
          <p:nvPr/>
        </p:nvSpPr>
        <p:spPr>
          <a:xfrm>
            <a:off x="338328" y="1474470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#000000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1675638"/>
            <a:ext cx="2563368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/>
          <p:nvPr/>
        </p:nvSpPr>
        <p:spPr>
          <a:xfrm>
            <a:off x="338328" y="1703070"/>
            <a:ext cx="2471928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Negro Bloomberg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38328" y="1885859"/>
            <a:ext cx="2471928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0, 0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338328" y="2005302"/>
            <a:ext cx="2471928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principal · Terminal BG · Autoridad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2901696" y="896112"/>
            <a:ext cx="2563368" cy="77952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" name="Text 16"/>
          <p:cNvSpPr/>
          <p:nvPr/>
        </p:nvSpPr>
        <p:spPr>
          <a:xfrm>
            <a:off x="2965704" y="1474470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901696" y="1675638"/>
            <a:ext cx="2563368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0" name="Text 18"/>
          <p:cNvSpPr/>
          <p:nvPr/>
        </p:nvSpPr>
        <p:spPr>
          <a:xfrm>
            <a:off x="2965704" y="1703070"/>
            <a:ext cx="2471928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Blanco Bloomberg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965704" y="1885859"/>
            <a:ext cx="2471928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255, 255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2965704" y="2005302"/>
            <a:ext cx="2471928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· Contraste · Legibilidad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5529072" y="896112"/>
            <a:ext cx="2563368" cy="779526"/>
          </a:xfrm>
          <a:prstGeom prst="rect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4" name="Text 22"/>
          <p:cNvSpPr/>
          <p:nvPr/>
        </p:nvSpPr>
        <p:spPr>
          <a:xfrm>
            <a:off x="5593080" y="1474470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#FFA028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529072" y="1675638"/>
            <a:ext cx="2563368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6" name="Text 24"/>
          <p:cNvSpPr/>
          <p:nvPr/>
        </p:nvSpPr>
        <p:spPr>
          <a:xfrm>
            <a:off x="5593080" y="1703070"/>
            <a:ext cx="2471928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Sunshade Amber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593080" y="1885859"/>
            <a:ext cx="2471928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160, 40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5593080" y="2005302"/>
            <a:ext cx="2471928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icónico. Acento principal de marca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274320" y="2226564"/>
            <a:ext cx="7818120" cy="201168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0" name="Shape 28"/>
          <p:cNvSpPr/>
          <p:nvPr/>
        </p:nvSpPr>
        <p:spPr>
          <a:xfrm>
            <a:off x="274320" y="2226564"/>
            <a:ext cx="36576" cy="201168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1" name="Text 29"/>
          <p:cNvSpPr/>
          <p:nvPr/>
        </p:nvSpPr>
        <p:spPr>
          <a:xfrm>
            <a:off x="365760" y="22265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— FONDOS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74320" y="2226564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Bloomberg Design · Bloomberg LP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274320" y="2427732"/>
            <a:ext cx="1512418" cy="77952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4" name="Text 32"/>
          <p:cNvSpPr/>
          <p:nvPr/>
        </p:nvSpPr>
        <p:spPr>
          <a:xfrm>
            <a:off x="338328" y="3006090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#000000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3207258"/>
            <a:ext cx="1512418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6" name="Text 34"/>
          <p:cNvSpPr/>
          <p:nvPr/>
        </p:nvSpPr>
        <p:spPr>
          <a:xfrm>
            <a:off x="338328" y="3234690"/>
            <a:ext cx="1420978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Black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38328" y="3417479"/>
            <a:ext cx="1420978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0, 0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338328" y="3536922"/>
            <a:ext cx="1420978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base de todos los paneles del terminal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1850746" y="2427732"/>
            <a:ext cx="1512418" cy="779526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0" name="Text 38"/>
          <p:cNvSpPr/>
          <p:nvPr/>
        </p:nvSpPr>
        <p:spPr>
          <a:xfrm>
            <a:off x="1914754" y="3006090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#0D0D0D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850746" y="3207258"/>
            <a:ext cx="1512418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2" name="Text 40"/>
          <p:cNvSpPr/>
          <p:nvPr/>
        </p:nvSpPr>
        <p:spPr>
          <a:xfrm>
            <a:off x="1914754" y="3234690"/>
            <a:ext cx="1420978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Black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914754" y="3417479"/>
            <a:ext cx="1420978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13, 13, 13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1914754" y="3536922"/>
            <a:ext cx="1420978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para slides de portada premium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3427171" y="2427732"/>
            <a:ext cx="1512418" cy="77952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6" name="Text 44"/>
          <p:cNvSpPr/>
          <p:nvPr/>
        </p:nvSpPr>
        <p:spPr>
          <a:xfrm>
            <a:off x="3491179" y="3006090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#1A1A1A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427171" y="3207258"/>
            <a:ext cx="1512418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8" name="Text 46"/>
          <p:cNvSpPr/>
          <p:nvPr/>
        </p:nvSpPr>
        <p:spPr>
          <a:xfrm>
            <a:off x="3491179" y="3234690"/>
            <a:ext cx="1420978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Oscuro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491179" y="3417479"/>
            <a:ext cx="1420978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26, 26, 26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3491179" y="3536922"/>
            <a:ext cx="1420978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y paneles de contenido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5003597" y="2427732"/>
            <a:ext cx="1512418" cy="77952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2" name="Text 50"/>
          <p:cNvSpPr/>
          <p:nvPr/>
        </p:nvSpPr>
        <p:spPr>
          <a:xfrm>
            <a:off x="5067605" y="3006090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#2A2A2A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003597" y="3207258"/>
            <a:ext cx="1512418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4" name="Text 52"/>
          <p:cNvSpPr/>
          <p:nvPr/>
        </p:nvSpPr>
        <p:spPr>
          <a:xfrm>
            <a:off x="5067605" y="3234690"/>
            <a:ext cx="1420978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Secundario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067605" y="3417479"/>
            <a:ext cx="1420978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42, 42, 42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5067605" y="3536922"/>
            <a:ext cx="1420978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Capas intermedias · Hover states</a:t>
            </a:r>
            <a:endParaRPr lang="en-US" sz="600" dirty="0"/>
          </a:p>
        </p:txBody>
      </p:sp>
      <p:sp>
        <p:nvSpPr>
          <p:cNvPr id="57" name="Shape 55"/>
          <p:cNvSpPr/>
          <p:nvPr/>
        </p:nvSpPr>
        <p:spPr>
          <a:xfrm>
            <a:off x="6580022" y="2427732"/>
            <a:ext cx="1512418" cy="77952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8" name="Text 56"/>
          <p:cNvSpPr/>
          <p:nvPr/>
        </p:nvSpPr>
        <p:spPr>
          <a:xfrm>
            <a:off x="6644030" y="3006090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#333333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580022" y="3207258"/>
            <a:ext cx="1512418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0" name="Text 58"/>
          <p:cNvSpPr/>
          <p:nvPr/>
        </p:nvSpPr>
        <p:spPr>
          <a:xfrm>
            <a:off x="6644030" y="3234690"/>
            <a:ext cx="1420978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Separador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644030" y="3417479"/>
            <a:ext cx="1420978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51, 51, 51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6644030" y="3536922"/>
            <a:ext cx="1420978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Divisores · bordes · líneas de grid</a:t>
            </a:r>
            <a:endParaRPr lang="en-US" sz="600" dirty="0"/>
          </a:p>
        </p:txBody>
      </p:sp>
      <p:sp>
        <p:nvSpPr>
          <p:cNvPr id="63" name="Shape 61"/>
          <p:cNvSpPr/>
          <p:nvPr/>
        </p:nvSpPr>
        <p:spPr>
          <a:xfrm>
            <a:off x="274320" y="3758184"/>
            <a:ext cx="7818120" cy="201168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4" name="Shape 62"/>
          <p:cNvSpPr/>
          <p:nvPr/>
        </p:nvSpPr>
        <p:spPr>
          <a:xfrm>
            <a:off x="274320" y="3758184"/>
            <a:ext cx="36576" cy="201168"/>
          </a:xfrm>
          <a:prstGeom prst="rect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5" name="Text 63"/>
          <p:cNvSpPr/>
          <p:nvPr/>
        </p:nvSpPr>
        <p:spPr>
          <a:xfrm>
            <a:off x="365760" y="37581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— ÁMBAR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274320" y="3758184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Bloomberg LP · brandcolorcode.com</a:t>
            </a:r>
            <a:endParaRPr lang="en-US" sz="600" dirty="0"/>
          </a:p>
        </p:txBody>
      </p:sp>
      <p:sp>
        <p:nvSpPr>
          <p:cNvPr id="67" name="Shape 65"/>
          <p:cNvSpPr/>
          <p:nvPr/>
        </p:nvSpPr>
        <p:spPr>
          <a:xfrm>
            <a:off x="274320" y="3959352"/>
            <a:ext cx="1249680" cy="779526"/>
          </a:xfrm>
          <a:prstGeom prst="rect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8" name="Text 66"/>
          <p:cNvSpPr/>
          <p:nvPr/>
        </p:nvSpPr>
        <p:spPr>
          <a:xfrm>
            <a:off x="338328" y="4537710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#FFA028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74320" y="4738878"/>
            <a:ext cx="1249680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0" name="Text 68"/>
          <p:cNvSpPr/>
          <p:nvPr/>
        </p:nvSpPr>
        <p:spPr>
          <a:xfrm>
            <a:off x="338328" y="4766310"/>
            <a:ext cx="1158240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Sunshade Amber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338328" y="4949099"/>
            <a:ext cx="1158240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160, 40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338328" y="5068542"/>
            <a:ext cx="1158240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oficial de marca. Fuente base del terminal</a:t>
            </a:r>
            <a:endParaRPr lang="en-US" sz="600" dirty="0"/>
          </a:p>
        </p:txBody>
      </p:sp>
      <p:sp>
        <p:nvSpPr>
          <p:cNvPr id="73" name="Shape 71"/>
          <p:cNvSpPr/>
          <p:nvPr/>
        </p:nvSpPr>
        <p:spPr>
          <a:xfrm>
            <a:off x="1588008" y="3959352"/>
            <a:ext cx="1249680" cy="77952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4" name="Text 72"/>
          <p:cNvSpPr/>
          <p:nvPr/>
        </p:nvSpPr>
        <p:spPr>
          <a:xfrm>
            <a:off x="1652016" y="4537710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#FF6600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1588008" y="4738878"/>
            <a:ext cx="1249680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6" name="Text 74"/>
          <p:cNvSpPr/>
          <p:nvPr/>
        </p:nvSpPr>
        <p:spPr>
          <a:xfrm>
            <a:off x="1652016" y="4766310"/>
            <a:ext cx="1158240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Bloomberg Orange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1652016" y="4949099"/>
            <a:ext cx="1158240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102, 0</a:t>
            </a:r>
            <a:endParaRPr lang="en-US" sz="600" dirty="0"/>
          </a:p>
        </p:txBody>
      </p:sp>
      <p:sp>
        <p:nvSpPr>
          <p:cNvPr id="78" name="Text 76"/>
          <p:cNvSpPr/>
          <p:nvPr/>
        </p:nvSpPr>
        <p:spPr>
          <a:xfrm>
            <a:off x="1652016" y="5068542"/>
            <a:ext cx="1158240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Bloomberg.com · Headlines · CTAs digitales</a:t>
            </a:r>
            <a:endParaRPr lang="en-US" sz="600" dirty="0"/>
          </a:p>
        </p:txBody>
      </p:sp>
      <p:sp>
        <p:nvSpPr>
          <p:cNvPr id="79" name="Shape 77"/>
          <p:cNvSpPr/>
          <p:nvPr/>
        </p:nvSpPr>
        <p:spPr>
          <a:xfrm>
            <a:off x="2901696" y="3959352"/>
            <a:ext cx="1249680" cy="779526"/>
          </a:xfrm>
          <a:prstGeom prst="rect">
            <a:avLst/>
          </a:prstGeom>
          <a:solidFill>
            <a:srgbClr val="FB8B1E"/>
          </a:solidFill>
          <a:ln w="12700">
            <a:solidFill>
              <a:srgbClr val="FB8B1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0" name="Text 78"/>
          <p:cNvSpPr/>
          <p:nvPr/>
        </p:nvSpPr>
        <p:spPr>
          <a:xfrm>
            <a:off x="2965704" y="4537710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#FB8B1E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2901696" y="4738878"/>
            <a:ext cx="1249680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2" name="Text 80"/>
          <p:cNvSpPr/>
          <p:nvPr/>
        </p:nvSpPr>
        <p:spPr>
          <a:xfrm>
            <a:off x="2965704" y="4766310"/>
            <a:ext cx="1158240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Cálido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2965704" y="4949099"/>
            <a:ext cx="1158240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251, 139, 30</a:t>
            </a:r>
            <a:endParaRPr lang="en-US" sz="600" dirty="0"/>
          </a:p>
        </p:txBody>
      </p:sp>
      <p:sp>
        <p:nvSpPr>
          <p:cNvPr id="84" name="Text 82"/>
          <p:cNvSpPr/>
          <p:nvPr/>
        </p:nvSpPr>
        <p:spPr>
          <a:xfrm>
            <a:off x="2965704" y="5068542"/>
            <a:ext cx="1158240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Gráficas · Highlights de datos</a:t>
            </a:r>
            <a:endParaRPr lang="en-US" sz="600" dirty="0"/>
          </a:p>
        </p:txBody>
      </p:sp>
      <p:sp>
        <p:nvSpPr>
          <p:cNvPr id="85" name="Shape 83"/>
          <p:cNvSpPr/>
          <p:nvPr/>
        </p:nvSpPr>
        <p:spPr>
          <a:xfrm>
            <a:off x="4215384" y="3959352"/>
            <a:ext cx="1249680" cy="779526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6" name="Text 84"/>
          <p:cNvSpPr/>
          <p:nvPr/>
        </p:nvSpPr>
        <p:spPr>
          <a:xfrm>
            <a:off x="4279392" y="4537710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#FFB020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4215384" y="4738878"/>
            <a:ext cx="1249680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8" name="Text 86"/>
          <p:cNvSpPr/>
          <p:nvPr/>
        </p:nvSpPr>
        <p:spPr>
          <a:xfrm>
            <a:off x="4279392" y="4766310"/>
            <a:ext cx="1158240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Medio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4279392" y="4949099"/>
            <a:ext cx="1158240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176, 32</a:t>
            </a:r>
            <a:endParaRPr lang="en-US" sz="600" dirty="0"/>
          </a:p>
        </p:txBody>
      </p:sp>
      <p:sp>
        <p:nvSpPr>
          <p:cNvPr id="90" name="Text 88"/>
          <p:cNvSpPr/>
          <p:nvPr/>
        </p:nvSpPr>
        <p:spPr>
          <a:xfrm>
            <a:off x="4279392" y="5068542"/>
            <a:ext cx="1158240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· Métricas · Datos destacados</a:t>
            </a:r>
            <a:endParaRPr lang="en-US" sz="600" dirty="0"/>
          </a:p>
        </p:txBody>
      </p:sp>
      <p:sp>
        <p:nvSpPr>
          <p:cNvPr id="91" name="Shape 89"/>
          <p:cNvSpPr/>
          <p:nvPr/>
        </p:nvSpPr>
        <p:spPr>
          <a:xfrm>
            <a:off x="5529072" y="3959352"/>
            <a:ext cx="1249680" cy="779526"/>
          </a:xfrm>
          <a:prstGeom prst="rect">
            <a:avLst/>
          </a:prstGeom>
          <a:solidFill>
            <a:srgbClr val="D4890A"/>
          </a:solidFill>
          <a:ln w="12700">
            <a:solidFill>
              <a:srgbClr val="D4890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2" name="Text 90"/>
          <p:cNvSpPr/>
          <p:nvPr/>
        </p:nvSpPr>
        <p:spPr>
          <a:xfrm>
            <a:off x="5593080" y="4537710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#D4890A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5529072" y="4738878"/>
            <a:ext cx="1249680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4" name="Text 92"/>
          <p:cNvSpPr/>
          <p:nvPr/>
        </p:nvSpPr>
        <p:spPr>
          <a:xfrm>
            <a:off x="5593080" y="4766310"/>
            <a:ext cx="1158240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Oscuro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5593080" y="4949099"/>
            <a:ext cx="1158240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212, 137, 10</a:t>
            </a:r>
            <a:endParaRPr lang="en-US" sz="600" dirty="0"/>
          </a:p>
        </p:txBody>
      </p:sp>
      <p:sp>
        <p:nvSpPr>
          <p:cNvPr id="96" name="Text 94"/>
          <p:cNvSpPr/>
          <p:nvPr/>
        </p:nvSpPr>
        <p:spPr>
          <a:xfrm>
            <a:off x="5593080" y="5068542"/>
            <a:ext cx="1158240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Textos sobre fondos claros</a:t>
            </a:r>
            <a:endParaRPr lang="en-US" sz="600" dirty="0"/>
          </a:p>
        </p:txBody>
      </p:sp>
      <p:sp>
        <p:nvSpPr>
          <p:cNvPr id="97" name="Shape 95"/>
          <p:cNvSpPr/>
          <p:nvPr/>
        </p:nvSpPr>
        <p:spPr>
          <a:xfrm>
            <a:off x="6842760" y="3959352"/>
            <a:ext cx="1249680" cy="779526"/>
          </a:xfrm>
          <a:prstGeom prst="rect">
            <a:avLst/>
          </a:prstGeom>
          <a:solidFill>
            <a:srgbClr val="CC7A00"/>
          </a:solidFill>
          <a:ln w="12700">
            <a:solidFill>
              <a:srgbClr val="CC7A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8" name="Text 96"/>
          <p:cNvSpPr/>
          <p:nvPr/>
        </p:nvSpPr>
        <p:spPr>
          <a:xfrm>
            <a:off x="6906768" y="4537710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#CC7A00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6842760" y="4738878"/>
            <a:ext cx="1249680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0" name="Text 98"/>
          <p:cNvSpPr/>
          <p:nvPr/>
        </p:nvSpPr>
        <p:spPr>
          <a:xfrm>
            <a:off x="6906768" y="4766310"/>
            <a:ext cx="1158240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Profundo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6906768" y="4949099"/>
            <a:ext cx="1158240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204, 122, 0</a:t>
            </a:r>
            <a:endParaRPr lang="en-US" sz="600" dirty="0"/>
          </a:p>
        </p:txBody>
      </p:sp>
      <p:sp>
        <p:nvSpPr>
          <p:cNvPr id="102" name="Text 100"/>
          <p:cNvSpPr/>
          <p:nvPr/>
        </p:nvSpPr>
        <p:spPr>
          <a:xfrm>
            <a:off x="6906768" y="5068542"/>
            <a:ext cx="1158240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Bordes activos · Estado seleccionado</a:t>
            </a:r>
            <a:endParaRPr lang="en-US" sz="600" dirty="0"/>
          </a:p>
        </p:txBody>
      </p:sp>
      <p:sp>
        <p:nvSpPr>
          <p:cNvPr id="103" name="Shape 101"/>
          <p:cNvSpPr/>
          <p:nvPr/>
        </p:nvSpPr>
        <p:spPr>
          <a:xfrm>
            <a:off x="274320" y="5289804"/>
            <a:ext cx="7818120" cy="201168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4" name="Shape 102"/>
          <p:cNvSpPr/>
          <p:nvPr/>
        </p:nvSpPr>
        <p:spPr>
          <a:xfrm>
            <a:off x="274320" y="5289804"/>
            <a:ext cx="36576" cy="201168"/>
          </a:xfrm>
          <a:prstGeom prst="rect">
            <a:avLst/>
          </a:prstGeom>
          <a:solidFill>
            <a:srgbClr val="4AF6C3"/>
          </a:solidFill>
          <a:ln w="12700">
            <a:solidFill>
              <a:srgbClr val="4AF6C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5" name="Text 103"/>
          <p:cNvSpPr/>
          <p:nvPr/>
        </p:nvSpPr>
        <p:spPr>
          <a:xfrm>
            <a:off x="365760" y="52898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AF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— SEMÁNTICOS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274320" y="5289804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Bloomberg UX · Bloomberg Terminal Interface</a:t>
            </a:r>
            <a:endParaRPr lang="en-US" sz="600" dirty="0"/>
          </a:p>
        </p:txBody>
      </p:sp>
      <p:sp>
        <p:nvSpPr>
          <p:cNvPr id="107" name="Shape 105"/>
          <p:cNvSpPr/>
          <p:nvPr/>
        </p:nvSpPr>
        <p:spPr>
          <a:xfrm>
            <a:off x="274320" y="5490972"/>
            <a:ext cx="1249680" cy="779526"/>
          </a:xfrm>
          <a:prstGeom prst="rect">
            <a:avLst/>
          </a:prstGeom>
          <a:solidFill>
            <a:srgbClr val="00C805"/>
          </a:solidFill>
          <a:ln w="12700">
            <a:solidFill>
              <a:srgbClr val="00C80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8" name="Text 106"/>
          <p:cNvSpPr/>
          <p:nvPr/>
        </p:nvSpPr>
        <p:spPr>
          <a:xfrm>
            <a:off x="338328" y="6069330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#00C805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274320" y="6270498"/>
            <a:ext cx="1249680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0" name="Text 108"/>
          <p:cNvSpPr/>
          <p:nvPr/>
        </p:nvSpPr>
        <p:spPr>
          <a:xfrm>
            <a:off x="338328" y="6297930"/>
            <a:ext cx="1158240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 Up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338328" y="6480719"/>
            <a:ext cx="1158240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200, 5</a:t>
            </a:r>
            <a:endParaRPr lang="en-US" sz="600" dirty="0"/>
          </a:p>
        </p:txBody>
      </p:sp>
      <p:sp>
        <p:nvSpPr>
          <p:cNvPr id="112" name="Text 110"/>
          <p:cNvSpPr/>
          <p:nvPr/>
        </p:nvSpPr>
        <p:spPr>
          <a:xfrm>
            <a:off x="338328" y="6600162"/>
            <a:ext cx="1158240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alcista · Positivo · Avance</a:t>
            </a:r>
            <a:endParaRPr lang="en-US" sz="600" dirty="0"/>
          </a:p>
        </p:txBody>
      </p:sp>
      <p:sp>
        <p:nvSpPr>
          <p:cNvPr id="113" name="Shape 111"/>
          <p:cNvSpPr/>
          <p:nvPr/>
        </p:nvSpPr>
        <p:spPr>
          <a:xfrm>
            <a:off x="1588008" y="5490972"/>
            <a:ext cx="1249680" cy="779526"/>
          </a:xfrm>
          <a:prstGeom prst="rect">
            <a:avLst/>
          </a:prstGeom>
          <a:solidFill>
            <a:srgbClr val="4AF6C3"/>
          </a:solidFill>
          <a:ln w="12700">
            <a:solidFill>
              <a:srgbClr val="4AF6C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4" name="Text 112"/>
          <p:cNvSpPr/>
          <p:nvPr/>
        </p:nvSpPr>
        <p:spPr>
          <a:xfrm>
            <a:off x="1652016" y="6069330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#4AF6C3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1588008" y="6270498"/>
            <a:ext cx="1249680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6" name="Text 114"/>
          <p:cNvSpPr/>
          <p:nvPr/>
        </p:nvSpPr>
        <p:spPr>
          <a:xfrm>
            <a:off x="1652016" y="6297930"/>
            <a:ext cx="1158240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 Datos</a:t>
            </a:r>
            <a:endParaRPr lang="en-US" sz="750" dirty="0"/>
          </a:p>
        </p:txBody>
      </p:sp>
      <p:sp>
        <p:nvSpPr>
          <p:cNvPr id="117" name="Text 115"/>
          <p:cNvSpPr/>
          <p:nvPr/>
        </p:nvSpPr>
        <p:spPr>
          <a:xfrm>
            <a:off x="1652016" y="6480719"/>
            <a:ext cx="1158240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74, 246, 195</a:t>
            </a:r>
            <a:endParaRPr lang="en-US" sz="600" dirty="0"/>
          </a:p>
        </p:txBody>
      </p:sp>
      <p:sp>
        <p:nvSpPr>
          <p:cNvPr id="118" name="Text 116"/>
          <p:cNvSpPr/>
          <p:nvPr/>
        </p:nvSpPr>
        <p:spPr>
          <a:xfrm>
            <a:off x="1652016" y="6600162"/>
            <a:ext cx="1158240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 de datos · Gráficas</a:t>
            </a:r>
            <a:endParaRPr lang="en-US" sz="600" dirty="0"/>
          </a:p>
        </p:txBody>
      </p:sp>
      <p:sp>
        <p:nvSpPr>
          <p:cNvPr id="119" name="Shape 117"/>
          <p:cNvSpPr/>
          <p:nvPr/>
        </p:nvSpPr>
        <p:spPr>
          <a:xfrm>
            <a:off x="2901696" y="5490972"/>
            <a:ext cx="1249680" cy="779526"/>
          </a:xfrm>
          <a:prstGeom prst="rect">
            <a:avLst/>
          </a:prstGeom>
          <a:solidFill>
            <a:srgbClr val="FF433D"/>
          </a:solidFill>
          <a:ln w="12700">
            <a:solidFill>
              <a:srgbClr val="FF433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0" name="Text 118"/>
          <p:cNvSpPr/>
          <p:nvPr/>
        </p:nvSpPr>
        <p:spPr>
          <a:xfrm>
            <a:off x="2965704" y="6069330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#FF433D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2901696" y="6270498"/>
            <a:ext cx="1249680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2" name="Text 120"/>
          <p:cNvSpPr/>
          <p:nvPr/>
        </p:nvSpPr>
        <p:spPr>
          <a:xfrm>
            <a:off x="2965704" y="6297930"/>
            <a:ext cx="1158240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Rojo Down</a:t>
            </a:r>
            <a:endParaRPr lang="en-US" sz="750" dirty="0"/>
          </a:p>
        </p:txBody>
      </p:sp>
      <p:sp>
        <p:nvSpPr>
          <p:cNvPr id="123" name="Text 121"/>
          <p:cNvSpPr/>
          <p:nvPr/>
        </p:nvSpPr>
        <p:spPr>
          <a:xfrm>
            <a:off x="2965704" y="6480719"/>
            <a:ext cx="1158240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67, 61</a:t>
            </a:r>
            <a:endParaRPr lang="en-US" sz="600" dirty="0"/>
          </a:p>
        </p:txBody>
      </p:sp>
      <p:sp>
        <p:nvSpPr>
          <p:cNvPr id="124" name="Text 122"/>
          <p:cNvSpPr/>
          <p:nvPr/>
        </p:nvSpPr>
        <p:spPr>
          <a:xfrm>
            <a:off x="2965704" y="6600162"/>
            <a:ext cx="1158240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bajista · Negativo · Alerta</a:t>
            </a:r>
            <a:endParaRPr lang="en-US" sz="600" dirty="0"/>
          </a:p>
        </p:txBody>
      </p:sp>
      <p:sp>
        <p:nvSpPr>
          <p:cNvPr id="125" name="Shape 123"/>
          <p:cNvSpPr/>
          <p:nvPr/>
        </p:nvSpPr>
        <p:spPr>
          <a:xfrm>
            <a:off x="4215384" y="5490972"/>
            <a:ext cx="1249680" cy="779526"/>
          </a:xfrm>
          <a:prstGeom prst="rect">
            <a:avLst/>
          </a:prstGeom>
          <a:solidFill>
            <a:srgbClr val="0068FF"/>
          </a:solidFill>
          <a:ln w="12700">
            <a:solidFill>
              <a:srgbClr val="0068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6" name="Text 124"/>
          <p:cNvSpPr/>
          <p:nvPr/>
        </p:nvSpPr>
        <p:spPr>
          <a:xfrm>
            <a:off x="4279392" y="6069330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#0068FF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4215384" y="6270498"/>
            <a:ext cx="1249680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8" name="Text 126"/>
          <p:cNvSpPr/>
          <p:nvPr/>
        </p:nvSpPr>
        <p:spPr>
          <a:xfrm>
            <a:off x="4279392" y="6297930"/>
            <a:ext cx="1158240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Links</a:t>
            </a:r>
            <a:endParaRPr lang="en-US" sz="750" dirty="0"/>
          </a:p>
        </p:txBody>
      </p:sp>
      <p:sp>
        <p:nvSpPr>
          <p:cNvPr id="129" name="Text 127"/>
          <p:cNvSpPr/>
          <p:nvPr/>
        </p:nvSpPr>
        <p:spPr>
          <a:xfrm>
            <a:off x="4279392" y="6480719"/>
            <a:ext cx="1158240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104, 255</a:t>
            </a:r>
            <a:endParaRPr lang="en-US" sz="600" dirty="0"/>
          </a:p>
        </p:txBody>
      </p:sp>
      <p:sp>
        <p:nvSpPr>
          <p:cNvPr id="130" name="Text 128"/>
          <p:cNvSpPr/>
          <p:nvPr/>
        </p:nvSpPr>
        <p:spPr>
          <a:xfrm>
            <a:off x="4279392" y="6600162"/>
            <a:ext cx="1158240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Hipervínculos · Highlights · Acciones UI</a:t>
            </a:r>
            <a:endParaRPr lang="en-US" sz="600" dirty="0"/>
          </a:p>
        </p:txBody>
      </p:sp>
      <p:sp>
        <p:nvSpPr>
          <p:cNvPr id="131" name="Shape 129"/>
          <p:cNvSpPr/>
          <p:nvPr/>
        </p:nvSpPr>
        <p:spPr>
          <a:xfrm>
            <a:off x="5529072" y="5490972"/>
            <a:ext cx="1249680" cy="77952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2" name="Text 130"/>
          <p:cNvSpPr/>
          <p:nvPr/>
        </p:nvSpPr>
        <p:spPr>
          <a:xfrm>
            <a:off x="5593080" y="6069330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5529072" y="6270498"/>
            <a:ext cx="1249680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4" name="Text 132"/>
          <p:cNvSpPr/>
          <p:nvPr/>
        </p:nvSpPr>
        <p:spPr>
          <a:xfrm>
            <a:off x="5593080" y="6297930"/>
            <a:ext cx="1158240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Blanco Texto</a:t>
            </a:r>
            <a:endParaRPr lang="en-US" sz="750" dirty="0"/>
          </a:p>
        </p:txBody>
      </p:sp>
      <p:sp>
        <p:nvSpPr>
          <p:cNvPr id="135" name="Text 133"/>
          <p:cNvSpPr/>
          <p:nvPr/>
        </p:nvSpPr>
        <p:spPr>
          <a:xfrm>
            <a:off x="5593080" y="6480719"/>
            <a:ext cx="1158240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255, 255</a:t>
            </a:r>
            <a:endParaRPr lang="en-US" sz="600" dirty="0"/>
          </a:p>
        </p:txBody>
      </p:sp>
      <p:sp>
        <p:nvSpPr>
          <p:cNvPr id="136" name="Text 134"/>
          <p:cNvSpPr/>
          <p:nvPr/>
        </p:nvSpPr>
        <p:spPr>
          <a:xfrm>
            <a:off x="5593080" y="6600162"/>
            <a:ext cx="1158240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principal sobre fondos oscuros</a:t>
            </a:r>
            <a:endParaRPr lang="en-US" sz="600" dirty="0"/>
          </a:p>
        </p:txBody>
      </p:sp>
      <p:sp>
        <p:nvSpPr>
          <p:cNvPr id="137" name="Shape 135"/>
          <p:cNvSpPr/>
          <p:nvPr/>
        </p:nvSpPr>
        <p:spPr>
          <a:xfrm>
            <a:off x="6842760" y="5490972"/>
            <a:ext cx="1249680" cy="779526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8" name="Text 136"/>
          <p:cNvSpPr/>
          <p:nvPr/>
        </p:nvSpPr>
        <p:spPr>
          <a:xfrm>
            <a:off x="6906768" y="6069330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#A0A0A0</a:t>
            </a:r>
            <a:endParaRPr lang="en-US" sz="850" dirty="0"/>
          </a:p>
        </p:txBody>
      </p:sp>
      <p:sp>
        <p:nvSpPr>
          <p:cNvPr id="139" name="Shape 137"/>
          <p:cNvSpPr/>
          <p:nvPr/>
        </p:nvSpPr>
        <p:spPr>
          <a:xfrm>
            <a:off x="6842760" y="6270498"/>
            <a:ext cx="1249680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0" name="Text 138"/>
          <p:cNvSpPr/>
          <p:nvPr/>
        </p:nvSpPr>
        <p:spPr>
          <a:xfrm>
            <a:off x="6906768" y="6297930"/>
            <a:ext cx="1158240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Gris Texto</a:t>
            </a:r>
            <a:endParaRPr lang="en-US" sz="750" dirty="0"/>
          </a:p>
        </p:txBody>
      </p:sp>
      <p:sp>
        <p:nvSpPr>
          <p:cNvPr id="141" name="Text 139"/>
          <p:cNvSpPr/>
          <p:nvPr/>
        </p:nvSpPr>
        <p:spPr>
          <a:xfrm>
            <a:off x="6906768" y="6480719"/>
            <a:ext cx="1158240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160, 160, 160</a:t>
            </a:r>
            <a:endParaRPr lang="en-US" sz="600" dirty="0"/>
          </a:p>
        </p:txBody>
      </p:sp>
      <p:sp>
        <p:nvSpPr>
          <p:cNvPr id="142" name="Text 140"/>
          <p:cNvSpPr/>
          <p:nvPr/>
        </p:nvSpPr>
        <p:spPr>
          <a:xfrm>
            <a:off x="6906768" y="6600162"/>
            <a:ext cx="1158240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secundario · Metadatos · Labels</a:t>
            </a:r>
            <a:endParaRPr lang="en-US" sz="600" dirty="0"/>
          </a:p>
        </p:txBody>
      </p:sp>
      <p:sp>
        <p:nvSpPr>
          <p:cNvPr id="143" name="Text 141"/>
          <p:cNvSpPr/>
          <p:nvPr/>
        </p:nvSpPr>
        <p:spPr>
          <a:xfrm>
            <a:off x="8275320" y="914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CONFIGURACIÓN MAESTRA</a:t>
            </a:r>
            <a:endParaRPr lang="en-US" sz="1200" dirty="0"/>
          </a:p>
        </p:txBody>
      </p:sp>
      <p:sp>
        <p:nvSpPr>
          <p:cNvPr id="144" name="Text 142"/>
          <p:cNvSpPr/>
          <p:nvPr/>
        </p:nvSpPr>
        <p:spPr>
          <a:xfrm>
            <a:off x="8275320" y="347472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Asignación por función · Empresa Constructora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8275320" y="530352"/>
            <a:ext cx="370332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6" name="Shape 144"/>
          <p:cNvSpPr/>
          <p:nvPr/>
        </p:nvSpPr>
        <p:spPr>
          <a:xfrm>
            <a:off x="8275320" y="594360"/>
            <a:ext cx="3703320" cy="477012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7" name="Shape 145"/>
          <p:cNvSpPr/>
          <p:nvPr/>
        </p:nvSpPr>
        <p:spPr>
          <a:xfrm>
            <a:off x="8275320" y="612648"/>
            <a:ext cx="256032" cy="44043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8" name="Text 146"/>
          <p:cNvSpPr/>
          <p:nvPr/>
        </p:nvSpPr>
        <p:spPr>
          <a:xfrm>
            <a:off x="8604504" y="621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portada / slides oscuros</a:t>
            </a:r>
            <a:endParaRPr lang="en-US" sz="750" dirty="0"/>
          </a:p>
        </p:txBody>
      </p:sp>
      <p:sp>
        <p:nvSpPr>
          <p:cNvPr id="149" name="Text 147"/>
          <p:cNvSpPr/>
          <p:nvPr/>
        </p:nvSpPr>
        <p:spPr>
          <a:xfrm>
            <a:off x="8604504" y="846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#000000  ·  Negro Bloomberg</a:t>
            </a:r>
            <a:endParaRPr lang="en-US" sz="700" dirty="0"/>
          </a:p>
        </p:txBody>
      </p:sp>
      <p:sp>
        <p:nvSpPr>
          <p:cNvPr id="150" name="Shape 148"/>
          <p:cNvSpPr/>
          <p:nvPr/>
        </p:nvSpPr>
        <p:spPr>
          <a:xfrm>
            <a:off x="8275320" y="1089660"/>
            <a:ext cx="3703320" cy="477012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1" name="Shape 149"/>
          <p:cNvSpPr/>
          <p:nvPr/>
        </p:nvSpPr>
        <p:spPr>
          <a:xfrm>
            <a:off x="8275320" y="1107948"/>
            <a:ext cx="256032" cy="44043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2" name="Text 150"/>
          <p:cNvSpPr/>
          <p:nvPr/>
        </p:nvSpPr>
        <p:spPr>
          <a:xfrm>
            <a:off x="8604504" y="1117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slides contenido (claro)</a:t>
            </a:r>
            <a:endParaRPr lang="en-US" sz="750" dirty="0"/>
          </a:p>
        </p:txBody>
      </p:sp>
      <p:sp>
        <p:nvSpPr>
          <p:cNvPr id="153" name="Text 151"/>
          <p:cNvSpPr/>
          <p:nvPr/>
        </p:nvSpPr>
        <p:spPr>
          <a:xfrm>
            <a:off x="8604504" y="1342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#1A1A1A  ·  Panel Oscuro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8275320" y="1584960"/>
            <a:ext cx="3703320" cy="477012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5" name="Shape 153"/>
          <p:cNvSpPr/>
          <p:nvPr/>
        </p:nvSpPr>
        <p:spPr>
          <a:xfrm>
            <a:off x="8275320" y="1603248"/>
            <a:ext cx="256032" cy="440436"/>
          </a:xfrm>
          <a:prstGeom prst="rect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6" name="Text 154"/>
          <p:cNvSpPr/>
          <p:nvPr/>
        </p:nvSpPr>
        <p:spPr>
          <a:xfrm>
            <a:off x="8604504" y="16123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principal</a:t>
            </a:r>
            <a:endParaRPr lang="en-US" sz="750" dirty="0"/>
          </a:p>
        </p:txBody>
      </p:sp>
      <p:sp>
        <p:nvSpPr>
          <p:cNvPr id="157" name="Text 155"/>
          <p:cNvSpPr/>
          <p:nvPr/>
        </p:nvSpPr>
        <p:spPr>
          <a:xfrm>
            <a:off x="8604504" y="18375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#FFA028  ·  Sunshade Amber</a:t>
            </a:r>
            <a:endParaRPr lang="en-US" sz="700" dirty="0"/>
          </a:p>
        </p:txBody>
      </p:sp>
      <p:sp>
        <p:nvSpPr>
          <p:cNvPr id="158" name="Shape 156"/>
          <p:cNvSpPr/>
          <p:nvPr/>
        </p:nvSpPr>
        <p:spPr>
          <a:xfrm>
            <a:off x="8275320" y="2080260"/>
            <a:ext cx="3703320" cy="477012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9" name="Shape 157"/>
          <p:cNvSpPr/>
          <p:nvPr/>
        </p:nvSpPr>
        <p:spPr>
          <a:xfrm>
            <a:off x="8275320" y="2098548"/>
            <a:ext cx="256032" cy="4404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0" name="Text 158"/>
          <p:cNvSpPr/>
          <p:nvPr/>
        </p:nvSpPr>
        <p:spPr>
          <a:xfrm>
            <a:off x="8604504" y="21076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Subtítulos / headers</a:t>
            </a:r>
            <a:endParaRPr lang="en-US" sz="750" dirty="0"/>
          </a:p>
        </p:txBody>
      </p:sp>
      <p:sp>
        <p:nvSpPr>
          <p:cNvPr id="161" name="Text 159"/>
          <p:cNvSpPr/>
          <p:nvPr/>
        </p:nvSpPr>
        <p:spPr>
          <a:xfrm>
            <a:off x="8604504" y="23328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  ·  Blanco Bloomberg</a:t>
            </a:r>
            <a:endParaRPr lang="en-US" sz="700" dirty="0"/>
          </a:p>
        </p:txBody>
      </p:sp>
      <p:sp>
        <p:nvSpPr>
          <p:cNvPr id="162" name="Shape 160"/>
          <p:cNvSpPr/>
          <p:nvPr/>
        </p:nvSpPr>
        <p:spPr>
          <a:xfrm>
            <a:off x="8275320" y="2575560"/>
            <a:ext cx="3703320" cy="477012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3" name="Shape 161"/>
          <p:cNvSpPr/>
          <p:nvPr/>
        </p:nvSpPr>
        <p:spPr>
          <a:xfrm>
            <a:off x="8275320" y="2593848"/>
            <a:ext cx="256032" cy="440436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4" name="Text 162"/>
          <p:cNvSpPr/>
          <p:nvPr/>
        </p:nvSpPr>
        <p:spPr>
          <a:xfrm>
            <a:off x="8604504" y="26029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cuerpo</a:t>
            </a:r>
            <a:endParaRPr lang="en-US" sz="750" dirty="0"/>
          </a:p>
        </p:txBody>
      </p:sp>
      <p:sp>
        <p:nvSpPr>
          <p:cNvPr id="165" name="Text 163"/>
          <p:cNvSpPr/>
          <p:nvPr/>
        </p:nvSpPr>
        <p:spPr>
          <a:xfrm>
            <a:off x="8604504" y="28281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#A0A0A0  ·  Gris Texto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8275320" y="3070860"/>
            <a:ext cx="3703320" cy="477012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7" name="Shape 165"/>
          <p:cNvSpPr/>
          <p:nvPr/>
        </p:nvSpPr>
        <p:spPr>
          <a:xfrm>
            <a:off x="8275320" y="3089148"/>
            <a:ext cx="256032" cy="440436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8" name="Text 166"/>
          <p:cNvSpPr/>
          <p:nvPr/>
        </p:nvSpPr>
        <p:spPr>
          <a:xfrm>
            <a:off x="8604504" y="30982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/ métricas destacadas</a:t>
            </a:r>
            <a:endParaRPr lang="en-US" sz="750" dirty="0"/>
          </a:p>
        </p:txBody>
      </p:sp>
      <p:sp>
        <p:nvSpPr>
          <p:cNvPr id="169" name="Text 167"/>
          <p:cNvSpPr/>
          <p:nvPr/>
        </p:nvSpPr>
        <p:spPr>
          <a:xfrm>
            <a:off x="8604504" y="33234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#FFB020  ·  Amber Medio</a:t>
            </a:r>
            <a:endParaRPr lang="en-US" sz="700" dirty="0"/>
          </a:p>
        </p:txBody>
      </p:sp>
      <p:sp>
        <p:nvSpPr>
          <p:cNvPr id="170" name="Shape 168"/>
          <p:cNvSpPr/>
          <p:nvPr/>
        </p:nvSpPr>
        <p:spPr>
          <a:xfrm>
            <a:off x="8275320" y="3566160"/>
            <a:ext cx="3703320" cy="477012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1" name="Shape 169"/>
          <p:cNvSpPr/>
          <p:nvPr/>
        </p:nvSpPr>
        <p:spPr>
          <a:xfrm>
            <a:off x="8275320" y="3584448"/>
            <a:ext cx="256032" cy="440436"/>
          </a:xfrm>
          <a:prstGeom prst="rect">
            <a:avLst/>
          </a:prstGeom>
          <a:solidFill>
            <a:srgbClr val="00C805"/>
          </a:solidFill>
          <a:ln w="12700">
            <a:solidFill>
              <a:srgbClr val="00C80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2" name="Text 170"/>
          <p:cNvSpPr/>
          <p:nvPr/>
        </p:nvSpPr>
        <p:spPr>
          <a:xfrm>
            <a:off x="8604504" y="35935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Positivo / avance / up</a:t>
            </a:r>
            <a:endParaRPr lang="en-US" sz="750" dirty="0"/>
          </a:p>
        </p:txBody>
      </p:sp>
      <p:sp>
        <p:nvSpPr>
          <p:cNvPr id="173" name="Text 171"/>
          <p:cNvSpPr/>
          <p:nvPr/>
        </p:nvSpPr>
        <p:spPr>
          <a:xfrm>
            <a:off x="8604504" y="38187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#00C805  ·  Verde Up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8275320" y="4061460"/>
            <a:ext cx="3703320" cy="477012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5" name="Shape 173"/>
          <p:cNvSpPr/>
          <p:nvPr/>
        </p:nvSpPr>
        <p:spPr>
          <a:xfrm>
            <a:off x="8275320" y="4079748"/>
            <a:ext cx="256032" cy="440436"/>
          </a:xfrm>
          <a:prstGeom prst="rect">
            <a:avLst/>
          </a:prstGeom>
          <a:solidFill>
            <a:srgbClr val="FF433D"/>
          </a:solidFill>
          <a:ln w="12700">
            <a:solidFill>
              <a:srgbClr val="FF433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6" name="Text 174"/>
          <p:cNvSpPr/>
          <p:nvPr/>
        </p:nvSpPr>
        <p:spPr>
          <a:xfrm>
            <a:off x="8604504" y="40888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Negativo / riesgo / down</a:t>
            </a:r>
            <a:endParaRPr lang="en-US" sz="750" dirty="0"/>
          </a:p>
        </p:txBody>
      </p:sp>
      <p:sp>
        <p:nvSpPr>
          <p:cNvPr id="177" name="Text 175"/>
          <p:cNvSpPr/>
          <p:nvPr/>
        </p:nvSpPr>
        <p:spPr>
          <a:xfrm>
            <a:off x="8604504" y="43140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#FF433D  ·  Rojo Down</a:t>
            </a:r>
            <a:endParaRPr lang="en-US" sz="700" dirty="0"/>
          </a:p>
        </p:txBody>
      </p:sp>
      <p:sp>
        <p:nvSpPr>
          <p:cNvPr id="178" name="Shape 176"/>
          <p:cNvSpPr/>
          <p:nvPr/>
        </p:nvSpPr>
        <p:spPr>
          <a:xfrm>
            <a:off x="8275320" y="4556760"/>
            <a:ext cx="3703320" cy="477012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9" name="Shape 177"/>
          <p:cNvSpPr/>
          <p:nvPr/>
        </p:nvSpPr>
        <p:spPr>
          <a:xfrm>
            <a:off x="8275320" y="4575048"/>
            <a:ext cx="256032" cy="440436"/>
          </a:xfrm>
          <a:prstGeom prst="rect">
            <a:avLst/>
          </a:prstGeom>
          <a:solidFill>
            <a:srgbClr val="0068FF"/>
          </a:solidFill>
          <a:ln w="12700">
            <a:solidFill>
              <a:srgbClr val="0068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0" name="Text 178"/>
          <p:cNvSpPr/>
          <p:nvPr/>
        </p:nvSpPr>
        <p:spPr>
          <a:xfrm>
            <a:off x="8604504" y="45841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 / links / acción</a:t>
            </a:r>
            <a:endParaRPr lang="en-US" sz="750" dirty="0"/>
          </a:p>
        </p:txBody>
      </p:sp>
      <p:sp>
        <p:nvSpPr>
          <p:cNvPr id="181" name="Text 179"/>
          <p:cNvSpPr/>
          <p:nvPr/>
        </p:nvSpPr>
        <p:spPr>
          <a:xfrm>
            <a:off x="8604504" y="48093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#0068FF  ·  Azul Links</a:t>
            </a:r>
            <a:endParaRPr lang="en-US" sz="700" dirty="0"/>
          </a:p>
        </p:txBody>
      </p:sp>
      <p:sp>
        <p:nvSpPr>
          <p:cNvPr id="182" name="Shape 180"/>
          <p:cNvSpPr/>
          <p:nvPr/>
        </p:nvSpPr>
        <p:spPr>
          <a:xfrm>
            <a:off x="8275320" y="5052060"/>
            <a:ext cx="3703320" cy="477012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3" name="Shape 181"/>
          <p:cNvSpPr/>
          <p:nvPr/>
        </p:nvSpPr>
        <p:spPr>
          <a:xfrm>
            <a:off x="8275320" y="5070348"/>
            <a:ext cx="256032" cy="440436"/>
          </a:xfrm>
          <a:prstGeom prst="rect">
            <a:avLst/>
          </a:prstGeom>
          <a:solidFill>
            <a:srgbClr val="4AF6C3"/>
          </a:solidFill>
          <a:ln w="12700">
            <a:solidFill>
              <a:srgbClr val="4AF6C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4" name="Text 182"/>
          <p:cNvSpPr/>
          <p:nvPr/>
        </p:nvSpPr>
        <p:spPr>
          <a:xfrm>
            <a:off x="8604504" y="50794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/ gráficas secundarias</a:t>
            </a:r>
            <a:endParaRPr lang="en-US" sz="750" dirty="0"/>
          </a:p>
        </p:txBody>
      </p:sp>
      <p:sp>
        <p:nvSpPr>
          <p:cNvPr id="185" name="Text 183"/>
          <p:cNvSpPr/>
          <p:nvPr/>
        </p:nvSpPr>
        <p:spPr>
          <a:xfrm>
            <a:off x="8604504" y="53046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#4AF6C3  ·  Teal Datos</a:t>
            </a:r>
            <a:endParaRPr lang="en-US" sz="700" dirty="0"/>
          </a:p>
        </p:txBody>
      </p:sp>
      <p:sp>
        <p:nvSpPr>
          <p:cNvPr id="186" name="Shape 184"/>
          <p:cNvSpPr/>
          <p:nvPr/>
        </p:nvSpPr>
        <p:spPr>
          <a:xfrm>
            <a:off x="8275320" y="5547360"/>
            <a:ext cx="3703320" cy="477012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7" name="Shape 185"/>
          <p:cNvSpPr/>
          <p:nvPr/>
        </p:nvSpPr>
        <p:spPr>
          <a:xfrm>
            <a:off x="8275320" y="5565648"/>
            <a:ext cx="256032" cy="44043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8" name="Text 186"/>
          <p:cNvSpPr/>
          <p:nvPr/>
        </p:nvSpPr>
        <p:spPr>
          <a:xfrm>
            <a:off x="8604504" y="5574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de cards / paneles</a:t>
            </a:r>
            <a:endParaRPr lang="en-US" sz="750" dirty="0"/>
          </a:p>
        </p:txBody>
      </p:sp>
      <p:sp>
        <p:nvSpPr>
          <p:cNvPr id="189" name="Text 187"/>
          <p:cNvSpPr/>
          <p:nvPr/>
        </p:nvSpPr>
        <p:spPr>
          <a:xfrm>
            <a:off x="8604504" y="5799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#1A1A1A  ·  Panel Oscuro</a:t>
            </a:r>
            <a:endParaRPr lang="en-US" sz="700" dirty="0"/>
          </a:p>
        </p:txBody>
      </p:sp>
      <p:sp>
        <p:nvSpPr>
          <p:cNvPr id="190" name="Shape 188"/>
          <p:cNvSpPr/>
          <p:nvPr/>
        </p:nvSpPr>
        <p:spPr>
          <a:xfrm>
            <a:off x="8275320" y="6042660"/>
            <a:ext cx="3703320" cy="477012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1" name="Shape 189"/>
          <p:cNvSpPr/>
          <p:nvPr/>
        </p:nvSpPr>
        <p:spPr>
          <a:xfrm>
            <a:off x="8275320" y="6060948"/>
            <a:ext cx="256032" cy="4404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2" name="Text 190"/>
          <p:cNvSpPr/>
          <p:nvPr/>
        </p:nvSpPr>
        <p:spPr>
          <a:xfrm>
            <a:off x="8604504" y="6070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Bordes sutiles / divisores</a:t>
            </a:r>
            <a:endParaRPr lang="en-US" sz="750" dirty="0"/>
          </a:p>
        </p:txBody>
      </p:sp>
      <p:sp>
        <p:nvSpPr>
          <p:cNvPr id="193" name="Text 191"/>
          <p:cNvSpPr/>
          <p:nvPr/>
        </p:nvSpPr>
        <p:spPr>
          <a:xfrm>
            <a:off x="8604504" y="6295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#333333  ·  Separador</a:t>
            </a:r>
            <a:endParaRPr lang="en-US" sz="700" dirty="0"/>
          </a:p>
        </p:txBody>
      </p:sp>
      <p:sp>
        <p:nvSpPr>
          <p:cNvPr id="194" name="Shape 192"/>
          <p:cNvSpPr/>
          <p:nvPr/>
        </p:nvSpPr>
        <p:spPr>
          <a:xfrm>
            <a:off x="8275320" y="6574536"/>
            <a:ext cx="3703320" cy="256032"/>
          </a:xfrm>
          <a:prstGeom prst="rect">
            <a:avLst/>
          </a:prstGeom>
          <a:solidFill>
            <a:srgbClr val="0A0A0A"/>
          </a:solidFill>
          <a:ln w="12700">
            <a:solidFill>
              <a:srgbClr val="FFA02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5" name="Text 193"/>
          <p:cNvSpPr/>
          <p:nvPr/>
        </p:nvSpPr>
        <p:spPr>
          <a:xfrm>
            <a:off x="8366760" y="6611112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Negro + Ámbar #FFA028 = hallmark icónico Bloomberg</a:t>
            </a:r>
            <a:endParaRPr lang="en-US" sz="700" dirty="0"/>
          </a:p>
        </p:txBody>
      </p:sp>
      <p:sp>
        <p:nvSpPr>
          <p:cNvPr id="196" name="Shape 194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7" name="Text 195"/>
          <p:cNvSpPr/>
          <p:nvPr/>
        </p:nvSpPr>
        <p:spPr>
          <a:xfrm>
            <a:off x="274320" y="6793992"/>
            <a:ext cx="914400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BLOOMBERG  ·  PALETA OFICIAL  ·  Mobbin · BrandColorCode · Bloomberg LP · Bloomberg UX</a:t>
            </a:r>
            <a:endParaRPr lang="en-US" sz="550" dirty="0"/>
          </a:p>
        </p:txBody>
      </p:sp>
      <p:sp>
        <p:nvSpPr>
          <p:cNvPr id="198" name="Text 196"/>
          <p:cNvSpPr/>
          <p:nvPr/>
        </p:nvSpPr>
        <p:spPr>
          <a:xfrm>
            <a:off x="0" y="6793992"/>
            <a:ext cx="1197864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COLORES  ·  4 SISTEMAS  ·  1 LÁMINA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528</Words>
  <Application>Microsoft Office PowerPoint</Application>
  <PresentationFormat>Panorámica</PresentationFormat>
  <Paragraphs>120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Arial Black</vt:lpstr>
      <vt:lpstr>Courier New</vt:lpstr>
      <vt:lpstr>Office Theme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Bloomberg — Paleta Oficial Completa</dc:title>
  <dc:subject>PptxGenJS Presentation</dc:subject>
  <dc:creator>PptxGenJS</dc:creator>
  <cp:lastModifiedBy>Elmer Chávez</cp:lastModifiedBy>
  <cp:revision>2</cp:revision>
  <dcterms:created xsi:type="dcterms:W3CDTF">2026-02-23T12:54:46Z</dcterms:created>
  <dcterms:modified xsi:type="dcterms:W3CDTF">2026-09-26T11:51:44Z</dcterms:modified>
</cp:coreProperties>
</file>