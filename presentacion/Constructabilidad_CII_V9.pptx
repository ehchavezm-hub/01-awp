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notesMasterIdLst>
    <p:notesMasterId r:id="rId1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9004" Type="http://schemas.openxmlformats.org/officeDocument/2006/relationships/image" Target="../media/icon_cover.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9006" Type="http://schemas.openxmlformats.org/officeDocument/2006/relationships/image" Target="../media/icon_mindmap.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9003" Type="http://schemas.openxmlformats.org/officeDocument/2006/relationships/image" Target="../media/icon_concept.pn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9003" Type="http://schemas.openxmlformats.org/officeDocument/2006/relationships/image" Target="../media/icon_concept.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9003" Type="http://schemas.openxmlformats.org/officeDocument/2006/relationships/image" Target="../media/icon_concept.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9003" Type="http://schemas.openxmlformats.org/officeDocument/2006/relationships/image" Target="../media/icon_concept.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9003" Type="http://schemas.openxmlformats.org/officeDocument/2006/relationships/image" Target="../media/icon_concept.pn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9006" Type="http://schemas.openxmlformats.org/officeDocument/2006/relationships/image" Target="../media/icon_mindmap.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9003" Type="http://schemas.openxmlformats.org/officeDocument/2006/relationships/image" Target="../media/icon_concept.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9003" Type="http://schemas.openxmlformats.org/officeDocument/2006/relationships/image" Target="../media/icon_concept.pn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9011" Type="http://schemas.openxmlformats.org/officeDocument/2006/relationships/image" Target="../media/icon_publication.png"/>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9011" Type="http://schemas.openxmlformats.org/officeDocument/2006/relationships/image" Target="../media/icon_publication.png"/>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9011" Type="http://schemas.openxmlformats.org/officeDocument/2006/relationships/image" Target="../media/icon_publication.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9006" Type="http://schemas.openxmlformats.org/officeDocument/2006/relationships/image" Target="../media/icon_mindmap.png"/>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9011" Type="http://schemas.openxmlformats.org/officeDocument/2006/relationships/image" Target="../media/icon_publication.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9008" Type="http://schemas.openxmlformats.org/officeDocument/2006/relationships/image" Target="../media/icon_phase1.png"/>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9008" Type="http://schemas.openxmlformats.org/officeDocument/2006/relationships/image" Target="../media/icon_phase1.png"/>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9005" Type="http://schemas.openxmlformats.org/officeDocument/2006/relationships/image" Target="../media/icon_flow.png"/>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9008" Type="http://schemas.openxmlformats.org/officeDocument/2006/relationships/image" Target="../media/icon_phase1.pn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9008" Type="http://schemas.openxmlformats.org/officeDocument/2006/relationships/image" Target="../media/icon_phase1.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9008" Type="http://schemas.openxmlformats.org/officeDocument/2006/relationships/image" Target="../media/icon_phase1.png"/>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9008" Type="http://schemas.openxmlformats.org/officeDocument/2006/relationships/image" Target="../media/icon_phase1.png"/>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9008" Type="http://schemas.openxmlformats.org/officeDocument/2006/relationships/image" Target="../media/icon_phase1.png"/>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9008" Type="http://schemas.openxmlformats.org/officeDocument/2006/relationships/image" Target="../media/icon_phase1.png"/>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9008" Type="http://schemas.openxmlformats.org/officeDocument/2006/relationships/image" Target="../media/icon_phase1.png"/>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9008" Type="http://schemas.openxmlformats.org/officeDocument/2006/relationships/image" Target="../media/icon_phase1.png"/>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9008" Type="http://schemas.openxmlformats.org/officeDocument/2006/relationships/image" Target="../media/icon_phase1.png"/>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9008" Type="http://schemas.openxmlformats.org/officeDocument/2006/relationships/image" Target="../media/icon_phase1.png"/>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9009" Type="http://schemas.openxmlformats.org/officeDocument/2006/relationships/image" Target="../media/icon_phase2.png"/>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9005" Type="http://schemas.openxmlformats.org/officeDocument/2006/relationships/image" Target="../media/icon_flow.png"/>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9009" Type="http://schemas.openxmlformats.org/officeDocument/2006/relationships/image" Target="../media/icon_phase2.png"/>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9009" Type="http://schemas.openxmlformats.org/officeDocument/2006/relationships/image" Target="../media/icon_phase2.png"/>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9009" Type="http://schemas.openxmlformats.org/officeDocument/2006/relationships/image" Target="../media/icon_phase2.png"/>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9009" Type="http://schemas.openxmlformats.org/officeDocument/2006/relationships/image" Target="../media/icon_phase2.pn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9009" Type="http://schemas.openxmlformats.org/officeDocument/2006/relationships/image" Target="../media/icon_phase2.png"/>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9009" Type="http://schemas.openxmlformats.org/officeDocument/2006/relationships/image" Target="../media/icon_phase2.png"/>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9009" Type="http://schemas.openxmlformats.org/officeDocument/2006/relationships/image" Target="../media/icon_phase2.png"/>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9009" Type="http://schemas.openxmlformats.org/officeDocument/2006/relationships/image" Target="../media/icon_phase2.png"/>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9009" Type="http://schemas.openxmlformats.org/officeDocument/2006/relationships/image" Target="../media/icon_phase2.png"/>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9009" Type="http://schemas.openxmlformats.org/officeDocument/2006/relationships/image" Target="../media/icon_phase2.png"/>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9005" Type="http://schemas.openxmlformats.org/officeDocument/2006/relationships/image" Target="../media/icon_flow.png"/>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9010" Type="http://schemas.openxmlformats.org/officeDocument/2006/relationships/image" Target="../media/icon_phase3.png"/>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9010" Type="http://schemas.openxmlformats.org/officeDocument/2006/relationships/image" Target="../media/icon_phase3.png"/>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9010" Type="http://schemas.openxmlformats.org/officeDocument/2006/relationships/image" Target="../media/icon_phase3.png"/>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9005" Type="http://schemas.openxmlformats.org/officeDocument/2006/relationships/image" Target="../media/icon_flow.png"/>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9010" Type="http://schemas.openxmlformats.org/officeDocument/2006/relationships/image" Target="../media/icon_phase3.png"/>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9010" Type="http://schemas.openxmlformats.org/officeDocument/2006/relationships/image" Target="../media/icon_phase3.png"/>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9010" Type="http://schemas.openxmlformats.org/officeDocument/2006/relationships/image" Target="../media/icon_phase3.png"/>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9010" Type="http://schemas.openxmlformats.org/officeDocument/2006/relationships/image" Target="../media/icon_phase3.png"/>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9007" Type="http://schemas.openxmlformats.org/officeDocument/2006/relationships/image" Target="../media/icon_orgchart.png"/>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9010" Type="http://schemas.openxmlformats.org/officeDocument/2006/relationships/image" Target="../media/icon_phase3.png"/>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9010" Type="http://schemas.openxmlformats.org/officeDocument/2006/relationships/image" Target="../media/icon_phase3.png"/>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9010" Type="http://schemas.openxmlformats.org/officeDocument/2006/relationships/image" Target="../media/icon_phase3.png"/>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9010" Type="http://schemas.openxmlformats.org/officeDocument/2006/relationships/image" Target="../media/icon_phase3.png"/>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9010" Type="http://schemas.openxmlformats.org/officeDocument/2006/relationships/image" Target="../media/icon_phase3.png"/>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9002" Type="http://schemas.openxmlformats.org/officeDocument/2006/relationships/image" Target="../media/icon_checklist.png"/>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9002" Type="http://schemas.openxmlformats.org/officeDocument/2006/relationships/image" Target="../media/icon_checklist.png"/>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9002" Type="http://schemas.openxmlformats.org/officeDocument/2006/relationships/image" Target="../media/icon_checklist.png"/>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9002" Type="http://schemas.openxmlformats.org/officeDocument/2006/relationships/image" Target="../media/icon_checklist.png"/>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9012" Type="http://schemas.openxmlformats.org/officeDocument/2006/relationships/image" Target="../media/icon_stats.png"/>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9002" Type="http://schemas.openxmlformats.org/officeDocument/2006/relationships/image" Target="../media/icon_checklist.png"/>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9002" Type="http://schemas.openxmlformats.org/officeDocument/2006/relationships/image" Target="../media/icon_checklist.png"/>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9001" Type="http://schemas.openxmlformats.org/officeDocument/2006/relationships/image" Target="../media/icon_casestudy.png"/>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9001" Type="http://schemas.openxmlformats.org/officeDocument/2006/relationships/image" Target="../media/icon_casestudy.png"/>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9001" Type="http://schemas.openxmlformats.org/officeDocument/2006/relationships/image" Target="../media/icon_casestudy.png"/>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9001" Type="http://schemas.openxmlformats.org/officeDocument/2006/relationships/image" Target="../media/icon_casestudy.png"/>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9001" Type="http://schemas.openxmlformats.org/officeDocument/2006/relationships/image" Target="../media/icon_casestudy.png"/>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9001" Type="http://schemas.openxmlformats.org/officeDocument/2006/relationships/image" Target="../media/icon_casestudy.png"/>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9001" Type="http://schemas.openxmlformats.org/officeDocument/2006/relationships/image" Target="../media/icon_casestudy.png"/>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9001" Type="http://schemas.openxmlformats.org/officeDocument/2006/relationships/image" Target="../media/icon_casestudy.png"/>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9001" Type="http://schemas.openxmlformats.org/officeDocument/2006/relationships/image" Target="../media/icon_casestudy.png"/>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9001" Type="http://schemas.openxmlformats.org/officeDocument/2006/relationships/image" Target="../media/icon_casestudy.png"/>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9001" Type="http://schemas.openxmlformats.org/officeDocument/2006/relationships/image" Target="../media/icon_casestudy.png"/>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9001" Type="http://schemas.openxmlformats.org/officeDocument/2006/relationships/image" Target="../media/icon_casestudy.png"/>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9001" Type="http://schemas.openxmlformats.org/officeDocument/2006/relationships/image" Target="../media/icon_casestudy.png"/>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9001" Type="http://schemas.openxmlformats.org/officeDocument/2006/relationships/image" Target="../media/icon_casestudy.png"/>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9001" Type="http://schemas.openxmlformats.org/officeDocument/2006/relationships/image" Target="../media/icon_casestudy.png"/>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9001" Type="http://schemas.openxmlformats.org/officeDocument/2006/relationships/image" Target="../media/icon_casestudy.png"/>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9001" Type="http://schemas.openxmlformats.org/officeDocument/2006/relationships/image" Target="../media/icon_casestudy.png"/>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9001" Type="http://schemas.openxmlformats.org/officeDocument/2006/relationships/image" Target="../media/icon_casestudy.pn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9012" Type="http://schemas.openxmlformats.org/officeDocument/2006/relationships/image" Target="../media/icon_stats.png"/>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9012" Type="http://schemas.openxmlformats.org/officeDocument/2006/relationships/image" Target="../media/icon_stats.png"/>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9012" Type="http://schemas.openxmlformats.org/officeDocument/2006/relationships/image" Target="../media/icon_stats.png"/>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9012" Type="http://schemas.openxmlformats.org/officeDocument/2006/relationships/image" Target="../media/icon_stats.png"/>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9012" Type="http://schemas.openxmlformats.org/officeDocument/2006/relationships/image" Target="../media/icon_stats.png"/>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9012" Type="http://schemas.openxmlformats.org/officeDocument/2006/relationships/image" Target="../media/icon_stats.png"/>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9012" Type="http://schemas.openxmlformats.org/officeDocument/2006/relationships/image" Target="../media/icon_stats.png"/>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9012" Type="http://schemas.openxmlformats.org/officeDocument/2006/relationships/image" Target="../media/icon_stats.png"/>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9012" Type="http://schemas.openxmlformats.org/officeDocument/2006/relationships/image" Target="../media/icon_stats.png"/>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9012" Type="http://schemas.openxmlformats.org/officeDocument/2006/relationships/image" Target="../media/icon_stats.png"/>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9012" Type="http://schemas.openxmlformats.org/officeDocument/2006/relationships/image" Target="../media/icon_stats.png"/>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9012" Type="http://schemas.openxmlformats.org/officeDocument/2006/relationships/image" Target="../media/icon_stats.png"/>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9012" Type="http://schemas.openxmlformats.org/officeDocument/2006/relationships/image" Target="../media/icon_stats.png"/>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9012" Type="http://schemas.openxmlformats.org/officeDocument/2006/relationships/image" Target="../media/icon_stats.png"/>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9012" Type="http://schemas.openxmlformats.org/officeDocument/2006/relationships/image" Target="../media/icon_stats.png"/>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9007" Type="http://schemas.openxmlformats.org/officeDocument/2006/relationships/image" Target="../media/icon_orgchart.png"/>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9007" Type="http://schemas.openxmlformats.org/officeDocument/2006/relationships/image" Target="../media/icon_orgchart.png"/>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9007" Type="http://schemas.openxmlformats.org/officeDocument/2006/relationships/image" Target="../media/icon_orgchart.png"/>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9007" Type="http://schemas.openxmlformats.org/officeDocument/2006/relationships/image" Target="../media/icon_orgchart.png"/>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9007" Type="http://schemas.openxmlformats.org/officeDocument/2006/relationships/image" Target="../media/icon_orgchart.png"/>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9007" Type="http://schemas.openxmlformats.org/officeDocument/2006/relationships/image" Target="../media/icon_orgchart.pn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9007" Type="http://schemas.openxmlformats.org/officeDocument/2006/relationships/image" Target="../media/icon_orgchart.png"/>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9007" Type="http://schemas.openxmlformats.org/officeDocument/2006/relationships/image" Target="../media/icon_orgchart.png"/>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9007" Type="http://schemas.openxmlformats.org/officeDocument/2006/relationships/image" Target="../media/icon_orgchart.png"/>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9007" Type="http://schemas.openxmlformats.org/officeDocument/2006/relationships/image" Target="../media/icon_orgchart.png"/>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9007" Type="http://schemas.openxmlformats.org/officeDocument/2006/relationships/image" Target="../media/icon_orgchart.png"/>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9007" Type="http://schemas.openxmlformats.org/officeDocument/2006/relationships/image" Target="../media/icon_orgchart.png"/>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9007" Type="http://schemas.openxmlformats.org/officeDocument/2006/relationships/image" Target="../media/icon_orgchart.png"/>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9007" Type="http://schemas.openxmlformats.org/officeDocument/2006/relationships/image" Target="../media/icon_orgchart.png"/>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9007" Type="http://schemas.openxmlformats.org/officeDocument/2006/relationships/image" Target="../media/icon_orgchart.png"/>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9003" Type="http://schemas.openxmlformats.org/officeDocument/2006/relationships/image" Target="../media/icon_concept.png"/>
</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9003" Type="http://schemas.openxmlformats.org/officeDocument/2006/relationships/image" Target="../media/icon_concept.png"/>
</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9003" Type="http://schemas.openxmlformats.org/officeDocument/2006/relationships/image" Target="../media/icon_concept.png"/>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9003" Type="http://schemas.openxmlformats.org/officeDocument/2006/relationships/image" Target="../media/icon_concept.png"/>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9003" Type="http://schemas.openxmlformats.org/officeDocument/2006/relationships/image" Target="../media/icon_concept.png"/>
</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9003" Type="http://schemas.openxmlformats.org/officeDocument/2006/relationships/image" Target="../media/icon_concept.png"/>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9003" Type="http://schemas.openxmlformats.org/officeDocument/2006/relationships/image" Target="../media/icon_concept.png"/>
</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9003" Type="http://schemas.openxmlformats.org/officeDocument/2006/relationships/image" Target="../media/icon_concept.png"/>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9003" Type="http://schemas.openxmlformats.org/officeDocument/2006/relationships/image" Target="../media/icon_concept.png"/>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9003" Type="http://schemas.openxmlformats.org/officeDocument/2006/relationships/image" Target="../media/icon_concept.png"/>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9003" Type="http://schemas.openxmlformats.org/officeDocument/2006/relationships/image" Target="../media/icon_concept.png"/>
</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9003" Type="http://schemas.openxmlformats.org/officeDocument/2006/relationships/image" Target="../media/icon_concept.png"/>
</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9003" Type="http://schemas.openxmlformats.org/officeDocument/2006/relationships/image" Target="../media/icon_concept.png"/>
</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9003" Type="http://schemas.openxmlformats.org/officeDocument/2006/relationships/image" Target="../media/icon_concept.png"/>
</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9003" Type="http://schemas.openxmlformats.org/officeDocument/2006/relationships/image" Target="../media/icon_concept.png"/>
</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9003" Type="http://schemas.openxmlformats.org/officeDocument/2006/relationships/image" Target="../media/icon_concept.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1005840"/>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2800" dirty="0"/>
          </a:p>
        </p:txBody>
      </p:sp>
      <p:sp>
        <p:nvSpPr>
          <p:cNvPr id="5" name="Text 3"/>
          <p:cNvSpPr txBox="1"/>
          <p:nvPr/>
        </p:nvSpPr>
        <p:spPr>
          <a:xfrm>
            <a:off x="502920" y="1691640"/>
            <a:ext cx="8138160" cy="594360"/>
          </a:xfrm>
          <a:prstGeom prst="rect">
            <a:avLst/>
          </a:prstGeom>
          <a:noFill/>
          <a:ln/>
        </p:spPr>
        <p:txBody>
          <a:bodyPr wrap="square" lIns="0" tIns="0" rIns="0" bIns="0" rtlCol="0" anchor="ctr"/>
          <a:lstStyle/>
          <a:p>
            <a:pPr algn="l" indent="0" marL="0">
              <a:buNone/>
            </a:pPr>
            <a:r>
              <a:rPr lang="en-US" sz="2400" dirty="0">
                <a:solidFill>
                  <a:srgbClr val="0A84FF"/>
                </a:solidFill>
                <a:latin typeface="Atkinson Hyperlegible" pitchFamily="34" charset="0"/>
                <a:ea typeface="Atkinson Hyperlegible" pitchFamily="34" charset="-122"/>
                <a:cs typeface="Atkinson Hyperlegible" pitchFamily="34" charset="-120"/>
              </a:rPr>
              <a:t>Principios, Conceptos e Implementación</a:t>
            </a:r>
            <a:endParaRPr lang="en-US" sz="2400" dirty="0"/>
          </a:p>
        </p:txBody>
      </p:sp>
      <p:sp>
        <p:nvSpPr>
          <p:cNvPr id="6" name="Shape 4"/>
          <p:cNvSpPr/>
          <p:nvPr/>
        </p:nvSpPr>
        <p:spPr>
          <a:xfrm>
            <a:off x="502920" y="2377440"/>
            <a:ext cx="5029200" cy="27432"/>
          </a:xfrm>
          <a:prstGeom prst="rect">
            <a:avLst/>
          </a:prstGeom>
          <a:solidFill>
            <a:srgbClr val="EBEBEB"/>
          </a:solidFill>
          <a:ln/>
        </p:spPr>
      </p:sp>
      <p:sp>
        <p:nvSpPr>
          <p:cNvPr id="7" name="Text 5"/>
          <p:cNvSpPr txBox="1"/>
          <p:nvPr/>
        </p:nvSpPr>
        <p:spPr>
          <a:xfrm>
            <a:off x="502920" y="2514600"/>
            <a:ext cx="8138160" cy="320040"/>
          </a:xfrm>
          <a:prstGeom prst="rect">
            <a:avLst/>
          </a:prstGeom>
          <a:noFill/>
          <a:ln/>
        </p:spPr>
        <p:txBody>
          <a:bodyPr wrap="square" lIns="0" tIns="0" rIns="0" bIns="0" rtlCol="0" anchor="ctr"/>
          <a:lstStyle/>
          <a:p>
            <a:pPr algn="l"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8" name="Text 6"/>
          <p:cNvSpPr txBox="1"/>
          <p:nvPr/>
        </p:nvSpPr>
        <p:spPr>
          <a:xfrm>
            <a:off x="502920" y="2880360"/>
            <a:ext cx="8138160" cy="320040"/>
          </a:xfrm>
          <a:prstGeom prst="rect">
            <a:avLst/>
          </a:prstGeom>
          <a:noFill/>
          <a:ln/>
        </p:spPr>
        <p:txBody>
          <a:bodyPr wrap="square" lIns="0" tIns="0" rIns="0" bIns="0" rtlCol="0" anchor="ctr"/>
          <a:lstStyle/>
          <a:p>
            <a:pPr algn="l"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SP 34-1 · SD-4 · SD-5 · SD-25 · SD-34 · Publication 3-1</a:t>
            </a:r>
            <a:endParaRPr lang="en-US" sz="1300" dirty="0"/>
          </a:p>
        </p:txBody>
      </p:sp>
      <p:sp>
        <p:nvSpPr>
          <p:cNvPr id="9" name="Shape 7"/>
          <p:cNvSpPr/>
          <p:nvPr/>
        </p:nvSpPr>
        <p:spPr>
          <a:xfrm>
            <a:off x="6858000" y="457200"/>
            <a:ext cx="2103120" cy="4389120"/>
          </a:xfrm>
          <a:prstGeom prst="rect">
            <a:avLst/>
          </a:prstGeom>
          <a:solidFill>
            <a:srgbClr val="F4F4F4"/>
          </a:solidFill>
          <a:ln/>
        </p:spPr>
      </p:sp>
      <p:sp>
        <p:nvSpPr>
          <p:cNvPr id="10" name="Text 8"/>
          <p:cNvSpPr txBox="1"/>
          <p:nvPr/>
        </p:nvSpPr>
        <p:spPr>
          <a:xfrm>
            <a:off x="6858000" y="1645920"/>
            <a:ext cx="2103120" cy="1645920"/>
          </a:xfrm>
          <a:prstGeom prst="rect">
            <a:avLst/>
          </a:prstGeom>
          <a:noFill/>
          <a:ln/>
        </p:spPr>
        <p:txBody>
          <a:bodyPr wrap="square" lIns="0" tIns="0" rIns="0" bIns="0" rtlCol="0" anchor="ctr"/>
          <a:lstStyle/>
          <a:p>
            <a:pPr algn="ctr" indent="0" marL="0">
              <a:buNone/>
            </a:pPr>
            <a:r>
              <a:rPr lang="en-US" sz="3200" b="1" dirty="0">
                <a:solidFill>
                  <a:srgbClr val="EBEBEB"/>
                </a:solidFill>
                <a:latin typeface="Atkinson Hyperlegible" pitchFamily="34" charset="0"/>
                <a:ea typeface="Atkinson Hyperlegible" pitchFamily="34" charset="-122"/>
                <a:cs typeface="Atkinson Hyperlegible" pitchFamily="34" charset="-120"/>
              </a:rPr>
              <a:t>CII</a:t>
            </a:r>
            <a:endParaRPr lang="en-US" sz="32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a:t>
            </a:r>
            <a:endParaRPr lang="en-US" sz="900" dirty="0"/>
          </a:p>
        </p:txBody>
      </p:sp>
      <p:pic xmlns:p="http://schemas.openxmlformats.org/presentationml/2006/main" xmlns:a="http://schemas.openxmlformats.org/drawingml/2006/main" xmlns:r="http://schemas.openxmlformats.org/officeDocument/2006/relationships">
        <p:nvPicPr>
          <p:cNvPr id="8001" name="SlideIcon8001" descr="icon"/>
          <p:cNvPicPr>
            <a:picLocks noChangeAspect="1"/>
          </p:cNvPicPr>
          <p:nvPr/>
        </p:nvPicPr>
        <p:blipFill>
          <a:blip r:embed="rId9004"/>
          <a:stretch>
            <a:fillRect/>
          </a:stretch>
        </p:blipFill>
        <p:spPr>
          <a:xfrm>
            <a:off x="73152" y="118872"/>
            <a:ext cx="347472"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Tabla de Contenidos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457200" y="972244"/>
            <a:ext cx="4114800" cy="837864"/>
          </a:xfrm>
          <a:prstGeom prst="roundRect">
            <a:avLst>
              <a:gd name="adj" fmla="val 9091"/>
            </a:avLst>
          </a:prstGeom>
          <a:solidFill>
            <a:srgbClr val="F4F4F4"/>
          </a:solidFill>
          <a:ln w="12700">
            <a:solidFill>
              <a:srgbClr val="EBEBEB"/>
            </a:solidFill>
            <a:prstDash val="solid"/>
          </a:ln>
        </p:spPr>
      </p:sp>
      <p:sp>
        <p:nvSpPr>
          <p:cNvPr id="6" name="Text 4"/>
          <p:cNvSpPr txBox="1"/>
          <p:nvPr/>
        </p:nvSpPr>
        <p:spPr>
          <a:xfrm>
            <a:off x="594360" y="1063648"/>
            <a:ext cx="548640" cy="457200"/>
          </a:xfrm>
          <a:prstGeom prst="rect">
            <a:avLst/>
          </a:prstGeom>
          <a:noFill/>
          <a:ln/>
        </p:spPr>
        <p:txBody>
          <a:bodyPr wrap="square" lIns="0" tIns="0" rIns="0" bIns="0" rtlCol="0" anchor="ctr"/>
          <a:lstStyle/>
          <a:p>
            <a:pPr indent="0" marL="0">
              <a:buNone/>
            </a:pPr>
            <a:r>
              <a:rPr lang="en-US" sz="2400" b="1" dirty="0">
                <a:solidFill>
                  <a:srgbClr val="0A84FF"/>
                </a:solidFill>
                <a:latin typeface="Atkinson Hyperlegible" pitchFamily="34" charset="0"/>
                <a:ea typeface="Atkinson Hyperlegible" pitchFamily="34" charset="-122"/>
                <a:cs typeface="Atkinson Hyperlegible" pitchFamily="34" charset="-120"/>
              </a:rPr>
              <a:t>01</a:t>
            </a:r>
            <a:endParaRPr lang="en-US" sz="2400" dirty="0"/>
          </a:p>
        </p:txBody>
      </p:sp>
      <p:sp>
        <p:nvSpPr>
          <p:cNvPr id="7" name="Text 5"/>
          <p:cNvSpPr txBox="1"/>
          <p:nvPr/>
        </p:nvSpPr>
        <p:spPr>
          <a:xfrm>
            <a:off x="1234440" y="1124583"/>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Introducción y Definición</a:t>
            </a:r>
            <a:endParaRPr lang="en-US" sz="1300" dirty="0"/>
          </a:p>
        </p:txBody>
      </p:sp>
      <p:sp>
        <p:nvSpPr>
          <p:cNvPr id="8" name="Shape 6"/>
          <p:cNvSpPr/>
          <p:nvPr/>
        </p:nvSpPr>
        <p:spPr>
          <a:xfrm>
            <a:off x="457200" y="1764407"/>
            <a:ext cx="4114800" cy="54864"/>
          </a:xfrm>
          <a:prstGeom prst="rect">
            <a:avLst/>
          </a:prstGeom>
          <a:solidFill>
            <a:srgbClr val="0A84FF"/>
          </a:solidFill>
          <a:ln/>
        </p:spPr>
      </p:sp>
      <p:sp>
        <p:nvSpPr>
          <p:cNvPr id="9" name="Shape 7"/>
          <p:cNvSpPr/>
          <p:nvPr/>
        </p:nvSpPr>
        <p:spPr>
          <a:xfrm>
            <a:off x="4800600" y="972244"/>
            <a:ext cx="4114800" cy="837864"/>
          </a:xfrm>
          <a:prstGeom prst="roundRect">
            <a:avLst>
              <a:gd name="adj" fmla="val 9091"/>
            </a:avLst>
          </a:prstGeom>
          <a:solidFill>
            <a:srgbClr val="F4F4F4"/>
          </a:solidFill>
          <a:ln w="12700">
            <a:solidFill>
              <a:srgbClr val="EBEBEB"/>
            </a:solidFill>
            <a:prstDash val="solid"/>
          </a:ln>
        </p:spPr>
      </p:sp>
      <p:sp>
        <p:nvSpPr>
          <p:cNvPr id="10" name="Text 8"/>
          <p:cNvSpPr txBox="1"/>
          <p:nvPr/>
        </p:nvSpPr>
        <p:spPr>
          <a:xfrm>
            <a:off x="4937760" y="1063648"/>
            <a:ext cx="548640" cy="457200"/>
          </a:xfrm>
          <a:prstGeom prst="rect">
            <a:avLst/>
          </a:prstGeom>
          <a:noFill/>
          <a:ln/>
        </p:spPr>
        <p:txBody>
          <a:bodyPr wrap="square" lIns="0" tIns="0" rIns="0" bIns="0" rtlCol="0" anchor="ctr"/>
          <a:lstStyle/>
          <a:p>
            <a:pPr indent="0" marL="0">
              <a:buNone/>
            </a:pPr>
            <a:r>
              <a:rPr lang="en-US" sz="2400" b="1" dirty="0">
                <a:solidFill>
                  <a:srgbClr val="64D2FF"/>
                </a:solidFill>
                <a:latin typeface="Atkinson Hyperlegible" pitchFamily="34" charset="0"/>
                <a:ea typeface="Atkinson Hyperlegible" pitchFamily="34" charset="-122"/>
                <a:cs typeface="Atkinson Hyperlegible" pitchFamily="34" charset="-120"/>
              </a:rPr>
              <a:t>02</a:t>
            </a:r>
            <a:endParaRPr lang="en-US" sz="2400" dirty="0"/>
          </a:p>
        </p:txBody>
      </p:sp>
      <p:sp>
        <p:nvSpPr>
          <p:cNvPr id="11" name="Text 9"/>
          <p:cNvSpPr txBox="1"/>
          <p:nvPr/>
        </p:nvSpPr>
        <p:spPr>
          <a:xfrm>
            <a:off x="5577840" y="1124583"/>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Fundamentos CII — Publicaciones Clave</a:t>
            </a:r>
            <a:endParaRPr lang="en-US" sz="1300" dirty="0"/>
          </a:p>
        </p:txBody>
      </p:sp>
      <p:sp>
        <p:nvSpPr>
          <p:cNvPr id="12" name="Shape 10"/>
          <p:cNvSpPr/>
          <p:nvPr/>
        </p:nvSpPr>
        <p:spPr>
          <a:xfrm>
            <a:off x="4800600" y="1764407"/>
            <a:ext cx="4114800" cy="54864"/>
          </a:xfrm>
          <a:prstGeom prst="rect">
            <a:avLst/>
          </a:prstGeom>
          <a:solidFill>
            <a:srgbClr val="64D2FF"/>
          </a:solidFill>
          <a:ln/>
        </p:spPr>
      </p:sp>
      <p:sp>
        <p:nvSpPr>
          <p:cNvPr id="13" name="Shape 11"/>
          <p:cNvSpPr/>
          <p:nvPr/>
        </p:nvSpPr>
        <p:spPr>
          <a:xfrm>
            <a:off x="457200" y="1962448"/>
            <a:ext cx="4114800" cy="837864"/>
          </a:xfrm>
          <a:prstGeom prst="roundRect">
            <a:avLst>
              <a:gd name="adj" fmla="val 9091"/>
            </a:avLst>
          </a:prstGeom>
          <a:solidFill>
            <a:srgbClr val="F4F4F4"/>
          </a:solidFill>
          <a:ln w="12700">
            <a:solidFill>
              <a:srgbClr val="EBEBEB"/>
            </a:solidFill>
            <a:prstDash val="solid"/>
          </a:ln>
        </p:spPr>
      </p:sp>
      <p:sp>
        <p:nvSpPr>
          <p:cNvPr id="14" name="Text 12"/>
          <p:cNvSpPr txBox="1"/>
          <p:nvPr/>
        </p:nvSpPr>
        <p:spPr>
          <a:xfrm>
            <a:off x="594360" y="2053852"/>
            <a:ext cx="548640" cy="457200"/>
          </a:xfrm>
          <a:prstGeom prst="rect">
            <a:avLst/>
          </a:prstGeom>
          <a:noFill/>
          <a:ln/>
        </p:spPr>
        <p:txBody>
          <a:bodyPr wrap="square" lIns="0" tIns="0" rIns="0" bIns="0" rtlCol="0" anchor="ctr"/>
          <a:lstStyle/>
          <a:p>
            <a:pPr indent="0" marL="0">
              <a:buNone/>
            </a:pPr>
            <a:r>
              <a:rPr lang="en-US" sz="2400" b="1" dirty="0">
                <a:solidFill>
                  <a:srgbClr val="30D158"/>
                </a:solidFill>
                <a:latin typeface="Atkinson Hyperlegible" pitchFamily="34" charset="0"/>
                <a:ea typeface="Atkinson Hyperlegible" pitchFamily="34" charset="-122"/>
                <a:cs typeface="Atkinson Hyperlegible" pitchFamily="34" charset="-120"/>
              </a:rPr>
              <a:t>03</a:t>
            </a:r>
            <a:endParaRPr lang="en-US" sz="2400" dirty="0"/>
          </a:p>
        </p:txBody>
      </p:sp>
      <p:sp>
        <p:nvSpPr>
          <p:cNvPr id="15" name="Text 13"/>
          <p:cNvSpPr txBox="1"/>
          <p:nvPr/>
        </p:nvSpPr>
        <p:spPr>
          <a:xfrm>
            <a:off x="1234440" y="2114787"/>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 Planificación Conceptual</a:t>
            </a:r>
            <a:endParaRPr lang="en-US" sz="1300" dirty="0"/>
          </a:p>
        </p:txBody>
      </p:sp>
      <p:sp>
        <p:nvSpPr>
          <p:cNvPr id="16" name="Shape 14"/>
          <p:cNvSpPr/>
          <p:nvPr/>
        </p:nvSpPr>
        <p:spPr>
          <a:xfrm>
            <a:off x="457200" y="2754611"/>
            <a:ext cx="4114800" cy="54864"/>
          </a:xfrm>
          <a:prstGeom prst="rect">
            <a:avLst/>
          </a:prstGeom>
          <a:solidFill>
            <a:srgbClr val="30D158"/>
          </a:solidFill>
          <a:ln/>
        </p:spPr>
      </p:sp>
      <p:sp>
        <p:nvSpPr>
          <p:cNvPr id="17" name="Shape 15"/>
          <p:cNvSpPr/>
          <p:nvPr/>
        </p:nvSpPr>
        <p:spPr>
          <a:xfrm>
            <a:off x="4800600" y="1962448"/>
            <a:ext cx="4114800" cy="837864"/>
          </a:xfrm>
          <a:prstGeom prst="roundRect">
            <a:avLst>
              <a:gd name="adj" fmla="val 9091"/>
            </a:avLst>
          </a:prstGeom>
          <a:solidFill>
            <a:srgbClr val="F4F4F4"/>
          </a:solidFill>
          <a:ln w="12700">
            <a:solidFill>
              <a:srgbClr val="EBEBEB"/>
            </a:solidFill>
            <a:prstDash val="solid"/>
          </a:ln>
        </p:spPr>
      </p:sp>
      <p:sp>
        <p:nvSpPr>
          <p:cNvPr id="18" name="Text 16"/>
          <p:cNvSpPr txBox="1"/>
          <p:nvPr/>
        </p:nvSpPr>
        <p:spPr>
          <a:xfrm>
            <a:off x="4937760" y="2053852"/>
            <a:ext cx="548640" cy="457200"/>
          </a:xfrm>
          <a:prstGeom prst="rect">
            <a:avLst/>
          </a:prstGeom>
          <a:noFill/>
          <a:ln/>
        </p:spPr>
        <p:txBody>
          <a:bodyPr wrap="square" lIns="0" tIns="0" rIns="0" bIns="0" rtlCol="0" anchor="ctr"/>
          <a:lstStyle/>
          <a:p>
            <a:pPr indent="0" marL="0">
              <a:buNone/>
            </a:pPr>
            <a:r>
              <a:rPr lang="en-US" sz="2400" b="1" dirty="0">
                <a:solidFill>
                  <a:srgbClr val="FF9500"/>
                </a:solidFill>
                <a:latin typeface="Atkinson Hyperlegible" pitchFamily="34" charset="0"/>
                <a:ea typeface="Atkinson Hyperlegible" pitchFamily="34" charset="-122"/>
                <a:cs typeface="Atkinson Hyperlegible" pitchFamily="34" charset="-120"/>
              </a:rPr>
              <a:t>04</a:t>
            </a:r>
            <a:endParaRPr lang="en-US" sz="2400" dirty="0"/>
          </a:p>
        </p:txBody>
      </p:sp>
      <p:sp>
        <p:nvSpPr>
          <p:cNvPr id="19" name="Text 17"/>
          <p:cNvSpPr txBox="1"/>
          <p:nvPr/>
        </p:nvSpPr>
        <p:spPr>
          <a:xfrm>
            <a:off x="5577840" y="2114787"/>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 Diseño y Procura</a:t>
            </a:r>
            <a:endParaRPr lang="en-US" sz="1300" dirty="0"/>
          </a:p>
        </p:txBody>
      </p:sp>
      <p:sp>
        <p:nvSpPr>
          <p:cNvPr id="20" name="Shape 18"/>
          <p:cNvSpPr/>
          <p:nvPr/>
        </p:nvSpPr>
        <p:spPr>
          <a:xfrm>
            <a:off x="4800600" y="2754611"/>
            <a:ext cx="4114800" cy="54864"/>
          </a:xfrm>
          <a:prstGeom prst="rect">
            <a:avLst/>
          </a:prstGeom>
          <a:solidFill>
            <a:srgbClr val="FF9500"/>
          </a:solidFill>
          <a:ln/>
        </p:spPr>
      </p:sp>
      <p:sp>
        <p:nvSpPr>
          <p:cNvPr id="21" name="Shape 19"/>
          <p:cNvSpPr/>
          <p:nvPr/>
        </p:nvSpPr>
        <p:spPr>
          <a:xfrm>
            <a:off x="457200" y="2952652"/>
            <a:ext cx="4114800" cy="837864"/>
          </a:xfrm>
          <a:prstGeom prst="roundRect">
            <a:avLst>
              <a:gd name="adj" fmla="val 9091"/>
            </a:avLst>
          </a:prstGeom>
          <a:solidFill>
            <a:srgbClr val="F4F4F4"/>
          </a:solidFill>
          <a:ln w="12700">
            <a:solidFill>
              <a:srgbClr val="EBEBEB"/>
            </a:solidFill>
            <a:prstDash val="solid"/>
          </a:ln>
        </p:spPr>
      </p:sp>
      <p:sp>
        <p:nvSpPr>
          <p:cNvPr id="22" name="Text 20"/>
          <p:cNvSpPr txBox="1"/>
          <p:nvPr/>
        </p:nvSpPr>
        <p:spPr>
          <a:xfrm>
            <a:off x="594360" y="3044055"/>
            <a:ext cx="548640" cy="457200"/>
          </a:xfrm>
          <a:prstGeom prst="rect">
            <a:avLst/>
          </a:prstGeom>
          <a:noFill/>
          <a:ln/>
        </p:spPr>
        <p:txBody>
          <a:bodyPr wrap="square" lIns="0" tIns="0" rIns="0" bIns="0" rtlCol="0" anchor="ctr"/>
          <a:lstStyle/>
          <a:p>
            <a:pPr indent="0" marL="0">
              <a:buNone/>
            </a:pPr>
            <a:r>
              <a:rPr lang="en-US" sz="2400" b="1" dirty="0">
                <a:solidFill>
                  <a:srgbClr val="AF52DE"/>
                </a:solidFill>
                <a:latin typeface="Atkinson Hyperlegible" pitchFamily="34" charset="0"/>
                <a:ea typeface="Atkinson Hyperlegible" pitchFamily="34" charset="-122"/>
                <a:cs typeface="Atkinson Hyperlegible" pitchFamily="34" charset="-120"/>
              </a:rPr>
              <a:t>05</a:t>
            </a:r>
            <a:endParaRPr lang="en-US" sz="2400" dirty="0"/>
          </a:p>
        </p:txBody>
      </p:sp>
      <p:sp>
        <p:nvSpPr>
          <p:cNvPr id="23" name="Text 21"/>
          <p:cNvSpPr txBox="1"/>
          <p:nvPr/>
        </p:nvSpPr>
        <p:spPr>
          <a:xfrm>
            <a:off x="1234440" y="3104991"/>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III: Operaciones de Campo</a:t>
            </a:r>
            <a:endParaRPr lang="en-US" sz="1300" dirty="0"/>
          </a:p>
        </p:txBody>
      </p:sp>
      <p:sp>
        <p:nvSpPr>
          <p:cNvPr id="24" name="Shape 22"/>
          <p:cNvSpPr/>
          <p:nvPr/>
        </p:nvSpPr>
        <p:spPr>
          <a:xfrm>
            <a:off x="457200" y="3744815"/>
            <a:ext cx="4114800" cy="54864"/>
          </a:xfrm>
          <a:prstGeom prst="rect">
            <a:avLst/>
          </a:prstGeom>
          <a:solidFill>
            <a:srgbClr val="AF52DE"/>
          </a:solidFill>
          <a:ln/>
        </p:spPr>
      </p:sp>
      <p:sp>
        <p:nvSpPr>
          <p:cNvPr id="25" name="Shape 23"/>
          <p:cNvSpPr/>
          <p:nvPr/>
        </p:nvSpPr>
        <p:spPr>
          <a:xfrm>
            <a:off x="4800600" y="2952652"/>
            <a:ext cx="4114800" cy="837864"/>
          </a:xfrm>
          <a:prstGeom prst="roundRect">
            <a:avLst>
              <a:gd name="adj" fmla="val 9091"/>
            </a:avLst>
          </a:prstGeom>
          <a:solidFill>
            <a:srgbClr val="F4F4F4"/>
          </a:solidFill>
          <a:ln w="12700">
            <a:solidFill>
              <a:srgbClr val="EBEBEB"/>
            </a:solidFill>
            <a:prstDash val="solid"/>
          </a:ln>
        </p:spPr>
      </p:sp>
      <p:sp>
        <p:nvSpPr>
          <p:cNvPr id="26" name="Text 24"/>
          <p:cNvSpPr txBox="1"/>
          <p:nvPr/>
        </p:nvSpPr>
        <p:spPr>
          <a:xfrm>
            <a:off x="4937760" y="3044055"/>
            <a:ext cx="548640" cy="457200"/>
          </a:xfrm>
          <a:prstGeom prst="rect">
            <a:avLst/>
          </a:prstGeom>
          <a:noFill/>
          <a:ln/>
        </p:spPr>
        <p:txBody>
          <a:bodyPr wrap="square" lIns="0" tIns="0" rIns="0" bIns="0" rtlCol="0" anchor="ctr"/>
          <a:lstStyle/>
          <a:p>
            <a:pPr indent="0" marL="0">
              <a:buNone/>
            </a:pPr>
            <a:r>
              <a:rPr lang="en-US" sz="2400" b="1" dirty="0">
                <a:solidFill>
                  <a:srgbClr val="FFD60A"/>
                </a:solidFill>
                <a:latin typeface="Atkinson Hyperlegible" pitchFamily="34" charset="0"/>
                <a:ea typeface="Atkinson Hyperlegible" pitchFamily="34" charset="-122"/>
                <a:cs typeface="Atkinson Hyperlegible" pitchFamily="34" charset="-120"/>
              </a:rPr>
              <a:t>06</a:t>
            </a:r>
            <a:endParaRPr lang="en-US" sz="2400" dirty="0"/>
          </a:p>
        </p:txBody>
      </p:sp>
      <p:sp>
        <p:nvSpPr>
          <p:cNvPr id="27" name="Text 25"/>
          <p:cNvSpPr txBox="1"/>
          <p:nvPr/>
        </p:nvSpPr>
        <p:spPr>
          <a:xfrm>
            <a:off x="5577840" y="3104991"/>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1300" dirty="0"/>
          </a:p>
        </p:txBody>
      </p:sp>
      <p:sp>
        <p:nvSpPr>
          <p:cNvPr id="28" name="Shape 26"/>
          <p:cNvSpPr/>
          <p:nvPr/>
        </p:nvSpPr>
        <p:spPr>
          <a:xfrm>
            <a:off x="4800600" y="3744815"/>
            <a:ext cx="4114800" cy="54864"/>
          </a:xfrm>
          <a:prstGeom prst="rect">
            <a:avLst/>
          </a:prstGeom>
          <a:solidFill>
            <a:srgbClr val="FFD60A"/>
          </a:solidFill>
          <a:ln/>
        </p:spPr>
      </p:sp>
      <p:sp>
        <p:nvSpPr>
          <p:cNvPr id="29" name="Shape 27"/>
          <p:cNvSpPr/>
          <p:nvPr/>
        </p:nvSpPr>
        <p:spPr>
          <a:xfrm>
            <a:off x="457200" y="3942856"/>
            <a:ext cx="4114800" cy="837864"/>
          </a:xfrm>
          <a:prstGeom prst="roundRect">
            <a:avLst>
              <a:gd name="adj" fmla="val 9091"/>
            </a:avLst>
          </a:prstGeom>
          <a:solidFill>
            <a:srgbClr val="F4F4F4"/>
          </a:solidFill>
          <a:ln w="12700">
            <a:solidFill>
              <a:srgbClr val="EBEBEB"/>
            </a:solidFill>
            <a:prstDash val="solid"/>
          </a:ln>
        </p:spPr>
      </p:sp>
      <p:sp>
        <p:nvSpPr>
          <p:cNvPr id="30" name="Text 28"/>
          <p:cNvSpPr txBox="1"/>
          <p:nvPr/>
        </p:nvSpPr>
        <p:spPr>
          <a:xfrm>
            <a:off x="594360" y="4034259"/>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1" name="Text 29"/>
          <p:cNvSpPr txBox="1"/>
          <p:nvPr/>
        </p:nvSpPr>
        <p:spPr>
          <a:xfrm>
            <a:off x="1234440" y="4095195"/>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2" name="Shape 30"/>
          <p:cNvSpPr/>
          <p:nvPr/>
        </p:nvSpPr>
        <p:spPr>
          <a:xfrm>
            <a:off x="457200" y="4735019"/>
            <a:ext cx="4114800" cy="54864"/>
          </a:xfrm>
          <a:prstGeom prst="rect">
            <a:avLst/>
          </a:prstGeom>
          <a:solidFill>
            <a:srgbClr val="FF453A"/>
          </a:solidFill>
          <a:ln/>
        </p:spPr>
      </p:sp>
      <p:sp>
        <p:nvSpPr>
          <p:cNvPr id="33" name="Shape 31"/>
          <p:cNvSpPr/>
          <p:nvPr/>
        </p:nvSpPr>
        <p:spPr>
          <a:xfrm>
            <a:off x="457200" y="3904771"/>
            <a:ext cx="4114800" cy="837864"/>
          </a:xfrm>
          <a:prstGeom prst="roundRect">
            <a:avLst>
              <a:gd name="adj" fmla="val 9091"/>
            </a:avLst>
          </a:prstGeom>
          <a:solidFill>
            <a:srgbClr val="F4F4F4"/>
          </a:solidFill>
          <a:ln w="12700">
            <a:solidFill>
              <a:srgbClr val="EBEBEB"/>
            </a:solidFill>
            <a:prstDash val="solid"/>
          </a:ln>
        </p:spPr>
      </p:sp>
      <p:sp>
        <p:nvSpPr>
          <p:cNvPr id="34" name="Text 32"/>
          <p:cNvSpPr txBox="1"/>
          <p:nvPr/>
        </p:nvSpPr>
        <p:spPr>
          <a:xfrm>
            <a:off x="594360" y="3996174"/>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5" name="Text 33"/>
          <p:cNvSpPr txBox="1"/>
          <p:nvPr/>
        </p:nvSpPr>
        <p:spPr>
          <a:xfrm>
            <a:off x="1371600" y="405711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6" name="Text 34"/>
          <p:cNvSpPr txBox="1"/>
          <p:nvPr/>
        </p:nvSpPr>
        <p:spPr>
          <a:xfrm>
            <a:off x="8503920" y="413328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a:t>
            </a:r>
            <a:endParaRPr lang="en-US" sz="900" dirty="0"/>
          </a:p>
        </p:txBody>
      </p:sp>
      <p:pic xmlns:p="http://schemas.openxmlformats.org/presentationml/2006/main" xmlns:a="http://schemas.openxmlformats.org/drawingml/2006/main" xmlns:r="http://schemas.openxmlformats.org/officeDocument/2006/relationships">
        <p:nvPicPr>
          <p:cNvPr id="8002" name="SlideIcon8002" descr="icon"/>
          <p:cNvPicPr>
            <a:picLocks noChangeAspect="1"/>
          </p:cNvPicPr>
          <p:nvPr/>
        </p:nvPicPr>
        <p:blipFill>
          <a:blip r:embed="rId9006"/>
          <a:stretch>
            <a:fillRect/>
          </a:stretch>
        </p:blipFill>
        <p:spPr>
          <a:xfrm>
            <a:off x="73152" y="118872"/>
            <a:ext cx="347472" cy="3474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¿Qué es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457200" y="960120"/>
            <a:ext cx="8229600" cy="1234440"/>
          </a:xfrm>
          <a:prstGeom prst="roundRect">
            <a:avLst>
              <a:gd name="adj" fmla="val 10370"/>
            </a:avLst>
          </a:prstGeom>
          <a:solidFill>
            <a:srgbClr val="F4F4F4"/>
          </a:solidFill>
          <a:ln w="25400">
            <a:solidFill>
              <a:srgbClr val="0A84FF"/>
            </a:solidFill>
            <a:prstDash val="solid"/>
          </a:ln>
        </p:spPr>
      </p:sp>
      <p:sp>
        <p:nvSpPr>
          <p:cNvPr id="6" name="Text 4"/>
          <p:cNvSpPr txBox="1"/>
          <p:nvPr/>
        </p:nvSpPr>
        <p:spPr>
          <a:xfrm>
            <a:off x="685800" y="1024128"/>
            <a:ext cx="7772400" cy="1097280"/>
          </a:xfrm>
          <a:prstGeom prst="rect">
            <a:avLst/>
          </a:prstGeom>
          <a:noFill/>
          <a:ln/>
        </p:spPr>
        <p:txBody>
          <a:bodyPr wrap="square" lIns="0" tIns="0" rIns="0" bIns="0" rtlCol="0" anchor="ctr"/>
          <a:lstStyle/>
          <a:p>
            <a:pPr algn="ct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a:t>
            </a:r>
            <a:endParaRPr lang="en-US" sz="1200" dirty="0"/>
          </a:p>
        </p:txBody>
      </p:sp>
      <p:sp>
        <p:nvSpPr>
          <p:cNvPr id="7" name="Text 5"/>
          <p:cNvSpPr txBox="1"/>
          <p:nvPr/>
        </p:nvSpPr>
        <p:spPr>
          <a:xfrm>
            <a:off x="685800" y="2148840"/>
            <a:ext cx="7772400" cy="274320"/>
          </a:xfrm>
          <a:prstGeom prst="rect">
            <a:avLst/>
          </a:prstGeom>
          <a:noFill/>
          <a:ln/>
        </p:spPr>
        <p:txBody>
          <a:bodyPr wrap="square" lIns="0" tIns="0" rIns="0" bIns="0" rtlCol="0" anchor="ctr"/>
          <a:lstStyle/>
          <a:p>
            <a:pPr algn="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Construction Industry Institute (CII), 1986</a:t>
            </a:r>
            <a:endParaRPr lang="en-US" sz="1200" dirty="0"/>
          </a:p>
        </p:txBody>
      </p:sp>
      <p:sp>
        <p:nvSpPr>
          <p:cNvPr id="8" name="Shape 6"/>
          <p:cNvSpPr/>
          <p:nvPr/>
        </p:nvSpPr>
        <p:spPr>
          <a:xfrm>
            <a:off x="457200" y="2514600"/>
            <a:ext cx="4114800" cy="1051560"/>
          </a:xfrm>
          <a:prstGeom prst="roundRect">
            <a:avLst>
              <a:gd name="adj" fmla="val 10435"/>
            </a:avLst>
          </a:prstGeom>
          <a:solidFill>
            <a:srgbClr val="F4F4F4"/>
          </a:solidFill>
          <a:ln w="12700">
            <a:solidFill>
              <a:srgbClr val="EBEBEB"/>
            </a:solidFill>
            <a:prstDash val="solid"/>
          </a:ln>
        </p:spPr>
      </p:sp>
      <p:sp>
        <p:nvSpPr>
          <p:cNvPr id="9" name="Shape 7"/>
          <p:cNvSpPr/>
          <p:nvPr/>
        </p:nvSpPr>
        <p:spPr>
          <a:xfrm>
            <a:off x="621792" y="2670048"/>
            <a:ext cx="420624" cy="420624"/>
          </a:xfrm>
          <a:prstGeom prst="ellipse">
            <a:avLst/>
          </a:prstGeom>
          <a:solidFill>
            <a:srgbClr val="0A84FF">
              <a:alpha val="20000"/>
            </a:srgbClr>
          </a:solidFill>
          <a:ln/>
        </p:spPr>
      </p:sp>
      <p:sp>
        <p:nvSpPr>
          <p:cNvPr id="10" name="Text 8"/>
          <p:cNvSpPr txBox="1"/>
          <p:nvPr/>
        </p:nvSpPr>
        <p:spPr>
          <a:xfrm>
            <a:off x="6217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1" name="Text 9"/>
          <p:cNvSpPr txBox="1"/>
          <p:nvPr/>
        </p:nvSpPr>
        <p:spPr>
          <a:xfrm>
            <a:off x="11430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Integración</a:t>
            </a:r>
            <a:endParaRPr lang="en-US" sz="1200" dirty="0"/>
          </a:p>
        </p:txBody>
      </p:sp>
      <p:sp>
        <p:nvSpPr>
          <p:cNvPr id="12" name="Text 10"/>
          <p:cNvSpPr txBox="1"/>
          <p:nvPr/>
        </p:nvSpPr>
        <p:spPr>
          <a:xfrm>
            <a:off x="6217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Une diseño y construcción, disciplinas tradicionalmente separadas desde ~1750</a:t>
            </a:r>
            <a:endParaRPr lang="en-US" sz="1200" dirty="0"/>
          </a:p>
        </p:txBody>
      </p:sp>
      <p:sp>
        <p:nvSpPr>
          <p:cNvPr id="13" name="Shape 11"/>
          <p:cNvSpPr/>
          <p:nvPr/>
        </p:nvSpPr>
        <p:spPr>
          <a:xfrm>
            <a:off x="4800600" y="2514600"/>
            <a:ext cx="4114800" cy="1051560"/>
          </a:xfrm>
          <a:prstGeom prst="roundRect">
            <a:avLst>
              <a:gd name="adj" fmla="val 10435"/>
            </a:avLst>
          </a:prstGeom>
          <a:solidFill>
            <a:srgbClr val="F4F4F4"/>
          </a:solidFill>
          <a:ln w="12700">
            <a:solidFill>
              <a:srgbClr val="EBEBEB"/>
            </a:solidFill>
            <a:prstDash val="solid"/>
          </a:ln>
        </p:spPr>
      </p:sp>
      <p:sp>
        <p:nvSpPr>
          <p:cNvPr id="14" name="Shape 12"/>
          <p:cNvSpPr/>
          <p:nvPr/>
        </p:nvSpPr>
        <p:spPr>
          <a:xfrm>
            <a:off x="4965192" y="2670048"/>
            <a:ext cx="420624" cy="420624"/>
          </a:xfrm>
          <a:prstGeom prst="ellipse">
            <a:avLst/>
          </a:prstGeom>
          <a:solidFill>
            <a:srgbClr val="0A84FF">
              <a:alpha val="20000"/>
            </a:srgbClr>
          </a:solidFill>
          <a:ln/>
        </p:spPr>
      </p:sp>
      <p:sp>
        <p:nvSpPr>
          <p:cNvPr id="15" name="Text 13"/>
          <p:cNvSpPr txBox="1"/>
          <p:nvPr/>
        </p:nvSpPr>
        <p:spPr>
          <a:xfrm>
            <a:off x="49651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6" name="Text 14"/>
          <p:cNvSpPr txBox="1"/>
          <p:nvPr/>
        </p:nvSpPr>
        <p:spPr>
          <a:xfrm>
            <a:off x="54864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Anticipación</a:t>
            </a:r>
            <a:endParaRPr lang="en-US" sz="1200" dirty="0"/>
          </a:p>
        </p:txBody>
      </p:sp>
      <p:sp>
        <p:nvSpPr>
          <p:cNvPr id="17" name="Text 15"/>
          <p:cNvSpPr txBox="1"/>
          <p:nvPr/>
        </p:nvSpPr>
        <p:spPr>
          <a:xfrm>
            <a:off x="49651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Incorpora conocimiento constructivo ANTES de que se completen los diseños</a:t>
            </a:r>
            <a:endParaRPr lang="en-US" sz="1200" dirty="0"/>
          </a:p>
        </p:txBody>
      </p:sp>
      <p:sp>
        <p:nvSpPr>
          <p:cNvPr id="18" name="Shape 16"/>
          <p:cNvSpPr/>
          <p:nvPr/>
        </p:nvSpPr>
        <p:spPr>
          <a:xfrm>
            <a:off x="457200" y="3703320"/>
            <a:ext cx="4114800" cy="1051560"/>
          </a:xfrm>
          <a:prstGeom prst="roundRect">
            <a:avLst>
              <a:gd name="adj" fmla="val 10435"/>
            </a:avLst>
          </a:prstGeom>
          <a:solidFill>
            <a:srgbClr val="F4F4F4"/>
          </a:solidFill>
          <a:ln w="12700">
            <a:solidFill>
              <a:srgbClr val="EBEBEB"/>
            </a:solidFill>
            <a:prstDash val="solid"/>
          </a:ln>
        </p:spPr>
      </p:sp>
      <p:sp>
        <p:nvSpPr>
          <p:cNvPr id="19" name="Shape 17"/>
          <p:cNvSpPr/>
          <p:nvPr/>
        </p:nvSpPr>
        <p:spPr>
          <a:xfrm>
            <a:off x="621792" y="3858768"/>
            <a:ext cx="420624" cy="420624"/>
          </a:xfrm>
          <a:prstGeom prst="ellipse">
            <a:avLst/>
          </a:prstGeom>
          <a:solidFill>
            <a:srgbClr val="0A84FF">
              <a:alpha val="20000"/>
            </a:srgbClr>
          </a:solidFill>
          <a:ln/>
        </p:spPr>
      </p:sp>
      <p:sp>
        <p:nvSpPr>
          <p:cNvPr id="20" name="Text 18"/>
          <p:cNvSpPr txBox="1"/>
          <p:nvPr/>
        </p:nvSpPr>
        <p:spPr>
          <a:xfrm>
            <a:off x="6217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1" name="Text 19"/>
          <p:cNvSpPr txBox="1"/>
          <p:nvPr/>
        </p:nvSpPr>
        <p:spPr>
          <a:xfrm>
            <a:off x="11430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Proactividad</a:t>
            </a:r>
            <a:endParaRPr lang="en-US" sz="1200" dirty="0"/>
          </a:p>
        </p:txBody>
      </p:sp>
      <p:sp>
        <p:nvSpPr>
          <p:cNvPr id="22" name="Text 20"/>
          <p:cNvSpPr txBox="1"/>
          <p:nvPr/>
        </p:nvSpPr>
        <p:spPr>
          <a:xfrm>
            <a:off x="6217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No es solo revisión; es co-creación del diseño con criterio constructivo</a:t>
            </a:r>
            <a:endParaRPr lang="en-US" sz="1200" dirty="0"/>
          </a:p>
        </p:txBody>
      </p:sp>
      <p:sp>
        <p:nvSpPr>
          <p:cNvPr id="23" name="Shape 21"/>
          <p:cNvSpPr/>
          <p:nvPr/>
        </p:nvSpPr>
        <p:spPr>
          <a:xfrm>
            <a:off x="4800600" y="3703320"/>
            <a:ext cx="4114800" cy="1051560"/>
          </a:xfrm>
          <a:prstGeom prst="roundRect">
            <a:avLst>
              <a:gd name="adj" fmla="val 10435"/>
            </a:avLst>
          </a:prstGeom>
          <a:solidFill>
            <a:srgbClr val="F4F4F4"/>
          </a:solidFill>
          <a:ln w="12700">
            <a:solidFill>
              <a:srgbClr val="EBEBEB"/>
            </a:solidFill>
            <a:prstDash val="solid"/>
          </a:ln>
        </p:spPr>
      </p:sp>
      <p:sp>
        <p:nvSpPr>
          <p:cNvPr id="24" name="Shape 22"/>
          <p:cNvSpPr/>
          <p:nvPr/>
        </p:nvSpPr>
        <p:spPr>
          <a:xfrm>
            <a:off x="4965192" y="3858768"/>
            <a:ext cx="420624" cy="420624"/>
          </a:xfrm>
          <a:prstGeom prst="ellipse">
            <a:avLst/>
          </a:prstGeom>
          <a:solidFill>
            <a:srgbClr val="0A84FF">
              <a:alpha val="20000"/>
            </a:srgbClr>
          </a:solidFill>
          <a:ln/>
        </p:spPr>
      </p:sp>
      <p:sp>
        <p:nvSpPr>
          <p:cNvPr id="25" name="Text 23"/>
          <p:cNvSpPr txBox="1"/>
          <p:nvPr/>
        </p:nvSpPr>
        <p:spPr>
          <a:xfrm>
            <a:off x="49651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6" name="Text 24"/>
          <p:cNvSpPr txBox="1"/>
          <p:nvPr/>
        </p:nvSpPr>
        <p:spPr>
          <a:xfrm>
            <a:off x="54864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Retorno</a:t>
            </a:r>
            <a:endParaRPr lang="en-US" sz="1200" dirty="0"/>
          </a:p>
        </p:txBody>
      </p:sp>
      <p:sp>
        <p:nvSpPr>
          <p:cNvPr id="27" name="Text 25"/>
          <p:cNvSpPr txBox="1"/>
          <p:nvPr/>
        </p:nvSpPr>
        <p:spPr>
          <a:xfrm>
            <a:off x="49651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Retornos documentados de hasta 15:1 sobre la inversión en el programa</a:t>
            </a:r>
            <a:endParaRPr lang="en-US" sz="12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a:t>
            </a:r>
            <a:endParaRPr lang="en-US" sz="900" dirty="0"/>
          </a:p>
        </p:txBody>
      </p:sp>
      <p:pic xmlns:p="http://schemas.openxmlformats.org/presentationml/2006/main" xmlns:a="http://schemas.openxmlformats.org/drawingml/2006/main" xmlns:r="http://schemas.openxmlformats.org/officeDocument/2006/relationships">
        <p:nvPicPr>
          <p:cNvPr id="8003" name="SlideIcon8003"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Historia de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274320" y="960120"/>
            <a:ext cx="1280160" cy="457200"/>
          </a:xfrm>
          <a:prstGeom prst="roundRect">
            <a:avLst>
              <a:gd name="adj" fmla="val 16000"/>
            </a:avLst>
          </a:prstGeom>
          <a:solidFill>
            <a:srgbClr val="0A84FF">
              <a:alpha val="20000"/>
            </a:srgbClr>
          </a:solidFill>
          <a:ln w="12700">
            <a:solidFill>
              <a:srgbClr val="0A84FF"/>
            </a:solidFill>
            <a:prstDash val="solid"/>
          </a:ln>
        </p:spPr>
      </p:sp>
      <p:sp>
        <p:nvSpPr>
          <p:cNvPr id="6" name="Text 4"/>
          <p:cNvSpPr txBox="1"/>
          <p:nvPr/>
        </p:nvSpPr>
        <p:spPr>
          <a:xfrm>
            <a:off x="274320" y="96012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~1750</a:t>
            </a:r>
            <a:endParaRPr lang="en-US" sz="1300" dirty="0"/>
          </a:p>
        </p:txBody>
      </p:sp>
      <p:sp>
        <p:nvSpPr>
          <p:cNvPr id="7" name="Text 5"/>
          <p:cNvSpPr txBox="1"/>
          <p:nvPr/>
        </p:nvSpPr>
        <p:spPr>
          <a:xfrm>
            <a:off x="1691640" y="99669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 y C separados</a:t>
            </a:r>
            <a:endParaRPr lang="en-US" sz="1200" dirty="0"/>
          </a:p>
        </p:txBody>
      </p:sp>
      <p:sp>
        <p:nvSpPr>
          <p:cNvPr id="8" name="Text 6"/>
          <p:cNvSpPr txBox="1"/>
          <p:nvPr/>
        </p:nvSpPr>
        <p:spPr>
          <a:xfrm>
            <a:off x="1691640" y="119786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Revolución Industrial separa formalmente las funciones de diseño y construcción en disciplinas independientes</a:t>
            </a:r>
            <a:endParaRPr lang="en-US" sz="1050" dirty="0"/>
          </a:p>
        </p:txBody>
      </p:sp>
      <p:sp>
        <p:nvSpPr>
          <p:cNvPr id="9" name="Shape 7"/>
          <p:cNvSpPr/>
          <p:nvPr/>
        </p:nvSpPr>
        <p:spPr>
          <a:xfrm>
            <a:off x="896112" y="1417320"/>
            <a:ext cx="36576" cy="128016"/>
          </a:xfrm>
          <a:prstGeom prst="rect">
            <a:avLst/>
          </a:prstGeom>
          <a:solidFill>
            <a:srgbClr val="EBEBEB"/>
          </a:solidFill>
          <a:ln/>
        </p:spPr>
      </p:sp>
      <p:sp>
        <p:nvSpPr>
          <p:cNvPr id="10" name="Shape 8"/>
          <p:cNvSpPr/>
          <p:nvPr/>
        </p:nvSpPr>
        <p:spPr>
          <a:xfrm>
            <a:off x="274320" y="1545336"/>
            <a:ext cx="1280160" cy="457200"/>
          </a:xfrm>
          <a:prstGeom prst="roundRect">
            <a:avLst>
              <a:gd name="adj" fmla="val 16000"/>
            </a:avLst>
          </a:prstGeom>
          <a:solidFill>
            <a:srgbClr val="0A84FF">
              <a:alpha val="20000"/>
            </a:srgbClr>
          </a:solidFill>
          <a:ln w="12700">
            <a:solidFill>
              <a:srgbClr val="0A84FF"/>
            </a:solidFill>
            <a:prstDash val="solid"/>
          </a:ln>
        </p:spPr>
      </p:sp>
      <p:sp>
        <p:nvSpPr>
          <p:cNvPr id="11" name="Text 9"/>
          <p:cNvSpPr txBox="1"/>
          <p:nvPr/>
        </p:nvSpPr>
        <p:spPr>
          <a:xfrm>
            <a:off x="274320" y="154533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1960s-70s</a:t>
            </a:r>
            <a:endParaRPr lang="en-US" sz="1300" dirty="0"/>
          </a:p>
        </p:txBody>
      </p:sp>
      <p:sp>
        <p:nvSpPr>
          <p:cNvPr id="12" name="Text 10"/>
          <p:cNvSpPr txBox="1"/>
          <p:nvPr/>
        </p:nvSpPr>
        <p:spPr>
          <a:xfrm>
            <a:off x="1691640" y="158191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Primeras iniciativas</a:t>
            </a:r>
            <a:endParaRPr lang="en-US" sz="1200" dirty="0"/>
          </a:p>
        </p:txBody>
      </p:sp>
      <p:sp>
        <p:nvSpPr>
          <p:cNvPr id="13" name="Text 11"/>
          <p:cNvSpPr txBox="1"/>
          <p:nvPr/>
        </p:nvSpPr>
        <p:spPr>
          <a:xfrm>
            <a:off x="1691640" y="178308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Propietarios comienzan a notar pérdidas de eficiencia por la falta de coordinación entre diseño y construcción en proyectos industriales</a:t>
            </a:r>
            <a:endParaRPr lang="en-US" sz="1050" dirty="0"/>
          </a:p>
        </p:txBody>
      </p:sp>
      <p:sp>
        <p:nvSpPr>
          <p:cNvPr id="14" name="Shape 12"/>
          <p:cNvSpPr/>
          <p:nvPr/>
        </p:nvSpPr>
        <p:spPr>
          <a:xfrm>
            <a:off x="896112" y="2002536"/>
            <a:ext cx="36576" cy="128016"/>
          </a:xfrm>
          <a:prstGeom prst="rect">
            <a:avLst/>
          </a:prstGeom>
          <a:solidFill>
            <a:srgbClr val="EBEBEB"/>
          </a:solidFill>
          <a:ln/>
        </p:spPr>
      </p:sp>
      <p:sp>
        <p:nvSpPr>
          <p:cNvPr id="15" name="Shape 13"/>
          <p:cNvSpPr/>
          <p:nvPr/>
        </p:nvSpPr>
        <p:spPr>
          <a:xfrm>
            <a:off x="274320" y="2130552"/>
            <a:ext cx="1280160" cy="457200"/>
          </a:xfrm>
          <a:prstGeom prst="roundRect">
            <a:avLst>
              <a:gd name="adj" fmla="val 16000"/>
            </a:avLst>
          </a:prstGeom>
          <a:solidFill>
            <a:srgbClr val="0A84FF">
              <a:alpha val="20000"/>
            </a:srgbClr>
          </a:solidFill>
          <a:ln w="12700">
            <a:solidFill>
              <a:srgbClr val="0A84FF"/>
            </a:solidFill>
            <a:prstDash val="solid"/>
          </a:ln>
        </p:spPr>
      </p:sp>
      <p:sp>
        <p:nvSpPr>
          <p:cNvPr id="16" name="Text 14"/>
          <p:cNvSpPr txBox="1"/>
          <p:nvPr/>
        </p:nvSpPr>
        <p:spPr>
          <a:xfrm>
            <a:off x="274320" y="2130552"/>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1982</a:t>
            </a:r>
            <a:endParaRPr lang="en-US" sz="1300" dirty="0"/>
          </a:p>
        </p:txBody>
      </p:sp>
      <p:sp>
        <p:nvSpPr>
          <p:cNvPr id="17" name="Text 15"/>
          <p:cNvSpPr txBox="1"/>
          <p:nvPr/>
        </p:nvSpPr>
        <p:spPr>
          <a:xfrm>
            <a:off x="1691640" y="2167128"/>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Fundación CII</a:t>
            </a:r>
            <a:endParaRPr lang="en-US" sz="1200" dirty="0"/>
          </a:p>
        </p:txBody>
      </p:sp>
      <p:sp>
        <p:nvSpPr>
          <p:cNvPr id="18" name="Text 16"/>
          <p:cNvSpPr txBox="1"/>
          <p:nvPr/>
        </p:nvSpPr>
        <p:spPr>
          <a:xfrm>
            <a:off x="1691640" y="2368296"/>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Construction Industry Institute es fundado en The University of Texas at Austin para mejorar la efectividad de la industria</a:t>
            </a:r>
            <a:endParaRPr lang="en-US" sz="1050" dirty="0"/>
          </a:p>
        </p:txBody>
      </p:sp>
      <p:sp>
        <p:nvSpPr>
          <p:cNvPr id="19" name="Shape 17"/>
          <p:cNvSpPr/>
          <p:nvPr/>
        </p:nvSpPr>
        <p:spPr>
          <a:xfrm>
            <a:off x="896112" y="2587752"/>
            <a:ext cx="36576" cy="128016"/>
          </a:xfrm>
          <a:prstGeom prst="rect">
            <a:avLst/>
          </a:prstGeom>
          <a:solidFill>
            <a:srgbClr val="EBEBEB"/>
          </a:solidFill>
          <a:ln/>
        </p:spPr>
      </p:sp>
      <p:sp>
        <p:nvSpPr>
          <p:cNvPr id="20" name="Shape 18"/>
          <p:cNvSpPr/>
          <p:nvPr/>
        </p:nvSpPr>
        <p:spPr>
          <a:xfrm>
            <a:off x="274320" y="2715768"/>
            <a:ext cx="1280160" cy="457200"/>
          </a:xfrm>
          <a:prstGeom prst="roundRect">
            <a:avLst>
              <a:gd name="adj" fmla="val 16000"/>
            </a:avLst>
          </a:prstGeom>
          <a:solidFill>
            <a:srgbClr val="0A84FF">
              <a:alpha val="20000"/>
            </a:srgbClr>
          </a:solidFill>
          <a:ln w="12700">
            <a:solidFill>
              <a:srgbClr val="0A84FF"/>
            </a:solidFill>
            <a:prstDash val="solid"/>
          </a:ln>
        </p:spPr>
      </p:sp>
      <p:sp>
        <p:nvSpPr>
          <p:cNvPr id="21" name="Text 19"/>
          <p:cNvSpPr txBox="1"/>
          <p:nvPr/>
        </p:nvSpPr>
        <p:spPr>
          <a:xfrm>
            <a:off x="274320" y="2715768"/>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1984-86</a:t>
            </a:r>
            <a:endParaRPr lang="en-US" sz="1300" dirty="0"/>
          </a:p>
        </p:txBody>
      </p:sp>
      <p:sp>
        <p:nvSpPr>
          <p:cNvPr id="22" name="Text 20"/>
          <p:cNvSpPr txBox="1"/>
          <p:nvPr/>
        </p:nvSpPr>
        <p:spPr>
          <a:xfrm>
            <a:off x="1691640" y="2752344"/>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Task Force CII</a:t>
            </a:r>
            <a:endParaRPr lang="en-US" sz="1200" dirty="0"/>
          </a:p>
        </p:txBody>
      </p:sp>
      <p:sp>
        <p:nvSpPr>
          <p:cNvPr id="23" name="Text 21"/>
          <p:cNvSpPr txBox="1"/>
          <p:nvPr/>
        </p:nvSpPr>
        <p:spPr>
          <a:xfrm>
            <a:off x="1691640" y="2953512"/>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Primera Task Force de Constructabilidad del CII conduce 4 estudios fundamentales entre 1984 y 1987</a:t>
            </a:r>
            <a:endParaRPr lang="en-US" sz="1050" dirty="0"/>
          </a:p>
        </p:txBody>
      </p:sp>
      <p:sp>
        <p:nvSpPr>
          <p:cNvPr id="24" name="Shape 22"/>
          <p:cNvSpPr/>
          <p:nvPr/>
        </p:nvSpPr>
        <p:spPr>
          <a:xfrm>
            <a:off x="896112" y="3172968"/>
            <a:ext cx="36576" cy="128016"/>
          </a:xfrm>
          <a:prstGeom prst="rect">
            <a:avLst/>
          </a:prstGeom>
          <a:solidFill>
            <a:srgbClr val="EBEBEB"/>
          </a:solidFill>
          <a:ln/>
        </p:spPr>
      </p:sp>
      <p:sp>
        <p:nvSpPr>
          <p:cNvPr id="25" name="Shape 23"/>
          <p:cNvSpPr/>
          <p:nvPr/>
        </p:nvSpPr>
        <p:spPr>
          <a:xfrm>
            <a:off x="274320" y="3300984"/>
            <a:ext cx="1280160" cy="457200"/>
          </a:xfrm>
          <a:prstGeom prst="roundRect">
            <a:avLst>
              <a:gd name="adj" fmla="val 16000"/>
            </a:avLst>
          </a:prstGeom>
          <a:solidFill>
            <a:srgbClr val="0A84FF">
              <a:alpha val="20000"/>
            </a:srgbClr>
          </a:solidFill>
          <a:ln w="12700">
            <a:solidFill>
              <a:srgbClr val="0A84FF"/>
            </a:solidFill>
            <a:prstDash val="solid"/>
          </a:ln>
        </p:spPr>
      </p:sp>
      <p:sp>
        <p:nvSpPr>
          <p:cNvPr id="26" name="Text 24"/>
          <p:cNvSpPr txBox="1"/>
          <p:nvPr/>
        </p:nvSpPr>
        <p:spPr>
          <a:xfrm>
            <a:off x="274320" y="3300984"/>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1986</a:t>
            </a:r>
            <a:endParaRPr lang="en-US" sz="1300" dirty="0"/>
          </a:p>
        </p:txBody>
      </p:sp>
      <p:sp>
        <p:nvSpPr>
          <p:cNvPr id="27" name="Text 25"/>
          <p:cNvSpPr txBox="1"/>
          <p:nvPr/>
        </p:nvSpPr>
        <p:spPr>
          <a:xfrm>
            <a:off x="1691640" y="3337560"/>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Publication 3-1</a:t>
            </a:r>
            <a:endParaRPr lang="en-US" sz="1200" dirty="0"/>
          </a:p>
        </p:txBody>
      </p:sp>
      <p:sp>
        <p:nvSpPr>
          <p:cNvPr id="28" name="Text 26"/>
          <p:cNvSpPr txBox="1"/>
          <p:nvPr/>
        </p:nvSpPr>
        <p:spPr>
          <a:xfrm>
            <a:off x="1691640" y="3538728"/>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"Constructability: A Primer" — el primer documento formal de marketing del concepto para ejecutivos</a:t>
            </a:r>
            <a:endParaRPr lang="en-US" sz="1050" dirty="0"/>
          </a:p>
        </p:txBody>
      </p:sp>
      <p:sp>
        <p:nvSpPr>
          <p:cNvPr id="29" name="Shape 27"/>
          <p:cNvSpPr/>
          <p:nvPr/>
        </p:nvSpPr>
        <p:spPr>
          <a:xfrm>
            <a:off x="896112" y="3758184"/>
            <a:ext cx="36576" cy="128016"/>
          </a:xfrm>
          <a:prstGeom prst="rect">
            <a:avLst/>
          </a:prstGeom>
          <a:solidFill>
            <a:srgbClr val="EBEBEB"/>
          </a:solidFill>
          <a:ln/>
        </p:spPr>
      </p:sp>
      <p:sp>
        <p:nvSpPr>
          <p:cNvPr id="30" name="Shape 28"/>
          <p:cNvSpPr/>
          <p:nvPr/>
        </p:nvSpPr>
        <p:spPr>
          <a:xfrm>
            <a:off x="274320" y="3886200"/>
            <a:ext cx="1280160" cy="457200"/>
          </a:xfrm>
          <a:prstGeom prst="roundRect">
            <a:avLst>
              <a:gd name="adj" fmla="val 16000"/>
            </a:avLst>
          </a:prstGeom>
          <a:solidFill>
            <a:srgbClr val="0A84FF">
              <a:alpha val="20000"/>
            </a:srgbClr>
          </a:solidFill>
          <a:ln w="12700">
            <a:solidFill>
              <a:srgbClr val="0A84FF"/>
            </a:solidFill>
            <a:prstDash val="solid"/>
          </a:ln>
        </p:spPr>
      </p:sp>
      <p:sp>
        <p:nvSpPr>
          <p:cNvPr id="31" name="Text 29"/>
          <p:cNvSpPr txBox="1"/>
          <p:nvPr/>
        </p:nvSpPr>
        <p:spPr>
          <a:xfrm>
            <a:off x="274320" y="388620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1993</a:t>
            </a:r>
            <a:endParaRPr lang="en-US" sz="1300" dirty="0"/>
          </a:p>
        </p:txBody>
      </p:sp>
      <p:sp>
        <p:nvSpPr>
          <p:cNvPr id="32" name="Text 30"/>
          <p:cNvSpPr txBox="1"/>
          <p:nvPr/>
        </p:nvSpPr>
        <p:spPr>
          <a:xfrm>
            <a:off x="1691640" y="392277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3" name="Text 31"/>
          <p:cNvSpPr txBox="1"/>
          <p:nvPr/>
        </p:nvSpPr>
        <p:spPr>
          <a:xfrm>
            <a:off x="1691640" y="412394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la "Constructability Implementation Guide" con 19 herramientas de implementación</a:t>
            </a:r>
            <a:endParaRPr lang="en-US" sz="1050" dirty="0"/>
          </a:p>
        </p:txBody>
      </p:sp>
      <p:sp>
        <p:nvSpPr>
          <p:cNvPr id="34" name="Shape 32"/>
          <p:cNvSpPr/>
          <p:nvPr/>
        </p:nvSpPr>
        <p:spPr>
          <a:xfrm>
            <a:off x="896112" y="4343400"/>
            <a:ext cx="36576" cy="128016"/>
          </a:xfrm>
          <a:prstGeom prst="rect">
            <a:avLst/>
          </a:prstGeom>
          <a:solidFill>
            <a:srgbClr val="EBEBEB"/>
          </a:solidFill>
          <a:ln/>
        </p:spPr>
      </p:sp>
      <p:sp>
        <p:nvSpPr>
          <p:cNvPr id="35" name="Shape 33"/>
          <p:cNvSpPr/>
          <p:nvPr/>
        </p:nvSpPr>
        <p:spPr>
          <a:xfrm>
            <a:off x="274320" y="4471416"/>
            <a:ext cx="1280160" cy="457200"/>
          </a:xfrm>
          <a:prstGeom prst="roundRect">
            <a:avLst>
              <a:gd name="adj" fmla="val 16000"/>
            </a:avLst>
          </a:prstGeom>
          <a:solidFill>
            <a:srgbClr val="0A84FF">
              <a:alpha val="20000"/>
            </a:srgbClr>
          </a:solidFill>
          <a:ln w="12700">
            <a:solidFill>
              <a:srgbClr val="0A84FF"/>
            </a:solidFill>
            <a:prstDash val="solid"/>
          </a:ln>
        </p:spPr>
      </p:sp>
      <p:sp>
        <p:nvSpPr>
          <p:cNvPr id="36" name="Text 34"/>
          <p:cNvSpPr txBox="1"/>
          <p:nvPr/>
        </p:nvSpPr>
        <p:spPr>
          <a:xfrm>
            <a:off x="274320" y="447141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2006</a:t>
            </a:r>
            <a:endParaRPr lang="en-US" sz="1300" dirty="0"/>
          </a:p>
        </p:txBody>
      </p:sp>
      <p:sp>
        <p:nvSpPr>
          <p:cNvPr id="37" name="Text 35"/>
          <p:cNvSpPr txBox="1"/>
          <p:nvPr/>
        </p:nvSpPr>
        <p:spPr>
          <a:xfrm>
            <a:off x="1691640" y="450799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2da Edición</a:t>
            </a:r>
            <a:endParaRPr lang="en-US" sz="1200" dirty="0"/>
          </a:p>
        </p:txBody>
      </p:sp>
      <p:sp>
        <p:nvSpPr>
          <p:cNvPr id="38" name="Text 36"/>
          <p:cNvSpPr txBox="1"/>
          <p:nvPr/>
        </p:nvSpPr>
        <p:spPr>
          <a:xfrm>
            <a:off x="1691640" y="470916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Segunda edición revisada del Implementation Guide incorpora 17 conceptos formales y nuevos casos de estudio</a:t>
            </a:r>
            <a:endParaRPr lang="en-US" sz="1050" dirty="0"/>
          </a:p>
        </p:txBody>
      </p:sp>
      <p:sp>
        <p:nvSpPr>
          <p:cNvPr id="39" name="Text 3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a:t>
            </a:r>
            <a:endParaRPr lang="en-US" sz="900" dirty="0"/>
          </a:p>
        </p:txBody>
      </p:sp>
      <p:pic xmlns:p="http://schemas.openxmlformats.org/presentationml/2006/main" xmlns:a="http://schemas.openxmlformats.org/drawingml/2006/main" xmlns:r="http://schemas.openxmlformats.org/officeDocument/2006/relationships">
        <p:nvPicPr>
          <p:cNvPr id="8004" name="SlideIcon8004"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¿Por qué la Constructabilidad no ocurre naturalmente?</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500" dirty="0">
                <a:solidFill>
                  <a:srgbClr val="55577A"/>
                </a:solidFill>
                <a:latin typeface="Atkinson Hyperlegible" pitchFamily="34" charset="0"/>
                <a:ea typeface="Atkinson Hyperlegible" pitchFamily="34" charset="-122"/>
                <a:cs typeface="Atkinson Hyperlegible" pitchFamily="34" charset="-120"/>
              </a:rPr>
              <a:t>4 Causas Estructurales de la Separación D&amp;C</a:t>
            </a:r>
            <a:endParaRPr lang="en-US" sz="1500" dirty="0"/>
          </a:p>
        </p:txBody>
      </p:sp>
      <p:sp>
        <p:nvSpPr>
          <p:cNvPr id="6" name="Shape 4"/>
          <p:cNvSpPr/>
          <p:nvPr/>
        </p:nvSpPr>
        <p:spPr>
          <a:xfrm>
            <a:off x="457200" y="1325880"/>
            <a:ext cx="4114800" cy="1645920"/>
          </a:xfrm>
          <a:prstGeom prst="roundRect">
            <a:avLst>
              <a:gd name="adj" fmla="val 6667"/>
            </a:avLst>
          </a:prstGeom>
          <a:solidFill>
            <a:srgbClr val="F4F4F4"/>
          </a:solidFill>
          <a:ln w="12700">
            <a:solidFill>
              <a:srgbClr val="EBEBEB"/>
            </a:solidFill>
            <a:prstDash val="solid"/>
          </a:ln>
        </p:spPr>
      </p:sp>
      <p:sp>
        <p:nvSpPr>
          <p:cNvPr id="7" name="Text 5"/>
          <p:cNvSpPr txBox="1"/>
          <p:nvPr/>
        </p:nvSpPr>
        <p:spPr>
          <a:xfrm>
            <a:off x="640080" y="1417320"/>
            <a:ext cx="548640" cy="502920"/>
          </a:xfrm>
          <a:prstGeom prst="rect">
            <a:avLst/>
          </a:prstGeom>
          <a:noFill/>
          <a:ln/>
        </p:spPr>
        <p:txBody>
          <a:bodyPr wrap="square" lIns="0" tIns="0" rIns="0" bIns="0" rtlCol="0" anchor="ctr"/>
          <a:lstStyle/>
          <a:p>
            <a:pPr indent="0" marL="0">
              <a:buNone/>
            </a:pPr>
            <a:r>
              <a:rPr lang="en-US" sz="2200" b="1" dirty="0">
                <a:solidFill>
                  <a:srgbClr val="FF9500"/>
                </a:solidFill>
                <a:latin typeface="Atkinson Hyperlegible" pitchFamily="34" charset="0"/>
                <a:ea typeface="Atkinson Hyperlegible" pitchFamily="34" charset="-122"/>
                <a:cs typeface="Atkinson Hyperlegible" pitchFamily="34" charset="-120"/>
              </a:rPr>
              <a:t>01</a:t>
            </a:r>
            <a:endParaRPr lang="en-US" sz="2200" dirty="0"/>
          </a:p>
        </p:txBody>
      </p:sp>
      <p:sp>
        <p:nvSpPr>
          <p:cNvPr id="8" name="Text 6"/>
          <p:cNvSpPr txBox="1"/>
          <p:nvPr/>
        </p:nvSpPr>
        <p:spPr>
          <a:xfrm>
            <a:off x="12344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Especialización extrema</a:t>
            </a:r>
            <a:endParaRPr lang="en-US" sz="1200" dirty="0"/>
          </a:p>
        </p:txBody>
      </p:sp>
      <p:sp>
        <p:nvSpPr>
          <p:cNvPr id="9" name="Text 7"/>
          <p:cNvSpPr txBox="1"/>
          <p:nvPr/>
        </p:nvSpPr>
        <p:spPr>
          <a:xfrm>
            <a:off x="6400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organizaciones de proyecto están formadas por especialistas en "silos aislados" (stovepipes). Ingenieros, procuradores y constructores raramente colaboran en tiempo real.</a:t>
            </a:r>
            <a:endParaRPr lang="en-US" sz="1150" dirty="0"/>
          </a:p>
        </p:txBody>
      </p:sp>
      <p:sp>
        <p:nvSpPr>
          <p:cNvPr id="10" name="Shape 8"/>
          <p:cNvSpPr/>
          <p:nvPr/>
        </p:nvSpPr>
        <p:spPr>
          <a:xfrm>
            <a:off x="4800600" y="1325880"/>
            <a:ext cx="4114800" cy="1645920"/>
          </a:xfrm>
          <a:prstGeom prst="roundRect">
            <a:avLst>
              <a:gd name="adj" fmla="val 6667"/>
            </a:avLst>
          </a:prstGeom>
          <a:solidFill>
            <a:srgbClr val="F4F4F4"/>
          </a:solidFill>
          <a:ln w="12700">
            <a:solidFill>
              <a:srgbClr val="EBEBEB"/>
            </a:solidFill>
            <a:prstDash val="solid"/>
          </a:ln>
        </p:spPr>
      </p:sp>
      <p:sp>
        <p:nvSpPr>
          <p:cNvPr id="11" name="Text 9"/>
          <p:cNvSpPr txBox="1"/>
          <p:nvPr/>
        </p:nvSpPr>
        <p:spPr>
          <a:xfrm>
            <a:off x="4983480" y="1417320"/>
            <a:ext cx="548640" cy="502920"/>
          </a:xfrm>
          <a:prstGeom prst="rect">
            <a:avLst/>
          </a:prstGeom>
          <a:noFill/>
          <a:ln/>
        </p:spPr>
        <p:txBody>
          <a:bodyPr wrap="square" lIns="0" tIns="0" rIns="0" bIns="0" rtlCol="0" anchor="ctr"/>
          <a:lstStyle/>
          <a:p>
            <a:pPr indent="0" marL="0">
              <a:buNone/>
            </a:pPr>
            <a:r>
              <a:rPr lang="en-US" sz="2200" b="1" dirty="0">
                <a:solidFill>
                  <a:srgbClr val="FF453A"/>
                </a:solidFill>
                <a:latin typeface="Atkinson Hyperlegible" pitchFamily="34" charset="0"/>
                <a:ea typeface="Atkinson Hyperlegible" pitchFamily="34" charset="-122"/>
                <a:cs typeface="Atkinson Hyperlegible" pitchFamily="34" charset="-120"/>
              </a:rPr>
              <a:t>02</a:t>
            </a:r>
            <a:endParaRPr lang="en-US" sz="2200" dirty="0"/>
          </a:p>
        </p:txBody>
      </p:sp>
      <p:sp>
        <p:nvSpPr>
          <p:cNvPr id="12" name="Text 10"/>
          <p:cNvSpPr txBox="1"/>
          <p:nvPr/>
        </p:nvSpPr>
        <p:spPr>
          <a:xfrm>
            <a:off x="55778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Retroalimentación negada</a:t>
            </a:r>
            <a:endParaRPr lang="en-US" sz="1200" dirty="0"/>
          </a:p>
        </p:txBody>
      </p:sp>
      <p:sp>
        <p:nvSpPr>
          <p:cNvPr id="13" name="Text 11"/>
          <p:cNvSpPr txBox="1"/>
          <p:nvPr/>
        </p:nvSpPr>
        <p:spPr>
          <a:xfrm>
            <a:off x="49834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 experiencia del campo raramente es capturada y llevada de vuelta a los equipos de diseño. No existen bases de datos sistemáticas de lecciones aprendidas.</a:t>
            </a:r>
            <a:endParaRPr lang="en-US" sz="1150" dirty="0"/>
          </a:p>
        </p:txBody>
      </p:sp>
      <p:sp>
        <p:nvSpPr>
          <p:cNvPr id="14" name="Shape 12"/>
          <p:cNvSpPr/>
          <p:nvPr/>
        </p:nvSpPr>
        <p:spPr>
          <a:xfrm>
            <a:off x="457200" y="3108960"/>
            <a:ext cx="4114800" cy="1645920"/>
          </a:xfrm>
          <a:prstGeom prst="roundRect">
            <a:avLst>
              <a:gd name="adj" fmla="val 6667"/>
            </a:avLst>
          </a:prstGeom>
          <a:solidFill>
            <a:srgbClr val="F4F4F4"/>
          </a:solidFill>
          <a:ln w="12700">
            <a:solidFill>
              <a:srgbClr val="EBEBEB"/>
            </a:solidFill>
            <a:prstDash val="solid"/>
          </a:ln>
        </p:spPr>
      </p:sp>
      <p:sp>
        <p:nvSpPr>
          <p:cNvPr id="15" name="Text 13"/>
          <p:cNvSpPr txBox="1"/>
          <p:nvPr/>
        </p:nvSpPr>
        <p:spPr>
          <a:xfrm>
            <a:off x="640080" y="3200400"/>
            <a:ext cx="548640" cy="502920"/>
          </a:xfrm>
          <a:prstGeom prst="rect">
            <a:avLst/>
          </a:prstGeom>
          <a:noFill/>
          <a:ln/>
        </p:spPr>
        <p:txBody>
          <a:bodyPr wrap="square" lIns="0" tIns="0" rIns="0" bIns="0" rtlCol="0" anchor="ctr"/>
          <a:lstStyle/>
          <a:p>
            <a:pPr indent="0" marL="0">
              <a:buNone/>
            </a:pPr>
            <a:r>
              <a:rPr lang="en-US" sz="2200" b="1" dirty="0">
                <a:solidFill>
                  <a:srgbClr val="FFD60A"/>
                </a:solidFill>
                <a:latin typeface="Atkinson Hyperlegible" pitchFamily="34" charset="0"/>
                <a:ea typeface="Atkinson Hyperlegible" pitchFamily="34" charset="-122"/>
                <a:cs typeface="Atkinson Hyperlegible" pitchFamily="34" charset="-120"/>
              </a:rPr>
              <a:t>03</a:t>
            </a:r>
            <a:endParaRPr lang="en-US" sz="2200" dirty="0"/>
          </a:p>
        </p:txBody>
      </p:sp>
      <p:sp>
        <p:nvSpPr>
          <p:cNvPr id="16" name="Text 14"/>
          <p:cNvSpPr txBox="1"/>
          <p:nvPr/>
        </p:nvSpPr>
        <p:spPr>
          <a:xfrm>
            <a:off x="12344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Costo front-end mal entendido</a:t>
            </a:r>
            <a:endParaRPr lang="en-US" sz="1200" dirty="0"/>
          </a:p>
        </p:txBody>
      </p:sp>
      <p:sp>
        <p:nvSpPr>
          <p:cNvPr id="17" name="Text 15"/>
          <p:cNvSpPr txBox="1"/>
          <p:nvPr/>
        </p:nvSpPr>
        <p:spPr>
          <a:xfrm>
            <a:off x="6400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Los propietarios perciben que la participación temprana de constructores incrementa el costo. En realidad, la inversión front-end genera retornos de 10:1 a 15:1.</a:t>
            </a:r>
            <a:endParaRPr lang="en-US" sz="1150" dirty="0"/>
          </a:p>
        </p:txBody>
      </p:sp>
      <p:sp>
        <p:nvSpPr>
          <p:cNvPr id="18" name="Shape 16"/>
          <p:cNvSpPr/>
          <p:nvPr/>
        </p:nvSpPr>
        <p:spPr>
          <a:xfrm>
            <a:off x="4800600" y="3108960"/>
            <a:ext cx="4114800" cy="1645920"/>
          </a:xfrm>
          <a:prstGeom prst="roundRect">
            <a:avLst>
              <a:gd name="adj" fmla="val 6667"/>
            </a:avLst>
          </a:prstGeom>
          <a:solidFill>
            <a:srgbClr val="F4F4F4"/>
          </a:solidFill>
          <a:ln w="12700">
            <a:solidFill>
              <a:srgbClr val="EBEBEB"/>
            </a:solidFill>
            <a:prstDash val="solid"/>
          </a:ln>
        </p:spPr>
      </p:sp>
      <p:sp>
        <p:nvSpPr>
          <p:cNvPr id="19" name="Text 17"/>
          <p:cNvSpPr txBox="1"/>
          <p:nvPr/>
        </p:nvSpPr>
        <p:spPr>
          <a:xfrm>
            <a:off x="4983480" y="3200400"/>
            <a:ext cx="548640" cy="502920"/>
          </a:xfrm>
          <a:prstGeom prst="rect">
            <a:avLst/>
          </a:prstGeom>
          <a:noFill/>
          <a:ln/>
        </p:spPr>
        <p:txBody>
          <a:bodyPr wrap="square" lIns="0" tIns="0" rIns="0" bIns="0" rtlCol="0" anchor="ctr"/>
          <a:lstStyle/>
          <a:p>
            <a:pPr indent="0" marL="0">
              <a:buNone/>
            </a:pPr>
            <a:r>
              <a:rPr lang="en-US" sz="2200" b="1" dirty="0">
                <a:solidFill>
                  <a:srgbClr val="AF52DE"/>
                </a:solidFill>
                <a:latin typeface="Atkinson Hyperlegible" pitchFamily="34" charset="0"/>
                <a:ea typeface="Atkinson Hyperlegible" pitchFamily="34" charset="-122"/>
                <a:cs typeface="Atkinson Hyperlegible" pitchFamily="34" charset="-120"/>
              </a:rPr>
              <a:t>04</a:t>
            </a:r>
            <a:endParaRPr lang="en-US" sz="2200" dirty="0"/>
          </a:p>
        </p:txBody>
      </p:sp>
      <p:sp>
        <p:nvSpPr>
          <p:cNvPr id="20" name="Text 18"/>
          <p:cNvSpPr txBox="1"/>
          <p:nvPr/>
        </p:nvSpPr>
        <p:spPr>
          <a:xfrm>
            <a:off x="55778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Tecnología no aprovechada</a:t>
            </a:r>
            <a:endParaRPr lang="en-US" sz="1200" dirty="0"/>
          </a:p>
        </p:txBody>
      </p:sp>
      <p:sp>
        <p:nvSpPr>
          <p:cNvPr id="21" name="Text 19"/>
          <p:cNvSpPr txBox="1"/>
          <p:nvPr/>
        </p:nvSpPr>
        <p:spPr>
          <a:xfrm>
            <a:off x="49834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soluciones tecnológicas emergentes (BIM, 4D, GIS, simulación) no se usan sistemáticamente para evaluar constructabilidad en las fases tempranas.</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a:t>
            </a:r>
            <a:endParaRPr lang="en-US" sz="900" dirty="0"/>
          </a:p>
        </p:txBody>
      </p:sp>
      <p:pic xmlns:p="http://schemas.openxmlformats.org/presentationml/2006/main" xmlns:a="http://schemas.openxmlformats.org/drawingml/2006/main" xmlns:r="http://schemas.openxmlformats.org/officeDocument/2006/relationships">
        <p:nvPicPr>
          <p:cNvPr id="8005" name="SlideIcon8005"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Ingeniería de Valor (VE)</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2103120" cy="384048"/>
          </a:xfrm>
          <a:prstGeom prst="rect">
            <a:avLst/>
          </a:prstGeom>
          <a:solidFill>
            <a:srgbClr val="EBEBEB"/>
          </a:solidFill>
          <a:ln/>
        </p:spPr>
      </p:sp>
      <p:sp>
        <p:nvSpPr>
          <p:cNvPr id="6" name="Text 4"/>
          <p:cNvSpPr txBox="1"/>
          <p:nvPr/>
        </p:nvSpPr>
        <p:spPr>
          <a:xfrm>
            <a:off x="457200" y="960120"/>
            <a:ext cx="20116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Dimensión</a:t>
            </a:r>
            <a:endParaRPr lang="en-US" sz="1300" dirty="0"/>
          </a:p>
        </p:txBody>
      </p:sp>
      <p:sp>
        <p:nvSpPr>
          <p:cNvPr id="7" name="Shape 5"/>
          <p:cNvSpPr/>
          <p:nvPr/>
        </p:nvSpPr>
        <p:spPr>
          <a:xfrm>
            <a:off x="2514600" y="960120"/>
            <a:ext cx="3017520" cy="384048"/>
          </a:xfrm>
          <a:prstGeom prst="rect">
            <a:avLst/>
          </a:prstGeom>
          <a:solidFill>
            <a:srgbClr val="30D158"/>
          </a:solidFill>
          <a:ln/>
        </p:spPr>
      </p:sp>
      <p:sp>
        <p:nvSpPr>
          <p:cNvPr id="8" name="Text 6"/>
          <p:cNvSpPr txBox="1"/>
          <p:nvPr/>
        </p:nvSpPr>
        <p:spPr>
          <a:xfrm>
            <a:off x="2606040" y="960120"/>
            <a:ext cx="29260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300" dirty="0"/>
          </a:p>
        </p:txBody>
      </p:sp>
      <p:sp>
        <p:nvSpPr>
          <p:cNvPr id="9" name="Shape 7"/>
          <p:cNvSpPr/>
          <p:nvPr/>
        </p:nvSpPr>
        <p:spPr>
          <a:xfrm>
            <a:off x="5577840" y="960120"/>
            <a:ext cx="3017520" cy="384048"/>
          </a:xfrm>
          <a:prstGeom prst="rect">
            <a:avLst/>
          </a:prstGeom>
          <a:solidFill>
            <a:srgbClr val="30D158"/>
          </a:solidFill>
          <a:ln/>
        </p:spPr>
      </p:sp>
      <p:sp>
        <p:nvSpPr>
          <p:cNvPr id="10" name="Text 8"/>
          <p:cNvSpPr txBox="1"/>
          <p:nvPr/>
        </p:nvSpPr>
        <p:spPr>
          <a:xfrm>
            <a:off x="5669280" y="960120"/>
            <a:ext cx="29260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Ingeniería de Valor</a:t>
            </a:r>
            <a:endParaRPr lang="en-US" sz="1300" dirty="0"/>
          </a:p>
        </p:txBody>
      </p:sp>
      <p:sp>
        <p:nvSpPr>
          <p:cNvPr id="11" name="Shape 9"/>
          <p:cNvSpPr/>
          <p:nvPr/>
        </p:nvSpPr>
        <p:spPr>
          <a:xfrm>
            <a:off x="365760" y="1389888"/>
            <a:ext cx="2103120" cy="566928"/>
          </a:xfrm>
          <a:prstGeom prst="rect">
            <a:avLst/>
          </a:prstGeom>
          <a:solidFill>
            <a:srgbClr val="F4F4F4"/>
          </a:solidFill>
          <a:ln/>
        </p:spPr>
      </p:sp>
      <p:sp>
        <p:nvSpPr>
          <p:cNvPr id="12" name="Text 10"/>
          <p:cNvSpPr txBox="1"/>
          <p:nvPr/>
        </p:nvSpPr>
        <p:spPr>
          <a:xfrm>
            <a:off x="457200" y="142646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Enfoque principal</a:t>
            </a:r>
            <a:endParaRPr lang="en-US" sz="1100" dirty="0"/>
          </a:p>
        </p:txBody>
      </p:sp>
      <p:sp>
        <p:nvSpPr>
          <p:cNvPr id="13" name="Shape 11"/>
          <p:cNvSpPr/>
          <p:nvPr/>
        </p:nvSpPr>
        <p:spPr>
          <a:xfrm>
            <a:off x="2514600" y="1389888"/>
            <a:ext cx="3017520" cy="566928"/>
          </a:xfrm>
          <a:prstGeom prst="rect">
            <a:avLst/>
          </a:prstGeom>
          <a:solidFill>
            <a:srgbClr val="F4F4F4"/>
          </a:solidFill>
          <a:ln/>
        </p:spPr>
      </p:sp>
      <p:sp>
        <p:nvSpPr>
          <p:cNvPr id="14" name="Text 12"/>
          <p:cNvSpPr txBox="1"/>
          <p:nvPr/>
        </p:nvSpPr>
        <p:spPr>
          <a:xfrm>
            <a:off x="2606040" y="142646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Integrar conocimiento constructivo en el diseño</a:t>
            </a:r>
            <a:endParaRPr lang="en-US" sz="1100" dirty="0"/>
          </a:p>
        </p:txBody>
      </p:sp>
      <p:sp>
        <p:nvSpPr>
          <p:cNvPr id="15" name="Shape 13"/>
          <p:cNvSpPr/>
          <p:nvPr/>
        </p:nvSpPr>
        <p:spPr>
          <a:xfrm>
            <a:off x="5577840" y="1389888"/>
            <a:ext cx="3017520" cy="566928"/>
          </a:xfrm>
          <a:prstGeom prst="rect">
            <a:avLst/>
          </a:prstGeom>
          <a:solidFill>
            <a:srgbClr val="F4F4F4"/>
          </a:solidFill>
          <a:ln/>
        </p:spPr>
      </p:sp>
      <p:sp>
        <p:nvSpPr>
          <p:cNvPr id="16" name="Text 14"/>
          <p:cNvSpPr txBox="1"/>
          <p:nvPr/>
        </p:nvSpPr>
        <p:spPr>
          <a:xfrm>
            <a:off x="5669280" y="142646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y ciclo de vida del activo</a:t>
            </a:r>
            <a:endParaRPr lang="en-US" sz="1100" dirty="0"/>
          </a:p>
        </p:txBody>
      </p:sp>
      <p:sp>
        <p:nvSpPr>
          <p:cNvPr id="17" name="Shape 15"/>
          <p:cNvSpPr/>
          <p:nvPr/>
        </p:nvSpPr>
        <p:spPr>
          <a:xfrm>
            <a:off x="365760" y="1975104"/>
            <a:ext cx="2103120" cy="566928"/>
          </a:xfrm>
          <a:prstGeom prst="rect">
            <a:avLst/>
          </a:prstGeom>
          <a:solidFill>
            <a:srgbClr val="DDE3F0"/>
          </a:solidFill>
          <a:ln/>
        </p:spPr>
      </p:sp>
      <p:sp>
        <p:nvSpPr>
          <p:cNvPr id="18" name="Text 16"/>
          <p:cNvSpPr txBox="1"/>
          <p:nvPr/>
        </p:nvSpPr>
        <p:spPr>
          <a:xfrm>
            <a:off x="457200" y="2011680"/>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Motor principal</a:t>
            </a:r>
            <a:endParaRPr lang="en-US" sz="1100" dirty="0"/>
          </a:p>
        </p:txBody>
      </p:sp>
      <p:sp>
        <p:nvSpPr>
          <p:cNvPr id="19" name="Shape 17"/>
          <p:cNvSpPr/>
          <p:nvPr/>
        </p:nvSpPr>
        <p:spPr>
          <a:xfrm>
            <a:off x="2514600" y="1975104"/>
            <a:ext cx="3017520" cy="566928"/>
          </a:xfrm>
          <a:prstGeom prst="rect">
            <a:avLst/>
          </a:prstGeom>
          <a:solidFill>
            <a:srgbClr val="DDE3F0"/>
          </a:solidFill>
          <a:ln/>
        </p:spPr>
      </p:sp>
      <p:sp>
        <p:nvSpPr>
          <p:cNvPr id="20" name="Text 18"/>
          <p:cNvSpPr txBox="1"/>
          <p:nvPr/>
        </p:nvSpPr>
        <p:spPr>
          <a:xfrm>
            <a:off x="2606040" y="2011680"/>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Experiencia de construcción actual</a:t>
            </a:r>
            <a:endParaRPr lang="en-US" sz="1100" dirty="0"/>
          </a:p>
        </p:txBody>
      </p:sp>
      <p:sp>
        <p:nvSpPr>
          <p:cNvPr id="21" name="Shape 19"/>
          <p:cNvSpPr/>
          <p:nvPr/>
        </p:nvSpPr>
        <p:spPr>
          <a:xfrm>
            <a:off x="5577840" y="1975104"/>
            <a:ext cx="3017520" cy="566928"/>
          </a:xfrm>
          <a:prstGeom prst="rect">
            <a:avLst/>
          </a:prstGeom>
          <a:solidFill>
            <a:srgbClr val="DDE3F0"/>
          </a:solidFill>
          <a:ln/>
        </p:spPr>
      </p:sp>
      <p:sp>
        <p:nvSpPr>
          <p:cNvPr id="22" name="Text 20"/>
          <p:cNvSpPr txBox="1"/>
          <p:nvPr/>
        </p:nvSpPr>
        <p:spPr>
          <a:xfrm>
            <a:off x="5669280" y="2011680"/>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multidisciplinario</a:t>
            </a:r>
            <a:endParaRPr lang="en-US" sz="1100" dirty="0"/>
          </a:p>
        </p:txBody>
      </p:sp>
      <p:sp>
        <p:nvSpPr>
          <p:cNvPr id="23" name="Shape 21"/>
          <p:cNvSpPr/>
          <p:nvPr/>
        </p:nvSpPr>
        <p:spPr>
          <a:xfrm>
            <a:off x="365760" y="2560320"/>
            <a:ext cx="2103120" cy="566928"/>
          </a:xfrm>
          <a:prstGeom prst="rect">
            <a:avLst/>
          </a:prstGeom>
          <a:solidFill>
            <a:srgbClr val="F4F4F4"/>
          </a:solidFill>
          <a:ln/>
        </p:spPr>
      </p:sp>
      <p:sp>
        <p:nvSpPr>
          <p:cNvPr id="24" name="Text 22"/>
          <p:cNvSpPr txBox="1"/>
          <p:nvPr/>
        </p:nvSpPr>
        <p:spPr>
          <a:xfrm>
            <a:off x="457200" y="2596896"/>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Timing óptimo</a:t>
            </a:r>
            <a:endParaRPr lang="en-US" sz="1100" dirty="0"/>
          </a:p>
        </p:txBody>
      </p:sp>
      <p:sp>
        <p:nvSpPr>
          <p:cNvPr id="25" name="Shape 23"/>
          <p:cNvSpPr/>
          <p:nvPr/>
        </p:nvSpPr>
        <p:spPr>
          <a:xfrm>
            <a:off x="2514600" y="2560320"/>
            <a:ext cx="3017520" cy="566928"/>
          </a:xfrm>
          <a:prstGeom prst="rect">
            <a:avLst/>
          </a:prstGeom>
          <a:solidFill>
            <a:srgbClr val="F4F4F4"/>
          </a:solidFill>
          <a:ln/>
        </p:spPr>
      </p:sp>
      <p:sp>
        <p:nvSpPr>
          <p:cNvPr id="26" name="Text 24"/>
          <p:cNvSpPr txBox="1"/>
          <p:nvPr/>
        </p:nvSpPr>
        <p:spPr>
          <a:xfrm>
            <a:off x="2606040" y="2596896"/>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Desde factibilidad hasta inicio de obra</a:t>
            </a:r>
            <a:endParaRPr lang="en-US" sz="1100" dirty="0"/>
          </a:p>
        </p:txBody>
      </p:sp>
      <p:sp>
        <p:nvSpPr>
          <p:cNvPr id="27" name="Shape 25"/>
          <p:cNvSpPr/>
          <p:nvPr/>
        </p:nvSpPr>
        <p:spPr>
          <a:xfrm>
            <a:off x="5577840" y="2560320"/>
            <a:ext cx="3017520" cy="566928"/>
          </a:xfrm>
          <a:prstGeom prst="rect">
            <a:avLst/>
          </a:prstGeom>
          <a:solidFill>
            <a:srgbClr val="F4F4F4"/>
          </a:solidFill>
          <a:ln/>
        </p:spPr>
      </p:sp>
      <p:sp>
        <p:nvSpPr>
          <p:cNvPr id="28" name="Text 26"/>
          <p:cNvSpPr txBox="1"/>
          <p:nvPr/>
        </p:nvSpPr>
        <p:spPr>
          <a:xfrm>
            <a:off x="5669280" y="2596896"/>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conceptual y básico</a:t>
            </a:r>
            <a:endParaRPr lang="en-US" sz="1100" dirty="0"/>
          </a:p>
        </p:txBody>
      </p:sp>
      <p:sp>
        <p:nvSpPr>
          <p:cNvPr id="29" name="Shape 27"/>
          <p:cNvSpPr/>
          <p:nvPr/>
        </p:nvSpPr>
        <p:spPr>
          <a:xfrm>
            <a:off x="365760" y="3145536"/>
            <a:ext cx="2103120" cy="566928"/>
          </a:xfrm>
          <a:prstGeom prst="rect">
            <a:avLst/>
          </a:prstGeom>
          <a:solidFill>
            <a:srgbClr val="DDE3F0"/>
          </a:solidFill>
          <a:ln/>
        </p:spPr>
      </p:sp>
      <p:sp>
        <p:nvSpPr>
          <p:cNvPr id="30" name="Text 28"/>
          <p:cNvSpPr txBox="1"/>
          <p:nvPr/>
        </p:nvSpPr>
        <p:spPr>
          <a:xfrm>
            <a:off x="457200" y="3182112"/>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Quien lidera</a:t>
            </a:r>
            <a:endParaRPr lang="en-US" sz="1100" dirty="0"/>
          </a:p>
        </p:txBody>
      </p:sp>
      <p:sp>
        <p:nvSpPr>
          <p:cNvPr id="31" name="Shape 29"/>
          <p:cNvSpPr/>
          <p:nvPr/>
        </p:nvSpPr>
        <p:spPr>
          <a:xfrm>
            <a:off x="2514600" y="3145536"/>
            <a:ext cx="3017520" cy="566928"/>
          </a:xfrm>
          <a:prstGeom prst="rect">
            <a:avLst/>
          </a:prstGeom>
          <a:solidFill>
            <a:srgbClr val="DDE3F0"/>
          </a:solidFill>
          <a:ln/>
        </p:spPr>
      </p:sp>
      <p:sp>
        <p:nvSpPr>
          <p:cNvPr id="32" name="Text 30"/>
          <p:cNvSpPr txBox="1"/>
          <p:nvPr/>
        </p:nvSpPr>
        <p:spPr>
          <a:xfrm>
            <a:off x="2606040" y="3182112"/>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Propietario apoyado por constructores</a:t>
            </a:r>
            <a:endParaRPr lang="en-US" sz="1100" dirty="0"/>
          </a:p>
        </p:txBody>
      </p:sp>
      <p:sp>
        <p:nvSpPr>
          <p:cNvPr id="33" name="Shape 31"/>
          <p:cNvSpPr/>
          <p:nvPr/>
        </p:nvSpPr>
        <p:spPr>
          <a:xfrm>
            <a:off x="5577840" y="3145536"/>
            <a:ext cx="3017520" cy="566928"/>
          </a:xfrm>
          <a:prstGeom prst="rect">
            <a:avLst/>
          </a:prstGeom>
          <a:solidFill>
            <a:srgbClr val="DDE3F0"/>
          </a:solidFill>
          <a:ln/>
        </p:spPr>
      </p:sp>
      <p:sp>
        <p:nvSpPr>
          <p:cNvPr id="34" name="Text 32"/>
          <p:cNvSpPr txBox="1"/>
          <p:nvPr/>
        </p:nvSpPr>
        <p:spPr>
          <a:xfrm>
            <a:off x="5669280" y="3182112"/>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Facilitador externo especializado</a:t>
            </a:r>
            <a:endParaRPr lang="en-US" sz="1100" dirty="0"/>
          </a:p>
        </p:txBody>
      </p:sp>
      <p:sp>
        <p:nvSpPr>
          <p:cNvPr id="35" name="Shape 33"/>
          <p:cNvSpPr/>
          <p:nvPr/>
        </p:nvSpPr>
        <p:spPr>
          <a:xfrm>
            <a:off x="365760" y="3730752"/>
            <a:ext cx="2103120" cy="566928"/>
          </a:xfrm>
          <a:prstGeom prst="rect">
            <a:avLst/>
          </a:prstGeom>
          <a:solidFill>
            <a:srgbClr val="F4F4F4"/>
          </a:solidFill>
          <a:ln/>
        </p:spPr>
      </p:sp>
      <p:sp>
        <p:nvSpPr>
          <p:cNvPr id="36" name="Text 34"/>
          <p:cNvSpPr txBox="1"/>
          <p:nvPr/>
        </p:nvSpPr>
        <p:spPr>
          <a:xfrm>
            <a:off x="457200" y="3767328"/>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Resultado típico</a:t>
            </a:r>
            <a:endParaRPr lang="en-US" sz="1100" dirty="0"/>
          </a:p>
        </p:txBody>
      </p:sp>
      <p:sp>
        <p:nvSpPr>
          <p:cNvPr id="37" name="Shape 35"/>
          <p:cNvSpPr/>
          <p:nvPr/>
        </p:nvSpPr>
        <p:spPr>
          <a:xfrm>
            <a:off x="2514600" y="3730752"/>
            <a:ext cx="3017520" cy="566928"/>
          </a:xfrm>
          <a:prstGeom prst="rect">
            <a:avLst/>
          </a:prstGeom>
          <a:solidFill>
            <a:srgbClr val="F4F4F4"/>
          </a:solidFill>
          <a:ln/>
        </p:spPr>
      </p:sp>
      <p:sp>
        <p:nvSpPr>
          <p:cNvPr id="38" name="Text 36"/>
          <p:cNvSpPr txBox="1"/>
          <p:nvPr/>
        </p:nvSpPr>
        <p:spPr>
          <a:xfrm>
            <a:off x="2606040" y="3767328"/>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más "construible", menor labor</a:t>
            </a:r>
            <a:endParaRPr lang="en-US" sz="1100" dirty="0"/>
          </a:p>
        </p:txBody>
      </p:sp>
      <p:sp>
        <p:nvSpPr>
          <p:cNvPr id="39" name="Shape 37"/>
          <p:cNvSpPr/>
          <p:nvPr/>
        </p:nvSpPr>
        <p:spPr>
          <a:xfrm>
            <a:off x="5577840" y="3730752"/>
            <a:ext cx="3017520" cy="566928"/>
          </a:xfrm>
          <a:prstGeom prst="rect">
            <a:avLst/>
          </a:prstGeom>
          <a:solidFill>
            <a:srgbClr val="F4F4F4"/>
          </a:solidFill>
          <a:ln/>
        </p:spPr>
      </p:sp>
      <p:sp>
        <p:nvSpPr>
          <p:cNvPr id="40" name="Text 38"/>
          <p:cNvSpPr txBox="1"/>
          <p:nvPr/>
        </p:nvSpPr>
        <p:spPr>
          <a:xfrm>
            <a:off x="5669280" y="3767328"/>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Eliminación o cambio de funciones costosas</a:t>
            </a:r>
            <a:endParaRPr lang="en-US" sz="1100" dirty="0"/>
          </a:p>
        </p:txBody>
      </p:sp>
      <p:sp>
        <p:nvSpPr>
          <p:cNvPr id="41" name="Shape 39"/>
          <p:cNvSpPr/>
          <p:nvPr/>
        </p:nvSpPr>
        <p:spPr>
          <a:xfrm>
            <a:off x="365760" y="4315968"/>
            <a:ext cx="2103120" cy="566928"/>
          </a:xfrm>
          <a:prstGeom prst="rect">
            <a:avLst/>
          </a:prstGeom>
          <a:solidFill>
            <a:srgbClr val="DDE3F0"/>
          </a:solidFill>
          <a:ln/>
        </p:spPr>
      </p:sp>
      <p:sp>
        <p:nvSpPr>
          <p:cNvPr id="42" name="Text 40"/>
          <p:cNvSpPr txBox="1"/>
          <p:nvPr/>
        </p:nvSpPr>
        <p:spPr>
          <a:xfrm>
            <a:off x="457200" y="435254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Compatibilidad</a:t>
            </a:r>
            <a:endParaRPr lang="en-US" sz="1100" dirty="0"/>
          </a:p>
        </p:txBody>
      </p:sp>
      <p:sp>
        <p:nvSpPr>
          <p:cNvPr id="43" name="Shape 41"/>
          <p:cNvSpPr/>
          <p:nvPr/>
        </p:nvSpPr>
        <p:spPr>
          <a:xfrm>
            <a:off x="2514600" y="4315968"/>
            <a:ext cx="3017520" cy="566928"/>
          </a:xfrm>
          <a:prstGeom prst="rect">
            <a:avLst/>
          </a:prstGeom>
          <a:solidFill>
            <a:srgbClr val="DDE3F0"/>
          </a:solidFill>
          <a:ln/>
        </p:spPr>
      </p:sp>
      <p:sp>
        <p:nvSpPr>
          <p:cNvPr id="44" name="Text 42"/>
          <p:cNvSpPr txBox="1"/>
          <p:nvPr/>
        </p:nvSpPr>
        <p:spPr>
          <a:xfrm>
            <a:off x="2606040" y="435254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Complementa a la VE — no la reemplaza</a:t>
            </a:r>
            <a:endParaRPr lang="en-US" sz="1100" dirty="0"/>
          </a:p>
        </p:txBody>
      </p:sp>
      <p:sp>
        <p:nvSpPr>
          <p:cNvPr id="45" name="Shape 43"/>
          <p:cNvSpPr/>
          <p:nvPr/>
        </p:nvSpPr>
        <p:spPr>
          <a:xfrm>
            <a:off x="5577840" y="4315968"/>
            <a:ext cx="3017520" cy="566928"/>
          </a:xfrm>
          <a:prstGeom prst="rect">
            <a:avLst/>
          </a:prstGeom>
          <a:solidFill>
            <a:srgbClr val="DDE3F0"/>
          </a:solidFill>
          <a:ln/>
        </p:spPr>
      </p:sp>
      <p:sp>
        <p:nvSpPr>
          <p:cNvPr id="46" name="Text 44"/>
          <p:cNvSpPr txBox="1"/>
          <p:nvPr/>
        </p:nvSpPr>
        <p:spPr>
          <a:xfrm>
            <a:off x="5669280" y="435254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Puede coexistir con Constructabilidad</a:t>
            </a:r>
            <a:endParaRPr lang="en-US" sz="1100" dirty="0"/>
          </a:p>
        </p:txBody>
      </p:sp>
      <p:sp>
        <p:nvSpPr>
          <p:cNvPr id="47" name="Text 45"/>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FFD60A"/>
                </a:solidFill>
                <a:latin typeface="Atkinson Hyperlegible" pitchFamily="34" charset="0"/>
                <a:ea typeface="Atkinson Hyperlegible" pitchFamily="34" charset="-122"/>
                <a:cs typeface="Atkinson Hyperlegible" pitchFamily="34" charset="-120"/>
              </a:rPr>
              <a:t>⚠ Advertencia CII: Propietarios con programas VE activos creen que la Constructabilidad se obtiene automáticamente. Esto es improbable si no se involucra experiencia constructiva actual.</a:t>
            </a:r>
            <a:endParaRPr lang="en-US" sz="1000" dirty="0"/>
          </a:p>
        </p:txBody>
      </p:sp>
      <p:sp>
        <p:nvSpPr>
          <p:cNvPr id="48" name="Text 4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a:t>
            </a:r>
            <a:endParaRPr lang="en-US" sz="900" dirty="0"/>
          </a:p>
        </p:txBody>
      </p:sp>
      <p:pic xmlns:p="http://schemas.openxmlformats.org/presentationml/2006/main" xmlns:a="http://schemas.openxmlformats.org/drawingml/2006/main" xmlns:r="http://schemas.openxmlformats.org/officeDocument/2006/relationships">
        <p:nvPicPr>
          <p:cNvPr id="8006" name="SlideIcon8006"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Contexto: Las "Abilities" del Proyecto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es parte de un sistema de capacidades que garantizan el éxito del proyecto:</a:t>
            </a:r>
            <a:endParaRPr lang="en-US" sz="1200" dirty="0"/>
          </a:p>
        </p:txBody>
      </p:sp>
      <p:sp>
        <p:nvSpPr>
          <p:cNvPr id="6" name="Shape 4"/>
          <p:cNvSpPr/>
          <p:nvPr/>
        </p:nvSpPr>
        <p:spPr>
          <a:xfrm>
            <a:off x="457200" y="1280160"/>
            <a:ext cx="4114800" cy="822960"/>
          </a:xfrm>
          <a:prstGeom prst="roundRect">
            <a:avLst>
              <a:gd name="adj" fmla="val 11111"/>
            </a:avLst>
          </a:prstGeom>
          <a:solidFill>
            <a:srgbClr val="F4F4F4"/>
          </a:solidFill>
          <a:ln w="12700">
            <a:solidFill>
              <a:srgbClr val="0A84FF"/>
            </a:solidFill>
            <a:prstDash val="solid"/>
          </a:ln>
        </p:spPr>
      </p:sp>
      <p:sp>
        <p:nvSpPr>
          <p:cNvPr id="7" name="Shape 5"/>
          <p:cNvSpPr/>
          <p:nvPr/>
        </p:nvSpPr>
        <p:spPr>
          <a:xfrm>
            <a:off x="457200" y="1280160"/>
            <a:ext cx="73152" cy="822960"/>
          </a:xfrm>
          <a:prstGeom prst="roundRect">
            <a:avLst>
              <a:gd name="adj" fmla="val 50000"/>
            </a:avLst>
          </a:prstGeom>
          <a:solidFill>
            <a:srgbClr val="0A84FF"/>
          </a:solidFill>
          <a:ln/>
        </p:spPr>
      </p:sp>
      <p:sp>
        <p:nvSpPr>
          <p:cNvPr id="8" name="Text 6"/>
          <p:cNvSpPr txBox="1"/>
          <p:nvPr/>
        </p:nvSpPr>
        <p:spPr>
          <a:xfrm>
            <a:off x="658368" y="1353312"/>
            <a:ext cx="365760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Biddability</a:t>
            </a:r>
            <a:endParaRPr lang="en-US" sz="1200" dirty="0"/>
          </a:p>
        </p:txBody>
      </p:sp>
      <p:sp>
        <p:nvSpPr>
          <p:cNvPr id="9" name="Text 7"/>
          <p:cNvSpPr txBox="1"/>
          <p:nvPr/>
        </p:nvSpPr>
        <p:spPr>
          <a:xfrm>
            <a:off x="6583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licitar y cotizar el proyecto</a:t>
            </a:r>
            <a:endParaRPr lang="en-US" sz="1100" dirty="0"/>
          </a:p>
        </p:txBody>
      </p:sp>
      <p:sp>
        <p:nvSpPr>
          <p:cNvPr id="10" name="Shape 8"/>
          <p:cNvSpPr/>
          <p:nvPr/>
        </p:nvSpPr>
        <p:spPr>
          <a:xfrm>
            <a:off x="4800600" y="1280160"/>
            <a:ext cx="4114800" cy="822960"/>
          </a:xfrm>
          <a:prstGeom prst="roundRect">
            <a:avLst>
              <a:gd name="adj" fmla="val 11111"/>
            </a:avLst>
          </a:prstGeom>
          <a:solidFill>
            <a:srgbClr val="F4F4F4"/>
          </a:solidFill>
          <a:ln w="12700">
            <a:solidFill>
              <a:srgbClr val="30D158"/>
            </a:solidFill>
            <a:prstDash val="solid"/>
          </a:ln>
        </p:spPr>
      </p:sp>
      <p:sp>
        <p:nvSpPr>
          <p:cNvPr id="11" name="Shape 9"/>
          <p:cNvSpPr/>
          <p:nvPr/>
        </p:nvSpPr>
        <p:spPr>
          <a:xfrm>
            <a:off x="4800600" y="1280160"/>
            <a:ext cx="73152" cy="822960"/>
          </a:xfrm>
          <a:prstGeom prst="roundRect">
            <a:avLst>
              <a:gd name="adj" fmla="val 50000"/>
            </a:avLst>
          </a:prstGeom>
          <a:solidFill>
            <a:srgbClr val="30D158"/>
          </a:solidFill>
          <a:ln/>
        </p:spPr>
      </p:sp>
      <p:sp>
        <p:nvSpPr>
          <p:cNvPr id="12" name="Text 10"/>
          <p:cNvSpPr txBox="1"/>
          <p:nvPr/>
        </p:nvSpPr>
        <p:spPr>
          <a:xfrm>
            <a:off x="5001768" y="1353312"/>
            <a:ext cx="365760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Constructability</a:t>
            </a:r>
            <a:endParaRPr lang="en-US" sz="1200" dirty="0"/>
          </a:p>
        </p:txBody>
      </p:sp>
      <p:sp>
        <p:nvSpPr>
          <p:cNvPr id="13" name="Text 11"/>
          <p:cNvSpPr txBox="1"/>
          <p:nvPr/>
        </p:nvSpPr>
        <p:spPr>
          <a:xfrm>
            <a:off x="50017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construir el proyecto eficientemente</a:t>
            </a:r>
            <a:endParaRPr lang="en-US" sz="1100" dirty="0"/>
          </a:p>
        </p:txBody>
      </p:sp>
      <p:sp>
        <p:nvSpPr>
          <p:cNvPr id="14" name="Shape 12"/>
          <p:cNvSpPr/>
          <p:nvPr/>
        </p:nvSpPr>
        <p:spPr>
          <a:xfrm>
            <a:off x="457200" y="2221992"/>
            <a:ext cx="4114800" cy="822960"/>
          </a:xfrm>
          <a:prstGeom prst="roundRect">
            <a:avLst>
              <a:gd name="adj" fmla="val 11111"/>
            </a:avLst>
          </a:prstGeom>
          <a:solidFill>
            <a:srgbClr val="F4F4F4"/>
          </a:solidFill>
          <a:ln w="12700">
            <a:solidFill>
              <a:srgbClr val="FF9500"/>
            </a:solidFill>
            <a:prstDash val="solid"/>
          </a:ln>
        </p:spPr>
      </p:sp>
      <p:sp>
        <p:nvSpPr>
          <p:cNvPr id="15" name="Shape 13"/>
          <p:cNvSpPr/>
          <p:nvPr/>
        </p:nvSpPr>
        <p:spPr>
          <a:xfrm>
            <a:off x="457200" y="2221992"/>
            <a:ext cx="73152" cy="822960"/>
          </a:xfrm>
          <a:prstGeom prst="roundRect">
            <a:avLst>
              <a:gd name="adj" fmla="val 50000"/>
            </a:avLst>
          </a:prstGeom>
          <a:solidFill>
            <a:srgbClr val="FF9500"/>
          </a:solidFill>
          <a:ln/>
        </p:spPr>
      </p:sp>
      <p:sp>
        <p:nvSpPr>
          <p:cNvPr id="16" name="Text 14"/>
          <p:cNvSpPr txBox="1"/>
          <p:nvPr/>
        </p:nvSpPr>
        <p:spPr>
          <a:xfrm>
            <a:off x="658368" y="2295144"/>
            <a:ext cx="365760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Procurability</a:t>
            </a:r>
            <a:endParaRPr lang="en-US" sz="1200" dirty="0"/>
          </a:p>
        </p:txBody>
      </p:sp>
      <p:sp>
        <p:nvSpPr>
          <p:cNvPr id="17" name="Text 15"/>
          <p:cNvSpPr txBox="1"/>
          <p:nvPr/>
        </p:nvSpPr>
        <p:spPr>
          <a:xfrm>
            <a:off x="6583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adquirir materiales y equipos</a:t>
            </a:r>
            <a:endParaRPr lang="en-US" sz="1100" dirty="0"/>
          </a:p>
        </p:txBody>
      </p:sp>
      <p:sp>
        <p:nvSpPr>
          <p:cNvPr id="18" name="Shape 16"/>
          <p:cNvSpPr/>
          <p:nvPr/>
        </p:nvSpPr>
        <p:spPr>
          <a:xfrm>
            <a:off x="4800600" y="2221992"/>
            <a:ext cx="4114800" cy="822960"/>
          </a:xfrm>
          <a:prstGeom prst="roundRect">
            <a:avLst>
              <a:gd name="adj" fmla="val 11111"/>
            </a:avLst>
          </a:prstGeom>
          <a:solidFill>
            <a:srgbClr val="F4F4F4"/>
          </a:solidFill>
          <a:ln w="12700">
            <a:solidFill>
              <a:srgbClr val="64D2FF"/>
            </a:solidFill>
            <a:prstDash val="solid"/>
          </a:ln>
        </p:spPr>
      </p:sp>
      <p:sp>
        <p:nvSpPr>
          <p:cNvPr id="19" name="Shape 17"/>
          <p:cNvSpPr/>
          <p:nvPr/>
        </p:nvSpPr>
        <p:spPr>
          <a:xfrm>
            <a:off x="4800600" y="2221992"/>
            <a:ext cx="73152" cy="822960"/>
          </a:xfrm>
          <a:prstGeom prst="roundRect">
            <a:avLst>
              <a:gd name="adj" fmla="val 50000"/>
            </a:avLst>
          </a:prstGeom>
          <a:solidFill>
            <a:srgbClr val="64D2FF"/>
          </a:solidFill>
          <a:ln/>
        </p:spPr>
      </p:sp>
      <p:sp>
        <p:nvSpPr>
          <p:cNvPr id="20" name="Text 18"/>
          <p:cNvSpPr txBox="1"/>
          <p:nvPr/>
        </p:nvSpPr>
        <p:spPr>
          <a:xfrm>
            <a:off x="5001768" y="2295144"/>
            <a:ext cx="3657600" cy="320040"/>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Operability</a:t>
            </a:r>
            <a:endParaRPr lang="en-US" sz="1200" dirty="0"/>
          </a:p>
        </p:txBody>
      </p:sp>
      <p:sp>
        <p:nvSpPr>
          <p:cNvPr id="21" name="Text 19"/>
          <p:cNvSpPr txBox="1"/>
          <p:nvPr/>
        </p:nvSpPr>
        <p:spPr>
          <a:xfrm>
            <a:off x="50017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operar el activo terminado</a:t>
            </a:r>
            <a:endParaRPr lang="en-US" sz="1100" dirty="0"/>
          </a:p>
        </p:txBody>
      </p:sp>
      <p:sp>
        <p:nvSpPr>
          <p:cNvPr id="22" name="Shape 20"/>
          <p:cNvSpPr/>
          <p:nvPr/>
        </p:nvSpPr>
        <p:spPr>
          <a:xfrm>
            <a:off x="457200" y="3163824"/>
            <a:ext cx="4114800" cy="822960"/>
          </a:xfrm>
          <a:prstGeom prst="roundRect">
            <a:avLst>
              <a:gd name="adj" fmla="val 11111"/>
            </a:avLst>
          </a:prstGeom>
          <a:solidFill>
            <a:srgbClr val="F4F4F4"/>
          </a:solidFill>
          <a:ln w="12700">
            <a:solidFill>
              <a:srgbClr val="AF52DE"/>
            </a:solidFill>
            <a:prstDash val="solid"/>
          </a:ln>
        </p:spPr>
      </p:sp>
      <p:sp>
        <p:nvSpPr>
          <p:cNvPr id="23" name="Shape 21"/>
          <p:cNvSpPr/>
          <p:nvPr/>
        </p:nvSpPr>
        <p:spPr>
          <a:xfrm>
            <a:off x="457200" y="3163824"/>
            <a:ext cx="73152" cy="822960"/>
          </a:xfrm>
          <a:prstGeom prst="roundRect">
            <a:avLst>
              <a:gd name="adj" fmla="val 50000"/>
            </a:avLst>
          </a:prstGeom>
          <a:solidFill>
            <a:srgbClr val="AF52DE"/>
          </a:solidFill>
          <a:ln/>
        </p:spPr>
      </p:sp>
      <p:sp>
        <p:nvSpPr>
          <p:cNvPr id="24" name="Text 22"/>
          <p:cNvSpPr txBox="1"/>
          <p:nvPr/>
        </p:nvSpPr>
        <p:spPr>
          <a:xfrm>
            <a:off x="658368" y="3236976"/>
            <a:ext cx="365760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Maintainability</a:t>
            </a:r>
            <a:endParaRPr lang="en-US" sz="1200" dirty="0"/>
          </a:p>
        </p:txBody>
      </p:sp>
      <p:sp>
        <p:nvSpPr>
          <p:cNvPr id="25" name="Text 23"/>
          <p:cNvSpPr txBox="1"/>
          <p:nvPr/>
        </p:nvSpPr>
        <p:spPr>
          <a:xfrm>
            <a:off x="6583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mantener el activo a lo largo del tiempo</a:t>
            </a:r>
            <a:endParaRPr lang="en-US" sz="1100" dirty="0"/>
          </a:p>
        </p:txBody>
      </p:sp>
      <p:sp>
        <p:nvSpPr>
          <p:cNvPr id="26" name="Shape 24"/>
          <p:cNvSpPr/>
          <p:nvPr/>
        </p:nvSpPr>
        <p:spPr>
          <a:xfrm>
            <a:off x="4800600" y="3163824"/>
            <a:ext cx="4114800" cy="822960"/>
          </a:xfrm>
          <a:prstGeom prst="roundRect">
            <a:avLst>
              <a:gd name="adj" fmla="val 11111"/>
            </a:avLst>
          </a:prstGeom>
          <a:solidFill>
            <a:srgbClr val="F4F4F4"/>
          </a:solidFill>
          <a:ln w="12700">
            <a:solidFill>
              <a:srgbClr val="FFD60A"/>
            </a:solidFill>
            <a:prstDash val="solid"/>
          </a:ln>
        </p:spPr>
      </p:sp>
      <p:sp>
        <p:nvSpPr>
          <p:cNvPr id="27" name="Shape 25"/>
          <p:cNvSpPr/>
          <p:nvPr/>
        </p:nvSpPr>
        <p:spPr>
          <a:xfrm>
            <a:off x="4800600" y="3163824"/>
            <a:ext cx="73152" cy="822960"/>
          </a:xfrm>
          <a:prstGeom prst="roundRect">
            <a:avLst>
              <a:gd name="adj" fmla="val 50000"/>
            </a:avLst>
          </a:prstGeom>
          <a:solidFill>
            <a:srgbClr val="FFD60A"/>
          </a:solidFill>
          <a:ln/>
        </p:spPr>
      </p:sp>
      <p:sp>
        <p:nvSpPr>
          <p:cNvPr id="28" name="Text 26"/>
          <p:cNvSpPr txBox="1"/>
          <p:nvPr/>
        </p:nvSpPr>
        <p:spPr>
          <a:xfrm>
            <a:off x="5001768" y="3236976"/>
            <a:ext cx="3657600" cy="32004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Expandability</a:t>
            </a:r>
            <a:endParaRPr lang="en-US" sz="1200" dirty="0"/>
          </a:p>
        </p:txBody>
      </p:sp>
      <p:sp>
        <p:nvSpPr>
          <p:cNvPr id="29" name="Text 27"/>
          <p:cNvSpPr txBox="1"/>
          <p:nvPr/>
        </p:nvSpPr>
        <p:spPr>
          <a:xfrm>
            <a:off x="50017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expandir o modificar el activo</a:t>
            </a:r>
            <a:endParaRPr lang="en-US" sz="1100" dirty="0"/>
          </a:p>
        </p:txBody>
      </p:sp>
      <p:sp>
        <p:nvSpPr>
          <p:cNvPr id="30" name="Shape 28"/>
          <p:cNvSpPr/>
          <p:nvPr/>
        </p:nvSpPr>
        <p:spPr>
          <a:xfrm>
            <a:off x="457200" y="4114800"/>
            <a:ext cx="8229600" cy="777240"/>
          </a:xfrm>
          <a:prstGeom prst="roundRect">
            <a:avLst>
              <a:gd name="adj" fmla="val 11765"/>
            </a:avLst>
          </a:prstGeom>
          <a:solidFill>
            <a:srgbClr val="F4F4F4"/>
          </a:solidFill>
          <a:ln w="12700">
            <a:solidFill>
              <a:srgbClr val="FF453A"/>
            </a:solidFill>
            <a:prstDash val="solid"/>
          </a:ln>
        </p:spPr>
      </p:sp>
      <p:sp>
        <p:nvSpPr>
          <p:cNvPr id="31" name="Text 29"/>
          <p:cNvSpPr txBox="1"/>
          <p:nvPr/>
        </p:nvSpPr>
        <p:spPr>
          <a:xfrm>
            <a:off x="640080" y="4187952"/>
            <a:ext cx="22860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Sustainability</a:t>
            </a:r>
            <a:endParaRPr lang="en-US" sz="1200" dirty="0"/>
          </a:p>
        </p:txBody>
      </p:sp>
      <p:sp>
        <p:nvSpPr>
          <p:cNvPr id="32" name="Text 30"/>
          <p:cNvSpPr txBox="1"/>
          <p:nvPr/>
        </p:nvSpPr>
        <p:spPr>
          <a:xfrm>
            <a:off x="640080" y="4572000"/>
            <a:ext cx="7772400" cy="256032"/>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Facilidad para salvaguardar o demoler al final de vida útil</a:t>
            </a:r>
            <a:endParaRPr lang="en-US" sz="1150" dirty="0"/>
          </a:p>
        </p:txBody>
      </p:sp>
      <p:sp>
        <p:nvSpPr>
          <p:cNvPr id="33" name="Text 3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a:t>
            </a:r>
            <a:endParaRPr lang="en-US" sz="900" dirty="0"/>
          </a:p>
        </p:txBody>
      </p:sp>
      <p:pic xmlns:p="http://schemas.openxmlformats.org/presentationml/2006/main" xmlns:a="http://schemas.openxmlformats.org/drawingml/2006/main" xmlns:r="http://schemas.openxmlformats.org/officeDocument/2006/relationships">
        <p:nvPicPr>
          <p:cNvPr id="8007" name="SlideIcon8007"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Beneficios Documentados de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1005840"/>
            <a:ext cx="1920240" cy="1737360"/>
          </a:xfrm>
          <a:prstGeom prst="roundRect">
            <a:avLst>
              <a:gd name="adj" fmla="val 6316"/>
            </a:avLst>
          </a:prstGeom>
          <a:solidFill>
            <a:srgbClr val="F4F4F4"/>
          </a:solidFill>
          <a:ln w="25400">
            <a:solidFill>
              <a:srgbClr val="30D158"/>
            </a:solidFill>
            <a:prstDash val="solid"/>
          </a:ln>
        </p:spPr>
      </p:sp>
      <p:sp>
        <p:nvSpPr>
          <p:cNvPr id="6" name="Text 4"/>
          <p:cNvSpPr txBox="1"/>
          <p:nvPr/>
        </p:nvSpPr>
        <p:spPr>
          <a:xfrm>
            <a:off x="365760" y="1170432"/>
            <a:ext cx="1920240" cy="955548"/>
          </a:xfrm>
          <a:prstGeom prst="rect">
            <a:avLst/>
          </a:prstGeom>
          <a:noFill/>
          <a:ln/>
        </p:spPr>
        <p:txBody>
          <a:bodyPr wrap="square" lIns="0" tIns="0" rIns="0" bIns="0" rtlCol="0" anchor="ctr"/>
          <a:lstStyle/>
          <a:p>
            <a:pPr algn="ctr" indent="0" marL="0">
              <a:buNone/>
            </a:pPr>
            <a:r>
              <a:rPr lang="en-US" sz="3200" b="1" dirty="0">
                <a:solidFill>
                  <a:srgbClr val="30D158"/>
                </a:solidFill>
                <a:latin typeface="Atkinson Hyperlegible" pitchFamily="34" charset="0"/>
                <a:ea typeface="Atkinson Hyperlegible" pitchFamily="34" charset="-122"/>
                <a:cs typeface="Atkinson Hyperlegible" pitchFamily="34" charset="-120"/>
              </a:rPr>
              <a:t>6–23%</a:t>
            </a:r>
            <a:endParaRPr lang="en-US" sz="3200" dirty="0"/>
          </a:p>
        </p:txBody>
      </p:sp>
      <p:sp>
        <p:nvSpPr>
          <p:cNvPr id="7" name="Text 5"/>
          <p:cNvSpPr txBox="1"/>
          <p:nvPr/>
        </p:nvSpPr>
        <p:spPr>
          <a:xfrm>
            <a:off x="45720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 total</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instalado del proyecto</a:t>
            </a:r>
            <a:endParaRPr lang="en-US" sz="1200" dirty="0"/>
          </a:p>
        </p:txBody>
      </p:sp>
      <p:sp>
        <p:nvSpPr>
          <p:cNvPr id="8" name="Shape 6"/>
          <p:cNvSpPr/>
          <p:nvPr/>
        </p:nvSpPr>
        <p:spPr>
          <a:xfrm>
            <a:off x="2468880" y="1005840"/>
            <a:ext cx="1920240" cy="1737360"/>
          </a:xfrm>
          <a:prstGeom prst="roundRect">
            <a:avLst>
              <a:gd name="adj" fmla="val 6316"/>
            </a:avLst>
          </a:prstGeom>
          <a:solidFill>
            <a:srgbClr val="F4F4F4"/>
          </a:solidFill>
          <a:ln w="25400">
            <a:solidFill>
              <a:srgbClr val="0A84FF"/>
            </a:solidFill>
            <a:prstDash val="solid"/>
          </a:ln>
        </p:spPr>
      </p:sp>
      <p:sp>
        <p:nvSpPr>
          <p:cNvPr id="9" name="Text 7"/>
          <p:cNvSpPr txBox="1"/>
          <p:nvPr/>
        </p:nvSpPr>
        <p:spPr>
          <a:xfrm>
            <a:off x="2468880" y="1170432"/>
            <a:ext cx="1920240" cy="955548"/>
          </a:xfrm>
          <a:prstGeom prst="rect">
            <a:avLst/>
          </a:prstGeom>
          <a:noFill/>
          <a:ln/>
        </p:spPr>
        <p:txBody>
          <a:bodyPr wrap="square" lIns="0" tIns="0" rIns="0" bIns="0" rtlCol="0" anchor="ctr"/>
          <a:lstStyle/>
          <a:p>
            <a:pPr algn="ctr" indent="0" marL="0">
              <a:buNone/>
            </a:pPr>
            <a:r>
              <a:rPr lang="en-US" sz="3200" b="1" dirty="0">
                <a:solidFill>
                  <a:srgbClr val="0A84FF"/>
                </a:solidFill>
                <a:latin typeface="Atkinson Hyperlegible" pitchFamily="34" charset="0"/>
                <a:ea typeface="Atkinson Hyperlegible" pitchFamily="34" charset="-122"/>
                <a:cs typeface="Atkinson Hyperlegible" pitchFamily="34" charset="-120"/>
              </a:rPr>
              <a:t>7.5%</a:t>
            </a:r>
            <a:endParaRPr lang="en-US" sz="3200" dirty="0"/>
          </a:p>
        </p:txBody>
      </p:sp>
      <p:sp>
        <p:nvSpPr>
          <p:cNvPr id="10" name="Text 8"/>
          <p:cNvSpPr txBox="1"/>
          <p:nvPr/>
        </p:nvSpPr>
        <p:spPr>
          <a:xfrm>
            <a:off x="256032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 duración del proyecto</a:t>
            </a:r>
            <a:endParaRPr lang="en-US" sz="1200" dirty="0"/>
          </a:p>
        </p:txBody>
      </p:sp>
      <p:sp>
        <p:nvSpPr>
          <p:cNvPr id="11" name="Shape 9"/>
          <p:cNvSpPr/>
          <p:nvPr/>
        </p:nvSpPr>
        <p:spPr>
          <a:xfrm>
            <a:off x="4572000" y="1005840"/>
            <a:ext cx="1920240" cy="1737360"/>
          </a:xfrm>
          <a:prstGeom prst="roundRect">
            <a:avLst>
              <a:gd name="adj" fmla="val 6316"/>
            </a:avLst>
          </a:prstGeom>
          <a:solidFill>
            <a:srgbClr val="F4F4F4"/>
          </a:solidFill>
          <a:ln w="25400">
            <a:solidFill>
              <a:srgbClr val="FF9500"/>
            </a:solidFill>
            <a:prstDash val="solid"/>
          </a:ln>
        </p:spPr>
      </p:sp>
      <p:sp>
        <p:nvSpPr>
          <p:cNvPr id="12" name="Text 10"/>
          <p:cNvSpPr txBox="1"/>
          <p:nvPr/>
        </p:nvSpPr>
        <p:spPr>
          <a:xfrm>
            <a:off x="4572000" y="1170432"/>
            <a:ext cx="1920240" cy="955548"/>
          </a:xfrm>
          <a:prstGeom prst="rect">
            <a:avLst/>
          </a:prstGeom>
          <a:noFill/>
          <a:ln/>
        </p:spPr>
        <p:txBody>
          <a:bodyPr wrap="square" lIns="0" tIns="0" rIns="0" bIns="0" rtlCol="0" anchor="ctr"/>
          <a:lstStyle/>
          <a:p>
            <a:pPr algn="ctr" indent="0" marL="0">
              <a:buNone/>
            </a:pPr>
            <a:r>
              <a:rPr lang="en-US" sz="3200" b="1" dirty="0">
                <a:solidFill>
                  <a:srgbClr val="FF9500"/>
                </a:solidFill>
                <a:latin typeface="Atkinson Hyperlegible" pitchFamily="34" charset="0"/>
                <a:ea typeface="Atkinson Hyperlegible" pitchFamily="34" charset="-122"/>
                <a:cs typeface="Atkinson Hyperlegible" pitchFamily="34" charset="-120"/>
              </a:rPr>
              <a:t>10:1</a:t>
            </a:r>
            <a:endParaRPr lang="en-US" sz="3200" dirty="0"/>
          </a:p>
        </p:txBody>
      </p:sp>
      <p:sp>
        <p:nvSpPr>
          <p:cNvPr id="13" name="Text 11"/>
          <p:cNvSpPr txBox="1"/>
          <p:nvPr/>
        </p:nvSpPr>
        <p:spPr>
          <a:xfrm>
            <a:off x="466344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 / costo típica</a:t>
            </a:r>
            <a:endParaRPr lang="en-US" sz="1200" dirty="0"/>
          </a:p>
        </p:txBody>
      </p:sp>
      <p:sp>
        <p:nvSpPr>
          <p:cNvPr id="14" name="Shape 12"/>
          <p:cNvSpPr/>
          <p:nvPr/>
        </p:nvSpPr>
        <p:spPr>
          <a:xfrm>
            <a:off x="6675120" y="1005840"/>
            <a:ext cx="1920240" cy="1737360"/>
          </a:xfrm>
          <a:prstGeom prst="roundRect">
            <a:avLst>
              <a:gd name="adj" fmla="val 6316"/>
            </a:avLst>
          </a:prstGeom>
          <a:solidFill>
            <a:srgbClr val="F4F4F4"/>
          </a:solidFill>
          <a:ln w="25400">
            <a:solidFill>
              <a:srgbClr val="AF52DE"/>
            </a:solidFill>
            <a:prstDash val="solid"/>
          </a:ln>
        </p:spPr>
      </p:sp>
      <p:sp>
        <p:nvSpPr>
          <p:cNvPr id="15" name="Text 13"/>
          <p:cNvSpPr txBox="1"/>
          <p:nvPr/>
        </p:nvSpPr>
        <p:spPr>
          <a:xfrm>
            <a:off x="6675120" y="1170432"/>
            <a:ext cx="1920240" cy="955548"/>
          </a:xfrm>
          <a:prstGeom prst="rect">
            <a:avLst/>
          </a:prstGeom>
          <a:noFill/>
          <a:ln/>
        </p:spPr>
        <p:txBody>
          <a:bodyPr wrap="square" lIns="0" tIns="0" rIns="0" bIns="0" rtlCol="0" anchor="ctr"/>
          <a:lstStyle/>
          <a:p>
            <a:pPr algn="ctr" indent="0" marL="0">
              <a:buNone/>
            </a:pPr>
            <a:r>
              <a:rPr lang="en-US" sz="3200" b="1" dirty="0">
                <a:solidFill>
                  <a:srgbClr val="AF52DE"/>
                </a:solidFill>
                <a:latin typeface="Atkinson Hyperlegible" pitchFamily="34" charset="0"/>
                <a:ea typeface="Atkinson Hyperlegible" pitchFamily="34" charset="-122"/>
                <a:cs typeface="Atkinson Hyperlegible" pitchFamily="34" charset="-120"/>
              </a:rPr>
              <a:t>15:1</a:t>
            </a:r>
            <a:endParaRPr lang="en-US" sz="3200" dirty="0"/>
          </a:p>
        </p:txBody>
      </p:sp>
      <p:sp>
        <p:nvSpPr>
          <p:cNvPr id="16" name="Text 14"/>
          <p:cNvSpPr txBox="1"/>
          <p:nvPr/>
        </p:nvSpPr>
        <p:spPr>
          <a:xfrm>
            <a:off x="676656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 B/C máxima</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documentada por CII</a:t>
            </a:r>
            <a:endParaRPr lang="en-US" sz="1200" dirty="0"/>
          </a:p>
        </p:txBody>
      </p:sp>
      <p:sp>
        <p:nvSpPr>
          <p:cNvPr id="17" name="Text 15"/>
          <p:cNvSpPr txBox="1"/>
          <p:nvPr/>
        </p:nvSpPr>
        <p:spPr>
          <a:xfrm>
            <a:off x="365760" y="288036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Condiciones para Maximizar Beneficios</a:t>
            </a:r>
            <a:endParaRPr lang="en-US" sz="1200" dirty="0"/>
          </a:p>
        </p:txBody>
      </p:sp>
      <p:sp>
        <p:nvSpPr>
          <p:cNvPr id="18" name="Shape 16"/>
          <p:cNvSpPr/>
          <p:nvPr/>
        </p:nvSpPr>
        <p:spPr>
          <a:xfrm>
            <a:off x="365760" y="3291840"/>
            <a:ext cx="8412480" cy="347472"/>
          </a:xfrm>
          <a:prstGeom prst="roundRect">
            <a:avLst>
              <a:gd name="adj" fmla="val 21053"/>
            </a:avLst>
          </a:prstGeom>
          <a:solidFill>
            <a:srgbClr val="F4F4F4"/>
          </a:solidFill>
          <a:ln w="12700">
            <a:solidFill>
              <a:srgbClr val="EBEBEB"/>
            </a:solidFill>
            <a:prstDash val="solid"/>
          </a:ln>
        </p:spPr>
      </p:sp>
      <p:sp>
        <p:nvSpPr>
          <p:cNvPr id="19" name="Text 17"/>
          <p:cNvSpPr txBox="1"/>
          <p:nvPr/>
        </p:nvSpPr>
        <p:spPr>
          <a:xfrm>
            <a:off x="548640" y="332841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El propietario y el contratista están comprometidos con la efectividad de costo de TODO el proyecto</a:t>
            </a:r>
            <a:endParaRPr lang="en-US" sz="1250" dirty="0"/>
          </a:p>
        </p:txBody>
      </p:sp>
      <p:sp>
        <p:nvSpPr>
          <p:cNvPr id="20" name="Shape 18"/>
          <p:cNvSpPr/>
          <p:nvPr/>
        </p:nvSpPr>
        <p:spPr>
          <a:xfrm>
            <a:off x="365760" y="3703320"/>
            <a:ext cx="8412480" cy="347472"/>
          </a:xfrm>
          <a:prstGeom prst="roundRect">
            <a:avLst>
              <a:gd name="adj" fmla="val 21053"/>
            </a:avLst>
          </a:prstGeom>
          <a:solidFill>
            <a:srgbClr val="F4F4F4"/>
          </a:solidFill>
          <a:ln w="12700">
            <a:solidFill>
              <a:srgbClr val="EBEBEB"/>
            </a:solidFill>
            <a:prstDash val="solid"/>
          </a:ln>
        </p:spPr>
      </p:sp>
      <p:sp>
        <p:nvSpPr>
          <p:cNvPr id="21" name="Text 19"/>
          <p:cNvSpPr txBox="1"/>
          <p:nvPr/>
        </p:nvSpPr>
        <p:spPr>
          <a:xfrm>
            <a:off x="548640" y="373989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La constructabilidad se usa como herramienta principal para cumplir objetivos de costo y cronograma</a:t>
            </a:r>
            <a:endParaRPr lang="en-US" sz="1250" dirty="0"/>
          </a:p>
        </p:txBody>
      </p:sp>
      <p:sp>
        <p:nvSpPr>
          <p:cNvPr id="22" name="Shape 20"/>
          <p:cNvSpPr/>
          <p:nvPr/>
        </p:nvSpPr>
        <p:spPr>
          <a:xfrm>
            <a:off x="365760" y="4114800"/>
            <a:ext cx="8412480" cy="347472"/>
          </a:xfrm>
          <a:prstGeom prst="roundRect">
            <a:avLst>
              <a:gd name="adj" fmla="val 21053"/>
            </a:avLst>
          </a:prstGeom>
          <a:solidFill>
            <a:srgbClr val="F4F4F4"/>
          </a:solidFill>
          <a:ln w="12700">
            <a:solidFill>
              <a:srgbClr val="EBEBEB"/>
            </a:solidFill>
            <a:prstDash val="solid"/>
          </a:ln>
        </p:spPr>
      </p:sp>
      <p:sp>
        <p:nvSpPr>
          <p:cNvPr id="23" name="Text 21"/>
          <p:cNvSpPr txBox="1"/>
          <p:nvPr/>
        </p:nvSpPr>
        <p:spPr>
          <a:xfrm>
            <a:off x="548640" y="415137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Se incorpora al campo temprano — con personal experimentado, no solo disponible</a:t>
            </a:r>
            <a:endParaRPr lang="en-US" sz="1250" dirty="0"/>
          </a:p>
        </p:txBody>
      </p:sp>
      <p:sp>
        <p:nvSpPr>
          <p:cNvPr id="24" name="Shape 22"/>
          <p:cNvSpPr/>
          <p:nvPr/>
        </p:nvSpPr>
        <p:spPr>
          <a:xfrm>
            <a:off x="365760" y="4526280"/>
            <a:ext cx="8412480" cy="347472"/>
          </a:xfrm>
          <a:prstGeom prst="roundRect">
            <a:avLst>
              <a:gd name="adj" fmla="val 21053"/>
            </a:avLst>
          </a:prstGeom>
          <a:solidFill>
            <a:srgbClr val="F4F4F4"/>
          </a:solidFill>
          <a:ln w="12700">
            <a:solidFill>
              <a:srgbClr val="EBEBEB"/>
            </a:solidFill>
            <a:prstDash val="solid"/>
          </a:ln>
        </p:spPr>
      </p:sp>
      <p:sp>
        <p:nvSpPr>
          <p:cNvPr id="25" name="Text 23"/>
          <p:cNvSpPr txBox="1"/>
          <p:nvPr/>
        </p:nvSpPr>
        <p:spPr>
          <a:xfrm>
            <a:off x="548640" y="456285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Los diseñadores son receptivos y evalúan el aporte constructivo objetivamente</a:t>
            </a:r>
            <a:endParaRPr lang="en-US" sz="12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a:t>
            </a:r>
            <a:endParaRPr lang="en-US" sz="900" dirty="0"/>
          </a:p>
        </p:txBody>
      </p:sp>
      <p:pic xmlns:p="http://schemas.openxmlformats.org/presentationml/2006/main" xmlns:a="http://schemas.openxmlformats.org/drawingml/2006/main" xmlns:r="http://schemas.openxmlformats.org/officeDocument/2006/relationships">
        <p:nvPicPr>
          <p:cNvPr id="8008" name="SlideIcon8008" descr="icon"/>
          <p:cNvPicPr>
            <a:picLocks noChangeAspect="1"/>
          </p:cNvPicPr>
          <p:nvPr/>
        </p:nvPicPr>
        <p:blipFill>
          <a:blip r:embed="rId9006"/>
          <a:stretch>
            <a:fillRect/>
          </a:stretch>
        </p:blipFill>
        <p:spPr>
          <a:xfrm>
            <a:off x="73152" y="118872"/>
            <a:ext cx="347472" cy="3474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Curva de Influencia de Costos del Proyecto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oportunidad de mejorar constructabilidad es inversamente proporcional al costo del cambio:</a:t>
            </a:r>
            <a:endParaRPr lang="en-US" sz="1200" dirty="0"/>
          </a:p>
        </p:txBody>
      </p:sp>
      <p:sp>
        <p:nvSpPr>
          <p:cNvPr id="6" name="Shape 4"/>
          <p:cNvSpPr/>
          <p:nvPr/>
        </p:nvSpPr>
        <p:spPr>
          <a:xfrm>
            <a:off x="822960" y="2331720"/>
            <a:ext cx="1005840" cy="1645920"/>
          </a:xfrm>
          <a:prstGeom prst="rect">
            <a:avLst/>
          </a:prstGeom>
          <a:solidFill>
            <a:srgbClr val="0A84FF"/>
          </a:solidFill>
          <a:ln/>
        </p:spPr>
      </p:sp>
      <p:sp>
        <p:nvSpPr>
          <p:cNvPr id="7" name="Text 5"/>
          <p:cNvSpPr txBox="1"/>
          <p:nvPr/>
        </p:nvSpPr>
        <p:spPr>
          <a:xfrm>
            <a:off x="77724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Factibilidad</a:t>
            </a:r>
            <a:endParaRPr lang="en-US" sz="900" dirty="0"/>
          </a:p>
        </p:txBody>
      </p:sp>
      <p:sp>
        <p:nvSpPr>
          <p:cNvPr id="8" name="Text 6"/>
          <p:cNvSpPr txBox="1"/>
          <p:nvPr/>
        </p:nvSpPr>
        <p:spPr>
          <a:xfrm>
            <a:off x="822960" y="2423160"/>
            <a:ext cx="1005840" cy="50292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9" name="Shape 7"/>
          <p:cNvSpPr/>
          <p:nvPr/>
        </p:nvSpPr>
        <p:spPr>
          <a:xfrm>
            <a:off x="1920240" y="2560320"/>
            <a:ext cx="1005840" cy="1417320"/>
          </a:xfrm>
          <a:prstGeom prst="rect">
            <a:avLst/>
          </a:prstGeom>
          <a:solidFill>
            <a:srgbClr val="0A84FF"/>
          </a:solidFill>
          <a:ln/>
        </p:spPr>
      </p:sp>
      <p:sp>
        <p:nvSpPr>
          <p:cNvPr id="10" name="Text 8"/>
          <p:cNvSpPr txBox="1"/>
          <p:nvPr/>
        </p:nvSpPr>
        <p:spPr>
          <a:xfrm>
            <a:off x="187452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Plan. Conceptual</a:t>
            </a:r>
            <a:endParaRPr lang="en-US" sz="900" dirty="0"/>
          </a:p>
        </p:txBody>
      </p:sp>
      <p:sp>
        <p:nvSpPr>
          <p:cNvPr id="11" name="Text 9"/>
          <p:cNvSpPr txBox="1"/>
          <p:nvPr/>
        </p:nvSpPr>
        <p:spPr>
          <a:xfrm>
            <a:off x="1920240" y="2651760"/>
            <a:ext cx="1005840" cy="50292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12" name="Shape 10"/>
          <p:cNvSpPr/>
          <p:nvPr/>
        </p:nvSpPr>
        <p:spPr>
          <a:xfrm>
            <a:off x="3017520" y="2880360"/>
            <a:ext cx="1005840" cy="1097280"/>
          </a:xfrm>
          <a:prstGeom prst="rect">
            <a:avLst/>
          </a:prstGeom>
          <a:solidFill>
            <a:srgbClr val="FF9500">
              <a:alpha val="70000"/>
            </a:srgbClr>
          </a:solidFill>
          <a:ln/>
        </p:spPr>
      </p:sp>
      <p:sp>
        <p:nvSpPr>
          <p:cNvPr id="13" name="Text 11"/>
          <p:cNvSpPr txBox="1"/>
          <p:nvPr/>
        </p:nvSpPr>
        <p:spPr>
          <a:xfrm>
            <a:off x="297180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Básica</a:t>
            </a:r>
            <a:endParaRPr lang="en-US" sz="900" dirty="0"/>
          </a:p>
        </p:txBody>
      </p:sp>
      <p:sp>
        <p:nvSpPr>
          <p:cNvPr id="14" name="Shape 12"/>
          <p:cNvSpPr/>
          <p:nvPr/>
        </p:nvSpPr>
        <p:spPr>
          <a:xfrm>
            <a:off x="4114800" y="3200400"/>
            <a:ext cx="1005840" cy="777240"/>
          </a:xfrm>
          <a:prstGeom prst="rect">
            <a:avLst/>
          </a:prstGeom>
          <a:solidFill>
            <a:srgbClr val="FF9500">
              <a:alpha val="70000"/>
            </a:srgbClr>
          </a:solidFill>
          <a:ln/>
        </p:spPr>
      </p:sp>
      <p:sp>
        <p:nvSpPr>
          <p:cNvPr id="15" name="Text 13"/>
          <p:cNvSpPr txBox="1"/>
          <p:nvPr/>
        </p:nvSpPr>
        <p:spPr>
          <a:xfrm>
            <a:off x="406908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Detalle</a:t>
            </a:r>
            <a:endParaRPr lang="en-US" sz="900" dirty="0"/>
          </a:p>
        </p:txBody>
      </p:sp>
      <p:sp>
        <p:nvSpPr>
          <p:cNvPr id="16" name="Shape 14"/>
          <p:cNvSpPr/>
          <p:nvPr/>
        </p:nvSpPr>
        <p:spPr>
          <a:xfrm>
            <a:off x="5212080" y="3474720"/>
            <a:ext cx="1005840" cy="502920"/>
          </a:xfrm>
          <a:prstGeom prst="rect">
            <a:avLst/>
          </a:prstGeom>
          <a:solidFill>
            <a:srgbClr val="FF453A">
              <a:alpha val="70000"/>
            </a:srgbClr>
          </a:solidFill>
          <a:ln/>
        </p:spPr>
      </p:sp>
      <p:sp>
        <p:nvSpPr>
          <p:cNvPr id="17" name="Text 15"/>
          <p:cNvSpPr txBox="1"/>
          <p:nvPr/>
        </p:nvSpPr>
        <p:spPr>
          <a:xfrm>
            <a:off x="516636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Procura</a:t>
            </a:r>
            <a:endParaRPr lang="en-US" sz="900" dirty="0"/>
          </a:p>
        </p:txBody>
      </p:sp>
      <p:sp>
        <p:nvSpPr>
          <p:cNvPr id="18" name="Shape 16"/>
          <p:cNvSpPr/>
          <p:nvPr/>
        </p:nvSpPr>
        <p:spPr>
          <a:xfrm>
            <a:off x="6309360" y="3703320"/>
            <a:ext cx="1005840" cy="274320"/>
          </a:xfrm>
          <a:prstGeom prst="rect">
            <a:avLst/>
          </a:prstGeom>
          <a:solidFill>
            <a:srgbClr val="FF453A">
              <a:alpha val="70000"/>
            </a:srgbClr>
          </a:solidFill>
          <a:ln/>
        </p:spPr>
      </p:sp>
      <p:sp>
        <p:nvSpPr>
          <p:cNvPr id="19" name="Text 17"/>
          <p:cNvSpPr txBox="1"/>
          <p:nvPr/>
        </p:nvSpPr>
        <p:spPr>
          <a:xfrm>
            <a:off x="626364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Construcción</a:t>
            </a:r>
            <a:endParaRPr lang="en-US" sz="900" dirty="0"/>
          </a:p>
        </p:txBody>
      </p:sp>
      <p:sp>
        <p:nvSpPr>
          <p:cNvPr id="20" name="Shape 18"/>
          <p:cNvSpPr/>
          <p:nvPr/>
        </p:nvSpPr>
        <p:spPr>
          <a:xfrm>
            <a:off x="7406640" y="3840480"/>
            <a:ext cx="1005840" cy="137160"/>
          </a:xfrm>
          <a:prstGeom prst="rect">
            <a:avLst/>
          </a:prstGeom>
          <a:solidFill>
            <a:srgbClr val="FF453A">
              <a:alpha val="70000"/>
            </a:srgbClr>
          </a:solidFill>
          <a:ln/>
        </p:spPr>
      </p:sp>
      <p:sp>
        <p:nvSpPr>
          <p:cNvPr id="21" name="Text 19"/>
          <p:cNvSpPr txBox="1"/>
          <p:nvPr/>
        </p:nvSpPr>
        <p:spPr>
          <a:xfrm>
            <a:off x="736092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Arranque</a:t>
            </a:r>
            <a:endParaRPr lang="en-US" sz="900" dirty="0"/>
          </a:p>
        </p:txBody>
      </p:sp>
      <p:sp>
        <p:nvSpPr>
          <p:cNvPr id="22" name="Text 20"/>
          <p:cNvSpPr txBox="1"/>
          <p:nvPr/>
        </p:nvSpPr>
        <p:spPr>
          <a:xfrm rot="16200000">
            <a:off x="18288" y="1417320"/>
            <a:ext cx="320040" cy="2560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Influencia sobre costos totales del proyecto</a:t>
            </a:r>
            <a:endParaRPr lang="en-US" sz="1000" dirty="0"/>
          </a:p>
        </p:txBody>
      </p:sp>
      <p:sp>
        <p:nvSpPr>
          <p:cNvPr id="23" name="Shape 21"/>
          <p:cNvSpPr/>
          <p:nvPr/>
        </p:nvSpPr>
        <p:spPr>
          <a:xfrm>
            <a:off x="685800" y="1371600"/>
            <a:ext cx="27432" cy="2606040"/>
          </a:xfrm>
          <a:prstGeom prst="rect">
            <a:avLst/>
          </a:prstGeom>
          <a:solidFill>
            <a:srgbClr val="EBEBEB"/>
          </a:solidFill>
          <a:ln/>
        </p:spPr>
      </p:sp>
      <p:sp>
        <p:nvSpPr>
          <p:cNvPr id="24" name="Text 22"/>
          <p:cNvSpPr txBox="1"/>
          <p:nvPr/>
        </p:nvSpPr>
        <p:spPr>
          <a:xfrm>
            <a:off x="457200" y="4773168"/>
            <a:ext cx="8229600" cy="256032"/>
          </a:xfrm>
          <a:prstGeom prst="rect">
            <a:avLst/>
          </a:prstGeom>
          <a:noFill/>
          <a:ln/>
        </p:spPr>
        <p:txBody>
          <a:bodyPr wrap="square" lIns="0" tIns="0" rIns="0" bIns="0" rtlCol="0" anchor="ctr"/>
          <a:lstStyle/>
          <a:p>
            <a:pPr algn="ct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MÁXIMA OPORTUNIDAD = PLANIFICACIÓN TEMPRANA</a:t>
            </a:r>
            <a:endParaRPr lang="en-US" sz="12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a:t>
            </a:r>
            <a:endParaRPr lang="en-US" sz="900" dirty="0"/>
          </a:p>
        </p:txBody>
      </p:sp>
      <p:pic xmlns:p="http://schemas.openxmlformats.org/presentationml/2006/main" xmlns:a="http://schemas.openxmlformats.org/drawingml/2006/main" xmlns:r="http://schemas.openxmlformats.org/officeDocument/2006/relationships">
        <p:nvPicPr>
          <p:cNvPr id="8009" name="SlideIcon8009"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Lean Construction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Sinergias clave entre ambas filosofías de gestión de proyectos:</a:t>
            </a:r>
            <a:endParaRPr lang="en-US" sz="1200" dirty="0"/>
          </a:p>
        </p:txBody>
      </p:sp>
      <p:sp>
        <p:nvSpPr>
          <p:cNvPr id="6" name="Shape 4"/>
          <p:cNvSpPr/>
          <p:nvPr/>
        </p:nvSpPr>
        <p:spPr>
          <a:xfrm>
            <a:off x="365760" y="1280160"/>
            <a:ext cx="4206240" cy="1115568"/>
          </a:xfrm>
          <a:prstGeom prst="roundRect">
            <a:avLst>
              <a:gd name="adj" fmla="val 8197"/>
            </a:avLst>
          </a:prstGeom>
          <a:solidFill>
            <a:srgbClr val="F4F4F4"/>
          </a:solidFill>
          <a:ln w="12700">
            <a:solidFill>
              <a:srgbClr val="EBEBEB"/>
            </a:solidFill>
            <a:prstDash val="solid"/>
          </a:ln>
        </p:spPr>
      </p:sp>
      <p:sp>
        <p:nvSpPr>
          <p:cNvPr id="7" name="Shape 5"/>
          <p:cNvSpPr/>
          <p:nvPr/>
        </p:nvSpPr>
        <p:spPr>
          <a:xfrm>
            <a:off x="365760" y="1280160"/>
            <a:ext cx="73152" cy="1115568"/>
          </a:xfrm>
          <a:prstGeom prst="rect">
            <a:avLst/>
          </a:prstGeom>
          <a:solidFill>
            <a:srgbClr val="30D158"/>
          </a:solidFill>
          <a:ln/>
        </p:spPr>
      </p:sp>
      <p:sp>
        <p:nvSpPr>
          <p:cNvPr id="8" name="Text 6"/>
          <p:cNvSpPr txBox="1"/>
          <p:nvPr/>
        </p:nvSpPr>
        <p:spPr>
          <a:xfrm>
            <a:off x="566928" y="1353312"/>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Last Planner®</a:t>
            </a:r>
            <a:endParaRPr lang="en-US" sz="1200" dirty="0"/>
          </a:p>
        </p:txBody>
      </p:sp>
      <p:sp>
        <p:nvSpPr>
          <p:cNvPr id="9" name="Text 7"/>
          <p:cNvSpPr txBox="1"/>
          <p:nvPr/>
        </p:nvSpPr>
        <p:spPr>
          <a:xfrm>
            <a:off x="56692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incorporan al planificador final (capataz, residente) en la programación real — lo que "Queremos Hacer" debe coincidir con lo que "Podemos Hacer" en campo.</a:t>
            </a:r>
            <a:endParaRPr lang="en-US" sz="1050" dirty="0"/>
          </a:p>
        </p:txBody>
      </p:sp>
      <p:sp>
        <p:nvSpPr>
          <p:cNvPr id="10" name="Shape 8"/>
          <p:cNvSpPr/>
          <p:nvPr/>
        </p:nvSpPr>
        <p:spPr>
          <a:xfrm>
            <a:off x="4754880" y="1280160"/>
            <a:ext cx="4206240" cy="1115568"/>
          </a:xfrm>
          <a:prstGeom prst="roundRect">
            <a:avLst>
              <a:gd name="adj" fmla="val 8197"/>
            </a:avLst>
          </a:prstGeom>
          <a:solidFill>
            <a:srgbClr val="F4F4F4"/>
          </a:solidFill>
          <a:ln w="12700">
            <a:solidFill>
              <a:srgbClr val="EBEBEB"/>
            </a:solidFill>
            <a:prstDash val="solid"/>
          </a:ln>
        </p:spPr>
      </p:sp>
      <p:sp>
        <p:nvSpPr>
          <p:cNvPr id="11" name="Shape 9"/>
          <p:cNvSpPr/>
          <p:nvPr/>
        </p:nvSpPr>
        <p:spPr>
          <a:xfrm>
            <a:off x="4754880" y="1280160"/>
            <a:ext cx="73152" cy="1115568"/>
          </a:xfrm>
          <a:prstGeom prst="rect">
            <a:avLst/>
          </a:prstGeom>
          <a:solidFill>
            <a:srgbClr val="0A84FF"/>
          </a:solidFill>
          <a:ln/>
        </p:spPr>
      </p:sp>
      <p:sp>
        <p:nvSpPr>
          <p:cNvPr id="12" name="Text 10"/>
          <p:cNvSpPr txBox="1"/>
          <p:nvPr/>
        </p:nvSpPr>
        <p:spPr>
          <a:xfrm>
            <a:off x="4956048" y="1353312"/>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Eliminación de Desperdicios</a:t>
            </a:r>
            <a:endParaRPr lang="en-US" sz="1200" dirty="0"/>
          </a:p>
        </p:txBody>
      </p:sp>
      <p:sp>
        <p:nvSpPr>
          <p:cNvPr id="13" name="Text 11"/>
          <p:cNvSpPr txBox="1"/>
          <p:nvPr/>
        </p:nvSpPr>
        <p:spPr>
          <a:xfrm>
            <a:off x="495604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reduce retrabajo, esperas y transporte innecesario a través de diseño que facilita la ejecución eficiente.</a:t>
            </a:r>
            <a:endParaRPr lang="en-US" sz="1050" dirty="0"/>
          </a:p>
        </p:txBody>
      </p:sp>
      <p:sp>
        <p:nvSpPr>
          <p:cNvPr id="14" name="Shape 12"/>
          <p:cNvSpPr/>
          <p:nvPr/>
        </p:nvSpPr>
        <p:spPr>
          <a:xfrm>
            <a:off x="365760" y="2514600"/>
            <a:ext cx="4206240" cy="1115568"/>
          </a:xfrm>
          <a:prstGeom prst="roundRect">
            <a:avLst>
              <a:gd name="adj" fmla="val 8197"/>
            </a:avLst>
          </a:prstGeom>
          <a:solidFill>
            <a:srgbClr val="F4F4F4"/>
          </a:solidFill>
          <a:ln w="12700">
            <a:solidFill>
              <a:srgbClr val="EBEBEB"/>
            </a:solidFill>
            <a:prstDash val="solid"/>
          </a:ln>
        </p:spPr>
      </p:sp>
      <p:sp>
        <p:nvSpPr>
          <p:cNvPr id="15" name="Shape 13"/>
          <p:cNvSpPr/>
          <p:nvPr/>
        </p:nvSpPr>
        <p:spPr>
          <a:xfrm>
            <a:off x="365760" y="2514600"/>
            <a:ext cx="73152" cy="1115568"/>
          </a:xfrm>
          <a:prstGeom prst="rect">
            <a:avLst/>
          </a:prstGeom>
          <a:solidFill>
            <a:srgbClr val="FF9500"/>
          </a:solidFill>
          <a:ln/>
        </p:spPr>
      </p:sp>
      <p:sp>
        <p:nvSpPr>
          <p:cNvPr id="16" name="Text 14"/>
          <p:cNvSpPr txBox="1"/>
          <p:nvPr/>
        </p:nvSpPr>
        <p:spPr>
          <a:xfrm>
            <a:off x="566928" y="2587752"/>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Planificación Pull</a:t>
            </a:r>
            <a:endParaRPr lang="en-US" sz="1200" dirty="0"/>
          </a:p>
        </p:txBody>
      </p:sp>
      <p:sp>
        <p:nvSpPr>
          <p:cNvPr id="17" name="Text 15"/>
          <p:cNvSpPr txBox="1"/>
          <p:nvPr/>
        </p:nvSpPr>
        <p:spPr>
          <a:xfrm>
            <a:off x="56692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cronograma orientado a construcción (Concepto I-4 CII) es análogo al "pull scheduling" de Lean — tiempos reales de obra definen secuencias de diseño.</a:t>
            </a:r>
            <a:endParaRPr lang="en-US" sz="1050" dirty="0"/>
          </a:p>
        </p:txBody>
      </p:sp>
      <p:sp>
        <p:nvSpPr>
          <p:cNvPr id="18" name="Shape 16"/>
          <p:cNvSpPr/>
          <p:nvPr/>
        </p:nvSpPr>
        <p:spPr>
          <a:xfrm>
            <a:off x="4754880" y="2514600"/>
            <a:ext cx="4206240" cy="1115568"/>
          </a:xfrm>
          <a:prstGeom prst="roundRect">
            <a:avLst>
              <a:gd name="adj" fmla="val 8197"/>
            </a:avLst>
          </a:prstGeom>
          <a:solidFill>
            <a:srgbClr val="F4F4F4"/>
          </a:solidFill>
          <a:ln w="12700">
            <a:solidFill>
              <a:srgbClr val="EBEBEB"/>
            </a:solidFill>
            <a:prstDash val="solid"/>
          </a:ln>
        </p:spPr>
      </p:sp>
      <p:sp>
        <p:nvSpPr>
          <p:cNvPr id="19" name="Shape 17"/>
          <p:cNvSpPr/>
          <p:nvPr/>
        </p:nvSpPr>
        <p:spPr>
          <a:xfrm>
            <a:off x="4754880" y="2514600"/>
            <a:ext cx="73152" cy="1115568"/>
          </a:xfrm>
          <a:prstGeom prst="rect">
            <a:avLst/>
          </a:prstGeom>
          <a:solidFill>
            <a:srgbClr val="AF52DE"/>
          </a:solidFill>
          <a:ln/>
        </p:spPr>
      </p:sp>
      <p:sp>
        <p:nvSpPr>
          <p:cNvPr id="20" name="Text 18"/>
          <p:cNvSpPr txBox="1"/>
          <p:nvPr/>
        </p:nvSpPr>
        <p:spPr>
          <a:xfrm>
            <a:off x="4956048" y="2587752"/>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Trabajo Estándar</a:t>
            </a:r>
            <a:endParaRPr lang="en-US" sz="1200" dirty="0"/>
          </a:p>
        </p:txBody>
      </p:sp>
      <p:sp>
        <p:nvSpPr>
          <p:cNvPr id="21" name="Text 19"/>
          <p:cNvSpPr txBox="1"/>
          <p:nvPr/>
        </p:nvSpPr>
        <p:spPr>
          <a:xfrm>
            <a:off x="495604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estandarización de diseño (Concepto II-3) genera las condiciones para trabajo estándar repetitivo y productividades predecibles.</a:t>
            </a:r>
            <a:endParaRPr lang="en-US" sz="1050" dirty="0"/>
          </a:p>
        </p:txBody>
      </p:sp>
      <p:sp>
        <p:nvSpPr>
          <p:cNvPr id="22" name="Shape 20"/>
          <p:cNvSpPr/>
          <p:nvPr/>
        </p:nvSpPr>
        <p:spPr>
          <a:xfrm>
            <a:off x="365760" y="3749040"/>
            <a:ext cx="4206240" cy="1115568"/>
          </a:xfrm>
          <a:prstGeom prst="roundRect">
            <a:avLst>
              <a:gd name="adj" fmla="val 8197"/>
            </a:avLst>
          </a:prstGeom>
          <a:solidFill>
            <a:srgbClr val="F4F4F4"/>
          </a:solidFill>
          <a:ln w="12700">
            <a:solidFill>
              <a:srgbClr val="EBEBEB"/>
            </a:solidFill>
            <a:prstDash val="solid"/>
          </a:ln>
        </p:spPr>
      </p:sp>
      <p:sp>
        <p:nvSpPr>
          <p:cNvPr id="23" name="Shape 21"/>
          <p:cNvSpPr/>
          <p:nvPr/>
        </p:nvSpPr>
        <p:spPr>
          <a:xfrm>
            <a:off x="365760" y="3749040"/>
            <a:ext cx="73152" cy="1115568"/>
          </a:xfrm>
          <a:prstGeom prst="rect">
            <a:avLst/>
          </a:prstGeom>
          <a:solidFill>
            <a:srgbClr val="FFD60A"/>
          </a:solidFill>
          <a:ln/>
        </p:spPr>
      </p:sp>
      <p:sp>
        <p:nvSpPr>
          <p:cNvPr id="24" name="Text 22"/>
          <p:cNvSpPr txBox="1"/>
          <p:nvPr/>
        </p:nvSpPr>
        <p:spPr>
          <a:xfrm>
            <a:off x="566928" y="3822192"/>
            <a:ext cx="374904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Mejora Continua</a:t>
            </a:r>
            <a:endParaRPr lang="en-US" sz="1200" dirty="0"/>
          </a:p>
        </p:txBody>
      </p:sp>
      <p:sp>
        <p:nvSpPr>
          <p:cNvPr id="25" name="Text 23"/>
          <p:cNvSpPr txBox="1"/>
          <p:nvPr/>
        </p:nvSpPr>
        <p:spPr>
          <a:xfrm>
            <a:off x="56692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base de datos de Lecciones Aprendidas del programa de constructabilidad es el motor de mejora continua (Kaizen) entre proyectos.</a:t>
            </a:r>
            <a:endParaRPr lang="en-US" sz="1050" dirty="0"/>
          </a:p>
        </p:txBody>
      </p:sp>
      <p:sp>
        <p:nvSpPr>
          <p:cNvPr id="26" name="Shape 24"/>
          <p:cNvSpPr/>
          <p:nvPr/>
        </p:nvSpPr>
        <p:spPr>
          <a:xfrm>
            <a:off x="4754880" y="3749040"/>
            <a:ext cx="4206240" cy="1115568"/>
          </a:xfrm>
          <a:prstGeom prst="roundRect">
            <a:avLst>
              <a:gd name="adj" fmla="val 8197"/>
            </a:avLst>
          </a:prstGeom>
          <a:solidFill>
            <a:srgbClr val="F4F4F4"/>
          </a:solidFill>
          <a:ln w="12700">
            <a:solidFill>
              <a:srgbClr val="EBEBEB"/>
            </a:solidFill>
            <a:prstDash val="solid"/>
          </a:ln>
        </p:spPr>
      </p:sp>
      <p:sp>
        <p:nvSpPr>
          <p:cNvPr id="27" name="Shape 25"/>
          <p:cNvSpPr/>
          <p:nvPr/>
        </p:nvSpPr>
        <p:spPr>
          <a:xfrm>
            <a:off x="4754880" y="3749040"/>
            <a:ext cx="73152" cy="1115568"/>
          </a:xfrm>
          <a:prstGeom prst="rect">
            <a:avLst/>
          </a:prstGeom>
          <a:solidFill>
            <a:srgbClr val="FF453A"/>
          </a:solidFill>
          <a:ln/>
        </p:spPr>
      </p:sp>
      <p:sp>
        <p:nvSpPr>
          <p:cNvPr id="28" name="Text 26"/>
          <p:cNvSpPr txBox="1"/>
          <p:nvPr/>
        </p:nvSpPr>
        <p:spPr>
          <a:xfrm>
            <a:off x="4956048" y="3822192"/>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Colaboración Temprana</a:t>
            </a:r>
            <a:endParaRPr lang="en-US" sz="1200" dirty="0"/>
          </a:p>
        </p:txBody>
      </p:sp>
      <p:sp>
        <p:nvSpPr>
          <p:cNvPr id="29" name="Text 27"/>
          <p:cNvSpPr txBox="1"/>
          <p:nvPr/>
        </p:nvSpPr>
        <p:spPr>
          <a:xfrm>
            <a:off x="495604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requieren integración de los equipos EPC desde las fases tempranas — la separación tardía genera pérdidas en ambos enfoques.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a:t>
            </a:r>
            <a:endParaRPr lang="en-US" sz="900" dirty="0"/>
          </a:p>
        </p:txBody>
      </p:sp>
      <p:pic xmlns:p="http://schemas.openxmlformats.org/presentationml/2006/main" xmlns:a="http://schemas.openxmlformats.org/drawingml/2006/main" xmlns:r="http://schemas.openxmlformats.org/officeDocument/2006/relationships">
        <p:nvPicPr>
          <p:cNvPr id="8010" name="SlideIcon8010"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02</a:t>
            </a:r>
            <a:endParaRPr lang="en-US" sz="32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Fundamentos CII</a:t>
            </a:r>
            <a:endParaRPr lang="en-US" sz="28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Publicaciones Clave y Marco Conceptual</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a:t>
            </a:r>
            <a:endParaRPr lang="en-US" sz="900" dirty="0"/>
          </a:p>
        </p:txBody>
      </p:sp>
      <p:pic xmlns:p="http://schemas.openxmlformats.org/presentationml/2006/main" xmlns:a="http://schemas.openxmlformats.org/drawingml/2006/main" xmlns:r="http://schemas.openxmlformats.org/officeDocument/2006/relationships">
        <p:nvPicPr>
          <p:cNvPr id="8011" name="SlideIcon8011" descr="icon"/>
          <p:cNvPicPr>
            <a:picLocks noChangeAspect="1"/>
          </p:cNvPicPr>
          <p:nvPr/>
        </p:nvPicPr>
        <p:blipFill>
          <a:blip r:embed="rId9011"/>
          <a:stretch>
            <a:fillRect/>
          </a:stretch>
        </p:blipFill>
        <p:spPr>
          <a:xfrm>
            <a:off x="73152" y="118872"/>
            <a:ext cx="347472" cy="3474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Publicaciones CII de Constructabilidad — Documentos Guía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4206240" cy="1298448"/>
          </a:xfrm>
          <a:prstGeom prst="roundRect">
            <a:avLst>
              <a:gd name="adj" fmla="val 7042"/>
            </a:avLst>
          </a:prstGeom>
          <a:solidFill>
            <a:srgbClr val="F4F4F4"/>
          </a:solidFill>
          <a:ln w="12700">
            <a:solidFill>
              <a:srgbClr val="EBEBEB"/>
            </a:solidFill>
            <a:prstDash val="solid"/>
          </a:ln>
        </p:spPr>
      </p:sp>
      <p:sp>
        <p:nvSpPr>
          <p:cNvPr id="6" name="Text 4"/>
          <p:cNvSpPr txBox="1"/>
          <p:nvPr/>
        </p:nvSpPr>
        <p:spPr>
          <a:xfrm>
            <a:off x="493776" y="1069848"/>
            <a:ext cx="73152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3-1</a:t>
            </a:r>
            <a:endParaRPr lang="en-US" sz="1200" dirty="0"/>
          </a:p>
        </p:txBody>
      </p:sp>
      <p:sp>
        <p:nvSpPr>
          <p:cNvPr id="7" name="Text 5"/>
          <p:cNvSpPr txBox="1"/>
          <p:nvPr/>
        </p:nvSpPr>
        <p:spPr>
          <a:xfrm>
            <a:off x="1261872" y="109728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8" name="Text 6"/>
          <p:cNvSpPr txBox="1"/>
          <p:nvPr/>
        </p:nvSpPr>
        <p:spPr>
          <a:xfrm>
            <a:off x="493776" y="143560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A Primer</a:t>
            </a:r>
            <a:endParaRPr lang="en-US" sz="1200" dirty="0"/>
          </a:p>
        </p:txBody>
      </p:sp>
      <p:sp>
        <p:nvSpPr>
          <p:cNvPr id="9" name="Text 7"/>
          <p:cNvSpPr txBox="1"/>
          <p:nvPr/>
        </p:nvSpPr>
        <p:spPr>
          <a:xfrm>
            <a:off x="493776" y="172821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Documento introductorio para ejecutivos. Presenta el concepto, beneficios y mini-casos de estudio. Base conceptual del movimiento de constructabilidad en la industria.</a:t>
            </a:r>
            <a:endParaRPr lang="en-US" sz="950" dirty="0"/>
          </a:p>
        </p:txBody>
      </p:sp>
      <p:sp>
        <p:nvSpPr>
          <p:cNvPr id="10" name="Shape 8"/>
          <p:cNvSpPr/>
          <p:nvPr/>
        </p:nvSpPr>
        <p:spPr>
          <a:xfrm>
            <a:off x="4754880" y="960120"/>
            <a:ext cx="4206240" cy="1298448"/>
          </a:xfrm>
          <a:prstGeom prst="roundRect">
            <a:avLst>
              <a:gd name="adj" fmla="val 7042"/>
            </a:avLst>
          </a:prstGeom>
          <a:solidFill>
            <a:srgbClr val="F4F4F4"/>
          </a:solidFill>
          <a:ln w="12700">
            <a:solidFill>
              <a:srgbClr val="EBEBEB"/>
            </a:solidFill>
            <a:prstDash val="solid"/>
          </a:ln>
        </p:spPr>
      </p:sp>
      <p:sp>
        <p:nvSpPr>
          <p:cNvPr id="11" name="Text 9"/>
          <p:cNvSpPr txBox="1"/>
          <p:nvPr/>
        </p:nvSpPr>
        <p:spPr>
          <a:xfrm>
            <a:off x="4882896" y="1069848"/>
            <a:ext cx="73152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3-3</a:t>
            </a:r>
            <a:endParaRPr lang="en-US" sz="1200" dirty="0"/>
          </a:p>
        </p:txBody>
      </p:sp>
      <p:sp>
        <p:nvSpPr>
          <p:cNvPr id="12" name="Text 10"/>
          <p:cNvSpPr txBox="1"/>
          <p:nvPr/>
        </p:nvSpPr>
        <p:spPr>
          <a:xfrm>
            <a:off x="5650992" y="109728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13" name="Text 11"/>
          <p:cNvSpPr txBox="1"/>
          <p:nvPr/>
        </p:nvSpPr>
        <p:spPr>
          <a:xfrm>
            <a:off x="4882896" y="143560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Concepts File</a:t>
            </a:r>
            <a:endParaRPr lang="en-US" sz="1200" dirty="0"/>
          </a:p>
        </p:txBody>
      </p:sp>
      <p:sp>
        <p:nvSpPr>
          <p:cNvPr id="14" name="Text 12"/>
          <p:cNvSpPr txBox="1"/>
          <p:nvPr/>
        </p:nvSpPr>
        <p:spPr>
          <a:xfrm>
            <a:off x="4882896" y="172821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Lista y describe los 14 conceptos originales fundamentales de constructabilidad. Base sobre la que se construye cualquier programa formal.</a:t>
            </a:r>
            <a:endParaRPr lang="en-US" sz="950" dirty="0"/>
          </a:p>
        </p:txBody>
      </p:sp>
      <p:sp>
        <p:nvSpPr>
          <p:cNvPr id="15" name="Shape 13"/>
          <p:cNvSpPr/>
          <p:nvPr/>
        </p:nvSpPr>
        <p:spPr>
          <a:xfrm>
            <a:off x="365760" y="2377440"/>
            <a:ext cx="4206240" cy="1298448"/>
          </a:xfrm>
          <a:prstGeom prst="roundRect">
            <a:avLst>
              <a:gd name="adj" fmla="val 7042"/>
            </a:avLst>
          </a:prstGeom>
          <a:solidFill>
            <a:srgbClr val="F4F4F4"/>
          </a:solidFill>
          <a:ln w="12700">
            <a:solidFill>
              <a:srgbClr val="EBEBEB"/>
            </a:solidFill>
            <a:prstDash val="solid"/>
          </a:ln>
        </p:spPr>
      </p:sp>
      <p:sp>
        <p:nvSpPr>
          <p:cNvPr id="16" name="Text 14"/>
          <p:cNvSpPr txBox="1"/>
          <p:nvPr/>
        </p:nvSpPr>
        <p:spPr>
          <a:xfrm>
            <a:off x="493776" y="2487168"/>
            <a:ext cx="73152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SD-4</a:t>
            </a:r>
            <a:endParaRPr lang="en-US" sz="1200" dirty="0"/>
          </a:p>
        </p:txBody>
      </p:sp>
      <p:sp>
        <p:nvSpPr>
          <p:cNvPr id="17" name="Text 15"/>
          <p:cNvSpPr txBox="1"/>
          <p:nvPr/>
        </p:nvSpPr>
        <p:spPr>
          <a:xfrm>
            <a:off x="1261872" y="251460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18" name="Text 16"/>
          <p:cNvSpPr txBox="1"/>
          <p:nvPr/>
        </p:nvSpPr>
        <p:spPr>
          <a:xfrm>
            <a:off x="493776" y="285292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Conceptual Planning</a:t>
            </a:r>
            <a:endParaRPr lang="en-US" sz="1200" dirty="0"/>
          </a:p>
        </p:txBody>
      </p:sp>
      <p:sp>
        <p:nvSpPr>
          <p:cNvPr id="19" name="Text 17"/>
          <p:cNvSpPr txBox="1"/>
          <p:nvPr/>
        </p:nvSpPr>
        <p:spPr>
          <a:xfrm>
            <a:off x="493776" y="314553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Stanford University. Investiga prácticas de mejora durante la planificación conceptual. 15 proyectos analizados. 3 temas clave: plan, sitio y métodos constructivos.</a:t>
            </a:r>
            <a:endParaRPr lang="en-US" sz="950" dirty="0"/>
          </a:p>
        </p:txBody>
      </p:sp>
      <p:sp>
        <p:nvSpPr>
          <p:cNvPr id="20" name="Shape 18"/>
          <p:cNvSpPr/>
          <p:nvPr/>
        </p:nvSpPr>
        <p:spPr>
          <a:xfrm>
            <a:off x="4754880" y="2377440"/>
            <a:ext cx="4206240" cy="1298448"/>
          </a:xfrm>
          <a:prstGeom prst="roundRect">
            <a:avLst>
              <a:gd name="adj" fmla="val 7042"/>
            </a:avLst>
          </a:prstGeom>
          <a:solidFill>
            <a:srgbClr val="F4F4F4"/>
          </a:solidFill>
          <a:ln w="12700">
            <a:solidFill>
              <a:srgbClr val="EBEBEB"/>
            </a:solidFill>
            <a:prstDash val="solid"/>
          </a:ln>
        </p:spPr>
      </p:sp>
      <p:sp>
        <p:nvSpPr>
          <p:cNvPr id="21" name="Text 19"/>
          <p:cNvSpPr txBox="1"/>
          <p:nvPr/>
        </p:nvSpPr>
        <p:spPr>
          <a:xfrm>
            <a:off x="4882896" y="2487168"/>
            <a:ext cx="73152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SD-5</a:t>
            </a:r>
            <a:endParaRPr lang="en-US" sz="1200" dirty="0"/>
          </a:p>
        </p:txBody>
      </p:sp>
      <p:sp>
        <p:nvSpPr>
          <p:cNvPr id="22" name="Text 20"/>
          <p:cNvSpPr txBox="1"/>
          <p:nvPr/>
        </p:nvSpPr>
        <p:spPr>
          <a:xfrm>
            <a:off x="5650992" y="251460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23" name="Text 21"/>
          <p:cNvSpPr txBox="1"/>
          <p:nvPr/>
        </p:nvSpPr>
        <p:spPr>
          <a:xfrm>
            <a:off x="4882896" y="285292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Engineering &amp; Procurement</a:t>
            </a:r>
            <a:endParaRPr lang="en-US" sz="1200" dirty="0"/>
          </a:p>
        </p:txBody>
      </p:sp>
      <p:sp>
        <p:nvSpPr>
          <p:cNvPr id="24" name="Text 22"/>
          <p:cNvSpPr txBox="1"/>
          <p:nvPr/>
        </p:nvSpPr>
        <p:spPr>
          <a:xfrm>
            <a:off x="4882896" y="314553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durante ingeniería y procura. Estandarización, modularización y diseño para eficiencia constructiva.</a:t>
            </a:r>
            <a:endParaRPr lang="en-US" sz="950" dirty="0"/>
          </a:p>
        </p:txBody>
      </p:sp>
      <p:sp>
        <p:nvSpPr>
          <p:cNvPr id="25" name="Shape 23"/>
          <p:cNvSpPr/>
          <p:nvPr/>
        </p:nvSpPr>
        <p:spPr>
          <a:xfrm>
            <a:off x="365760" y="3794760"/>
            <a:ext cx="4206240" cy="1298448"/>
          </a:xfrm>
          <a:prstGeom prst="roundRect">
            <a:avLst>
              <a:gd name="adj" fmla="val 7042"/>
            </a:avLst>
          </a:prstGeom>
          <a:solidFill>
            <a:srgbClr val="F4F4F4"/>
          </a:solidFill>
          <a:ln w="12700">
            <a:solidFill>
              <a:srgbClr val="EBEBEB"/>
            </a:solidFill>
            <a:prstDash val="solid"/>
          </a:ln>
        </p:spPr>
      </p:sp>
      <p:sp>
        <p:nvSpPr>
          <p:cNvPr id="26" name="Text 24"/>
          <p:cNvSpPr txBox="1"/>
          <p:nvPr/>
        </p:nvSpPr>
        <p:spPr>
          <a:xfrm>
            <a:off x="493776" y="3904488"/>
            <a:ext cx="73152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SD-25</a:t>
            </a:r>
            <a:endParaRPr lang="en-US" sz="1200" dirty="0"/>
          </a:p>
        </p:txBody>
      </p:sp>
      <p:sp>
        <p:nvSpPr>
          <p:cNvPr id="27" name="Text 25"/>
          <p:cNvSpPr txBox="1"/>
          <p:nvPr/>
        </p:nvSpPr>
        <p:spPr>
          <a:xfrm>
            <a:off x="1261872" y="393192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1990</a:t>
            </a:r>
            <a:endParaRPr lang="en-US" sz="1100" dirty="0"/>
          </a:p>
        </p:txBody>
      </p:sp>
      <p:sp>
        <p:nvSpPr>
          <p:cNvPr id="28" name="Text 26"/>
          <p:cNvSpPr txBox="1"/>
          <p:nvPr/>
        </p:nvSpPr>
        <p:spPr>
          <a:xfrm>
            <a:off x="493776" y="427024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Using Prefab, Preassembly &amp; Modularization</a:t>
            </a:r>
            <a:endParaRPr lang="en-US" sz="1200" dirty="0"/>
          </a:p>
        </p:txBody>
      </p:sp>
      <p:sp>
        <p:nvSpPr>
          <p:cNvPr id="29" name="Text 27"/>
          <p:cNvSpPr txBox="1"/>
          <p:nvPr/>
        </p:nvSpPr>
        <p:spPr>
          <a:xfrm>
            <a:off x="493776" y="456285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Guía específica para proyectos con módulos, pre-ensambles y componentes prefabricados.</a:t>
            </a:r>
            <a:endParaRPr lang="en-US" sz="950" dirty="0"/>
          </a:p>
        </p:txBody>
      </p:sp>
      <p:sp>
        <p:nvSpPr>
          <p:cNvPr id="30" name="Shape 28"/>
          <p:cNvSpPr/>
          <p:nvPr/>
        </p:nvSpPr>
        <p:spPr>
          <a:xfrm>
            <a:off x="4754880" y="3794760"/>
            <a:ext cx="4206240" cy="1298448"/>
          </a:xfrm>
          <a:prstGeom prst="roundRect">
            <a:avLst>
              <a:gd name="adj" fmla="val 7042"/>
            </a:avLst>
          </a:prstGeom>
          <a:solidFill>
            <a:srgbClr val="F4F4F4"/>
          </a:solidFill>
          <a:ln w="12700">
            <a:solidFill>
              <a:srgbClr val="EBEBEB"/>
            </a:solidFill>
            <a:prstDash val="solid"/>
          </a:ln>
        </p:spPr>
      </p:sp>
      <p:sp>
        <p:nvSpPr>
          <p:cNvPr id="31" name="Text 29"/>
          <p:cNvSpPr txBox="1"/>
          <p:nvPr/>
        </p:nvSpPr>
        <p:spPr>
          <a:xfrm>
            <a:off x="4882896" y="3904488"/>
            <a:ext cx="73152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2" name="Text 30"/>
          <p:cNvSpPr txBox="1"/>
          <p:nvPr/>
        </p:nvSpPr>
        <p:spPr>
          <a:xfrm>
            <a:off x="5650992" y="393192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1993/2006</a:t>
            </a:r>
            <a:endParaRPr lang="en-US" sz="1100" dirty="0"/>
          </a:p>
        </p:txBody>
      </p:sp>
      <p:sp>
        <p:nvSpPr>
          <p:cNvPr id="33" name="Text 31"/>
          <p:cNvSpPr txBox="1"/>
          <p:nvPr/>
        </p:nvSpPr>
        <p:spPr>
          <a:xfrm>
            <a:off x="4882896" y="427024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Implementation Guide (2da Ed.)</a:t>
            </a:r>
            <a:endParaRPr lang="en-US" sz="1200" dirty="0"/>
          </a:p>
        </p:txBody>
      </p:sp>
      <p:sp>
        <p:nvSpPr>
          <p:cNvPr id="34" name="Text 32"/>
          <p:cNvSpPr txBox="1"/>
          <p:nvPr/>
        </p:nvSpPr>
        <p:spPr>
          <a:xfrm>
            <a:off x="4882896" y="456285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DOCUMENTO PRINCIPAL. 19 herramientas, hoja de ruta, matrices de conceptos, 4 casos de estudio completos. 17 conceptos formales de constructabilidad.</a:t>
            </a:r>
            <a:endParaRPr lang="en-US" sz="950" dirty="0"/>
          </a:p>
        </p:txBody>
      </p:sp>
      <p:sp>
        <p:nvSpPr>
          <p:cNvPr id="35" name="Text 3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a:t>
            </a:r>
            <a:endParaRPr lang="en-US" sz="900" dirty="0"/>
          </a:p>
        </p:txBody>
      </p:sp>
      <p:pic xmlns:p="http://schemas.openxmlformats.org/presentationml/2006/main" xmlns:a="http://schemas.openxmlformats.org/drawingml/2006/main" xmlns:r="http://schemas.openxmlformats.org/officeDocument/2006/relationships">
        <p:nvPicPr>
          <p:cNvPr id="8012" name="SlideIcon8012" descr="icon"/>
          <p:cNvPicPr>
            <a:picLocks noChangeAspect="1"/>
          </p:cNvPicPr>
          <p:nvPr/>
        </p:nvPicPr>
        <p:blipFill>
          <a:blip r:embed="rId9011"/>
          <a:stretch>
            <a:fillRect/>
          </a:stretch>
        </p:blipFill>
        <p:spPr>
          <a:xfrm>
            <a:off x="73152" y="118872"/>
            <a:ext cx="347472" cy="3474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Formales de Constructabilidad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Distribuidos en 3 fases del proyecto:</a:t>
            </a:r>
            <a:endParaRPr lang="en-US" sz="1200" dirty="0"/>
          </a:p>
        </p:txBody>
      </p:sp>
      <p:sp>
        <p:nvSpPr>
          <p:cNvPr id="6" name="Shape 4"/>
          <p:cNvSpPr/>
          <p:nvPr/>
        </p:nvSpPr>
        <p:spPr>
          <a:xfrm>
            <a:off x="274320" y="1261872"/>
            <a:ext cx="2834640" cy="3931920"/>
          </a:xfrm>
          <a:prstGeom prst="roundRect">
            <a:avLst>
              <a:gd name="adj" fmla="val 3871"/>
            </a:avLst>
          </a:prstGeom>
          <a:solidFill>
            <a:srgbClr val="F4F4F4"/>
          </a:solidFill>
          <a:ln w="12700">
            <a:solidFill>
              <a:srgbClr val="EBEBEB"/>
            </a:solidFill>
            <a:prstDash val="solid"/>
          </a:ln>
        </p:spPr>
      </p:sp>
      <p:sp>
        <p:nvSpPr>
          <p:cNvPr id="7" name="Shape 5"/>
          <p:cNvSpPr/>
          <p:nvPr/>
        </p:nvSpPr>
        <p:spPr>
          <a:xfrm>
            <a:off x="274320" y="1261872"/>
            <a:ext cx="2834640" cy="566928"/>
          </a:xfrm>
          <a:prstGeom prst="roundRect">
            <a:avLst>
              <a:gd name="adj" fmla="val 19355"/>
            </a:avLst>
          </a:prstGeom>
          <a:solidFill>
            <a:srgbClr val="0A84FF"/>
          </a:solidFill>
          <a:ln/>
        </p:spPr>
      </p:sp>
      <p:sp>
        <p:nvSpPr>
          <p:cNvPr id="8" name="Shape 6"/>
          <p:cNvSpPr/>
          <p:nvPr/>
        </p:nvSpPr>
        <p:spPr>
          <a:xfrm>
            <a:off x="274320" y="1536192"/>
            <a:ext cx="2834640" cy="292608"/>
          </a:xfrm>
          <a:prstGeom prst="rect">
            <a:avLst/>
          </a:prstGeom>
          <a:solidFill>
            <a:srgbClr val="0A84FF"/>
          </a:solidFill>
          <a:ln/>
        </p:spPr>
      </p:sp>
      <p:sp>
        <p:nvSpPr>
          <p:cNvPr id="9" name="Text 7"/>
          <p:cNvSpPr txBox="1"/>
          <p:nvPr/>
        </p:nvSpPr>
        <p:spPr>
          <a:xfrm>
            <a:off x="384048"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  |  7 conceptos</a:t>
            </a:r>
            <a:endParaRPr lang="en-US" sz="1200" dirty="0"/>
          </a:p>
        </p:txBody>
      </p:sp>
      <p:sp>
        <p:nvSpPr>
          <p:cNvPr id="10" name="Text 8"/>
          <p:cNvSpPr txBox="1"/>
          <p:nvPr/>
        </p:nvSpPr>
        <p:spPr>
          <a:xfrm>
            <a:off x="384048" y="1874520"/>
            <a:ext cx="2606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Planificación Conceptual</a:t>
            </a:r>
            <a:endParaRPr lang="en-US" sz="1200" dirty="0"/>
          </a:p>
        </p:txBody>
      </p:sp>
      <p:sp>
        <p:nvSpPr>
          <p:cNvPr id="11" name="Text 9"/>
          <p:cNvSpPr txBox="1"/>
          <p:nvPr/>
        </p:nvSpPr>
        <p:spPr>
          <a:xfrm>
            <a:off x="384048"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I-1: Constructabilidad en el Plan de Ejecución del Proyecto</a:t>
            </a:r>
            <a:endParaRPr lang="en-US" sz="950" dirty="0"/>
          </a:p>
        </p:txBody>
      </p:sp>
      <p:sp>
        <p:nvSpPr>
          <p:cNvPr id="12" name="Text 10"/>
          <p:cNvSpPr txBox="1"/>
          <p:nvPr/>
        </p:nvSpPr>
        <p:spPr>
          <a:xfrm>
            <a:off x="384048"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I-2: Conocimiento constructivo en factibilidad temprana</a:t>
            </a:r>
            <a:endParaRPr lang="en-US" sz="950" dirty="0"/>
          </a:p>
        </p:txBody>
      </p:sp>
      <p:sp>
        <p:nvSpPr>
          <p:cNvPr id="13" name="Text 11"/>
          <p:cNvSpPr txBox="1"/>
          <p:nvPr/>
        </p:nvSpPr>
        <p:spPr>
          <a:xfrm>
            <a:off x="384048"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I-3: Estrategia de contratación con input constructivo</a:t>
            </a:r>
            <a:endParaRPr lang="en-US" sz="950" dirty="0"/>
          </a:p>
        </p:txBody>
      </p:sp>
      <p:sp>
        <p:nvSpPr>
          <p:cNvPr id="14" name="Text 12"/>
          <p:cNvSpPr txBox="1"/>
          <p:nvPr/>
        </p:nvSpPr>
        <p:spPr>
          <a:xfrm>
            <a:off x="384048"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I-4: Cronogramas orientados a construcción y arranque</a:t>
            </a:r>
            <a:endParaRPr lang="en-US" sz="950" dirty="0"/>
          </a:p>
        </p:txBody>
      </p:sp>
      <p:sp>
        <p:nvSpPr>
          <p:cNvPr id="15" name="Text 13"/>
          <p:cNvSpPr txBox="1"/>
          <p:nvPr/>
        </p:nvSpPr>
        <p:spPr>
          <a:xfrm>
            <a:off x="384048"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I-5: Métodos de construcción mayores en diseño básico</a:t>
            </a:r>
            <a:endParaRPr lang="en-US" sz="950" dirty="0"/>
          </a:p>
        </p:txBody>
      </p:sp>
      <p:sp>
        <p:nvSpPr>
          <p:cNvPr id="16" name="Text 14"/>
          <p:cNvSpPr txBox="1"/>
          <p:nvPr/>
        </p:nvSpPr>
        <p:spPr>
          <a:xfrm>
            <a:off x="384048"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I-6: Distribución de sitio eficiente para construcción</a:t>
            </a:r>
            <a:endParaRPr lang="en-US" sz="950" dirty="0"/>
          </a:p>
        </p:txBody>
      </p:sp>
      <p:sp>
        <p:nvSpPr>
          <p:cNvPr id="17" name="Text 15"/>
          <p:cNvSpPr txBox="1"/>
          <p:nvPr/>
        </p:nvSpPr>
        <p:spPr>
          <a:xfrm>
            <a:off x="384048"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I-7: Tecnologías de información aplicadas</a:t>
            </a:r>
            <a:endParaRPr lang="en-US" sz="950" dirty="0"/>
          </a:p>
        </p:txBody>
      </p:sp>
      <p:sp>
        <p:nvSpPr>
          <p:cNvPr id="18" name="Shape 16"/>
          <p:cNvSpPr/>
          <p:nvPr/>
        </p:nvSpPr>
        <p:spPr>
          <a:xfrm>
            <a:off x="3227832" y="1261872"/>
            <a:ext cx="2834640" cy="3931920"/>
          </a:xfrm>
          <a:prstGeom prst="roundRect">
            <a:avLst>
              <a:gd name="adj" fmla="val 3871"/>
            </a:avLst>
          </a:prstGeom>
          <a:solidFill>
            <a:srgbClr val="F4F4F4"/>
          </a:solidFill>
          <a:ln w="12700">
            <a:solidFill>
              <a:srgbClr val="EBEBEB"/>
            </a:solidFill>
            <a:prstDash val="solid"/>
          </a:ln>
        </p:spPr>
      </p:sp>
      <p:sp>
        <p:nvSpPr>
          <p:cNvPr id="19" name="Shape 17"/>
          <p:cNvSpPr/>
          <p:nvPr/>
        </p:nvSpPr>
        <p:spPr>
          <a:xfrm>
            <a:off x="3227832" y="1261872"/>
            <a:ext cx="2834640" cy="566928"/>
          </a:xfrm>
          <a:prstGeom prst="roundRect">
            <a:avLst>
              <a:gd name="adj" fmla="val 19355"/>
            </a:avLst>
          </a:prstGeom>
          <a:solidFill>
            <a:srgbClr val="FF9500"/>
          </a:solidFill>
          <a:ln/>
        </p:spPr>
      </p:sp>
      <p:sp>
        <p:nvSpPr>
          <p:cNvPr id="20" name="Shape 18"/>
          <p:cNvSpPr/>
          <p:nvPr/>
        </p:nvSpPr>
        <p:spPr>
          <a:xfrm>
            <a:off x="3227832" y="1536192"/>
            <a:ext cx="2834640" cy="292608"/>
          </a:xfrm>
          <a:prstGeom prst="rect">
            <a:avLst/>
          </a:prstGeom>
          <a:solidFill>
            <a:srgbClr val="FF9500"/>
          </a:solidFill>
          <a:ln/>
        </p:spPr>
      </p:sp>
      <p:sp>
        <p:nvSpPr>
          <p:cNvPr id="21" name="Text 19"/>
          <p:cNvSpPr txBox="1"/>
          <p:nvPr/>
        </p:nvSpPr>
        <p:spPr>
          <a:xfrm>
            <a:off x="3337560"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  |  8 conceptos</a:t>
            </a:r>
            <a:endParaRPr lang="en-US" sz="1200" dirty="0"/>
          </a:p>
        </p:txBody>
      </p:sp>
      <p:sp>
        <p:nvSpPr>
          <p:cNvPr id="22" name="Text 20"/>
          <p:cNvSpPr txBox="1"/>
          <p:nvPr/>
        </p:nvSpPr>
        <p:spPr>
          <a:xfrm>
            <a:off x="3337560" y="1874520"/>
            <a:ext cx="2606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Diseño y Procura</a:t>
            </a:r>
            <a:endParaRPr lang="en-US" sz="1200" dirty="0"/>
          </a:p>
        </p:txBody>
      </p:sp>
      <p:sp>
        <p:nvSpPr>
          <p:cNvPr id="23" name="Text 21"/>
          <p:cNvSpPr txBox="1"/>
          <p:nvPr/>
        </p:nvSpPr>
        <p:spPr>
          <a:xfrm>
            <a:off x="3337560"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II-1: Cronogramas D&amp;P orientados a la construcción</a:t>
            </a:r>
            <a:endParaRPr lang="en-US" sz="950" dirty="0"/>
          </a:p>
        </p:txBody>
      </p:sp>
      <p:sp>
        <p:nvSpPr>
          <p:cNvPr id="24" name="Text 22"/>
          <p:cNvSpPr txBox="1"/>
          <p:nvPr/>
        </p:nvSpPr>
        <p:spPr>
          <a:xfrm>
            <a:off x="3337560"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II-2: Diseños configurados para eficiencia constructiva</a:t>
            </a:r>
            <a:endParaRPr lang="en-US" sz="950" dirty="0"/>
          </a:p>
        </p:txBody>
      </p:sp>
      <p:sp>
        <p:nvSpPr>
          <p:cNvPr id="25" name="Text 23"/>
          <p:cNvSpPr txBox="1"/>
          <p:nvPr/>
        </p:nvSpPr>
        <p:spPr>
          <a:xfrm>
            <a:off x="3337560"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II-3: Estandarización de elementos de diseño</a:t>
            </a:r>
            <a:endParaRPr lang="en-US" sz="950" dirty="0"/>
          </a:p>
        </p:txBody>
      </p:sp>
      <p:sp>
        <p:nvSpPr>
          <p:cNvPr id="26" name="Text 24"/>
          <p:cNvSpPr txBox="1"/>
          <p:nvPr/>
        </p:nvSpPr>
        <p:spPr>
          <a:xfrm>
            <a:off x="3337560"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II-4: Eficiencia en documentos de contrato</a:t>
            </a:r>
            <a:endParaRPr lang="en-US" sz="950" dirty="0"/>
          </a:p>
        </p:txBody>
      </p:sp>
      <p:sp>
        <p:nvSpPr>
          <p:cNvPr id="27" name="Text 25"/>
          <p:cNvSpPr txBox="1"/>
          <p:nvPr/>
        </p:nvSpPr>
        <p:spPr>
          <a:xfrm>
            <a:off x="3337560"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II-5: Diseños PPMOF para fabricación, transporte e instalación</a:t>
            </a:r>
            <a:endParaRPr lang="en-US" sz="950" dirty="0"/>
          </a:p>
        </p:txBody>
      </p:sp>
      <p:sp>
        <p:nvSpPr>
          <p:cNvPr id="28" name="Text 26"/>
          <p:cNvSpPr txBox="1"/>
          <p:nvPr/>
        </p:nvSpPr>
        <p:spPr>
          <a:xfrm>
            <a:off x="3337560"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II-6: Diseños promueven accesibilidad en campo</a:t>
            </a:r>
            <a:endParaRPr lang="en-US" sz="950" dirty="0"/>
          </a:p>
        </p:txBody>
      </p:sp>
      <p:sp>
        <p:nvSpPr>
          <p:cNvPr id="29" name="Text 27"/>
          <p:cNvSpPr txBox="1"/>
          <p:nvPr/>
        </p:nvSpPr>
        <p:spPr>
          <a:xfrm>
            <a:off x="3337560"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II-7: Diseños facilitan construcción bajo clima adverso</a:t>
            </a:r>
            <a:endParaRPr lang="en-US" sz="950" dirty="0"/>
          </a:p>
        </p:txBody>
      </p:sp>
      <p:sp>
        <p:nvSpPr>
          <p:cNvPr id="30" name="Text 28"/>
          <p:cNvSpPr txBox="1"/>
          <p:nvPr/>
        </p:nvSpPr>
        <p:spPr>
          <a:xfrm>
            <a:off x="3337560" y="510235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II-8: Planes del proyecto mejoran la seguridad</a:t>
            </a:r>
            <a:endParaRPr lang="en-US" sz="950" dirty="0"/>
          </a:p>
        </p:txBody>
      </p:sp>
      <p:sp>
        <p:nvSpPr>
          <p:cNvPr id="31" name="Shape 29"/>
          <p:cNvSpPr/>
          <p:nvPr/>
        </p:nvSpPr>
        <p:spPr>
          <a:xfrm>
            <a:off x="6181344" y="1261872"/>
            <a:ext cx="2834640" cy="3931920"/>
          </a:xfrm>
          <a:prstGeom prst="roundRect">
            <a:avLst>
              <a:gd name="adj" fmla="val 3871"/>
            </a:avLst>
          </a:prstGeom>
          <a:solidFill>
            <a:srgbClr val="F4F4F4"/>
          </a:solidFill>
          <a:ln w="12700">
            <a:solidFill>
              <a:srgbClr val="EBEBEB"/>
            </a:solidFill>
            <a:prstDash val="solid"/>
          </a:ln>
        </p:spPr>
      </p:sp>
      <p:sp>
        <p:nvSpPr>
          <p:cNvPr id="32" name="Shape 30"/>
          <p:cNvSpPr/>
          <p:nvPr/>
        </p:nvSpPr>
        <p:spPr>
          <a:xfrm>
            <a:off x="6181344" y="1261872"/>
            <a:ext cx="2834640" cy="566928"/>
          </a:xfrm>
          <a:prstGeom prst="roundRect">
            <a:avLst>
              <a:gd name="adj" fmla="val 19355"/>
            </a:avLst>
          </a:prstGeom>
          <a:solidFill>
            <a:srgbClr val="30D158"/>
          </a:solidFill>
          <a:ln/>
        </p:spPr>
      </p:sp>
      <p:sp>
        <p:nvSpPr>
          <p:cNvPr id="33" name="Shape 31"/>
          <p:cNvSpPr/>
          <p:nvPr/>
        </p:nvSpPr>
        <p:spPr>
          <a:xfrm>
            <a:off x="6181344" y="1536192"/>
            <a:ext cx="2834640" cy="292608"/>
          </a:xfrm>
          <a:prstGeom prst="rect">
            <a:avLst/>
          </a:prstGeom>
          <a:solidFill>
            <a:srgbClr val="30D158"/>
          </a:solidFill>
          <a:ln/>
        </p:spPr>
      </p:sp>
      <p:sp>
        <p:nvSpPr>
          <p:cNvPr id="34" name="Text 32"/>
          <p:cNvSpPr txBox="1"/>
          <p:nvPr/>
        </p:nvSpPr>
        <p:spPr>
          <a:xfrm>
            <a:off x="6291072"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III  |  1 concepto + innovaciones</a:t>
            </a:r>
            <a:endParaRPr lang="en-US" sz="1200" dirty="0"/>
          </a:p>
        </p:txBody>
      </p:sp>
      <p:sp>
        <p:nvSpPr>
          <p:cNvPr id="35" name="Text 33"/>
          <p:cNvSpPr txBox="1"/>
          <p:nvPr/>
        </p:nvSpPr>
        <p:spPr>
          <a:xfrm>
            <a:off x="6291072" y="1874520"/>
            <a:ext cx="2606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Operaciones de Campo</a:t>
            </a:r>
            <a:endParaRPr lang="en-US" sz="1200" dirty="0"/>
          </a:p>
        </p:txBody>
      </p:sp>
      <p:sp>
        <p:nvSpPr>
          <p:cNvPr id="36" name="Text 34"/>
          <p:cNvSpPr txBox="1"/>
          <p:nvPr/>
        </p:nvSpPr>
        <p:spPr>
          <a:xfrm>
            <a:off x="6291072"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III-1: Métodos innovadores de gestión de construcción</a:t>
            </a:r>
            <a:endParaRPr lang="en-US" sz="950" dirty="0"/>
          </a:p>
        </p:txBody>
      </p:sp>
      <p:sp>
        <p:nvSpPr>
          <p:cNvPr id="37" name="Text 35"/>
          <p:cNvSpPr txBox="1"/>
          <p:nvPr/>
        </p:nvSpPr>
        <p:spPr>
          <a:xfrm>
            <a:off x="6291072"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Secuenciación detallada de tareas</a:t>
            </a:r>
            <a:endParaRPr lang="en-US" sz="950" dirty="0"/>
          </a:p>
        </p:txBody>
      </p:sp>
      <p:sp>
        <p:nvSpPr>
          <p:cNvPr id="38" name="Text 36"/>
          <p:cNvSpPr txBox="1"/>
          <p:nvPr/>
        </p:nvSpPr>
        <p:spPr>
          <a:xfrm>
            <a:off x="6291072"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Materiales y sistemas de construcción temporales</a:t>
            </a:r>
            <a:endParaRPr lang="en-US" sz="950" dirty="0"/>
          </a:p>
        </p:txBody>
      </p:sp>
      <p:sp>
        <p:nvSpPr>
          <p:cNvPr id="39" name="Text 37"/>
          <p:cNvSpPr txBox="1"/>
          <p:nvPr/>
        </p:nvSpPr>
        <p:spPr>
          <a:xfrm>
            <a:off x="6291072"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Herramientas manuales optimizadas</a:t>
            </a:r>
            <a:endParaRPr lang="en-US" sz="950" dirty="0"/>
          </a:p>
        </p:txBody>
      </p:sp>
      <p:sp>
        <p:nvSpPr>
          <p:cNvPr id="40" name="Text 38"/>
          <p:cNvSpPr txBox="1"/>
          <p:nvPr/>
        </p:nvSpPr>
        <p:spPr>
          <a:xfrm>
            <a:off x="6291072"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Equipo de construcción optimizado</a:t>
            </a:r>
            <a:endParaRPr lang="en-US" sz="950" dirty="0"/>
          </a:p>
        </p:txBody>
      </p:sp>
      <p:sp>
        <p:nvSpPr>
          <p:cNvPr id="41" name="Text 39"/>
          <p:cNvSpPr txBox="1"/>
          <p:nvPr/>
        </p:nvSpPr>
        <p:spPr>
          <a:xfrm>
            <a:off x="6291072"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Pre-ensamble por parte del constructor</a:t>
            </a:r>
            <a:endParaRPr lang="en-US" sz="950" dirty="0"/>
          </a:p>
        </p:txBody>
      </p:sp>
      <p:sp>
        <p:nvSpPr>
          <p:cNvPr id="42" name="Text 40"/>
          <p:cNvSpPr txBox="1"/>
          <p:nvPr/>
        </p:nvSpPr>
        <p:spPr>
          <a:xfrm>
            <a:off x="6291072"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Instalaciones temporales estratégicas</a:t>
            </a:r>
            <a:endParaRPr lang="en-US" sz="950" dirty="0"/>
          </a:p>
        </p:txBody>
      </p:sp>
      <p:sp>
        <p:nvSpPr>
          <p:cNvPr id="43" name="Text 4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13</a:t>
            </a:r>
            <a:endParaRPr lang="en-US" sz="900" dirty="0"/>
          </a:p>
        </p:txBody>
      </p:sp>
      <p:pic xmlns:p="http://schemas.openxmlformats.org/presentationml/2006/main" xmlns:a="http://schemas.openxmlformats.org/drawingml/2006/main" xmlns:r="http://schemas.openxmlformats.org/officeDocument/2006/relationships">
        <p:nvPicPr>
          <p:cNvPr id="8013" name="SlideIcon8013" descr="icon"/>
          <p:cNvPicPr>
            <a:picLocks noChangeAspect="1"/>
          </p:cNvPicPr>
          <p:nvPr/>
        </p:nvPicPr>
        <p:blipFill>
          <a:blip r:embed="rId9011"/>
          <a:stretch>
            <a:fillRect/>
          </a:stretch>
        </p:blipFill>
        <p:spPr>
          <a:xfrm>
            <a:off x="73152" y="118872"/>
            <a:ext cx="347472" cy="3474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Evidencia Estadística — Investigación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Análisis de 62 empresas con programas de constructabilidad (CII Task Force, 1993):</a:t>
            </a:r>
            <a:endParaRPr lang="en-US" sz="1200" dirty="0"/>
          </a:p>
        </p:txBody>
      </p:sp>
      <p:sp>
        <p:nvSpPr>
          <p:cNvPr id="6" name="Shape 4"/>
          <p:cNvSpPr/>
          <p:nvPr/>
        </p:nvSpPr>
        <p:spPr>
          <a:xfrm>
            <a:off x="274320" y="1298448"/>
            <a:ext cx="2011680" cy="1874520"/>
          </a:xfrm>
          <a:prstGeom prst="roundRect">
            <a:avLst>
              <a:gd name="adj" fmla="val 5854"/>
            </a:avLst>
          </a:prstGeom>
          <a:solidFill>
            <a:srgbClr val="F4F4F4"/>
          </a:solidFill>
          <a:ln w="25400">
            <a:solidFill>
              <a:srgbClr val="FF453A"/>
            </a:solidFill>
            <a:prstDash val="solid"/>
          </a:ln>
        </p:spPr>
      </p:sp>
      <p:sp>
        <p:nvSpPr>
          <p:cNvPr id="7" name="Text 5"/>
          <p:cNvSpPr txBox="1"/>
          <p:nvPr/>
        </p:nvSpPr>
        <p:spPr>
          <a:xfrm>
            <a:off x="274320" y="1371600"/>
            <a:ext cx="2011680" cy="822960"/>
          </a:xfrm>
          <a:prstGeom prst="rect">
            <a:avLst/>
          </a:prstGeom>
          <a:noFill/>
          <a:ln/>
        </p:spPr>
        <p:txBody>
          <a:bodyPr wrap="square" lIns="0" tIns="0" rIns="0" bIns="0" rtlCol="0" anchor="ctr"/>
          <a:lstStyle/>
          <a:p>
            <a:pPr algn="ctr" indent="0" marL="0">
              <a:buNone/>
            </a:pPr>
            <a:r>
              <a:rPr lang="en-US" sz="2800" b="1" dirty="0">
                <a:solidFill>
                  <a:srgbClr val="FF453A"/>
                </a:solidFill>
                <a:latin typeface="Atkinson Hyperlegible" pitchFamily="34" charset="0"/>
                <a:ea typeface="Atkinson Hyperlegible" pitchFamily="34" charset="-122"/>
                <a:cs typeface="Atkinson Hyperlegible" pitchFamily="34" charset="-120"/>
              </a:rPr>
              <a:t>2</a:t>
            </a:r>
            <a:endParaRPr lang="en-US" sz="2800" dirty="0"/>
          </a:p>
        </p:txBody>
      </p:sp>
      <p:sp>
        <p:nvSpPr>
          <p:cNvPr id="8" name="Text 6"/>
          <p:cNvSpPr txBox="1"/>
          <p:nvPr/>
        </p:nvSpPr>
        <p:spPr>
          <a:xfrm>
            <a:off x="36576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 62 empresas</a:t>
            </a:r>
            <a:endParaRPr lang="en-US" sz="1100" dirty="0"/>
          </a:p>
        </p:txBody>
      </p:sp>
      <p:sp>
        <p:nvSpPr>
          <p:cNvPr id="9" name="Text 7"/>
          <p:cNvSpPr txBox="1"/>
          <p:nvPr/>
        </p:nvSpPr>
        <p:spPr>
          <a:xfrm>
            <a:off x="36576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 programa formal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comprehensivo</a:t>
            </a:r>
            <a:endParaRPr lang="en-US" sz="1100" dirty="0"/>
          </a:p>
        </p:txBody>
      </p:sp>
      <p:sp>
        <p:nvSpPr>
          <p:cNvPr id="10" name="Shape 8"/>
          <p:cNvSpPr/>
          <p:nvPr/>
        </p:nvSpPr>
        <p:spPr>
          <a:xfrm>
            <a:off x="2423160" y="1298448"/>
            <a:ext cx="2011680" cy="1874520"/>
          </a:xfrm>
          <a:prstGeom prst="roundRect">
            <a:avLst>
              <a:gd name="adj" fmla="val 5854"/>
            </a:avLst>
          </a:prstGeom>
          <a:solidFill>
            <a:srgbClr val="F4F4F4"/>
          </a:solidFill>
          <a:ln w="25400">
            <a:solidFill>
              <a:srgbClr val="30D158"/>
            </a:solidFill>
            <a:prstDash val="solid"/>
          </a:ln>
        </p:spPr>
      </p:sp>
      <p:sp>
        <p:nvSpPr>
          <p:cNvPr id="11" name="Text 9"/>
          <p:cNvSpPr txBox="1"/>
          <p:nvPr/>
        </p:nvSpPr>
        <p:spPr>
          <a:xfrm>
            <a:off x="2423160" y="1371600"/>
            <a:ext cx="2011680" cy="822960"/>
          </a:xfrm>
          <a:prstGeom prst="rect">
            <a:avLst/>
          </a:prstGeom>
          <a:noFill/>
          <a:ln/>
        </p:spPr>
        <p:txBody>
          <a:bodyPr wrap="square" lIns="0" tIns="0" rIns="0" bIns="0" rtlCol="0" anchor="ctr"/>
          <a:lstStyle/>
          <a:p>
            <a:pPr algn="ctr" indent="0" marL="0">
              <a:buNone/>
            </a:pPr>
            <a:r>
              <a:rPr lang="en-US" sz="2800" b="1" dirty="0">
                <a:solidFill>
                  <a:srgbClr val="30D158"/>
                </a:solidFill>
                <a:latin typeface="Atkinson Hyperlegible" pitchFamily="34" charset="0"/>
                <a:ea typeface="Atkinson Hyperlegible" pitchFamily="34" charset="-122"/>
                <a:cs typeface="Atkinson Hyperlegible" pitchFamily="34" charset="-120"/>
              </a:rPr>
              <a:t>4.3%</a:t>
            </a:r>
            <a:endParaRPr lang="en-US" sz="2800" dirty="0"/>
          </a:p>
        </p:txBody>
      </p:sp>
      <p:sp>
        <p:nvSpPr>
          <p:cNvPr id="12" name="Text 10"/>
          <p:cNvSpPr txBox="1"/>
          <p:nvPr/>
        </p:nvSpPr>
        <p:spPr>
          <a:xfrm>
            <a:off x="251460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3" name="Text 11"/>
          <p:cNvSpPr txBox="1"/>
          <p:nvPr/>
        </p:nvSpPr>
        <p:spPr>
          <a:xfrm>
            <a:off x="251460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costo total del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14" name="Shape 12"/>
          <p:cNvSpPr/>
          <p:nvPr/>
        </p:nvSpPr>
        <p:spPr>
          <a:xfrm>
            <a:off x="4572000" y="1298448"/>
            <a:ext cx="2011680" cy="1874520"/>
          </a:xfrm>
          <a:prstGeom prst="roundRect">
            <a:avLst>
              <a:gd name="adj" fmla="val 5854"/>
            </a:avLst>
          </a:prstGeom>
          <a:solidFill>
            <a:srgbClr val="F4F4F4"/>
          </a:solidFill>
          <a:ln w="25400">
            <a:solidFill>
              <a:srgbClr val="0A84FF"/>
            </a:solidFill>
            <a:prstDash val="solid"/>
          </a:ln>
        </p:spPr>
      </p:sp>
      <p:sp>
        <p:nvSpPr>
          <p:cNvPr id="15" name="Text 13"/>
          <p:cNvSpPr txBox="1"/>
          <p:nvPr/>
        </p:nvSpPr>
        <p:spPr>
          <a:xfrm>
            <a:off x="4572000" y="1371600"/>
            <a:ext cx="2011680" cy="822960"/>
          </a:xfrm>
          <a:prstGeom prst="rect">
            <a:avLst/>
          </a:prstGeom>
          <a:noFill/>
          <a:ln/>
        </p:spPr>
        <p:txBody>
          <a:bodyPr wrap="square" lIns="0" tIns="0" rIns="0" bIns="0" rtlCol="0" anchor="ctr"/>
          <a:lstStyle/>
          <a:p>
            <a:pPr algn="ctr" indent="0" marL="0">
              <a:buNone/>
            </a:pPr>
            <a:r>
              <a:rPr lang="en-US" sz="2800" b="1" dirty="0">
                <a:solidFill>
                  <a:srgbClr val="0A84FF"/>
                </a:solidFill>
                <a:latin typeface="Atkinson Hyperlegible" pitchFamily="34" charset="0"/>
                <a:ea typeface="Atkinson Hyperlegible" pitchFamily="34" charset="-122"/>
                <a:cs typeface="Atkinson Hyperlegible" pitchFamily="34" charset="-120"/>
              </a:rPr>
              <a:t>7.5%</a:t>
            </a:r>
            <a:endParaRPr lang="en-US" sz="2800" dirty="0"/>
          </a:p>
        </p:txBody>
      </p:sp>
      <p:sp>
        <p:nvSpPr>
          <p:cNvPr id="16" name="Text 14"/>
          <p:cNvSpPr txBox="1"/>
          <p:nvPr/>
        </p:nvSpPr>
        <p:spPr>
          <a:xfrm>
            <a:off x="466344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7" name="Text 15"/>
          <p:cNvSpPr txBox="1"/>
          <p:nvPr/>
        </p:nvSpPr>
        <p:spPr>
          <a:xfrm>
            <a:off x="466344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duración total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del proyecto</a:t>
            </a:r>
            <a:endParaRPr lang="en-US" sz="1100" dirty="0"/>
          </a:p>
        </p:txBody>
      </p:sp>
      <p:sp>
        <p:nvSpPr>
          <p:cNvPr id="18" name="Shape 16"/>
          <p:cNvSpPr/>
          <p:nvPr/>
        </p:nvSpPr>
        <p:spPr>
          <a:xfrm>
            <a:off x="6720840" y="1298448"/>
            <a:ext cx="2011680" cy="1874520"/>
          </a:xfrm>
          <a:prstGeom prst="roundRect">
            <a:avLst>
              <a:gd name="adj" fmla="val 5854"/>
            </a:avLst>
          </a:prstGeom>
          <a:solidFill>
            <a:srgbClr val="F4F4F4"/>
          </a:solidFill>
          <a:ln w="25400">
            <a:solidFill>
              <a:srgbClr val="FF9500"/>
            </a:solidFill>
            <a:prstDash val="solid"/>
          </a:ln>
        </p:spPr>
      </p:sp>
      <p:sp>
        <p:nvSpPr>
          <p:cNvPr id="19" name="Text 17"/>
          <p:cNvSpPr txBox="1"/>
          <p:nvPr/>
        </p:nvSpPr>
        <p:spPr>
          <a:xfrm>
            <a:off x="6720840" y="1371600"/>
            <a:ext cx="2011680" cy="822960"/>
          </a:xfrm>
          <a:prstGeom prst="rect">
            <a:avLst/>
          </a:prstGeom>
          <a:noFill/>
          <a:ln/>
        </p:spPr>
        <p:txBody>
          <a:bodyPr wrap="square" lIns="0" tIns="0" rIns="0" bIns="0" rtlCol="0" anchor="ctr"/>
          <a:lstStyle/>
          <a:p>
            <a:pPr algn="ctr" indent="0" marL="0">
              <a:buNone/>
            </a:pPr>
            <a:r>
              <a:rPr lang="en-US" sz="2800" b="1" dirty="0">
                <a:solidFill>
                  <a:srgbClr val="FF9500"/>
                </a:solidFill>
                <a:latin typeface="Atkinson Hyperlegible" pitchFamily="34" charset="0"/>
                <a:ea typeface="Atkinson Hyperlegible" pitchFamily="34" charset="-122"/>
                <a:cs typeface="Atkinson Hyperlegible" pitchFamily="34" charset="-120"/>
              </a:rPr>
              <a:t>10:1</a:t>
            </a:r>
            <a:endParaRPr lang="en-US" sz="2800" dirty="0"/>
          </a:p>
        </p:txBody>
      </p:sp>
      <p:sp>
        <p:nvSpPr>
          <p:cNvPr id="20" name="Text 18"/>
          <p:cNvSpPr txBox="1"/>
          <p:nvPr/>
        </p:nvSpPr>
        <p:spPr>
          <a:xfrm>
            <a:off x="681228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retorno promedio</a:t>
            </a:r>
            <a:endParaRPr lang="en-US" sz="1100" dirty="0"/>
          </a:p>
        </p:txBody>
      </p:sp>
      <p:sp>
        <p:nvSpPr>
          <p:cNvPr id="21" name="Text 19"/>
          <p:cNvSpPr txBox="1"/>
          <p:nvPr/>
        </p:nvSpPr>
        <p:spPr>
          <a:xfrm>
            <a:off x="681228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sobre la inversión</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constructabilidad</a:t>
            </a:r>
            <a:endParaRPr lang="en-US" sz="1100" dirty="0"/>
          </a:p>
        </p:txBody>
      </p:sp>
      <p:sp>
        <p:nvSpPr>
          <p:cNvPr id="22" name="Text 20"/>
          <p:cNvSpPr txBox="1"/>
          <p:nvPr/>
        </p:nvSpPr>
        <p:spPr>
          <a:xfrm>
            <a:off x="457200" y="3310128"/>
            <a:ext cx="82296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Conclusión clave de la investigación:</a:t>
            </a:r>
            <a:endParaRPr lang="en-US" sz="1200" dirty="0"/>
          </a:p>
        </p:txBody>
      </p:sp>
      <p:sp>
        <p:nvSpPr>
          <p:cNvPr id="23" name="Shape 21"/>
          <p:cNvSpPr/>
          <p:nvPr/>
        </p:nvSpPr>
        <p:spPr>
          <a:xfrm>
            <a:off x="457200" y="3657600"/>
            <a:ext cx="8229600" cy="1234440"/>
          </a:xfrm>
          <a:prstGeom prst="roundRect">
            <a:avLst>
              <a:gd name="adj" fmla="val 8889"/>
            </a:avLst>
          </a:prstGeom>
          <a:solidFill>
            <a:srgbClr val="F4F4F4"/>
          </a:solidFill>
          <a:ln w="12700">
            <a:solidFill>
              <a:srgbClr val="0A84FF"/>
            </a:solidFill>
            <a:prstDash val="solid"/>
          </a:ln>
        </p:spPr>
      </p:sp>
      <p:sp>
        <p:nvSpPr>
          <p:cNvPr id="24" name="Text 22"/>
          <p:cNvSpPr txBox="1"/>
          <p:nvPr/>
        </p:nvSpPr>
        <p:spPr>
          <a:xfrm>
            <a:off x="640080" y="3749040"/>
            <a:ext cx="7863840" cy="105156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La implementación de constructabilidad a nivel de industria progresa LENTAMENTE y carece de estructura. Existe una necesidad clara de herramientas que faciliten su implementación. Los esfuerzos de constructabilidad en las fases tempranas son una INVERSIÓN que resulta en un retorno sustancial cuando se implementan metódicamente.</a:t>
            </a:r>
            <a:endParaRPr lang="en-US" sz="13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14</a:t>
            </a:r>
            <a:endParaRPr lang="en-US" sz="900" dirty="0"/>
          </a:p>
        </p:txBody>
      </p:sp>
      <p:pic xmlns:p="http://schemas.openxmlformats.org/presentationml/2006/main" xmlns:a="http://schemas.openxmlformats.org/drawingml/2006/main" xmlns:r="http://schemas.openxmlformats.org/officeDocument/2006/relationships">
        <p:nvPicPr>
          <p:cNvPr id="8014" name="SlideIcon8014" descr="icon"/>
          <p:cNvPicPr>
            <a:picLocks noChangeAspect="1"/>
          </p:cNvPicPr>
          <p:nvPr/>
        </p:nvPicPr>
        <p:blipFill>
          <a:blip r:embed="rId9006"/>
          <a:stretch>
            <a:fillRect/>
          </a:stretch>
        </p:blipFill>
        <p:spPr>
          <a:xfrm>
            <a:off x="73152" y="118872"/>
            <a:ext cx="347472" cy="3474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CII SP 34-1: Estructura de la Guía de Implementación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1005840"/>
            <a:ext cx="8412480" cy="914400"/>
          </a:xfrm>
          <a:prstGeom prst="roundRect">
            <a:avLst>
              <a:gd name="adj" fmla="val 10000"/>
            </a:avLst>
          </a:prstGeom>
          <a:solidFill>
            <a:srgbClr val="F4F4F4"/>
          </a:solidFill>
          <a:ln w="12700">
            <a:solidFill>
              <a:srgbClr val="EBEBEB"/>
            </a:solidFill>
            <a:prstDash val="solid"/>
          </a:ln>
        </p:spPr>
      </p:sp>
      <p:sp>
        <p:nvSpPr>
          <p:cNvPr id="6" name="Shape 4"/>
          <p:cNvSpPr/>
          <p:nvPr/>
        </p:nvSpPr>
        <p:spPr>
          <a:xfrm>
            <a:off x="365760" y="1005840"/>
            <a:ext cx="1188720" cy="914400"/>
          </a:xfrm>
          <a:prstGeom prst="roundRect">
            <a:avLst>
              <a:gd name="adj" fmla="val 10000"/>
            </a:avLst>
          </a:prstGeom>
          <a:solidFill>
            <a:srgbClr val="0A84FF"/>
          </a:solidFill>
          <a:ln/>
        </p:spPr>
      </p:sp>
      <p:sp>
        <p:nvSpPr>
          <p:cNvPr id="7" name="Shape 5"/>
          <p:cNvSpPr/>
          <p:nvPr/>
        </p:nvSpPr>
        <p:spPr>
          <a:xfrm>
            <a:off x="1170432" y="1005840"/>
            <a:ext cx="384048" cy="914400"/>
          </a:xfrm>
          <a:prstGeom prst="rect">
            <a:avLst/>
          </a:prstGeom>
          <a:solidFill>
            <a:srgbClr val="0A84FF"/>
          </a:solidFill>
          <a:ln/>
        </p:spPr>
      </p:sp>
      <p:sp>
        <p:nvSpPr>
          <p:cNvPr id="8" name="Text 6"/>
          <p:cNvSpPr txBox="1"/>
          <p:nvPr/>
        </p:nvSpPr>
        <p:spPr>
          <a:xfrm>
            <a:off x="384048" y="1078992"/>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a:t>
            </a:r>
            <a:endParaRPr lang="en-US" sz="1300" dirty="0"/>
          </a:p>
        </p:txBody>
      </p:sp>
      <p:sp>
        <p:nvSpPr>
          <p:cNvPr id="9" name="Text 7"/>
          <p:cNvSpPr txBox="1"/>
          <p:nvPr/>
        </p:nvSpPr>
        <p:spPr>
          <a:xfrm>
            <a:off x="1664208" y="1060704"/>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Corporativo</a:t>
            </a:r>
            <a:endParaRPr lang="en-US" sz="1200" dirty="0"/>
          </a:p>
        </p:txBody>
      </p:sp>
      <p:sp>
        <p:nvSpPr>
          <p:cNvPr id="10" name="Text 8"/>
          <p:cNvSpPr txBox="1"/>
          <p:nvPr/>
        </p:nvSpPr>
        <p:spPr>
          <a:xfrm>
            <a:off x="1664208" y="1408176"/>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1 y 2. Compromiso e instalación del programa en la organización. Políticas, estructura, evaluación de barreras.</a:t>
            </a:r>
            <a:endParaRPr lang="en-US" sz="1100" dirty="0"/>
          </a:p>
        </p:txBody>
      </p:sp>
      <p:sp>
        <p:nvSpPr>
          <p:cNvPr id="11" name="Shape 9"/>
          <p:cNvSpPr/>
          <p:nvPr/>
        </p:nvSpPr>
        <p:spPr>
          <a:xfrm>
            <a:off x="365760" y="2029968"/>
            <a:ext cx="8412480" cy="914400"/>
          </a:xfrm>
          <a:prstGeom prst="roundRect">
            <a:avLst>
              <a:gd name="adj" fmla="val 10000"/>
            </a:avLst>
          </a:prstGeom>
          <a:solidFill>
            <a:srgbClr val="F4F4F4"/>
          </a:solidFill>
          <a:ln w="12700">
            <a:solidFill>
              <a:srgbClr val="EBEBEB"/>
            </a:solidFill>
            <a:prstDash val="solid"/>
          </a:ln>
        </p:spPr>
      </p:sp>
      <p:sp>
        <p:nvSpPr>
          <p:cNvPr id="12" name="Shape 10"/>
          <p:cNvSpPr/>
          <p:nvPr/>
        </p:nvSpPr>
        <p:spPr>
          <a:xfrm>
            <a:off x="365760" y="2029968"/>
            <a:ext cx="1188720" cy="914400"/>
          </a:xfrm>
          <a:prstGeom prst="roundRect">
            <a:avLst>
              <a:gd name="adj" fmla="val 10000"/>
            </a:avLst>
          </a:prstGeom>
          <a:solidFill>
            <a:srgbClr val="30D158"/>
          </a:solidFill>
          <a:ln/>
        </p:spPr>
      </p:sp>
      <p:sp>
        <p:nvSpPr>
          <p:cNvPr id="13" name="Shape 11"/>
          <p:cNvSpPr/>
          <p:nvPr/>
        </p:nvSpPr>
        <p:spPr>
          <a:xfrm>
            <a:off x="1170432" y="2029968"/>
            <a:ext cx="384048" cy="914400"/>
          </a:xfrm>
          <a:prstGeom prst="rect">
            <a:avLst/>
          </a:prstGeom>
          <a:solidFill>
            <a:srgbClr val="30D158"/>
          </a:solidFill>
          <a:ln/>
        </p:spPr>
      </p:sp>
      <p:sp>
        <p:nvSpPr>
          <p:cNvPr id="14" name="Text 12"/>
          <p:cNvSpPr txBox="1"/>
          <p:nvPr/>
        </p:nvSpPr>
        <p:spPr>
          <a:xfrm>
            <a:off x="384048" y="2103120"/>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a:t>
            </a:r>
            <a:endParaRPr lang="en-US" sz="1300" dirty="0"/>
          </a:p>
        </p:txBody>
      </p:sp>
      <p:sp>
        <p:nvSpPr>
          <p:cNvPr id="15" name="Text 13"/>
          <p:cNvSpPr txBox="1"/>
          <p:nvPr/>
        </p:nvSpPr>
        <p:spPr>
          <a:xfrm>
            <a:off x="1664208" y="2084832"/>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de Proyecto</a:t>
            </a:r>
            <a:endParaRPr lang="en-US" sz="1200" dirty="0"/>
          </a:p>
        </p:txBody>
      </p:sp>
      <p:sp>
        <p:nvSpPr>
          <p:cNvPr id="16" name="Text 14"/>
          <p:cNvSpPr txBox="1"/>
          <p:nvPr/>
        </p:nvSpPr>
        <p:spPr>
          <a:xfrm>
            <a:off x="1664208" y="2432304"/>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3-6. Capacidades, planificación, implementación y actualización. Enfoque en el director de proyecto.</a:t>
            </a:r>
            <a:endParaRPr lang="en-US" sz="1100" dirty="0"/>
          </a:p>
        </p:txBody>
      </p:sp>
      <p:sp>
        <p:nvSpPr>
          <p:cNvPr id="17" name="Shape 15"/>
          <p:cNvSpPr/>
          <p:nvPr/>
        </p:nvSpPr>
        <p:spPr>
          <a:xfrm>
            <a:off x="365760" y="3054096"/>
            <a:ext cx="8412480" cy="914400"/>
          </a:xfrm>
          <a:prstGeom prst="roundRect">
            <a:avLst>
              <a:gd name="adj" fmla="val 10000"/>
            </a:avLst>
          </a:prstGeom>
          <a:solidFill>
            <a:srgbClr val="F4F4F4"/>
          </a:solidFill>
          <a:ln w="12700">
            <a:solidFill>
              <a:srgbClr val="EBEBEB"/>
            </a:solidFill>
            <a:prstDash val="solid"/>
          </a:ln>
        </p:spPr>
      </p:sp>
      <p:sp>
        <p:nvSpPr>
          <p:cNvPr id="18" name="Shape 16"/>
          <p:cNvSpPr/>
          <p:nvPr/>
        </p:nvSpPr>
        <p:spPr>
          <a:xfrm>
            <a:off x="365760" y="3054096"/>
            <a:ext cx="1188720" cy="914400"/>
          </a:xfrm>
          <a:prstGeom prst="roundRect">
            <a:avLst>
              <a:gd name="adj" fmla="val 10000"/>
            </a:avLst>
          </a:prstGeom>
          <a:solidFill>
            <a:srgbClr val="FF9500"/>
          </a:solidFill>
          <a:ln/>
        </p:spPr>
      </p:sp>
      <p:sp>
        <p:nvSpPr>
          <p:cNvPr id="19" name="Shape 17"/>
          <p:cNvSpPr/>
          <p:nvPr/>
        </p:nvSpPr>
        <p:spPr>
          <a:xfrm>
            <a:off x="1170432" y="3054096"/>
            <a:ext cx="384048" cy="914400"/>
          </a:xfrm>
          <a:prstGeom prst="rect">
            <a:avLst/>
          </a:prstGeom>
          <a:solidFill>
            <a:srgbClr val="FF9500"/>
          </a:solidFill>
          <a:ln/>
        </p:spPr>
      </p:sp>
      <p:sp>
        <p:nvSpPr>
          <p:cNvPr id="20" name="Text 18"/>
          <p:cNvSpPr txBox="1"/>
          <p:nvPr/>
        </p:nvSpPr>
        <p:spPr>
          <a:xfrm>
            <a:off x="384048" y="3127248"/>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III</a:t>
            </a:r>
            <a:endParaRPr lang="en-US" sz="1300" dirty="0"/>
          </a:p>
        </p:txBody>
      </p:sp>
      <p:sp>
        <p:nvSpPr>
          <p:cNvPr id="21" name="Text 19"/>
          <p:cNvSpPr txBox="1"/>
          <p:nvPr/>
        </p:nvSpPr>
        <p:spPr>
          <a:xfrm>
            <a:off x="1664208" y="3108960"/>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19 Herramientas de Implementación</a:t>
            </a:r>
            <a:endParaRPr lang="en-US" sz="1200" dirty="0"/>
          </a:p>
        </p:txBody>
      </p:sp>
      <p:sp>
        <p:nvSpPr>
          <p:cNvPr id="22" name="Text 20"/>
          <p:cNvSpPr txBox="1"/>
          <p:nvPr/>
        </p:nvSpPr>
        <p:spPr>
          <a:xfrm>
            <a:off x="1664208" y="3456432"/>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Hoja de ruta, glosario, matrices de evaluación, checklists de barreras, documentos modelo, matrices de conceptos por fase.</a:t>
            </a:r>
            <a:endParaRPr lang="en-US" sz="1100" dirty="0"/>
          </a:p>
        </p:txBody>
      </p:sp>
      <p:sp>
        <p:nvSpPr>
          <p:cNvPr id="23" name="Shape 21"/>
          <p:cNvSpPr/>
          <p:nvPr/>
        </p:nvSpPr>
        <p:spPr>
          <a:xfrm>
            <a:off x="365760" y="4078224"/>
            <a:ext cx="8412480" cy="914400"/>
          </a:xfrm>
          <a:prstGeom prst="roundRect">
            <a:avLst>
              <a:gd name="adj" fmla="val 10000"/>
            </a:avLst>
          </a:prstGeom>
          <a:solidFill>
            <a:srgbClr val="F4F4F4"/>
          </a:solidFill>
          <a:ln w="12700">
            <a:solidFill>
              <a:srgbClr val="EBEBEB"/>
            </a:solidFill>
            <a:prstDash val="solid"/>
          </a:ln>
        </p:spPr>
      </p:sp>
      <p:sp>
        <p:nvSpPr>
          <p:cNvPr id="24" name="Shape 22"/>
          <p:cNvSpPr/>
          <p:nvPr/>
        </p:nvSpPr>
        <p:spPr>
          <a:xfrm>
            <a:off x="365760" y="4078224"/>
            <a:ext cx="1188720" cy="914400"/>
          </a:xfrm>
          <a:prstGeom prst="roundRect">
            <a:avLst>
              <a:gd name="adj" fmla="val 10000"/>
            </a:avLst>
          </a:prstGeom>
          <a:solidFill>
            <a:srgbClr val="AF52DE"/>
          </a:solidFill>
          <a:ln/>
        </p:spPr>
      </p:sp>
      <p:sp>
        <p:nvSpPr>
          <p:cNvPr id="25" name="Shape 23"/>
          <p:cNvSpPr/>
          <p:nvPr/>
        </p:nvSpPr>
        <p:spPr>
          <a:xfrm>
            <a:off x="1170432" y="4078224"/>
            <a:ext cx="384048" cy="914400"/>
          </a:xfrm>
          <a:prstGeom prst="rect">
            <a:avLst/>
          </a:prstGeom>
          <a:solidFill>
            <a:srgbClr val="AF52DE"/>
          </a:solidFill>
          <a:ln/>
        </p:spPr>
      </p:sp>
      <p:sp>
        <p:nvSpPr>
          <p:cNvPr id="26" name="Text 24"/>
          <p:cNvSpPr txBox="1"/>
          <p:nvPr/>
        </p:nvSpPr>
        <p:spPr>
          <a:xfrm>
            <a:off x="384048" y="4151376"/>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IV</a:t>
            </a:r>
            <a:endParaRPr lang="en-US" sz="1300" dirty="0"/>
          </a:p>
        </p:txBody>
      </p:sp>
      <p:sp>
        <p:nvSpPr>
          <p:cNvPr id="27" name="Text 25"/>
          <p:cNvSpPr txBox="1"/>
          <p:nvPr/>
        </p:nvSpPr>
        <p:spPr>
          <a:xfrm>
            <a:off x="1664208" y="4133088"/>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Casos de Estudio y Análisis Comparativo</a:t>
            </a:r>
            <a:endParaRPr lang="en-US" sz="1200" dirty="0"/>
          </a:p>
        </p:txBody>
      </p:sp>
      <p:sp>
        <p:nvSpPr>
          <p:cNvPr id="28" name="Text 26"/>
          <p:cNvSpPr txBox="1"/>
          <p:nvPr/>
        </p:nvSpPr>
        <p:spPr>
          <a:xfrm>
            <a:off x="1664208" y="4480560"/>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 casos documentados: edificio comercial, planta manufacturera, petroquímica, gas industrial. Análisis de beneficios cuantificados.</a:t>
            </a:r>
            <a:endParaRPr lang="en-US" sz="1100" dirty="0"/>
          </a:p>
        </p:txBody>
      </p:sp>
      <p:sp>
        <p:nvSpPr>
          <p:cNvPr id="29" name="Text 2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15</a:t>
            </a:r>
            <a:endParaRPr lang="en-US" sz="900" dirty="0"/>
          </a:p>
        </p:txBody>
      </p:sp>
      <p:pic xmlns:p="http://schemas.openxmlformats.org/presentationml/2006/main" xmlns:a="http://schemas.openxmlformats.org/drawingml/2006/main" xmlns:r="http://schemas.openxmlformats.org/officeDocument/2006/relationships">
        <p:nvPicPr>
          <p:cNvPr id="8015" name="SlideIcon8015" descr="icon"/>
          <p:cNvPicPr>
            <a:picLocks noChangeAspect="1"/>
          </p:cNvPicPr>
          <p:nvPr/>
        </p:nvPicPr>
        <p:blipFill>
          <a:blip r:embed="rId9011"/>
          <a:stretch>
            <a:fillRect/>
          </a:stretch>
        </p:blipFill>
        <p:spPr>
          <a:xfrm>
            <a:off x="73152" y="118872"/>
            <a:ext cx="347472" cy="3474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03</a:t>
            </a:r>
            <a:endParaRPr lang="en-US" sz="32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Conceptos Fase I</a:t>
            </a:r>
            <a:endParaRPr lang="en-US" sz="28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Planificación Conceptual — 7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16</a:t>
            </a:r>
            <a:endParaRPr lang="en-US" sz="900" dirty="0"/>
          </a:p>
        </p:txBody>
      </p:sp>
      <p:pic xmlns:p="http://schemas.openxmlformats.org/presentationml/2006/main" xmlns:a="http://schemas.openxmlformats.org/drawingml/2006/main" xmlns:r="http://schemas.openxmlformats.org/officeDocument/2006/relationships">
        <p:nvPicPr>
          <p:cNvPr id="8016" name="SlideIcon8016"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 — Planificación Conceptual: Visión General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Esta fase es cuando las decisiones tienen la MAYOR influencia sobre el costo total del proyecto:</a:t>
            </a:r>
            <a:endParaRPr lang="en-US" sz="1200" dirty="0"/>
          </a:p>
        </p:txBody>
      </p:sp>
      <p:sp>
        <p:nvSpPr>
          <p:cNvPr id="6" name="Shape 4"/>
          <p:cNvSpPr/>
          <p:nvPr/>
        </p:nvSpPr>
        <p:spPr>
          <a:xfrm>
            <a:off x="365760" y="1298448"/>
            <a:ext cx="4206240" cy="914400"/>
          </a:xfrm>
          <a:prstGeom prst="roundRect">
            <a:avLst>
              <a:gd name="adj" fmla="val 10000"/>
            </a:avLst>
          </a:prstGeom>
          <a:solidFill>
            <a:srgbClr val="F4F4F4"/>
          </a:solidFill>
          <a:ln w="12700">
            <a:solidFill>
              <a:srgbClr val="EBEBEB"/>
            </a:solidFill>
            <a:prstDash val="solid"/>
          </a:ln>
        </p:spPr>
      </p:sp>
      <p:sp>
        <p:nvSpPr>
          <p:cNvPr id="7" name="Shape 5"/>
          <p:cNvSpPr/>
          <p:nvPr/>
        </p:nvSpPr>
        <p:spPr>
          <a:xfrm>
            <a:off x="365760" y="1298448"/>
            <a:ext cx="73152" cy="914400"/>
          </a:xfrm>
          <a:prstGeom prst="rect">
            <a:avLst/>
          </a:prstGeom>
          <a:solidFill>
            <a:srgbClr val="0A84FF"/>
          </a:solidFill>
          <a:ln/>
        </p:spPr>
      </p:sp>
      <p:sp>
        <p:nvSpPr>
          <p:cNvPr id="8" name="Text 6"/>
          <p:cNvSpPr txBox="1"/>
          <p:nvPr/>
        </p:nvSpPr>
        <p:spPr>
          <a:xfrm>
            <a:off x="566928" y="1371600"/>
            <a:ext cx="5486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I-1</a:t>
            </a:r>
            <a:endParaRPr lang="en-US" sz="1200" dirty="0"/>
          </a:p>
        </p:txBody>
      </p:sp>
      <p:sp>
        <p:nvSpPr>
          <p:cNvPr id="9" name="Text 7"/>
          <p:cNvSpPr txBox="1"/>
          <p:nvPr/>
        </p:nvSpPr>
        <p:spPr>
          <a:xfrm>
            <a:off x="1170432" y="1371600"/>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Ejecución del Proyecto (PEP)</a:t>
            </a:r>
            <a:endParaRPr lang="en-US" sz="1300" dirty="0"/>
          </a:p>
        </p:txBody>
      </p:sp>
      <p:sp>
        <p:nvSpPr>
          <p:cNvPr id="10" name="Text 8"/>
          <p:cNvSpPr txBox="1"/>
          <p:nvPr/>
        </p:nvSpPr>
        <p:spPr>
          <a:xfrm>
            <a:off x="566928" y="1737360"/>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Constructabilidad integrada al PEP formal</a:t>
            </a:r>
            <a:endParaRPr lang="en-US" sz="1100" dirty="0"/>
          </a:p>
        </p:txBody>
      </p:sp>
      <p:sp>
        <p:nvSpPr>
          <p:cNvPr id="11" name="Shape 9"/>
          <p:cNvSpPr/>
          <p:nvPr/>
        </p:nvSpPr>
        <p:spPr>
          <a:xfrm>
            <a:off x="4754880" y="1298448"/>
            <a:ext cx="4206240" cy="914400"/>
          </a:xfrm>
          <a:prstGeom prst="roundRect">
            <a:avLst>
              <a:gd name="adj" fmla="val 10000"/>
            </a:avLst>
          </a:prstGeom>
          <a:solidFill>
            <a:srgbClr val="F4F4F4"/>
          </a:solidFill>
          <a:ln w="12700">
            <a:solidFill>
              <a:srgbClr val="EBEBEB"/>
            </a:solidFill>
            <a:prstDash val="solid"/>
          </a:ln>
        </p:spPr>
      </p:sp>
      <p:sp>
        <p:nvSpPr>
          <p:cNvPr id="12" name="Shape 10"/>
          <p:cNvSpPr/>
          <p:nvPr/>
        </p:nvSpPr>
        <p:spPr>
          <a:xfrm>
            <a:off x="4754880" y="1298448"/>
            <a:ext cx="73152" cy="914400"/>
          </a:xfrm>
          <a:prstGeom prst="rect">
            <a:avLst/>
          </a:prstGeom>
          <a:solidFill>
            <a:srgbClr val="64D2FF"/>
          </a:solidFill>
          <a:ln/>
        </p:spPr>
      </p:sp>
      <p:sp>
        <p:nvSpPr>
          <p:cNvPr id="13" name="Text 11"/>
          <p:cNvSpPr txBox="1"/>
          <p:nvPr/>
        </p:nvSpPr>
        <p:spPr>
          <a:xfrm>
            <a:off x="4956048" y="1371600"/>
            <a:ext cx="5486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I-2</a:t>
            </a:r>
            <a:endParaRPr lang="en-US" sz="1200" dirty="0"/>
          </a:p>
        </p:txBody>
      </p:sp>
      <p:sp>
        <p:nvSpPr>
          <p:cNvPr id="14" name="Text 12"/>
          <p:cNvSpPr txBox="1"/>
          <p:nvPr/>
        </p:nvSpPr>
        <p:spPr>
          <a:xfrm>
            <a:off x="5559552" y="1371600"/>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Factibilidad Temprana</a:t>
            </a:r>
            <a:endParaRPr lang="en-US" sz="1300" dirty="0"/>
          </a:p>
        </p:txBody>
      </p:sp>
      <p:sp>
        <p:nvSpPr>
          <p:cNvPr id="15" name="Text 13"/>
          <p:cNvSpPr txBox="1"/>
          <p:nvPr/>
        </p:nvSpPr>
        <p:spPr>
          <a:xfrm>
            <a:off x="4956048" y="1737360"/>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Conocimiento constructivo en etapa de factibilidad</a:t>
            </a:r>
            <a:endParaRPr lang="en-US" sz="1100" dirty="0"/>
          </a:p>
        </p:txBody>
      </p:sp>
      <p:sp>
        <p:nvSpPr>
          <p:cNvPr id="16" name="Shape 14"/>
          <p:cNvSpPr/>
          <p:nvPr/>
        </p:nvSpPr>
        <p:spPr>
          <a:xfrm>
            <a:off x="365760" y="2322576"/>
            <a:ext cx="4206240" cy="914400"/>
          </a:xfrm>
          <a:prstGeom prst="roundRect">
            <a:avLst>
              <a:gd name="adj" fmla="val 10000"/>
            </a:avLst>
          </a:prstGeom>
          <a:solidFill>
            <a:srgbClr val="F4F4F4"/>
          </a:solidFill>
          <a:ln w="12700">
            <a:solidFill>
              <a:srgbClr val="EBEBEB"/>
            </a:solidFill>
            <a:prstDash val="solid"/>
          </a:ln>
        </p:spPr>
      </p:sp>
      <p:sp>
        <p:nvSpPr>
          <p:cNvPr id="17" name="Shape 15"/>
          <p:cNvSpPr/>
          <p:nvPr/>
        </p:nvSpPr>
        <p:spPr>
          <a:xfrm>
            <a:off x="365760" y="2322576"/>
            <a:ext cx="73152" cy="914400"/>
          </a:xfrm>
          <a:prstGeom prst="rect">
            <a:avLst/>
          </a:prstGeom>
          <a:solidFill>
            <a:srgbClr val="30D158"/>
          </a:solidFill>
          <a:ln/>
        </p:spPr>
      </p:sp>
      <p:sp>
        <p:nvSpPr>
          <p:cNvPr id="18" name="Text 16"/>
          <p:cNvSpPr txBox="1"/>
          <p:nvPr/>
        </p:nvSpPr>
        <p:spPr>
          <a:xfrm>
            <a:off x="566928" y="2395728"/>
            <a:ext cx="5486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19" name="Text 17"/>
          <p:cNvSpPr txBox="1"/>
          <p:nvPr/>
        </p:nvSpPr>
        <p:spPr>
          <a:xfrm>
            <a:off x="1170432" y="2395728"/>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Estrategia de Contratación</a:t>
            </a:r>
            <a:endParaRPr lang="en-US" sz="1300" dirty="0"/>
          </a:p>
        </p:txBody>
      </p:sp>
      <p:sp>
        <p:nvSpPr>
          <p:cNvPr id="20" name="Text 18"/>
          <p:cNvSpPr txBox="1"/>
          <p:nvPr/>
        </p:nvSpPr>
        <p:spPr>
          <a:xfrm>
            <a:off x="566928" y="2761488"/>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Input constructivo en la estrategia de contratación</a:t>
            </a:r>
            <a:endParaRPr lang="en-US" sz="1100" dirty="0"/>
          </a:p>
        </p:txBody>
      </p:sp>
      <p:sp>
        <p:nvSpPr>
          <p:cNvPr id="21" name="Shape 19"/>
          <p:cNvSpPr/>
          <p:nvPr/>
        </p:nvSpPr>
        <p:spPr>
          <a:xfrm>
            <a:off x="4754880" y="2322576"/>
            <a:ext cx="4206240" cy="914400"/>
          </a:xfrm>
          <a:prstGeom prst="roundRect">
            <a:avLst>
              <a:gd name="adj" fmla="val 10000"/>
            </a:avLst>
          </a:prstGeom>
          <a:solidFill>
            <a:srgbClr val="F4F4F4"/>
          </a:solidFill>
          <a:ln w="12700">
            <a:solidFill>
              <a:srgbClr val="EBEBEB"/>
            </a:solidFill>
            <a:prstDash val="solid"/>
          </a:ln>
        </p:spPr>
      </p:sp>
      <p:sp>
        <p:nvSpPr>
          <p:cNvPr id="22" name="Shape 20"/>
          <p:cNvSpPr/>
          <p:nvPr/>
        </p:nvSpPr>
        <p:spPr>
          <a:xfrm>
            <a:off x="4754880" y="2322576"/>
            <a:ext cx="73152" cy="914400"/>
          </a:xfrm>
          <a:prstGeom prst="rect">
            <a:avLst/>
          </a:prstGeom>
          <a:solidFill>
            <a:srgbClr val="FF9500"/>
          </a:solidFill>
          <a:ln/>
        </p:spPr>
      </p:sp>
      <p:sp>
        <p:nvSpPr>
          <p:cNvPr id="23" name="Text 21"/>
          <p:cNvSpPr txBox="1"/>
          <p:nvPr/>
        </p:nvSpPr>
        <p:spPr>
          <a:xfrm>
            <a:off x="4956048" y="2395728"/>
            <a:ext cx="5486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I-4</a:t>
            </a:r>
            <a:endParaRPr lang="en-US" sz="1200" dirty="0"/>
          </a:p>
        </p:txBody>
      </p:sp>
      <p:sp>
        <p:nvSpPr>
          <p:cNvPr id="24" name="Text 22"/>
          <p:cNvSpPr txBox="1"/>
          <p:nvPr/>
        </p:nvSpPr>
        <p:spPr>
          <a:xfrm>
            <a:off x="5559552" y="2395728"/>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Cronograma Orientado a Construcción</a:t>
            </a:r>
            <a:endParaRPr lang="en-US" sz="1300" dirty="0"/>
          </a:p>
        </p:txBody>
      </p:sp>
      <p:sp>
        <p:nvSpPr>
          <p:cNvPr id="25" name="Text 23"/>
          <p:cNvSpPr txBox="1"/>
          <p:nvPr/>
        </p:nvSpPr>
        <p:spPr>
          <a:xfrm>
            <a:off x="4956048" y="2761488"/>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Programas master construction-sensitive</a:t>
            </a:r>
            <a:endParaRPr lang="en-US" sz="1100" dirty="0"/>
          </a:p>
        </p:txBody>
      </p:sp>
      <p:sp>
        <p:nvSpPr>
          <p:cNvPr id="26" name="Shape 24"/>
          <p:cNvSpPr/>
          <p:nvPr/>
        </p:nvSpPr>
        <p:spPr>
          <a:xfrm>
            <a:off x="365760" y="3346704"/>
            <a:ext cx="4206240" cy="914400"/>
          </a:xfrm>
          <a:prstGeom prst="roundRect">
            <a:avLst>
              <a:gd name="adj" fmla="val 10000"/>
            </a:avLst>
          </a:prstGeom>
          <a:solidFill>
            <a:srgbClr val="F4F4F4"/>
          </a:solidFill>
          <a:ln w="12700">
            <a:solidFill>
              <a:srgbClr val="EBEBEB"/>
            </a:solidFill>
            <a:prstDash val="solid"/>
          </a:ln>
        </p:spPr>
      </p:sp>
      <p:sp>
        <p:nvSpPr>
          <p:cNvPr id="27" name="Shape 25"/>
          <p:cNvSpPr/>
          <p:nvPr/>
        </p:nvSpPr>
        <p:spPr>
          <a:xfrm>
            <a:off x="365760" y="3346704"/>
            <a:ext cx="73152" cy="914400"/>
          </a:xfrm>
          <a:prstGeom prst="rect">
            <a:avLst/>
          </a:prstGeom>
          <a:solidFill>
            <a:srgbClr val="FF453A"/>
          </a:solidFill>
          <a:ln/>
        </p:spPr>
      </p:sp>
      <p:sp>
        <p:nvSpPr>
          <p:cNvPr id="28" name="Text 26"/>
          <p:cNvSpPr txBox="1"/>
          <p:nvPr/>
        </p:nvSpPr>
        <p:spPr>
          <a:xfrm>
            <a:off x="566928" y="3419856"/>
            <a:ext cx="5486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I-5</a:t>
            </a:r>
            <a:endParaRPr lang="en-US" sz="1200" dirty="0"/>
          </a:p>
        </p:txBody>
      </p:sp>
      <p:sp>
        <p:nvSpPr>
          <p:cNvPr id="29" name="Text 27"/>
          <p:cNvSpPr txBox="1"/>
          <p:nvPr/>
        </p:nvSpPr>
        <p:spPr>
          <a:xfrm>
            <a:off x="1170432" y="3419856"/>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Constructivos Mayores</a:t>
            </a:r>
            <a:endParaRPr lang="en-US" sz="1300" dirty="0"/>
          </a:p>
        </p:txBody>
      </p:sp>
      <p:sp>
        <p:nvSpPr>
          <p:cNvPr id="30" name="Text 28"/>
          <p:cNvSpPr txBox="1"/>
          <p:nvPr/>
        </p:nvSpPr>
        <p:spPr>
          <a:xfrm>
            <a:off x="566928" y="3785616"/>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Modularización, izajes, métodos de alto impacto</a:t>
            </a:r>
            <a:endParaRPr lang="en-US" sz="1100" dirty="0"/>
          </a:p>
        </p:txBody>
      </p:sp>
      <p:sp>
        <p:nvSpPr>
          <p:cNvPr id="31" name="Shape 29"/>
          <p:cNvSpPr/>
          <p:nvPr/>
        </p:nvSpPr>
        <p:spPr>
          <a:xfrm>
            <a:off x="4754880" y="3346704"/>
            <a:ext cx="4206240" cy="914400"/>
          </a:xfrm>
          <a:prstGeom prst="roundRect">
            <a:avLst>
              <a:gd name="adj" fmla="val 10000"/>
            </a:avLst>
          </a:prstGeom>
          <a:solidFill>
            <a:srgbClr val="F4F4F4"/>
          </a:solidFill>
          <a:ln w="12700">
            <a:solidFill>
              <a:srgbClr val="EBEBEB"/>
            </a:solidFill>
            <a:prstDash val="solid"/>
          </a:ln>
        </p:spPr>
      </p:sp>
      <p:sp>
        <p:nvSpPr>
          <p:cNvPr id="32" name="Shape 30"/>
          <p:cNvSpPr/>
          <p:nvPr/>
        </p:nvSpPr>
        <p:spPr>
          <a:xfrm>
            <a:off x="4754880" y="3346704"/>
            <a:ext cx="73152" cy="914400"/>
          </a:xfrm>
          <a:prstGeom prst="rect">
            <a:avLst/>
          </a:prstGeom>
          <a:solidFill>
            <a:srgbClr val="AF52DE"/>
          </a:solidFill>
          <a:ln/>
        </p:spPr>
      </p:sp>
      <p:sp>
        <p:nvSpPr>
          <p:cNvPr id="33" name="Text 31"/>
          <p:cNvSpPr txBox="1"/>
          <p:nvPr/>
        </p:nvSpPr>
        <p:spPr>
          <a:xfrm>
            <a:off x="4956048" y="3419856"/>
            <a:ext cx="5486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I-6</a:t>
            </a:r>
            <a:endParaRPr lang="en-US" sz="1200" dirty="0"/>
          </a:p>
        </p:txBody>
      </p:sp>
      <p:sp>
        <p:nvSpPr>
          <p:cNvPr id="34" name="Text 32"/>
          <p:cNvSpPr txBox="1"/>
          <p:nvPr/>
        </p:nvSpPr>
        <p:spPr>
          <a:xfrm>
            <a:off x="5559552" y="3419856"/>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Distribución del Sitio</a:t>
            </a:r>
            <a:endParaRPr lang="en-US" sz="1300" dirty="0"/>
          </a:p>
        </p:txBody>
      </p:sp>
      <p:sp>
        <p:nvSpPr>
          <p:cNvPr id="35" name="Text 33"/>
          <p:cNvSpPr txBox="1"/>
          <p:nvPr/>
        </p:nvSpPr>
        <p:spPr>
          <a:xfrm>
            <a:off x="4956048" y="3785616"/>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Layout eficiente para construcción y operación</a:t>
            </a:r>
            <a:endParaRPr lang="en-US" sz="1100" dirty="0"/>
          </a:p>
        </p:txBody>
      </p:sp>
      <p:sp>
        <p:nvSpPr>
          <p:cNvPr id="36" name="Shape 34"/>
          <p:cNvSpPr/>
          <p:nvPr/>
        </p:nvSpPr>
        <p:spPr>
          <a:xfrm>
            <a:off x="365760" y="4407408"/>
            <a:ext cx="8412480" cy="685800"/>
          </a:xfrm>
          <a:prstGeom prst="roundRect">
            <a:avLst>
              <a:gd name="adj" fmla="val 13333"/>
            </a:avLst>
          </a:prstGeom>
          <a:solidFill>
            <a:srgbClr val="F4F4F4"/>
          </a:solidFill>
          <a:ln w="12700">
            <a:solidFill>
              <a:srgbClr val="FFD60A"/>
            </a:solidFill>
            <a:prstDash val="solid"/>
          </a:ln>
        </p:spPr>
      </p:sp>
      <p:sp>
        <p:nvSpPr>
          <p:cNvPr id="37" name="Text 35"/>
          <p:cNvSpPr txBox="1"/>
          <p:nvPr/>
        </p:nvSpPr>
        <p:spPr>
          <a:xfrm>
            <a:off x="548640" y="4480560"/>
            <a:ext cx="54864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I-7</a:t>
            </a:r>
            <a:endParaRPr lang="en-US" sz="1200" dirty="0"/>
          </a:p>
        </p:txBody>
      </p:sp>
      <p:sp>
        <p:nvSpPr>
          <p:cNvPr id="38" name="Text 36"/>
          <p:cNvSpPr txBox="1"/>
          <p:nvPr/>
        </p:nvSpPr>
        <p:spPr>
          <a:xfrm>
            <a:off x="1188720" y="4480560"/>
            <a:ext cx="2743200" cy="36576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Tecnologías de Información</a:t>
            </a:r>
            <a:endParaRPr lang="en-US" sz="1300" dirty="0"/>
          </a:p>
        </p:txBody>
      </p:sp>
      <p:sp>
        <p:nvSpPr>
          <p:cNvPr id="39" name="Text 37"/>
          <p:cNvSpPr txBox="1"/>
          <p:nvPr/>
        </p:nvSpPr>
        <p:spPr>
          <a:xfrm>
            <a:off x="4023360" y="4480560"/>
            <a:ext cx="4480560" cy="36576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GIS, 3D/4D CAD, simulación</a:t>
            </a:r>
            <a:endParaRPr lang="en-US" sz="120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17</a:t>
            </a:r>
            <a:endParaRPr lang="en-US" sz="900" dirty="0"/>
          </a:p>
        </p:txBody>
      </p:sp>
      <p:pic xmlns:p="http://schemas.openxmlformats.org/presentationml/2006/main" xmlns:a="http://schemas.openxmlformats.org/drawingml/2006/main" xmlns:r="http://schemas.openxmlformats.org/officeDocument/2006/relationships">
        <p:nvPicPr>
          <p:cNvPr id="8017" name="SlideIcon8017"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Constructabilidad en el Plan de Ejecución (PEP)</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777240"/>
          </a:xfrm>
          <a:prstGeom prst="roundRect">
            <a:avLst>
              <a:gd name="adj" fmla="val 14118"/>
            </a:avLst>
          </a:prstGeom>
          <a:solidFill>
            <a:srgbClr val="0A84FF">
              <a:alpha val="15000"/>
            </a:srgbClr>
          </a:solidFill>
          <a:ln w="12700">
            <a:solidFill>
              <a:srgbClr val="0A84FF"/>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 implementación de constructabilidad son parte integral del Plan de Ejecución del Proyecto (PEP)."</a:t>
            </a:r>
            <a:endParaRPr lang="en-US" sz="1500" dirty="0"/>
          </a:p>
        </p:txBody>
      </p:sp>
      <p:sp>
        <p:nvSpPr>
          <p:cNvPr id="7" name="Text 5"/>
          <p:cNvSpPr txBox="1"/>
          <p:nvPr/>
        </p:nvSpPr>
        <p:spPr>
          <a:xfrm>
            <a:off x="365760" y="1847088"/>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¿Qué debe incluir el PEP sobre Constructabilidad?</a:t>
            </a:r>
            <a:endParaRPr lang="en-US" sz="1200" dirty="0"/>
          </a:p>
        </p:txBody>
      </p:sp>
      <p:sp>
        <p:nvSpPr>
          <p:cNvPr id="8" name="Shape 6"/>
          <p:cNvSpPr/>
          <p:nvPr/>
        </p:nvSpPr>
        <p:spPr>
          <a:xfrm>
            <a:off x="365760" y="2240280"/>
            <a:ext cx="4206240" cy="1078992"/>
          </a:xfrm>
          <a:prstGeom prst="roundRect">
            <a:avLst>
              <a:gd name="adj" fmla="val 8475"/>
            </a:avLst>
          </a:prstGeom>
          <a:solidFill>
            <a:srgbClr val="F4F4F4"/>
          </a:solidFill>
          <a:ln w="12700">
            <a:solidFill>
              <a:srgbClr val="EBEBEB"/>
            </a:solidFill>
            <a:prstDash val="solid"/>
          </a:ln>
        </p:spPr>
      </p:sp>
      <p:sp>
        <p:nvSpPr>
          <p:cNvPr id="9" name="Text 7"/>
          <p:cNvSpPr txBox="1"/>
          <p:nvPr/>
        </p:nvSpPr>
        <p:spPr>
          <a:xfrm>
            <a:off x="548640" y="2313432"/>
            <a:ext cx="1097280" cy="41148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¿QUÉ?</a:t>
            </a:r>
            <a:endParaRPr lang="en-US" sz="1500" dirty="0"/>
          </a:p>
        </p:txBody>
      </p:sp>
      <p:sp>
        <p:nvSpPr>
          <p:cNvPr id="10" name="Text 8"/>
          <p:cNvSpPr txBox="1"/>
          <p:nvPr/>
        </p:nvSpPr>
        <p:spPr>
          <a:xfrm>
            <a:off x="548640" y="272491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Descripción del programa de constructabilidad del proyecto</a:t>
            </a:r>
            <a:endParaRPr lang="en-US" sz="1100" dirty="0"/>
          </a:p>
        </p:txBody>
      </p:sp>
      <p:sp>
        <p:nvSpPr>
          <p:cNvPr id="11" name="Shape 9"/>
          <p:cNvSpPr/>
          <p:nvPr/>
        </p:nvSpPr>
        <p:spPr>
          <a:xfrm>
            <a:off x="4754880" y="2240280"/>
            <a:ext cx="4206240" cy="1078992"/>
          </a:xfrm>
          <a:prstGeom prst="roundRect">
            <a:avLst>
              <a:gd name="adj" fmla="val 8475"/>
            </a:avLst>
          </a:prstGeom>
          <a:solidFill>
            <a:srgbClr val="F4F4F4"/>
          </a:solidFill>
          <a:ln w="12700">
            <a:solidFill>
              <a:srgbClr val="EBEBEB"/>
            </a:solidFill>
            <a:prstDash val="solid"/>
          </a:ln>
        </p:spPr>
      </p:sp>
      <p:sp>
        <p:nvSpPr>
          <p:cNvPr id="12" name="Text 10"/>
          <p:cNvSpPr txBox="1"/>
          <p:nvPr/>
        </p:nvSpPr>
        <p:spPr>
          <a:xfrm>
            <a:off x="4937760" y="2313432"/>
            <a:ext cx="1097280" cy="41148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¿POR QUÉ?</a:t>
            </a:r>
            <a:endParaRPr lang="en-US" sz="1500" dirty="0"/>
          </a:p>
        </p:txBody>
      </p:sp>
      <p:sp>
        <p:nvSpPr>
          <p:cNvPr id="13" name="Text 11"/>
          <p:cNvSpPr txBox="1"/>
          <p:nvPr/>
        </p:nvSpPr>
        <p:spPr>
          <a:xfrm>
            <a:off x="4937760" y="272491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Objetivos cuantificados: reducción de costo, cronograma y ratio B/C esperado</a:t>
            </a:r>
            <a:endParaRPr lang="en-US" sz="1100" dirty="0"/>
          </a:p>
        </p:txBody>
      </p:sp>
      <p:sp>
        <p:nvSpPr>
          <p:cNvPr id="14" name="Shape 12"/>
          <p:cNvSpPr/>
          <p:nvPr/>
        </p:nvSpPr>
        <p:spPr>
          <a:xfrm>
            <a:off x="365760" y="3429000"/>
            <a:ext cx="4206240" cy="1078992"/>
          </a:xfrm>
          <a:prstGeom prst="roundRect">
            <a:avLst>
              <a:gd name="adj" fmla="val 8475"/>
            </a:avLst>
          </a:prstGeom>
          <a:solidFill>
            <a:srgbClr val="F4F4F4"/>
          </a:solidFill>
          <a:ln w="12700">
            <a:solidFill>
              <a:srgbClr val="EBEBEB"/>
            </a:solidFill>
            <a:prstDash val="solid"/>
          </a:ln>
        </p:spPr>
      </p:sp>
      <p:sp>
        <p:nvSpPr>
          <p:cNvPr id="15" name="Text 13"/>
          <p:cNvSpPr txBox="1"/>
          <p:nvPr/>
        </p:nvSpPr>
        <p:spPr>
          <a:xfrm>
            <a:off x="548640" y="3502152"/>
            <a:ext cx="1097280" cy="41148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¿QUIÉN?</a:t>
            </a:r>
            <a:endParaRPr lang="en-US" sz="1500" dirty="0"/>
          </a:p>
        </p:txBody>
      </p:sp>
      <p:sp>
        <p:nvSpPr>
          <p:cNvPr id="16" name="Text 14"/>
          <p:cNvSpPr txBox="1"/>
          <p:nvPr/>
        </p:nvSpPr>
        <p:spPr>
          <a:xfrm>
            <a:off x="548640" y="391363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Roles y responsabilidades: Gerente de Constructabilidad, campeones por área</a:t>
            </a:r>
            <a:endParaRPr lang="en-US" sz="1100" dirty="0"/>
          </a:p>
        </p:txBody>
      </p:sp>
      <p:sp>
        <p:nvSpPr>
          <p:cNvPr id="17" name="Shape 15"/>
          <p:cNvSpPr/>
          <p:nvPr/>
        </p:nvSpPr>
        <p:spPr>
          <a:xfrm>
            <a:off x="4754880" y="3429000"/>
            <a:ext cx="4206240" cy="1078992"/>
          </a:xfrm>
          <a:prstGeom prst="roundRect">
            <a:avLst>
              <a:gd name="adj" fmla="val 8475"/>
            </a:avLst>
          </a:prstGeom>
          <a:solidFill>
            <a:srgbClr val="F4F4F4"/>
          </a:solidFill>
          <a:ln w="12700">
            <a:solidFill>
              <a:srgbClr val="EBEBEB"/>
            </a:solidFill>
            <a:prstDash val="solid"/>
          </a:ln>
        </p:spPr>
      </p:sp>
      <p:sp>
        <p:nvSpPr>
          <p:cNvPr id="18" name="Text 16"/>
          <p:cNvSpPr txBox="1"/>
          <p:nvPr/>
        </p:nvSpPr>
        <p:spPr>
          <a:xfrm>
            <a:off x="4937760" y="3502152"/>
            <a:ext cx="1097280" cy="41148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¿CUÁNDO?</a:t>
            </a:r>
            <a:endParaRPr lang="en-US" sz="1500" dirty="0"/>
          </a:p>
        </p:txBody>
      </p:sp>
      <p:sp>
        <p:nvSpPr>
          <p:cNvPr id="19" name="Text 17"/>
          <p:cNvSpPr txBox="1"/>
          <p:nvPr/>
        </p:nvSpPr>
        <p:spPr>
          <a:xfrm>
            <a:off x="4937760" y="391363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Timing de actividades de constructabilidad por fase del proyecto</a:t>
            </a:r>
            <a:endParaRPr lang="en-US" sz="1100" dirty="0"/>
          </a:p>
        </p:txBody>
      </p:sp>
      <p:sp>
        <p:nvSpPr>
          <p:cNvPr id="20" name="Shape 18"/>
          <p:cNvSpPr/>
          <p:nvPr/>
        </p:nvSpPr>
        <p:spPr>
          <a:xfrm>
            <a:off x="365760" y="4572000"/>
            <a:ext cx="8412480" cy="640080"/>
          </a:xfrm>
          <a:prstGeom prst="roundRect">
            <a:avLst>
              <a:gd name="adj" fmla="val 14286"/>
            </a:avLst>
          </a:prstGeom>
          <a:solidFill>
            <a:srgbClr val="F4F4F4"/>
          </a:solidFill>
          <a:ln w="12700">
            <a:solidFill>
              <a:srgbClr val="EBEBEB"/>
            </a:solidFill>
            <a:prstDash val="solid"/>
          </a:ln>
        </p:spPr>
      </p:sp>
      <p:sp>
        <p:nvSpPr>
          <p:cNvPr id="21" name="Text 19"/>
          <p:cNvSpPr txBox="1"/>
          <p:nvPr/>
        </p:nvSpPr>
        <p:spPr>
          <a:xfrm>
            <a:off x="548640" y="4645152"/>
            <a:ext cx="1005840" cy="36576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¿CÓMO?</a:t>
            </a:r>
            <a:endParaRPr lang="en-US" sz="1300" dirty="0"/>
          </a:p>
        </p:txBody>
      </p:sp>
      <p:sp>
        <p:nvSpPr>
          <p:cNvPr id="22" name="Text 20"/>
          <p:cNvSpPr txBox="1"/>
          <p:nvPr/>
        </p:nvSpPr>
        <p:spPr>
          <a:xfrm>
            <a:off x="1645920" y="4645152"/>
            <a:ext cx="6949440" cy="36576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Proceso, herramientas, base de datos de LL y sistema de seguimiento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18</a:t>
            </a:r>
            <a:endParaRPr lang="en-US" sz="900" dirty="0"/>
          </a:p>
        </p:txBody>
      </p:sp>
      <p:pic xmlns:p="http://schemas.openxmlformats.org/presentationml/2006/main" xmlns:a="http://schemas.openxmlformats.org/drawingml/2006/main" xmlns:r="http://schemas.openxmlformats.org/officeDocument/2006/relationships">
        <p:nvPicPr>
          <p:cNvPr id="8018" name="SlideIcon8018" descr="icon"/>
          <p:cNvPicPr>
            <a:picLocks noChangeAspect="1"/>
          </p:cNvPicPr>
          <p:nvPr/>
        </p:nvPicPr>
        <p:blipFill>
          <a:blip r:embed="rId9005"/>
          <a:stretch>
            <a:fillRect/>
          </a:stretch>
        </p:blipFill>
        <p:spPr>
          <a:xfrm>
            <a:off x="73152" y="118872"/>
            <a:ext cx="347472" cy="3474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Beneficios del PEP con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disciplina de planificación formal genera tres tipos de beneficios sistémicos:</a:t>
            </a:r>
            <a:endParaRPr lang="en-US" sz="1200" dirty="0"/>
          </a:p>
        </p:txBody>
      </p:sp>
      <p:sp>
        <p:nvSpPr>
          <p:cNvPr id="6" name="Shape 4"/>
          <p:cNvSpPr/>
          <p:nvPr/>
        </p:nvSpPr>
        <p:spPr>
          <a:xfrm>
            <a:off x="365760" y="1298448"/>
            <a:ext cx="4206240" cy="1691640"/>
          </a:xfrm>
          <a:prstGeom prst="roundRect">
            <a:avLst>
              <a:gd name="adj" fmla="val 6486"/>
            </a:avLst>
          </a:prstGeom>
          <a:solidFill>
            <a:srgbClr val="F4F4F4"/>
          </a:solidFill>
          <a:ln w="12700">
            <a:solidFill>
              <a:srgbClr val="0A84FF"/>
            </a:solidFill>
            <a:prstDash val="solid"/>
          </a:ln>
        </p:spPr>
      </p:sp>
      <p:sp>
        <p:nvSpPr>
          <p:cNvPr id="7" name="Text 5"/>
          <p:cNvSpPr txBox="1"/>
          <p:nvPr/>
        </p:nvSpPr>
        <p:spPr>
          <a:xfrm>
            <a:off x="45720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8" name="Text 6"/>
          <p:cNvSpPr txBox="1"/>
          <p:nvPr/>
        </p:nvSpPr>
        <p:spPr>
          <a:xfrm>
            <a:off x="1170432" y="1389888"/>
            <a:ext cx="3291840" cy="475488"/>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Disciplina de Planificación</a:t>
            </a:r>
            <a:endParaRPr lang="en-US" sz="1500" dirty="0"/>
          </a:p>
        </p:txBody>
      </p:sp>
      <p:sp>
        <p:nvSpPr>
          <p:cNvPr id="9" name="Text 7"/>
          <p:cNvSpPr txBox="1"/>
          <p:nvPr/>
        </p:nvSpPr>
        <p:spPr>
          <a:xfrm>
            <a:off x="54864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Impone una metodología rigurosa y anticipada para resolver problemas constructivos antes de que sean costosos de cambiar en diseño o campo.</a:t>
            </a:r>
            <a:endParaRPr lang="en-US" sz="1150" dirty="0"/>
          </a:p>
        </p:txBody>
      </p:sp>
      <p:sp>
        <p:nvSpPr>
          <p:cNvPr id="10" name="Shape 8"/>
          <p:cNvSpPr/>
          <p:nvPr/>
        </p:nvSpPr>
        <p:spPr>
          <a:xfrm>
            <a:off x="4754880" y="1298448"/>
            <a:ext cx="4206240" cy="1691640"/>
          </a:xfrm>
          <a:prstGeom prst="roundRect">
            <a:avLst>
              <a:gd name="adj" fmla="val 6486"/>
            </a:avLst>
          </a:prstGeom>
          <a:solidFill>
            <a:srgbClr val="F4F4F4"/>
          </a:solidFill>
          <a:ln w="12700">
            <a:solidFill>
              <a:srgbClr val="30D158"/>
            </a:solidFill>
            <a:prstDash val="solid"/>
          </a:ln>
        </p:spPr>
      </p:sp>
      <p:sp>
        <p:nvSpPr>
          <p:cNvPr id="11" name="Text 9"/>
          <p:cNvSpPr txBox="1"/>
          <p:nvPr/>
        </p:nvSpPr>
        <p:spPr>
          <a:xfrm>
            <a:off x="484632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2" name="Text 10"/>
          <p:cNvSpPr txBox="1"/>
          <p:nvPr/>
        </p:nvSpPr>
        <p:spPr>
          <a:xfrm>
            <a:off x="5559552" y="1389888"/>
            <a:ext cx="3291840" cy="475488"/>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Herramienta de Comunicación</a:t>
            </a:r>
            <a:endParaRPr lang="en-US" sz="1500" dirty="0"/>
          </a:p>
        </p:txBody>
      </p:sp>
      <p:sp>
        <p:nvSpPr>
          <p:cNvPr id="13" name="Text 11"/>
          <p:cNvSpPr txBox="1"/>
          <p:nvPr/>
        </p:nvSpPr>
        <p:spPr>
          <a:xfrm>
            <a:off x="493776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Facilita la integración entre ingeniería, procura y construcción. Los nuevos miembros del equipo tienen un punto de referencia claro.</a:t>
            </a:r>
            <a:endParaRPr lang="en-US" sz="1150" dirty="0"/>
          </a:p>
        </p:txBody>
      </p:sp>
      <p:sp>
        <p:nvSpPr>
          <p:cNvPr id="14" name="Shape 12"/>
          <p:cNvSpPr/>
          <p:nvPr/>
        </p:nvSpPr>
        <p:spPr>
          <a:xfrm>
            <a:off x="365760" y="3127248"/>
            <a:ext cx="4206240" cy="1691640"/>
          </a:xfrm>
          <a:prstGeom prst="roundRect">
            <a:avLst>
              <a:gd name="adj" fmla="val 6486"/>
            </a:avLst>
          </a:prstGeom>
          <a:solidFill>
            <a:srgbClr val="F4F4F4"/>
          </a:solidFill>
          <a:ln w="12700">
            <a:solidFill>
              <a:srgbClr val="FF9500"/>
            </a:solidFill>
            <a:prstDash val="solid"/>
          </a:ln>
        </p:spPr>
      </p:sp>
      <p:sp>
        <p:nvSpPr>
          <p:cNvPr id="15" name="Text 13"/>
          <p:cNvSpPr txBox="1"/>
          <p:nvPr/>
        </p:nvSpPr>
        <p:spPr>
          <a:xfrm>
            <a:off x="45720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6" name="Text 14"/>
          <p:cNvSpPr txBox="1"/>
          <p:nvPr/>
        </p:nvSpPr>
        <p:spPr>
          <a:xfrm>
            <a:off x="1170432" y="3218688"/>
            <a:ext cx="3291840" cy="475488"/>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Compromiso del Equipo</a:t>
            </a:r>
            <a:endParaRPr lang="en-US" sz="1500" dirty="0"/>
          </a:p>
        </p:txBody>
      </p:sp>
      <p:sp>
        <p:nvSpPr>
          <p:cNvPr id="17" name="Text 15"/>
          <p:cNvSpPr txBox="1"/>
          <p:nvPr/>
        </p:nvSpPr>
        <p:spPr>
          <a:xfrm>
            <a:off x="54864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Genera buy-in explícito de todos los actores del proyecto con los objetivos de constructabilidad. Alinea incentivos.</a:t>
            </a:r>
            <a:endParaRPr lang="en-US" sz="1150" dirty="0"/>
          </a:p>
        </p:txBody>
      </p:sp>
      <p:sp>
        <p:nvSpPr>
          <p:cNvPr id="18" name="Shape 16"/>
          <p:cNvSpPr/>
          <p:nvPr/>
        </p:nvSpPr>
        <p:spPr>
          <a:xfrm>
            <a:off x="4754880" y="3127248"/>
            <a:ext cx="4206240" cy="1691640"/>
          </a:xfrm>
          <a:prstGeom prst="roundRect">
            <a:avLst>
              <a:gd name="adj" fmla="val 6486"/>
            </a:avLst>
          </a:prstGeom>
          <a:solidFill>
            <a:srgbClr val="F4F4F4"/>
          </a:solidFill>
          <a:ln w="12700">
            <a:solidFill>
              <a:srgbClr val="AF52DE"/>
            </a:solidFill>
            <a:prstDash val="solid"/>
          </a:ln>
        </p:spPr>
      </p:sp>
      <p:sp>
        <p:nvSpPr>
          <p:cNvPr id="19" name="Text 17"/>
          <p:cNvSpPr txBox="1"/>
          <p:nvPr/>
        </p:nvSpPr>
        <p:spPr>
          <a:xfrm>
            <a:off x="484632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20" name="Text 18"/>
          <p:cNvSpPr txBox="1"/>
          <p:nvPr/>
        </p:nvSpPr>
        <p:spPr>
          <a:xfrm>
            <a:off x="5559552" y="3218688"/>
            <a:ext cx="3291840" cy="475488"/>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Continuidad entre Fases</a:t>
            </a:r>
            <a:endParaRPr lang="en-US" sz="1500" dirty="0"/>
          </a:p>
        </p:txBody>
      </p:sp>
      <p:sp>
        <p:nvSpPr>
          <p:cNvPr id="21" name="Text 19"/>
          <p:cNvSpPr txBox="1"/>
          <p:nvPr/>
        </p:nvSpPr>
        <p:spPr>
          <a:xfrm>
            <a:off x="493776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Garantiza que las decisiones de constructabilidad tomadas en conceptual se mantengan y se transfieran a las fases de diseño detallado y campo.</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19</a:t>
            </a:r>
            <a:endParaRPr lang="en-US" sz="900" dirty="0"/>
          </a:p>
        </p:txBody>
      </p:sp>
      <p:pic xmlns:p="http://schemas.openxmlformats.org/presentationml/2006/main" xmlns:a="http://schemas.openxmlformats.org/drawingml/2006/main" xmlns:r="http://schemas.openxmlformats.org/officeDocument/2006/relationships">
        <p:nvPicPr>
          <p:cNvPr id="8019" name="SlideIcon8019"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I-2: Conocimiento Constructivo en Factibilidad Temprana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planificación temprana de factibilidad aprovecha el conocimiento y experiencia de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El problema más frecuente:</a:t>
            </a:r>
            <a:endParaRPr lang="en-US" sz="1200" dirty="0"/>
          </a:p>
        </p:txBody>
      </p:sp>
      <p:sp>
        <p:nvSpPr>
          <p:cNvPr id="8" name="Shape 6"/>
          <p:cNvSpPr/>
          <p:nvPr/>
        </p:nvSpPr>
        <p:spPr>
          <a:xfrm>
            <a:off x="365760" y="2029968"/>
            <a:ext cx="4023360" cy="2651760"/>
          </a:xfrm>
          <a:prstGeom prst="roundRect">
            <a:avLst>
              <a:gd name="adj" fmla="val 4138"/>
            </a:avLst>
          </a:prstGeom>
          <a:solidFill>
            <a:srgbClr val="F4F4F4"/>
          </a:solidFill>
          <a:ln w="12700">
            <a:solidFill>
              <a:srgbClr val="FF453A"/>
            </a:solidFill>
            <a:prstDash val="solid"/>
          </a:ln>
        </p:spPr>
      </p:sp>
      <p:sp>
        <p:nvSpPr>
          <p:cNvPr id="9" name="Text 7"/>
          <p:cNvSpPr txBox="1"/>
          <p:nvPr/>
        </p:nvSpPr>
        <p:spPr>
          <a:xfrm>
            <a:off x="548640" y="2121408"/>
            <a:ext cx="3657600" cy="5486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 La construcción es típicamente EXCLUIDA de la etapa de factibilidad</a:t>
            </a:r>
            <a:endParaRPr lang="en-US" sz="1200" dirty="0"/>
          </a:p>
        </p:txBody>
      </p:sp>
      <p:sp>
        <p:nvSpPr>
          <p:cNvPr id="10" name="Text 8"/>
          <p:cNvSpPr txBox="1"/>
          <p:nvPr/>
        </p:nvSpPr>
        <p:spPr>
          <a:xfrm>
            <a:off x="548640" y="2724912"/>
            <a:ext cx="3657600" cy="1828800"/>
          </a:xfrm>
          <a:prstGeom prst="rect">
            <a:avLst/>
          </a:prstGeom>
          <a:noFill/>
          <a:ln/>
        </p:spPr>
        <p:txBody>
          <a:bodyPr wrap="square" lIns="0" tIns="0" rIns="0" bIns="0" rtlCol="0" anchor="ctr"/>
          <a:lstStyle/>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El equipo de planificación es restringido a especialistas técnicos/financieros</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Decisiones clave se toman sin considerar su impacto en la ejecución</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Los constructores llegan "tarde" cuando los cambios son costosos</a:t>
            </a:r>
            <a:endParaRPr lang="en-US" sz="1100" dirty="0"/>
          </a:p>
        </p:txBody>
      </p:sp>
      <p:sp>
        <p:nvSpPr>
          <p:cNvPr id="11" name="Text 9"/>
          <p:cNvSpPr txBox="1"/>
          <p:nvPr/>
        </p:nvSpPr>
        <p:spPr>
          <a:xfrm>
            <a:off x="4663440" y="1719072"/>
            <a:ext cx="411480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Temas clave donde aplica:</a:t>
            </a:r>
            <a:endParaRPr lang="en-US" sz="1200" dirty="0"/>
          </a:p>
        </p:txBody>
      </p:sp>
      <p:sp>
        <p:nvSpPr>
          <p:cNvPr id="12" name="Shape 10"/>
          <p:cNvSpPr/>
          <p:nvPr/>
        </p:nvSpPr>
        <p:spPr>
          <a:xfrm>
            <a:off x="4663440" y="2029968"/>
            <a:ext cx="4114800" cy="594360"/>
          </a:xfrm>
          <a:prstGeom prst="roundRect">
            <a:avLst>
              <a:gd name="adj" fmla="val 15385"/>
            </a:avLst>
          </a:prstGeom>
          <a:solidFill>
            <a:srgbClr val="F4F4F4"/>
          </a:solidFill>
          <a:ln w="12700">
            <a:solidFill>
              <a:srgbClr val="EBEBEB"/>
            </a:solidFill>
            <a:prstDash val="solid"/>
          </a:ln>
        </p:spPr>
      </p:sp>
      <p:sp>
        <p:nvSpPr>
          <p:cNvPr id="13" name="Text 11"/>
          <p:cNvSpPr txBox="1"/>
          <p:nvPr/>
        </p:nvSpPr>
        <p:spPr>
          <a:xfrm>
            <a:off x="4800600" y="2084832"/>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Selección de Sitio</a:t>
            </a:r>
            <a:endParaRPr lang="en-US" sz="1200" dirty="0"/>
          </a:p>
        </p:txBody>
      </p:sp>
      <p:sp>
        <p:nvSpPr>
          <p:cNvPr id="14" name="Text 12"/>
          <p:cNvSpPr txBox="1"/>
          <p:nvPr/>
        </p:nvSpPr>
        <p:spPr>
          <a:xfrm>
            <a:off x="4800600" y="2322576"/>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Evaluar accesos, condiciones geotécnicas, servicios disponibles, distancias a centros de fabricación y mano de obra calificada.</a:t>
            </a:r>
            <a:endParaRPr lang="en-US" sz="1050" dirty="0"/>
          </a:p>
        </p:txBody>
      </p:sp>
      <p:sp>
        <p:nvSpPr>
          <p:cNvPr id="15" name="Shape 13"/>
          <p:cNvSpPr/>
          <p:nvPr/>
        </p:nvSpPr>
        <p:spPr>
          <a:xfrm>
            <a:off x="4663440" y="2688336"/>
            <a:ext cx="4114800" cy="594360"/>
          </a:xfrm>
          <a:prstGeom prst="roundRect">
            <a:avLst>
              <a:gd name="adj" fmla="val 15385"/>
            </a:avLst>
          </a:prstGeom>
          <a:solidFill>
            <a:srgbClr val="F4F4F4"/>
          </a:solidFill>
          <a:ln w="12700">
            <a:solidFill>
              <a:srgbClr val="EBEBEB"/>
            </a:solidFill>
            <a:prstDash val="solid"/>
          </a:ln>
        </p:spPr>
      </p:sp>
      <p:sp>
        <p:nvSpPr>
          <p:cNvPr id="16" name="Text 14"/>
          <p:cNvSpPr txBox="1"/>
          <p:nvPr/>
        </p:nvSpPr>
        <p:spPr>
          <a:xfrm>
            <a:off x="4800600" y="2743200"/>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Prioridades del Proyecto</a:t>
            </a:r>
            <a:endParaRPr lang="en-US" sz="1200" dirty="0"/>
          </a:p>
        </p:txBody>
      </p:sp>
      <p:sp>
        <p:nvSpPr>
          <p:cNvPr id="17" name="Text 15"/>
          <p:cNvSpPr txBox="1"/>
          <p:nvPr/>
        </p:nvSpPr>
        <p:spPr>
          <a:xfrm>
            <a:off x="4800600" y="2980944"/>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Establecer la jerarquía real de objetivos: ¿costo, cronograma, calidad o seguridad es primero?</a:t>
            </a:r>
            <a:endParaRPr lang="en-US" sz="1050" dirty="0"/>
          </a:p>
        </p:txBody>
      </p:sp>
      <p:sp>
        <p:nvSpPr>
          <p:cNvPr id="18" name="Shape 16"/>
          <p:cNvSpPr/>
          <p:nvPr/>
        </p:nvSpPr>
        <p:spPr>
          <a:xfrm>
            <a:off x="4663440" y="3346704"/>
            <a:ext cx="4114800" cy="594360"/>
          </a:xfrm>
          <a:prstGeom prst="roundRect">
            <a:avLst>
              <a:gd name="adj" fmla="val 15385"/>
            </a:avLst>
          </a:prstGeom>
          <a:solidFill>
            <a:srgbClr val="F4F4F4"/>
          </a:solidFill>
          <a:ln w="12700">
            <a:solidFill>
              <a:srgbClr val="EBEBEB"/>
            </a:solidFill>
            <a:prstDash val="solid"/>
          </a:ln>
        </p:spPr>
      </p:sp>
      <p:sp>
        <p:nvSpPr>
          <p:cNvPr id="19" name="Text 17"/>
          <p:cNvSpPr txBox="1"/>
          <p:nvPr/>
        </p:nvSpPr>
        <p:spPr>
          <a:xfrm>
            <a:off x="4800600" y="3401568"/>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Factibilidad de Presupuesto</a:t>
            </a:r>
            <a:endParaRPr lang="en-US" sz="1200" dirty="0"/>
          </a:p>
        </p:txBody>
      </p:sp>
      <p:sp>
        <p:nvSpPr>
          <p:cNvPr id="20" name="Text 18"/>
          <p:cNvSpPr txBox="1"/>
          <p:nvPr/>
        </p:nvSpPr>
        <p:spPr>
          <a:xfrm>
            <a:off x="4800600" y="3639312"/>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Validar estimados con datos reales de productividad de campo — no solo con costos de ingeniería.</a:t>
            </a:r>
            <a:endParaRPr lang="en-US" sz="1050" dirty="0"/>
          </a:p>
        </p:txBody>
      </p:sp>
      <p:sp>
        <p:nvSpPr>
          <p:cNvPr id="21" name="Shape 19"/>
          <p:cNvSpPr/>
          <p:nvPr/>
        </p:nvSpPr>
        <p:spPr>
          <a:xfrm>
            <a:off x="4663440" y="4005072"/>
            <a:ext cx="4114800" cy="594360"/>
          </a:xfrm>
          <a:prstGeom prst="roundRect">
            <a:avLst>
              <a:gd name="adj" fmla="val 15385"/>
            </a:avLst>
          </a:prstGeom>
          <a:solidFill>
            <a:srgbClr val="F4F4F4"/>
          </a:solidFill>
          <a:ln w="12700">
            <a:solidFill>
              <a:srgbClr val="EBEBEB"/>
            </a:solidFill>
            <a:prstDash val="solid"/>
          </a:ln>
        </p:spPr>
      </p:sp>
      <p:sp>
        <p:nvSpPr>
          <p:cNvPr id="22" name="Text 20"/>
          <p:cNvSpPr txBox="1"/>
          <p:nvPr/>
        </p:nvSpPr>
        <p:spPr>
          <a:xfrm>
            <a:off x="4800600" y="4059936"/>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Recursos y Proveedores</a:t>
            </a:r>
            <a:endParaRPr lang="en-US" sz="1200" dirty="0"/>
          </a:p>
        </p:txBody>
      </p:sp>
      <p:sp>
        <p:nvSpPr>
          <p:cNvPr id="23" name="Text 21"/>
          <p:cNvSpPr txBox="1"/>
          <p:nvPr/>
        </p:nvSpPr>
        <p:spPr>
          <a:xfrm>
            <a:off x="4800600" y="4297680"/>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disponibilidad de mano de obra, equipos especiales y fabricantes estratégicos.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20</a:t>
            </a:r>
            <a:endParaRPr lang="en-US" sz="900" dirty="0"/>
          </a:p>
        </p:txBody>
      </p:sp>
      <p:pic xmlns:p="http://schemas.openxmlformats.org/presentationml/2006/main" xmlns:a="http://schemas.openxmlformats.org/drawingml/2006/main" xmlns:r="http://schemas.openxmlformats.org/officeDocument/2006/relationships">
        <p:nvPicPr>
          <p:cNvPr id="8020" name="SlideIcon8020"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I-3: Estrategia de Contratación con Input Constructivo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30D158"/>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"El desarrollo de la estrategia de contratación del proyecto involucra conocimiento y experiencia de construcción."</a:t>
            </a:r>
            <a:endParaRPr lang="en-US" sz="1500" dirty="0"/>
          </a:p>
        </p:txBody>
      </p:sp>
      <p:sp>
        <p:nvSpPr>
          <p:cNvPr id="7" name="Text 5"/>
          <p:cNvSpPr txBox="1"/>
          <p:nvPr/>
        </p:nvSpPr>
        <p:spPr>
          <a:xfrm>
            <a:off x="365760" y="1719072"/>
            <a:ext cx="45720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 Opciones Básicas de Contratación</a:t>
            </a:r>
            <a:endParaRPr lang="en-US" sz="1200" dirty="0"/>
          </a:p>
        </p:txBody>
      </p:sp>
      <p:sp>
        <p:nvSpPr>
          <p:cNvPr id="8" name="Shape 6"/>
          <p:cNvSpPr/>
          <p:nvPr/>
        </p:nvSpPr>
        <p:spPr>
          <a:xfrm>
            <a:off x="365760" y="2103120"/>
            <a:ext cx="4206240" cy="502920"/>
          </a:xfrm>
          <a:prstGeom prst="roundRect">
            <a:avLst>
              <a:gd name="adj" fmla="val 14545"/>
            </a:avLst>
          </a:prstGeom>
          <a:solidFill>
            <a:srgbClr val="F4F4F4"/>
          </a:solidFill>
          <a:ln w="12700">
            <a:solidFill>
              <a:srgbClr val="0A84FF"/>
            </a:solidFill>
            <a:prstDash val="solid"/>
          </a:ln>
        </p:spPr>
      </p:sp>
      <p:sp>
        <p:nvSpPr>
          <p:cNvPr id="9" name="Text 7"/>
          <p:cNvSpPr txBox="1"/>
          <p:nvPr/>
        </p:nvSpPr>
        <p:spPr>
          <a:xfrm>
            <a:off x="548640" y="2176272"/>
            <a:ext cx="3840480" cy="347472"/>
          </a:xfrm>
          <a:prstGeom prst="rect">
            <a:avLst/>
          </a:prstGeom>
          <a:noFill/>
          <a:ln/>
        </p:spPr>
        <p:txBody>
          <a:bodyPr wrap="square" lIns="0" tIns="0" rIns="0" bIns="0" rtlCol="0" anchor="ctr"/>
          <a:lstStyle/>
          <a:p>
            <a:pPr indent="0" marL="0">
              <a:buNone/>
            </a:pPr>
            <a:r>
              <a:rPr lang="en-US" sz="1300" dirty="0">
                <a:solidFill>
                  <a:srgbClr val="0A84FF"/>
                </a:solidFill>
                <a:latin typeface="Atkinson Hyperlegible" pitchFamily="34" charset="0"/>
                <a:ea typeface="Atkinson Hyperlegible" pitchFamily="34" charset="-122"/>
                <a:cs typeface="Atkinson Hyperlegible" pitchFamily="34" charset="-120"/>
              </a:rPr>
              <a:t>1. Design-Build</a:t>
            </a:r>
            <a:endParaRPr lang="en-US" sz="1300" dirty="0"/>
          </a:p>
        </p:txBody>
      </p:sp>
      <p:sp>
        <p:nvSpPr>
          <p:cNvPr id="10" name="Shape 8"/>
          <p:cNvSpPr/>
          <p:nvPr/>
        </p:nvSpPr>
        <p:spPr>
          <a:xfrm>
            <a:off x="4754880" y="2103120"/>
            <a:ext cx="4206240" cy="502920"/>
          </a:xfrm>
          <a:prstGeom prst="roundRect">
            <a:avLst>
              <a:gd name="adj" fmla="val 14545"/>
            </a:avLst>
          </a:prstGeom>
          <a:solidFill>
            <a:srgbClr val="F4F4F4"/>
          </a:solidFill>
          <a:ln w="12700">
            <a:solidFill>
              <a:srgbClr val="30D158"/>
            </a:solidFill>
            <a:prstDash val="solid"/>
          </a:ln>
        </p:spPr>
      </p:sp>
      <p:sp>
        <p:nvSpPr>
          <p:cNvPr id="11" name="Text 9"/>
          <p:cNvSpPr txBox="1"/>
          <p:nvPr/>
        </p:nvSpPr>
        <p:spPr>
          <a:xfrm>
            <a:off x="4937760" y="2176272"/>
            <a:ext cx="3840480" cy="347472"/>
          </a:xfrm>
          <a:prstGeom prst="rect">
            <a:avLst/>
          </a:prstGeom>
          <a:noFill/>
          <a:ln/>
        </p:spPr>
        <p:txBody>
          <a:bodyPr wrap="square" lIns="0" tIns="0" rIns="0" bIns="0" rtlCol="0" anchor="ctr"/>
          <a:lstStyle/>
          <a:p>
            <a:pPr indent="0" marL="0">
              <a:buNone/>
            </a:pPr>
            <a:r>
              <a:rPr lang="en-US" sz="1300" dirty="0">
                <a:solidFill>
                  <a:srgbClr val="30D158"/>
                </a:solidFill>
                <a:latin typeface="Atkinson Hyperlegible" pitchFamily="34" charset="0"/>
                <a:ea typeface="Atkinson Hyperlegible" pitchFamily="34" charset="-122"/>
                <a:cs typeface="Atkinson Hyperlegible" pitchFamily="34" charset="-120"/>
              </a:rPr>
              <a:t>2. Llave en Mano (EPC)</a:t>
            </a:r>
            <a:endParaRPr lang="en-US" sz="1300" dirty="0"/>
          </a:p>
        </p:txBody>
      </p:sp>
      <p:sp>
        <p:nvSpPr>
          <p:cNvPr id="12" name="Shape 10"/>
          <p:cNvSpPr/>
          <p:nvPr/>
        </p:nvSpPr>
        <p:spPr>
          <a:xfrm>
            <a:off x="365760" y="2697480"/>
            <a:ext cx="4206240" cy="502920"/>
          </a:xfrm>
          <a:prstGeom prst="roundRect">
            <a:avLst>
              <a:gd name="adj" fmla="val 14545"/>
            </a:avLst>
          </a:prstGeom>
          <a:solidFill>
            <a:srgbClr val="F4F4F4"/>
          </a:solidFill>
          <a:ln w="12700">
            <a:solidFill>
              <a:srgbClr val="FF9500"/>
            </a:solidFill>
            <a:prstDash val="solid"/>
          </a:ln>
        </p:spPr>
      </p:sp>
      <p:sp>
        <p:nvSpPr>
          <p:cNvPr id="13" name="Text 11"/>
          <p:cNvSpPr txBox="1"/>
          <p:nvPr/>
        </p:nvSpPr>
        <p:spPr>
          <a:xfrm>
            <a:off x="548640" y="2770632"/>
            <a:ext cx="3840480" cy="347472"/>
          </a:xfrm>
          <a:prstGeom prst="rect">
            <a:avLst/>
          </a:prstGeom>
          <a:noFill/>
          <a:ln/>
        </p:spPr>
        <p:txBody>
          <a:bodyPr wrap="square" lIns="0" tIns="0" rIns="0" bIns="0" rtlCol="0" anchor="ctr"/>
          <a:lstStyle/>
          <a:p>
            <a:pPr indent="0" marL="0">
              <a:buNone/>
            </a:pPr>
            <a:r>
              <a:rPr lang="en-US" sz="1300" dirty="0">
                <a:solidFill>
                  <a:srgbClr val="FF9500"/>
                </a:solidFill>
                <a:latin typeface="Atkinson Hyperlegible" pitchFamily="34" charset="0"/>
                <a:ea typeface="Atkinson Hyperlegible" pitchFamily="34" charset="-122"/>
                <a:cs typeface="Atkinson Hyperlegible" pitchFamily="34" charset="-120"/>
              </a:rPr>
              <a:t>3. CM at Risk</a:t>
            </a:r>
            <a:endParaRPr lang="en-US" sz="1300" dirty="0"/>
          </a:p>
        </p:txBody>
      </p:sp>
      <p:sp>
        <p:nvSpPr>
          <p:cNvPr id="14" name="Shape 12"/>
          <p:cNvSpPr/>
          <p:nvPr/>
        </p:nvSpPr>
        <p:spPr>
          <a:xfrm>
            <a:off x="4754880" y="2697480"/>
            <a:ext cx="4206240" cy="502920"/>
          </a:xfrm>
          <a:prstGeom prst="roundRect">
            <a:avLst>
              <a:gd name="adj" fmla="val 14545"/>
            </a:avLst>
          </a:prstGeom>
          <a:solidFill>
            <a:srgbClr val="F4F4F4"/>
          </a:solidFill>
          <a:ln w="12700">
            <a:solidFill>
              <a:srgbClr val="AF52DE"/>
            </a:solidFill>
            <a:prstDash val="solid"/>
          </a:ln>
        </p:spPr>
      </p:sp>
      <p:sp>
        <p:nvSpPr>
          <p:cNvPr id="15" name="Text 13"/>
          <p:cNvSpPr txBox="1"/>
          <p:nvPr/>
        </p:nvSpPr>
        <p:spPr>
          <a:xfrm>
            <a:off x="4937760" y="2770632"/>
            <a:ext cx="3840480" cy="347472"/>
          </a:xfrm>
          <a:prstGeom prst="rect">
            <a:avLst/>
          </a:prstGeom>
          <a:noFill/>
          <a:ln/>
        </p:spPr>
        <p:txBody>
          <a:bodyPr wrap="square" lIns="0" tIns="0" rIns="0" bIns="0" rtlCol="0" anchor="ctr"/>
          <a:lstStyle/>
          <a:p>
            <a:pPr indent="0" marL="0">
              <a:buNone/>
            </a:pPr>
            <a:r>
              <a:rPr lang="en-US" sz="1300" dirty="0">
                <a:solidFill>
                  <a:srgbClr val="AF52DE"/>
                </a:solidFill>
                <a:latin typeface="Atkinson Hyperlegible" pitchFamily="34" charset="0"/>
                <a:ea typeface="Atkinson Hyperlegible" pitchFamily="34" charset="-122"/>
                <a:cs typeface="Atkinson Hyperlegible" pitchFamily="34" charset="-120"/>
              </a:rPr>
              <a:t>4. Fast-Track con múltiples primos</a:t>
            </a:r>
            <a:endParaRPr lang="en-US" sz="1300" dirty="0"/>
          </a:p>
        </p:txBody>
      </p:sp>
      <p:sp>
        <p:nvSpPr>
          <p:cNvPr id="16" name="Shape 14"/>
          <p:cNvSpPr/>
          <p:nvPr/>
        </p:nvSpPr>
        <p:spPr>
          <a:xfrm>
            <a:off x="365760" y="3291840"/>
            <a:ext cx="4206240" cy="502920"/>
          </a:xfrm>
          <a:prstGeom prst="roundRect">
            <a:avLst>
              <a:gd name="adj" fmla="val 14545"/>
            </a:avLst>
          </a:prstGeom>
          <a:solidFill>
            <a:srgbClr val="F4F4F4"/>
          </a:solidFill>
          <a:ln w="12700">
            <a:solidFill>
              <a:srgbClr val="55577A"/>
            </a:solidFill>
            <a:prstDash val="solid"/>
          </a:ln>
        </p:spPr>
      </p:sp>
      <p:sp>
        <p:nvSpPr>
          <p:cNvPr id="17" name="Text 15"/>
          <p:cNvSpPr txBox="1"/>
          <p:nvPr/>
        </p:nvSpPr>
        <p:spPr>
          <a:xfrm>
            <a:off x="548640" y="3364992"/>
            <a:ext cx="384048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5. Contrato unitario estándar</a:t>
            </a:r>
            <a:endParaRPr lang="en-US" sz="1300" dirty="0"/>
          </a:p>
        </p:txBody>
      </p:sp>
      <p:sp>
        <p:nvSpPr>
          <p:cNvPr id="18" name="Shape 16"/>
          <p:cNvSpPr/>
          <p:nvPr/>
        </p:nvSpPr>
        <p:spPr>
          <a:xfrm>
            <a:off x="4754880" y="3291840"/>
            <a:ext cx="4206240" cy="502920"/>
          </a:xfrm>
          <a:prstGeom prst="roundRect">
            <a:avLst>
              <a:gd name="adj" fmla="val 14545"/>
            </a:avLst>
          </a:prstGeom>
          <a:solidFill>
            <a:srgbClr val="F4F4F4"/>
          </a:solidFill>
          <a:ln w="12700">
            <a:solidFill>
              <a:srgbClr val="FFD60A"/>
            </a:solidFill>
            <a:prstDash val="solid"/>
          </a:ln>
        </p:spPr>
      </p:sp>
      <p:sp>
        <p:nvSpPr>
          <p:cNvPr id="19" name="Text 17"/>
          <p:cNvSpPr txBox="1"/>
          <p:nvPr/>
        </p:nvSpPr>
        <p:spPr>
          <a:xfrm>
            <a:off x="4937760" y="3364992"/>
            <a:ext cx="3840480" cy="347472"/>
          </a:xfrm>
          <a:prstGeom prst="rect">
            <a:avLst/>
          </a:prstGeom>
          <a:noFill/>
          <a:ln/>
        </p:spPr>
        <p:txBody>
          <a:bodyPr wrap="square" lIns="0" tIns="0" rIns="0" bIns="0" rtlCol="0" anchor="ctr"/>
          <a:lstStyle/>
          <a:p>
            <a:pPr indent="0" marL="0">
              <a:buNone/>
            </a:pPr>
            <a:r>
              <a:rPr lang="en-US" sz="1300" dirty="0">
                <a:solidFill>
                  <a:srgbClr val="FFD60A"/>
                </a:solidFill>
                <a:latin typeface="Atkinson Hyperlegible" pitchFamily="34" charset="0"/>
                <a:ea typeface="Atkinson Hyperlegible" pitchFamily="34" charset="-122"/>
                <a:cs typeface="Atkinson Hyperlegible" pitchFamily="34" charset="-120"/>
              </a:rPr>
              <a:t>6. Sistemas de incentivos (gain-share)</a:t>
            </a:r>
            <a:endParaRPr lang="en-US" sz="1300" dirty="0"/>
          </a:p>
        </p:txBody>
      </p:sp>
      <p:sp>
        <p:nvSpPr>
          <p:cNvPr id="20" name="Shape 18"/>
          <p:cNvSpPr/>
          <p:nvPr/>
        </p:nvSpPr>
        <p:spPr>
          <a:xfrm>
            <a:off x="365760" y="4572000"/>
            <a:ext cx="8412480" cy="548640"/>
          </a:xfrm>
          <a:prstGeom prst="roundRect">
            <a:avLst>
              <a:gd name="adj" fmla="val 13333"/>
            </a:avLst>
          </a:prstGeom>
          <a:solidFill>
            <a:srgbClr val="F4F4F4"/>
          </a:solidFill>
          <a:ln w="12700">
            <a:solidFill>
              <a:srgbClr val="FF453A"/>
            </a:solidFill>
            <a:prstDash val="solid"/>
          </a:ln>
        </p:spPr>
      </p:sp>
      <p:sp>
        <p:nvSpPr>
          <p:cNvPr id="21" name="Text 19"/>
          <p:cNvSpPr txBox="1"/>
          <p:nvPr/>
        </p:nvSpPr>
        <p:spPr>
          <a:xfrm>
            <a:off x="548640" y="4663440"/>
            <a:ext cx="8046720" cy="365760"/>
          </a:xfrm>
          <a:prstGeom prst="rect">
            <a:avLst/>
          </a:prstGeom>
          <a:noFill/>
          <a:ln/>
        </p:spPr>
        <p:txBody>
          <a:bodyPr wrap="square" lIns="0" tIns="0" rIns="0" bIns="0" rtlCol="0" anchor="ctr"/>
          <a:lstStyle/>
          <a:p>
            <a:pPr indent="0" marL="0">
              <a:buNone/>
            </a:pPr>
            <a:r>
              <a:rPr lang="en-US" sz="1300" dirty="0">
                <a:solidFill>
                  <a:srgbClr val="FF453A"/>
                </a:solidFill>
                <a:latin typeface="Atkinson Hyperlegible" pitchFamily="34" charset="0"/>
                <a:ea typeface="Atkinson Hyperlegible" pitchFamily="34" charset="-122"/>
                <a:cs typeface="Atkinson Hyperlegible" pitchFamily="34" charset="-120"/>
              </a:rPr>
              <a:t>7. Alianzas estratégicas (partnerships)</a:t>
            </a:r>
            <a:endParaRPr lang="en-US" sz="1300" dirty="0"/>
          </a:p>
        </p:txBody>
      </p:sp>
      <p:sp>
        <p:nvSpPr>
          <p:cNvPr id="22" name="Text 20"/>
          <p:cNvSpPr txBox="1"/>
          <p:nvPr/>
        </p:nvSpPr>
        <p:spPr>
          <a:xfrm>
            <a:off x="365760" y="4206240"/>
            <a:ext cx="8412480" cy="274320"/>
          </a:xfrm>
          <a:prstGeom prst="rect">
            <a:avLst/>
          </a:prstGeom>
          <a:noFill/>
          <a:ln/>
        </p:spPr>
        <p:txBody>
          <a:bodyPr wrap="square" lIns="0" tIns="0" rIns="0" bIns="0" rtlCol="0" anchor="ctr"/>
          <a:lstStyle/>
          <a:p>
            <a:pPr indent="0" marL="0">
              <a:buNone/>
            </a:pPr>
            <a:r>
              <a:rPr lang="en-US" sz="1200" b="1" dirty="0">
                <a:solidFill>
                  <a:srgbClr val="55577A"/>
                </a:solidFill>
                <a:latin typeface="Atkinson Hyperlegible" pitchFamily="34" charset="0"/>
                <a:ea typeface="Atkinson Hyperlegible" pitchFamily="34" charset="-122"/>
                <a:cs typeface="Atkinson Hyperlegible" pitchFamily="34" charset="-120"/>
              </a:rPr>
              <a:t>Métodos Innovadores que Maximizan el Aporte Constructivo: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21</a:t>
            </a:r>
            <a:endParaRPr lang="en-US" sz="900" dirty="0"/>
          </a:p>
        </p:txBody>
      </p:sp>
      <p:pic xmlns:p="http://schemas.openxmlformats.org/presentationml/2006/main" xmlns:a="http://schemas.openxmlformats.org/drawingml/2006/main" xmlns:r="http://schemas.openxmlformats.org/officeDocument/2006/relationships">
        <p:nvPicPr>
          <p:cNvPr id="8021" name="SlideIcon8021"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I-4: Cronogramas Orientados a la Construcción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FF9500"/>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del proyecto son sensibles a la construcción y al arranque."</a:t>
            </a:r>
            <a:endParaRPr lang="en-US" sz="1500" dirty="0"/>
          </a:p>
        </p:txBody>
      </p:sp>
      <p:sp>
        <p:nvSpPr>
          <p:cNvPr id="7" name="Shape 5"/>
          <p:cNvSpPr/>
          <p:nvPr/>
        </p:nvSpPr>
        <p:spPr>
          <a:xfrm>
            <a:off x="365760" y="1719072"/>
            <a:ext cx="2788920" cy="3429000"/>
          </a:xfrm>
          <a:prstGeom prst="roundRect">
            <a:avLst>
              <a:gd name="adj" fmla="val 3279"/>
            </a:avLst>
          </a:prstGeom>
          <a:solidFill>
            <a:srgbClr val="F4F4F4"/>
          </a:solidFill>
          <a:ln w="12700">
            <a:solidFill>
              <a:srgbClr val="EBEBEB"/>
            </a:solidFill>
            <a:prstDash val="solid"/>
          </a:ln>
        </p:spPr>
      </p:sp>
      <p:sp>
        <p:nvSpPr>
          <p:cNvPr id="8" name="Shape 6"/>
          <p:cNvSpPr/>
          <p:nvPr/>
        </p:nvSpPr>
        <p:spPr>
          <a:xfrm>
            <a:off x="365760" y="1719072"/>
            <a:ext cx="2788920" cy="411480"/>
          </a:xfrm>
          <a:prstGeom prst="roundRect">
            <a:avLst>
              <a:gd name="adj" fmla="val 22222"/>
            </a:avLst>
          </a:prstGeom>
          <a:solidFill>
            <a:srgbClr val="FF9500"/>
          </a:solidFill>
          <a:ln/>
        </p:spPr>
      </p:sp>
      <p:sp>
        <p:nvSpPr>
          <p:cNvPr id="9" name="Shape 7"/>
          <p:cNvSpPr/>
          <p:nvPr/>
        </p:nvSpPr>
        <p:spPr>
          <a:xfrm>
            <a:off x="365760" y="1938528"/>
            <a:ext cx="2788920" cy="192024"/>
          </a:xfrm>
          <a:prstGeom prst="rect">
            <a:avLst/>
          </a:prstGeom>
          <a:solidFill>
            <a:srgbClr val="FF9500"/>
          </a:solidFill>
          <a:ln/>
        </p:spPr>
      </p:sp>
      <p:sp>
        <p:nvSpPr>
          <p:cNvPr id="10" name="Text 8"/>
          <p:cNvSpPr txBox="1"/>
          <p:nvPr/>
        </p:nvSpPr>
        <p:spPr>
          <a:xfrm>
            <a:off x="47548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Principios Clave</a:t>
            </a:r>
            <a:endParaRPr lang="en-US" sz="1300" dirty="0"/>
          </a:p>
        </p:txBody>
      </p:sp>
      <p:sp>
        <p:nvSpPr>
          <p:cNvPr id="11" name="Text 9"/>
          <p:cNvSpPr txBox="1"/>
          <p:nvPr/>
        </p:nvSpPr>
        <p:spPr>
          <a:xfrm>
            <a:off x="47548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La constructabilidad es la clave para alcanzar objetivos de cronograma</a:t>
            </a:r>
            <a:endParaRPr lang="en-US" sz="1050" dirty="0"/>
          </a:p>
        </p:txBody>
      </p:sp>
      <p:sp>
        <p:nvSpPr>
          <p:cNvPr id="12" name="Text 10"/>
          <p:cNvSpPr txBox="1"/>
          <p:nvPr/>
        </p:nvSpPr>
        <p:spPr>
          <a:xfrm>
            <a:off x="47548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Requiere desarrollo temprano del cronograma master</a:t>
            </a:r>
            <a:endParaRPr lang="en-US" sz="1050" dirty="0"/>
          </a:p>
        </p:txBody>
      </p:sp>
      <p:sp>
        <p:nvSpPr>
          <p:cNvPr id="13" name="Text 11"/>
          <p:cNvSpPr txBox="1"/>
          <p:nvPr/>
        </p:nvSpPr>
        <p:spPr>
          <a:xfrm>
            <a:off x="47548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Asignación económica y realista de tiempo a cada fase</a:t>
            </a:r>
            <a:endParaRPr lang="en-US" sz="1050" dirty="0"/>
          </a:p>
        </p:txBody>
      </p:sp>
      <p:sp>
        <p:nvSpPr>
          <p:cNvPr id="14" name="Text 12"/>
          <p:cNvSpPr txBox="1"/>
          <p:nvPr/>
        </p:nvSpPr>
        <p:spPr>
          <a:xfrm>
            <a:off x="47548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Cronograma de diseño y procura basado en el cronograma de construcción</a:t>
            </a:r>
            <a:endParaRPr lang="en-US" sz="1050" dirty="0"/>
          </a:p>
        </p:txBody>
      </p:sp>
      <p:sp>
        <p:nvSpPr>
          <p:cNvPr id="15" name="Text 13"/>
          <p:cNvSpPr txBox="1"/>
          <p:nvPr/>
        </p:nvSpPr>
        <p:spPr>
          <a:xfrm>
            <a:off x="47548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Aplicar "backward pass": desde fechas de arranque hacia atrás</a:t>
            </a:r>
            <a:endParaRPr lang="en-US" sz="1050" dirty="0"/>
          </a:p>
        </p:txBody>
      </p:sp>
      <p:sp>
        <p:nvSpPr>
          <p:cNvPr id="16" name="Shape 14"/>
          <p:cNvSpPr/>
          <p:nvPr/>
        </p:nvSpPr>
        <p:spPr>
          <a:xfrm>
            <a:off x="3291840" y="1719072"/>
            <a:ext cx="2788920" cy="3429000"/>
          </a:xfrm>
          <a:prstGeom prst="roundRect">
            <a:avLst>
              <a:gd name="adj" fmla="val 3279"/>
            </a:avLst>
          </a:prstGeom>
          <a:solidFill>
            <a:srgbClr val="F4F4F4"/>
          </a:solidFill>
          <a:ln w="12700">
            <a:solidFill>
              <a:srgbClr val="EBEBEB"/>
            </a:solidFill>
            <a:prstDash val="solid"/>
          </a:ln>
        </p:spPr>
      </p:sp>
      <p:sp>
        <p:nvSpPr>
          <p:cNvPr id="17" name="Shape 15"/>
          <p:cNvSpPr/>
          <p:nvPr/>
        </p:nvSpPr>
        <p:spPr>
          <a:xfrm>
            <a:off x="3291840" y="1719072"/>
            <a:ext cx="2788920" cy="411480"/>
          </a:xfrm>
          <a:prstGeom prst="roundRect">
            <a:avLst>
              <a:gd name="adj" fmla="val 22222"/>
            </a:avLst>
          </a:prstGeom>
          <a:solidFill>
            <a:srgbClr val="FF453A"/>
          </a:solidFill>
          <a:ln/>
        </p:spPr>
      </p:sp>
      <p:sp>
        <p:nvSpPr>
          <p:cNvPr id="18" name="Shape 16"/>
          <p:cNvSpPr/>
          <p:nvPr/>
        </p:nvSpPr>
        <p:spPr>
          <a:xfrm>
            <a:off x="3291840" y="1938528"/>
            <a:ext cx="2788920" cy="192024"/>
          </a:xfrm>
          <a:prstGeom prst="rect">
            <a:avLst/>
          </a:prstGeom>
          <a:solidFill>
            <a:srgbClr val="FF453A"/>
          </a:solidFill>
          <a:ln/>
        </p:spPr>
      </p:sp>
      <p:sp>
        <p:nvSpPr>
          <p:cNvPr id="19" name="Text 17"/>
          <p:cNvSpPr txBox="1"/>
          <p:nvPr/>
        </p:nvSpPr>
        <p:spPr>
          <a:xfrm>
            <a:off x="340156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Comunes</a:t>
            </a:r>
            <a:endParaRPr lang="en-US" sz="1300" dirty="0"/>
          </a:p>
        </p:txBody>
      </p:sp>
      <p:sp>
        <p:nvSpPr>
          <p:cNvPr id="20" name="Text 18"/>
          <p:cNvSpPr txBox="1"/>
          <p:nvPr/>
        </p:nvSpPr>
        <p:spPr>
          <a:xfrm>
            <a:off x="340156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Secuencia natural de diseño puede requerir alteración por necesidades de campo</a:t>
            </a:r>
            <a:endParaRPr lang="en-US" sz="1050" dirty="0"/>
          </a:p>
        </p:txBody>
      </p:sp>
      <p:sp>
        <p:nvSpPr>
          <p:cNvPr id="21" name="Text 19"/>
          <p:cNvSpPr txBox="1"/>
          <p:nvPr/>
        </p:nvSpPr>
        <p:spPr>
          <a:xfrm>
            <a:off x="340156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condicionada a aceptación pasiva del plan impuesto</a:t>
            </a:r>
            <a:endParaRPr lang="en-US" sz="1050" dirty="0"/>
          </a:p>
        </p:txBody>
      </p:sp>
      <p:sp>
        <p:nvSpPr>
          <p:cNvPr id="22" name="Text 20"/>
          <p:cNvSpPr txBox="1"/>
          <p:nvPr/>
        </p:nvSpPr>
        <p:spPr>
          <a:xfrm>
            <a:off x="340156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Sin plan de control de tráfico (TCP) en proyectos de carreteras</a:t>
            </a:r>
            <a:endParaRPr lang="en-US" sz="1050" dirty="0"/>
          </a:p>
        </p:txBody>
      </p:sp>
      <p:sp>
        <p:nvSpPr>
          <p:cNvPr id="23" name="Text 21"/>
          <p:cNvSpPr txBox="1"/>
          <p:nvPr/>
        </p:nvSpPr>
        <p:spPr>
          <a:xfrm>
            <a:off x="340156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Lead times de procura no considerados en el cronograma de diseño</a:t>
            </a:r>
            <a:endParaRPr lang="en-US" sz="1050" dirty="0"/>
          </a:p>
        </p:txBody>
      </p:sp>
      <p:sp>
        <p:nvSpPr>
          <p:cNvPr id="24" name="Text 22"/>
          <p:cNvSpPr txBox="1"/>
          <p:nvPr/>
        </p:nvSpPr>
        <p:spPr>
          <a:xfrm>
            <a:off x="340156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"Crashing" de ingeniería es más barato que "crashing" de construcción</a:t>
            </a:r>
            <a:endParaRPr lang="en-US" sz="1050" dirty="0"/>
          </a:p>
        </p:txBody>
      </p:sp>
      <p:sp>
        <p:nvSpPr>
          <p:cNvPr id="25" name="Shape 23"/>
          <p:cNvSpPr/>
          <p:nvPr/>
        </p:nvSpPr>
        <p:spPr>
          <a:xfrm>
            <a:off x="6217920" y="1719072"/>
            <a:ext cx="2788920" cy="3429000"/>
          </a:xfrm>
          <a:prstGeom prst="roundRect">
            <a:avLst>
              <a:gd name="adj" fmla="val 3279"/>
            </a:avLst>
          </a:prstGeom>
          <a:solidFill>
            <a:srgbClr val="F4F4F4"/>
          </a:solidFill>
          <a:ln w="12700">
            <a:solidFill>
              <a:srgbClr val="EBEBEB"/>
            </a:solidFill>
            <a:prstDash val="solid"/>
          </a:ln>
        </p:spPr>
      </p:sp>
      <p:sp>
        <p:nvSpPr>
          <p:cNvPr id="26" name="Shape 24"/>
          <p:cNvSpPr/>
          <p:nvPr/>
        </p:nvSpPr>
        <p:spPr>
          <a:xfrm>
            <a:off x="6217920" y="1719072"/>
            <a:ext cx="2788920" cy="411480"/>
          </a:xfrm>
          <a:prstGeom prst="roundRect">
            <a:avLst>
              <a:gd name="adj" fmla="val 22222"/>
            </a:avLst>
          </a:prstGeom>
          <a:solidFill>
            <a:srgbClr val="30D158"/>
          </a:solidFill>
          <a:ln/>
        </p:spPr>
      </p:sp>
      <p:sp>
        <p:nvSpPr>
          <p:cNvPr id="27" name="Shape 25"/>
          <p:cNvSpPr/>
          <p:nvPr/>
        </p:nvSpPr>
        <p:spPr>
          <a:xfrm>
            <a:off x="6217920" y="1938528"/>
            <a:ext cx="2788920" cy="192024"/>
          </a:xfrm>
          <a:prstGeom prst="rect">
            <a:avLst/>
          </a:prstGeom>
          <a:solidFill>
            <a:srgbClr val="30D158"/>
          </a:solidFill>
          <a:ln/>
        </p:spPr>
      </p:sp>
      <p:sp>
        <p:nvSpPr>
          <p:cNvPr id="28" name="Text 26"/>
          <p:cNvSpPr txBox="1"/>
          <p:nvPr/>
        </p:nvSpPr>
        <p:spPr>
          <a:xfrm>
            <a:off x="632764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Temas Críticos de Arranque</a:t>
            </a:r>
            <a:endParaRPr lang="en-US" sz="1300" dirty="0"/>
          </a:p>
        </p:txBody>
      </p:sp>
      <p:sp>
        <p:nvSpPr>
          <p:cNvPr id="29" name="Text 27"/>
          <p:cNvSpPr txBox="1"/>
          <p:nvPr/>
        </p:nvSpPr>
        <p:spPr>
          <a:xfrm>
            <a:off x="632764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Conciencia sobre lead times de equipos especiales</a:t>
            </a:r>
            <a:endParaRPr lang="en-US" sz="1050" dirty="0"/>
          </a:p>
        </p:txBody>
      </p:sp>
      <p:sp>
        <p:nvSpPr>
          <p:cNvPr id="30" name="Text 28"/>
          <p:cNvSpPr txBox="1"/>
          <p:nvPr/>
        </p:nvSpPr>
        <p:spPr>
          <a:xfrm>
            <a:off x="632764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Impactos de "temporadas de construcción" climáticas</a:t>
            </a:r>
            <a:endParaRPr lang="en-US" sz="1050" dirty="0"/>
          </a:p>
        </p:txBody>
      </p:sp>
      <p:sp>
        <p:nvSpPr>
          <p:cNvPr id="31" name="Text 29"/>
          <p:cNvSpPr txBox="1"/>
          <p:nvPr/>
        </p:nvSpPr>
        <p:spPr>
          <a:xfrm>
            <a:off x="632764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Ruta óptima de construcción (path of construction)</a:t>
            </a:r>
            <a:endParaRPr lang="en-US" sz="1050" dirty="0"/>
          </a:p>
        </p:txBody>
      </p:sp>
      <p:sp>
        <p:nvSpPr>
          <p:cNvPr id="32" name="Text 30"/>
          <p:cNvSpPr txBox="1"/>
          <p:nvPr/>
        </p:nvSpPr>
        <p:spPr>
          <a:xfrm>
            <a:off x="632764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procura/contratación que apoyen los paquetes de obra</a:t>
            </a:r>
            <a:endParaRPr lang="en-US" sz="1050" dirty="0"/>
          </a:p>
        </p:txBody>
      </p:sp>
      <p:sp>
        <p:nvSpPr>
          <p:cNvPr id="33" name="Text 31"/>
          <p:cNvSpPr txBox="1"/>
          <p:nvPr/>
        </p:nvSpPr>
        <p:spPr>
          <a:xfrm>
            <a:off x="632764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Números de sistema de arranque en todos los entregables</a:t>
            </a:r>
            <a:endParaRPr lang="en-US" sz="105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22</a:t>
            </a:r>
            <a:endParaRPr lang="en-US" sz="900" dirty="0"/>
          </a:p>
        </p:txBody>
      </p:sp>
      <p:pic xmlns:p="http://schemas.openxmlformats.org/presentationml/2006/main" xmlns:a="http://schemas.openxmlformats.org/drawingml/2006/main" xmlns:r="http://schemas.openxmlformats.org/officeDocument/2006/relationships">
        <p:nvPicPr>
          <p:cNvPr id="8022" name="SlideIcon8022"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Métodos de Construcción Mayores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FF453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"Las decisiones importantes de diseño temprano consideran la modularización/pre-ensamble, la automatización de la construcción y otras opciones de métodos de construcción mayores."</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de Alto Impacto (deben evaluarse en Planificación Conceptual):</a:t>
            </a:r>
            <a:endParaRPr lang="en-US" sz="1300" dirty="0"/>
          </a:p>
        </p:txBody>
      </p:sp>
      <p:sp>
        <p:nvSpPr>
          <p:cNvPr id="8" name="Shape 6"/>
          <p:cNvSpPr/>
          <p:nvPr/>
        </p:nvSpPr>
        <p:spPr>
          <a:xfrm>
            <a:off x="365760" y="2084832"/>
            <a:ext cx="4206240" cy="877824"/>
          </a:xfrm>
          <a:prstGeom prst="roundRect">
            <a:avLst>
              <a:gd name="adj" fmla="val 10417"/>
            </a:avLst>
          </a:prstGeom>
          <a:solidFill>
            <a:srgbClr val="F4F4F4"/>
          </a:solidFill>
          <a:ln w="12700">
            <a:solidFill>
              <a:srgbClr val="EBEBEB"/>
            </a:solidFill>
            <a:prstDash val="solid"/>
          </a:ln>
        </p:spPr>
      </p:sp>
      <p:sp>
        <p:nvSpPr>
          <p:cNvPr id="9" name="Text 7"/>
          <p:cNvSpPr txBox="1"/>
          <p:nvPr/>
        </p:nvSpPr>
        <p:spPr>
          <a:xfrm>
            <a:off x="54864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Alcance de Modularización</a:t>
            </a:r>
            <a:endParaRPr lang="en-US" sz="1300" dirty="0"/>
          </a:p>
        </p:txBody>
      </p:sp>
      <p:sp>
        <p:nvSpPr>
          <p:cNvPr id="10" name="Text 8"/>
          <p:cNvSpPr txBox="1"/>
          <p:nvPr/>
        </p:nvSpPr>
        <p:spPr>
          <a:xfrm>
            <a:off x="54864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Definir qué porcentaje del proyecto se construirá en taller vs. campo. Impacto enorme en costo y cronograma.</a:t>
            </a:r>
            <a:endParaRPr lang="en-US" sz="1050" dirty="0"/>
          </a:p>
        </p:txBody>
      </p:sp>
      <p:sp>
        <p:nvSpPr>
          <p:cNvPr id="11" name="Shape 9"/>
          <p:cNvSpPr/>
          <p:nvPr/>
        </p:nvSpPr>
        <p:spPr>
          <a:xfrm>
            <a:off x="4754880" y="2084832"/>
            <a:ext cx="4206240" cy="877824"/>
          </a:xfrm>
          <a:prstGeom prst="roundRect">
            <a:avLst>
              <a:gd name="adj" fmla="val 10417"/>
            </a:avLst>
          </a:prstGeom>
          <a:solidFill>
            <a:srgbClr val="F4F4F4"/>
          </a:solidFill>
          <a:ln w="12700">
            <a:solidFill>
              <a:srgbClr val="EBEBEB"/>
            </a:solidFill>
            <a:prstDash val="solid"/>
          </a:ln>
        </p:spPr>
      </p:sp>
      <p:sp>
        <p:nvSpPr>
          <p:cNvPr id="12" name="Text 10"/>
          <p:cNvSpPr txBox="1"/>
          <p:nvPr/>
        </p:nvSpPr>
        <p:spPr>
          <a:xfrm>
            <a:off x="493776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Izajes Pesados</a:t>
            </a:r>
            <a:endParaRPr lang="en-US" sz="1300" dirty="0"/>
          </a:p>
        </p:txBody>
      </p:sp>
      <p:sp>
        <p:nvSpPr>
          <p:cNvPr id="13" name="Text 11"/>
          <p:cNvSpPr txBox="1"/>
          <p:nvPr/>
        </p:nvSpPr>
        <p:spPr>
          <a:xfrm>
            <a:off x="493776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Big impacts: típicamente de alto costo y en ruta crítica. Tamaño de izaje, accesibilidad de grúa, cargas sobre UG, swing space.</a:t>
            </a:r>
            <a:endParaRPr lang="en-US" sz="1050" dirty="0"/>
          </a:p>
        </p:txBody>
      </p:sp>
      <p:sp>
        <p:nvSpPr>
          <p:cNvPr id="14" name="Shape 12"/>
          <p:cNvSpPr/>
          <p:nvPr/>
        </p:nvSpPr>
        <p:spPr>
          <a:xfrm>
            <a:off x="365760" y="3072384"/>
            <a:ext cx="4206240" cy="877824"/>
          </a:xfrm>
          <a:prstGeom prst="roundRect">
            <a:avLst>
              <a:gd name="adj" fmla="val 10417"/>
            </a:avLst>
          </a:prstGeom>
          <a:solidFill>
            <a:srgbClr val="F4F4F4"/>
          </a:solidFill>
          <a:ln w="12700">
            <a:solidFill>
              <a:srgbClr val="EBEBEB"/>
            </a:solidFill>
            <a:prstDash val="solid"/>
          </a:ln>
        </p:spPr>
      </p:sp>
      <p:sp>
        <p:nvSpPr>
          <p:cNvPr id="15" name="Text 13"/>
          <p:cNvSpPr txBox="1"/>
          <p:nvPr/>
        </p:nvSpPr>
        <p:spPr>
          <a:xfrm>
            <a:off x="54864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Subterráneo</a:t>
            </a:r>
            <a:endParaRPr lang="en-US" sz="1300" dirty="0"/>
          </a:p>
        </p:txBody>
      </p:sp>
      <p:sp>
        <p:nvSpPr>
          <p:cNvPr id="16" name="Text 14"/>
          <p:cNvSpPr txBox="1"/>
          <p:nvPr/>
        </p:nvSpPr>
        <p:spPr>
          <a:xfrm>
            <a:off x="54864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Excavaciones, cimentaciones, túneles. Condiciones geotécnicas definen métodos y cronograma.</a:t>
            </a:r>
            <a:endParaRPr lang="en-US" sz="1050" dirty="0"/>
          </a:p>
        </p:txBody>
      </p:sp>
      <p:sp>
        <p:nvSpPr>
          <p:cNvPr id="17" name="Shape 15"/>
          <p:cNvSpPr/>
          <p:nvPr/>
        </p:nvSpPr>
        <p:spPr>
          <a:xfrm>
            <a:off x="4754880" y="3072384"/>
            <a:ext cx="4206240" cy="877824"/>
          </a:xfrm>
          <a:prstGeom prst="roundRect">
            <a:avLst>
              <a:gd name="adj" fmla="val 10417"/>
            </a:avLst>
          </a:prstGeom>
          <a:solidFill>
            <a:srgbClr val="F4F4F4"/>
          </a:solidFill>
          <a:ln w="12700">
            <a:solidFill>
              <a:srgbClr val="EBEBEB"/>
            </a:solidFill>
            <a:prstDash val="solid"/>
          </a:ln>
        </p:spPr>
      </p:sp>
      <p:sp>
        <p:nvSpPr>
          <p:cNvPr id="18" name="Text 16"/>
          <p:cNvSpPr txBox="1"/>
          <p:nvPr/>
        </p:nvSpPr>
        <p:spPr>
          <a:xfrm>
            <a:off x="493776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 Estructural</a:t>
            </a:r>
            <a:endParaRPr lang="en-US" sz="1300" dirty="0"/>
          </a:p>
        </p:txBody>
      </p:sp>
      <p:sp>
        <p:nvSpPr>
          <p:cNvPr id="19" name="Text 17"/>
          <p:cNvSpPr txBox="1"/>
          <p:nvPr/>
        </p:nvSpPr>
        <p:spPr>
          <a:xfrm>
            <a:off x="493776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Concreto colado en sitio vs. prefabricado, acero estructural. Cada opción tiene diferente impacto en duración y productividad.</a:t>
            </a:r>
            <a:endParaRPr lang="en-US" sz="1050" dirty="0"/>
          </a:p>
        </p:txBody>
      </p:sp>
      <p:sp>
        <p:nvSpPr>
          <p:cNvPr id="20" name="Shape 18"/>
          <p:cNvSpPr/>
          <p:nvPr/>
        </p:nvSpPr>
        <p:spPr>
          <a:xfrm>
            <a:off x="365760" y="4059936"/>
            <a:ext cx="4206240" cy="877824"/>
          </a:xfrm>
          <a:prstGeom prst="roundRect">
            <a:avLst>
              <a:gd name="adj" fmla="val 10417"/>
            </a:avLst>
          </a:prstGeom>
          <a:solidFill>
            <a:srgbClr val="F4F4F4"/>
          </a:solidFill>
          <a:ln w="12700">
            <a:solidFill>
              <a:srgbClr val="EBEBEB"/>
            </a:solidFill>
            <a:prstDash val="solid"/>
          </a:ln>
        </p:spPr>
      </p:sp>
      <p:sp>
        <p:nvSpPr>
          <p:cNvPr id="21" name="Text 19"/>
          <p:cNvSpPr txBox="1"/>
          <p:nvPr/>
        </p:nvSpPr>
        <p:spPr>
          <a:xfrm>
            <a:off x="54864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Sistemas de Cimbrado</a:t>
            </a:r>
            <a:endParaRPr lang="en-US" sz="1300" dirty="0"/>
          </a:p>
        </p:txBody>
      </p:sp>
      <p:sp>
        <p:nvSpPr>
          <p:cNvPr id="22" name="Text 20"/>
          <p:cNvSpPr txBox="1"/>
          <p:nvPr/>
        </p:nvSpPr>
        <p:spPr>
          <a:xfrm>
            <a:off x="54864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Flying forms, tilt-up, cimbra deslizante. Selección temprana define recursos y cronograma de concreto.</a:t>
            </a:r>
            <a:endParaRPr lang="en-US" sz="1050" dirty="0"/>
          </a:p>
        </p:txBody>
      </p:sp>
      <p:sp>
        <p:nvSpPr>
          <p:cNvPr id="23" name="Shape 21"/>
          <p:cNvSpPr/>
          <p:nvPr/>
        </p:nvSpPr>
        <p:spPr>
          <a:xfrm>
            <a:off x="4754880" y="4059936"/>
            <a:ext cx="4206240" cy="877824"/>
          </a:xfrm>
          <a:prstGeom prst="roundRect">
            <a:avLst>
              <a:gd name="adj" fmla="val 10417"/>
            </a:avLst>
          </a:prstGeom>
          <a:solidFill>
            <a:srgbClr val="F4F4F4"/>
          </a:solidFill>
          <a:ln w="12700">
            <a:solidFill>
              <a:srgbClr val="EBEBEB"/>
            </a:solidFill>
            <a:prstDash val="solid"/>
          </a:ln>
        </p:spPr>
      </p:sp>
      <p:sp>
        <p:nvSpPr>
          <p:cNvPr id="24" name="Text 22"/>
          <p:cNvSpPr txBox="1"/>
          <p:nvPr/>
        </p:nvSpPr>
        <p:spPr>
          <a:xfrm>
            <a:off x="493776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Automatización</a:t>
            </a:r>
            <a:endParaRPr lang="en-US" sz="1300" dirty="0"/>
          </a:p>
        </p:txBody>
      </p:sp>
      <p:sp>
        <p:nvSpPr>
          <p:cNvPr id="25" name="Text 23"/>
          <p:cNvSpPr txBox="1"/>
          <p:nvPr/>
        </p:nvSpPr>
        <p:spPr>
          <a:xfrm>
            <a:off x="493776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Soldadura automatizada, robótica, prefabricación especial. Evaluar contra costo de mano de obra local.</a:t>
            </a:r>
            <a:endParaRPr lang="en-US" sz="10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23</a:t>
            </a:r>
            <a:endParaRPr lang="en-US" sz="900" dirty="0"/>
          </a:p>
        </p:txBody>
      </p:sp>
      <p:pic xmlns:p="http://schemas.openxmlformats.org/presentationml/2006/main" xmlns:a="http://schemas.openxmlformats.org/drawingml/2006/main" xmlns:r="http://schemas.openxmlformats.org/officeDocument/2006/relationships">
        <p:nvPicPr>
          <p:cNvPr id="8023" name="SlideIcon8023"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Planificación de Izajes Pesados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izajes pesados típicamente son de alto costo y están en la ruta crítica — requieren planificación integral:</a:t>
            </a:r>
            <a:endParaRPr lang="en-US" sz="1200" dirty="0"/>
          </a:p>
        </p:txBody>
      </p:sp>
      <p:sp>
        <p:nvSpPr>
          <p:cNvPr id="6" name="Shape 4"/>
          <p:cNvSpPr/>
          <p:nvPr/>
        </p:nvSpPr>
        <p:spPr>
          <a:xfrm>
            <a:off x="365760" y="1325880"/>
            <a:ext cx="4206240" cy="1143000"/>
          </a:xfrm>
          <a:prstGeom prst="roundRect">
            <a:avLst>
              <a:gd name="adj" fmla="val 8000"/>
            </a:avLst>
          </a:prstGeom>
          <a:solidFill>
            <a:srgbClr val="F4F4F4"/>
          </a:solidFill>
          <a:ln w="12700">
            <a:solidFill>
              <a:srgbClr val="EBEBEB"/>
            </a:solidFill>
            <a:prstDash val="solid"/>
          </a:ln>
        </p:spPr>
      </p:sp>
      <p:sp>
        <p:nvSpPr>
          <p:cNvPr id="7" name="Shape 5"/>
          <p:cNvSpPr/>
          <p:nvPr/>
        </p:nvSpPr>
        <p:spPr>
          <a:xfrm>
            <a:off x="502920" y="1417320"/>
            <a:ext cx="411480" cy="411480"/>
          </a:xfrm>
          <a:prstGeom prst="ellipse">
            <a:avLst/>
          </a:prstGeom>
          <a:solidFill>
            <a:srgbClr val="0A84FF"/>
          </a:solidFill>
          <a:ln/>
        </p:spPr>
      </p:sp>
      <p:sp>
        <p:nvSpPr>
          <p:cNvPr id="8" name="Text 6"/>
          <p:cNvSpPr txBox="1"/>
          <p:nvPr/>
        </p:nvSpPr>
        <p:spPr>
          <a:xfrm>
            <a:off x="50292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Tamaño del Izaje</a:t>
            </a:r>
            <a:endParaRPr lang="en-US" sz="1300" dirty="0"/>
          </a:p>
        </p:txBody>
      </p:sp>
      <p:sp>
        <p:nvSpPr>
          <p:cNvPr id="10" name="Text 8"/>
          <p:cNvSpPr txBox="1"/>
          <p:nvPr/>
        </p:nvSpPr>
        <p:spPr>
          <a:xfrm>
            <a:off x="54864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equipo puede levantarse de un solo golpe? ¿O es más económico dividir en múltiples izajes? Implicaciones en la capacidad de grúa necesaria.</a:t>
            </a:r>
            <a:endParaRPr lang="en-US" sz="1050" dirty="0"/>
          </a:p>
        </p:txBody>
      </p:sp>
      <p:sp>
        <p:nvSpPr>
          <p:cNvPr id="11" name="Shape 9"/>
          <p:cNvSpPr/>
          <p:nvPr/>
        </p:nvSpPr>
        <p:spPr>
          <a:xfrm>
            <a:off x="4754880" y="1325880"/>
            <a:ext cx="4206240" cy="1143000"/>
          </a:xfrm>
          <a:prstGeom prst="roundRect">
            <a:avLst>
              <a:gd name="adj" fmla="val 8000"/>
            </a:avLst>
          </a:prstGeom>
          <a:solidFill>
            <a:srgbClr val="F4F4F4"/>
          </a:solidFill>
          <a:ln w="12700">
            <a:solidFill>
              <a:srgbClr val="EBEBEB"/>
            </a:solidFill>
            <a:prstDash val="solid"/>
          </a:ln>
        </p:spPr>
      </p:sp>
      <p:sp>
        <p:nvSpPr>
          <p:cNvPr id="12" name="Shape 10"/>
          <p:cNvSpPr/>
          <p:nvPr/>
        </p:nvSpPr>
        <p:spPr>
          <a:xfrm>
            <a:off x="4892040" y="1417320"/>
            <a:ext cx="411480" cy="411480"/>
          </a:xfrm>
          <a:prstGeom prst="ellipse">
            <a:avLst/>
          </a:prstGeom>
          <a:solidFill>
            <a:srgbClr val="30D158"/>
          </a:solidFill>
          <a:ln/>
        </p:spPr>
      </p:sp>
      <p:sp>
        <p:nvSpPr>
          <p:cNvPr id="13" name="Text 11"/>
          <p:cNvSpPr txBox="1"/>
          <p:nvPr/>
        </p:nvSpPr>
        <p:spPr>
          <a:xfrm>
            <a:off x="489204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539496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Capacidad de Grúa</a:t>
            </a:r>
            <a:endParaRPr lang="en-US" sz="1300" dirty="0"/>
          </a:p>
        </p:txBody>
      </p:sp>
      <p:sp>
        <p:nvSpPr>
          <p:cNvPr id="15" name="Text 13"/>
          <p:cNvSpPr txBox="1"/>
          <p:nvPr/>
        </p:nvSpPr>
        <p:spPr>
          <a:xfrm>
            <a:off x="493776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Capacidades actuales: hasta 12,000 ton en tierra, 3,000 ton en offshore. Las grúas de camión (hasta 60 ton) son las más económicas para la mayoría de proyectos.</a:t>
            </a:r>
            <a:endParaRPr lang="en-US" sz="1050" dirty="0"/>
          </a:p>
        </p:txBody>
      </p:sp>
      <p:sp>
        <p:nvSpPr>
          <p:cNvPr id="16" name="Shape 14"/>
          <p:cNvSpPr/>
          <p:nvPr/>
        </p:nvSpPr>
        <p:spPr>
          <a:xfrm>
            <a:off x="365760" y="2587752"/>
            <a:ext cx="4206240" cy="1143000"/>
          </a:xfrm>
          <a:prstGeom prst="roundRect">
            <a:avLst>
              <a:gd name="adj" fmla="val 8000"/>
            </a:avLst>
          </a:prstGeom>
          <a:solidFill>
            <a:srgbClr val="F4F4F4"/>
          </a:solidFill>
          <a:ln w="12700">
            <a:solidFill>
              <a:srgbClr val="EBEBEB"/>
            </a:solidFill>
            <a:prstDash val="solid"/>
          </a:ln>
        </p:spPr>
      </p:sp>
      <p:sp>
        <p:nvSpPr>
          <p:cNvPr id="17" name="Shape 15"/>
          <p:cNvSpPr/>
          <p:nvPr/>
        </p:nvSpPr>
        <p:spPr>
          <a:xfrm>
            <a:off x="502920" y="2679192"/>
            <a:ext cx="411480" cy="411480"/>
          </a:xfrm>
          <a:prstGeom prst="ellipse">
            <a:avLst/>
          </a:prstGeom>
          <a:solidFill>
            <a:srgbClr val="FF9500"/>
          </a:solidFill>
          <a:ln/>
        </p:spPr>
      </p:sp>
      <p:sp>
        <p:nvSpPr>
          <p:cNvPr id="18" name="Text 16"/>
          <p:cNvSpPr txBox="1"/>
          <p:nvPr/>
        </p:nvSpPr>
        <p:spPr>
          <a:xfrm>
            <a:off x="50292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de Grúa</a:t>
            </a:r>
            <a:endParaRPr lang="en-US" sz="1300" dirty="0"/>
          </a:p>
        </p:txBody>
      </p:sp>
      <p:sp>
        <p:nvSpPr>
          <p:cNvPr id="20" name="Text 18"/>
          <p:cNvSpPr txBox="1"/>
          <p:nvPr/>
        </p:nvSpPr>
        <p:spPr>
          <a:xfrm>
            <a:off x="54864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Cargas sobre estructuras subterráneas (riesgo de colapso), radio de giro libre, rutas de acceso al sitio con restricciones de carga.</a:t>
            </a:r>
            <a:endParaRPr lang="en-US" sz="1050" dirty="0"/>
          </a:p>
        </p:txBody>
      </p:sp>
      <p:sp>
        <p:nvSpPr>
          <p:cNvPr id="21" name="Shape 19"/>
          <p:cNvSpPr/>
          <p:nvPr/>
        </p:nvSpPr>
        <p:spPr>
          <a:xfrm>
            <a:off x="4754880" y="2587752"/>
            <a:ext cx="4206240" cy="1143000"/>
          </a:xfrm>
          <a:prstGeom prst="roundRect">
            <a:avLst>
              <a:gd name="adj" fmla="val 8000"/>
            </a:avLst>
          </a:prstGeom>
          <a:solidFill>
            <a:srgbClr val="F4F4F4"/>
          </a:solidFill>
          <a:ln w="12700">
            <a:solidFill>
              <a:srgbClr val="EBEBEB"/>
            </a:solidFill>
            <a:prstDash val="solid"/>
          </a:ln>
        </p:spPr>
      </p:sp>
      <p:sp>
        <p:nvSpPr>
          <p:cNvPr id="22" name="Shape 20"/>
          <p:cNvSpPr/>
          <p:nvPr/>
        </p:nvSpPr>
        <p:spPr>
          <a:xfrm>
            <a:off x="4892040" y="2679192"/>
            <a:ext cx="411480" cy="411480"/>
          </a:xfrm>
          <a:prstGeom prst="ellipse">
            <a:avLst/>
          </a:prstGeom>
          <a:solidFill>
            <a:srgbClr val="AF52DE"/>
          </a:solidFill>
          <a:ln/>
        </p:spPr>
      </p:sp>
      <p:sp>
        <p:nvSpPr>
          <p:cNvPr id="23" name="Text 21"/>
          <p:cNvSpPr txBox="1"/>
          <p:nvPr/>
        </p:nvSpPr>
        <p:spPr>
          <a:xfrm>
            <a:off x="489204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539496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Soporte</a:t>
            </a:r>
            <a:endParaRPr lang="en-US" sz="1300" dirty="0"/>
          </a:p>
        </p:txBody>
      </p:sp>
      <p:sp>
        <p:nvSpPr>
          <p:cNvPr id="25" name="Text 23"/>
          <p:cNvSpPr txBox="1"/>
          <p:nvPr/>
        </p:nvSpPr>
        <p:spPr>
          <a:xfrm>
            <a:off x="493776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Puntos de izaje en el equipo, ubicación del centro de gravedad, estructura temporal de rigidez para el izaje.</a:t>
            </a:r>
            <a:endParaRPr lang="en-US" sz="1050" dirty="0"/>
          </a:p>
        </p:txBody>
      </p:sp>
      <p:sp>
        <p:nvSpPr>
          <p:cNvPr id="26" name="Shape 24"/>
          <p:cNvSpPr/>
          <p:nvPr/>
        </p:nvSpPr>
        <p:spPr>
          <a:xfrm>
            <a:off x="365760" y="3849624"/>
            <a:ext cx="4206240" cy="1143000"/>
          </a:xfrm>
          <a:prstGeom prst="roundRect">
            <a:avLst>
              <a:gd name="adj" fmla="val 8000"/>
            </a:avLst>
          </a:prstGeom>
          <a:solidFill>
            <a:srgbClr val="F4F4F4"/>
          </a:solidFill>
          <a:ln w="12700">
            <a:solidFill>
              <a:srgbClr val="EBEBEB"/>
            </a:solidFill>
            <a:prstDash val="solid"/>
          </a:ln>
        </p:spPr>
      </p:sp>
      <p:sp>
        <p:nvSpPr>
          <p:cNvPr id="27" name="Shape 25"/>
          <p:cNvSpPr/>
          <p:nvPr/>
        </p:nvSpPr>
        <p:spPr>
          <a:xfrm>
            <a:off x="502920" y="3941064"/>
            <a:ext cx="411480" cy="411480"/>
          </a:xfrm>
          <a:prstGeom prst="ellipse">
            <a:avLst/>
          </a:prstGeom>
          <a:solidFill>
            <a:srgbClr val="FF453A"/>
          </a:solidFill>
          <a:ln/>
        </p:spPr>
      </p:sp>
      <p:sp>
        <p:nvSpPr>
          <p:cNvPr id="28" name="Text 26"/>
          <p:cNvSpPr txBox="1"/>
          <p:nvPr/>
        </p:nvSpPr>
        <p:spPr>
          <a:xfrm>
            <a:off x="50292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Seguridad y "Area Estéril"</a:t>
            </a:r>
            <a:endParaRPr lang="en-US" sz="1300" dirty="0"/>
          </a:p>
        </p:txBody>
      </p:sp>
      <p:sp>
        <p:nvSpPr>
          <p:cNvPr id="30" name="Text 28"/>
          <p:cNvSpPr txBox="1"/>
          <p:nvPr/>
        </p:nvSpPr>
        <p:spPr>
          <a:xfrm>
            <a:off x="54864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"Area sterilization": evacuar el área bajo la trayectoria del izaje. Protocolo de seguridad crítico.</a:t>
            </a:r>
            <a:endParaRPr lang="en-US" sz="1050" dirty="0"/>
          </a:p>
        </p:txBody>
      </p:sp>
      <p:sp>
        <p:nvSpPr>
          <p:cNvPr id="31" name="Shape 29"/>
          <p:cNvSpPr/>
          <p:nvPr/>
        </p:nvSpPr>
        <p:spPr>
          <a:xfrm>
            <a:off x="4754880" y="3849624"/>
            <a:ext cx="4206240" cy="1143000"/>
          </a:xfrm>
          <a:prstGeom prst="roundRect">
            <a:avLst>
              <a:gd name="adj" fmla="val 8000"/>
            </a:avLst>
          </a:prstGeom>
          <a:solidFill>
            <a:srgbClr val="F4F4F4"/>
          </a:solidFill>
          <a:ln w="12700">
            <a:solidFill>
              <a:srgbClr val="EBEBEB"/>
            </a:solidFill>
            <a:prstDash val="solid"/>
          </a:ln>
        </p:spPr>
      </p:sp>
      <p:sp>
        <p:nvSpPr>
          <p:cNvPr id="32" name="Shape 30"/>
          <p:cNvSpPr/>
          <p:nvPr/>
        </p:nvSpPr>
        <p:spPr>
          <a:xfrm>
            <a:off x="4892040" y="3941064"/>
            <a:ext cx="411480" cy="411480"/>
          </a:xfrm>
          <a:prstGeom prst="ellipse">
            <a:avLst/>
          </a:prstGeom>
          <a:solidFill>
            <a:srgbClr val="FFD60A"/>
          </a:solidFill>
          <a:ln/>
        </p:spPr>
      </p:sp>
      <p:sp>
        <p:nvSpPr>
          <p:cNvPr id="33" name="Text 31"/>
          <p:cNvSpPr txBox="1"/>
          <p:nvPr/>
        </p:nvSpPr>
        <p:spPr>
          <a:xfrm>
            <a:off x="489204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4" name="Text 32"/>
          <p:cNvSpPr txBox="1"/>
          <p:nvPr/>
        </p:nvSpPr>
        <p:spPr>
          <a:xfrm>
            <a:off x="539496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Cimentación de Grúa</a:t>
            </a:r>
            <a:endParaRPr lang="en-US" sz="1300" dirty="0"/>
          </a:p>
        </p:txBody>
      </p:sp>
      <p:sp>
        <p:nvSpPr>
          <p:cNvPr id="35" name="Text 33"/>
          <p:cNvSpPr txBox="1"/>
          <p:nvPr/>
        </p:nvSpPr>
        <p:spPr>
          <a:xfrm>
            <a:off x="493776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Las cargas de grúa sobre el suelo pueden requerir fundaciones temporales especiales o plateas de concreto.</a:t>
            </a:r>
            <a:endParaRPr lang="en-US" sz="105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24</a:t>
            </a:r>
            <a:endParaRPr lang="en-US" sz="900" dirty="0"/>
          </a:p>
        </p:txBody>
      </p:sp>
      <p:pic xmlns:p="http://schemas.openxmlformats.org/presentationml/2006/main" xmlns:a="http://schemas.openxmlformats.org/drawingml/2006/main" xmlns:r="http://schemas.openxmlformats.org/officeDocument/2006/relationships">
        <p:nvPicPr>
          <p:cNvPr id="8024" name="SlideIcon8024"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I-6: Distribución Eficiente del Sitio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AF52DE"/>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distribución de instalaciones permanentes y temporales promueve la eficiencia de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Estratégicos de Distribución:</a:t>
            </a:r>
            <a:endParaRPr lang="en-US" sz="1300" dirty="0"/>
          </a:p>
        </p:txBody>
      </p:sp>
      <p:sp>
        <p:nvSpPr>
          <p:cNvPr id="8" name="Shape 6"/>
          <p:cNvSpPr/>
          <p:nvPr/>
        </p:nvSpPr>
        <p:spPr>
          <a:xfrm>
            <a:off x="365760" y="2084832"/>
            <a:ext cx="8412480" cy="621792"/>
          </a:xfrm>
          <a:prstGeom prst="roundRect">
            <a:avLst>
              <a:gd name="adj" fmla="val 14706"/>
            </a:avLst>
          </a:prstGeom>
          <a:solidFill>
            <a:srgbClr val="F4F4F4"/>
          </a:solidFill>
          <a:ln w="12700">
            <a:solidFill>
              <a:srgbClr val="EBEBEB"/>
            </a:solidFill>
            <a:prstDash val="solid"/>
          </a:ln>
        </p:spPr>
      </p:sp>
      <p:sp>
        <p:nvSpPr>
          <p:cNvPr id="9" name="Shape 7"/>
          <p:cNvSpPr/>
          <p:nvPr/>
        </p:nvSpPr>
        <p:spPr>
          <a:xfrm>
            <a:off x="365760" y="2084832"/>
            <a:ext cx="73152" cy="621792"/>
          </a:xfrm>
          <a:prstGeom prst="rect">
            <a:avLst/>
          </a:prstGeom>
          <a:solidFill>
            <a:srgbClr val="AF52DE"/>
          </a:solidFill>
          <a:ln/>
        </p:spPr>
      </p:sp>
      <p:sp>
        <p:nvSpPr>
          <p:cNvPr id="10" name="Text 8"/>
          <p:cNvSpPr txBox="1"/>
          <p:nvPr/>
        </p:nvSpPr>
        <p:spPr>
          <a:xfrm>
            <a:off x="566928" y="2139696"/>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Ubicaciones y Adyacencias</a:t>
            </a:r>
            <a:endParaRPr lang="en-US" sz="1300" dirty="0"/>
          </a:p>
        </p:txBody>
      </p:sp>
      <p:sp>
        <p:nvSpPr>
          <p:cNvPr id="11" name="Text 9"/>
          <p:cNvSpPr txBox="1"/>
          <p:nvPr/>
        </p:nvSpPr>
        <p:spPr>
          <a:xfrm>
            <a:off x="3200400" y="2139696"/>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Relaciones entre instalaciones permanentes y zonas de trabajo temporal. Impacto en movimientos de personal y material.</a:t>
            </a:r>
            <a:endParaRPr lang="en-US" sz="1100" dirty="0"/>
          </a:p>
        </p:txBody>
      </p:sp>
      <p:sp>
        <p:nvSpPr>
          <p:cNvPr id="12" name="Shape 10"/>
          <p:cNvSpPr/>
          <p:nvPr/>
        </p:nvSpPr>
        <p:spPr>
          <a:xfrm>
            <a:off x="365760" y="2798064"/>
            <a:ext cx="8412480" cy="621792"/>
          </a:xfrm>
          <a:prstGeom prst="roundRect">
            <a:avLst>
              <a:gd name="adj" fmla="val 14706"/>
            </a:avLst>
          </a:prstGeom>
          <a:solidFill>
            <a:srgbClr val="F4F4F4"/>
          </a:solidFill>
          <a:ln w="12700">
            <a:solidFill>
              <a:srgbClr val="EBEBEB"/>
            </a:solidFill>
            <a:prstDash val="solid"/>
          </a:ln>
        </p:spPr>
      </p:sp>
      <p:sp>
        <p:nvSpPr>
          <p:cNvPr id="13" name="Shape 11"/>
          <p:cNvSpPr/>
          <p:nvPr/>
        </p:nvSpPr>
        <p:spPr>
          <a:xfrm>
            <a:off x="365760" y="2798064"/>
            <a:ext cx="73152" cy="621792"/>
          </a:xfrm>
          <a:prstGeom prst="rect">
            <a:avLst/>
          </a:prstGeom>
          <a:solidFill>
            <a:srgbClr val="AF52DE"/>
          </a:solidFill>
          <a:ln/>
        </p:spPr>
      </p:sp>
      <p:sp>
        <p:nvSpPr>
          <p:cNvPr id="14" name="Text 12"/>
          <p:cNvSpPr txBox="1"/>
          <p:nvPr/>
        </p:nvSpPr>
        <p:spPr>
          <a:xfrm>
            <a:off x="566928" y="2852928"/>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Layout H vs. V</a:t>
            </a:r>
            <a:endParaRPr lang="en-US" sz="1300" dirty="0"/>
          </a:p>
        </p:txBody>
      </p:sp>
      <p:sp>
        <p:nvSpPr>
          <p:cNvPr id="15" name="Text 13"/>
          <p:cNvSpPr txBox="1"/>
          <p:nvPr/>
        </p:nvSpPr>
        <p:spPr>
          <a:xfrm>
            <a:off x="3200400" y="2852928"/>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Instalaciones horizontales (plantas) vs. verticales (edificios) tienen requisitos radicalmente distintos de acceso y secuenciación.</a:t>
            </a:r>
            <a:endParaRPr lang="en-US" sz="1100" dirty="0"/>
          </a:p>
        </p:txBody>
      </p:sp>
      <p:sp>
        <p:nvSpPr>
          <p:cNvPr id="16" name="Shape 14"/>
          <p:cNvSpPr/>
          <p:nvPr/>
        </p:nvSpPr>
        <p:spPr>
          <a:xfrm>
            <a:off x="365760" y="3511296"/>
            <a:ext cx="8412480" cy="621792"/>
          </a:xfrm>
          <a:prstGeom prst="roundRect">
            <a:avLst>
              <a:gd name="adj" fmla="val 14706"/>
            </a:avLst>
          </a:prstGeom>
          <a:solidFill>
            <a:srgbClr val="F4F4F4"/>
          </a:solidFill>
          <a:ln w="12700">
            <a:solidFill>
              <a:srgbClr val="EBEBEB"/>
            </a:solidFill>
            <a:prstDash val="solid"/>
          </a:ln>
        </p:spPr>
      </p:sp>
      <p:sp>
        <p:nvSpPr>
          <p:cNvPr id="17" name="Shape 15"/>
          <p:cNvSpPr/>
          <p:nvPr/>
        </p:nvSpPr>
        <p:spPr>
          <a:xfrm>
            <a:off x="365760" y="3511296"/>
            <a:ext cx="73152" cy="621792"/>
          </a:xfrm>
          <a:prstGeom prst="rect">
            <a:avLst/>
          </a:prstGeom>
          <a:solidFill>
            <a:srgbClr val="AF52DE"/>
          </a:solidFill>
          <a:ln/>
        </p:spPr>
      </p:sp>
      <p:sp>
        <p:nvSpPr>
          <p:cNvPr id="18" name="Text 16"/>
          <p:cNvSpPr txBox="1"/>
          <p:nvPr/>
        </p:nvSpPr>
        <p:spPr>
          <a:xfrm>
            <a:off x="566928" y="3566160"/>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Densidad de Trabajo</a:t>
            </a:r>
            <a:endParaRPr lang="en-US" sz="1300" dirty="0"/>
          </a:p>
        </p:txBody>
      </p:sp>
      <p:sp>
        <p:nvSpPr>
          <p:cNvPr id="19" name="Text 17"/>
          <p:cNvSpPr txBox="1"/>
          <p:nvPr/>
        </p:nvSpPr>
        <p:spPr>
          <a:xfrm>
            <a:off x="3200400" y="3566160"/>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Niveles de congestión de la zona de trabajo. Excesiva densidad reduce productividad y aumenta riesgos de seguridad.</a:t>
            </a:r>
            <a:endParaRPr lang="en-US" sz="1100" dirty="0"/>
          </a:p>
        </p:txBody>
      </p:sp>
      <p:sp>
        <p:nvSpPr>
          <p:cNvPr id="20" name="Shape 18"/>
          <p:cNvSpPr/>
          <p:nvPr/>
        </p:nvSpPr>
        <p:spPr>
          <a:xfrm>
            <a:off x="365760" y="4224528"/>
            <a:ext cx="8412480" cy="621792"/>
          </a:xfrm>
          <a:prstGeom prst="roundRect">
            <a:avLst>
              <a:gd name="adj" fmla="val 14706"/>
            </a:avLst>
          </a:prstGeom>
          <a:solidFill>
            <a:srgbClr val="F4F4F4"/>
          </a:solidFill>
          <a:ln w="12700">
            <a:solidFill>
              <a:srgbClr val="EBEBEB"/>
            </a:solidFill>
            <a:prstDash val="solid"/>
          </a:ln>
        </p:spPr>
      </p:sp>
      <p:sp>
        <p:nvSpPr>
          <p:cNvPr id="21" name="Shape 19"/>
          <p:cNvSpPr/>
          <p:nvPr/>
        </p:nvSpPr>
        <p:spPr>
          <a:xfrm>
            <a:off x="365760" y="4224528"/>
            <a:ext cx="73152" cy="621792"/>
          </a:xfrm>
          <a:prstGeom prst="rect">
            <a:avLst/>
          </a:prstGeom>
          <a:solidFill>
            <a:srgbClr val="AF52DE"/>
          </a:solidFill>
          <a:ln/>
        </p:spPr>
      </p:sp>
      <p:sp>
        <p:nvSpPr>
          <p:cNvPr id="22" name="Text 20"/>
          <p:cNvSpPr txBox="1"/>
          <p:nvPr/>
        </p:nvSpPr>
        <p:spPr>
          <a:xfrm>
            <a:off x="566928" y="4279392"/>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Secuenciamiento de Áreas</a:t>
            </a:r>
            <a:endParaRPr lang="en-US" sz="1300" dirty="0"/>
          </a:p>
        </p:txBody>
      </p:sp>
      <p:sp>
        <p:nvSpPr>
          <p:cNvPr id="23" name="Text 21"/>
          <p:cNvSpPr txBox="1"/>
          <p:nvPr/>
        </p:nvSpPr>
        <p:spPr>
          <a:xfrm>
            <a:off x="3200400" y="4279392"/>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"Area sterilization": zonas que se vuelven inaccesibles durante ciertas fases requieren planificación de acceso anticipada.</a:t>
            </a:r>
            <a:endParaRPr lang="en-US" sz="1100" dirty="0"/>
          </a:p>
        </p:txBody>
      </p:sp>
      <p:sp>
        <p:nvSpPr>
          <p:cNvPr id="24" name="Text 22"/>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Beneficios del planeamiento estratégico de distribución: eliminar trabajo duplicado, aumentar productividad unitaria, reducir riesgo y pérdidas. Herramienta: análisis GIS para routing de vehículos pesados.</a:t>
            </a:r>
            <a:endParaRPr lang="en-US" sz="10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25</a:t>
            </a:r>
            <a:endParaRPr lang="en-US" sz="900" dirty="0"/>
          </a:p>
        </p:txBody>
      </p:sp>
      <p:pic xmlns:p="http://schemas.openxmlformats.org/presentationml/2006/main" xmlns:a="http://schemas.openxmlformats.org/drawingml/2006/main" xmlns:r="http://schemas.openxmlformats.org/officeDocument/2006/relationships">
        <p:nvPicPr>
          <p:cNvPr id="8025" name="SlideIcon8025"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I-7: Tecnologías de Información para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"Las tecnologías de información avanzadas se aplican para facilitar la construcción eficiente."</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clave de la Tecnología de Información:</a:t>
            </a:r>
            <a:endParaRPr lang="en-US" sz="1300" dirty="0"/>
          </a:p>
        </p:txBody>
      </p:sp>
      <p:sp>
        <p:nvSpPr>
          <p:cNvPr id="8" name="Shape 6"/>
          <p:cNvSpPr/>
          <p:nvPr/>
        </p:nvSpPr>
        <p:spPr>
          <a:xfrm>
            <a:off x="365760" y="2084832"/>
            <a:ext cx="4206240" cy="914400"/>
          </a:xfrm>
          <a:prstGeom prst="roundRect">
            <a:avLst>
              <a:gd name="adj" fmla="val 10000"/>
            </a:avLst>
          </a:prstGeom>
          <a:solidFill>
            <a:srgbClr val="F4F4F4"/>
          </a:solidFill>
          <a:ln w="12700">
            <a:solidFill>
              <a:srgbClr val="0A84FF"/>
            </a:solidFill>
            <a:prstDash val="solid"/>
          </a:ln>
        </p:spPr>
      </p:sp>
      <p:sp>
        <p:nvSpPr>
          <p:cNvPr id="9" name="Text 7"/>
          <p:cNvSpPr txBox="1"/>
          <p:nvPr/>
        </p:nvSpPr>
        <p:spPr>
          <a:xfrm>
            <a:off x="548640" y="2157984"/>
            <a:ext cx="384048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Facilidad de Uso</a:t>
            </a:r>
            <a:endParaRPr lang="en-US" sz="1200" dirty="0"/>
          </a:p>
        </p:txBody>
      </p:sp>
      <p:sp>
        <p:nvSpPr>
          <p:cNvPr id="10" name="Text 8"/>
          <p:cNvSpPr txBox="1"/>
          <p:nvPr/>
        </p:nvSpPr>
        <p:spPr>
          <a:xfrm>
            <a:off x="54864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Trabajo más fácil, menos tedioso. Interfaz amigable que el campo puede adoptar sin capacitación extensa.</a:t>
            </a:r>
            <a:endParaRPr lang="en-US" sz="1100" dirty="0"/>
          </a:p>
        </p:txBody>
      </p:sp>
      <p:sp>
        <p:nvSpPr>
          <p:cNvPr id="11" name="Shape 9"/>
          <p:cNvSpPr/>
          <p:nvPr/>
        </p:nvSpPr>
        <p:spPr>
          <a:xfrm>
            <a:off x="4754880" y="2084832"/>
            <a:ext cx="4206240" cy="914400"/>
          </a:xfrm>
          <a:prstGeom prst="roundRect">
            <a:avLst>
              <a:gd name="adj" fmla="val 10000"/>
            </a:avLst>
          </a:prstGeom>
          <a:solidFill>
            <a:srgbClr val="F4F4F4"/>
          </a:solidFill>
          <a:ln w="12700">
            <a:solidFill>
              <a:srgbClr val="30D158"/>
            </a:solidFill>
            <a:prstDash val="solid"/>
          </a:ln>
        </p:spPr>
      </p:sp>
      <p:sp>
        <p:nvSpPr>
          <p:cNvPr id="12" name="Text 10"/>
          <p:cNvSpPr txBox="1"/>
          <p:nvPr/>
        </p:nvSpPr>
        <p:spPr>
          <a:xfrm>
            <a:off x="4937760" y="2157984"/>
            <a:ext cx="384048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Menos Duplicación</a:t>
            </a:r>
            <a:endParaRPr lang="en-US" sz="1200" dirty="0"/>
          </a:p>
        </p:txBody>
      </p:sp>
      <p:sp>
        <p:nvSpPr>
          <p:cNvPr id="13" name="Text 11"/>
          <p:cNvSpPr txBox="1"/>
          <p:nvPr/>
        </p:nvSpPr>
        <p:spPr>
          <a:xfrm>
            <a:off x="493776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Entrada única de datos. La información creada en diseño fluye directamente a campo sin re-ingreso.</a:t>
            </a:r>
            <a:endParaRPr lang="en-US" sz="1100" dirty="0"/>
          </a:p>
        </p:txBody>
      </p:sp>
      <p:sp>
        <p:nvSpPr>
          <p:cNvPr id="14" name="Shape 12"/>
          <p:cNvSpPr/>
          <p:nvPr/>
        </p:nvSpPr>
        <p:spPr>
          <a:xfrm>
            <a:off x="365760" y="3108960"/>
            <a:ext cx="4206240" cy="914400"/>
          </a:xfrm>
          <a:prstGeom prst="roundRect">
            <a:avLst>
              <a:gd name="adj" fmla="val 10000"/>
            </a:avLst>
          </a:prstGeom>
          <a:solidFill>
            <a:srgbClr val="F4F4F4"/>
          </a:solidFill>
          <a:ln w="12700">
            <a:solidFill>
              <a:srgbClr val="FF9500"/>
            </a:solidFill>
            <a:prstDash val="solid"/>
          </a:ln>
        </p:spPr>
      </p:sp>
      <p:sp>
        <p:nvSpPr>
          <p:cNvPr id="15" name="Text 13"/>
          <p:cNvSpPr txBox="1"/>
          <p:nvPr/>
        </p:nvSpPr>
        <p:spPr>
          <a:xfrm>
            <a:off x="548640" y="3182112"/>
            <a:ext cx="384048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Mayor Precisión</a:t>
            </a:r>
            <a:endParaRPr lang="en-US" sz="1200" dirty="0"/>
          </a:p>
        </p:txBody>
      </p:sp>
      <p:sp>
        <p:nvSpPr>
          <p:cNvPr id="16" name="Text 14"/>
          <p:cNvSpPr txBox="1"/>
          <p:nvPr/>
        </p:nvSpPr>
        <p:spPr>
          <a:xfrm>
            <a:off x="54864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Exactitud y oportunidad mejoradas. Errores de transcripción eliminados en documentos críticos.</a:t>
            </a:r>
            <a:endParaRPr lang="en-US" sz="1100" dirty="0"/>
          </a:p>
        </p:txBody>
      </p:sp>
      <p:sp>
        <p:nvSpPr>
          <p:cNvPr id="17" name="Shape 15"/>
          <p:cNvSpPr/>
          <p:nvPr/>
        </p:nvSpPr>
        <p:spPr>
          <a:xfrm>
            <a:off x="4754880" y="3108960"/>
            <a:ext cx="4206240" cy="914400"/>
          </a:xfrm>
          <a:prstGeom prst="roundRect">
            <a:avLst>
              <a:gd name="adj" fmla="val 10000"/>
            </a:avLst>
          </a:prstGeom>
          <a:solidFill>
            <a:srgbClr val="F4F4F4"/>
          </a:solidFill>
          <a:ln w="12700">
            <a:solidFill>
              <a:srgbClr val="AF52DE"/>
            </a:solidFill>
            <a:prstDash val="solid"/>
          </a:ln>
        </p:spPr>
      </p:sp>
      <p:sp>
        <p:nvSpPr>
          <p:cNvPr id="18" name="Text 16"/>
          <p:cNvSpPr txBox="1"/>
          <p:nvPr/>
        </p:nvSpPr>
        <p:spPr>
          <a:xfrm>
            <a:off x="4937760" y="3182112"/>
            <a:ext cx="384048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Documentación</a:t>
            </a:r>
            <a:endParaRPr lang="en-US" sz="1200" dirty="0"/>
          </a:p>
        </p:txBody>
      </p:sp>
      <p:sp>
        <p:nvSpPr>
          <p:cNvPr id="19" name="Text 17"/>
          <p:cNvSpPr txBox="1"/>
          <p:nvPr/>
        </p:nvSpPr>
        <p:spPr>
          <a:xfrm>
            <a:off x="493776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permanente para beneficio futuro. Base de datos de lecciones aprendidas del proyecto.</a:t>
            </a:r>
            <a:endParaRPr lang="en-US" sz="1100" dirty="0"/>
          </a:p>
        </p:txBody>
      </p:sp>
      <p:sp>
        <p:nvSpPr>
          <p:cNvPr id="20" name="Text 18"/>
          <p:cNvSpPr txBox="1"/>
          <p:nvPr/>
        </p:nvSpPr>
        <p:spPr>
          <a:xfrm>
            <a:off x="365760" y="4160520"/>
            <a:ext cx="841248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IT aplicables: BIM 3D/4D, modelos IFC, e-Commerce, ERP, GIS, comunicación web, código de barras, simulación de procesos, planificación de izajes, RFID en equipos, computación en campo, DB de lecciones aprendidas.</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26</a:t>
            </a:r>
            <a:endParaRPr lang="en-US" sz="900" dirty="0"/>
          </a:p>
        </p:txBody>
      </p:sp>
      <p:pic xmlns:p="http://schemas.openxmlformats.org/presentationml/2006/main" xmlns:a="http://schemas.openxmlformats.org/drawingml/2006/main" xmlns:r="http://schemas.openxmlformats.org/officeDocument/2006/relationships">
        <p:nvPicPr>
          <p:cNvPr id="8026" name="SlideIcon8026"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BIM y Constructabilidad — La Intersección Tecnológica Clave</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(Building Information Modeling) potencia todos los conceptos de constructabilidad de la Fase I:</a:t>
            </a:r>
            <a:endParaRPr lang="en-US" sz="1200" dirty="0"/>
          </a:p>
        </p:txBody>
      </p:sp>
      <p:sp>
        <p:nvSpPr>
          <p:cNvPr id="6" name="Shape 4"/>
          <p:cNvSpPr/>
          <p:nvPr/>
        </p:nvSpPr>
        <p:spPr>
          <a:xfrm>
            <a:off x="365760" y="1298448"/>
            <a:ext cx="4206240" cy="1115568"/>
          </a:xfrm>
          <a:prstGeom prst="roundRect">
            <a:avLst>
              <a:gd name="adj" fmla="val 8197"/>
            </a:avLst>
          </a:prstGeom>
          <a:solidFill>
            <a:srgbClr val="F4F4F4"/>
          </a:solidFill>
          <a:ln w="12700">
            <a:solidFill>
              <a:srgbClr val="EBEBEB"/>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3D CAD / BIM</a:t>
            </a:r>
            <a:endParaRPr lang="en-US" sz="1200" dirty="0"/>
          </a:p>
        </p:txBody>
      </p:sp>
      <p:sp>
        <p:nvSpPr>
          <p:cNvPr id="9" name="Text 7"/>
          <p:cNvSpPr txBox="1"/>
          <p:nvPr/>
        </p:nvSpPr>
        <p:spPr>
          <a:xfrm>
            <a:off x="56692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Detección de interferencias entre sistemas antes de llegar a campo. Reduce el retrabajo en un 50-80% en proyectos bien modelados.</a:t>
            </a:r>
            <a:endParaRPr lang="en-US" sz="1050" dirty="0"/>
          </a:p>
        </p:txBody>
      </p:sp>
      <p:sp>
        <p:nvSpPr>
          <p:cNvPr id="10" name="Shape 8"/>
          <p:cNvSpPr/>
          <p:nvPr/>
        </p:nvSpPr>
        <p:spPr>
          <a:xfrm>
            <a:off x="4754880" y="1298448"/>
            <a:ext cx="4206240" cy="1115568"/>
          </a:xfrm>
          <a:prstGeom prst="roundRect">
            <a:avLst>
              <a:gd name="adj" fmla="val 8197"/>
            </a:avLst>
          </a:prstGeom>
          <a:solidFill>
            <a:srgbClr val="F4F4F4"/>
          </a:solidFill>
          <a:ln w="12700">
            <a:solidFill>
              <a:srgbClr val="EBEBEB"/>
            </a:solidFill>
            <a:prstDash val="solid"/>
          </a:ln>
        </p:spPr>
      </p:sp>
      <p:sp>
        <p:nvSpPr>
          <p:cNvPr id="11" name="Shape 9"/>
          <p:cNvSpPr/>
          <p:nvPr/>
        </p:nvSpPr>
        <p:spPr>
          <a:xfrm>
            <a:off x="4754880" y="1298448"/>
            <a:ext cx="73152" cy="1115568"/>
          </a:xfrm>
          <a:prstGeom prst="rect">
            <a:avLst/>
          </a:prstGeom>
          <a:solidFill>
            <a:srgbClr val="64D2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4D (BIM + Tiempo)</a:t>
            </a:r>
            <a:endParaRPr lang="en-US" sz="1200" dirty="0"/>
          </a:p>
        </p:txBody>
      </p:sp>
      <p:sp>
        <p:nvSpPr>
          <p:cNvPr id="13" name="Text 11"/>
          <p:cNvSpPr txBox="1"/>
          <p:nvPr/>
        </p:nvSpPr>
        <p:spPr>
          <a:xfrm>
            <a:off x="495604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visual del proceso constructivo. Permite visualizar la secuencia de trabajo e identificar problemas de acceso y secuenciación anticipadamente.</a:t>
            </a:r>
            <a:endParaRPr lang="en-US" sz="1050" dirty="0"/>
          </a:p>
        </p:txBody>
      </p:sp>
      <p:sp>
        <p:nvSpPr>
          <p:cNvPr id="14" name="Shape 12"/>
          <p:cNvSpPr/>
          <p:nvPr/>
        </p:nvSpPr>
        <p:spPr>
          <a:xfrm>
            <a:off x="365760" y="2532888"/>
            <a:ext cx="4206240" cy="1115568"/>
          </a:xfrm>
          <a:prstGeom prst="roundRect">
            <a:avLst>
              <a:gd name="adj" fmla="val 8197"/>
            </a:avLst>
          </a:prstGeom>
          <a:solidFill>
            <a:srgbClr val="F4F4F4"/>
          </a:solidFill>
          <a:ln w="12700">
            <a:solidFill>
              <a:srgbClr val="EBEBEB"/>
            </a:solidFill>
            <a:prstDash val="solid"/>
          </a:ln>
        </p:spPr>
      </p:sp>
      <p:sp>
        <p:nvSpPr>
          <p:cNvPr id="15" name="Shape 13"/>
          <p:cNvSpPr/>
          <p:nvPr/>
        </p:nvSpPr>
        <p:spPr>
          <a:xfrm>
            <a:off x="365760" y="2532888"/>
            <a:ext cx="73152" cy="1115568"/>
          </a:xfrm>
          <a:prstGeom prst="rect">
            <a:avLst/>
          </a:prstGeom>
          <a:solidFill>
            <a:srgbClr val="30D158"/>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5D (BIM + Costo)</a:t>
            </a:r>
            <a:endParaRPr lang="en-US" sz="1200" dirty="0"/>
          </a:p>
        </p:txBody>
      </p:sp>
      <p:sp>
        <p:nvSpPr>
          <p:cNvPr id="17" name="Text 15"/>
          <p:cNvSpPr txBox="1"/>
          <p:nvPr/>
        </p:nvSpPr>
        <p:spPr>
          <a:xfrm>
            <a:off x="56692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Extracción de metrados y estimados directamente del modelo. Actualización automática al cambiar diseño.</a:t>
            </a:r>
            <a:endParaRPr lang="en-US" sz="1050" dirty="0"/>
          </a:p>
        </p:txBody>
      </p:sp>
      <p:sp>
        <p:nvSpPr>
          <p:cNvPr id="18" name="Shape 16"/>
          <p:cNvSpPr/>
          <p:nvPr/>
        </p:nvSpPr>
        <p:spPr>
          <a:xfrm>
            <a:off x="4754880" y="2532888"/>
            <a:ext cx="4206240" cy="1115568"/>
          </a:xfrm>
          <a:prstGeom prst="roundRect">
            <a:avLst>
              <a:gd name="adj" fmla="val 8197"/>
            </a:avLst>
          </a:prstGeom>
          <a:solidFill>
            <a:srgbClr val="F4F4F4"/>
          </a:solidFill>
          <a:ln w="12700">
            <a:solidFill>
              <a:srgbClr val="EBEBEB"/>
            </a:solidFill>
            <a:prstDash val="solid"/>
          </a:ln>
        </p:spPr>
      </p:sp>
      <p:sp>
        <p:nvSpPr>
          <p:cNvPr id="19" name="Shape 17"/>
          <p:cNvSpPr/>
          <p:nvPr/>
        </p:nvSpPr>
        <p:spPr>
          <a:xfrm>
            <a:off x="4754880" y="2532888"/>
            <a:ext cx="73152" cy="1115568"/>
          </a:xfrm>
          <a:prstGeom prst="rect">
            <a:avLst/>
          </a:prstGeom>
          <a:solidFill>
            <a:srgbClr val="FF9500"/>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Detección de Interferencias</a:t>
            </a:r>
            <a:endParaRPr lang="en-US" sz="1200" dirty="0"/>
          </a:p>
        </p:txBody>
      </p:sp>
      <p:sp>
        <p:nvSpPr>
          <p:cNvPr id="21" name="Text 19"/>
          <p:cNvSpPr txBox="1"/>
          <p:nvPr/>
        </p:nvSpPr>
        <p:spPr>
          <a:xfrm>
            <a:off x="495604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Clash detection automático entre estructuras, tuberías, eléctricas, HVAC. Crítico para plantas industriales.</a:t>
            </a:r>
            <a:endParaRPr lang="en-US" sz="1050" dirty="0"/>
          </a:p>
        </p:txBody>
      </p:sp>
      <p:sp>
        <p:nvSpPr>
          <p:cNvPr id="22" name="Shape 20"/>
          <p:cNvSpPr/>
          <p:nvPr/>
        </p:nvSpPr>
        <p:spPr>
          <a:xfrm>
            <a:off x="365760" y="3767328"/>
            <a:ext cx="4206240" cy="1115568"/>
          </a:xfrm>
          <a:prstGeom prst="roundRect">
            <a:avLst>
              <a:gd name="adj" fmla="val 8197"/>
            </a:avLst>
          </a:prstGeom>
          <a:solidFill>
            <a:srgbClr val="F4F4F4"/>
          </a:solidFill>
          <a:ln w="12700">
            <a:solidFill>
              <a:srgbClr val="EBEBEB"/>
            </a:solidFill>
            <a:prstDash val="solid"/>
          </a:ln>
        </p:spPr>
      </p:sp>
      <p:sp>
        <p:nvSpPr>
          <p:cNvPr id="23" name="Shape 21"/>
          <p:cNvSpPr/>
          <p:nvPr/>
        </p:nvSpPr>
        <p:spPr>
          <a:xfrm>
            <a:off x="365760" y="3767328"/>
            <a:ext cx="73152" cy="1115568"/>
          </a:xfrm>
          <a:prstGeom prst="rect">
            <a:avLst/>
          </a:prstGeom>
          <a:solidFill>
            <a:srgbClr val="FF453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Planificación de Izajes</a:t>
            </a:r>
            <a:endParaRPr lang="en-US" sz="1200" dirty="0"/>
          </a:p>
        </p:txBody>
      </p:sp>
      <p:sp>
        <p:nvSpPr>
          <p:cNvPr id="25" name="Text 23"/>
          <p:cNvSpPr txBox="1"/>
          <p:nvPr/>
        </p:nvSpPr>
        <p:spPr>
          <a:xfrm>
            <a:off x="56692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de movimientos de grúa en el modelo 3D. Verificación de accesos y alcances antes de la ejecución.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F4F4F4"/>
          </a:solidFill>
          <a:ln w="12700">
            <a:solidFill>
              <a:srgbClr val="EBEBEB"/>
            </a:solidFill>
            <a:prstDash val="solid"/>
          </a:ln>
        </p:spPr>
      </p:sp>
      <p:sp>
        <p:nvSpPr>
          <p:cNvPr id="27" name="Shape 25"/>
          <p:cNvSpPr/>
          <p:nvPr/>
        </p:nvSpPr>
        <p:spPr>
          <a:xfrm>
            <a:off x="4754880" y="3767328"/>
            <a:ext cx="73152" cy="1115568"/>
          </a:xfrm>
          <a:prstGeom prst="rect">
            <a:avLst/>
          </a:prstGeom>
          <a:solidFill>
            <a:srgbClr val="AF52DE"/>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Routing en Sitio</a:t>
            </a:r>
            <a:endParaRPr lang="en-US" sz="1200" dirty="0"/>
          </a:p>
        </p:txBody>
      </p:sp>
      <p:sp>
        <p:nvSpPr>
          <p:cNvPr id="29" name="Text 27"/>
          <p:cNvSpPr txBox="1"/>
          <p:nvPr/>
        </p:nvSpPr>
        <p:spPr>
          <a:xfrm>
            <a:off x="495604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GIS + BIM para planificar el movimiento de vehículos pesados y equipos especiales en el sitio de construcción.</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27</a:t>
            </a:r>
            <a:endParaRPr lang="en-US" sz="900" dirty="0"/>
          </a:p>
        </p:txBody>
      </p:sp>
      <p:pic xmlns:p="http://schemas.openxmlformats.org/presentationml/2006/main" xmlns:a="http://schemas.openxmlformats.org/drawingml/2006/main" xmlns:r="http://schemas.openxmlformats.org/officeDocument/2006/relationships">
        <p:nvPicPr>
          <p:cNvPr id="8027" name="SlideIcon8027"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04</a:t>
            </a:r>
            <a:endParaRPr lang="en-US" sz="32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Conceptos Fase II</a:t>
            </a:r>
            <a:endParaRPr lang="en-US" sz="28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Diseño y Procura — 8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28</a:t>
            </a:r>
            <a:endParaRPr lang="en-US" sz="900" dirty="0"/>
          </a:p>
        </p:txBody>
      </p:sp>
      <p:pic xmlns:p="http://schemas.openxmlformats.org/presentationml/2006/main" xmlns:a="http://schemas.openxmlformats.org/drawingml/2006/main" xmlns:r="http://schemas.openxmlformats.org/officeDocument/2006/relationships">
        <p:nvPicPr>
          <p:cNvPr id="8028" name="SlideIcon8028" descr="icon"/>
          <p:cNvPicPr>
            <a:picLocks noChangeAspect="1"/>
          </p:cNvPicPr>
          <p:nvPr/>
        </p:nvPicPr>
        <p:blipFill>
          <a:blip r:embed="rId9008"/>
          <a:stretch>
            <a:fillRect/>
          </a:stretch>
        </p:blipFill>
        <p:spPr>
          <a:xfrm>
            <a:off x="73152" y="118872"/>
            <a:ext cx="347472" cy="34747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II — Diseño y Procura: Visión General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Proyectos industriales: Diseño de detalle + procura de largo plazo. Proyectos comerciales: Desarrollo del diseño + planos de trabajo.</a:t>
            </a:r>
            <a:endParaRPr lang="en-US" sz="1300" dirty="0"/>
          </a:p>
        </p:txBody>
      </p:sp>
      <p:sp>
        <p:nvSpPr>
          <p:cNvPr id="6" name="Shape 4"/>
          <p:cNvSpPr/>
          <p:nvPr/>
        </p:nvSpPr>
        <p:spPr>
          <a:xfrm>
            <a:off x="365760" y="1325880"/>
            <a:ext cx="4206240" cy="804672"/>
          </a:xfrm>
          <a:prstGeom prst="roundRect">
            <a:avLst>
              <a:gd name="adj" fmla="val 11364"/>
            </a:avLst>
          </a:prstGeom>
          <a:solidFill>
            <a:srgbClr val="F4F4F4"/>
          </a:solidFill>
          <a:ln w="12700">
            <a:solidFill>
              <a:srgbClr val="EBEBEB"/>
            </a:solidFill>
            <a:prstDash val="solid"/>
          </a:ln>
        </p:spPr>
      </p:sp>
      <p:sp>
        <p:nvSpPr>
          <p:cNvPr id="7" name="Shape 5"/>
          <p:cNvSpPr/>
          <p:nvPr/>
        </p:nvSpPr>
        <p:spPr>
          <a:xfrm>
            <a:off x="365760" y="1325880"/>
            <a:ext cx="73152" cy="804672"/>
          </a:xfrm>
          <a:prstGeom prst="rect">
            <a:avLst/>
          </a:prstGeom>
          <a:solidFill>
            <a:srgbClr val="0A84FF"/>
          </a:solidFill>
          <a:ln/>
        </p:spPr>
      </p:sp>
      <p:sp>
        <p:nvSpPr>
          <p:cNvPr id="8" name="Text 6"/>
          <p:cNvSpPr txBox="1"/>
          <p:nvPr/>
        </p:nvSpPr>
        <p:spPr>
          <a:xfrm>
            <a:off x="566928" y="1389888"/>
            <a:ext cx="54864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II-1</a:t>
            </a:r>
            <a:endParaRPr lang="en-US" sz="1500" dirty="0"/>
          </a:p>
        </p:txBody>
      </p:sp>
      <p:sp>
        <p:nvSpPr>
          <p:cNvPr id="9" name="Text 7"/>
          <p:cNvSpPr txBox="1"/>
          <p:nvPr/>
        </p:nvSpPr>
        <p:spPr>
          <a:xfrm>
            <a:off x="117043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Cronogramas D&amp;P orientados a construcción</a:t>
            </a:r>
            <a:endParaRPr lang="en-US" sz="1200" dirty="0"/>
          </a:p>
        </p:txBody>
      </p:sp>
      <p:sp>
        <p:nvSpPr>
          <p:cNvPr id="10" name="Shape 8"/>
          <p:cNvSpPr/>
          <p:nvPr/>
        </p:nvSpPr>
        <p:spPr>
          <a:xfrm>
            <a:off x="4754880" y="1325880"/>
            <a:ext cx="4206240" cy="804672"/>
          </a:xfrm>
          <a:prstGeom prst="roundRect">
            <a:avLst>
              <a:gd name="adj" fmla="val 11364"/>
            </a:avLst>
          </a:prstGeom>
          <a:solidFill>
            <a:srgbClr val="F4F4F4"/>
          </a:solidFill>
          <a:ln w="12700">
            <a:solidFill>
              <a:srgbClr val="EBEBEB"/>
            </a:solidFill>
            <a:prstDash val="solid"/>
          </a:ln>
        </p:spPr>
      </p:sp>
      <p:sp>
        <p:nvSpPr>
          <p:cNvPr id="11" name="Shape 9"/>
          <p:cNvSpPr/>
          <p:nvPr/>
        </p:nvSpPr>
        <p:spPr>
          <a:xfrm>
            <a:off x="4754880" y="1325880"/>
            <a:ext cx="73152" cy="804672"/>
          </a:xfrm>
          <a:prstGeom prst="rect">
            <a:avLst/>
          </a:prstGeom>
          <a:solidFill>
            <a:srgbClr val="FF9500"/>
          </a:solidFill>
          <a:ln/>
        </p:spPr>
      </p:sp>
      <p:sp>
        <p:nvSpPr>
          <p:cNvPr id="12" name="Text 10"/>
          <p:cNvSpPr txBox="1"/>
          <p:nvPr/>
        </p:nvSpPr>
        <p:spPr>
          <a:xfrm>
            <a:off x="4956048" y="1389888"/>
            <a:ext cx="54864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II-2</a:t>
            </a:r>
            <a:endParaRPr lang="en-US" sz="1500" dirty="0"/>
          </a:p>
        </p:txBody>
      </p:sp>
      <p:sp>
        <p:nvSpPr>
          <p:cNvPr id="13" name="Text 11"/>
          <p:cNvSpPr txBox="1"/>
          <p:nvPr/>
        </p:nvSpPr>
        <p:spPr>
          <a:xfrm>
            <a:off x="555955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configurados para eficiencia constructiva</a:t>
            </a:r>
            <a:endParaRPr lang="en-US" sz="1200" dirty="0"/>
          </a:p>
        </p:txBody>
      </p:sp>
      <p:sp>
        <p:nvSpPr>
          <p:cNvPr id="14" name="Shape 12"/>
          <p:cNvSpPr/>
          <p:nvPr/>
        </p:nvSpPr>
        <p:spPr>
          <a:xfrm>
            <a:off x="365760" y="2240280"/>
            <a:ext cx="4206240" cy="804672"/>
          </a:xfrm>
          <a:prstGeom prst="roundRect">
            <a:avLst>
              <a:gd name="adj" fmla="val 11364"/>
            </a:avLst>
          </a:prstGeom>
          <a:solidFill>
            <a:srgbClr val="F4F4F4"/>
          </a:solidFill>
          <a:ln w="12700">
            <a:solidFill>
              <a:srgbClr val="EBEBEB"/>
            </a:solidFill>
            <a:prstDash val="solid"/>
          </a:ln>
        </p:spPr>
      </p:sp>
      <p:sp>
        <p:nvSpPr>
          <p:cNvPr id="15" name="Shape 13"/>
          <p:cNvSpPr/>
          <p:nvPr/>
        </p:nvSpPr>
        <p:spPr>
          <a:xfrm>
            <a:off x="365760" y="2240280"/>
            <a:ext cx="73152" cy="804672"/>
          </a:xfrm>
          <a:prstGeom prst="rect">
            <a:avLst/>
          </a:prstGeom>
          <a:solidFill>
            <a:srgbClr val="30D158"/>
          </a:solidFill>
          <a:ln/>
        </p:spPr>
      </p:sp>
      <p:sp>
        <p:nvSpPr>
          <p:cNvPr id="16" name="Text 14"/>
          <p:cNvSpPr txBox="1"/>
          <p:nvPr/>
        </p:nvSpPr>
        <p:spPr>
          <a:xfrm>
            <a:off x="566928" y="2304288"/>
            <a:ext cx="54864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II-3</a:t>
            </a:r>
            <a:endParaRPr lang="en-US" sz="1500" dirty="0"/>
          </a:p>
        </p:txBody>
      </p:sp>
      <p:sp>
        <p:nvSpPr>
          <p:cNvPr id="17" name="Text 15"/>
          <p:cNvSpPr txBox="1"/>
          <p:nvPr/>
        </p:nvSpPr>
        <p:spPr>
          <a:xfrm>
            <a:off x="117043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Estandarización de elementos de diseño</a:t>
            </a:r>
            <a:endParaRPr lang="en-US" sz="1200" dirty="0"/>
          </a:p>
        </p:txBody>
      </p:sp>
      <p:sp>
        <p:nvSpPr>
          <p:cNvPr id="18" name="Shape 16"/>
          <p:cNvSpPr/>
          <p:nvPr/>
        </p:nvSpPr>
        <p:spPr>
          <a:xfrm>
            <a:off x="4754880" y="2240280"/>
            <a:ext cx="4206240" cy="804672"/>
          </a:xfrm>
          <a:prstGeom prst="roundRect">
            <a:avLst>
              <a:gd name="adj" fmla="val 11364"/>
            </a:avLst>
          </a:prstGeom>
          <a:solidFill>
            <a:srgbClr val="F4F4F4"/>
          </a:solidFill>
          <a:ln w="12700">
            <a:solidFill>
              <a:srgbClr val="EBEBEB"/>
            </a:solidFill>
            <a:prstDash val="solid"/>
          </a:ln>
        </p:spPr>
      </p:sp>
      <p:sp>
        <p:nvSpPr>
          <p:cNvPr id="19" name="Shape 17"/>
          <p:cNvSpPr/>
          <p:nvPr/>
        </p:nvSpPr>
        <p:spPr>
          <a:xfrm>
            <a:off x="4754880" y="2240280"/>
            <a:ext cx="73152" cy="804672"/>
          </a:xfrm>
          <a:prstGeom prst="rect">
            <a:avLst/>
          </a:prstGeom>
          <a:solidFill>
            <a:srgbClr val="AF52DE"/>
          </a:solidFill>
          <a:ln/>
        </p:spPr>
      </p:sp>
      <p:sp>
        <p:nvSpPr>
          <p:cNvPr id="20" name="Text 18"/>
          <p:cNvSpPr txBox="1"/>
          <p:nvPr/>
        </p:nvSpPr>
        <p:spPr>
          <a:xfrm>
            <a:off x="4956048" y="2304288"/>
            <a:ext cx="54864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II-4</a:t>
            </a:r>
            <a:endParaRPr lang="en-US" sz="1500" dirty="0"/>
          </a:p>
        </p:txBody>
      </p:sp>
      <p:sp>
        <p:nvSpPr>
          <p:cNvPr id="21" name="Text 19"/>
          <p:cNvSpPr txBox="1"/>
          <p:nvPr/>
        </p:nvSpPr>
        <p:spPr>
          <a:xfrm>
            <a:off x="555955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Eficiencia en documentos de contrato (planos y specs)</a:t>
            </a:r>
            <a:endParaRPr lang="en-US" sz="1200" dirty="0"/>
          </a:p>
        </p:txBody>
      </p:sp>
      <p:sp>
        <p:nvSpPr>
          <p:cNvPr id="22" name="Shape 20"/>
          <p:cNvSpPr/>
          <p:nvPr/>
        </p:nvSpPr>
        <p:spPr>
          <a:xfrm>
            <a:off x="365760" y="3154680"/>
            <a:ext cx="4206240" cy="804672"/>
          </a:xfrm>
          <a:prstGeom prst="roundRect">
            <a:avLst>
              <a:gd name="adj" fmla="val 11364"/>
            </a:avLst>
          </a:prstGeom>
          <a:solidFill>
            <a:srgbClr val="F4F4F4"/>
          </a:solidFill>
          <a:ln w="12700">
            <a:solidFill>
              <a:srgbClr val="EBEBEB"/>
            </a:solidFill>
            <a:prstDash val="solid"/>
          </a:ln>
        </p:spPr>
      </p:sp>
      <p:sp>
        <p:nvSpPr>
          <p:cNvPr id="23" name="Shape 21"/>
          <p:cNvSpPr/>
          <p:nvPr/>
        </p:nvSpPr>
        <p:spPr>
          <a:xfrm>
            <a:off x="365760" y="3154680"/>
            <a:ext cx="73152" cy="804672"/>
          </a:xfrm>
          <a:prstGeom prst="rect">
            <a:avLst/>
          </a:prstGeom>
          <a:solidFill>
            <a:srgbClr val="FF453A"/>
          </a:solidFill>
          <a:ln/>
        </p:spPr>
      </p:sp>
      <p:sp>
        <p:nvSpPr>
          <p:cNvPr id="24" name="Text 22"/>
          <p:cNvSpPr txBox="1"/>
          <p:nvPr/>
        </p:nvSpPr>
        <p:spPr>
          <a:xfrm>
            <a:off x="566928" y="3218688"/>
            <a:ext cx="54864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II-5</a:t>
            </a:r>
            <a:endParaRPr lang="en-US" sz="1500" dirty="0"/>
          </a:p>
        </p:txBody>
      </p:sp>
      <p:sp>
        <p:nvSpPr>
          <p:cNvPr id="25" name="Text 23"/>
          <p:cNvSpPr txBox="1"/>
          <p:nvPr/>
        </p:nvSpPr>
        <p:spPr>
          <a:xfrm>
            <a:off x="117043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PPMOF (Prefab, Preassembly, Modularización)</a:t>
            </a:r>
            <a:endParaRPr lang="en-US" sz="1200" dirty="0"/>
          </a:p>
        </p:txBody>
      </p:sp>
      <p:sp>
        <p:nvSpPr>
          <p:cNvPr id="26" name="Shape 24"/>
          <p:cNvSpPr/>
          <p:nvPr/>
        </p:nvSpPr>
        <p:spPr>
          <a:xfrm>
            <a:off x="4754880" y="3154680"/>
            <a:ext cx="4206240" cy="804672"/>
          </a:xfrm>
          <a:prstGeom prst="roundRect">
            <a:avLst>
              <a:gd name="adj" fmla="val 11364"/>
            </a:avLst>
          </a:prstGeom>
          <a:solidFill>
            <a:srgbClr val="F4F4F4"/>
          </a:solidFill>
          <a:ln w="12700">
            <a:solidFill>
              <a:srgbClr val="EBEBEB"/>
            </a:solidFill>
            <a:prstDash val="solid"/>
          </a:ln>
        </p:spPr>
      </p:sp>
      <p:sp>
        <p:nvSpPr>
          <p:cNvPr id="27" name="Shape 25"/>
          <p:cNvSpPr/>
          <p:nvPr/>
        </p:nvSpPr>
        <p:spPr>
          <a:xfrm>
            <a:off x="4754880" y="3154680"/>
            <a:ext cx="73152" cy="804672"/>
          </a:xfrm>
          <a:prstGeom prst="rect">
            <a:avLst/>
          </a:prstGeom>
          <a:solidFill>
            <a:srgbClr val="FFD60A"/>
          </a:solidFill>
          <a:ln/>
        </p:spPr>
      </p:sp>
      <p:sp>
        <p:nvSpPr>
          <p:cNvPr id="28" name="Text 26"/>
          <p:cNvSpPr txBox="1"/>
          <p:nvPr/>
        </p:nvSpPr>
        <p:spPr>
          <a:xfrm>
            <a:off x="4956048" y="3218688"/>
            <a:ext cx="54864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II-6</a:t>
            </a:r>
            <a:endParaRPr lang="en-US" sz="1500" dirty="0"/>
          </a:p>
        </p:txBody>
      </p:sp>
      <p:sp>
        <p:nvSpPr>
          <p:cNvPr id="29" name="Text 27"/>
          <p:cNvSpPr txBox="1"/>
          <p:nvPr/>
        </p:nvSpPr>
        <p:spPr>
          <a:xfrm>
            <a:off x="555955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promueven accesibilidad en campo</a:t>
            </a:r>
            <a:endParaRPr lang="en-US" sz="1200" dirty="0"/>
          </a:p>
        </p:txBody>
      </p:sp>
      <p:sp>
        <p:nvSpPr>
          <p:cNvPr id="30" name="Shape 28"/>
          <p:cNvSpPr/>
          <p:nvPr/>
        </p:nvSpPr>
        <p:spPr>
          <a:xfrm>
            <a:off x="365760" y="4069080"/>
            <a:ext cx="4206240" cy="804672"/>
          </a:xfrm>
          <a:prstGeom prst="roundRect">
            <a:avLst>
              <a:gd name="adj" fmla="val 11364"/>
            </a:avLst>
          </a:prstGeom>
          <a:solidFill>
            <a:srgbClr val="F4F4F4"/>
          </a:solidFill>
          <a:ln w="12700">
            <a:solidFill>
              <a:srgbClr val="EBEBEB"/>
            </a:solidFill>
            <a:prstDash val="solid"/>
          </a:ln>
        </p:spPr>
      </p:sp>
      <p:sp>
        <p:nvSpPr>
          <p:cNvPr id="31" name="Shape 29"/>
          <p:cNvSpPr/>
          <p:nvPr/>
        </p:nvSpPr>
        <p:spPr>
          <a:xfrm>
            <a:off x="365760" y="4069080"/>
            <a:ext cx="73152" cy="804672"/>
          </a:xfrm>
          <a:prstGeom prst="rect">
            <a:avLst/>
          </a:prstGeom>
          <a:solidFill>
            <a:srgbClr val="64D2FF"/>
          </a:solidFill>
          <a:ln/>
        </p:spPr>
      </p:sp>
      <p:sp>
        <p:nvSpPr>
          <p:cNvPr id="32" name="Text 30"/>
          <p:cNvSpPr txBox="1"/>
          <p:nvPr/>
        </p:nvSpPr>
        <p:spPr>
          <a:xfrm>
            <a:off x="566928" y="4133088"/>
            <a:ext cx="54864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II-7</a:t>
            </a:r>
            <a:endParaRPr lang="en-US" sz="1500" dirty="0"/>
          </a:p>
        </p:txBody>
      </p:sp>
      <p:sp>
        <p:nvSpPr>
          <p:cNvPr id="33" name="Text 31"/>
          <p:cNvSpPr txBox="1"/>
          <p:nvPr/>
        </p:nvSpPr>
        <p:spPr>
          <a:xfrm>
            <a:off x="117043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facilitan construcción bajo clima adverso</a:t>
            </a:r>
            <a:endParaRPr lang="en-US" sz="1200" dirty="0"/>
          </a:p>
        </p:txBody>
      </p:sp>
      <p:sp>
        <p:nvSpPr>
          <p:cNvPr id="34" name="Shape 32"/>
          <p:cNvSpPr/>
          <p:nvPr/>
        </p:nvSpPr>
        <p:spPr>
          <a:xfrm>
            <a:off x="4754880" y="4069080"/>
            <a:ext cx="4206240" cy="804672"/>
          </a:xfrm>
          <a:prstGeom prst="roundRect">
            <a:avLst>
              <a:gd name="adj" fmla="val 11364"/>
            </a:avLst>
          </a:prstGeom>
          <a:solidFill>
            <a:srgbClr val="F4F4F4"/>
          </a:solidFill>
          <a:ln w="12700">
            <a:solidFill>
              <a:srgbClr val="EBEBEB"/>
            </a:solidFill>
            <a:prstDash val="solid"/>
          </a:ln>
        </p:spPr>
      </p:sp>
      <p:sp>
        <p:nvSpPr>
          <p:cNvPr id="35" name="Shape 33"/>
          <p:cNvSpPr/>
          <p:nvPr/>
        </p:nvSpPr>
        <p:spPr>
          <a:xfrm>
            <a:off x="4754880" y="4069080"/>
            <a:ext cx="73152" cy="804672"/>
          </a:xfrm>
          <a:prstGeom prst="rect">
            <a:avLst/>
          </a:prstGeom>
          <a:solidFill>
            <a:srgbClr val="55577A"/>
          </a:solidFill>
          <a:ln/>
        </p:spPr>
      </p:sp>
      <p:sp>
        <p:nvSpPr>
          <p:cNvPr id="36" name="Text 34"/>
          <p:cNvSpPr txBox="1"/>
          <p:nvPr/>
        </p:nvSpPr>
        <p:spPr>
          <a:xfrm>
            <a:off x="4956048" y="4133088"/>
            <a:ext cx="54864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II-8</a:t>
            </a:r>
            <a:endParaRPr lang="en-US" sz="1500" dirty="0"/>
          </a:p>
        </p:txBody>
      </p:sp>
      <p:sp>
        <p:nvSpPr>
          <p:cNvPr id="37" name="Text 35"/>
          <p:cNvSpPr txBox="1"/>
          <p:nvPr/>
        </p:nvSpPr>
        <p:spPr>
          <a:xfrm>
            <a:off x="555955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Planes del proyecto mejoran la seguridad</a:t>
            </a:r>
            <a:endParaRPr lang="en-US" sz="12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29</a:t>
            </a:r>
            <a:endParaRPr lang="en-US" sz="900" dirty="0"/>
          </a:p>
        </p:txBody>
      </p:sp>
      <p:pic xmlns:p="http://schemas.openxmlformats.org/presentationml/2006/main" xmlns:a="http://schemas.openxmlformats.org/drawingml/2006/main" xmlns:r="http://schemas.openxmlformats.org/officeDocument/2006/relationships">
        <p:nvPicPr>
          <p:cNvPr id="8029" name="SlideIcon8029"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II-1: Cronogramas de Diseño y Procura Orientados a Construcción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0A84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 diseño y procura son sensibles a la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 concepto central:</a:t>
            </a:r>
            <a:endParaRPr lang="en-US" sz="1200" dirty="0"/>
          </a:p>
        </p:txBody>
      </p:sp>
      <p:sp>
        <p:nvSpPr>
          <p:cNvPr id="8" name="Shape 6"/>
          <p:cNvSpPr/>
          <p:nvPr/>
        </p:nvSpPr>
        <p:spPr>
          <a:xfrm>
            <a:off x="365760" y="2084832"/>
            <a:ext cx="8412480" cy="658368"/>
          </a:xfrm>
          <a:prstGeom prst="roundRect">
            <a:avLst>
              <a:gd name="adj" fmla="val 13889"/>
            </a:avLst>
          </a:prstGeom>
          <a:solidFill>
            <a:srgbClr val="0A84FF">
              <a:alpha val="15000"/>
            </a:srgbClr>
          </a:solidFill>
          <a:ln w="12700">
            <a:solidFill>
              <a:srgbClr val="0A84FF"/>
            </a:solidFill>
            <a:prstDash val="solid"/>
          </a:ln>
        </p:spPr>
      </p:sp>
      <p:sp>
        <p:nvSpPr>
          <p:cNvPr id="9" name="Text 7"/>
          <p:cNvSpPr txBox="1"/>
          <p:nvPr/>
        </p:nvSpPr>
        <p:spPr>
          <a:xfrm>
            <a:off x="548640" y="2130552"/>
            <a:ext cx="8046720" cy="5486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Un cronograma master de construcción semi-detallado DEFINE los cronogramas detallados de procura e ingeniería — no al revés.</a:t>
            </a:r>
            <a:endParaRPr lang="en-US" sz="1200" dirty="0"/>
          </a:p>
        </p:txBody>
      </p:sp>
      <p:sp>
        <p:nvSpPr>
          <p:cNvPr id="10" name="Shape 8"/>
          <p:cNvSpPr/>
          <p:nvPr/>
        </p:nvSpPr>
        <p:spPr>
          <a:xfrm>
            <a:off x="365760" y="2834640"/>
            <a:ext cx="4206240" cy="640080"/>
          </a:xfrm>
          <a:prstGeom prst="roundRect">
            <a:avLst>
              <a:gd name="adj" fmla="val 11429"/>
            </a:avLst>
          </a:prstGeom>
          <a:solidFill>
            <a:srgbClr val="F4F4F4"/>
          </a:solidFill>
          <a:ln w="12700">
            <a:solidFill>
              <a:srgbClr val="EBEBEB"/>
            </a:solidFill>
            <a:prstDash val="solid"/>
          </a:ln>
        </p:spPr>
      </p:sp>
      <p:sp>
        <p:nvSpPr>
          <p:cNvPr id="11" name="Text 9"/>
          <p:cNvSpPr txBox="1"/>
          <p:nvPr/>
        </p:nvSpPr>
        <p:spPr>
          <a:xfrm>
            <a:off x="54864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Secuenciación de Paquetes</a:t>
            </a:r>
            <a:endParaRPr lang="en-US" sz="1200" dirty="0"/>
          </a:p>
        </p:txBody>
      </p:sp>
      <p:sp>
        <p:nvSpPr>
          <p:cNvPr id="12" name="Text 10"/>
          <p:cNvSpPr txBox="1"/>
          <p:nvPr/>
        </p:nvSpPr>
        <p:spPr>
          <a:xfrm>
            <a:off x="54864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Especificar la secuencia de entrega: acero paquete 1, paquete 2, etc. Las estructuras del cronograma de construcción definen el orden de diseño.</a:t>
            </a:r>
            <a:endParaRPr lang="en-US" sz="1000" dirty="0"/>
          </a:p>
        </p:txBody>
      </p:sp>
      <p:sp>
        <p:nvSpPr>
          <p:cNvPr id="13" name="Shape 11"/>
          <p:cNvSpPr/>
          <p:nvPr/>
        </p:nvSpPr>
        <p:spPr>
          <a:xfrm>
            <a:off x="4754880" y="2834640"/>
            <a:ext cx="4206240" cy="640080"/>
          </a:xfrm>
          <a:prstGeom prst="roundRect">
            <a:avLst>
              <a:gd name="adj" fmla="val 11429"/>
            </a:avLst>
          </a:prstGeom>
          <a:solidFill>
            <a:srgbClr val="F4F4F4"/>
          </a:solidFill>
          <a:ln w="12700">
            <a:solidFill>
              <a:srgbClr val="EBEBEB"/>
            </a:solidFill>
            <a:prstDash val="solid"/>
          </a:ln>
        </p:spPr>
      </p:sp>
      <p:sp>
        <p:nvSpPr>
          <p:cNvPr id="14" name="Text 12"/>
          <p:cNvSpPr txBox="1"/>
          <p:nvPr/>
        </p:nvSpPr>
        <p:spPr>
          <a:xfrm>
            <a:off x="493776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 No Convencional</a:t>
            </a:r>
            <a:endParaRPr lang="en-US" sz="1200" dirty="0"/>
          </a:p>
        </p:txBody>
      </p:sp>
      <p:sp>
        <p:nvSpPr>
          <p:cNvPr id="15" name="Text 13"/>
          <p:cNvSpPr txBox="1"/>
          <p:nvPr/>
        </p:nvSpPr>
        <p:spPr>
          <a:xfrm>
            <a:off x="493776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Construcción "top-down" o "fast-track" puede requerir una secuencia de diseño que difiere del orden natural de la ingeniería.</a:t>
            </a:r>
            <a:endParaRPr lang="en-US" sz="1000" dirty="0"/>
          </a:p>
        </p:txBody>
      </p:sp>
      <p:sp>
        <p:nvSpPr>
          <p:cNvPr id="16" name="Shape 14"/>
          <p:cNvSpPr/>
          <p:nvPr/>
        </p:nvSpPr>
        <p:spPr>
          <a:xfrm>
            <a:off x="365760" y="3547872"/>
            <a:ext cx="4206240" cy="640080"/>
          </a:xfrm>
          <a:prstGeom prst="roundRect">
            <a:avLst>
              <a:gd name="adj" fmla="val 11429"/>
            </a:avLst>
          </a:prstGeom>
          <a:solidFill>
            <a:srgbClr val="F4F4F4"/>
          </a:solidFill>
          <a:ln w="12700">
            <a:solidFill>
              <a:srgbClr val="EBEBEB"/>
            </a:solidFill>
            <a:prstDash val="solid"/>
          </a:ln>
        </p:spPr>
      </p:sp>
      <p:sp>
        <p:nvSpPr>
          <p:cNvPr id="17" name="Text 15"/>
          <p:cNvSpPr txBox="1"/>
          <p:nvPr/>
        </p:nvSpPr>
        <p:spPr>
          <a:xfrm>
            <a:off x="54864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Just-in-Time (JIT)</a:t>
            </a:r>
            <a:endParaRPr lang="en-US" sz="1200" dirty="0"/>
          </a:p>
        </p:txBody>
      </p:sp>
      <p:sp>
        <p:nvSpPr>
          <p:cNvPr id="18" name="Text 16"/>
          <p:cNvSpPr txBox="1"/>
          <p:nvPr/>
        </p:nvSpPr>
        <p:spPr>
          <a:xfrm>
            <a:off x="54864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Entrega JIT de módulos y prefabricados. Requiere coordinación exacta entre fabricadores y el cronograma de campo.</a:t>
            </a:r>
            <a:endParaRPr lang="en-US" sz="1000" dirty="0"/>
          </a:p>
        </p:txBody>
      </p:sp>
      <p:sp>
        <p:nvSpPr>
          <p:cNvPr id="19" name="Shape 17"/>
          <p:cNvSpPr/>
          <p:nvPr/>
        </p:nvSpPr>
        <p:spPr>
          <a:xfrm>
            <a:off x="4754880" y="3547872"/>
            <a:ext cx="4206240" cy="640080"/>
          </a:xfrm>
          <a:prstGeom prst="roundRect">
            <a:avLst>
              <a:gd name="adj" fmla="val 11429"/>
            </a:avLst>
          </a:prstGeom>
          <a:solidFill>
            <a:srgbClr val="F4F4F4"/>
          </a:solidFill>
          <a:ln w="12700">
            <a:solidFill>
              <a:srgbClr val="EBEBEB"/>
            </a:solidFill>
            <a:prstDash val="solid"/>
          </a:ln>
        </p:spPr>
      </p:sp>
      <p:sp>
        <p:nvSpPr>
          <p:cNvPr id="20" name="Text 18"/>
          <p:cNvSpPr txBox="1"/>
          <p:nvPr/>
        </p:nvSpPr>
        <p:spPr>
          <a:xfrm>
            <a:off x="493776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Numeración de Sistemas</a:t>
            </a:r>
            <a:endParaRPr lang="en-US" sz="1200" dirty="0"/>
          </a:p>
        </p:txBody>
      </p:sp>
      <p:sp>
        <p:nvSpPr>
          <p:cNvPr id="21" name="Text 19"/>
          <p:cNvSpPr txBox="1"/>
          <p:nvPr/>
        </p:nvSpPr>
        <p:spPr>
          <a:xfrm>
            <a:off x="493776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números de sistema de arranque deben aparecer en TODOS los entregables de ingeniería. Facilita el handover.</a:t>
            </a:r>
            <a:endParaRPr lang="en-US" sz="1000" dirty="0"/>
          </a:p>
        </p:txBody>
      </p:sp>
      <p:sp>
        <p:nvSpPr>
          <p:cNvPr id="22" name="Shape 20"/>
          <p:cNvSpPr/>
          <p:nvPr/>
        </p:nvSpPr>
        <p:spPr>
          <a:xfrm>
            <a:off x="365760" y="4261104"/>
            <a:ext cx="4206240" cy="640080"/>
          </a:xfrm>
          <a:prstGeom prst="roundRect">
            <a:avLst>
              <a:gd name="adj" fmla="val 11429"/>
            </a:avLst>
          </a:prstGeom>
          <a:solidFill>
            <a:srgbClr val="F4F4F4"/>
          </a:solidFill>
          <a:ln w="12700">
            <a:solidFill>
              <a:srgbClr val="EBEBEB"/>
            </a:solidFill>
            <a:prstDash val="solid"/>
          </a:ln>
        </p:spPr>
      </p:sp>
      <p:sp>
        <p:nvSpPr>
          <p:cNvPr id="23" name="Text 21"/>
          <p:cNvSpPr txBox="1"/>
          <p:nvPr/>
        </p:nvSpPr>
        <p:spPr>
          <a:xfrm>
            <a:off x="54864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Estrategia 70%</a:t>
            </a:r>
            <a:endParaRPr lang="en-US" sz="1200" dirty="0"/>
          </a:p>
        </p:txBody>
      </p:sp>
      <p:sp>
        <p:nvSpPr>
          <p:cNvPr id="24" name="Text 22"/>
          <p:cNvSpPr txBox="1"/>
          <p:nvPr/>
        </p:nvSpPr>
        <p:spPr>
          <a:xfrm>
            <a:off x="54864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Estrategia de secuenciación de tuberías: obtener spools en secuencia óptima usando un integrador de materiales.</a:t>
            </a:r>
            <a:endParaRPr lang="en-US" sz="1000" dirty="0"/>
          </a:p>
        </p:txBody>
      </p:sp>
      <p:sp>
        <p:nvSpPr>
          <p:cNvPr id="25" name="Shape 23"/>
          <p:cNvSpPr/>
          <p:nvPr/>
        </p:nvSpPr>
        <p:spPr>
          <a:xfrm>
            <a:off x="4754880" y="4261104"/>
            <a:ext cx="4206240" cy="640080"/>
          </a:xfrm>
          <a:prstGeom prst="roundRect">
            <a:avLst>
              <a:gd name="adj" fmla="val 11429"/>
            </a:avLst>
          </a:prstGeom>
          <a:solidFill>
            <a:srgbClr val="F4F4F4"/>
          </a:solidFill>
          <a:ln w="12700">
            <a:solidFill>
              <a:srgbClr val="EBEBEB"/>
            </a:solidFill>
            <a:prstDash val="solid"/>
          </a:ln>
        </p:spPr>
      </p:sp>
      <p:sp>
        <p:nvSpPr>
          <p:cNvPr id="26" name="Text 24"/>
          <p:cNvSpPr txBox="1"/>
          <p:nvPr/>
        </p:nvSpPr>
        <p:spPr>
          <a:xfrm>
            <a:off x="493776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Lean - Last Planner</a:t>
            </a:r>
            <a:endParaRPr lang="en-US" sz="1200" dirty="0"/>
          </a:p>
        </p:txBody>
      </p:sp>
      <p:sp>
        <p:nvSpPr>
          <p:cNvPr id="27" name="Text 25"/>
          <p:cNvSpPr txBox="1"/>
          <p:nvPr/>
        </p:nvSpPr>
        <p:spPr>
          <a:xfrm>
            <a:off x="493776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Porcentaje de Plan Cumplido (PPC) del Lean Construction como métrica de confiabilidad del cronograma.</a:t>
            </a:r>
            <a:endParaRPr lang="en-US" sz="10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30</a:t>
            </a:r>
            <a:endParaRPr lang="en-US" sz="900" dirty="0"/>
          </a:p>
        </p:txBody>
      </p:sp>
      <p:pic xmlns:p="http://schemas.openxmlformats.org/presentationml/2006/main" xmlns:a="http://schemas.openxmlformats.org/drawingml/2006/main" xmlns:r="http://schemas.openxmlformats.org/officeDocument/2006/relationships">
        <p:nvPicPr>
          <p:cNvPr id="8030" name="SlideIcon8030" descr="icon"/>
          <p:cNvPicPr>
            <a:picLocks noChangeAspect="1"/>
          </p:cNvPicPr>
          <p:nvPr/>
        </p:nvPicPr>
        <p:blipFill>
          <a:blip r:embed="rId9005"/>
          <a:stretch>
            <a:fillRect/>
          </a:stretch>
        </p:blipFill>
        <p:spPr>
          <a:xfrm>
            <a:off x="73152" y="118872"/>
            <a:ext cx="347472" cy="34747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II-2: Configuración del Diseño para Eficiencia Constructiva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777240"/>
          </a:xfrm>
          <a:prstGeom prst="roundRect">
            <a:avLst>
              <a:gd name="adj" fmla="val 14118"/>
            </a:avLst>
          </a:prstGeom>
          <a:solidFill>
            <a:srgbClr val="F4F4F4"/>
          </a:solidFill>
          <a:ln w="12700">
            <a:solidFill>
              <a:srgbClr val="FF9500"/>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se configuran y el equipo permanente se selecciona para permitir la construcción eficiente y el uso de tecnologías eficientes."</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El "Litmus Test" para diseño simplificado — 12 preguntas para cada componente del diseño:</a:t>
            </a:r>
            <a:endParaRPr lang="en-US" sz="1200" dirty="0"/>
          </a:p>
        </p:txBody>
      </p:sp>
      <p:sp>
        <p:nvSpPr>
          <p:cNvPr id="8" name="Shape 6"/>
          <p:cNvSpPr/>
          <p:nvPr/>
        </p:nvSpPr>
        <p:spPr>
          <a:xfrm>
            <a:off x="365760" y="2240280"/>
            <a:ext cx="4160520" cy="384048"/>
          </a:xfrm>
          <a:prstGeom prst="roundRect">
            <a:avLst>
              <a:gd name="adj" fmla="val 19048"/>
            </a:avLst>
          </a:prstGeom>
          <a:solidFill>
            <a:srgbClr val="F4F4F4"/>
          </a:solidFill>
          <a:ln w="12700">
            <a:solidFill>
              <a:srgbClr val="EBEBEB"/>
            </a:solidFill>
            <a:prstDash val="solid"/>
          </a:ln>
        </p:spPr>
      </p:sp>
      <p:sp>
        <p:nvSpPr>
          <p:cNvPr id="9" name="Shape 7"/>
          <p:cNvSpPr/>
          <p:nvPr/>
        </p:nvSpPr>
        <p:spPr>
          <a:xfrm>
            <a:off x="4617720" y="2240280"/>
            <a:ext cx="4160520" cy="384048"/>
          </a:xfrm>
          <a:prstGeom prst="roundRect">
            <a:avLst>
              <a:gd name="adj" fmla="val 19048"/>
            </a:avLst>
          </a:prstGeom>
          <a:solidFill>
            <a:srgbClr val="F4F4F4"/>
          </a:solidFill>
          <a:ln w="12700">
            <a:solidFill>
              <a:srgbClr val="EBEBEB"/>
            </a:solidFill>
            <a:prstDash val="solid"/>
          </a:ln>
        </p:spPr>
      </p:sp>
      <p:sp>
        <p:nvSpPr>
          <p:cNvPr id="10" name="Text 8"/>
          <p:cNvSpPr txBox="1"/>
          <p:nvPr/>
        </p:nvSpPr>
        <p:spPr>
          <a:xfrm>
            <a:off x="54864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¿Mínimo número de componentes?</a:t>
            </a:r>
            <a:endParaRPr lang="en-US" sz="1100" dirty="0"/>
          </a:p>
        </p:txBody>
      </p:sp>
      <p:sp>
        <p:nvSpPr>
          <p:cNvPr id="11" name="Text 9"/>
          <p:cNvSpPr txBox="1"/>
          <p:nvPr/>
        </p:nvSpPr>
        <p:spPr>
          <a:xfrm>
            <a:off x="475488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manejable en campo?</a:t>
            </a:r>
            <a:endParaRPr lang="en-US" sz="1100" dirty="0"/>
          </a:p>
        </p:txBody>
      </p:sp>
      <p:sp>
        <p:nvSpPr>
          <p:cNvPr id="12" name="Shape 10"/>
          <p:cNvSpPr/>
          <p:nvPr/>
        </p:nvSpPr>
        <p:spPr>
          <a:xfrm>
            <a:off x="365760" y="2679192"/>
            <a:ext cx="4160520" cy="384048"/>
          </a:xfrm>
          <a:prstGeom prst="roundRect">
            <a:avLst>
              <a:gd name="adj" fmla="val 19048"/>
            </a:avLst>
          </a:prstGeom>
          <a:solidFill>
            <a:srgbClr val="F4F4F4"/>
          </a:solidFill>
          <a:ln w="12700">
            <a:solidFill>
              <a:srgbClr val="EBEBEB"/>
            </a:solidFill>
            <a:prstDash val="solid"/>
          </a:ln>
        </p:spPr>
      </p:sp>
      <p:sp>
        <p:nvSpPr>
          <p:cNvPr id="13" name="Shape 11"/>
          <p:cNvSpPr/>
          <p:nvPr/>
        </p:nvSpPr>
        <p:spPr>
          <a:xfrm>
            <a:off x="4617720" y="2679192"/>
            <a:ext cx="4160520" cy="384048"/>
          </a:xfrm>
          <a:prstGeom prst="roundRect">
            <a:avLst>
              <a:gd name="adj" fmla="val 19048"/>
            </a:avLst>
          </a:prstGeom>
          <a:solidFill>
            <a:srgbClr val="F4F4F4"/>
          </a:solidFill>
          <a:ln w="12700">
            <a:solidFill>
              <a:srgbClr val="EBEBEB"/>
            </a:solidFill>
            <a:prstDash val="solid"/>
          </a:ln>
        </p:spPr>
      </p:sp>
      <p:sp>
        <p:nvSpPr>
          <p:cNvPr id="14" name="Text 12"/>
          <p:cNvSpPr txBox="1"/>
          <p:nvPr/>
        </p:nvSpPr>
        <p:spPr>
          <a:xfrm>
            <a:off x="54864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¿Componentes fácilmente disponibles?</a:t>
            </a:r>
            <a:endParaRPr lang="en-US" sz="1100" dirty="0"/>
          </a:p>
        </p:txBody>
      </p:sp>
      <p:sp>
        <p:nvSpPr>
          <p:cNvPr id="15" name="Text 13"/>
          <p:cNvSpPr txBox="1"/>
          <p:nvPr/>
        </p:nvSpPr>
        <p:spPr>
          <a:xfrm>
            <a:off x="475488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transportable al sitio?</a:t>
            </a:r>
            <a:endParaRPr lang="en-US" sz="1100" dirty="0"/>
          </a:p>
        </p:txBody>
      </p:sp>
      <p:sp>
        <p:nvSpPr>
          <p:cNvPr id="16" name="Shape 14"/>
          <p:cNvSpPr/>
          <p:nvPr/>
        </p:nvSpPr>
        <p:spPr>
          <a:xfrm>
            <a:off x="365760" y="3118104"/>
            <a:ext cx="4160520" cy="384048"/>
          </a:xfrm>
          <a:prstGeom prst="roundRect">
            <a:avLst>
              <a:gd name="adj" fmla="val 19048"/>
            </a:avLst>
          </a:prstGeom>
          <a:solidFill>
            <a:srgbClr val="F4F4F4"/>
          </a:solidFill>
          <a:ln w="12700">
            <a:solidFill>
              <a:srgbClr val="EBEBEB"/>
            </a:solidFill>
            <a:prstDash val="solid"/>
          </a:ln>
        </p:spPr>
      </p:sp>
      <p:sp>
        <p:nvSpPr>
          <p:cNvPr id="17" name="Shape 15"/>
          <p:cNvSpPr/>
          <p:nvPr/>
        </p:nvSpPr>
        <p:spPr>
          <a:xfrm>
            <a:off x="4617720" y="3118104"/>
            <a:ext cx="4160520" cy="384048"/>
          </a:xfrm>
          <a:prstGeom prst="roundRect">
            <a:avLst>
              <a:gd name="adj" fmla="val 19048"/>
            </a:avLst>
          </a:prstGeom>
          <a:solidFill>
            <a:srgbClr val="F4F4F4"/>
          </a:solidFill>
          <a:ln w="12700">
            <a:solidFill>
              <a:srgbClr val="EBEBEB"/>
            </a:solidFill>
            <a:prstDash val="solid"/>
          </a:ln>
        </p:spPr>
      </p:sp>
      <p:sp>
        <p:nvSpPr>
          <p:cNvPr id="18" name="Text 16"/>
          <p:cNvSpPr txBox="1"/>
          <p:nvPr/>
        </p:nvSpPr>
        <p:spPr>
          <a:xfrm>
            <a:off x="54864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¿Tamaños estándar de mercado?</a:t>
            </a:r>
            <a:endParaRPr lang="en-US" sz="1100" dirty="0"/>
          </a:p>
        </p:txBody>
      </p:sp>
      <p:sp>
        <p:nvSpPr>
          <p:cNvPr id="19" name="Text 17"/>
          <p:cNvSpPr txBox="1"/>
          <p:nvPr/>
        </p:nvSpPr>
        <p:spPr>
          <a:xfrm>
            <a:off x="475488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¿La conexión es la más sencilla posible?</a:t>
            </a:r>
            <a:endParaRPr lang="en-US" sz="1100" dirty="0"/>
          </a:p>
        </p:txBody>
      </p:sp>
      <p:sp>
        <p:nvSpPr>
          <p:cNvPr id="20" name="Shape 18"/>
          <p:cNvSpPr/>
          <p:nvPr/>
        </p:nvSpPr>
        <p:spPr>
          <a:xfrm>
            <a:off x="365760" y="3557016"/>
            <a:ext cx="4160520" cy="384048"/>
          </a:xfrm>
          <a:prstGeom prst="roundRect">
            <a:avLst>
              <a:gd name="adj" fmla="val 19048"/>
            </a:avLst>
          </a:prstGeom>
          <a:solidFill>
            <a:srgbClr val="F4F4F4"/>
          </a:solidFill>
          <a:ln w="12700">
            <a:solidFill>
              <a:srgbClr val="EBEBEB"/>
            </a:solidFill>
            <a:prstDash val="solid"/>
          </a:ln>
        </p:spPr>
      </p:sp>
      <p:sp>
        <p:nvSpPr>
          <p:cNvPr id="21" name="Shape 19"/>
          <p:cNvSpPr/>
          <p:nvPr/>
        </p:nvSpPr>
        <p:spPr>
          <a:xfrm>
            <a:off x="4617720" y="3557016"/>
            <a:ext cx="4160520" cy="384048"/>
          </a:xfrm>
          <a:prstGeom prst="roundRect">
            <a:avLst>
              <a:gd name="adj" fmla="val 19048"/>
            </a:avLst>
          </a:prstGeom>
          <a:solidFill>
            <a:srgbClr val="F4F4F4"/>
          </a:solidFill>
          <a:ln w="12700">
            <a:solidFill>
              <a:srgbClr val="EBEBEB"/>
            </a:solidFill>
            <a:prstDash val="solid"/>
          </a:ln>
        </p:spPr>
      </p:sp>
      <p:sp>
        <p:nvSpPr>
          <p:cNvPr id="22" name="Text 20"/>
          <p:cNvSpPr txBox="1"/>
          <p:nvPr/>
        </p:nvSpPr>
        <p:spPr>
          <a:xfrm>
            <a:off x="54864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¿Tolerancias alcanzables y compatibles?</a:t>
            </a:r>
            <a:endParaRPr lang="en-US" sz="1100" dirty="0"/>
          </a:p>
        </p:txBody>
      </p:sp>
      <p:sp>
        <p:nvSpPr>
          <p:cNvPr id="23" name="Text 21"/>
          <p:cNvSpPr txBox="1"/>
          <p:nvPr/>
        </p:nvSpPr>
        <p:spPr>
          <a:xfrm>
            <a:off x="475488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¿Requiere habilidades altamente especializadas?</a:t>
            </a:r>
            <a:endParaRPr lang="en-US" sz="1100" dirty="0"/>
          </a:p>
        </p:txBody>
      </p:sp>
      <p:sp>
        <p:nvSpPr>
          <p:cNvPr id="24" name="Shape 22"/>
          <p:cNvSpPr/>
          <p:nvPr/>
        </p:nvSpPr>
        <p:spPr>
          <a:xfrm>
            <a:off x="365760" y="3995928"/>
            <a:ext cx="4160520" cy="384048"/>
          </a:xfrm>
          <a:prstGeom prst="roundRect">
            <a:avLst>
              <a:gd name="adj" fmla="val 19048"/>
            </a:avLst>
          </a:prstGeom>
          <a:solidFill>
            <a:srgbClr val="F4F4F4"/>
          </a:solidFill>
          <a:ln w="12700">
            <a:solidFill>
              <a:srgbClr val="EBEBEB"/>
            </a:solidFill>
            <a:prstDash val="solid"/>
          </a:ln>
        </p:spPr>
      </p:sp>
      <p:sp>
        <p:nvSpPr>
          <p:cNvPr id="25" name="Shape 23"/>
          <p:cNvSpPr/>
          <p:nvPr/>
        </p:nvSpPr>
        <p:spPr>
          <a:xfrm>
            <a:off x="4617720" y="3995928"/>
            <a:ext cx="4160520" cy="384048"/>
          </a:xfrm>
          <a:prstGeom prst="roundRect">
            <a:avLst>
              <a:gd name="adj" fmla="val 19048"/>
            </a:avLst>
          </a:prstGeom>
          <a:solidFill>
            <a:srgbClr val="F4F4F4"/>
          </a:solidFill>
          <a:ln w="12700">
            <a:solidFill>
              <a:srgbClr val="EBEBEB"/>
            </a:solidFill>
            <a:prstDash val="solid"/>
          </a:ln>
        </p:spPr>
      </p:sp>
      <p:sp>
        <p:nvSpPr>
          <p:cNvPr id="26" name="Text 24"/>
          <p:cNvSpPr txBox="1"/>
          <p:nvPr/>
        </p:nvSpPr>
        <p:spPr>
          <a:xfrm>
            <a:off x="54864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¿Alineación fácilmente ajustable?</a:t>
            </a:r>
            <a:endParaRPr lang="en-US" sz="1100" dirty="0"/>
          </a:p>
        </p:txBody>
      </p:sp>
      <p:sp>
        <p:nvSpPr>
          <p:cNvPr id="27" name="Text 25"/>
          <p:cNvSpPr txBox="1"/>
          <p:nvPr/>
        </p:nvSpPr>
        <p:spPr>
          <a:xfrm>
            <a:off x="475488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¿Accesible para inspección y prueba?</a:t>
            </a:r>
            <a:endParaRPr lang="en-US" sz="1100" dirty="0"/>
          </a:p>
        </p:txBody>
      </p:sp>
      <p:sp>
        <p:nvSpPr>
          <p:cNvPr id="28" name="Shape 26"/>
          <p:cNvSpPr/>
          <p:nvPr/>
        </p:nvSpPr>
        <p:spPr>
          <a:xfrm>
            <a:off x="365760" y="4434840"/>
            <a:ext cx="4160520" cy="384048"/>
          </a:xfrm>
          <a:prstGeom prst="roundRect">
            <a:avLst>
              <a:gd name="adj" fmla="val 19048"/>
            </a:avLst>
          </a:prstGeom>
          <a:solidFill>
            <a:srgbClr val="F4F4F4"/>
          </a:solidFill>
          <a:ln w="12700">
            <a:solidFill>
              <a:srgbClr val="EBEBEB"/>
            </a:solidFill>
            <a:prstDash val="solid"/>
          </a:ln>
        </p:spPr>
      </p:sp>
      <p:sp>
        <p:nvSpPr>
          <p:cNvPr id="29" name="Shape 27"/>
          <p:cNvSpPr/>
          <p:nvPr/>
        </p:nvSpPr>
        <p:spPr>
          <a:xfrm>
            <a:off x="4617720" y="4434840"/>
            <a:ext cx="4160520" cy="384048"/>
          </a:xfrm>
          <a:prstGeom prst="roundRect">
            <a:avLst>
              <a:gd name="adj" fmla="val 19048"/>
            </a:avLst>
          </a:prstGeom>
          <a:solidFill>
            <a:srgbClr val="F4F4F4"/>
          </a:solidFill>
          <a:ln w="12700">
            <a:solidFill>
              <a:srgbClr val="EBEBEB"/>
            </a:solidFill>
            <a:prstDash val="solid"/>
          </a:ln>
        </p:spPr>
      </p:sp>
      <p:sp>
        <p:nvSpPr>
          <p:cNvPr id="30" name="Text 28"/>
          <p:cNvSpPr txBox="1"/>
          <p:nvPr/>
        </p:nvSpPr>
        <p:spPr>
          <a:xfrm>
            <a:off x="54864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¿Independiente de otras secuencias?</a:t>
            </a:r>
            <a:endParaRPr lang="en-US" sz="1100" dirty="0"/>
          </a:p>
        </p:txBody>
      </p:sp>
      <p:sp>
        <p:nvSpPr>
          <p:cNvPr id="31" name="Text 29"/>
          <p:cNvSpPr txBox="1"/>
          <p:nvPr/>
        </p:nvSpPr>
        <p:spPr>
          <a:xfrm>
            <a:off x="475488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¿Sin restricciones ambientales especiales?</a:t>
            </a:r>
            <a:endParaRPr lang="en-US" sz="11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31</a:t>
            </a:r>
            <a:endParaRPr lang="en-US" sz="900" dirty="0"/>
          </a:p>
        </p:txBody>
      </p:sp>
      <p:pic xmlns:p="http://schemas.openxmlformats.org/presentationml/2006/main" xmlns:a="http://schemas.openxmlformats.org/drawingml/2006/main" xmlns:r="http://schemas.openxmlformats.org/officeDocument/2006/relationships">
        <p:nvPicPr>
          <p:cNvPr id="8031" name="SlideIcon8031"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Estandarización de Elementos de Diseño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30D158"/>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elementos de diseño se estandarizan."</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de la Estandarización (IPA: 10% ahorro en costo):</a:t>
            </a:r>
            <a:endParaRPr lang="en-US" sz="1300" dirty="0"/>
          </a:p>
        </p:txBody>
      </p:sp>
      <p:sp>
        <p:nvSpPr>
          <p:cNvPr id="8" name="Shape 6"/>
          <p:cNvSpPr/>
          <p:nvPr/>
        </p:nvSpPr>
        <p:spPr>
          <a:xfrm>
            <a:off x="365760" y="2084832"/>
            <a:ext cx="4206240" cy="841248"/>
          </a:xfrm>
          <a:prstGeom prst="roundRect">
            <a:avLst>
              <a:gd name="adj" fmla="val 10870"/>
            </a:avLst>
          </a:prstGeom>
          <a:solidFill>
            <a:srgbClr val="F4F4F4"/>
          </a:solidFill>
          <a:ln w="12700">
            <a:solidFill>
              <a:srgbClr val="30D158"/>
            </a:solidFill>
            <a:prstDash val="solid"/>
          </a:ln>
        </p:spPr>
      </p:sp>
      <p:sp>
        <p:nvSpPr>
          <p:cNvPr id="9" name="Text 7"/>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Componentes Familiares</a:t>
            </a:r>
            <a:endParaRPr lang="en-US" sz="1300" dirty="0"/>
          </a:p>
        </p:txBody>
      </p:sp>
      <p:sp>
        <p:nvSpPr>
          <p:cNvPr id="10" name="Text 8"/>
          <p:cNvSpPr txBox="1"/>
          <p:nvPr/>
        </p:nvSpPr>
        <p:spPr>
          <a:xfrm>
            <a:off x="54864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Curva de aprendizaje acelerada. Mayor productividad por repetición de trabajos.</a:t>
            </a:r>
            <a:endParaRPr lang="en-US" sz="1100" dirty="0"/>
          </a:p>
        </p:txBody>
      </p:sp>
      <p:sp>
        <p:nvSpPr>
          <p:cNvPr id="11" name="Shape 9"/>
          <p:cNvSpPr/>
          <p:nvPr/>
        </p:nvSpPr>
        <p:spPr>
          <a:xfrm>
            <a:off x="4754880" y="2084832"/>
            <a:ext cx="4206240" cy="841248"/>
          </a:xfrm>
          <a:prstGeom prst="roundRect">
            <a:avLst>
              <a:gd name="adj" fmla="val 10870"/>
            </a:avLst>
          </a:prstGeom>
          <a:solidFill>
            <a:srgbClr val="F4F4F4"/>
          </a:solidFill>
          <a:ln w="12700">
            <a:solidFill>
              <a:srgbClr val="0A84FF"/>
            </a:solidFill>
            <a:prstDash val="solid"/>
          </a:ln>
        </p:spPr>
      </p:sp>
      <p:sp>
        <p:nvSpPr>
          <p:cNvPr id="12" name="Text 10"/>
          <p:cNvSpPr txBox="1"/>
          <p:nvPr/>
        </p:nvSpPr>
        <p:spPr>
          <a:xfrm>
            <a:off x="4937760" y="2157984"/>
            <a:ext cx="384048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Compras por Volumen</a:t>
            </a:r>
            <a:endParaRPr lang="en-US" sz="1300" dirty="0"/>
          </a:p>
        </p:txBody>
      </p:sp>
      <p:sp>
        <p:nvSpPr>
          <p:cNvPr id="13" name="Text 11"/>
          <p:cNvSpPr txBox="1"/>
          <p:nvPr/>
        </p:nvSpPr>
        <p:spPr>
          <a:xfrm>
            <a:off x="493776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Descuentos por volumen de compra en proveedores. Poder de negociación consolidado.</a:t>
            </a:r>
            <a:endParaRPr lang="en-US" sz="1100" dirty="0"/>
          </a:p>
        </p:txBody>
      </p:sp>
      <p:sp>
        <p:nvSpPr>
          <p:cNvPr id="14" name="Shape 12"/>
          <p:cNvSpPr/>
          <p:nvPr/>
        </p:nvSpPr>
        <p:spPr>
          <a:xfrm>
            <a:off x="365760" y="3044952"/>
            <a:ext cx="4206240" cy="841248"/>
          </a:xfrm>
          <a:prstGeom prst="roundRect">
            <a:avLst>
              <a:gd name="adj" fmla="val 10870"/>
            </a:avLst>
          </a:prstGeom>
          <a:solidFill>
            <a:srgbClr val="F4F4F4"/>
          </a:solidFill>
          <a:ln w="12700">
            <a:solidFill>
              <a:srgbClr val="FF9500"/>
            </a:solidFill>
            <a:prstDash val="solid"/>
          </a:ln>
        </p:spPr>
      </p:sp>
      <p:sp>
        <p:nvSpPr>
          <p:cNvPr id="15" name="Text 13"/>
          <p:cNvSpPr txBox="1"/>
          <p:nvPr/>
        </p:nvSpPr>
        <p:spPr>
          <a:xfrm>
            <a:off x="548640" y="3118104"/>
            <a:ext cx="384048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Menor Inventario</a:t>
            </a:r>
            <a:endParaRPr lang="en-US" sz="1300" dirty="0"/>
          </a:p>
        </p:txBody>
      </p:sp>
      <p:sp>
        <p:nvSpPr>
          <p:cNvPr id="16" name="Text 14"/>
          <p:cNvSpPr txBox="1"/>
          <p:nvPr/>
        </p:nvSpPr>
        <p:spPr>
          <a:xfrm>
            <a:off x="54864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simplificada de materiales. Menor warehouse y costo de repuestos.</a:t>
            </a:r>
            <a:endParaRPr lang="en-US" sz="1100" dirty="0"/>
          </a:p>
        </p:txBody>
      </p:sp>
      <p:sp>
        <p:nvSpPr>
          <p:cNvPr id="17" name="Shape 15"/>
          <p:cNvSpPr/>
          <p:nvPr/>
        </p:nvSpPr>
        <p:spPr>
          <a:xfrm>
            <a:off x="4754880" y="3044952"/>
            <a:ext cx="4206240" cy="841248"/>
          </a:xfrm>
          <a:prstGeom prst="roundRect">
            <a:avLst>
              <a:gd name="adj" fmla="val 10870"/>
            </a:avLst>
          </a:prstGeom>
          <a:solidFill>
            <a:srgbClr val="F4F4F4"/>
          </a:solidFill>
          <a:ln w="12700">
            <a:solidFill>
              <a:srgbClr val="AF52DE"/>
            </a:solidFill>
            <a:prstDash val="solid"/>
          </a:ln>
        </p:spPr>
      </p:sp>
      <p:sp>
        <p:nvSpPr>
          <p:cNvPr id="18" name="Text 16"/>
          <p:cNvSpPr txBox="1"/>
          <p:nvPr/>
        </p:nvSpPr>
        <p:spPr>
          <a:xfrm>
            <a:off x="4937760" y="3118104"/>
            <a:ext cx="384048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Herramientas Menores</a:t>
            </a:r>
            <a:endParaRPr lang="en-US" sz="1300" dirty="0"/>
          </a:p>
        </p:txBody>
      </p:sp>
      <p:sp>
        <p:nvSpPr>
          <p:cNvPr id="19" name="Text 17"/>
          <p:cNvSpPr txBox="1"/>
          <p:nvPr/>
        </p:nvSpPr>
        <p:spPr>
          <a:xfrm>
            <a:off x="493776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Soportes, herramientas y equipos de construcción más baratos al ser compatibles con dimensiones estándar.</a:t>
            </a:r>
            <a:endParaRPr lang="en-US" sz="1100" dirty="0"/>
          </a:p>
        </p:txBody>
      </p:sp>
      <p:sp>
        <p:nvSpPr>
          <p:cNvPr id="20" name="Text 18"/>
          <p:cNvSpPr txBox="1"/>
          <p:nvPr/>
        </p:nvSpPr>
        <p:spPr>
          <a:xfrm>
            <a:off x="365760" y="4041648"/>
            <a:ext cx="8412480" cy="65836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¿Qué se puede estandarizar? Válvulas, juntas, espuelas de tubería, pernos de anclaje, cimbra de concreto, dimensiones modulares, ubicaciones de soportes. ¿Por qué existe tanta variación? Preferencias de planta, desconocimiento de costos y oportunidades, mentalidad de "sub-optimización de ingeniería".</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32</a:t>
            </a:r>
            <a:endParaRPr lang="en-US" sz="900" dirty="0"/>
          </a:p>
        </p:txBody>
      </p:sp>
      <p:pic xmlns:p="http://schemas.openxmlformats.org/presentationml/2006/main" xmlns:a="http://schemas.openxmlformats.org/drawingml/2006/main" xmlns:r="http://schemas.openxmlformats.org/officeDocument/2006/relationships">
        <p:nvPicPr>
          <p:cNvPr id="8032" name="SlideIcon8032"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Barreras a la Estandarización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barreras a la estandarización son principalmente organizacionales, no técnicas:</a:t>
            </a:r>
            <a:endParaRPr lang="en-US" sz="1200" dirty="0"/>
          </a:p>
        </p:txBody>
      </p:sp>
      <p:sp>
        <p:nvSpPr>
          <p:cNvPr id="6" name="Shape 4"/>
          <p:cNvSpPr/>
          <p:nvPr/>
        </p:nvSpPr>
        <p:spPr>
          <a:xfrm>
            <a:off x="365760" y="1298448"/>
            <a:ext cx="8412480" cy="841248"/>
          </a:xfrm>
          <a:prstGeom prst="roundRect">
            <a:avLst>
              <a:gd name="adj" fmla="val 10870"/>
            </a:avLst>
          </a:prstGeom>
          <a:solidFill>
            <a:srgbClr val="F4F4F4"/>
          </a:solidFill>
          <a:ln w="12700">
            <a:solidFill>
              <a:srgbClr val="EBEBEB"/>
            </a:solidFill>
            <a:prstDash val="solid"/>
          </a:ln>
        </p:spPr>
      </p:sp>
      <p:sp>
        <p:nvSpPr>
          <p:cNvPr id="7" name="Shape 5"/>
          <p:cNvSpPr/>
          <p:nvPr/>
        </p:nvSpPr>
        <p:spPr>
          <a:xfrm>
            <a:off x="457200" y="1389888"/>
            <a:ext cx="457200" cy="457200"/>
          </a:xfrm>
          <a:prstGeom prst="ellipse">
            <a:avLst/>
          </a:prstGeom>
          <a:solidFill>
            <a:srgbClr val="FF453A"/>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51560" y="138988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Autoridad de Decisión No Gestionada</a:t>
            </a:r>
            <a:endParaRPr lang="en-US" sz="1200" dirty="0"/>
          </a:p>
        </p:txBody>
      </p:sp>
      <p:sp>
        <p:nvSpPr>
          <p:cNvPr id="10" name="Text 8"/>
          <p:cNvSpPr txBox="1"/>
          <p:nvPr/>
        </p:nvSpPr>
        <p:spPr>
          <a:xfrm>
            <a:off x="1051560" y="171907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Múltiples ingenieros y disciplinas tienen autoridad de selección de componentes sin coordinación. Cada uno optimiza su parte sin considerar el sistema.</a:t>
            </a:r>
            <a:endParaRPr lang="en-US" sz="1100" dirty="0"/>
          </a:p>
        </p:txBody>
      </p:sp>
      <p:sp>
        <p:nvSpPr>
          <p:cNvPr id="11" name="Shape 9"/>
          <p:cNvSpPr/>
          <p:nvPr/>
        </p:nvSpPr>
        <p:spPr>
          <a:xfrm>
            <a:off x="365760" y="2258568"/>
            <a:ext cx="8412480" cy="841248"/>
          </a:xfrm>
          <a:prstGeom prst="roundRect">
            <a:avLst>
              <a:gd name="adj" fmla="val 10870"/>
            </a:avLst>
          </a:prstGeom>
          <a:solidFill>
            <a:srgbClr val="F4F4F4"/>
          </a:solidFill>
          <a:ln w="12700">
            <a:solidFill>
              <a:srgbClr val="EBEBEB"/>
            </a:solidFill>
            <a:prstDash val="solid"/>
          </a:ln>
        </p:spPr>
      </p:sp>
      <p:sp>
        <p:nvSpPr>
          <p:cNvPr id="12" name="Shape 10"/>
          <p:cNvSpPr/>
          <p:nvPr/>
        </p:nvSpPr>
        <p:spPr>
          <a:xfrm>
            <a:off x="457200" y="2350008"/>
            <a:ext cx="457200" cy="457200"/>
          </a:xfrm>
          <a:prstGeom prst="ellipse">
            <a:avLst/>
          </a:prstGeom>
          <a:solidFill>
            <a:srgbClr val="FF9500"/>
          </a:solidFill>
          <a:ln/>
        </p:spPr>
      </p:sp>
      <p:sp>
        <p:nvSpPr>
          <p:cNvPr id="13" name="Text 11"/>
          <p:cNvSpPr txBox="1"/>
          <p:nvPr/>
        </p:nvSpPr>
        <p:spPr>
          <a:xfrm>
            <a:off x="457200" y="235000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51560" y="235000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Mentalidad de Sub-optimización</a:t>
            </a:r>
            <a:endParaRPr lang="en-US" sz="1200" dirty="0"/>
          </a:p>
        </p:txBody>
      </p:sp>
      <p:sp>
        <p:nvSpPr>
          <p:cNvPr id="15" name="Text 13"/>
          <p:cNvSpPr txBox="1"/>
          <p:nvPr/>
        </p:nvSpPr>
        <p:spPr>
          <a:xfrm>
            <a:off x="1051560" y="267919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los proyectos son únicos" — paradigma que impide aplicar soluciones probadas. Sobreestimación de los requisitos especiales del proyecto.</a:t>
            </a:r>
            <a:endParaRPr lang="en-US" sz="1100" dirty="0"/>
          </a:p>
        </p:txBody>
      </p:sp>
      <p:sp>
        <p:nvSpPr>
          <p:cNvPr id="16" name="Shape 14"/>
          <p:cNvSpPr/>
          <p:nvPr/>
        </p:nvSpPr>
        <p:spPr>
          <a:xfrm>
            <a:off x="365760" y="3218688"/>
            <a:ext cx="8412480" cy="841248"/>
          </a:xfrm>
          <a:prstGeom prst="roundRect">
            <a:avLst>
              <a:gd name="adj" fmla="val 10870"/>
            </a:avLst>
          </a:prstGeom>
          <a:solidFill>
            <a:srgbClr val="F4F4F4"/>
          </a:solidFill>
          <a:ln w="12700">
            <a:solidFill>
              <a:srgbClr val="EBEBEB"/>
            </a:solidFill>
            <a:prstDash val="solid"/>
          </a:ln>
        </p:spPr>
      </p:sp>
      <p:sp>
        <p:nvSpPr>
          <p:cNvPr id="17" name="Shape 15"/>
          <p:cNvSpPr/>
          <p:nvPr/>
        </p:nvSpPr>
        <p:spPr>
          <a:xfrm>
            <a:off x="457200" y="3310128"/>
            <a:ext cx="457200" cy="457200"/>
          </a:xfrm>
          <a:prstGeom prst="ellipse">
            <a:avLst/>
          </a:prstGeom>
          <a:solidFill>
            <a:srgbClr val="FFD60A"/>
          </a:solidFill>
          <a:ln/>
        </p:spPr>
      </p:sp>
      <p:sp>
        <p:nvSpPr>
          <p:cNvPr id="18" name="Text 16"/>
          <p:cNvSpPr txBox="1"/>
          <p:nvPr/>
        </p:nvSpPr>
        <p:spPr>
          <a:xfrm>
            <a:off x="457200" y="331012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51560" y="331012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Esfuerzo para Establecer el Estándar</a:t>
            </a:r>
            <a:endParaRPr lang="en-US" sz="1200" dirty="0"/>
          </a:p>
        </p:txBody>
      </p:sp>
      <p:sp>
        <p:nvSpPr>
          <p:cNvPr id="20" name="Text 18"/>
          <p:cNvSpPr txBox="1"/>
          <p:nvPr/>
        </p:nvSpPr>
        <p:spPr>
          <a:xfrm>
            <a:off x="1051560" y="363931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Requiere trabajo inicial para determinar la mejor opción estándar. ¿A quién involucrar? ¿Cómo modificar los procesos de trabajo?</a:t>
            </a:r>
            <a:endParaRPr lang="en-US" sz="1100" dirty="0"/>
          </a:p>
        </p:txBody>
      </p:sp>
      <p:sp>
        <p:nvSpPr>
          <p:cNvPr id="21" name="Shape 19"/>
          <p:cNvSpPr/>
          <p:nvPr/>
        </p:nvSpPr>
        <p:spPr>
          <a:xfrm>
            <a:off x="365760" y="4178808"/>
            <a:ext cx="8412480" cy="841248"/>
          </a:xfrm>
          <a:prstGeom prst="roundRect">
            <a:avLst>
              <a:gd name="adj" fmla="val 10870"/>
            </a:avLst>
          </a:prstGeom>
          <a:solidFill>
            <a:srgbClr val="F4F4F4"/>
          </a:solidFill>
          <a:ln w="12700">
            <a:solidFill>
              <a:srgbClr val="EBEBEB"/>
            </a:solidFill>
            <a:prstDash val="solid"/>
          </a:ln>
        </p:spPr>
      </p:sp>
      <p:sp>
        <p:nvSpPr>
          <p:cNvPr id="22" name="Shape 20"/>
          <p:cNvSpPr/>
          <p:nvPr/>
        </p:nvSpPr>
        <p:spPr>
          <a:xfrm>
            <a:off x="457200" y="4270248"/>
            <a:ext cx="457200" cy="457200"/>
          </a:xfrm>
          <a:prstGeom prst="ellipse">
            <a:avLst/>
          </a:prstGeom>
          <a:solidFill>
            <a:srgbClr val="30D158"/>
          </a:solidFill>
          <a:ln/>
        </p:spPr>
      </p:sp>
      <p:sp>
        <p:nvSpPr>
          <p:cNvPr id="23" name="Text 21"/>
          <p:cNvSpPr txBox="1"/>
          <p:nvPr/>
        </p:nvSpPr>
        <p:spPr>
          <a:xfrm>
            <a:off x="457200" y="427024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51560" y="427024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Ventaja Competitiva No Reconocida</a:t>
            </a:r>
            <a:endParaRPr lang="en-US" sz="1200" dirty="0"/>
          </a:p>
        </p:txBody>
      </p:sp>
      <p:sp>
        <p:nvSpPr>
          <p:cNvPr id="25" name="Text 23"/>
          <p:cNvSpPr txBox="1"/>
          <p:nvPr/>
        </p:nvSpPr>
        <p:spPr>
          <a:xfrm>
            <a:off x="1051560" y="459943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empresas que logran estandarizar obtienen una ventaja competitiva sustancial. IPA documenta 10% de ahorro en costo total del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33</a:t>
            </a:r>
            <a:endParaRPr lang="en-US" sz="900" dirty="0"/>
          </a:p>
        </p:txBody>
      </p:sp>
      <p:pic xmlns:p="http://schemas.openxmlformats.org/presentationml/2006/main" xmlns:a="http://schemas.openxmlformats.org/drawingml/2006/main" xmlns:r="http://schemas.openxmlformats.org/officeDocument/2006/relationships">
        <p:nvPicPr>
          <p:cNvPr id="8033" name="SlideIcon8033"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II-4: Eficiencia en Documentos de Contrato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777240"/>
          </a:xfrm>
          <a:prstGeom prst="roundRect">
            <a:avLst>
              <a:gd name="adj" fmla="val 14118"/>
            </a:avLst>
          </a:prstGeom>
          <a:solidFill>
            <a:srgbClr val="F4F4F4"/>
          </a:solidFill>
          <a:ln w="12700">
            <a:solidFill>
              <a:srgbClr val="AF52DE"/>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 eficiencia en procura, construcción y arranque se considera en el desarrollo de los documentos de contrato."</a:t>
            </a:r>
            <a:endParaRPr lang="en-US" sz="1200" dirty="0"/>
          </a:p>
        </p:txBody>
      </p:sp>
      <p:sp>
        <p:nvSpPr>
          <p:cNvPr id="7" name="Text 5"/>
          <p:cNvSpPr txBox="1"/>
          <p:nvPr/>
        </p:nvSpPr>
        <p:spPr>
          <a:xfrm>
            <a:off x="365760" y="1828800"/>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Estudio Nielsen 1981 — 200 Reclamaciones por Problemas en Especificaciones:</a:t>
            </a:r>
            <a:endParaRPr lang="en-US" sz="1300" dirty="0"/>
          </a:p>
        </p:txBody>
      </p:sp>
      <p:sp>
        <p:nvSpPr>
          <p:cNvPr id="8" name="Shape 6"/>
          <p:cNvSpPr/>
          <p:nvPr/>
        </p:nvSpPr>
        <p:spPr>
          <a:xfrm>
            <a:off x="365760" y="2212848"/>
            <a:ext cx="4656667" cy="329184"/>
          </a:xfrm>
          <a:prstGeom prst="rect">
            <a:avLst/>
          </a:prstGeom>
          <a:solidFill>
            <a:srgbClr val="FF453A">
              <a:alpha val="80000"/>
            </a:srgbClr>
          </a:solidFill>
          <a:ln/>
        </p:spPr>
      </p:sp>
      <p:sp>
        <p:nvSpPr>
          <p:cNvPr id="9" name="Text 7"/>
          <p:cNvSpPr txBox="1"/>
          <p:nvPr/>
        </p:nvSpPr>
        <p:spPr>
          <a:xfrm>
            <a:off x="457200" y="2231136"/>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25%</a:t>
            </a:r>
            <a:endParaRPr lang="en-US" sz="1200" dirty="0"/>
          </a:p>
        </p:txBody>
      </p:sp>
      <p:sp>
        <p:nvSpPr>
          <p:cNvPr id="10" name="Text 8"/>
          <p:cNvSpPr txBox="1"/>
          <p:nvPr/>
        </p:nvSpPr>
        <p:spPr>
          <a:xfrm>
            <a:off x="1234440" y="2231136"/>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 igual" — cláusulas de substitución ambiguas</a:t>
            </a:r>
            <a:endParaRPr lang="en-US" sz="1100" dirty="0"/>
          </a:p>
        </p:txBody>
      </p:sp>
      <p:sp>
        <p:nvSpPr>
          <p:cNvPr id="11" name="Shape 9"/>
          <p:cNvSpPr/>
          <p:nvPr/>
        </p:nvSpPr>
        <p:spPr>
          <a:xfrm>
            <a:off x="365760" y="2606040"/>
            <a:ext cx="2421467" cy="329184"/>
          </a:xfrm>
          <a:prstGeom prst="rect">
            <a:avLst/>
          </a:prstGeom>
          <a:solidFill>
            <a:srgbClr val="FF453A">
              <a:alpha val="80000"/>
            </a:srgbClr>
          </a:solidFill>
          <a:ln/>
        </p:spPr>
      </p:sp>
      <p:sp>
        <p:nvSpPr>
          <p:cNvPr id="12" name="Text 10"/>
          <p:cNvSpPr txBox="1"/>
          <p:nvPr/>
        </p:nvSpPr>
        <p:spPr>
          <a:xfrm>
            <a:off x="457200" y="2624328"/>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13%</a:t>
            </a:r>
            <a:endParaRPr lang="en-US" sz="1200" dirty="0"/>
          </a:p>
        </p:txBody>
      </p:sp>
      <p:sp>
        <p:nvSpPr>
          <p:cNvPr id="13" name="Text 11"/>
          <p:cNvSpPr txBox="1"/>
          <p:nvPr/>
        </p:nvSpPr>
        <p:spPr>
          <a:xfrm>
            <a:off x="1234440" y="2624328"/>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Ambigüedades de redacción</a:t>
            </a:r>
            <a:endParaRPr lang="en-US" sz="1100" dirty="0"/>
          </a:p>
        </p:txBody>
      </p:sp>
      <p:sp>
        <p:nvSpPr>
          <p:cNvPr id="14" name="Shape 12"/>
          <p:cNvSpPr/>
          <p:nvPr/>
        </p:nvSpPr>
        <p:spPr>
          <a:xfrm>
            <a:off x="365760" y="2999232"/>
            <a:ext cx="2235200" cy="329184"/>
          </a:xfrm>
          <a:prstGeom prst="rect">
            <a:avLst/>
          </a:prstGeom>
          <a:solidFill>
            <a:srgbClr val="FF9500">
              <a:alpha val="80000"/>
            </a:srgbClr>
          </a:solidFill>
          <a:ln/>
        </p:spPr>
      </p:sp>
      <p:sp>
        <p:nvSpPr>
          <p:cNvPr id="15" name="Text 13"/>
          <p:cNvSpPr txBox="1"/>
          <p:nvPr/>
        </p:nvSpPr>
        <p:spPr>
          <a:xfrm>
            <a:off x="457200" y="3017520"/>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6" name="Text 14"/>
          <p:cNvSpPr txBox="1"/>
          <p:nvPr/>
        </p:nvSpPr>
        <p:spPr>
          <a:xfrm>
            <a:off x="1234440" y="3017520"/>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Conflictos entre planos y especificaciones</a:t>
            </a:r>
            <a:endParaRPr lang="en-US" sz="1100" dirty="0"/>
          </a:p>
        </p:txBody>
      </p:sp>
      <p:sp>
        <p:nvSpPr>
          <p:cNvPr id="17" name="Shape 15"/>
          <p:cNvSpPr/>
          <p:nvPr/>
        </p:nvSpPr>
        <p:spPr>
          <a:xfrm>
            <a:off x="365760" y="3392424"/>
            <a:ext cx="2235200" cy="329184"/>
          </a:xfrm>
          <a:prstGeom prst="rect">
            <a:avLst/>
          </a:prstGeom>
          <a:solidFill>
            <a:srgbClr val="FF9500">
              <a:alpha val="80000"/>
            </a:srgbClr>
          </a:solidFill>
          <a:ln/>
        </p:spPr>
      </p:sp>
      <p:sp>
        <p:nvSpPr>
          <p:cNvPr id="18" name="Text 16"/>
          <p:cNvSpPr txBox="1"/>
          <p:nvPr/>
        </p:nvSpPr>
        <p:spPr>
          <a:xfrm>
            <a:off x="457200" y="3410712"/>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9" name="Text 17"/>
          <p:cNvSpPr txBox="1"/>
          <p:nvPr/>
        </p:nvSpPr>
        <p:spPr>
          <a:xfrm>
            <a:off x="1234440" y="3410712"/>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Datos técnicos inexactos</a:t>
            </a:r>
            <a:endParaRPr lang="en-US" sz="1100" dirty="0"/>
          </a:p>
        </p:txBody>
      </p:sp>
      <p:sp>
        <p:nvSpPr>
          <p:cNvPr id="20" name="Shape 18"/>
          <p:cNvSpPr/>
          <p:nvPr/>
        </p:nvSpPr>
        <p:spPr>
          <a:xfrm>
            <a:off x="365760" y="3785616"/>
            <a:ext cx="1117600" cy="329184"/>
          </a:xfrm>
          <a:prstGeom prst="rect">
            <a:avLst/>
          </a:prstGeom>
          <a:solidFill>
            <a:srgbClr val="55577A">
              <a:alpha val="80000"/>
            </a:srgbClr>
          </a:solidFill>
          <a:ln/>
        </p:spPr>
      </p:sp>
      <p:sp>
        <p:nvSpPr>
          <p:cNvPr id="21" name="Text 19"/>
          <p:cNvSpPr txBox="1"/>
          <p:nvPr/>
        </p:nvSpPr>
        <p:spPr>
          <a:xfrm>
            <a:off x="457200" y="3803904"/>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22" name="Text 20"/>
          <p:cNvSpPr txBox="1"/>
          <p:nvPr/>
        </p:nvSpPr>
        <p:spPr>
          <a:xfrm>
            <a:off x="1234440" y="3803904"/>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inspección poco claros</a:t>
            </a:r>
            <a:endParaRPr lang="en-US" sz="1100" dirty="0"/>
          </a:p>
        </p:txBody>
      </p:sp>
      <p:sp>
        <p:nvSpPr>
          <p:cNvPr id="23" name="Shape 21"/>
          <p:cNvSpPr/>
          <p:nvPr/>
        </p:nvSpPr>
        <p:spPr>
          <a:xfrm>
            <a:off x="365760" y="4178808"/>
            <a:ext cx="931333" cy="329184"/>
          </a:xfrm>
          <a:prstGeom prst="rect">
            <a:avLst/>
          </a:prstGeom>
          <a:solidFill>
            <a:srgbClr val="55577A">
              <a:alpha val="80000"/>
            </a:srgbClr>
          </a:solidFill>
          <a:ln/>
        </p:spPr>
      </p:sp>
      <p:sp>
        <p:nvSpPr>
          <p:cNvPr id="24" name="Text 22"/>
          <p:cNvSpPr txBox="1"/>
          <p:nvPr/>
        </p:nvSpPr>
        <p:spPr>
          <a:xfrm>
            <a:off x="457200" y="4197096"/>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5" name="Text 23"/>
          <p:cNvSpPr txBox="1"/>
          <p:nvPr/>
        </p:nvSpPr>
        <p:spPr>
          <a:xfrm>
            <a:off x="1234440" y="4197096"/>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seguridad e higiene</a:t>
            </a:r>
            <a:endParaRPr lang="en-US" sz="1100" dirty="0"/>
          </a:p>
        </p:txBody>
      </p:sp>
      <p:sp>
        <p:nvSpPr>
          <p:cNvPr id="26" name="Shape 24"/>
          <p:cNvSpPr/>
          <p:nvPr/>
        </p:nvSpPr>
        <p:spPr>
          <a:xfrm>
            <a:off x="365760" y="4572000"/>
            <a:ext cx="5029200" cy="329184"/>
          </a:xfrm>
          <a:prstGeom prst="rect">
            <a:avLst/>
          </a:prstGeom>
          <a:solidFill>
            <a:srgbClr val="55577A">
              <a:alpha val="80000"/>
            </a:srgbClr>
          </a:solidFill>
          <a:ln/>
        </p:spPr>
      </p:sp>
      <p:sp>
        <p:nvSpPr>
          <p:cNvPr id="27" name="Text 25"/>
          <p:cNvSpPr txBox="1"/>
          <p:nvPr/>
        </p:nvSpPr>
        <p:spPr>
          <a:xfrm>
            <a:off x="457200" y="4590288"/>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27%</a:t>
            </a:r>
            <a:endParaRPr lang="en-US" sz="1200" dirty="0"/>
          </a:p>
        </p:txBody>
      </p:sp>
      <p:sp>
        <p:nvSpPr>
          <p:cNvPr id="28" name="Text 26"/>
          <p:cNvSpPr txBox="1"/>
          <p:nvPr/>
        </p:nvSpPr>
        <p:spPr>
          <a:xfrm>
            <a:off x="1234440" y="4590288"/>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Otros problemas de comunicación técnica</a:t>
            </a:r>
            <a:endParaRPr lang="en-US" sz="1100" dirty="0"/>
          </a:p>
        </p:txBody>
      </p:sp>
      <p:sp>
        <p:nvSpPr>
          <p:cNvPr id="29" name="Text 27"/>
          <p:cNvSpPr txBox="1"/>
          <p:nvPr/>
        </p:nvSpPr>
        <p:spPr>
          <a:xfrm>
            <a:off x="365760" y="4937760"/>
            <a:ext cx="8412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Oportunidades en planos: Separar planos de encofrado de planos de fierro (dimensiones necesarias son distintas). CAD ofrece nuevas formas de comunicación más eficiente.</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34</a:t>
            </a:r>
            <a:endParaRPr lang="en-US" sz="900" dirty="0"/>
          </a:p>
        </p:txBody>
      </p:sp>
      <p:pic xmlns:p="http://schemas.openxmlformats.org/presentationml/2006/main" xmlns:a="http://schemas.openxmlformats.org/drawingml/2006/main" xmlns:r="http://schemas.openxmlformats.org/officeDocument/2006/relationships">
        <p:nvPicPr>
          <p:cNvPr id="8034" name="SlideIcon8034"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II-5: Modularización, Pre-ensamble y Prefabricación (PPMOF)</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777240"/>
          </a:xfrm>
          <a:prstGeom prst="roundRect">
            <a:avLst>
              <a:gd name="adj" fmla="val 14118"/>
            </a:avLst>
          </a:prstGeom>
          <a:solidFill>
            <a:srgbClr val="F4F4F4"/>
          </a:solidFill>
          <a:ln w="12700">
            <a:solidFill>
              <a:srgbClr val="FF453A"/>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de módulos/pre-ensambles facilitan la fabricación, el transporte y la instalación en campo."</a:t>
            </a:r>
            <a:endParaRPr lang="en-US" sz="1200" dirty="0"/>
          </a:p>
        </p:txBody>
      </p:sp>
      <p:sp>
        <p:nvSpPr>
          <p:cNvPr id="7" name="Shape 5"/>
          <p:cNvSpPr/>
          <p:nvPr/>
        </p:nvSpPr>
        <p:spPr>
          <a:xfrm>
            <a:off x="274320" y="1828800"/>
            <a:ext cx="2834640" cy="3291840"/>
          </a:xfrm>
          <a:prstGeom prst="roundRect">
            <a:avLst>
              <a:gd name="adj" fmla="val 3871"/>
            </a:avLst>
          </a:prstGeom>
          <a:solidFill>
            <a:srgbClr val="F4F4F4"/>
          </a:solidFill>
          <a:ln w="12700">
            <a:solidFill>
              <a:srgbClr val="EBEBEB"/>
            </a:solidFill>
            <a:prstDash val="solid"/>
          </a:ln>
        </p:spPr>
      </p:sp>
      <p:sp>
        <p:nvSpPr>
          <p:cNvPr id="8" name="Shape 6"/>
          <p:cNvSpPr/>
          <p:nvPr/>
        </p:nvSpPr>
        <p:spPr>
          <a:xfrm>
            <a:off x="274320" y="1828800"/>
            <a:ext cx="2834640" cy="384048"/>
          </a:xfrm>
          <a:prstGeom prst="roundRect">
            <a:avLst>
              <a:gd name="adj" fmla="val 28571"/>
            </a:avLst>
          </a:prstGeom>
          <a:solidFill>
            <a:srgbClr val="0A84FF"/>
          </a:solidFill>
          <a:ln/>
        </p:spPr>
      </p:sp>
      <p:sp>
        <p:nvSpPr>
          <p:cNvPr id="9" name="Shape 7"/>
          <p:cNvSpPr/>
          <p:nvPr/>
        </p:nvSpPr>
        <p:spPr>
          <a:xfrm>
            <a:off x="274320" y="2029968"/>
            <a:ext cx="2834640" cy="182880"/>
          </a:xfrm>
          <a:prstGeom prst="rect">
            <a:avLst/>
          </a:prstGeom>
          <a:solidFill>
            <a:srgbClr val="0A84FF"/>
          </a:solidFill>
          <a:ln/>
        </p:spPr>
      </p:sp>
      <p:sp>
        <p:nvSpPr>
          <p:cNvPr id="10" name="Text 8"/>
          <p:cNvSpPr txBox="1"/>
          <p:nvPr/>
        </p:nvSpPr>
        <p:spPr>
          <a:xfrm>
            <a:off x="384048"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FABRICACIÓN</a:t>
            </a:r>
            <a:endParaRPr lang="en-US" sz="1300" dirty="0"/>
          </a:p>
        </p:txBody>
      </p:sp>
      <p:sp>
        <p:nvSpPr>
          <p:cNvPr id="11" name="Text 9"/>
          <p:cNvSpPr txBox="1"/>
          <p:nvPr/>
        </p:nvSpPr>
        <p:spPr>
          <a:xfrm>
            <a:off x="384048"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 fabricación en taller: ¿qué hacer fuera del sitio?</a:t>
            </a:r>
            <a:endParaRPr lang="en-US" sz="950" dirty="0"/>
          </a:p>
        </p:txBody>
      </p:sp>
      <p:sp>
        <p:nvSpPr>
          <p:cNvPr id="12" name="Text 10"/>
          <p:cNvSpPr txBox="1"/>
          <p:nvPr/>
        </p:nvSpPr>
        <p:spPr>
          <a:xfrm>
            <a:off x="384048"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Pruebas pre-embarque y grado de terminación</a:t>
            </a:r>
            <a:endParaRPr lang="en-US" sz="950" dirty="0"/>
          </a:p>
        </p:txBody>
      </p:sp>
      <p:sp>
        <p:nvSpPr>
          <p:cNvPr id="13" name="Text 11"/>
          <p:cNvSpPr txBox="1"/>
          <p:nvPr/>
        </p:nvSpPr>
        <p:spPr>
          <a:xfrm>
            <a:off x="384048"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Aislamiento, revestimientos y acabados en taller</a:t>
            </a:r>
            <a:endParaRPr lang="en-US" sz="950" dirty="0"/>
          </a:p>
        </p:txBody>
      </p:sp>
      <p:sp>
        <p:nvSpPr>
          <p:cNvPr id="14" name="Text 12"/>
          <p:cNvSpPr txBox="1"/>
          <p:nvPr/>
        </p:nvSpPr>
        <p:spPr>
          <a:xfrm>
            <a:off x="384048"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Cantidades económicas y estandarización dimensional</a:t>
            </a:r>
            <a:endParaRPr lang="en-US" sz="950" dirty="0"/>
          </a:p>
        </p:txBody>
      </p:sp>
      <p:sp>
        <p:nvSpPr>
          <p:cNvPr id="15" name="Text 13"/>
          <p:cNvSpPr txBox="1"/>
          <p:nvPr/>
        </p:nvSpPr>
        <p:spPr>
          <a:xfrm>
            <a:off x="384048"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y ubicación de juntas entre módulos</a:t>
            </a:r>
            <a:endParaRPr lang="en-US" sz="950" dirty="0"/>
          </a:p>
        </p:txBody>
      </p:sp>
      <p:sp>
        <p:nvSpPr>
          <p:cNvPr id="16" name="Text 14"/>
          <p:cNvSpPr txBox="1"/>
          <p:nvPr/>
        </p:nvSpPr>
        <p:spPr>
          <a:xfrm>
            <a:off x="384048"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Tolerancias compatibles con el campo</a:t>
            </a:r>
            <a:endParaRPr lang="en-US" sz="950" dirty="0"/>
          </a:p>
        </p:txBody>
      </p:sp>
      <p:sp>
        <p:nvSpPr>
          <p:cNvPr id="17" name="Text 15"/>
          <p:cNvSpPr txBox="1"/>
          <p:nvPr/>
        </p:nvSpPr>
        <p:spPr>
          <a:xfrm>
            <a:off x="384048"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Selección y monitoreo del fabricador</a:t>
            </a:r>
            <a:endParaRPr lang="en-US" sz="950" dirty="0"/>
          </a:p>
        </p:txBody>
      </p:sp>
      <p:sp>
        <p:nvSpPr>
          <p:cNvPr id="18" name="Shape 16"/>
          <p:cNvSpPr/>
          <p:nvPr/>
        </p:nvSpPr>
        <p:spPr>
          <a:xfrm>
            <a:off x="3227832" y="1828800"/>
            <a:ext cx="2834640" cy="3291840"/>
          </a:xfrm>
          <a:prstGeom prst="roundRect">
            <a:avLst>
              <a:gd name="adj" fmla="val 3871"/>
            </a:avLst>
          </a:prstGeom>
          <a:solidFill>
            <a:srgbClr val="F4F4F4"/>
          </a:solidFill>
          <a:ln w="12700">
            <a:solidFill>
              <a:srgbClr val="EBEBEB"/>
            </a:solidFill>
            <a:prstDash val="solid"/>
          </a:ln>
        </p:spPr>
      </p:sp>
      <p:sp>
        <p:nvSpPr>
          <p:cNvPr id="19" name="Shape 17"/>
          <p:cNvSpPr/>
          <p:nvPr/>
        </p:nvSpPr>
        <p:spPr>
          <a:xfrm>
            <a:off x="3227832" y="1828800"/>
            <a:ext cx="2834640" cy="384048"/>
          </a:xfrm>
          <a:prstGeom prst="roundRect">
            <a:avLst>
              <a:gd name="adj" fmla="val 28571"/>
            </a:avLst>
          </a:prstGeom>
          <a:solidFill>
            <a:srgbClr val="FF9500"/>
          </a:solidFill>
          <a:ln/>
        </p:spPr>
      </p:sp>
      <p:sp>
        <p:nvSpPr>
          <p:cNvPr id="20" name="Shape 18"/>
          <p:cNvSpPr/>
          <p:nvPr/>
        </p:nvSpPr>
        <p:spPr>
          <a:xfrm>
            <a:off x="3227832" y="2029968"/>
            <a:ext cx="2834640" cy="182880"/>
          </a:xfrm>
          <a:prstGeom prst="rect">
            <a:avLst/>
          </a:prstGeom>
          <a:solidFill>
            <a:srgbClr val="FF9500"/>
          </a:solidFill>
          <a:ln/>
        </p:spPr>
      </p:sp>
      <p:sp>
        <p:nvSpPr>
          <p:cNvPr id="21" name="Text 19"/>
          <p:cNvSpPr txBox="1"/>
          <p:nvPr/>
        </p:nvSpPr>
        <p:spPr>
          <a:xfrm>
            <a:off x="3337560"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TRANSPORTE</a:t>
            </a:r>
            <a:endParaRPr lang="en-US" sz="1300" dirty="0"/>
          </a:p>
        </p:txBody>
      </p:sp>
      <p:sp>
        <p:nvSpPr>
          <p:cNvPr id="22" name="Text 20"/>
          <p:cNvSpPr txBox="1"/>
          <p:nvPr/>
        </p:nvSpPr>
        <p:spPr>
          <a:xfrm>
            <a:off x="3337560"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Métodos de transporte y límites dimensionales</a:t>
            </a:r>
            <a:endParaRPr lang="en-US" sz="950" dirty="0"/>
          </a:p>
        </p:txBody>
      </p:sp>
      <p:sp>
        <p:nvSpPr>
          <p:cNvPr id="23" name="Text 21"/>
          <p:cNvSpPr txBox="1"/>
          <p:nvPr/>
        </p:nvSpPr>
        <p:spPr>
          <a:xfrm>
            <a:off x="3337560"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Análisis de rutas y accesibilidad (alturas, pesos)</a:t>
            </a:r>
            <a:endParaRPr lang="en-US" sz="950" dirty="0"/>
          </a:p>
        </p:txBody>
      </p:sp>
      <p:sp>
        <p:nvSpPr>
          <p:cNvPr id="24" name="Text 22"/>
          <p:cNvSpPr txBox="1"/>
          <p:nvPr/>
        </p:nvSpPr>
        <p:spPr>
          <a:xfrm>
            <a:off x="3337560"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estándar: plataforma = 42' x 8'</a:t>
            </a:r>
            <a:endParaRPr lang="en-US" sz="950" dirty="0"/>
          </a:p>
        </p:txBody>
      </p:sp>
      <p:sp>
        <p:nvSpPr>
          <p:cNvPr id="25" name="Text 23"/>
          <p:cNvSpPr txBox="1"/>
          <p:nvPr/>
        </p:nvSpPr>
        <p:spPr>
          <a:xfrm>
            <a:off x="3337560"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Contenedor 40': 93"a × 474"l × 106"h, 30 ton</a:t>
            </a:r>
            <a:endParaRPr lang="en-US" sz="950" dirty="0"/>
          </a:p>
        </p:txBody>
      </p:sp>
      <p:sp>
        <p:nvSpPr>
          <p:cNvPr id="26" name="Text 24"/>
          <p:cNvSpPr txBox="1"/>
          <p:nvPr/>
        </p:nvSpPr>
        <p:spPr>
          <a:xfrm>
            <a:off x="3337560"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Pallet estándar: 96"h × 104" × 84", 5 ton</a:t>
            </a:r>
            <a:endParaRPr lang="en-US" sz="950" dirty="0"/>
          </a:p>
        </p:txBody>
      </p:sp>
      <p:sp>
        <p:nvSpPr>
          <p:cNvPr id="27" name="Text 25"/>
          <p:cNvSpPr txBox="1"/>
          <p:nvPr/>
        </p:nvSpPr>
        <p:spPr>
          <a:xfrm>
            <a:off x="3337560"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Medición y monitoreo continuo del peso</a:t>
            </a:r>
            <a:endParaRPr lang="en-US" sz="950" dirty="0"/>
          </a:p>
        </p:txBody>
      </p:sp>
      <p:sp>
        <p:nvSpPr>
          <p:cNvPr id="28" name="Text 26"/>
          <p:cNvSpPr txBox="1"/>
          <p:nvPr/>
        </p:nvSpPr>
        <p:spPr>
          <a:xfrm>
            <a:off x="3337560"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Estructura temporal de rigidez para el transporte</a:t>
            </a:r>
            <a:endParaRPr lang="en-US" sz="950" dirty="0"/>
          </a:p>
        </p:txBody>
      </p:sp>
      <p:sp>
        <p:nvSpPr>
          <p:cNvPr id="29" name="Shape 27"/>
          <p:cNvSpPr/>
          <p:nvPr/>
        </p:nvSpPr>
        <p:spPr>
          <a:xfrm>
            <a:off x="6181344" y="1828800"/>
            <a:ext cx="2834640" cy="3291840"/>
          </a:xfrm>
          <a:prstGeom prst="roundRect">
            <a:avLst>
              <a:gd name="adj" fmla="val 3871"/>
            </a:avLst>
          </a:prstGeom>
          <a:solidFill>
            <a:srgbClr val="F4F4F4"/>
          </a:solidFill>
          <a:ln w="12700">
            <a:solidFill>
              <a:srgbClr val="EBEBEB"/>
            </a:solidFill>
            <a:prstDash val="solid"/>
          </a:ln>
        </p:spPr>
      </p:sp>
      <p:sp>
        <p:nvSpPr>
          <p:cNvPr id="30" name="Shape 28"/>
          <p:cNvSpPr/>
          <p:nvPr/>
        </p:nvSpPr>
        <p:spPr>
          <a:xfrm>
            <a:off x="6181344" y="1828800"/>
            <a:ext cx="2834640" cy="384048"/>
          </a:xfrm>
          <a:prstGeom prst="roundRect">
            <a:avLst>
              <a:gd name="adj" fmla="val 28571"/>
            </a:avLst>
          </a:prstGeom>
          <a:solidFill>
            <a:srgbClr val="30D158"/>
          </a:solidFill>
          <a:ln/>
        </p:spPr>
      </p:sp>
      <p:sp>
        <p:nvSpPr>
          <p:cNvPr id="31" name="Shape 29"/>
          <p:cNvSpPr/>
          <p:nvPr/>
        </p:nvSpPr>
        <p:spPr>
          <a:xfrm>
            <a:off x="6181344" y="2029968"/>
            <a:ext cx="2834640" cy="182880"/>
          </a:xfrm>
          <a:prstGeom prst="rect">
            <a:avLst/>
          </a:prstGeom>
          <a:solidFill>
            <a:srgbClr val="30D158"/>
          </a:solidFill>
          <a:ln/>
        </p:spPr>
      </p:sp>
      <p:sp>
        <p:nvSpPr>
          <p:cNvPr id="32" name="Text 30"/>
          <p:cNvSpPr txBox="1"/>
          <p:nvPr/>
        </p:nvSpPr>
        <p:spPr>
          <a:xfrm>
            <a:off x="6291072"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INSTALACIÓN</a:t>
            </a:r>
            <a:endParaRPr lang="en-US" sz="1300" dirty="0"/>
          </a:p>
        </p:txBody>
      </p:sp>
      <p:sp>
        <p:nvSpPr>
          <p:cNvPr id="33" name="Text 31"/>
          <p:cNvSpPr txBox="1"/>
          <p:nvPr/>
        </p:nvSpPr>
        <p:spPr>
          <a:xfrm>
            <a:off x="6291072"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del trabajo en campo (conexiones, ajuste)</a:t>
            </a:r>
            <a:endParaRPr lang="en-US" sz="950" dirty="0"/>
          </a:p>
        </p:txBody>
      </p:sp>
      <p:sp>
        <p:nvSpPr>
          <p:cNvPr id="34" name="Text 32"/>
          <p:cNvSpPr txBox="1"/>
          <p:nvPr/>
        </p:nvSpPr>
        <p:spPr>
          <a:xfrm>
            <a:off x="6291072"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Secuencia de erección y secuencia de entrega</a:t>
            </a:r>
            <a:endParaRPr lang="en-US" sz="950" dirty="0"/>
          </a:p>
        </p:txBody>
      </p:sp>
      <p:sp>
        <p:nvSpPr>
          <p:cNvPr id="35" name="Text 33"/>
          <p:cNvSpPr txBox="1"/>
          <p:nvPr/>
        </p:nvSpPr>
        <p:spPr>
          <a:xfrm>
            <a:off x="6291072"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"Dibujos de secuencia de erección"</a:t>
            </a:r>
            <a:endParaRPr lang="en-US" sz="950" dirty="0"/>
          </a:p>
        </p:txBody>
      </p:sp>
      <p:sp>
        <p:nvSpPr>
          <p:cNvPr id="36" name="Text 34"/>
          <p:cNvSpPr txBox="1"/>
          <p:nvPr/>
        </p:nvSpPr>
        <p:spPr>
          <a:xfrm>
            <a:off x="6291072"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Enfoque de conexión de sistemas y tolerancias de fit-up</a:t>
            </a:r>
            <a:endParaRPr lang="en-US" sz="950" dirty="0"/>
          </a:p>
        </p:txBody>
      </p:sp>
      <p:sp>
        <p:nvSpPr>
          <p:cNvPr id="37" name="Text 35"/>
          <p:cNvSpPr txBox="1"/>
          <p:nvPr/>
        </p:nvSpPr>
        <p:spPr>
          <a:xfrm>
            <a:off x="6291072"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Accesibilidad para actividades de conexión</a:t>
            </a:r>
            <a:endParaRPr lang="en-US" sz="950" dirty="0"/>
          </a:p>
        </p:txBody>
      </p:sp>
      <p:sp>
        <p:nvSpPr>
          <p:cNvPr id="38" name="Text 36"/>
          <p:cNvSpPr txBox="1"/>
          <p:nvPr/>
        </p:nvSpPr>
        <p:spPr>
          <a:xfrm>
            <a:off x="6291072"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Capacidades de izaje en campo</a:t>
            </a:r>
            <a:endParaRPr lang="en-US" sz="950" dirty="0"/>
          </a:p>
        </p:txBody>
      </p:sp>
      <p:sp>
        <p:nvSpPr>
          <p:cNvPr id="39" name="Text 37"/>
          <p:cNvSpPr txBox="1"/>
          <p:nvPr/>
        </p:nvSpPr>
        <p:spPr>
          <a:xfrm>
            <a:off x="6291072"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Grúa camión: económica hasta 60 ton de capacidad</a:t>
            </a:r>
            <a:endParaRPr lang="en-US" sz="95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35</a:t>
            </a:r>
            <a:endParaRPr lang="en-US" sz="900" dirty="0"/>
          </a:p>
        </p:txBody>
      </p:sp>
      <p:pic xmlns:p="http://schemas.openxmlformats.org/presentationml/2006/main" xmlns:a="http://schemas.openxmlformats.org/drawingml/2006/main" xmlns:r="http://schemas.openxmlformats.org/officeDocument/2006/relationships">
        <p:nvPicPr>
          <p:cNvPr id="8035" name="SlideIcon8035"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II-6: Accesibilidad en el Diseño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promueven la accesibilidad de construcción de personal, materiales y equipos."</a:t>
            </a:r>
            <a:endParaRPr lang="en-US" sz="1500" dirty="0"/>
          </a:p>
        </p:txBody>
      </p:sp>
      <p:sp>
        <p:nvSpPr>
          <p:cNvPr id="7" name="Text 5"/>
          <p:cNvSpPr txBox="1"/>
          <p:nvPr/>
        </p:nvSpPr>
        <p:spPr>
          <a:xfrm>
            <a:off x="365760" y="1719072"/>
            <a:ext cx="411480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Efectos de los Problemas de Accesibilidad:</a:t>
            </a:r>
            <a:endParaRPr lang="en-US" sz="1300" dirty="0"/>
          </a:p>
        </p:txBody>
      </p:sp>
      <p:sp>
        <p:nvSpPr>
          <p:cNvPr id="8" name="Text 6"/>
          <p:cNvSpPr txBox="1"/>
          <p:nvPr/>
        </p:nvSpPr>
        <p:spPr>
          <a:xfrm>
            <a:off x="4709160" y="1719072"/>
            <a:ext cx="4114800" cy="292608"/>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Indicadores de Problemas de Acceso:</a:t>
            </a:r>
            <a:endParaRPr lang="en-US" sz="1300" dirty="0"/>
          </a:p>
        </p:txBody>
      </p:sp>
      <p:sp>
        <p:nvSpPr>
          <p:cNvPr id="9" name="Shape 7"/>
          <p:cNvSpPr/>
          <p:nvPr/>
        </p:nvSpPr>
        <p:spPr>
          <a:xfrm>
            <a:off x="365760" y="2084832"/>
            <a:ext cx="4206240" cy="438912"/>
          </a:xfrm>
          <a:prstGeom prst="roundRect">
            <a:avLst>
              <a:gd name="adj" fmla="val 16667"/>
            </a:avLst>
          </a:prstGeom>
          <a:solidFill>
            <a:srgbClr val="F4F4F4"/>
          </a:solidFill>
          <a:ln w="12700">
            <a:solidFill>
              <a:srgbClr val="EBEBEB"/>
            </a:solidFill>
            <a:prstDash val="solid"/>
          </a:ln>
        </p:spPr>
      </p:sp>
      <p:sp>
        <p:nvSpPr>
          <p:cNvPr id="10" name="Text 8"/>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Retrasos — proyectos entregados tarde</a:t>
            </a:r>
            <a:endParaRPr lang="en-US" sz="1100" dirty="0"/>
          </a:p>
        </p:txBody>
      </p:sp>
      <p:sp>
        <p:nvSpPr>
          <p:cNvPr id="11" name="Shape 9"/>
          <p:cNvSpPr/>
          <p:nvPr/>
        </p:nvSpPr>
        <p:spPr>
          <a:xfrm>
            <a:off x="365760" y="2587752"/>
            <a:ext cx="4206240" cy="438912"/>
          </a:xfrm>
          <a:prstGeom prst="roundRect">
            <a:avLst>
              <a:gd name="adj" fmla="val 16667"/>
            </a:avLst>
          </a:prstGeom>
          <a:solidFill>
            <a:srgbClr val="F4F4F4"/>
          </a:solidFill>
          <a:ln w="12700">
            <a:solidFill>
              <a:srgbClr val="EBEBEB"/>
            </a:solidFill>
            <a:prstDash val="solid"/>
          </a:ln>
        </p:spPr>
      </p:sp>
      <p:sp>
        <p:nvSpPr>
          <p:cNvPr id="12" name="Text 10"/>
          <p:cNvSpPr txBox="1"/>
          <p:nvPr/>
        </p:nvSpPr>
        <p:spPr>
          <a:xfrm>
            <a:off x="548640" y="266090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Productividad disminuida — mayor costo de mano de obra</a:t>
            </a:r>
            <a:endParaRPr lang="en-US" sz="1100" dirty="0"/>
          </a:p>
        </p:txBody>
      </p:sp>
      <p:sp>
        <p:nvSpPr>
          <p:cNvPr id="13" name="Shape 11"/>
          <p:cNvSpPr/>
          <p:nvPr/>
        </p:nvSpPr>
        <p:spPr>
          <a:xfrm>
            <a:off x="365760" y="3090672"/>
            <a:ext cx="4206240" cy="438912"/>
          </a:xfrm>
          <a:prstGeom prst="roundRect">
            <a:avLst>
              <a:gd name="adj" fmla="val 16667"/>
            </a:avLst>
          </a:prstGeom>
          <a:solidFill>
            <a:srgbClr val="F4F4F4"/>
          </a:solidFill>
          <a:ln w="12700">
            <a:solidFill>
              <a:srgbClr val="EBEBEB"/>
            </a:solidFill>
            <a:prstDash val="solid"/>
          </a:ln>
        </p:spPr>
      </p:sp>
      <p:sp>
        <p:nvSpPr>
          <p:cNvPr id="14" name="Text 12"/>
          <p:cNvSpPr txBox="1"/>
          <p:nvPr/>
        </p:nvSpPr>
        <p:spPr>
          <a:xfrm>
            <a:off x="548640" y="316382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Doble manejo de materiales</a:t>
            </a:r>
            <a:endParaRPr lang="en-US" sz="1100" dirty="0"/>
          </a:p>
        </p:txBody>
      </p:sp>
      <p:sp>
        <p:nvSpPr>
          <p:cNvPr id="15" name="Shape 13"/>
          <p:cNvSpPr/>
          <p:nvPr/>
        </p:nvSpPr>
        <p:spPr>
          <a:xfrm>
            <a:off x="365760" y="3593592"/>
            <a:ext cx="4206240" cy="438912"/>
          </a:xfrm>
          <a:prstGeom prst="roundRect">
            <a:avLst>
              <a:gd name="adj" fmla="val 16667"/>
            </a:avLst>
          </a:prstGeom>
          <a:solidFill>
            <a:srgbClr val="F4F4F4"/>
          </a:solidFill>
          <a:ln w="12700">
            <a:solidFill>
              <a:srgbClr val="EBEBEB"/>
            </a:solidFill>
            <a:prstDash val="solid"/>
          </a:ln>
        </p:spPr>
      </p:sp>
      <p:sp>
        <p:nvSpPr>
          <p:cNvPr id="16" name="Text 14"/>
          <p:cNvSpPr txBox="1"/>
          <p:nvPr/>
        </p:nvSpPr>
        <p:spPr>
          <a:xfrm>
            <a:off x="548640" y="366674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Demolición y reconstrucción (retrabajo)</a:t>
            </a:r>
            <a:endParaRPr lang="en-US" sz="1100" dirty="0"/>
          </a:p>
        </p:txBody>
      </p:sp>
      <p:sp>
        <p:nvSpPr>
          <p:cNvPr id="17" name="Shape 15"/>
          <p:cNvSpPr/>
          <p:nvPr/>
        </p:nvSpPr>
        <p:spPr>
          <a:xfrm>
            <a:off x="4709160" y="2084832"/>
            <a:ext cx="4069080" cy="438912"/>
          </a:xfrm>
          <a:prstGeom prst="roundRect">
            <a:avLst>
              <a:gd name="adj" fmla="val 16667"/>
            </a:avLst>
          </a:prstGeom>
          <a:solidFill>
            <a:srgbClr val="F4F4F4"/>
          </a:solidFill>
          <a:ln w="12700">
            <a:solidFill>
              <a:srgbClr val="EBEBEB"/>
            </a:solidFill>
            <a:prstDash val="solid"/>
          </a:ln>
        </p:spPr>
      </p:sp>
      <p:sp>
        <p:nvSpPr>
          <p:cNvPr id="18" name="Text 16"/>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Sitios remotos o congestionados</a:t>
            </a:r>
            <a:endParaRPr lang="en-US" sz="1050" dirty="0"/>
          </a:p>
        </p:txBody>
      </p:sp>
      <p:sp>
        <p:nvSpPr>
          <p:cNvPr id="19" name="Shape 17"/>
          <p:cNvSpPr/>
          <p:nvPr/>
        </p:nvSpPr>
        <p:spPr>
          <a:xfrm>
            <a:off x="4709160" y="2084832"/>
            <a:ext cx="4069080" cy="438912"/>
          </a:xfrm>
          <a:prstGeom prst="roundRect">
            <a:avLst>
              <a:gd name="adj" fmla="val 16667"/>
            </a:avLst>
          </a:prstGeom>
          <a:solidFill>
            <a:srgbClr val="F4F4F4"/>
          </a:solidFill>
          <a:ln w="12700">
            <a:solidFill>
              <a:srgbClr val="EBEBEB"/>
            </a:solidFill>
            <a:prstDash val="solid"/>
          </a:ln>
        </p:spPr>
      </p:sp>
      <p:sp>
        <p:nvSpPr>
          <p:cNvPr id="20" name="Text 18"/>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Cargas grandes o pesadas</a:t>
            </a:r>
            <a:endParaRPr lang="en-US" sz="1050" dirty="0"/>
          </a:p>
        </p:txBody>
      </p:sp>
      <p:sp>
        <p:nvSpPr>
          <p:cNvPr id="21" name="Shape 19"/>
          <p:cNvSpPr/>
          <p:nvPr/>
        </p:nvSpPr>
        <p:spPr>
          <a:xfrm>
            <a:off x="4709160" y="2587752"/>
            <a:ext cx="4069080" cy="438912"/>
          </a:xfrm>
          <a:prstGeom prst="roundRect">
            <a:avLst>
              <a:gd name="adj" fmla="val 16667"/>
            </a:avLst>
          </a:prstGeom>
          <a:solidFill>
            <a:srgbClr val="F4F4F4"/>
          </a:solidFill>
          <a:ln w="12700">
            <a:solidFill>
              <a:srgbClr val="EBEBEB"/>
            </a:solidFill>
            <a:prstDash val="solid"/>
          </a:ln>
        </p:spPr>
      </p:sp>
      <p:sp>
        <p:nvSpPr>
          <p:cNvPr id="22" name="Text 20"/>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de altura en carreteras</a:t>
            </a:r>
            <a:endParaRPr lang="en-US" sz="1050" dirty="0"/>
          </a:p>
        </p:txBody>
      </p:sp>
      <p:sp>
        <p:nvSpPr>
          <p:cNvPr id="23" name="Shape 21"/>
          <p:cNvSpPr/>
          <p:nvPr/>
        </p:nvSpPr>
        <p:spPr>
          <a:xfrm>
            <a:off x="4709160" y="2587752"/>
            <a:ext cx="4069080" cy="438912"/>
          </a:xfrm>
          <a:prstGeom prst="roundRect">
            <a:avLst>
              <a:gd name="adj" fmla="val 16667"/>
            </a:avLst>
          </a:prstGeom>
          <a:solidFill>
            <a:srgbClr val="F4F4F4"/>
          </a:solidFill>
          <a:ln w="12700">
            <a:solidFill>
              <a:srgbClr val="EBEBEB"/>
            </a:solidFill>
            <a:prstDash val="solid"/>
          </a:ln>
        </p:spPr>
      </p:sp>
      <p:sp>
        <p:nvSpPr>
          <p:cNvPr id="24" name="Text 22"/>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Pendientes pronunciadas</a:t>
            </a:r>
            <a:endParaRPr lang="en-US" sz="1050" dirty="0"/>
          </a:p>
        </p:txBody>
      </p:sp>
      <p:sp>
        <p:nvSpPr>
          <p:cNvPr id="25" name="Shape 23"/>
          <p:cNvSpPr/>
          <p:nvPr/>
        </p:nvSpPr>
        <p:spPr>
          <a:xfrm>
            <a:off x="4709160" y="3090672"/>
            <a:ext cx="4069080" cy="438912"/>
          </a:xfrm>
          <a:prstGeom prst="roundRect">
            <a:avLst>
              <a:gd name="adj" fmla="val 16667"/>
            </a:avLst>
          </a:prstGeom>
          <a:solidFill>
            <a:srgbClr val="F4F4F4"/>
          </a:solidFill>
          <a:ln w="12700">
            <a:solidFill>
              <a:srgbClr val="EBEBEB"/>
            </a:solidFill>
            <a:prstDash val="solid"/>
          </a:ln>
        </p:spPr>
      </p:sp>
      <p:sp>
        <p:nvSpPr>
          <p:cNvPr id="26" name="Text 24"/>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Operaciones concurrentes de la planta</a:t>
            </a:r>
            <a:endParaRPr lang="en-US" sz="1050" dirty="0"/>
          </a:p>
        </p:txBody>
      </p:sp>
      <p:sp>
        <p:nvSpPr>
          <p:cNvPr id="27" name="Shape 25"/>
          <p:cNvSpPr/>
          <p:nvPr/>
        </p:nvSpPr>
        <p:spPr>
          <a:xfrm>
            <a:off x="4709160" y="3090672"/>
            <a:ext cx="4069080" cy="438912"/>
          </a:xfrm>
          <a:prstGeom prst="roundRect">
            <a:avLst>
              <a:gd name="adj" fmla="val 16667"/>
            </a:avLst>
          </a:prstGeom>
          <a:solidFill>
            <a:srgbClr val="F4F4F4"/>
          </a:solidFill>
          <a:ln w="12700">
            <a:solidFill>
              <a:srgbClr val="EBEBEB"/>
            </a:solidFill>
            <a:prstDash val="solid"/>
          </a:ln>
        </p:spPr>
      </p:sp>
      <p:sp>
        <p:nvSpPr>
          <p:cNvPr id="28" name="Text 26"/>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Líneas eléctricas aéreas</a:t>
            </a:r>
            <a:endParaRPr lang="en-US" sz="1050" dirty="0"/>
          </a:p>
        </p:txBody>
      </p:sp>
      <p:sp>
        <p:nvSpPr>
          <p:cNvPr id="29" name="Shape 27"/>
          <p:cNvSpPr/>
          <p:nvPr/>
        </p:nvSpPr>
        <p:spPr>
          <a:xfrm>
            <a:off x="4709160" y="3593592"/>
            <a:ext cx="4069080" cy="438912"/>
          </a:xfrm>
          <a:prstGeom prst="roundRect">
            <a:avLst>
              <a:gd name="adj" fmla="val 16667"/>
            </a:avLst>
          </a:prstGeom>
          <a:solidFill>
            <a:srgbClr val="F4F4F4"/>
          </a:solidFill>
          <a:ln w="12700">
            <a:solidFill>
              <a:srgbClr val="EBEBEB"/>
            </a:solidFill>
            <a:prstDash val="solid"/>
          </a:ln>
        </p:spPr>
      </p:sp>
      <p:sp>
        <p:nvSpPr>
          <p:cNvPr id="30" name="Text 28"/>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Tabla freática alta o suelos débiles</a:t>
            </a:r>
            <a:endParaRPr lang="en-US" sz="1050" dirty="0"/>
          </a:p>
        </p:txBody>
      </p:sp>
      <p:sp>
        <p:nvSpPr>
          <p:cNvPr id="31" name="Shape 29"/>
          <p:cNvSpPr/>
          <p:nvPr/>
        </p:nvSpPr>
        <p:spPr>
          <a:xfrm>
            <a:off x="4709160" y="3593592"/>
            <a:ext cx="4069080" cy="438912"/>
          </a:xfrm>
          <a:prstGeom prst="roundRect">
            <a:avLst>
              <a:gd name="adj" fmla="val 16667"/>
            </a:avLst>
          </a:prstGeom>
          <a:solidFill>
            <a:srgbClr val="F4F4F4"/>
          </a:solidFill>
          <a:ln w="12700">
            <a:solidFill>
              <a:srgbClr val="EBEBEB"/>
            </a:solidFill>
            <a:prstDash val="solid"/>
          </a:ln>
        </p:spPr>
      </p:sp>
      <p:sp>
        <p:nvSpPr>
          <p:cNvPr id="32" name="Text 30"/>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ambientales (flora, fauna)</a:t>
            </a:r>
            <a:endParaRPr lang="en-US" sz="1050" dirty="0"/>
          </a:p>
        </p:txBody>
      </p:sp>
      <p:sp>
        <p:nvSpPr>
          <p:cNvPr id="33" name="Text 31"/>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Soluciones: selección y configuración de componentes, secuenciamiento de actividades, análisis de logística y congestión, visualización 3D, planificación de instalaciones temporales.</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36</a:t>
            </a:r>
            <a:endParaRPr lang="en-US" sz="900" dirty="0"/>
          </a:p>
        </p:txBody>
      </p:sp>
      <p:pic xmlns:p="http://schemas.openxmlformats.org/presentationml/2006/main" xmlns:a="http://schemas.openxmlformats.org/drawingml/2006/main" xmlns:r="http://schemas.openxmlformats.org/officeDocument/2006/relationships">
        <p:nvPicPr>
          <p:cNvPr id="8036" name="SlideIcon8036"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II-7: Diseño para Condiciones Climáticas Adversas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facilitan la construcción y la productividad de campo bajo condiciones climáticas adversas."</a:t>
            </a:r>
            <a:endParaRPr lang="en-US" sz="1500" dirty="0"/>
          </a:p>
        </p:txBody>
      </p:sp>
      <p:sp>
        <p:nvSpPr>
          <p:cNvPr id="7" name="Text 5"/>
          <p:cNvSpPr txBox="1"/>
          <p:nvPr/>
        </p:nvSpPr>
        <p:spPr>
          <a:xfrm>
            <a:off x="365760" y="1719072"/>
            <a:ext cx="841248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Pregunta clave: ¿Cómo puede el clima afectar adversamente tu proyecto? ¿Se puede hacer algo en diseño o procura para contrarrestarlo?</a:t>
            </a:r>
            <a:endParaRPr lang="en-US" sz="1300" dirty="0"/>
          </a:p>
        </p:txBody>
      </p:sp>
      <p:sp>
        <p:nvSpPr>
          <p:cNvPr id="8" name="Shape 6"/>
          <p:cNvSpPr/>
          <p:nvPr/>
        </p:nvSpPr>
        <p:spPr>
          <a:xfrm>
            <a:off x="365760" y="2148840"/>
            <a:ext cx="4206240" cy="667512"/>
          </a:xfrm>
          <a:prstGeom prst="roundRect">
            <a:avLst>
              <a:gd name="adj" fmla="val 10959"/>
            </a:avLst>
          </a:prstGeom>
          <a:solidFill>
            <a:srgbClr val="F4F4F4"/>
          </a:solidFill>
          <a:ln w="12700">
            <a:solidFill>
              <a:srgbClr val="EBEBEB"/>
            </a:solidFill>
            <a:prstDash val="solid"/>
          </a:ln>
        </p:spPr>
      </p:sp>
      <p:sp>
        <p:nvSpPr>
          <p:cNvPr id="9" name="Text 7"/>
          <p:cNvSpPr txBox="1"/>
          <p:nvPr/>
        </p:nvSpPr>
        <p:spPr>
          <a:xfrm>
            <a:off x="54864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Estructura temprana</a:t>
            </a:r>
            <a:endParaRPr lang="en-US" sz="1200" dirty="0"/>
          </a:p>
        </p:txBody>
      </p:sp>
      <p:sp>
        <p:nvSpPr>
          <p:cNvPr id="10" name="Text 8"/>
          <p:cNvSpPr txBox="1"/>
          <p:nvPr/>
        </p:nvSpPr>
        <p:spPr>
          <a:xfrm>
            <a:off x="548640" y="24688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Terminar en 1 temporada. Completar el cierre perimetral tempranamente para proteger trabajo interior.</a:t>
            </a:r>
            <a:endParaRPr lang="en-US" sz="1000" dirty="0"/>
          </a:p>
        </p:txBody>
      </p:sp>
      <p:sp>
        <p:nvSpPr>
          <p:cNvPr id="11" name="Shape 9"/>
          <p:cNvSpPr/>
          <p:nvPr/>
        </p:nvSpPr>
        <p:spPr>
          <a:xfrm>
            <a:off x="4754880" y="2148840"/>
            <a:ext cx="4206240" cy="667512"/>
          </a:xfrm>
          <a:prstGeom prst="roundRect">
            <a:avLst>
              <a:gd name="adj" fmla="val 10959"/>
            </a:avLst>
          </a:prstGeom>
          <a:solidFill>
            <a:srgbClr val="F4F4F4"/>
          </a:solidFill>
          <a:ln w="12700">
            <a:solidFill>
              <a:srgbClr val="EBEBEB"/>
            </a:solidFill>
            <a:prstDash val="solid"/>
          </a:ln>
        </p:spPr>
      </p:sp>
      <p:sp>
        <p:nvSpPr>
          <p:cNvPr id="12" name="Text 10"/>
          <p:cNvSpPr txBox="1"/>
          <p:nvPr/>
        </p:nvSpPr>
        <p:spPr>
          <a:xfrm>
            <a:off x="493776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Trabajo en taller</a:t>
            </a:r>
            <a:endParaRPr lang="en-US" sz="1200" dirty="0"/>
          </a:p>
        </p:txBody>
      </p:sp>
      <p:sp>
        <p:nvSpPr>
          <p:cNvPr id="13" name="Text 11"/>
          <p:cNvSpPr txBox="1"/>
          <p:nvPr/>
        </p:nvSpPr>
        <p:spPr>
          <a:xfrm>
            <a:off x="4937760" y="24688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y pre-ensamble fuera del sitio. Los módulos se instalan en obra en tiempos cortos.</a:t>
            </a:r>
            <a:endParaRPr lang="en-US" sz="1000" dirty="0"/>
          </a:p>
        </p:txBody>
      </p:sp>
      <p:sp>
        <p:nvSpPr>
          <p:cNvPr id="14" name="Shape 12"/>
          <p:cNvSpPr/>
          <p:nvPr/>
        </p:nvSpPr>
        <p:spPr>
          <a:xfrm>
            <a:off x="365760" y="2898648"/>
            <a:ext cx="4206240" cy="667512"/>
          </a:xfrm>
          <a:prstGeom prst="roundRect">
            <a:avLst>
              <a:gd name="adj" fmla="val 10959"/>
            </a:avLst>
          </a:prstGeom>
          <a:solidFill>
            <a:srgbClr val="F4F4F4"/>
          </a:solidFill>
          <a:ln w="12700">
            <a:solidFill>
              <a:srgbClr val="EBEBEB"/>
            </a:solidFill>
            <a:prstDash val="solid"/>
          </a:ln>
        </p:spPr>
      </p:sp>
      <p:sp>
        <p:nvSpPr>
          <p:cNvPr id="15" name="Text 13"/>
          <p:cNvSpPr txBox="1"/>
          <p:nvPr/>
        </p:nvSpPr>
        <p:spPr>
          <a:xfrm>
            <a:off x="54864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Sistemas sensibles</a:t>
            </a:r>
            <a:endParaRPr lang="en-US" sz="1200" dirty="0"/>
          </a:p>
        </p:txBody>
      </p:sp>
      <p:sp>
        <p:nvSpPr>
          <p:cNvPr id="16" name="Text 14"/>
          <p:cNvSpPr txBox="1"/>
          <p:nvPr/>
        </p:nvSpPr>
        <p:spPr>
          <a:xfrm>
            <a:off x="548640" y="32186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Evitar usar sistemas sensibles a temperatura y humedad en zonas expuestas hasta que la estructura esté cerrada.</a:t>
            </a:r>
            <a:endParaRPr lang="en-US" sz="1000" dirty="0"/>
          </a:p>
        </p:txBody>
      </p:sp>
      <p:sp>
        <p:nvSpPr>
          <p:cNvPr id="17" name="Shape 15"/>
          <p:cNvSpPr/>
          <p:nvPr/>
        </p:nvSpPr>
        <p:spPr>
          <a:xfrm>
            <a:off x="4754880" y="2898648"/>
            <a:ext cx="4206240" cy="667512"/>
          </a:xfrm>
          <a:prstGeom prst="roundRect">
            <a:avLst>
              <a:gd name="adj" fmla="val 10959"/>
            </a:avLst>
          </a:prstGeom>
          <a:solidFill>
            <a:srgbClr val="F4F4F4"/>
          </a:solidFill>
          <a:ln w="12700">
            <a:solidFill>
              <a:srgbClr val="EBEBEB"/>
            </a:solidFill>
            <a:prstDash val="solid"/>
          </a:ln>
        </p:spPr>
      </p:sp>
      <p:sp>
        <p:nvSpPr>
          <p:cNvPr id="18" name="Text 16"/>
          <p:cNvSpPr txBox="1"/>
          <p:nvPr/>
        </p:nvSpPr>
        <p:spPr>
          <a:xfrm>
            <a:off x="493776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Losas selladas</a:t>
            </a:r>
            <a:endParaRPr lang="en-US" sz="1200" dirty="0"/>
          </a:p>
        </p:txBody>
      </p:sp>
      <p:sp>
        <p:nvSpPr>
          <p:cNvPr id="19" name="Text 17"/>
          <p:cNvSpPr txBox="1"/>
          <p:nvPr/>
        </p:nvSpPr>
        <p:spPr>
          <a:xfrm>
            <a:off x="4937760" y="32186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Sellar losas y pisos de concreto tempranamente para reducir humedad interior y permitir trabajo en cualquier clima.</a:t>
            </a:r>
            <a:endParaRPr lang="en-US" sz="1000" dirty="0"/>
          </a:p>
        </p:txBody>
      </p:sp>
      <p:sp>
        <p:nvSpPr>
          <p:cNvPr id="20" name="Shape 18"/>
          <p:cNvSpPr/>
          <p:nvPr/>
        </p:nvSpPr>
        <p:spPr>
          <a:xfrm>
            <a:off x="365760" y="3648456"/>
            <a:ext cx="4206240" cy="667512"/>
          </a:xfrm>
          <a:prstGeom prst="roundRect">
            <a:avLst>
              <a:gd name="adj" fmla="val 10959"/>
            </a:avLst>
          </a:prstGeom>
          <a:solidFill>
            <a:srgbClr val="F4F4F4"/>
          </a:solidFill>
          <a:ln w="12700">
            <a:solidFill>
              <a:srgbClr val="EBEBEB"/>
            </a:solidFill>
            <a:prstDash val="solid"/>
          </a:ln>
        </p:spPr>
      </p:sp>
      <p:sp>
        <p:nvSpPr>
          <p:cNvPr id="21" name="Text 19"/>
          <p:cNvSpPr txBox="1"/>
          <p:nvPr/>
        </p:nvSpPr>
        <p:spPr>
          <a:xfrm>
            <a:off x="54864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Pavimento temprano</a:t>
            </a:r>
            <a:endParaRPr lang="en-US" sz="1200" dirty="0"/>
          </a:p>
        </p:txBody>
      </p:sp>
      <p:sp>
        <p:nvSpPr>
          <p:cNvPr id="22" name="Text 20"/>
          <p:cNvSpPr txBox="1"/>
          <p:nvPr/>
        </p:nvSpPr>
        <p:spPr>
          <a:xfrm>
            <a:off x="548640" y="3968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Pavimentación temprana de accesos y áreas de trabajo. Reduce barro y mejora acceso de equipos.</a:t>
            </a:r>
            <a:endParaRPr lang="en-US" sz="1000" dirty="0"/>
          </a:p>
        </p:txBody>
      </p:sp>
      <p:sp>
        <p:nvSpPr>
          <p:cNvPr id="23" name="Shape 21"/>
          <p:cNvSpPr/>
          <p:nvPr/>
        </p:nvSpPr>
        <p:spPr>
          <a:xfrm>
            <a:off x="4754880" y="3648456"/>
            <a:ext cx="4206240" cy="667512"/>
          </a:xfrm>
          <a:prstGeom prst="roundRect">
            <a:avLst>
              <a:gd name="adj" fmla="val 10959"/>
            </a:avLst>
          </a:prstGeom>
          <a:solidFill>
            <a:srgbClr val="F4F4F4"/>
          </a:solidFill>
          <a:ln w="12700">
            <a:solidFill>
              <a:srgbClr val="EBEBEB"/>
            </a:solidFill>
            <a:prstDash val="solid"/>
          </a:ln>
        </p:spPr>
      </p:sp>
      <p:sp>
        <p:nvSpPr>
          <p:cNvPr id="24" name="Text 22"/>
          <p:cNvSpPr txBox="1"/>
          <p:nvPr/>
        </p:nvSpPr>
        <p:spPr>
          <a:xfrm>
            <a:off x="493776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Drenaje temprano</a:t>
            </a:r>
            <a:endParaRPr lang="en-US" sz="1200" dirty="0"/>
          </a:p>
        </p:txBody>
      </p:sp>
      <p:sp>
        <p:nvSpPr>
          <p:cNvPr id="25" name="Text 23"/>
          <p:cNvSpPr txBox="1"/>
          <p:nvPr/>
        </p:nvSpPr>
        <p:spPr>
          <a:xfrm>
            <a:off x="4937760" y="3968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Sistema de drenaje instalado en las primeras fases. Previene inundaciones de áreas de trabajo.</a:t>
            </a:r>
            <a:endParaRPr lang="en-US" sz="1000" dirty="0"/>
          </a:p>
        </p:txBody>
      </p:sp>
      <p:sp>
        <p:nvSpPr>
          <p:cNvPr id="26" name="Shape 24"/>
          <p:cNvSpPr/>
          <p:nvPr/>
        </p:nvSpPr>
        <p:spPr>
          <a:xfrm>
            <a:off x="365760" y="4398264"/>
            <a:ext cx="4206240" cy="667512"/>
          </a:xfrm>
          <a:prstGeom prst="roundRect">
            <a:avLst>
              <a:gd name="adj" fmla="val 10959"/>
            </a:avLst>
          </a:prstGeom>
          <a:solidFill>
            <a:srgbClr val="F4F4F4"/>
          </a:solidFill>
          <a:ln w="12700">
            <a:solidFill>
              <a:srgbClr val="EBEBEB"/>
            </a:solidFill>
            <a:prstDash val="solid"/>
          </a:ln>
        </p:spPr>
      </p:sp>
      <p:sp>
        <p:nvSpPr>
          <p:cNvPr id="27" name="Text 25"/>
          <p:cNvSpPr txBox="1"/>
          <p:nvPr/>
        </p:nvSpPr>
        <p:spPr>
          <a:xfrm>
            <a:off x="54864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Concreto especial</a:t>
            </a:r>
            <a:endParaRPr lang="en-US" sz="1200" dirty="0"/>
          </a:p>
        </p:txBody>
      </p:sp>
      <p:sp>
        <p:nvSpPr>
          <p:cNvPr id="28" name="Text 26"/>
          <p:cNvSpPr txBox="1"/>
          <p:nvPr/>
        </p:nvSpPr>
        <p:spPr>
          <a:xfrm>
            <a:off x="548640" y="471830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Concreto de calor y frío para condiciones extremas. Aditivos apropiados para temperatura ambiente.</a:t>
            </a:r>
            <a:endParaRPr lang="en-US" sz="1000" dirty="0"/>
          </a:p>
        </p:txBody>
      </p:sp>
      <p:sp>
        <p:nvSpPr>
          <p:cNvPr id="29" name="Shape 27"/>
          <p:cNvSpPr/>
          <p:nvPr/>
        </p:nvSpPr>
        <p:spPr>
          <a:xfrm>
            <a:off x="4754880" y="4398264"/>
            <a:ext cx="4206240" cy="667512"/>
          </a:xfrm>
          <a:prstGeom prst="roundRect">
            <a:avLst>
              <a:gd name="adj" fmla="val 10959"/>
            </a:avLst>
          </a:prstGeom>
          <a:solidFill>
            <a:srgbClr val="F4F4F4"/>
          </a:solidFill>
          <a:ln w="12700">
            <a:solidFill>
              <a:srgbClr val="EBEBEB"/>
            </a:solidFill>
            <a:prstDash val="solid"/>
          </a:ln>
        </p:spPr>
      </p:sp>
      <p:sp>
        <p:nvSpPr>
          <p:cNvPr id="30" name="Text 28"/>
          <p:cNvSpPr txBox="1"/>
          <p:nvPr/>
        </p:nvSpPr>
        <p:spPr>
          <a:xfrm>
            <a:off x="493776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Iluminación permanente</a:t>
            </a:r>
            <a:endParaRPr lang="en-US" sz="1200" dirty="0"/>
          </a:p>
        </p:txBody>
      </p:sp>
      <p:sp>
        <p:nvSpPr>
          <p:cNvPr id="31" name="Text 29"/>
          <p:cNvSpPr txBox="1"/>
          <p:nvPr/>
        </p:nvSpPr>
        <p:spPr>
          <a:xfrm>
            <a:off x="4937760" y="471830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Usar instalaciones permanentes para construcción temporal. Reduce costos de instalaciones temporales.</a:t>
            </a:r>
            <a:endParaRPr lang="en-US" sz="10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37</a:t>
            </a:r>
            <a:endParaRPr lang="en-US" sz="900" dirty="0"/>
          </a:p>
        </p:txBody>
      </p:sp>
      <p:pic xmlns:p="http://schemas.openxmlformats.org/presentationml/2006/main" xmlns:a="http://schemas.openxmlformats.org/drawingml/2006/main" xmlns:r="http://schemas.openxmlformats.org/officeDocument/2006/relationships">
        <p:nvPicPr>
          <p:cNvPr id="8037" name="SlideIcon8037"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II-8: Seguridad del Proyecto en el Diseño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6667"/>
            </a:avLst>
          </a:prstGeom>
          <a:solidFill>
            <a:srgbClr val="F4F4F4"/>
          </a:solidFill>
          <a:ln w="12700">
            <a:solidFill>
              <a:srgbClr val="FF453A"/>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del proyecto mejoran la seguridad durante la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 Áreas de Planificación de Seguridad:</a:t>
            </a:r>
            <a:endParaRPr lang="en-US" sz="1300" dirty="0"/>
          </a:p>
        </p:txBody>
      </p:sp>
      <p:sp>
        <p:nvSpPr>
          <p:cNvPr id="8" name="Shape 6"/>
          <p:cNvSpPr/>
          <p:nvPr/>
        </p:nvSpPr>
        <p:spPr>
          <a:xfrm>
            <a:off x="365760" y="2084832"/>
            <a:ext cx="4206240" cy="1298448"/>
          </a:xfrm>
          <a:prstGeom prst="roundRect">
            <a:avLst>
              <a:gd name="adj" fmla="val 8451"/>
            </a:avLst>
          </a:prstGeom>
          <a:solidFill>
            <a:srgbClr val="F4F4F4"/>
          </a:solidFill>
          <a:ln w="12700">
            <a:solidFill>
              <a:srgbClr val="FF453A"/>
            </a:solidFill>
            <a:prstDash val="solid"/>
          </a:ln>
        </p:spPr>
      </p:sp>
      <p:sp>
        <p:nvSpPr>
          <p:cNvPr id="9" name="Text 7"/>
          <p:cNvSpPr txBox="1"/>
          <p:nvPr/>
        </p:nvSpPr>
        <p:spPr>
          <a:xfrm>
            <a:off x="548640" y="2157984"/>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Evaluación de Vulnerabilidades</a:t>
            </a:r>
            <a:endParaRPr lang="en-US" sz="1200" dirty="0"/>
          </a:p>
        </p:txBody>
      </p:sp>
      <p:sp>
        <p:nvSpPr>
          <p:cNvPr id="10" name="Text 8"/>
          <p:cNvSpPr txBox="1"/>
          <p:nvPr/>
        </p:nvSpPr>
        <p:spPr>
          <a:xfrm>
            <a:off x="548640" y="254203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vulnerabilidades del proyecto ante amenazas físicas, cibernéticas y humanas. Análisis de riesgo estructurado antes de comenzar el diseño.</a:t>
            </a:r>
            <a:endParaRPr lang="en-US" sz="1100" dirty="0"/>
          </a:p>
        </p:txBody>
      </p:sp>
      <p:sp>
        <p:nvSpPr>
          <p:cNvPr id="11" name="Shape 9"/>
          <p:cNvSpPr/>
          <p:nvPr/>
        </p:nvSpPr>
        <p:spPr>
          <a:xfrm>
            <a:off x="4754880" y="2084832"/>
            <a:ext cx="4206240" cy="1298448"/>
          </a:xfrm>
          <a:prstGeom prst="roundRect">
            <a:avLst>
              <a:gd name="adj" fmla="val 8451"/>
            </a:avLst>
          </a:prstGeom>
          <a:solidFill>
            <a:srgbClr val="F4F4F4"/>
          </a:solidFill>
          <a:ln w="12700">
            <a:solidFill>
              <a:srgbClr val="FF9500"/>
            </a:solidFill>
            <a:prstDash val="solid"/>
          </a:ln>
        </p:spPr>
      </p:sp>
      <p:sp>
        <p:nvSpPr>
          <p:cNvPr id="12" name="Text 10"/>
          <p:cNvSpPr txBox="1"/>
          <p:nvPr/>
        </p:nvSpPr>
        <p:spPr>
          <a:xfrm>
            <a:off x="4937760" y="215798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del Sitio</a:t>
            </a:r>
            <a:endParaRPr lang="en-US" sz="1200" dirty="0"/>
          </a:p>
        </p:txBody>
      </p:sp>
      <p:sp>
        <p:nvSpPr>
          <p:cNvPr id="13" name="Text 11"/>
          <p:cNvSpPr txBox="1"/>
          <p:nvPr/>
        </p:nvSpPr>
        <p:spPr>
          <a:xfrm>
            <a:off x="4937760" y="254203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Cerco perimetral, control de accesos, iluminación de seguridad, sistemas CCTV. Planificado desde el inicio del diseño del sitio.</a:t>
            </a:r>
            <a:endParaRPr lang="en-US" sz="1100" dirty="0"/>
          </a:p>
        </p:txBody>
      </p:sp>
      <p:sp>
        <p:nvSpPr>
          <p:cNvPr id="14" name="Shape 12"/>
          <p:cNvSpPr/>
          <p:nvPr/>
        </p:nvSpPr>
        <p:spPr>
          <a:xfrm>
            <a:off x="365760" y="3502152"/>
            <a:ext cx="4206240" cy="1298448"/>
          </a:xfrm>
          <a:prstGeom prst="roundRect">
            <a:avLst>
              <a:gd name="adj" fmla="val 8451"/>
            </a:avLst>
          </a:prstGeom>
          <a:solidFill>
            <a:srgbClr val="F4F4F4"/>
          </a:solidFill>
          <a:ln w="12700">
            <a:solidFill>
              <a:srgbClr val="FFD60A"/>
            </a:solidFill>
            <a:prstDash val="solid"/>
          </a:ln>
        </p:spPr>
      </p:sp>
      <p:sp>
        <p:nvSpPr>
          <p:cNvPr id="15" name="Text 13"/>
          <p:cNvSpPr txBox="1"/>
          <p:nvPr/>
        </p:nvSpPr>
        <p:spPr>
          <a:xfrm>
            <a:off x="548640" y="3575304"/>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Investigación de Personal</a:t>
            </a:r>
            <a:endParaRPr lang="en-US" sz="1200" dirty="0"/>
          </a:p>
        </p:txBody>
      </p:sp>
      <p:sp>
        <p:nvSpPr>
          <p:cNvPr id="16" name="Text 14"/>
          <p:cNvSpPr txBox="1"/>
          <p:nvPr/>
        </p:nvSpPr>
        <p:spPr>
          <a:xfrm>
            <a:off x="548640" y="395935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Verificación de antecedentes del personal del proyecto, especialmente en infraestructura crítica. Gestión de identificación en campo.</a:t>
            </a:r>
            <a:endParaRPr lang="en-US" sz="1100" dirty="0"/>
          </a:p>
        </p:txBody>
      </p:sp>
      <p:sp>
        <p:nvSpPr>
          <p:cNvPr id="17" name="Shape 15"/>
          <p:cNvSpPr/>
          <p:nvPr/>
        </p:nvSpPr>
        <p:spPr>
          <a:xfrm>
            <a:off x="4754880" y="3502152"/>
            <a:ext cx="4206240" cy="1298448"/>
          </a:xfrm>
          <a:prstGeom prst="roundRect">
            <a:avLst>
              <a:gd name="adj" fmla="val 8451"/>
            </a:avLst>
          </a:prstGeom>
          <a:solidFill>
            <a:srgbClr val="F4F4F4"/>
          </a:solidFill>
          <a:ln w="12700">
            <a:solidFill>
              <a:srgbClr val="0A84FF"/>
            </a:solidFill>
            <a:prstDash val="solid"/>
          </a:ln>
        </p:spPr>
      </p:sp>
      <p:sp>
        <p:nvSpPr>
          <p:cNvPr id="18" name="Text 16"/>
          <p:cNvSpPr txBox="1"/>
          <p:nvPr/>
        </p:nvSpPr>
        <p:spPr>
          <a:xfrm>
            <a:off x="4937760" y="3575304"/>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Seguridad IT y Documentos</a:t>
            </a:r>
            <a:endParaRPr lang="en-US" sz="1200" dirty="0"/>
          </a:p>
        </p:txBody>
      </p:sp>
      <p:sp>
        <p:nvSpPr>
          <p:cNvPr id="19" name="Text 17"/>
          <p:cNvSpPr txBox="1"/>
          <p:nvPr/>
        </p:nvSpPr>
        <p:spPr>
          <a:xfrm>
            <a:off x="4937760" y="395935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Protección de planos, especificaciones y datos del proyecto. Ciberseguridad en sistemas de diseño y comunicación.</a:t>
            </a:r>
            <a:endParaRPr lang="en-US" sz="1100" dirty="0"/>
          </a:p>
        </p:txBody>
      </p:sp>
      <p:sp>
        <p:nvSpPr>
          <p:cNvPr id="20" name="Text 18"/>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Tácticas adicionales: selección cuidadosa del sitio, "endurecimiento" del diseño, protección temporal de componentes vulnerables, detalles a prueba de sabotaje, controles durante fabricación y transporte fuera del sitio.</a:t>
            </a:r>
            <a:endParaRPr lang="en-US" sz="100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38</a:t>
            </a:r>
            <a:endParaRPr lang="en-US" sz="900" dirty="0"/>
          </a:p>
        </p:txBody>
      </p:sp>
      <p:pic xmlns:p="http://schemas.openxmlformats.org/presentationml/2006/main" xmlns:a="http://schemas.openxmlformats.org/drawingml/2006/main" xmlns:r="http://schemas.openxmlformats.org/officeDocument/2006/relationships">
        <p:nvPicPr>
          <p:cNvPr id="8038" name="SlideIcon8038"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05</a:t>
            </a:r>
            <a:endParaRPr lang="en-US" sz="32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Conceptos Fase III</a:t>
            </a:r>
            <a:endParaRPr lang="en-US" sz="28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Operaciones de Campo — Innovaciones del Constructor</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39</a:t>
            </a:r>
            <a:endParaRPr lang="en-US" sz="900" dirty="0"/>
          </a:p>
        </p:txBody>
      </p:sp>
      <p:pic xmlns:p="http://schemas.openxmlformats.org/presentationml/2006/main" xmlns:a="http://schemas.openxmlformats.org/drawingml/2006/main" xmlns:r="http://schemas.openxmlformats.org/officeDocument/2006/relationships">
        <p:nvPicPr>
          <p:cNvPr id="8039" name="SlideIcon8039"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III-1: Métodos Innovadores de Gestión y Construcción en Campo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777240"/>
          </a:xfrm>
          <a:prstGeom prst="roundRect">
            <a:avLst>
              <a:gd name="adj" fmla="val 14118"/>
            </a:avLst>
          </a:prstGeom>
          <a:solidFill>
            <a:srgbClr val="F4F4F4"/>
          </a:solidFill>
          <a:ln w="12700">
            <a:solidFill>
              <a:srgbClr val="30D158"/>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"Métodos innovadores de gestión de la construcción y métodos de campo se aplican para aumentar la eficiencia de la construcción."</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constructores, actuando solos, pueden mejorar la constructabilidad mediante pequeñas ideas que se acumulan:</a:t>
            </a:r>
            <a:endParaRPr lang="en-US" sz="1300" dirty="0"/>
          </a:p>
        </p:txBody>
      </p:sp>
      <p:sp>
        <p:nvSpPr>
          <p:cNvPr id="8" name="Shape 6"/>
          <p:cNvSpPr/>
          <p:nvPr/>
        </p:nvSpPr>
        <p:spPr>
          <a:xfrm>
            <a:off x="365760" y="2212848"/>
            <a:ext cx="4206240" cy="841248"/>
          </a:xfrm>
          <a:prstGeom prst="roundRect">
            <a:avLst>
              <a:gd name="adj" fmla="val 10870"/>
            </a:avLst>
          </a:prstGeom>
          <a:solidFill>
            <a:srgbClr val="F4F4F4"/>
          </a:solidFill>
          <a:ln w="12700">
            <a:solidFill>
              <a:srgbClr val="EBEBEB"/>
            </a:solidFill>
            <a:prstDash val="solid"/>
          </a:ln>
        </p:spPr>
      </p:sp>
      <p:sp>
        <p:nvSpPr>
          <p:cNvPr id="9" name="Shape 7"/>
          <p:cNvSpPr/>
          <p:nvPr/>
        </p:nvSpPr>
        <p:spPr>
          <a:xfrm>
            <a:off x="365760" y="2212848"/>
            <a:ext cx="64008" cy="841248"/>
          </a:xfrm>
          <a:prstGeom prst="rect">
            <a:avLst/>
          </a:prstGeom>
          <a:solidFill>
            <a:srgbClr val="30D158"/>
          </a:solidFill>
          <a:ln/>
        </p:spPr>
      </p:sp>
      <p:sp>
        <p:nvSpPr>
          <p:cNvPr id="10" name="Text 8"/>
          <p:cNvSpPr txBox="1"/>
          <p:nvPr/>
        </p:nvSpPr>
        <p:spPr>
          <a:xfrm>
            <a:off x="566928" y="2286000"/>
            <a:ext cx="3749040" cy="30175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Secuenciación Detallada de Tareas</a:t>
            </a:r>
            <a:endParaRPr lang="en-US" sz="1300" dirty="0"/>
          </a:p>
        </p:txBody>
      </p:sp>
      <p:sp>
        <p:nvSpPr>
          <p:cNvPr id="11" name="Text 9"/>
          <p:cNvSpPr txBox="1"/>
          <p:nvPr/>
        </p:nvSpPr>
        <p:spPr>
          <a:xfrm>
            <a:off x="56692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microdetallada de actividades: orden de operaciones, frentes de trabajo, interdependencias de cuadrillas. "Workface Planning".</a:t>
            </a:r>
            <a:endParaRPr lang="en-US" sz="1050" dirty="0"/>
          </a:p>
        </p:txBody>
      </p:sp>
      <p:sp>
        <p:nvSpPr>
          <p:cNvPr id="12" name="Shape 10"/>
          <p:cNvSpPr/>
          <p:nvPr/>
        </p:nvSpPr>
        <p:spPr>
          <a:xfrm>
            <a:off x="4754880" y="2212848"/>
            <a:ext cx="4206240" cy="841248"/>
          </a:xfrm>
          <a:prstGeom prst="roundRect">
            <a:avLst>
              <a:gd name="adj" fmla="val 10870"/>
            </a:avLst>
          </a:prstGeom>
          <a:solidFill>
            <a:srgbClr val="F4F4F4"/>
          </a:solidFill>
          <a:ln w="12700">
            <a:solidFill>
              <a:srgbClr val="EBEBEB"/>
            </a:solidFill>
            <a:prstDash val="solid"/>
          </a:ln>
        </p:spPr>
      </p:sp>
      <p:sp>
        <p:nvSpPr>
          <p:cNvPr id="13" name="Shape 11"/>
          <p:cNvSpPr/>
          <p:nvPr/>
        </p:nvSpPr>
        <p:spPr>
          <a:xfrm>
            <a:off x="4754880" y="2212848"/>
            <a:ext cx="64008" cy="841248"/>
          </a:xfrm>
          <a:prstGeom prst="rect">
            <a:avLst/>
          </a:prstGeom>
          <a:solidFill>
            <a:srgbClr val="0A84FF"/>
          </a:solidFill>
          <a:ln/>
        </p:spPr>
      </p:sp>
      <p:sp>
        <p:nvSpPr>
          <p:cNvPr id="14" name="Text 12"/>
          <p:cNvSpPr txBox="1"/>
          <p:nvPr/>
        </p:nvSpPr>
        <p:spPr>
          <a:xfrm>
            <a:off x="4956048" y="2286000"/>
            <a:ext cx="3749040" cy="30175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Materiales y Sistemas Temporales</a:t>
            </a:r>
            <a:endParaRPr lang="en-US" sz="1300" dirty="0"/>
          </a:p>
        </p:txBody>
      </p:sp>
      <p:sp>
        <p:nvSpPr>
          <p:cNvPr id="15" name="Text 13"/>
          <p:cNvSpPr txBox="1"/>
          <p:nvPr/>
        </p:nvSpPr>
        <p:spPr>
          <a:xfrm>
            <a:off x="495604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óptima de materiales de construcción temporal: encofrados reutilizables, estructuras desmontables, protecciones de trabajo en altura.</a:t>
            </a:r>
            <a:endParaRPr lang="en-US" sz="1050" dirty="0"/>
          </a:p>
        </p:txBody>
      </p:sp>
      <p:sp>
        <p:nvSpPr>
          <p:cNvPr id="16" name="Shape 14"/>
          <p:cNvSpPr/>
          <p:nvPr/>
        </p:nvSpPr>
        <p:spPr>
          <a:xfrm>
            <a:off x="365760" y="3172968"/>
            <a:ext cx="4206240" cy="841248"/>
          </a:xfrm>
          <a:prstGeom prst="roundRect">
            <a:avLst>
              <a:gd name="adj" fmla="val 10870"/>
            </a:avLst>
          </a:prstGeom>
          <a:solidFill>
            <a:srgbClr val="F4F4F4"/>
          </a:solidFill>
          <a:ln w="12700">
            <a:solidFill>
              <a:srgbClr val="EBEBEB"/>
            </a:solidFill>
            <a:prstDash val="solid"/>
          </a:ln>
        </p:spPr>
      </p:sp>
      <p:sp>
        <p:nvSpPr>
          <p:cNvPr id="17" name="Shape 15"/>
          <p:cNvSpPr/>
          <p:nvPr/>
        </p:nvSpPr>
        <p:spPr>
          <a:xfrm>
            <a:off x="365760" y="3172968"/>
            <a:ext cx="64008" cy="841248"/>
          </a:xfrm>
          <a:prstGeom prst="rect">
            <a:avLst/>
          </a:prstGeom>
          <a:solidFill>
            <a:srgbClr val="FF9500"/>
          </a:solidFill>
          <a:ln/>
        </p:spPr>
      </p:sp>
      <p:sp>
        <p:nvSpPr>
          <p:cNvPr id="18" name="Text 16"/>
          <p:cNvSpPr txBox="1"/>
          <p:nvPr/>
        </p:nvSpPr>
        <p:spPr>
          <a:xfrm>
            <a:off x="566928" y="3246120"/>
            <a:ext cx="3749040" cy="30175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Manuales Optimizadas</a:t>
            </a:r>
            <a:endParaRPr lang="en-US" sz="1300" dirty="0"/>
          </a:p>
        </p:txBody>
      </p:sp>
      <p:sp>
        <p:nvSpPr>
          <p:cNvPr id="19" name="Text 17"/>
          <p:cNvSpPr txBox="1"/>
          <p:nvPr/>
        </p:nvSpPr>
        <p:spPr>
          <a:xfrm>
            <a:off x="56692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ergonómicas y especializadas para reducir tiempo y esfuerzo. Llaves hidráulicas, robots de soldadura portátiles, scanners.</a:t>
            </a:r>
            <a:endParaRPr lang="en-US" sz="1050" dirty="0"/>
          </a:p>
        </p:txBody>
      </p:sp>
      <p:sp>
        <p:nvSpPr>
          <p:cNvPr id="20" name="Shape 18"/>
          <p:cNvSpPr/>
          <p:nvPr/>
        </p:nvSpPr>
        <p:spPr>
          <a:xfrm>
            <a:off x="4754880" y="3172968"/>
            <a:ext cx="4206240" cy="841248"/>
          </a:xfrm>
          <a:prstGeom prst="roundRect">
            <a:avLst>
              <a:gd name="adj" fmla="val 10870"/>
            </a:avLst>
          </a:prstGeom>
          <a:solidFill>
            <a:srgbClr val="F4F4F4"/>
          </a:solidFill>
          <a:ln w="12700">
            <a:solidFill>
              <a:srgbClr val="EBEBEB"/>
            </a:solidFill>
            <a:prstDash val="solid"/>
          </a:ln>
        </p:spPr>
      </p:sp>
      <p:sp>
        <p:nvSpPr>
          <p:cNvPr id="21" name="Shape 19"/>
          <p:cNvSpPr/>
          <p:nvPr/>
        </p:nvSpPr>
        <p:spPr>
          <a:xfrm>
            <a:off x="4754880" y="3172968"/>
            <a:ext cx="64008" cy="841248"/>
          </a:xfrm>
          <a:prstGeom prst="rect">
            <a:avLst/>
          </a:prstGeom>
          <a:solidFill>
            <a:srgbClr val="FF453A"/>
          </a:solidFill>
          <a:ln/>
        </p:spPr>
      </p:sp>
      <p:sp>
        <p:nvSpPr>
          <p:cNvPr id="22" name="Text 20"/>
          <p:cNvSpPr txBox="1"/>
          <p:nvPr/>
        </p:nvSpPr>
        <p:spPr>
          <a:xfrm>
            <a:off x="4956048" y="3246120"/>
            <a:ext cx="374904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Equipos de Construcción</a:t>
            </a:r>
            <a:endParaRPr lang="en-US" sz="1300" dirty="0"/>
          </a:p>
        </p:txBody>
      </p:sp>
      <p:sp>
        <p:nvSpPr>
          <p:cNvPr id="23" name="Text 21"/>
          <p:cNvSpPr txBox="1"/>
          <p:nvPr/>
        </p:nvSpPr>
        <p:spPr>
          <a:xfrm>
            <a:off x="495604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optimizada de equipo pesado y liviano. Tamaño correcto para la tarea. Mini-excavadoras, brazos articulados, plataformas especiales.</a:t>
            </a:r>
            <a:endParaRPr lang="en-US" sz="1050" dirty="0"/>
          </a:p>
        </p:txBody>
      </p:sp>
      <p:sp>
        <p:nvSpPr>
          <p:cNvPr id="24" name="Shape 22"/>
          <p:cNvSpPr/>
          <p:nvPr/>
        </p:nvSpPr>
        <p:spPr>
          <a:xfrm>
            <a:off x="365760" y="4133088"/>
            <a:ext cx="4206240" cy="841248"/>
          </a:xfrm>
          <a:prstGeom prst="roundRect">
            <a:avLst>
              <a:gd name="adj" fmla="val 10870"/>
            </a:avLst>
          </a:prstGeom>
          <a:solidFill>
            <a:srgbClr val="F4F4F4"/>
          </a:solidFill>
          <a:ln w="12700">
            <a:solidFill>
              <a:srgbClr val="EBEBEB"/>
            </a:solidFill>
            <a:prstDash val="solid"/>
          </a:ln>
        </p:spPr>
      </p:sp>
      <p:sp>
        <p:nvSpPr>
          <p:cNvPr id="25" name="Shape 23"/>
          <p:cNvSpPr/>
          <p:nvPr/>
        </p:nvSpPr>
        <p:spPr>
          <a:xfrm>
            <a:off x="365760" y="4133088"/>
            <a:ext cx="64008" cy="841248"/>
          </a:xfrm>
          <a:prstGeom prst="rect">
            <a:avLst/>
          </a:prstGeom>
          <a:solidFill>
            <a:srgbClr val="AF52DE"/>
          </a:solidFill>
          <a:ln/>
        </p:spPr>
      </p:sp>
      <p:sp>
        <p:nvSpPr>
          <p:cNvPr id="26" name="Text 24"/>
          <p:cNvSpPr txBox="1"/>
          <p:nvPr/>
        </p:nvSpPr>
        <p:spPr>
          <a:xfrm>
            <a:off x="566928" y="4206240"/>
            <a:ext cx="3749040" cy="30175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por el Constructor</a:t>
            </a:r>
            <a:endParaRPr lang="en-US" sz="1300" dirty="0"/>
          </a:p>
        </p:txBody>
      </p:sp>
      <p:sp>
        <p:nvSpPr>
          <p:cNvPr id="27" name="Text 25"/>
          <p:cNvSpPr txBox="1"/>
          <p:nvPr/>
        </p:nvSpPr>
        <p:spPr>
          <a:xfrm>
            <a:off x="56692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Oportunidades de pre-ensamble en campo que el diseño no contempló. Sub-estructuras, racores de conexión, secciones de tubería.</a:t>
            </a:r>
            <a:endParaRPr lang="en-US" sz="1050" dirty="0"/>
          </a:p>
        </p:txBody>
      </p:sp>
      <p:sp>
        <p:nvSpPr>
          <p:cNvPr id="28" name="Shape 26"/>
          <p:cNvSpPr/>
          <p:nvPr/>
        </p:nvSpPr>
        <p:spPr>
          <a:xfrm>
            <a:off x="4754880" y="4133088"/>
            <a:ext cx="4206240" cy="841248"/>
          </a:xfrm>
          <a:prstGeom prst="roundRect">
            <a:avLst>
              <a:gd name="adj" fmla="val 10870"/>
            </a:avLst>
          </a:prstGeom>
          <a:solidFill>
            <a:srgbClr val="F4F4F4"/>
          </a:solidFill>
          <a:ln w="12700">
            <a:solidFill>
              <a:srgbClr val="EBEBEB"/>
            </a:solidFill>
            <a:prstDash val="solid"/>
          </a:ln>
        </p:spPr>
      </p:sp>
      <p:sp>
        <p:nvSpPr>
          <p:cNvPr id="29" name="Shape 27"/>
          <p:cNvSpPr/>
          <p:nvPr/>
        </p:nvSpPr>
        <p:spPr>
          <a:xfrm>
            <a:off x="4754880" y="4133088"/>
            <a:ext cx="64008" cy="841248"/>
          </a:xfrm>
          <a:prstGeom prst="rect">
            <a:avLst/>
          </a:prstGeom>
          <a:solidFill>
            <a:srgbClr val="FFD60A"/>
          </a:solidFill>
          <a:ln/>
        </p:spPr>
      </p:sp>
      <p:sp>
        <p:nvSpPr>
          <p:cNvPr id="30" name="Text 28"/>
          <p:cNvSpPr txBox="1"/>
          <p:nvPr/>
        </p:nvSpPr>
        <p:spPr>
          <a:xfrm>
            <a:off x="4956048" y="4206240"/>
            <a:ext cx="3749040" cy="30175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Instalaciones Temporales Estratégicas</a:t>
            </a:r>
            <a:endParaRPr lang="en-US" sz="1300" dirty="0"/>
          </a:p>
        </p:txBody>
      </p:sp>
      <p:sp>
        <p:nvSpPr>
          <p:cNvPr id="31" name="Text 29"/>
          <p:cNvSpPr txBox="1"/>
          <p:nvPr/>
        </p:nvSpPr>
        <p:spPr>
          <a:xfrm>
            <a:off x="495604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Oficinas, talleres, almacenes, energía temporal, sanitarios. Localización estratégica para minimizar desplazamiento de cuadrillas.</a:t>
            </a:r>
            <a:endParaRPr lang="en-US" sz="105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40</a:t>
            </a:r>
            <a:endParaRPr lang="en-US" sz="900" dirty="0"/>
          </a:p>
        </p:txBody>
      </p:sp>
      <p:pic xmlns:p="http://schemas.openxmlformats.org/presentationml/2006/main" xmlns:a="http://schemas.openxmlformats.org/drawingml/2006/main" xmlns:r="http://schemas.openxmlformats.org/officeDocument/2006/relationships">
        <p:nvPicPr>
          <p:cNvPr id="8040" name="SlideIcon8040" descr="icon"/>
          <p:cNvPicPr>
            <a:picLocks noChangeAspect="1"/>
          </p:cNvPicPr>
          <p:nvPr/>
        </p:nvPicPr>
        <p:blipFill>
          <a:blip r:embed="rId9009"/>
          <a:stretch>
            <a:fillRect/>
          </a:stretch>
        </p:blipFill>
        <p:spPr>
          <a:xfrm>
            <a:off x="73152" y="118872"/>
            <a:ext cx="347472" cy="34747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Productividad de Campo y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en campo no solo mejora costo — también impacta calidad, seguridad y moral del equipo:</a:t>
            </a:r>
            <a:endParaRPr lang="en-US" sz="1200" dirty="0"/>
          </a:p>
        </p:txBody>
      </p:sp>
      <p:sp>
        <p:nvSpPr>
          <p:cNvPr id="6" name="Shape 4"/>
          <p:cNvSpPr/>
          <p:nvPr/>
        </p:nvSpPr>
        <p:spPr>
          <a:xfrm>
            <a:off x="365760" y="1298448"/>
            <a:ext cx="8412480" cy="841248"/>
          </a:xfrm>
          <a:prstGeom prst="roundRect">
            <a:avLst>
              <a:gd name="adj" fmla="val 10870"/>
            </a:avLst>
          </a:prstGeom>
          <a:solidFill>
            <a:srgbClr val="F4F4F4"/>
          </a:solidFill>
          <a:ln w="12700">
            <a:solidFill>
              <a:srgbClr val="EBEBEB"/>
            </a:solidFill>
            <a:prstDash val="solid"/>
          </a:ln>
        </p:spPr>
      </p:sp>
      <p:sp>
        <p:nvSpPr>
          <p:cNvPr id="7" name="Shape 5"/>
          <p:cNvSpPr/>
          <p:nvPr/>
        </p:nvSpPr>
        <p:spPr>
          <a:xfrm>
            <a:off x="365760" y="1298448"/>
            <a:ext cx="73152" cy="841248"/>
          </a:xfrm>
          <a:prstGeom prst="rect">
            <a:avLst/>
          </a:prstGeom>
          <a:solidFill>
            <a:srgbClr val="30D158"/>
          </a:solidFill>
          <a:ln/>
        </p:spPr>
      </p:sp>
      <p:sp>
        <p:nvSpPr>
          <p:cNvPr id="8" name="Text 6"/>
          <p:cNvSpPr txBox="1"/>
          <p:nvPr/>
        </p:nvSpPr>
        <p:spPr>
          <a:xfrm>
            <a:off x="566928" y="1371600"/>
            <a:ext cx="8046720" cy="30175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Porcentaje de Trabajo Directo (PTD)</a:t>
            </a:r>
            <a:endParaRPr lang="en-US" sz="1200" dirty="0"/>
          </a:p>
        </p:txBody>
      </p:sp>
      <p:sp>
        <p:nvSpPr>
          <p:cNvPr id="9" name="Text 7"/>
          <p:cNvSpPr txBox="1"/>
          <p:nvPr/>
        </p:nvSpPr>
        <p:spPr>
          <a:xfrm>
            <a:off x="566928" y="168249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Medir el porcentaje de tiempo que las cuadrillas realizan trabajo directo vs. tiempo de espera, traslados o retrabajo. Meta: &gt;50% PTD.</a:t>
            </a:r>
            <a:endParaRPr lang="en-US" sz="1100" dirty="0"/>
          </a:p>
        </p:txBody>
      </p:sp>
      <p:sp>
        <p:nvSpPr>
          <p:cNvPr id="10" name="Shape 8"/>
          <p:cNvSpPr/>
          <p:nvPr/>
        </p:nvSpPr>
        <p:spPr>
          <a:xfrm>
            <a:off x="365760" y="2258568"/>
            <a:ext cx="8412480" cy="841248"/>
          </a:xfrm>
          <a:prstGeom prst="roundRect">
            <a:avLst>
              <a:gd name="adj" fmla="val 10870"/>
            </a:avLst>
          </a:prstGeom>
          <a:solidFill>
            <a:srgbClr val="F4F4F4"/>
          </a:solidFill>
          <a:ln w="12700">
            <a:solidFill>
              <a:srgbClr val="EBEBEB"/>
            </a:solidFill>
            <a:prstDash val="solid"/>
          </a:ln>
        </p:spPr>
      </p:sp>
      <p:sp>
        <p:nvSpPr>
          <p:cNvPr id="11" name="Shape 9"/>
          <p:cNvSpPr/>
          <p:nvPr/>
        </p:nvSpPr>
        <p:spPr>
          <a:xfrm>
            <a:off x="365760" y="2258568"/>
            <a:ext cx="73152" cy="841248"/>
          </a:xfrm>
          <a:prstGeom prst="rect">
            <a:avLst/>
          </a:prstGeom>
          <a:solidFill>
            <a:srgbClr val="0A84FF"/>
          </a:solidFill>
          <a:ln/>
        </p:spPr>
      </p:sp>
      <p:sp>
        <p:nvSpPr>
          <p:cNvPr id="12" name="Text 10"/>
          <p:cNvSpPr txBox="1"/>
          <p:nvPr/>
        </p:nvSpPr>
        <p:spPr>
          <a:xfrm>
            <a:off x="566928" y="2331720"/>
            <a:ext cx="8046720" cy="30175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Cinco Minutos Nominales</a:t>
            </a:r>
            <a:endParaRPr lang="en-US" sz="1200" dirty="0"/>
          </a:p>
        </p:txBody>
      </p:sp>
      <p:sp>
        <p:nvSpPr>
          <p:cNvPr id="13" name="Text 11"/>
          <p:cNvSpPr txBox="1"/>
          <p:nvPr/>
        </p:nvSpPr>
        <p:spPr>
          <a:xfrm>
            <a:off x="566928" y="264261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Técnica de muestreo de trabajo para medir actividad vs. inactividad. Permite identificar cuellos de botella sistemáticos.</a:t>
            </a:r>
            <a:endParaRPr lang="en-US" sz="1100" dirty="0"/>
          </a:p>
        </p:txBody>
      </p:sp>
      <p:sp>
        <p:nvSpPr>
          <p:cNvPr id="14" name="Shape 12"/>
          <p:cNvSpPr/>
          <p:nvPr/>
        </p:nvSpPr>
        <p:spPr>
          <a:xfrm>
            <a:off x="365760" y="3218688"/>
            <a:ext cx="8412480" cy="841248"/>
          </a:xfrm>
          <a:prstGeom prst="roundRect">
            <a:avLst>
              <a:gd name="adj" fmla="val 10870"/>
            </a:avLst>
          </a:prstGeom>
          <a:solidFill>
            <a:srgbClr val="F4F4F4"/>
          </a:solidFill>
          <a:ln w="12700">
            <a:solidFill>
              <a:srgbClr val="EBEBEB"/>
            </a:solidFill>
            <a:prstDash val="solid"/>
          </a:ln>
        </p:spPr>
      </p:sp>
      <p:sp>
        <p:nvSpPr>
          <p:cNvPr id="15" name="Shape 13"/>
          <p:cNvSpPr/>
          <p:nvPr/>
        </p:nvSpPr>
        <p:spPr>
          <a:xfrm>
            <a:off x="365760" y="3218688"/>
            <a:ext cx="73152" cy="841248"/>
          </a:xfrm>
          <a:prstGeom prst="rect">
            <a:avLst/>
          </a:prstGeom>
          <a:solidFill>
            <a:srgbClr val="FF9500"/>
          </a:solidFill>
          <a:ln/>
        </p:spPr>
      </p:sp>
      <p:sp>
        <p:nvSpPr>
          <p:cNvPr id="16" name="Text 14"/>
          <p:cNvSpPr txBox="1"/>
          <p:nvPr/>
        </p:nvSpPr>
        <p:spPr>
          <a:xfrm>
            <a:off x="566928" y="3291840"/>
            <a:ext cx="8046720" cy="30175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Tasa de Retrabajo</a:t>
            </a:r>
            <a:endParaRPr lang="en-US" sz="1200" dirty="0"/>
          </a:p>
        </p:txBody>
      </p:sp>
      <p:sp>
        <p:nvSpPr>
          <p:cNvPr id="17" name="Text 15"/>
          <p:cNvSpPr txBox="1"/>
          <p:nvPr/>
        </p:nvSpPr>
        <p:spPr>
          <a:xfrm>
            <a:off x="566928" y="360273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Porcentaje de trabajo que debe rehacerse por errores o conflictos de diseño. Meta CII: &lt;2% del costo total.</a:t>
            </a:r>
            <a:endParaRPr lang="en-US" sz="1100" dirty="0"/>
          </a:p>
        </p:txBody>
      </p:sp>
      <p:sp>
        <p:nvSpPr>
          <p:cNvPr id="18" name="Shape 16"/>
          <p:cNvSpPr/>
          <p:nvPr/>
        </p:nvSpPr>
        <p:spPr>
          <a:xfrm>
            <a:off x="365760" y="4178808"/>
            <a:ext cx="8412480" cy="841248"/>
          </a:xfrm>
          <a:prstGeom prst="roundRect">
            <a:avLst>
              <a:gd name="adj" fmla="val 10870"/>
            </a:avLst>
          </a:prstGeom>
          <a:solidFill>
            <a:srgbClr val="F4F4F4"/>
          </a:solidFill>
          <a:ln w="12700">
            <a:solidFill>
              <a:srgbClr val="EBEBEB"/>
            </a:solidFill>
            <a:prstDash val="solid"/>
          </a:ln>
        </p:spPr>
      </p:sp>
      <p:sp>
        <p:nvSpPr>
          <p:cNvPr id="19" name="Shape 17"/>
          <p:cNvSpPr/>
          <p:nvPr/>
        </p:nvSpPr>
        <p:spPr>
          <a:xfrm>
            <a:off x="365760" y="4178808"/>
            <a:ext cx="73152" cy="841248"/>
          </a:xfrm>
          <a:prstGeom prst="rect">
            <a:avLst/>
          </a:prstGeom>
          <a:solidFill>
            <a:srgbClr val="AF52DE"/>
          </a:solidFill>
          <a:ln/>
        </p:spPr>
      </p:sp>
      <p:sp>
        <p:nvSpPr>
          <p:cNvPr id="20" name="Text 18"/>
          <p:cNvSpPr txBox="1"/>
          <p:nvPr/>
        </p:nvSpPr>
        <p:spPr>
          <a:xfrm>
            <a:off x="566928" y="4251960"/>
            <a:ext cx="8046720" cy="30175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Rotación de Personal (Turnover)</a:t>
            </a:r>
            <a:endParaRPr lang="en-US" sz="1200" dirty="0"/>
          </a:p>
        </p:txBody>
      </p:sp>
      <p:sp>
        <p:nvSpPr>
          <p:cNvPr id="21" name="Text 19"/>
          <p:cNvSpPr txBox="1"/>
          <p:nvPr/>
        </p:nvSpPr>
        <p:spPr>
          <a:xfrm>
            <a:off x="566928" y="456285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Alta rotación reduce productividad por pérdida de curva de aprendizaje. Programas de incentivos y capacitación reducen turnover.</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Referencia: "Tucker's Tidbits" — publicación del CII por y para trabajadores de oficio que compartía innovaciones de campo. Concepto válido para programas formales de mejora continua en campo.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41</a:t>
            </a:r>
            <a:endParaRPr lang="en-US" sz="900" dirty="0"/>
          </a:p>
        </p:txBody>
      </p:sp>
      <p:pic xmlns:p="http://schemas.openxmlformats.org/presentationml/2006/main" xmlns:a="http://schemas.openxmlformats.org/drawingml/2006/main" xmlns:r="http://schemas.openxmlformats.org/officeDocument/2006/relationships">
        <p:nvPicPr>
          <p:cNvPr id="8041" name="SlideIcon8041" descr="icon"/>
          <p:cNvPicPr>
            <a:picLocks noChangeAspect="1"/>
          </p:cNvPicPr>
          <p:nvPr/>
        </p:nvPicPr>
        <p:blipFill>
          <a:blip r:embed="rId9005"/>
          <a:stretch>
            <a:fillRect/>
          </a:stretch>
        </p:blipFill>
        <p:spPr>
          <a:xfrm>
            <a:off x="73152" y="118872"/>
            <a:ext cx="347472" cy="34747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Planificación del Frente de Trabajo (Workface Planning)</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detallada del frente de trabajo es la materialización del Concepto III-1 en campo:</a:t>
            </a:r>
            <a:endParaRPr lang="en-US" sz="1200" dirty="0"/>
          </a:p>
        </p:txBody>
      </p:sp>
      <p:sp>
        <p:nvSpPr>
          <p:cNvPr id="6" name="Shape 4"/>
          <p:cNvSpPr/>
          <p:nvPr/>
        </p:nvSpPr>
        <p:spPr>
          <a:xfrm>
            <a:off x="365760" y="1298448"/>
            <a:ext cx="4206240" cy="1115568"/>
          </a:xfrm>
          <a:prstGeom prst="roundRect">
            <a:avLst>
              <a:gd name="adj" fmla="val 8197"/>
            </a:avLst>
          </a:prstGeom>
          <a:solidFill>
            <a:srgbClr val="F4F4F4"/>
          </a:solidFill>
          <a:ln w="12700">
            <a:solidFill>
              <a:srgbClr val="EBEBEB"/>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Paquetes de Trabajo de Campo (IWPs)</a:t>
            </a:r>
            <a:endParaRPr lang="en-US" sz="1300" dirty="0"/>
          </a:p>
        </p:txBody>
      </p:sp>
      <p:sp>
        <p:nvSpPr>
          <p:cNvPr id="9" name="Text 7"/>
          <p:cNvSpPr txBox="1"/>
          <p:nvPr/>
        </p:nvSpPr>
        <p:spPr>
          <a:xfrm>
            <a:off x="56692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cuadrilla recibe un paquete completo: planos, materiales, herramientas, secuencia y criterios de calidad — todo disponible ANTES de comenzar.</a:t>
            </a:r>
            <a:endParaRPr lang="en-US" sz="1050" dirty="0"/>
          </a:p>
        </p:txBody>
      </p:sp>
      <p:sp>
        <p:nvSpPr>
          <p:cNvPr id="10" name="Shape 8"/>
          <p:cNvSpPr/>
          <p:nvPr/>
        </p:nvSpPr>
        <p:spPr>
          <a:xfrm>
            <a:off x="4754880" y="1298448"/>
            <a:ext cx="4206240" cy="1115568"/>
          </a:xfrm>
          <a:prstGeom prst="roundRect">
            <a:avLst>
              <a:gd name="adj" fmla="val 8197"/>
            </a:avLst>
          </a:prstGeom>
          <a:solidFill>
            <a:srgbClr val="F4F4F4"/>
          </a:solidFill>
          <a:ln w="12700">
            <a:solidFill>
              <a:srgbClr val="EBEBEB"/>
            </a:solidFill>
            <a:prstDash val="solid"/>
          </a:ln>
        </p:spPr>
      </p:sp>
      <p:sp>
        <p:nvSpPr>
          <p:cNvPr id="11" name="Shape 9"/>
          <p:cNvSpPr/>
          <p:nvPr/>
        </p:nvSpPr>
        <p:spPr>
          <a:xfrm>
            <a:off x="4754880" y="1298448"/>
            <a:ext cx="73152" cy="1115568"/>
          </a:xfrm>
          <a:prstGeom prst="rect">
            <a:avLst/>
          </a:prstGeom>
          <a:solidFill>
            <a:srgbClr val="30D158"/>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Gestión de Restricciones</a:t>
            </a:r>
            <a:endParaRPr lang="en-US" sz="1300" dirty="0"/>
          </a:p>
        </p:txBody>
      </p:sp>
      <p:sp>
        <p:nvSpPr>
          <p:cNvPr id="13" name="Text 11"/>
          <p:cNvSpPr txBox="1"/>
          <p:nvPr/>
        </p:nvSpPr>
        <p:spPr>
          <a:xfrm>
            <a:off x="495604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y levantar proactivamente las restricciones que impedirán el trabajo de la cuadrilla. Las 7 Restricciones del Last Planner.</a:t>
            </a:r>
            <a:endParaRPr lang="en-US" sz="1050" dirty="0"/>
          </a:p>
        </p:txBody>
      </p:sp>
      <p:sp>
        <p:nvSpPr>
          <p:cNvPr id="14" name="Shape 12"/>
          <p:cNvSpPr/>
          <p:nvPr/>
        </p:nvSpPr>
        <p:spPr>
          <a:xfrm>
            <a:off x="365760" y="2532888"/>
            <a:ext cx="4206240" cy="1115568"/>
          </a:xfrm>
          <a:prstGeom prst="roundRect">
            <a:avLst>
              <a:gd name="adj" fmla="val 8197"/>
            </a:avLst>
          </a:prstGeom>
          <a:solidFill>
            <a:srgbClr val="F4F4F4"/>
          </a:solidFill>
          <a:ln w="12700">
            <a:solidFill>
              <a:srgbClr val="EBEBEB"/>
            </a:solidFill>
            <a:prstDash val="solid"/>
          </a:ln>
        </p:spPr>
      </p:sp>
      <p:sp>
        <p:nvSpPr>
          <p:cNvPr id="15" name="Shape 13"/>
          <p:cNvSpPr/>
          <p:nvPr/>
        </p:nvSpPr>
        <p:spPr>
          <a:xfrm>
            <a:off x="365760" y="2532888"/>
            <a:ext cx="73152" cy="1115568"/>
          </a:xfrm>
          <a:prstGeom prst="rect">
            <a:avLst/>
          </a:prstGeom>
          <a:solidFill>
            <a:srgbClr val="FF9500"/>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Lookahead de 3-6 Semanas</a:t>
            </a:r>
            <a:endParaRPr lang="en-US" sz="1300" dirty="0"/>
          </a:p>
        </p:txBody>
      </p:sp>
      <p:sp>
        <p:nvSpPr>
          <p:cNvPr id="17" name="Text 15"/>
          <p:cNvSpPr txBox="1"/>
          <p:nvPr/>
        </p:nvSpPr>
        <p:spPr>
          <a:xfrm>
            <a:off x="56692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intermedia que conecta el cronograma master con la programación semanal de campo. Permite anticipar recursos y materiales.</a:t>
            </a:r>
            <a:endParaRPr lang="en-US" sz="1050" dirty="0"/>
          </a:p>
        </p:txBody>
      </p:sp>
      <p:sp>
        <p:nvSpPr>
          <p:cNvPr id="18" name="Shape 16"/>
          <p:cNvSpPr/>
          <p:nvPr/>
        </p:nvSpPr>
        <p:spPr>
          <a:xfrm>
            <a:off x="4754880" y="2532888"/>
            <a:ext cx="4206240" cy="1115568"/>
          </a:xfrm>
          <a:prstGeom prst="roundRect">
            <a:avLst>
              <a:gd name="adj" fmla="val 8197"/>
            </a:avLst>
          </a:prstGeom>
          <a:solidFill>
            <a:srgbClr val="F4F4F4"/>
          </a:solidFill>
          <a:ln w="12700">
            <a:solidFill>
              <a:srgbClr val="EBEBEB"/>
            </a:solidFill>
            <a:prstDash val="solid"/>
          </a:ln>
        </p:spPr>
      </p:sp>
      <p:sp>
        <p:nvSpPr>
          <p:cNvPr id="19" name="Shape 17"/>
          <p:cNvSpPr/>
          <p:nvPr/>
        </p:nvSpPr>
        <p:spPr>
          <a:xfrm>
            <a:off x="4754880" y="2532888"/>
            <a:ext cx="73152" cy="1115568"/>
          </a:xfrm>
          <a:prstGeom prst="rect">
            <a:avLst/>
          </a:prstGeom>
          <a:solidFill>
            <a:srgbClr val="AF52DE"/>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Programación Semanal (Commitments)</a:t>
            </a:r>
            <a:endParaRPr lang="en-US" sz="1300" dirty="0"/>
          </a:p>
        </p:txBody>
      </p:sp>
      <p:sp>
        <p:nvSpPr>
          <p:cNvPr id="21" name="Text 19"/>
          <p:cNvSpPr txBox="1"/>
          <p:nvPr/>
        </p:nvSpPr>
        <p:spPr>
          <a:xfrm>
            <a:off x="495604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Compromisos semanales de la cuadrilla. PPC (Porcentaje Plan Cumplido) mide confiabilidad del sistema de planificación.</a:t>
            </a:r>
            <a:endParaRPr lang="en-US" sz="1050" dirty="0"/>
          </a:p>
        </p:txBody>
      </p:sp>
      <p:sp>
        <p:nvSpPr>
          <p:cNvPr id="22" name="Shape 20"/>
          <p:cNvSpPr/>
          <p:nvPr/>
        </p:nvSpPr>
        <p:spPr>
          <a:xfrm>
            <a:off x="365760" y="3767328"/>
            <a:ext cx="4206240" cy="1115568"/>
          </a:xfrm>
          <a:prstGeom prst="roundRect">
            <a:avLst>
              <a:gd name="adj" fmla="val 8197"/>
            </a:avLst>
          </a:prstGeom>
          <a:solidFill>
            <a:srgbClr val="F4F4F4"/>
          </a:solidFill>
          <a:ln w="12700">
            <a:solidFill>
              <a:srgbClr val="EBEBEB"/>
            </a:solidFill>
            <a:prstDash val="solid"/>
          </a:ln>
        </p:spPr>
      </p:sp>
      <p:sp>
        <p:nvSpPr>
          <p:cNvPr id="23" name="Shape 21"/>
          <p:cNvSpPr/>
          <p:nvPr/>
        </p:nvSpPr>
        <p:spPr>
          <a:xfrm>
            <a:off x="365760" y="3767328"/>
            <a:ext cx="73152" cy="1115568"/>
          </a:xfrm>
          <a:prstGeom prst="rect">
            <a:avLst/>
          </a:prstGeom>
          <a:solidFill>
            <a:srgbClr val="FFD60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Análisis de Causas de No Cumplimiento</a:t>
            </a:r>
            <a:endParaRPr lang="en-US" sz="1300" dirty="0"/>
          </a:p>
        </p:txBody>
      </p:sp>
      <p:sp>
        <p:nvSpPr>
          <p:cNvPr id="25" name="Text 23"/>
          <p:cNvSpPr txBox="1"/>
          <p:nvPr/>
        </p:nvSpPr>
        <p:spPr>
          <a:xfrm>
            <a:off x="56692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promesa no cumplida requiere análisis de causa raíz. El objetivo no es castigar — es mejorar el sistema de planificación.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F4F4F4"/>
          </a:solidFill>
          <a:ln w="12700">
            <a:solidFill>
              <a:srgbClr val="EBEBEB"/>
            </a:solidFill>
            <a:prstDash val="solid"/>
          </a:ln>
        </p:spPr>
      </p:sp>
      <p:sp>
        <p:nvSpPr>
          <p:cNvPr id="27" name="Shape 25"/>
          <p:cNvSpPr/>
          <p:nvPr/>
        </p:nvSpPr>
        <p:spPr>
          <a:xfrm>
            <a:off x="4754880" y="3767328"/>
            <a:ext cx="73152" cy="1115568"/>
          </a:xfrm>
          <a:prstGeom prst="rect">
            <a:avLst/>
          </a:prstGeom>
          <a:solidFill>
            <a:srgbClr val="FF453A"/>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Retroalimentación a Diseño</a:t>
            </a:r>
            <a:endParaRPr lang="en-US" sz="1300" dirty="0"/>
          </a:p>
        </p:txBody>
      </p:sp>
      <p:sp>
        <p:nvSpPr>
          <p:cNvPr id="29" name="Text 27"/>
          <p:cNvSpPr txBox="1"/>
          <p:nvPr/>
        </p:nvSpPr>
        <p:spPr>
          <a:xfrm>
            <a:off x="495604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Los problemas identificados en campo se capturan en la base de datos de Lecciones Aprendidas para retroalimentar el diseño de futuros proyectos.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42</a:t>
            </a:r>
            <a:endParaRPr lang="en-US" sz="900" dirty="0"/>
          </a:p>
        </p:txBody>
      </p:sp>
      <p:pic xmlns:p="http://schemas.openxmlformats.org/presentationml/2006/main" xmlns:a="http://schemas.openxmlformats.org/drawingml/2006/main" xmlns:r="http://schemas.openxmlformats.org/officeDocument/2006/relationships">
        <p:nvPicPr>
          <p:cNvPr id="8042" name="SlideIcon8042"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06</a:t>
            </a:r>
            <a:endParaRPr lang="en-US" sz="32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28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Hoja de Ruta CII — 6 Hitos para el Éxito</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43</a:t>
            </a:r>
            <a:endParaRPr lang="en-US" sz="900" dirty="0"/>
          </a:p>
        </p:txBody>
      </p:sp>
      <p:pic xmlns:p="http://schemas.openxmlformats.org/presentationml/2006/main" xmlns:a="http://schemas.openxmlformats.org/drawingml/2006/main" xmlns:r="http://schemas.openxmlformats.org/officeDocument/2006/relationships">
        <p:nvPicPr>
          <p:cNvPr id="8043" name="SlideIcon8043"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Hoja de Ruta de Implementación de Constructabilidad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 enfoque comprehensivo-integrado organizado en 6 hitos progresivos:</a:t>
            </a:r>
            <a:endParaRPr lang="en-US" sz="1200" dirty="0"/>
          </a:p>
        </p:txBody>
      </p:sp>
      <p:sp>
        <p:nvSpPr>
          <p:cNvPr id="6" name="Shape 4"/>
          <p:cNvSpPr/>
          <p:nvPr/>
        </p:nvSpPr>
        <p:spPr>
          <a:xfrm>
            <a:off x="365760" y="1298448"/>
            <a:ext cx="8412480" cy="548640"/>
          </a:xfrm>
          <a:prstGeom prst="roundRect">
            <a:avLst>
              <a:gd name="adj" fmla="val 16667"/>
            </a:avLst>
          </a:prstGeom>
          <a:solidFill>
            <a:srgbClr val="F4F4F4"/>
          </a:solidFill>
          <a:ln w="12700">
            <a:solidFill>
              <a:srgbClr val="EBEBEB"/>
            </a:solidFill>
            <a:prstDash val="solid"/>
          </a:ln>
        </p:spPr>
      </p:sp>
      <p:sp>
        <p:nvSpPr>
          <p:cNvPr id="7" name="Shape 5"/>
          <p:cNvSpPr/>
          <p:nvPr/>
        </p:nvSpPr>
        <p:spPr>
          <a:xfrm>
            <a:off x="438912" y="1362456"/>
            <a:ext cx="420624" cy="420624"/>
          </a:xfrm>
          <a:prstGeom prst="ellipse">
            <a:avLst/>
          </a:prstGeom>
          <a:solidFill>
            <a:srgbClr val="0A84FF"/>
          </a:solidFill>
          <a:ln/>
        </p:spPr>
      </p:sp>
      <p:sp>
        <p:nvSpPr>
          <p:cNvPr id="8" name="Text 6"/>
          <p:cNvSpPr txBox="1"/>
          <p:nvPr/>
        </p:nvSpPr>
        <p:spPr>
          <a:xfrm>
            <a:off x="438912" y="136245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Compromiso para Implementar</a:t>
            </a:r>
            <a:endParaRPr lang="en-US" sz="1200" dirty="0"/>
          </a:p>
        </p:txBody>
      </p:sp>
      <p:sp>
        <p:nvSpPr>
          <p:cNvPr id="10" name="Text 8"/>
          <p:cNvSpPr txBox="1"/>
          <p:nvPr/>
        </p:nvSpPr>
        <p:spPr>
          <a:xfrm>
            <a:off x="4297680" y="138988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beneficios. Evaluar estado actual. Desarrollar política.</a:t>
            </a:r>
            <a:endParaRPr lang="en-US" sz="1100" dirty="0"/>
          </a:p>
        </p:txBody>
      </p:sp>
      <p:sp>
        <p:nvSpPr>
          <p:cNvPr id="11" name="Shape 9"/>
          <p:cNvSpPr/>
          <p:nvPr/>
        </p:nvSpPr>
        <p:spPr>
          <a:xfrm>
            <a:off x="630936" y="1847088"/>
            <a:ext cx="73152" cy="73152"/>
          </a:xfrm>
          <a:prstGeom prst="rect">
            <a:avLst/>
          </a:prstGeom>
          <a:solidFill>
            <a:srgbClr val="0A84FF"/>
          </a:solidFill>
          <a:ln/>
        </p:spPr>
      </p:sp>
      <p:sp>
        <p:nvSpPr>
          <p:cNvPr id="12" name="Shape 10"/>
          <p:cNvSpPr/>
          <p:nvPr/>
        </p:nvSpPr>
        <p:spPr>
          <a:xfrm>
            <a:off x="365760" y="1920240"/>
            <a:ext cx="8412480" cy="548640"/>
          </a:xfrm>
          <a:prstGeom prst="roundRect">
            <a:avLst>
              <a:gd name="adj" fmla="val 16667"/>
            </a:avLst>
          </a:prstGeom>
          <a:solidFill>
            <a:srgbClr val="F4F4F4"/>
          </a:solidFill>
          <a:ln w="12700">
            <a:solidFill>
              <a:srgbClr val="EBEBEB"/>
            </a:solidFill>
            <a:prstDash val="solid"/>
          </a:ln>
        </p:spPr>
      </p:sp>
      <p:sp>
        <p:nvSpPr>
          <p:cNvPr id="13" name="Shape 11"/>
          <p:cNvSpPr/>
          <p:nvPr/>
        </p:nvSpPr>
        <p:spPr>
          <a:xfrm>
            <a:off x="438912" y="1984248"/>
            <a:ext cx="420624" cy="420624"/>
          </a:xfrm>
          <a:prstGeom prst="ellipse">
            <a:avLst/>
          </a:prstGeom>
          <a:solidFill>
            <a:srgbClr val="30D158"/>
          </a:solidFill>
          <a:ln/>
        </p:spPr>
      </p:sp>
      <p:sp>
        <p:nvSpPr>
          <p:cNvPr id="14" name="Text 12"/>
          <p:cNvSpPr txBox="1"/>
          <p:nvPr/>
        </p:nvSpPr>
        <p:spPr>
          <a:xfrm>
            <a:off x="438912" y="1984248"/>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5" name="Text 13"/>
          <p:cNvSpPr txBox="1"/>
          <p:nvPr/>
        </p:nvSpPr>
        <p:spPr>
          <a:xfrm>
            <a:off x="1005840" y="1993392"/>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Establecer Programa Corporativo</a:t>
            </a:r>
            <a:endParaRPr lang="en-US" sz="1200" dirty="0"/>
          </a:p>
        </p:txBody>
      </p:sp>
      <p:sp>
        <p:nvSpPr>
          <p:cNvPr id="16" name="Text 14"/>
          <p:cNvSpPr txBox="1"/>
          <p:nvPr/>
        </p:nvSpPr>
        <p:spPr>
          <a:xfrm>
            <a:off x="4297680" y="2011680"/>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Estructura organizacional. Capacitación. Herramientas corporativas.</a:t>
            </a:r>
            <a:endParaRPr lang="en-US" sz="1100" dirty="0"/>
          </a:p>
        </p:txBody>
      </p:sp>
      <p:sp>
        <p:nvSpPr>
          <p:cNvPr id="17" name="Shape 15"/>
          <p:cNvSpPr/>
          <p:nvPr/>
        </p:nvSpPr>
        <p:spPr>
          <a:xfrm>
            <a:off x="630936" y="2468880"/>
            <a:ext cx="73152" cy="73152"/>
          </a:xfrm>
          <a:prstGeom prst="rect">
            <a:avLst/>
          </a:prstGeom>
          <a:solidFill>
            <a:srgbClr val="30D158"/>
          </a:solidFill>
          <a:ln/>
        </p:spPr>
      </p:sp>
      <p:sp>
        <p:nvSpPr>
          <p:cNvPr id="18" name="Shape 16"/>
          <p:cNvSpPr/>
          <p:nvPr/>
        </p:nvSpPr>
        <p:spPr>
          <a:xfrm>
            <a:off x="365760" y="2542032"/>
            <a:ext cx="8412480" cy="548640"/>
          </a:xfrm>
          <a:prstGeom prst="roundRect">
            <a:avLst>
              <a:gd name="adj" fmla="val 16667"/>
            </a:avLst>
          </a:prstGeom>
          <a:solidFill>
            <a:srgbClr val="F4F4F4"/>
          </a:solidFill>
          <a:ln w="12700">
            <a:solidFill>
              <a:srgbClr val="EBEBEB"/>
            </a:solidFill>
            <a:prstDash val="solid"/>
          </a:ln>
        </p:spPr>
      </p:sp>
      <p:sp>
        <p:nvSpPr>
          <p:cNvPr id="19" name="Shape 17"/>
          <p:cNvSpPr/>
          <p:nvPr/>
        </p:nvSpPr>
        <p:spPr>
          <a:xfrm>
            <a:off x="438912" y="2606040"/>
            <a:ext cx="420624" cy="420624"/>
          </a:xfrm>
          <a:prstGeom prst="ellipse">
            <a:avLst/>
          </a:prstGeom>
          <a:solidFill>
            <a:srgbClr val="FF9500"/>
          </a:solidFill>
          <a:ln/>
        </p:spPr>
      </p:sp>
      <p:sp>
        <p:nvSpPr>
          <p:cNvPr id="20" name="Text 18"/>
          <p:cNvSpPr txBox="1"/>
          <p:nvPr/>
        </p:nvSpPr>
        <p:spPr>
          <a:xfrm>
            <a:off x="438912" y="2606040"/>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21" name="Text 19"/>
          <p:cNvSpPr txBox="1"/>
          <p:nvPr/>
        </p:nvSpPr>
        <p:spPr>
          <a:xfrm>
            <a:off x="1005840" y="2615184"/>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Obtener Capacidades de Constructabilidad</a:t>
            </a:r>
            <a:endParaRPr lang="en-US" sz="1200" dirty="0"/>
          </a:p>
        </p:txBody>
      </p:sp>
      <p:sp>
        <p:nvSpPr>
          <p:cNvPr id="22" name="Text 20"/>
          <p:cNvSpPr txBox="1"/>
          <p:nvPr/>
        </p:nvSpPr>
        <p:spPr>
          <a:xfrm>
            <a:off x="4297680" y="2633472"/>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Contratar/desarrollar al Gerente de Constructabilidad. Fuentes de mejora.</a:t>
            </a:r>
            <a:endParaRPr lang="en-US" sz="1100" dirty="0"/>
          </a:p>
        </p:txBody>
      </p:sp>
      <p:sp>
        <p:nvSpPr>
          <p:cNvPr id="23" name="Shape 21"/>
          <p:cNvSpPr/>
          <p:nvPr/>
        </p:nvSpPr>
        <p:spPr>
          <a:xfrm>
            <a:off x="630936" y="3090672"/>
            <a:ext cx="73152" cy="73152"/>
          </a:xfrm>
          <a:prstGeom prst="rect">
            <a:avLst/>
          </a:prstGeom>
          <a:solidFill>
            <a:srgbClr val="FF9500"/>
          </a:solidFill>
          <a:ln/>
        </p:spPr>
      </p:sp>
      <p:sp>
        <p:nvSpPr>
          <p:cNvPr id="24" name="Shape 22"/>
          <p:cNvSpPr/>
          <p:nvPr/>
        </p:nvSpPr>
        <p:spPr>
          <a:xfrm>
            <a:off x="365760" y="3163824"/>
            <a:ext cx="8412480" cy="548640"/>
          </a:xfrm>
          <a:prstGeom prst="roundRect">
            <a:avLst>
              <a:gd name="adj" fmla="val 16667"/>
            </a:avLst>
          </a:prstGeom>
          <a:solidFill>
            <a:srgbClr val="F4F4F4"/>
          </a:solidFill>
          <a:ln w="12700">
            <a:solidFill>
              <a:srgbClr val="EBEBEB"/>
            </a:solidFill>
            <a:prstDash val="solid"/>
          </a:ln>
        </p:spPr>
      </p:sp>
      <p:sp>
        <p:nvSpPr>
          <p:cNvPr id="25" name="Shape 23"/>
          <p:cNvSpPr/>
          <p:nvPr/>
        </p:nvSpPr>
        <p:spPr>
          <a:xfrm>
            <a:off x="438912" y="3227832"/>
            <a:ext cx="420624" cy="420624"/>
          </a:xfrm>
          <a:prstGeom prst="ellipse">
            <a:avLst/>
          </a:prstGeom>
          <a:solidFill>
            <a:srgbClr val="AF52DE"/>
          </a:solidFill>
          <a:ln/>
        </p:spPr>
      </p:sp>
      <p:sp>
        <p:nvSpPr>
          <p:cNvPr id="26" name="Text 24"/>
          <p:cNvSpPr txBox="1"/>
          <p:nvPr/>
        </p:nvSpPr>
        <p:spPr>
          <a:xfrm>
            <a:off x="438912" y="3227832"/>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7" name="Text 25"/>
          <p:cNvSpPr txBox="1"/>
          <p:nvPr/>
        </p:nvSpPr>
        <p:spPr>
          <a:xfrm>
            <a:off x="1005840" y="3236976"/>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Planificar la Implementación</a:t>
            </a:r>
            <a:endParaRPr lang="en-US" sz="1200" dirty="0"/>
          </a:p>
        </p:txBody>
      </p:sp>
      <p:sp>
        <p:nvSpPr>
          <p:cNvPr id="28" name="Text 26"/>
          <p:cNvSpPr txBox="1"/>
          <p:nvPr/>
        </p:nvSpPr>
        <p:spPr>
          <a:xfrm>
            <a:off x="4297680" y="3255264"/>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concepto por concepto. Taller de planificación. Metas cuantitativas.</a:t>
            </a:r>
            <a:endParaRPr lang="en-US" sz="1100" dirty="0"/>
          </a:p>
        </p:txBody>
      </p:sp>
      <p:sp>
        <p:nvSpPr>
          <p:cNvPr id="29" name="Shape 27"/>
          <p:cNvSpPr/>
          <p:nvPr/>
        </p:nvSpPr>
        <p:spPr>
          <a:xfrm>
            <a:off x="630936" y="3712464"/>
            <a:ext cx="73152" cy="73152"/>
          </a:xfrm>
          <a:prstGeom prst="rect">
            <a:avLst/>
          </a:prstGeom>
          <a:solidFill>
            <a:srgbClr val="AF52DE"/>
          </a:solidFill>
          <a:ln/>
        </p:spPr>
      </p:sp>
      <p:sp>
        <p:nvSpPr>
          <p:cNvPr id="30" name="Shape 28"/>
          <p:cNvSpPr/>
          <p:nvPr/>
        </p:nvSpPr>
        <p:spPr>
          <a:xfrm>
            <a:off x="365760" y="3785616"/>
            <a:ext cx="8412480" cy="548640"/>
          </a:xfrm>
          <a:prstGeom prst="roundRect">
            <a:avLst>
              <a:gd name="adj" fmla="val 16667"/>
            </a:avLst>
          </a:prstGeom>
          <a:solidFill>
            <a:srgbClr val="F4F4F4"/>
          </a:solidFill>
          <a:ln w="12700">
            <a:solidFill>
              <a:srgbClr val="EBEBEB"/>
            </a:solidFill>
            <a:prstDash val="solid"/>
          </a:ln>
        </p:spPr>
      </p:sp>
      <p:sp>
        <p:nvSpPr>
          <p:cNvPr id="31" name="Shape 29"/>
          <p:cNvSpPr/>
          <p:nvPr/>
        </p:nvSpPr>
        <p:spPr>
          <a:xfrm>
            <a:off x="438912" y="3849624"/>
            <a:ext cx="420624" cy="420624"/>
          </a:xfrm>
          <a:prstGeom prst="ellipse">
            <a:avLst/>
          </a:prstGeom>
          <a:solidFill>
            <a:srgbClr val="FFD60A"/>
          </a:solidFill>
          <a:ln/>
        </p:spPr>
      </p:sp>
      <p:sp>
        <p:nvSpPr>
          <p:cNvPr id="32" name="Text 30"/>
          <p:cNvSpPr txBox="1"/>
          <p:nvPr/>
        </p:nvSpPr>
        <p:spPr>
          <a:xfrm>
            <a:off x="438912" y="3849624"/>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33" name="Text 31"/>
          <p:cNvSpPr txBox="1"/>
          <p:nvPr/>
        </p:nvSpPr>
        <p:spPr>
          <a:xfrm>
            <a:off x="1005840" y="3858768"/>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Implementar Constructabilidad</a:t>
            </a:r>
            <a:endParaRPr lang="en-US" sz="1200" dirty="0"/>
          </a:p>
        </p:txBody>
      </p:sp>
      <p:sp>
        <p:nvSpPr>
          <p:cNvPr id="34" name="Text 32"/>
          <p:cNvSpPr txBox="1"/>
          <p:nvPr/>
        </p:nvSpPr>
        <p:spPr>
          <a:xfrm>
            <a:off x="4297680" y="3877056"/>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el plan. Registrar ideas. Actualizar log. Reportar trimestralmente.</a:t>
            </a:r>
            <a:endParaRPr lang="en-US" sz="1100" dirty="0"/>
          </a:p>
        </p:txBody>
      </p:sp>
      <p:sp>
        <p:nvSpPr>
          <p:cNvPr id="35" name="Shape 33"/>
          <p:cNvSpPr/>
          <p:nvPr/>
        </p:nvSpPr>
        <p:spPr>
          <a:xfrm>
            <a:off x="630936" y="4334256"/>
            <a:ext cx="73152" cy="73152"/>
          </a:xfrm>
          <a:prstGeom prst="rect">
            <a:avLst/>
          </a:prstGeom>
          <a:solidFill>
            <a:srgbClr val="FFD60A"/>
          </a:solidFill>
          <a:ln/>
        </p:spPr>
      </p:sp>
      <p:sp>
        <p:nvSpPr>
          <p:cNvPr id="36" name="Shape 34"/>
          <p:cNvSpPr/>
          <p:nvPr/>
        </p:nvSpPr>
        <p:spPr>
          <a:xfrm>
            <a:off x="365760" y="4407408"/>
            <a:ext cx="8412480" cy="548640"/>
          </a:xfrm>
          <a:prstGeom prst="roundRect">
            <a:avLst>
              <a:gd name="adj" fmla="val 16667"/>
            </a:avLst>
          </a:prstGeom>
          <a:solidFill>
            <a:srgbClr val="F4F4F4"/>
          </a:solidFill>
          <a:ln w="12700">
            <a:solidFill>
              <a:srgbClr val="EBEBEB"/>
            </a:solidFill>
            <a:prstDash val="solid"/>
          </a:ln>
        </p:spPr>
      </p:sp>
      <p:sp>
        <p:nvSpPr>
          <p:cNvPr id="37" name="Shape 35"/>
          <p:cNvSpPr/>
          <p:nvPr/>
        </p:nvSpPr>
        <p:spPr>
          <a:xfrm>
            <a:off x="438912" y="4471416"/>
            <a:ext cx="420624" cy="420624"/>
          </a:xfrm>
          <a:prstGeom prst="ellipse">
            <a:avLst/>
          </a:prstGeom>
          <a:solidFill>
            <a:srgbClr val="FF453A"/>
          </a:solidFill>
          <a:ln/>
        </p:spPr>
      </p:sp>
      <p:sp>
        <p:nvSpPr>
          <p:cNvPr id="38" name="Text 36"/>
          <p:cNvSpPr txBox="1"/>
          <p:nvPr/>
        </p:nvSpPr>
        <p:spPr>
          <a:xfrm>
            <a:off x="438912" y="447141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9" name="Text 37"/>
          <p:cNvSpPr txBox="1"/>
          <p:nvPr/>
        </p:nvSpPr>
        <p:spPr>
          <a:xfrm>
            <a:off x="1005840" y="448056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Actualizar Programa Corporativo</a:t>
            </a:r>
            <a:endParaRPr lang="en-US" sz="1200" dirty="0"/>
          </a:p>
        </p:txBody>
      </p:sp>
      <p:sp>
        <p:nvSpPr>
          <p:cNvPr id="40" name="Text 38"/>
          <p:cNvSpPr txBox="1"/>
          <p:nvPr/>
        </p:nvSpPr>
        <p:spPr>
          <a:xfrm>
            <a:off x="4297680" y="449884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Lecciones aprendidas. Retroalimentar al nivel corporativo. Mejora continua.</a:t>
            </a:r>
            <a:endParaRPr lang="en-US" sz="1100" dirty="0"/>
          </a:p>
        </p:txBody>
      </p:sp>
      <p:sp>
        <p:nvSpPr>
          <p:cNvPr id="41" name="Text 3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44</a:t>
            </a:r>
            <a:endParaRPr lang="en-US" sz="900" dirty="0"/>
          </a:p>
        </p:txBody>
      </p:sp>
      <p:pic xmlns:p="http://schemas.openxmlformats.org/presentationml/2006/main" xmlns:a="http://schemas.openxmlformats.org/drawingml/2006/main" xmlns:r="http://schemas.openxmlformats.org/officeDocument/2006/relationships">
        <p:nvPicPr>
          <p:cNvPr id="8044" name="SlideIcon8044"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1: Compromiso para Implementar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548640"/>
          </a:xfrm>
          <a:prstGeom prst="roundRect">
            <a:avLst>
              <a:gd name="adj" fmla="val 16667"/>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"Sin un compromiso bien desarrollado, generalizado y comprehensivo con la constructabilidad, el programa no tendrá sustento." — CII SP 34-1</a:t>
            </a:r>
            <a:endParaRPr lang="en-US" sz="1200" dirty="0"/>
          </a:p>
        </p:txBody>
      </p:sp>
      <p:sp>
        <p:nvSpPr>
          <p:cNvPr id="7" name="Text 5"/>
          <p:cNvSpPr txBox="1"/>
          <p:nvPr/>
        </p:nvSpPr>
        <p:spPr>
          <a:xfrm>
            <a:off x="365760" y="1600200"/>
            <a:ext cx="841248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Actividades del Hito 1:</a:t>
            </a:r>
            <a:endParaRPr lang="en-US" sz="1200" dirty="0"/>
          </a:p>
        </p:txBody>
      </p:sp>
      <p:sp>
        <p:nvSpPr>
          <p:cNvPr id="8" name="Shape 6"/>
          <p:cNvSpPr/>
          <p:nvPr/>
        </p:nvSpPr>
        <p:spPr>
          <a:xfrm>
            <a:off x="365760" y="1938528"/>
            <a:ext cx="8412480" cy="658368"/>
          </a:xfrm>
          <a:prstGeom prst="roundRect">
            <a:avLst>
              <a:gd name="adj" fmla="val 13889"/>
            </a:avLst>
          </a:prstGeom>
          <a:solidFill>
            <a:srgbClr val="F4F4F4"/>
          </a:solidFill>
          <a:ln w="12700">
            <a:solidFill>
              <a:srgbClr val="EBEBEB"/>
            </a:solidFill>
            <a:prstDash val="solid"/>
          </a:ln>
        </p:spPr>
      </p:sp>
      <p:sp>
        <p:nvSpPr>
          <p:cNvPr id="9" name="Shape 7"/>
          <p:cNvSpPr/>
          <p:nvPr/>
        </p:nvSpPr>
        <p:spPr>
          <a:xfrm>
            <a:off x="365760" y="1938528"/>
            <a:ext cx="73152" cy="658368"/>
          </a:xfrm>
          <a:prstGeom prst="rect">
            <a:avLst/>
          </a:prstGeom>
          <a:solidFill>
            <a:srgbClr val="0A84FF"/>
          </a:solidFill>
          <a:ln/>
        </p:spPr>
      </p:sp>
      <p:sp>
        <p:nvSpPr>
          <p:cNvPr id="10" name="Text 8"/>
          <p:cNvSpPr txBox="1"/>
          <p:nvPr/>
        </p:nvSpPr>
        <p:spPr>
          <a:xfrm>
            <a:off x="566928" y="1993392"/>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Evaluar y Reconocer Beneficios</a:t>
            </a:r>
            <a:endParaRPr lang="en-US" sz="1300" dirty="0"/>
          </a:p>
        </p:txBody>
      </p:sp>
      <p:sp>
        <p:nvSpPr>
          <p:cNvPr id="11" name="Text 9"/>
          <p:cNvSpPr txBox="1"/>
          <p:nvPr/>
        </p:nvSpPr>
        <p:spPr>
          <a:xfrm>
            <a:off x="566928" y="2267712"/>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casos de estudio CII. Cuantificar el ahorro potencial para proyectos típicos de la organización. Calcular el ROI potencial del programa.</a:t>
            </a:r>
            <a:endParaRPr lang="en-US" sz="1100" dirty="0"/>
          </a:p>
        </p:txBody>
      </p:sp>
      <p:sp>
        <p:nvSpPr>
          <p:cNvPr id="12" name="Shape 10"/>
          <p:cNvSpPr/>
          <p:nvPr/>
        </p:nvSpPr>
        <p:spPr>
          <a:xfrm>
            <a:off x="365760" y="2688336"/>
            <a:ext cx="8412480" cy="658368"/>
          </a:xfrm>
          <a:prstGeom prst="roundRect">
            <a:avLst>
              <a:gd name="adj" fmla="val 13889"/>
            </a:avLst>
          </a:prstGeom>
          <a:solidFill>
            <a:srgbClr val="F4F4F4"/>
          </a:solidFill>
          <a:ln w="12700">
            <a:solidFill>
              <a:srgbClr val="EBEBEB"/>
            </a:solidFill>
            <a:prstDash val="solid"/>
          </a:ln>
        </p:spPr>
      </p:sp>
      <p:sp>
        <p:nvSpPr>
          <p:cNvPr id="13" name="Shape 11"/>
          <p:cNvSpPr/>
          <p:nvPr/>
        </p:nvSpPr>
        <p:spPr>
          <a:xfrm>
            <a:off x="365760" y="2688336"/>
            <a:ext cx="73152" cy="658368"/>
          </a:xfrm>
          <a:prstGeom prst="rect">
            <a:avLst/>
          </a:prstGeom>
          <a:solidFill>
            <a:srgbClr val="0A84FF"/>
          </a:solidFill>
          <a:ln/>
        </p:spPr>
      </p:sp>
      <p:sp>
        <p:nvSpPr>
          <p:cNvPr id="14" name="Text 12"/>
          <p:cNvSpPr txBox="1"/>
          <p:nvPr/>
        </p:nvSpPr>
        <p:spPr>
          <a:xfrm>
            <a:off x="566928" y="2743200"/>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Comprender Métodos, Conceptos y Barreras</a:t>
            </a:r>
            <a:endParaRPr lang="en-US" sz="1300" dirty="0"/>
          </a:p>
        </p:txBody>
      </p:sp>
      <p:sp>
        <p:nvSpPr>
          <p:cNvPr id="15" name="Text 13"/>
          <p:cNvSpPr txBox="1"/>
          <p:nvPr/>
        </p:nvSpPr>
        <p:spPr>
          <a:xfrm>
            <a:off x="566928" y="3017520"/>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Estudiar los 17 conceptos CII. Identificar cuáles son más aplicables al tipo de proyectos de la organización. Evaluar las barreras internas.</a:t>
            </a:r>
            <a:endParaRPr lang="en-US" sz="1100" dirty="0"/>
          </a:p>
        </p:txBody>
      </p:sp>
      <p:sp>
        <p:nvSpPr>
          <p:cNvPr id="16" name="Shape 14"/>
          <p:cNvSpPr/>
          <p:nvPr/>
        </p:nvSpPr>
        <p:spPr>
          <a:xfrm>
            <a:off x="365760" y="3438144"/>
            <a:ext cx="8412480" cy="658368"/>
          </a:xfrm>
          <a:prstGeom prst="roundRect">
            <a:avLst>
              <a:gd name="adj" fmla="val 13889"/>
            </a:avLst>
          </a:prstGeom>
          <a:solidFill>
            <a:srgbClr val="F4F4F4"/>
          </a:solidFill>
          <a:ln w="12700">
            <a:solidFill>
              <a:srgbClr val="EBEBEB"/>
            </a:solidFill>
            <a:prstDash val="solid"/>
          </a:ln>
        </p:spPr>
      </p:sp>
      <p:sp>
        <p:nvSpPr>
          <p:cNvPr id="17" name="Shape 15"/>
          <p:cNvSpPr/>
          <p:nvPr/>
        </p:nvSpPr>
        <p:spPr>
          <a:xfrm>
            <a:off x="365760" y="3438144"/>
            <a:ext cx="73152" cy="658368"/>
          </a:xfrm>
          <a:prstGeom prst="rect">
            <a:avLst/>
          </a:prstGeom>
          <a:solidFill>
            <a:srgbClr val="0A84FF"/>
          </a:solidFill>
          <a:ln/>
        </p:spPr>
      </p:sp>
      <p:sp>
        <p:nvSpPr>
          <p:cNvPr id="18" name="Text 16"/>
          <p:cNvSpPr txBox="1"/>
          <p:nvPr/>
        </p:nvSpPr>
        <p:spPr>
          <a:xfrm>
            <a:off x="566928" y="3493008"/>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Desarrollar Política de Implementación</a:t>
            </a:r>
            <a:endParaRPr lang="en-US" sz="1300" dirty="0"/>
          </a:p>
        </p:txBody>
      </p:sp>
      <p:sp>
        <p:nvSpPr>
          <p:cNvPr id="19" name="Text 17"/>
          <p:cNvSpPr txBox="1"/>
          <p:nvPr/>
        </p:nvSpPr>
        <p:spPr>
          <a:xfrm>
            <a:off x="566928" y="3767328"/>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Redactar una declaración formal de la dirección comprometiendo a la organización con la constructabilidad como práctica estándar.</a:t>
            </a:r>
            <a:endParaRPr lang="en-US" sz="1100" dirty="0"/>
          </a:p>
        </p:txBody>
      </p:sp>
      <p:sp>
        <p:nvSpPr>
          <p:cNvPr id="20" name="Shape 18"/>
          <p:cNvSpPr/>
          <p:nvPr/>
        </p:nvSpPr>
        <p:spPr>
          <a:xfrm>
            <a:off x="365760" y="4187952"/>
            <a:ext cx="8412480" cy="658368"/>
          </a:xfrm>
          <a:prstGeom prst="roundRect">
            <a:avLst>
              <a:gd name="adj" fmla="val 13889"/>
            </a:avLst>
          </a:prstGeom>
          <a:solidFill>
            <a:srgbClr val="F4F4F4"/>
          </a:solidFill>
          <a:ln w="12700">
            <a:solidFill>
              <a:srgbClr val="EBEBEB"/>
            </a:solidFill>
            <a:prstDash val="solid"/>
          </a:ln>
        </p:spPr>
      </p:sp>
      <p:sp>
        <p:nvSpPr>
          <p:cNvPr id="21" name="Shape 19"/>
          <p:cNvSpPr/>
          <p:nvPr/>
        </p:nvSpPr>
        <p:spPr>
          <a:xfrm>
            <a:off x="365760" y="4187952"/>
            <a:ext cx="73152" cy="658368"/>
          </a:xfrm>
          <a:prstGeom prst="rect">
            <a:avLst/>
          </a:prstGeom>
          <a:solidFill>
            <a:srgbClr val="0A84FF"/>
          </a:solidFill>
          <a:ln/>
        </p:spPr>
      </p:sp>
      <p:sp>
        <p:nvSpPr>
          <p:cNvPr id="22" name="Text 20"/>
          <p:cNvSpPr txBox="1"/>
          <p:nvPr/>
        </p:nvSpPr>
        <p:spPr>
          <a:xfrm>
            <a:off x="566928" y="4242816"/>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Designar Campeón de Constructabilidad</a:t>
            </a:r>
            <a:endParaRPr lang="en-US" sz="1300" dirty="0"/>
          </a:p>
        </p:txBody>
      </p:sp>
      <p:sp>
        <p:nvSpPr>
          <p:cNvPr id="23" name="Text 21"/>
          <p:cNvSpPr txBox="1"/>
          <p:nvPr/>
        </p:nvSpPr>
        <p:spPr>
          <a:xfrm>
            <a:off x="566928" y="4517136"/>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Nombrar al Gerente de Constructabilidad corporativo. Definir su autoridad, recursos y reporte directo a la alta dirección.</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45</a:t>
            </a:r>
            <a:endParaRPr lang="en-US" sz="900" dirty="0"/>
          </a:p>
        </p:txBody>
      </p:sp>
      <p:pic xmlns:p="http://schemas.openxmlformats.org/presentationml/2006/main" xmlns:a="http://schemas.openxmlformats.org/drawingml/2006/main" xmlns:r="http://schemas.openxmlformats.org/officeDocument/2006/relationships">
        <p:nvPicPr>
          <p:cNvPr id="8045" name="SlideIcon8045" descr="icon"/>
          <p:cNvPicPr>
            <a:picLocks noChangeAspect="1"/>
          </p:cNvPicPr>
          <p:nvPr/>
        </p:nvPicPr>
        <p:blipFill>
          <a:blip r:embed="rId9005"/>
          <a:stretch>
            <a:fillRect/>
          </a:stretch>
        </p:blipFill>
        <p:spPr>
          <a:xfrm>
            <a:off x="73152" y="118872"/>
            <a:ext cx="347472" cy="3474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2: Establecer el Programa Corporativo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programa corporativo es la infraestructura permanente que soporta la constructabilidad en todos los proyectos:</a:t>
            </a:r>
            <a:endParaRPr lang="en-US" sz="1300" dirty="0"/>
          </a:p>
        </p:txBody>
      </p:sp>
      <p:sp>
        <p:nvSpPr>
          <p:cNvPr id="6" name="Shape 4"/>
          <p:cNvSpPr/>
          <p:nvPr/>
        </p:nvSpPr>
        <p:spPr>
          <a:xfrm>
            <a:off x="365760" y="1325880"/>
            <a:ext cx="4206240" cy="1143000"/>
          </a:xfrm>
          <a:prstGeom prst="roundRect">
            <a:avLst>
              <a:gd name="adj" fmla="val 8000"/>
            </a:avLst>
          </a:prstGeom>
          <a:solidFill>
            <a:srgbClr val="F4F4F4"/>
          </a:solidFill>
          <a:ln w="12700">
            <a:solidFill>
              <a:srgbClr val="30D158"/>
            </a:solidFill>
            <a:prstDash val="solid"/>
          </a:ln>
        </p:spPr>
      </p:sp>
      <p:sp>
        <p:nvSpPr>
          <p:cNvPr id="7" name="Text 5"/>
          <p:cNvSpPr txBox="1"/>
          <p:nvPr/>
        </p:nvSpPr>
        <p:spPr>
          <a:xfrm>
            <a:off x="548640" y="139903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200" dirty="0"/>
          </a:p>
        </p:txBody>
      </p:sp>
      <p:sp>
        <p:nvSpPr>
          <p:cNvPr id="8" name="Text 6"/>
          <p:cNvSpPr txBox="1"/>
          <p:nvPr/>
        </p:nvSpPr>
        <p:spPr>
          <a:xfrm>
            <a:off x="54864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roles: Gerente Corporativo de Constructabilidad, Campeón de Constructabilidad por proyecto, Especialistas técnicos de apoyo.</a:t>
            </a:r>
            <a:endParaRPr lang="en-US" sz="1100" dirty="0"/>
          </a:p>
        </p:txBody>
      </p:sp>
      <p:sp>
        <p:nvSpPr>
          <p:cNvPr id="9" name="Shape 7"/>
          <p:cNvSpPr/>
          <p:nvPr/>
        </p:nvSpPr>
        <p:spPr>
          <a:xfrm>
            <a:off x="4754880" y="1325880"/>
            <a:ext cx="4206240" cy="1143000"/>
          </a:xfrm>
          <a:prstGeom prst="roundRect">
            <a:avLst>
              <a:gd name="adj" fmla="val 8000"/>
            </a:avLst>
          </a:prstGeom>
          <a:solidFill>
            <a:srgbClr val="F4F4F4"/>
          </a:solidFill>
          <a:ln w="12700">
            <a:solidFill>
              <a:srgbClr val="0A84FF"/>
            </a:solidFill>
            <a:prstDash val="solid"/>
          </a:ln>
        </p:spPr>
      </p:sp>
      <p:sp>
        <p:nvSpPr>
          <p:cNvPr id="10" name="Text 8"/>
          <p:cNvSpPr txBox="1"/>
          <p:nvPr/>
        </p:nvSpPr>
        <p:spPr>
          <a:xfrm>
            <a:off x="4937760" y="139903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del Equipo</a:t>
            </a:r>
            <a:endParaRPr lang="en-US" sz="1200" dirty="0"/>
          </a:p>
        </p:txBody>
      </p:sp>
      <p:sp>
        <p:nvSpPr>
          <p:cNvPr id="11" name="Text 9"/>
          <p:cNvSpPr txBox="1"/>
          <p:nvPr/>
        </p:nvSpPr>
        <p:spPr>
          <a:xfrm>
            <a:off x="493776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formal de capacitación en constructabilidad para ingenieros de diseño, directores de proyecto y personal de campo.</a:t>
            </a:r>
            <a:endParaRPr lang="en-US" sz="1100" dirty="0"/>
          </a:p>
        </p:txBody>
      </p:sp>
      <p:sp>
        <p:nvSpPr>
          <p:cNvPr id="12" name="Shape 10"/>
          <p:cNvSpPr/>
          <p:nvPr/>
        </p:nvSpPr>
        <p:spPr>
          <a:xfrm>
            <a:off x="365760" y="2587752"/>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48640" y="266090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Base de Datos de LL</a:t>
            </a:r>
            <a:endParaRPr lang="en-US" sz="1200" dirty="0"/>
          </a:p>
        </p:txBody>
      </p:sp>
      <p:sp>
        <p:nvSpPr>
          <p:cNvPr id="14" name="Text 12"/>
          <p:cNvSpPr txBox="1"/>
          <p:nvPr/>
        </p:nvSpPr>
        <p:spPr>
          <a:xfrm>
            <a:off x="54864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Establecer la Base de Datos de Lecciones Aprendidas — el pegamento de constructabilidad entre proyectos. Sistema de captura y recuperación.</a:t>
            </a:r>
            <a:endParaRPr lang="en-US" sz="1100" dirty="0"/>
          </a:p>
        </p:txBody>
      </p:sp>
      <p:sp>
        <p:nvSpPr>
          <p:cNvPr id="15" name="Shape 13"/>
          <p:cNvSpPr/>
          <p:nvPr/>
        </p:nvSpPr>
        <p:spPr>
          <a:xfrm>
            <a:off x="4754880" y="2587752"/>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37760" y="2660904"/>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Documentos Modelo</a:t>
            </a:r>
            <a:endParaRPr lang="en-US" sz="1200" dirty="0"/>
          </a:p>
        </p:txBody>
      </p:sp>
      <p:sp>
        <p:nvSpPr>
          <p:cNvPr id="17" name="Text 15"/>
          <p:cNvSpPr txBox="1"/>
          <p:nvPr/>
        </p:nvSpPr>
        <p:spPr>
          <a:xfrm>
            <a:off x="493776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Política de implementación, formulario de sugerencias, log de ideas, reporte trimestral, cláusulas contractuales estándar.</a:t>
            </a:r>
            <a:endParaRPr lang="en-US" sz="1100" dirty="0"/>
          </a:p>
        </p:txBody>
      </p:sp>
      <p:sp>
        <p:nvSpPr>
          <p:cNvPr id="18" name="Shape 16"/>
          <p:cNvSpPr/>
          <p:nvPr/>
        </p:nvSpPr>
        <p:spPr>
          <a:xfrm>
            <a:off x="365760" y="3849624"/>
            <a:ext cx="4206240" cy="1143000"/>
          </a:xfrm>
          <a:prstGeom prst="roundRect">
            <a:avLst>
              <a:gd name="adj" fmla="val 8000"/>
            </a:avLst>
          </a:prstGeom>
          <a:solidFill>
            <a:srgbClr val="F4F4F4"/>
          </a:solidFill>
          <a:ln w="12700">
            <a:solidFill>
              <a:srgbClr val="FFD60A"/>
            </a:solidFill>
            <a:prstDash val="solid"/>
          </a:ln>
        </p:spPr>
      </p:sp>
      <p:sp>
        <p:nvSpPr>
          <p:cNvPr id="19" name="Text 17"/>
          <p:cNvSpPr txBox="1"/>
          <p:nvPr/>
        </p:nvSpPr>
        <p:spPr>
          <a:xfrm>
            <a:off x="548640" y="3922776"/>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Matrices de Conceptos</a:t>
            </a:r>
            <a:endParaRPr lang="en-US" sz="1200" dirty="0"/>
          </a:p>
        </p:txBody>
      </p:sp>
      <p:sp>
        <p:nvSpPr>
          <p:cNvPr id="20" name="Text 18"/>
          <p:cNvSpPr txBox="1"/>
          <p:nvPr/>
        </p:nvSpPr>
        <p:spPr>
          <a:xfrm>
            <a:off x="54864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aplicación de conceptos por tipo de proyecto (industrial y comercial). Guía qué concepto aplica en qué fase.</a:t>
            </a:r>
            <a:endParaRPr lang="en-US" sz="1100" dirty="0"/>
          </a:p>
        </p:txBody>
      </p:sp>
      <p:sp>
        <p:nvSpPr>
          <p:cNvPr id="21" name="Shape 19"/>
          <p:cNvSpPr/>
          <p:nvPr/>
        </p:nvSpPr>
        <p:spPr>
          <a:xfrm>
            <a:off x="4754880" y="3849624"/>
            <a:ext cx="4206240" cy="1143000"/>
          </a:xfrm>
          <a:prstGeom prst="roundRect">
            <a:avLst>
              <a:gd name="adj" fmla="val 8000"/>
            </a:avLst>
          </a:prstGeom>
          <a:solidFill>
            <a:srgbClr val="F4F4F4"/>
          </a:solidFill>
          <a:ln w="12700">
            <a:solidFill>
              <a:srgbClr val="FF453A"/>
            </a:solidFill>
            <a:prstDash val="solid"/>
          </a:ln>
        </p:spPr>
      </p:sp>
      <p:sp>
        <p:nvSpPr>
          <p:cNvPr id="22" name="Text 20"/>
          <p:cNvSpPr txBox="1"/>
          <p:nvPr/>
        </p:nvSpPr>
        <p:spPr>
          <a:xfrm>
            <a:off x="4937760" y="3922776"/>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Sistema de Evaluación</a:t>
            </a:r>
            <a:endParaRPr lang="en-US" sz="1200" dirty="0"/>
          </a:p>
        </p:txBody>
      </p:sp>
      <p:sp>
        <p:nvSpPr>
          <p:cNvPr id="23" name="Text 21"/>
          <p:cNvSpPr txBox="1"/>
          <p:nvPr/>
        </p:nvSpPr>
        <p:spPr>
          <a:xfrm>
            <a:off x="493776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evaluación del programa corporativo y de proyecto. 5 niveles de madurez con 15 parámetros descriptivos.</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46</a:t>
            </a:r>
            <a:endParaRPr lang="en-US" sz="900" dirty="0"/>
          </a:p>
        </p:txBody>
      </p:sp>
      <p:pic xmlns:p="http://schemas.openxmlformats.org/presentationml/2006/main" xmlns:a="http://schemas.openxmlformats.org/drawingml/2006/main" xmlns:r="http://schemas.openxmlformats.org/officeDocument/2006/relationships">
        <p:nvPicPr>
          <p:cNvPr id="8046" name="SlideIcon8046"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Barreras más Comunes a la Constructabilidad — CII Research</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en entrevistas con 62 empresas. Las barreras existen a nivel corporativo y de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FF453A"/>
            </a:solidFill>
            <a:prstDash val="solid"/>
          </a:ln>
        </p:spPr>
      </p:sp>
      <p:sp>
        <p:nvSpPr>
          <p:cNvPr id="7" name="Shape 5"/>
          <p:cNvSpPr/>
          <p:nvPr/>
        </p:nvSpPr>
        <p:spPr>
          <a:xfrm>
            <a:off x="365760" y="1298448"/>
            <a:ext cx="64008" cy="1143000"/>
          </a:xfrm>
          <a:prstGeom prst="rect">
            <a:avLst/>
          </a:prstGeom>
          <a:solidFill>
            <a:srgbClr val="FF453A"/>
          </a:solidFill>
          <a:ln/>
        </p:spPr>
      </p:sp>
      <p:sp>
        <p:nvSpPr>
          <p:cNvPr id="8" name="Text 6"/>
          <p:cNvSpPr txBox="1"/>
          <p:nvPr/>
        </p:nvSpPr>
        <p:spPr>
          <a:xfrm>
            <a:off x="56692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Compromiso de la Alta Dirección</a:t>
            </a:r>
            <a:endParaRPr lang="en-US" sz="1250" dirty="0"/>
          </a:p>
        </p:txBody>
      </p:sp>
      <p:sp>
        <p:nvSpPr>
          <p:cNvPr id="9" name="Text 7"/>
          <p:cNvSpPr txBox="1"/>
          <p:nvPr/>
        </p:nvSpPr>
        <p:spPr>
          <a:xfrm>
            <a:off x="56692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soporte visible de los líderes, los esfuerzos de constructabilidad son marginales. Es la barrera #1 y su ausencia hace imposible superar las demás.</a:t>
            </a:r>
            <a:endParaRPr lang="en-US" sz="1050" dirty="0"/>
          </a:p>
        </p:txBody>
      </p:sp>
      <p:sp>
        <p:nvSpPr>
          <p:cNvPr id="10" name="Shape 8"/>
          <p:cNvSpPr/>
          <p:nvPr/>
        </p:nvSpPr>
        <p:spPr>
          <a:xfrm>
            <a:off x="4754880" y="1298448"/>
            <a:ext cx="4206240" cy="1143000"/>
          </a:xfrm>
          <a:prstGeom prst="roundRect">
            <a:avLst>
              <a:gd name="adj" fmla="val 8000"/>
            </a:avLst>
          </a:prstGeom>
          <a:solidFill>
            <a:srgbClr val="F4F4F4"/>
          </a:solidFill>
          <a:ln w="12700">
            <a:solidFill>
              <a:srgbClr val="FF9500"/>
            </a:solidFill>
            <a:prstDash val="solid"/>
          </a:ln>
        </p:spPr>
      </p:sp>
      <p:sp>
        <p:nvSpPr>
          <p:cNvPr id="11" name="Shape 9"/>
          <p:cNvSpPr/>
          <p:nvPr/>
        </p:nvSpPr>
        <p:spPr>
          <a:xfrm>
            <a:off x="4754880" y="1298448"/>
            <a:ext cx="64008" cy="1143000"/>
          </a:xfrm>
          <a:prstGeom prst="rect">
            <a:avLst/>
          </a:prstGeom>
          <a:solidFill>
            <a:srgbClr val="FF9500"/>
          </a:solidFill>
          <a:ln/>
        </p:spPr>
      </p:sp>
      <p:sp>
        <p:nvSpPr>
          <p:cNvPr id="12" name="Text 10"/>
          <p:cNvSpPr txBox="1"/>
          <p:nvPr/>
        </p:nvSpPr>
        <p:spPr>
          <a:xfrm>
            <a:off x="495604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Separación Organizacional D&amp;C</a:t>
            </a:r>
            <a:endParaRPr lang="en-US" sz="1250" dirty="0"/>
          </a:p>
        </p:txBody>
      </p:sp>
      <p:sp>
        <p:nvSpPr>
          <p:cNvPr id="13" name="Text 11"/>
          <p:cNvSpPr txBox="1"/>
          <p:nvPr/>
        </p:nvSpPr>
        <p:spPr>
          <a:xfrm>
            <a:off x="495604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Contratos y culturas organizacionales que separan diseñadores de constructores. Comunicación limitada a revisiones formales tardías.</a:t>
            </a:r>
            <a:endParaRPr lang="en-US" sz="1050" dirty="0"/>
          </a:p>
        </p:txBody>
      </p:sp>
      <p:sp>
        <p:nvSpPr>
          <p:cNvPr id="14" name="Shape 12"/>
          <p:cNvSpPr/>
          <p:nvPr/>
        </p:nvSpPr>
        <p:spPr>
          <a:xfrm>
            <a:off x="365760" y="2560320"/>
            <a:ext cx="4206240" cy="1143000"/>
          </a:xfrm>
          <a:prstGeom prst="roundRect">
            <a:avLst>
              <a:gd name="adj" fmla="val 8000"/>
            </a:avLst>
          </a:prstGeom>
          <a:solidFill>
            <a:srgbClr val="F4F4F4"/>
          </a:solidFill>
          <a:ln w="12700">
            <a:solidFill>
              <a:srgbClr val="FFD60A"/>
            </a:solidFill>
            <a:prstDash val="solid"/>
          </a:ln>
        </p:spPr>
      </p:sp>
      <p:sp>
        <p:nvSpPr>
          <p:cNvPr id="15" name="Shape 13"/>
          <p:cNvSpPr/>
          <p:nvPr/>
        </p:nvSpPr>
        <p:spPr>
          <a:xfrm>
            <a:off x="365760" y="2560320"/>
            <a:ext cx="64008" cy="1143000"/>
          </a:xfrm>
          <a:prstGeom prst="rect">
            <a:avLst/>
          </a:prstGeom>
          <a:solidFill>
            <a:srgbClr val="FFD60A"/>
          </a:solidFill>
          <a:ln/>
        </p:spPr>
      </p:sp>
      <p:sp>
        <p:nvSpPr>
          <p:cNvPr id="16" name="Text 14"/>
          <p:cNvSpPr txBox="1"/>
          <p:nvPr/>
        </p:nvSpPr>
        <p:spPr>
          <a:xfrm>
            <a:off x="56692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Percepción de Costo Front-End</a:t>
            </a:r>
            <a:endParaRPr lang="en-US" sz="1250" dirty="0"/>
          </a:p>
        </p:txBody>
      </p:sp>
      <p:sp>
        <p:nvSpPr>
          <p:cNvPr id="17" name="Text 15"/>
          <p:cNvSpPr txBox="1"/>
          <p:nvPr/>
        </p:nvSpPr>
        <p:spPr>
          <a:xfrm>
            <a:off x="56692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cuesta más en la fase temprana." Falso — el retorno promedio es 10:1. El costo es pequeño, el beneficio es grande.</a:t>
            </a:r>
            <a:endParaRPr lang="en-US" sz="1050" dirty="0"/>
          </a:p>
        </p:txBody>
      </p:sp>
      <p:sp>
        <p:nvSpPr>
          <p:cNvPr id="18" name="Shape 16"/>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9" name="Shape 17"/>
          <p:cNvSpPr/>
          <p:nvPr/>
        </p:nvSpPr>
        <p:spPr>
          <a:xfrm>
            <a:off x="4754880" y="2560320"/>
            <a:ext cx="64008" cy="1143000"/>
          </a:xfrm>
          <a:prstGeom prst="rect">
            <a:avLst/>
          </a:prstGeom>
          <a:solidFill>
            <a:srgbClr val="AF52DE"/>
          </a:solidFill>
          <a:ln/>
        </p:spPr>
      </p:sp>
      <p:sp>
        <p:nvSpPr>
          <p:cNvPr id="20" name="Text 18"/>
          <p:cNvSpPr txBox="1"/>
          <p:nvPr/>
        </p:nvSpPr>
        <p:spPr>
          <a:xfrm>
            <a:off x="495604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Personal con Doble Experiencia</a:t>
            </a:r>
            <a:endParaRPr lang="en-US" sz="1250" dirty="0"/>
          </a:p>
        </p:txBody>
      </p:sp>
      <p:sp>
        <p:nvSpPr>
          <p:cNvPr id="21" name="Text 19"/>
          <p:cNvSpPr txBox="1"/>
          <p:nvPr/>
        </p:nvSpPr>
        <p:spPr>
          <a:xfrm>
            <a:off x="495604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Pocas personas tienen experiencia real tanto en diseño/ingeniería como en construcción de campo. Este perfil es crítico para el programa.</a:t>
            </a:r>
            <a:endParaRPr lang="en-US" sz="1050" dirty="0"/>
          </a:p>
        </p:txBody>
      </p:sp>
      <p:sp>
        <p:nvSpPr>
          <p:cNvPr id="22" name="Shape 20"/>
          <p:cNvSpPr/>
          <p:nvPr/>
        </p:nvSpPr>
        <p:spPr>
          <a:xfrm>
            <a:off x="365760" y="3822192"/>
            <a:ext cx="4206240" cy="1143000"/>
          </a:xfrm>
          <a:prstGeom prst="roundRect">
            <a:avLst>
              <a:gd name="adj" fmla="val 8000"/>
            </a:avLst>
          </a:prstGeom>
          <a:solidFill>
            <a:srgbClr val="F4F4F4"/>
          </a:solidFill>
          <a:ln w="12700">
            <a:solidFill>
              <a:srgbClr val="0A84FF"/>
            </a:solidFill>
            <a:prstDash val="solid"/>
          </a:ln>
        </p:spPr>
      </p:sp>
      <p:sp>
        <p:nvSpPr>
          <p:cNvPr id="23" name="Shape 21"/>
          <p:cNvSpPr/>
          <p:nvPr/>
        </p:nvSpPr>
        <p:spPr>
          <a:xfrm>
            <a:off x="365760" y="3822192"/>
            <a:ext cx="64008" cy="1143000"/>
          </a:xfrm>
          <a:prstGeom prst="rect">
            <a:avLst/>
          </a:prstGeom>
          <a:solidFill>
            <a:srgbClr val="0A84FF"/>
          </a:solidFill>
          <a:ln/>
        </p:spPr>
      </p:sp>
      <p:sp>
        <p:nvSpPr>
          <p:cNvPr id="24" name="Text 22"/>
          <p:cNvSpPr txBox="1"/>
          <p:nvPr/>
        </p:nvSpPr>
        <p:spPr>
          <a:xfrm>
            <a:off x="56692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Ausencia de Base de Datos LL</a:t>
            </a:r>
            <a:endParaRPr lang="en-US" sz="1250" dirty="0"/>
          </a:p>
        </p:txBody>
      </p:sp>
      <p:sp>
        <p:nvSpPr>
          <p:cNvPr id="25" name="Text 23"/>
          <p:cNvSpPr txBox="1"/>
          <p:nvPr/>
        </p:nvSpPr>
        <p:spPr>
          <a:xfrm>
            <a:off x="56692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un sistema formal de Lecciones Aprendidas, los mismos errores se repiten en cada proyecto. El conocimiento no se transfiere.</a:t>
            </a:r>
            <a:endParaRPr lang="en-US" sz="1050" dirty="0"/>
          </a:p>
        </p:txBody>
      </p:sp>
      <p:sp>
        <p:nvSpPr>
          <p:cNvPr id="26" name="Shape 24"/>
          <p:cNvSpPr/>
          <p:nvPr/>
        </p:nvSpPr>
        <p:spPr>
          <a:xfrm>
            <a:off x="4754880" y="3822192"/>
            <a:ext cx="4206240" cy="1143000"/>
          </a:xfrm>
          <a:prstGeom prst="roundRect">
            <a:avLst>
              <a:gd name="adj" fmla="val 8000"/>
            </a:avLst>
          </a:prstGeom>
          <a:solidFill>
            <a:srgbClr val="F4F4F4"/>
          </a:solidFill>
          <a:ln w="12700">
            <a:solidFill>
              <a:srgbClr val="30D158"/>
            </a:solidFill>
            <a:prstDash val="solid"/>
          </a:ln>
        </p:spPr>
      </p:sp>
      <p:sp>
        <p:nvSpPr>
          <p:cNvPr id="27" name="Shape 25"/>
          <p:cNvSpPr/>
          <p:nvPr/>
        </p:nvSpPr>
        <p:spPr>
          <a:xfrm>
            <a:off x="4754880" y="3822192"/>
            <a:ext cx="64008" cy="1143000"/>
          </a:xfrm>
          <a:prstGeom prst="rect">
            <a:avLst/>
          </a:prstGeom>
          <a:solidFill>
            <a:srgbClr val="30D158"/>
          </a:solidFill>
          <a:ln/>
        </p:spPr>
      </p:sp>
      <p:sp>
        <p:nvSpPr>
          <p:cNvPr id="28" name="Text 26"/>
          <p:cNvSpPr txBox="1"/>
          <p:nvPr/>
        </p:nvSpPr>
        <p:spPr>
          <a:xfrm>
            <a:off x="495604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Mentalidad "Todos los proyectos son únicos"</a:t>
            </a:r>
            <a:endParaRPr lang="en-US" sz="1250" dirty="0"/>
          </a:p>
        </p:txBody>
      </p:sp>
      <p:sp>
        <p:nvSpPr>
          <p:cNvPr id="29" name="Text 27"/>
          <p:cNvSpPr txBox="1"/>
          <p:nvPr/>
        </p:nvSpPr>
        <p:spPr>
          <a:xfrm>
            <a:off x="495604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Impide estandarizar y aplicar soluciones probadas. Frecuente en ingenieros con alta especialización técnica pero baja visión de campo.</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47</a:t>
            </a:r>
            <a:endParaRPr lang="en-US" sz="900" dirty="0"/>
          </a:p>
        </p:txBody>
      </p:sp>
      <p:pic xmlns:p="http://schemas.openxmlformats.org/presentationml/2006/main" xmlns:a="http://schemas.openxmlformats.org/drawingml/2006/main" xmlns:r="http://schemas.openxmlformats.org/officeDocument/2006/relationships">
        <p:nvPicPr>
          <p:cNvPr id="8047" name="SlideIcon8047"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Rompedores de Barreras — Tool 10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Estrategias específicas para combatir cada barrera identificada (CII Tool 10):</a:t>
            </a:r>
            <a:endParaRPr lang="en-US" sz="1200" dirty="0"/>
          </a:p>
        </p:txBody>
      </p:sp>
      <p:sp>
        <p:nvSpPr>
          <p:cNvPr id="6" name="Shape 4"/>
          <p:cNvSpPr/>
          <p:nvPr/>
        </p:nvSpPr>
        <p:spPr>
          <a:xfrm>
            <a:off x="365760" y="1298448"/>
            <a:ext cx="8412480" cy="548640"/>
          </a:xfrm>
          <a:prstGeom prst="roundRect">
            <a:avLst>
              <a:gd name="adj" fmla="val 16667"/>
            </a:avLst>
          </a:prstGeom>
          <a:solidFill>
            <a:srgbClr val="F4F4F4"/>
          </a:solidFill>
          <a:ln w="12700">
            <a:solidFill>
              <a:srgbClr val="EBEBEB"/>
            </a:solidFill>
            <a:prstDash val="solid"/>
          </a:ln>
        </p:spPr>
      </p:sp>
      <p:sp>
        <p:nvSpPr>
          <p:cNvPr id="7" name="Shape 5"/>
          <p:cNvSpPr/>
          <p:nvPr/>
        </p:nvSpPr>
        <p:spPr>
          <a:xfrm>
            <a:off x="365760" y="1298448"/>
            <a:ext cx="73152" cy="548640"/>
          </a:xfrm>
          <a:prstGeom prst="roundRect">
            <a:avLst>
              <a:gd name="adj" fmla="val 50000"/>
            </a:avLst>
          </a:prstGeom>
          <a:solidFill>
            <a:srgbClr val="FF453A"/>
          </a:solidFill>
          <a:ln/>
        </p:spPr>
      </p:sp>
      <p:sp>
        <p:nvSpPr>
          <p:cNvPr id="8" name="Text 6"/>
          <p:cNvSpPr txBox="1"/>
          <p:nvPr/>
        </p:nvSpPr>
        <p:spPr>
          <a:xfrm>
            <a:off x="566928" y="1371600"/>
            <a:ext cx="2011680" cy="256032"/>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Para falta de compromiso:</a:t>
            </a:r>
            <a:endParaRPr lang="en-US" sz="1100" dirty="0"/>
          </a:p>
        </p:txBody>
      </p:sp>
      <p:sp>
        <p:nvSpPr>
          <p:cNvPr id="9" name="Text 7"/>
          <p:cNvSpPr txBox="1"/>
          <p:nvPr/>
        </p:nvSpPr>
        <p:spPr>
          <a:xfrm>
            <a:off x="2651760" y="137160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Presentar casos de estudio CII con datos específicos del sector. Cuantificar el costo de NO tener constructabilidad en proyectos recientes.</a:t>
            </a:r>
            <a:endParaRPr lang="en-US" sz="1100" dirty="0"/>
          </a:p>
        </p:txBody>
      </p:sp>
      <p:sp>
        <p:nvSpPr>
          <p:cNvPr id="10" name="Shape 8"/>
          <p:cNvSpPr/>
          <p:nvPr/>
        </p:nvSpPr>
        <p:spPr>
          <a:xfrm>
            <a:off x="365760" y="1920240"/>
            <a:ext cx="8412480" cy="548640"/>
          </a:xfrm>
          <a:prstGeom prst="roundRect">
            <a:avLst>
              <a:gd name="adj" fmla="val 16667"/>
            </a:avLst>
          </a:prstGeom>
          <a:solidFill>
            <a:srgbClr val="F4F4F4"/>
          </a:solidFill>
          <a:ln w="12700">
            <a:solidFill>
              <a:srgbClr val="EBEBEB"/>
            </a:solidFill>
            <a:prstDash val="solid"/>
          </a:ln>
        </p:spPr>
      </p:sp>
      <p:sp>
        <p:nvSpPr>
          <p:cNvPr id="11" name="Shape 9"/>
          <p:cNvSpPr/>
          <p:nvPr/>
        </p:nvSpPr>
        <p:spPr>
          <a:xfrm>
            <a:off x="365760" y="1920240"/>
            <a:ext cx="73152" cy="548640"/>
          </a:xfrm>
          <a:prstGeom prst="roundRect">
            <a:avLst>
              <a:gd name="adj" fmla="val 50000"/>
            </a:avLst>
          </a:prstGeom>
          <a:solidFill>
            <a:srgbClr val="FF9500"/>
          </a:solidFill>
          <a:ln/>
        </p:spPr>
      </p:sp>
      <p:sp>
        <p:nvSpPr>
          <p:cNvPr id="12" name="Text 10"/>
          <p:cNvSpPr txBox="1"/>
          <p:nvPr/>
        </p:nvSpPr>
        <p:spPr>
          <a:xfrm>
            <a:off x="566928" y="1993392"/>
            <a:ext cx="2011680" cy="256032"/>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Para separación organizacional:</a:t>
            </a:r>
            <a:endParaRPr lang="en-US" sz="1100" dirty="0"/>
          </a:p>
        </p:txBody>
      </p:sp>
      <p:sp>
        <p:nvSpPr>
          <p:cNvPr id="13" name="Text 11"/>
          <p:cNvSpPr txBox="1"/>
          <p:nvPr/>
        </p:nvSpPr>
        <p:spPr>
          <a:xfrm>
            <a:off x="2651760" y="1993392"/>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Contratos que incentiven la colaboración temprana (gain-sharing, alianzas). Workshops conjuntos de planificación con E+P+C desde el inicio.</a:t>
            </a:r>
            <a:endParaRPr lang="en-US" sz="1100" dirty="0"/>
          </a:p>
        </p:txBody>
      </p:sp>
      <p:sp>
        <p:nvSpPr>
          <p:cNvPr id="14" name="Shape 12"/>
          <p:cNvSpPr/>
          <p:nvPr/>
        </p:nvSpPr>
        <p:spPr>
          <a:xfrm>
            <a:off x="365760" y="2542032"/>
            <a:ext cx="8412480" cy="548640"/>
          </a:xfrm>
          <a:prstGeom prst="roundRect">
            <a:avLst>
              <a:gd name="adj" fmla="val 16667"/>
            </a:avLst>
          </a:prstGeom>
          <a:solidFill>
            <a:srgbClr val="F4F4F4"/>
          </a:solidFill>
          <a:ln w="12700">
            <a:solidFill>
              <a:srgbClr val="EBEBEB"/>
            </a:solidFill>
            <a:prstDash val="solid"/>
          </a:ln>
        </p:spPr>
      </p:sp>
      <p:sp>
        <p:nvSpPr>
          <p:cNvPr id="15" name="Shape 13"/>
          <p:cNvSpPr/>
          <p:nvPr/>
        </p:nvSpPr>
        <p:spPr>
          <a:xfrm>
            <a:off x="365760" y="2542032"/>
            <a:ext cx="73152" cy="548640"/>
          </a:xfrm>
          <a:prstGeom prst="roundRect">
            <a:avLst>
              <a:gd name="adj" fmla="val 50000"/>
            </a:avLst>
          </a:prstGeom>
          <a:solidFill>
            <a:srgbClr val="FFD60A"/>
          </a:solidFill>
          <a:ln/>
        </p:spPr>
      </p:sp>
      <p:sp>
        <p:nvSpPr>
          <p:cNvPr id="16" name="Text 14"/>
          <p:cNvSpPr txBox="1"/>
          <p:nvPr/>
        </p:nvSpPr>
        <p:spPr>
          <a:xfrm>
            <a:off x="566928" y="2615184"/>
            <a:ext cx="2011680" cy="256032"/>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Para percepción de costo:</a:t>
            </a:r>
            <a:endParaRPr lang="en-US" sz="1100" dirty="0"/>
          </a:p>
        </p:txBody>
      </p:sp>
      <p:sp>
        <p:nvSpPr>
          <p:cNvPr id="17" name="Text 15"/>
          <p:cNvSpPr txBox="1"/>
          <p:nvPr/>
        </p:nvSpPr>
        <p:spPr>
          <a:xfrm>
            <a:off x="2651760" y="2615184"/>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Calcular el ROI potencial del programa usando los factores CII (10:1). Presentar business case claro con datos del proyecto específico.</a:t>
            </a:r>
            <a:endParaRPr lang="en-US" sz="1100" dirty="0"/>
          </a:p>
        </p:txBody>
      </p:sp>
      <p:sp>
        <p:nvSpPr>
          <p:cNvPr id="18" name="Shape 16"/>
          <p:cNvSpPr/>
          <p:nvPr/>
        </p:nvSpPr>
        <p:spPr>
          <a:xfrm>
            <a:off x="365760" y="3163824"/>
            <a:ext cx="8412480" cy="548640"/>
          </a:xfrm>
          <a:prstGeom prst="roundRect">
            <a:avLst>
              <a:gd name="adj" fmla="val 16667"/>
            </a:avLst>
          </a:prstGeom>
          <a:solidFill>
            <a:srgbClr val="F4F4F4"/>
          </a:solidFill>
          <a:ln w="12700">
            <a:solidFill>
              <a:srgbClr val="EBEBEB"/>
            </a:solidFill>
            <a:prstDash val="solid"/>
          </a:ln>
        </p:spPr>
      </p:sp>
      <p:sp>
        <p:nvSpPr>
          <p:cNvPr id="19" name="Shape 17"/>
          <p:cNvSpPr/>
          <p:nvPr/>
        </p:nvSpPr>
        <p:spPr>
          <a:xfrm>
            <a:off x="365760" y="3163824"/>
            <a:ext cx="73152" cy="548640"/>
          </a:xfrm>
          <a:prstGeom prst="roundRect">
            <a:avLst>
              <a:gd name="adj" fmla="val 50000"/>
            </a:avLst>
          </a:prstGeom>
          <a:solidFill>
            <a:srgbClr val="AF52DE"/>
          </a:solidFill>
          <a:ln/>
        </p:spPr>
      </p:sp>
      <p:sp>
        <p:nvSpPr>
          <p:cNvPr id="20" name="Text 18"/>
          <p:cNvSpPr txBox="1"/>
          <p:nvPr/>
        </p:nvSpPr>
        <p:spPr>
          <a:xfrm>
            <a:off x="566928" y="3236976"/>
            <a:ext cx="2011680" cy="256032"/>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Para falta de personal:</a:t>
            </a:r>
            <a:endParaRPr lang="en-US" sz="1100" dirty="0"/>
          </a:p>
        </p:txBody>
      </p:sp>
      <p:sp>
        <p:nvSpPr>
          <p:cNvPr id="21" name="Text 19"/>
          <p:cNvSpPr txBox="1"/>
          <p:nvPr/>
        </p:nvSpPr>
        <p:spPr>
          <a:xfrm>
            <a:off x="2651760" y="3236976"/>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Contratar Gerente de Constructabilidad con perfil híbrido E+C. Implementar programa de rotación de ingenieros por campo.</a:t>
            </a:r>
            <a:endParaRPr lang="en-US" sz="1100" dirty="0"/>
          </a:p>
        </p:txBody>
      </p:sp>
      <p:sp>
        <p:nvSpPr>
          <p:cNvPr id="22" name="Shape 20"/>
          <p:cNvSpPr/>
          <p:nvPr/>
        </p:nvSpPr>
        <p:spPr>
          <a:xfrm>
            <a:off x="365760" y="3785616"/>
            <a:ext cx="8412480" cy="548640"/>
          </a:xfrm>
          <a:prstGeom prst="roundRect">
            <a:avLst>
              <a:gd name="adj" fmla="val 16667"/>
            </a:avLst>
          </a:prstGeom>
          <a:solidFill>
            <a:srgbClr val="F4F4F4"/>
          </a:solidFill>
          <a:ln w="12700">
            <a:solidFill>
              <a:srgbClr val="EBEBEB"/>
            </a:solidFill>
            <a:prstDash val="solid"/>
          </a:ln>
        </p:spPr>
      </p:sp>
      <p:sp>
        <p:nvSpPr>
          <p:cNvPr id="23" name="Shape 21"/>
          <p:cNvSpPr/>
          <p:nvPr/>
        </p:nvSpPr>
        <p:spPr>
          <a:xfrm>
            <a:off x="365760" y="3785616"/>
            <a:ext cx="73152" cy="548640"/>
          </a:xfrm>
          <a:prstGeom prst="roundRect">
            <a:avLst>
              <a:gd name="adj" fmla="val 50000"/>
            </a:avLst>
          </a:prstGeom>
          <a:solidFill>
            <a:srgbClr val="0A84FF"/>
          </a:solidFill>
          <a:ln/>
        </p:spPr>
      </p:sp>
      <p:sp>
        <p:nvSpPr>
          <p:cNvPr id="24" name="Text 22"/>
          <p:cNvSpPr txBox="1"/>
          <p:nvPr/>
        </p:nvSpPr>
        <p:spPr>
          <a:xfrm>
            <a:off x="566928" y="3858768"/>
            <a:ext cx="2011680" cy="256032"/>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Para ausencia de LL DB:</a:t>
            </a:r>
            <a:endParaRPr lang="en-US" sz="1100" dirty="0"/>
          </a:p>
        </p:txBody>
      </p:sp>
      <p:sp>
        <p:nvSpPr>
          <p:cNvPr id="25" name="Text 23"/>
          <p:cNvSpPr txBox="1"/>
          <p:nvPr/>
        </p:nvSpPr>
        <p:spPr>
          <a:xfrm>
            <a:off x="2651760" y="3858768"/>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Establecer un sistema simple de captura de lecciones aprendidas desde el primer proyecto. No esperar el sistema perfecto.</a:t>
            </a:r>
            <a:endParaRPr lang="en-US" sz="1100" dirty="0"/>
          </a:p>
        </p:txBody>
      </p:sp>
      <p:sp>
        <p:nvSpPr>
          <p:cNvPr id="26" name="Shape 24"/>
          <p:cNvSpPr/>
          <p:nvPr/>
        </p:nvSpPr>
        <p:spPr>
          <a:xfrm>
            <a:off x="365760" y="4407408"/>
            <a:ext cx="8412480" cy="548640"/>
          </a:xfrm>
          <a:prstGeom prst="roundRect">
            <a:avLst>
              <a:gd name="adj" fmla="val 16667"/>
            </a:avLst>
          </a:prstGeom>
          <a:solidFill>
            <a:srgbClr val="F4F4F4"/>
          </a:solidFill>
          <a:ln w="12700">
            <a:solidFill>
              <a:srgbClr val="EBEBEB"/>
            </a:solidFill>
            <a:prstDash val="solid"/>
          </a:ln>
        </p:spPr>
      </p:sp>
      <p:sp>
        <p:nvSpPr>
          <p:cNvPr id="27" name="Shape 25"/>
          <p:cNvSpPr/>
          <p:nvPr/>
        </p:nvSpPr>
        <p:spPr>
          <a:xfrm>
            <a:off x="365760" y="4407408"/>
            <a:ext cx="73152" cy="548640"/>
          </a:xfrm>
          <a:prstGeom prst="roundRect">
            <a:avLst>
              <a:gd name="adj" fmla="val 50000"/>
            </a:avLst>
          </a:prstGeom>
          <a:solidFill>
            <a:srgbClr val="30D158"/>
          </a:solidFill>
          <a:ln/>
        </p:spPr>
      </p:sp>
      <p:sp>
        <p:nvSpPr>
          <p:cNvPr id="28" name="Text 26"/>
          <p:cNvSpPr txBox="1"/>
          <p:nvPr/>
        </p:nvSpPr>
        <p:spPr>
          <a:xfrm>
            <a:off x="566928" y="4480560"/>
            <a:ext cx="2011680" cy="256032"/>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Para mentalidad de unicidad:</a:t>
            </a:r>
            <a:endParaRPr lang="en-US" sz="1100" dirty="0"/>
          </a:p>
        </p:txBody>
      </p:sp>
      <p:sp>
        <p:nvSpPr>
          <p:cNvPr id="29" name="Text 27"/>
          <p:cNvSpPr txBox="1"/>
          <p:nvPr/>
        </p:nvSpPr>
        <p:spPr>
          <a:xfrm>
            <a:off x="2651760" y="448056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Identificar y documentar los elementos COMUNES entre proyectos. Enfocarse primero en estandarizar esos elementos específicos.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48</a:t>
            </a:r>
            <a:endParaRPr lang="en-US" sz="900" dirty="0"/>
          </a:p>
        </p:txBody>
      </p:sp>
      <p:pic xmlns:p="http://schemas.openxmlformats.org/presentationml/2006/main" xmlns:a="http://schemas.openxmlformats.org/drawingml/2006/main" xmlns:r="http://schemas.openxmlformats.org/officeDocument/2006/relationships">
        <p:nvPicPr>
          <p:cNvPr id="8048" name="SlideIcon8048"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Estructura Organizacional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estructura debe existir tanto a nivel corporativo como a nivel de proyecto:</a:t>
            </a:r>
            <a:endParaRPr lang="en-US" sz="1200" dirty="0"/>
          </a:p>
        </p:txBody>
      </p:sp>
      <p:sp>
        <p:nvSpPr>
          <p:cNvPr id="6" name="Shape 4"/>
          <p:cNvSpPr/>
          <p:nvPr/>
        </p:nvSpPr>
        <p:spPr>
          <a:xfrm>
            <a:off x="3200400" y="1298448"/>
            <a:ext cx="2743200" cy="640080"/>
          </a:xfrm>
          <a:prstGeom prst="roundRect">
            <a:avLst>
              <a:gd name="adj" fmla="val 14286"/>
            </a:avLst>
          </a:prstGeom>
          <a:solidFill>
            <a:srgbClr val="0A84FF"/>
          </a:solidFill>
          <a:ln/>
        </p:spPr>
      </p:sp>
      <p:sp>
        <p:nvSpPr>
          <p:cNvPr id="7" name="Text 5"/>
          <p:cNvSpPr txBox="1"/>
          <p:nvPr/>
        </p:nvSpPr>
        <p:spPr>
          <a:xfrm>
            <a:off x="3200400" y="1298448"/>
            <a:ext cx="27432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Dirección / Alta Gerencia</a:t>
            </a:r>
            <a:endParaRPr lang="en-US" sz="1300" dirty="0"/>
          </a:p>
        </p:txBody>
      </p:sp>
      <p:sp>
        <p:nvSpPr>
          <p:cNvPr id="8" name="Shape 6"/>
          <p:cNvSpPr/>
          <p:nvPr/>
        </p:nvSpPr>
        <p:spPr>
          <a:xfrm>
            <a:off x="4553712" y="1938528"/>
            <a:ext cx="36576" cy="365760"/>
          </a:xfrm>
          <a:prstGeom prst="rect">
            <a:avLst/>
          </a:prstGeom>
          <a:solidFill>
            <a:srgbClr val="EBEBEB"/>
          </a:solidFill>
          <a:ln/>
        </p:spPr>
      </p:sp>
      <p:sp>
        <p:nvSpPr>
          <p:cNvPr id="9" name="Shape 7"/>
          <p:cNvSpPr/>
          <p:nvPr/>
        </p:nvSpPr>
        <p:spPr>
          <a:xfrm>
            <a:off x="2926080" y="2304288"/>
            <a:ext cx="3291840" cy="640080"/>
          </a:xfrm>
          <a:prstGeom prst="roundRect">
            <a:avLst>
              <a:gd name="adj" fmla="val 14286"/>
            </a:avLst>
          </a:prstGeom>
          <a:solidFill>
            <a:srgbClr val="30D158"/>
          </a:solidFill>
          <a:ln/>
        </p:spPr>
      </p:sp>
      <p:sp>
        <p:nvSpPr>
          <p:cNvPr id="10" name="Text 8"/>
          <p:cNvSpPr txBox="1"/>
          <p:nvPr/>
        </p:nvSpPr>
        <p:spPr>
          <a:xfrm>
            <a:off x="2926080" y="2304288"/>
            <a:ext cx="3291840" cy="6400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Gerente Corporativo</a:t>
            </a:r>
            <a:endParaRPr lang="en-US" sz="1200" dirty="0"/>
          </a:p>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de Constructabilidad</a:t>
            </a:r>
            <a:endParaRPr lang="en-US" sz="1200" dirty="0"/>
          </a:p>
        </p:txBody>
      </p:sp>
      <p:sp>
        <p:nvSpPr>
          <p:cNvPr id="11" name="Text 9"/>
          <p:cNvSpPr txBox="1"/>
          <p:nvPr/>
        </p:nvSpPr>
        <p:spPr>
          <a:xfrm>
            <a:off x="365760" y="1371600"/>
            <a:ext cx="228600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CORPORATIVO</a:t>
            </a:r>
            <a:endParaRPr lang="en-US" sz="1300" dirty="0"/>
          </a:p>
        </p:txBody>
      </p:sp>
      <p:sp>
        <p:nvSpPr>
          <p:cNvPr id="12" name="Shape 10"/>
          <p:cNvSpPr/>
          <p:nvPr/>
        </p:nvSpPr>
        <p:spPr>
          <a:xfrm>
            <a:off x="4553712" y="2944368"/>
            <a:ext cx="36576" cy="365760"/>
          </a:xfrm>
          <a:prstGeom prst="rect">
            <a:avLst/>
          </a:prstGeom>
          <a:solidFill>
            <a:srgbClr val="EBEBEB"/>
          </a:solidFill>
          <a:ln/>
        </p:spPr>
      </p:sp>
      <p:sp>
        <p:nvSpPr>
          <p:cNvPr id="13" name="Shape 11"/>
          <p:cNvSpPr/>
          <p:nvPr/>
        </p:nvSpPr>
        <p:spPr>
          <a:xfrm>
            <a:off x="365760" y="3310128"/>
            <a:ext cx="8412480" cy="36576"/>
          </a:xfrm>
          <a:prstGeom prst="rect">
            <a:avLst/>
          </a:prstGeom>
          <a:solidFill>
            <a:srgbClr val="EBEBEB"/>
          </a:solidFill>
          <a:ln/>
        </p:spPr>
      </p:sp>
      <p:sp>
        <p:nvSpPr>
          <p:cNvPr id="14" name="Text 12"/>
          <p:cNvSpPr txBox="1"/>
          <p:nvPr/>
        </p:nvSpPr>
        <p:spPr>
          <a:xfrm>
            <a:off x="365760" y="3364992"/>
            <a:ext cx="2286000" cy="36576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DE PROYECTO</a:t>
            </a:r>
            <a:endParaRPr lang="en-US" sz="1300" dirty="0"/>
          </a:p>
        </p:txBody>
      </p:sp>
      <p:sp>
        <p:nvSpPr>
          <p:cNvPr id="15" name="Shape 13"/>
          <p:cNvSpPr/>
          <p:nvPr/>
        </p:nvSpPr>
        <p:spPr>
          <a:xfrm>
            <a:off x="365760" y="3767328"/>
            <a:ext cx="2011680" cy="841248"/>
          </a:xfrm>
          <a:prstGeom prst="roundRect">
            <a:avLst>
              <a:gd name="adj" fmla="val 10870"/>
            </a:avLst>
          </a:prstGeom>
          <a:solidFill>
            <a:srgbClr val="F4F4F4"/>
          </a:solidFill>
          <a:ln w="12700">
            <a:solidFill>
              <a:srgbClr val="FF9500"/>
            </a:solidFill>
            <a:prstDash val="solid"/>
          </a:ln>
        </p:spPr>
      </p:sp>
      <p:sp>
        <p:nvSpPr>
          <p:cNvPr id="16" name="Text 14"/>
          <p:cNvSpPr txBox="1"/>
          <p:nvPr/>
        </p:nvSpPr>
        <p:spPr>
          <a:xfrm>
            <a:off x="45720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Director de Proyecto</a:t>
            </a:r>
            <a:endParaRPr lang="en-US" sz="1100" dirty="0"/>
          </a:p>
        </p:txBody>
      </p:sp>
      <p:sp>
        <p:nvSpPr>
          <p:cNvPr id="17" name="Shape 15"/>
          <p:cNvSpPr/>
          <p:nvPr/>
        </p:nvSpPr>
        <p:spPr>
          <a:xfrm>
            <a:off x="2514600" y="3767328"/>
            <a:ext cx="2011680" cy="841248"/>
          </a:xfrm>
          <a:prstGeom prst="roundRect">
            <a:avLst>
              <a:gd name="adj" fmla="val 10870"/>
            </a:avLst>
          </a:prstGeom>
          <a:solidFill>
            <a:srgbClr val="F4F4F4"/>
          </a:solidFill>
          <a:ln w="12700">
            <a:solidFill>
              <a:srgbClr val="FF9500"/>
            </a:solidFill>
            <a:prstDash val="solid"/>
          </a:ln>
        </p:spPr>
      </p:sp>
      <p:sp>
        <p:nvSpPr>
          <p:cNvPr id="18" name="Text 16"/>
          <p:cNvSpPr txBox="1"/>
          <p:nvPr/>
        </p:nvSpPr>
        <p:spPr>
          <a:xfrm>
            <a:off x="260604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100" dirty="0"/>
          </a:p>
        </p:txBody>
      </p:sp>
      <p:sp>
        <p:nvSpPr>
          <p:cNvPr id="19" name="Shape 17"/>
          <p:cNvSpPr/>
          <p:nvPr/>
        </p:nvSpPr>
        <p:spPr>
          <a:xfrm>
            <a:off x="4663440" y="3767328"/>
            <a:ext cx="2011680" cy="841248"/>
          </a:xfrm>
          <a:prstGeom prst="roundRect">
            <a:avLst>
              <a:gd name="adj" fmla="val 10870"/>
            </a:avLst>
          </a:prstGeom>
          <a:solidFill>
            <a:srgbClr val="F4F4F4"/>
          </a:solidFill>
          <a:ln w="12700">
            <a:solidFill>
              <a:srgbClr val="FFD60A"/>
            </a:solidFill>
            <a:prstDash val="solid"/>
          </a:ln>
        </p:spPr>
      </p:sp>
      <p:sp>
        <p:nvSpPr>
          <p:cNvPr id="20" name="Text 18"/>
          <p:cNvSpPr txBox="1"/>
          <p:nvPr/>
        </p:nvSpPr>
        <p:spPr>
          <a:xfrm>
            <a:off x="4754880" y="3822192"/>
            <a:ext cx="1828800" cy="731520"/>
          </a:xfrm>
          <a:prstGeom prst="rect">
            <a:avLst/>
          </a:prstGeom>
          <a:noFill/>
          <a:ln/>
        </p:spPr>
        <p:txBody>
          <a:bodyPr wrap="square" lIns="0" tIns="0" rIns="0" bIns="0" rtlCol="0" anchor="ctr"/>
          <a:lstStyle/>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Campeones por Especialidad</a:t>
            </a:r>
            <a:endParaRPr lang="en-US" sz="1100" dirty="0"/>
          </a:p>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(Estructuras, Mec., Elec., Civil)</a:t>
            </a:r>
            <a:endParaRPr lang="en-US" sz="1100" dirty="0"/>
          </a:p>
        </p:txBody>
      </p:sp>
      <p:sp>
        <p:nvSpPr>
          <p:cNvPr id="21" name="Shape 19"/>
          <p:cNvSpPr/>
          <p:nvPr/>
        </p:nvSpPr>
        <p:spPr>
          <a:xfrm>
            <a:off x="6812280" y="3767328"/>
            <a:ext cx="2011680" cy="841248"/>
          </a:xfrm>
          <a:prstGeom prst="roundRect">
            <a:avLst>
              <a:gd name="adj" fmla="val 10870"/>
            </a:avLst>
          </a:prstGeom>
          <a:solidFill>
            <a:srgbClr val="F4F4F4"/>
          </a:solidFill>
          <a:ln w="12700">
            <a:solidFill>
              <a:srgbClr val="55577A"/>
            </a:solidFill>
            <a:prstDash val="solid"/>
          </a:ln>
        </p:spPr>
      </p:sp>
      <p:sp>
        <p:nvSpPr>
          <p:cNvPr id="22" name="Text 20"/>
          <p:cNvSpPr txBox="1"/>
          <p:nvPr/>
        </p:nvSpPr>
        <p:spPr>
          <a:xfrm>
            <a:off x="6903720" y="3822192"/>
            <a:ext cx="1828800" cy="7315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Equipo de Campo (Superintendentes,</a:t>
            </a:r>
            <a:endParaRPr lang="en-US" sz="1100" dirty="0"/>
          </a:p>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Capataces, Subcontratistas)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49</a:t>
            </a:r>
            <a:endParaRPr lang="en-US" sz="900" dirty="0"/>
          </a:p>
        </p:txBody>
      </p:sp>
      <p:pic xmlns:p="http://schemas.openxmlformats.org/presentationml/2006/main" xmlns:a="http://schemas.openxmlformats.org/drawingml/2006/main" xmlns:r="http://schemas.openxmlformats.org/officeDocument/2006/relationships">
        <p:nvPicPr>
          <p:cNvPr id="8049" name="SlideIcon8049"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3: Obtener Capacidades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proyecto requiere capacidades específicas para ejecutar el programa de constructabilidad:</a:t>
            </a:r>
            <a:endParaRPr lang="en-US" sz="1200" dirty="0"/>
          </a:p>
        </p:txBody>
      </p:sp>
      <p:sp>
        <p:nvSpPr>
          <p:cNvPr id="6" name="Shape 4"/>
          <p:cNvSpPr/>
          <p:nvPr/>
        </p:nvSpPr>
        <p:spPr>
          <a:xfrm>
            <a:off x="365760" y="1298448"/>
            <a:ext cx="8412480" cy="804672"/>
          </a:xfrm>
          <a:prstGeom prst="roundRect">
            <a:avLst>
              <a:gd name="adj" fmla="val 11364"/>
            </a:avLst>
          </a:prstGeom>
          <a:solidFill>
            <a:srgbClr val="F4F4F4"/>
          </a:solidFill>
          <a:ln w="12700">
            <a:solidFill>
              <a:srgbClr val="EBEBEB"/>
            </a:solidFill>
            <a:prstDash val="solid"/>
          </a:ln>
        </p:spPr>
      </p:sp>
      <p:sp>
        <p:nvSpPr>
          <p:cNvPr id="7" name="Shape 5"/>
          <p:cNvSpPr/>
          <p:nvPr/>
        </p:nvSpPr>
        <p:spPr>
          <a:xfrm>
            <a:off x="457200" y="1389888"/>
            <a:ext cx="457200" cy="457200"/>
          </a:xfrm>
          <a:prstGeom prst="ellipse">
            <a:avLst/>
          </a:prstGeom>
          <a:solidFill>
            <a:srgbClr val="FF9500"/>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51560" y="1371600"/>
            <a:ext cx="7543800" cy="310896"/>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300" dirty="0"/>
          </a:p>
        </p:txBody>
      </p:sp>
      <p:sp>
        <p:nvSpPr>
          <p:cNvPr id="10" name="Text 8"/>
          <p:cNvSpPr txBox="1"/>
          <p:nvPr/>
        </p:nvSpPr>
        <p:spPr>
          <a:xfrm>
            <a:off x="1051560" y="16824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Perfil: experiencia combinada en ingeniería Y construcción. Debe conocer tanto el proceso de diseño como las operaciones de campo. Típicamente ex-director de obra con base de ingeniería.</a:t>
            </a:r>
            <a:endParaRPr lang="en-US" sz="1100" dirty="0"/>
          </a:p>
        </p:txBody>
      </p:sp>
      <p:sp>
        <p:nvSpPr>
          <p:cNvPr id="11" name="Shape 9"/>
          <p:cNvSpPr/>
          <p:nvPr/>
        </p:nvSpPr>
        <p:spPr>
          <a:xfrm>
            <a:off x="365760" y="2212848"/>
            <a:ext cx="8412480" cy="804672"/>
          </a:xfrm>
          <a:prstGeom prst="roundRect">
            <a:avLst>
              <a:gd name="adj" fmla="val 11364"/>
            </a:avLst>
          </a:prstGeom>
          <a:solidFill>
            <a:srgbClr val="F4F4F4"/>
          </a:solidFill>
          <a:ln w="12700">
            <a:solidFill>
              <a:srgbClr val="EBEBEB"/>
            </a:solidFill>
            <a:prstDash val="solid"/>
          </a:ln>
        </p:spPr>
      </p:sp>
      <p:sp>
        <p:nvSpPr>
          <p:cNvPr id="12" name="Shape 10"/>
          <p:cNvSpPr/>
          <p:nvPr/>
        </p:nvSpPr>
        <p:spPr>
          <a:xfrm>
            <a:off x="457200" y="2304288"/>
            <a:ext cx="457200" cy="457200"/>
          </a:xfrm>
          <a:prstGeom prst="ellipse">
            <a:avLst/>
          </a:prstGeom>
          <a:solidFill>
            <a:srgbClr val="0A84FF"/>
          </a:solidFill>
          <a:ln/>
        </p:spPr>
      </p:sp>
      <p:sp>
        <p:nvSpPr>
          <p:cNvPr id="13" name="Text 11"/>
          <p:cNvSpPr txBox="1"/>
          <p:nvPr/>
        </p:nvSpPr>
        <p:spPr>
          <a:xfrm>
            <a:off x="457200" y="23042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51560" y="2286000"/>
            <a:ext cx="7543800" cy="310896"/>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Personal de Diseño con Sensibilidad de Campo</a:t>
            </a:r>
            <a:endParaRPr lang="en-US" sz="1300" dirty="0"/>
          </a:p>
        </p:txBody>
      </p:sp>
      <p:sp>
        <p:nvSpPr>
          <p:cNvPr id="15" name="Text 13"/>
          <p:cNvSpPr txBox="1"/>
          <p:nvPr/>
        </p:nvSpPr>
        <p:spPr>
          <a:xfrm>
            <a:off x="1051560" y="25968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Ingenieros de diseño que han pasado tiempo en obra. Entienden las consecuencias de sus decisiones de diseño en la ejecución real.</a:t>
            </a:r>
            <a:endParaRPr lang="en-US" sz="1100" dirty="0"/>
          </a:p>
        </p:txBody>
      </p:sp>
      <p:sp>
        <p:nvSpPr>
          <p:cNvPr id="16" name="Shape 14"/>
          <p:cNvSpPr/>
          <p:nvPr/>
        </p:nvSpPr>
        <p:spPr>
          <a:xfrm>
            <a:off x="365760" y="3127248"/>
            <a:ext cx="8412480" cy="804672"/>
          </a:xfrm>
          <a:prstGeom prst="roundRect">
            <a:avLst>
              <a:gd name="adj" fmla="val 11364"/>
            </a:avLst>
          </a:prstGeom>
          <a:solidFill>
            <a:srgbClr val="F4F4F4"/>
          </a:solidFill>
          <a:ln w="12700">
            <a:solidFill>
              <a:srgbClr val="EBEBEB"/>
            </a:solidFill>
            <a:prstDash val="solid"/>
          </a:ln>
        </p:spPr>
      </p:sp>
      <p:sp>
        <p:nvSpPr>
          <p:cNvPr id="17" name="Shape 15"/>
          <p:cNvSpPr/>
          <p:nvPr/>
        </p:nvSpPr>
        <p:spPr>
          <a:xfrm>
            <a:off x="457200" y="3218688"/>
            <a:ext cx="457200" cy="457200"/>
          </a:xfrm>
          <a:prstGeom prst="ellipse">
            <a:avLst/>
          </a:prstGeom>
          <a:solidFill>
            <a:srgbClr val="30D158"/>
          </a:solidFill>
          <a:ln/>
        </p:spPr>
      </p:sp>
      <p:sp>
        <p:nvSpPr>
          <p:cNvPr id="18" name="Text 16"/>
          <p:cNvSpPr txBox="1"/>
          <p:nvPr/>
        </p:nvSpPr>
        <p:spPr>
          <a:xfrm>
            <a:off x="457200" y="32186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51560" y="3200400"/>
            <a:ext cx="7543800" cy="310896"/>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Campeones de Constructabilidad</a:t>
            </a:r>
            <a:endParaRPr lang="en-US" sz="1300" dirty="0"/>
          </a:p>
        </p:txBody>
      </p:sp>
      <p:sp>
        <p:nvSpPr>
          <p:cNvPr id="20" name="Text 18"/>
          <p:cNvSpPr txBox="1"/>
          <p:nvPr/>
        </p:nvSpPr>
        <p:spPr>
          <a:xfrm>
            <a:off x="1051560" y="35112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 campeón por especialidad técnica (estructuras, mecánica, eléctrica, civil). Responsables de capturar y propagar buenas prácticas.</a:t>
            </a:r>
            <a:endParaRPr lang="en-US" sz="1100" dirty="0"/>
          </a:p>
        </p:txBody>
      </p:sp>
      <p:sp>
        <p:nvSpPr>
          <p:cNvPr id="21" name="Shape 19"/>
          <p:cNvSpPr/>
          <p:nvPr/>
        </p:nvSpPr>
        <p:spPr>
          <a:xfrm>
            <a:off x="365760" y="4041648"/>
            <a:ext cx="8412480" cy="804672"/>
          </a:xfrm>
          <a:prstGeom prst="roundRect">
            <a:avLst>
              <a:gd name="adj" fmla="val 11364"/>
            </a:avLst>
          </a:prstGeom>
          <a:solidFill>
            <a:srgbClr val="F4F4F4"/>
          </a:solidFill>
          <a:ln w="12700">
            <a:solidFill>
              <a:srgbClr val="EBEBEB"/>
            </a:solidFill>
            <a:prstDash val="solid"/>
          </a:ln>
        </p:spPr>
      </p:sp>
      <p:sp>
        <p:nvSpPr>
          <p:cNvPr id="22" name="Shape 20"/>
          <p:cNvSpPr/>
          <p:nvPr/>
        </p:nvSpPr>
        <p:spPr>
          <a:xfrm>
            <a:off x="457200" y="4133088"/>
            <a:ext cx="457200" cy="457200"/>
          </a:xfrm>
          <a:prstGeom prst="ellipse">
            <a:avLst/>
          </a:prstGeom>
          <a:solidFill>
            <a:srgbClr val="AF52DE"/>
          </a:solidFill>
          <a:ln/>
        </p:spPr>
      </p:sp>
      <p:sp>
        <p:nvSpPr>
          <p:cNvPr id="23" name="Text 21"/>
          <p:cNvSpPr txBox="1"/>
          <p:nvPr/>
        </p:nvSpPr>
        <p:spPr>
          <a:xfrm>
            <a:off x="457200" y="41330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51560" y="4114800"/>
            <a:ext cx="7543800" cy="310896"/>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Constructores Participando Temprano</a:t>
            </a:r>
            <a:endParaRPr lang="en-US" sz="1300" dirty="0"/>
          </a:p>
        </p:txBody>
      </p:sp>
      <p:sp>
        <p:nvSpPr>
          <p:cNvPr id="25" name="Text 23"/>
          <p:cNvSpPr txBox="1"/>
          <p:nvPr/>
        </p:nvSpPr>
        <p:spPr>
          <a:xfrm>
            <a:off x="1051560" y="44256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Personal de campo involucrado desde la fase de diseño. No solo disponibles — deben ser experimentados y comprometidos.</a:t>
            </a:r>
            <a:endParaRPr lang="en-US" sz="1100" dirty="0"/>
          </a:p>
        </p:txBody>
      </p:sp>
      <p:sp>
        <p:nvSpPr>
          <p:cNvPr id="26" name="Text 24"/>
          <p:cNvSpPr txBox="1"/>
          <p:nvPr/>
        </p:nvSpPr>
        <p:spPr>
          <a:xfrm>
            <a:off x="365760" y="4974336"/>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Fuentes de mejora: experiencia del equipo del proyecto, Base de Datos de Lecciones Aprendidas corporativa, literatura CII, consultores de constructabilidad, programas de intercambio de industria.</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50</a:t>
            </a:r>
            <a:endParaRPr lang="en-US" sz="900" dirty="0"/>
          </a:p>
        </p:txBody>
      </p:sp>
      <p:pic xmlns:p="http://schemas.openxmlformats.org/presentationml/2006/main" xmlns:a="http://schemas.openxmlformats.org/drawingml/2006/main" xmlns:r="http://schemas.openxmlformats.org/officeDocument/2006/relationships">
        <p:nvPicPr>
          <p:cNvPr id="8050" name="SlideIcon8050"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4: Planificar la Implementación del Proyecto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transforma los conceptos CII en acciones específicas para el proyecto:</a:t>
            </a:r>
            <a:endParaRPr lang="en-US" sz="1200" dirty="0"/>
          </a:p>
        </p:txBody>
      </p:sp>
      <p:sp>
        <p:nvSpPr>
          <p:cNvPr id="6" name="Shape 4"/>
          <p:cNvSpPr/>
          <p:nvPr/>
        </p:nvSpPr>
        <p:spPr>
          <a:xfrm>
            <a:off x="365760" y="1298448"/>
            <a:ext cx="4206240" cy="1755648"/>
          </a:xfrm>
          <a:prstGeom prst="roundRect">
            <a:avLst>
              <a:gd name="adj" fmla="val 6250"/>
            </a:avLst>
          </a:prstGeom>
          <a:solidFill>
            <a:srgbClr val="F4F4F4"/>
          </a:solidFill>
          <a:ln w="12700">
            <a:solidFill>
              <a:srgbClr val="AF52DE"/>
            </a:solidFill>
            <a:prstDash val="solid"/>
          </a:ln>
        </p:spPr>
      </p:sp>
      <p:sp>
        <p:nvSpPr>
          <p:cNvPr id="7" name="Shape 5"/>
          <p:cNvSpPr/>
          <p:nvPr/>
        </p:nvSpPr>
        <p:spPr>
          <a:xfrm>
            <a:off x="365760" y="1298448"/>
            <a:ext cx="4206240" cy="457200"/>
          </a:xfrm>
          <a:prstGeom prst="roundRect">
            <a:avLst>
              <a:gd name="adj" fmla="val 24000"/>
            </a:avLst>
          </a:prstGeom>
          <a:solidFill>
            <a:srgbClr val="AF52DE"/>
          </a:solidFill>
          <a:ln/>
        </p:spPr>
      </p:sp>
      <p:sp>
        <p:nvSpPr>
          <p:cNvPr id="8" name="Shape 6"/>
          <p:cNvSpPr/>
          <p:nvPr/>
        </p:nvSpPr>
        <p:spPr>
          <a:xfrm>
            <a:off x="365760" y="1554480"/>
            <a:ext cx="4206240" cy="201168"/>
          </a:xfrm>
          <a:prstGeom prst="rect">
            <a:avLst/>
          </a:prstGeom>
          <a:solidFill>
            <a:srgbClr val="AF52DE"/>
          </a:solidFill>
          <a:ln/>
        </p:spPr>
      </p:sp>
      <p:sp>
        <p:nvSpPr>
          <p:cNvPr id="9" name="Text 7"/>
          <p:cNvSpPr txBox="1"/>
          <p:nvPr/>
        </p:nvSpPr>
        <p:spPr>
          <a:xfrm>
            <a:off x="53035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Taller de Planificación de Constructabilidad</a:t>
            </a:r>
            <a:endParaRPr lang="en-US" sz="1300" dirty="0"/>
          </a:p>
        </p:txBody>
      </p:sp>
      <p:sp>
        <p:nvSpPr>
          <p:cNvPr id="10" name="Text 8"/>
          <p:cNvSpPr txBox="1"/>
          <p:nvPr/>
        </p:nvSpPr>
        <p:spPr>
          <a:xfrm>
            <a:off x="53035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Workshop estructurado con todo el equipo EPC. Agenda formal (Tool 13 CII). Revisar matrices de aplicación de conceptos para el tipo de proyecto.</a:t>
            </a:r>
            <a:endParaRPr lang="en-US" sz="1100" dirty="0"/>
          </a:p>
        </p:txBody>
      </p:sp>
      <p:sp>
        <p:nvSpPr>
          <p:cNvPr id="11" name="Shape 9"/>
          <p:cNvSpPr/>
          <p:nvPr/>
        </p:nvSpPr>
        <p:spPr>
          <a:xfrm>
            <a:off x="4754880" y="1298448"/>
            <a:ext cx="4206240" cy="1755648"/>
          </a:xfrm>
          <a:prstGeom prst="roundRect">
            <a:avLst>
              <a:gd name="adj" fmla="val 6250"/>
            </a:avLst>
          </a:prstGeom>
          <a:solidFill>
            <a:srgbClr val="F4F4F4"/>
          </a:solidFill>
          <a:ln w="12700">
            <a:solidFill>
              <a:srgbClr val="0A84FF"/>
            </a:solidFill>
            <a:prstDash val="solid"/>
          </a:ln>
        </p:spPr>
      </p:sp>
      <p:sp>
        <p:nvSpPr>
          <p:cNvPr id="12" name="Shape 10"/>
          <p:cNvSpPr/>
          <p:nvPr/>
        </p:nvSpPr>
        <p:spPr>
          <a:xfrm>
            <a:off x="4754880" y="1298448"/>
            <a:ext cx="4206240" cy="457200"/>
          </a:xfrm>
          <a:prstGeom prst="roundRect">
            <a:avLst>
              <a:gd name="adj" fmla="val 24000"/>
            </a:avLst>
          </a:prstGeom>
          <a:solidFill>
            <a:srgbClr val="0A84FF"/>
          </a:solidFill>
          <a:ln/>
        </p:spPr>
      </p:sp>
      <p:sp>
        <p:nvSpPr>
          <p:cNvPr id="13" name="Shape 11"/>
          <p:cNvSpPr/>
          <p:nvPr/>
        </p:nvSpPr>
        <p:spPr>
          <a:xfrm>
            <a:off x="4754880" y="1554480"/>
            <a:ext cx="4206240" cy="201168"/>
          </a:xfrm>
          <a:prstGeom prst="rect">
            <a:avLst/>
          </a:prstGeom>
          <a:solidFill>
            <a:srgbClr val="0A84FF"/>
          </a:solidFill>
          <a:ln/>
        </p:spPr>
      </p:sp>
      <p:sp>
        <p:nvSpPr>
          <p:cNvPr id="14" name="Text 12"/>
          <p:cNvSpPr txBox="1"/>
          <p:nvPr/>
        </p:nvSpPr>
        <p:spPr>
          <a:xfrm>
            <a:off x="491947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Establecer Metas Cuantitativas</a:t>
            </a:r>
            <a:endParaRPr lang="en-US" sz="1300" dirty="0"/>
          </a:p>
        </p:txBody>
      </p:sp>
      <p:sp>
        <p:nvSpPr>
          <p:cNvPr id="15" name="Text 13"/>
          <p:cNvSpPr txBox="1"/>
          <p:nvPr/>
        </p:nvSpPr>
        <p:spPr>
          <a:xfrm>
            <a:off x="491947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metas de ahorro en costo (%), reducción de cronograma (%) y ratio B/C objetivo. El programa necesita un presupuesto dedicado.</a:t>
            </a:r>
            <a:endParaRPr lang="en-US" sz="1100" dirty="0"/>
          </a:p>
        </p:txBody>
      </p:sp>
      <p:sp>
        <p:nvSpPr>
          <p:cNvPr id="16" name="Shape 14"/>
          <p:cNvSpPr/>
          <p:nvPr/>
        </p:nvSpPr>
        <p:spPr>
          <a:xfrm>
            <a:off x="365760" y="3172968"/>
            <a:ext cx="4206240" cy="1755648"/>
          </a:xfrm>
          <a:prstGeom prst="roundRect">
            <a:avLst>
              <a:gd name="adj" fmla="val 6250"/>
            </a:avLst>
          </a:prstGeom>
          <a:solidFill>
            <a:srgbClr val="F4F4F4"/>
          </a:solidFill>
          <a:ln w="12700">
            <a:solidFill>
              <a:srgbClr val="30D158"/>
            </a:solidFill>
            <a:prstDash val="solid"/>
          </a:ln>
        </p:spPr>
      </p:sp>
      <p:sp>
        <p:nvSpPr>
          <p:cNvPr id="17" name="Shape 15"/>
          <p:cNvSpPr/>
          <p:nvPr/>
        </p:nvSpPr>
        <p:spPr>
          <a:xfrm>
            <a:off x="365760" y="3172968"/>
            <a:ext cx="4206240" cy="457200"/>
          </a:xfrm>
          <a:prstGeom prst="roundRect">
            <a:avLst>
              <a:gd name="adj" fmla="val 24000"/>
            </a:avLst>
          </a:prstGeom>
          <a:solidFill>
            <a:srgbClr val="30D158"/>
          </a:solidFill>
          <a:ln/>
        </p:spPr>
      </p:sp>
      <p:sp>
        <p:nvSpPr>
          <p:cNvPr id="18" name="Shape 16"/>
          <p:cNvSpPr/>
          <p:nvPr/>
        </p:nvSpPr>
        <p:spPr>
          <a:xfrm>
            <a:off x="365760" y="3429000"/>
            <a:ext cx="4206240" cy="201168"/>
          </a:xfrm>
          <a:prstGeom prst="rect">
            <a:avLst/>
          </a:prstGeom>
          <a:solidFill>
            <a:srgbClr val="30D158"/>
          </a:solidFill>
          <a:ln/>
        </p:spPr>
      </p:sp>
      <p:sp>
        <p:nvSpPr>
          <p:cNvPr id="19" name="Text 17"/>
          <p:cNvSpPr txBox="1"/>
          <p:nvPr/>
        </p:nvSpPr>
        <p:spPr>
          <a:xfrm>
            <a:off x="53035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Aplicación de Conceptos</a:t>
            </a:r>
            <a:endParaRPr lang="en-US" sz="1300" dirty="0"/>
          </a:p>
        </p:txBody>
      </p:sp>
      <p:sp>
        <p:nvSpPr>
          <p:cNvPr id="20" name="Text 18"/>
          <p:cNvSpPr txBox="1"/>
          <p:nvPr/>
        </p:nvSpPr>
        <p:spPr>
          <a:xfrm>
            <a:off x="53035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uno de los 17 conceptos CII: ¿aplica al proyecto? ¿cuándo? ¿quién es responsable? ¿qué entregable produce?</a:t>
            </a:r>
            <a:endParaRPr lang="en-US" sz="1100" dirty="0"/>
          </a:p>
        </p:txBody>
      </p:sp>
      <p:sp>
        <p:nvSpPr>
          <p:cNvPr id="21" name="Shape 19"/>
          <p:cNvSpPr/>
          <p:nvPr/>
        </p:nvSpPr>
        <p:spPr>
          <a:xfrm>
            <a:off x="4754880" y="3172968"/>
            <a:ext cx="4206240" cy="1755648"/>
          </a:xfrm>
          <a:prstGeom prst="roundRect">
            <a:avLst>
              <a:gd name="adj" fmla="val 6250"/>
            </a:avLst>
          </a:prstGeom>
          <a:solidFill>
            <a:srgbClr val="F4F4F4"/>
          </a:solidFill>
          <a:ln w="12700">
            <a:solidFill>
              <a:srgbClr val="FF9500"/>
            </a:solidFill>
            <a:prstDash val="solid"/>
          </a:ln>
        </p:spPr>
      </p:sp>
      <p:sp>
        <p:nvSpPr>
          <p:cNvPr id="22" name="Shape 20"/>
          <p:cNvSpPr/>
          <p:nvPr/>
        </p:nvSpPr>
        <p:spPr>
          <a:xfrm>
            <a:off x="4754880" y="3172968"/>
            <a:ext cx="4206240" cy="457200"/>
          </a:xfrm>
          <a:prstGeom prst="roundRect">
            <a:avLst>
              <a:gd name="adj" fmla="val 24000"/>
            </a:avLst>
          </a:prstGeom>
          <a:solidFill>
            <a:srgbClr val="FF9500"/>
          </a:solidFill>
          <a:ln/>
        </p:spPr>
      </p:sp>
      <p:sp>
        <p:nvSpPr>
          <p:cNvPr id="23" name="Shape 21"/>
          <p:cNvSpPr/>
          <p:nvPr/>
        </p:nvSpPr>
        <p:spPr>
          <a:xfrm>
            <a:off x="4754880" y="3429000"/>
            <a:ext cx="4206240" cy="201168"/>
          </a:xfrm>
          <a:prstGeom prst="rect">
            <a:avLst/>
          </a:prstGeom>
          <a:solidFill>
            <a:srgbClr val="FF9500"/>
          </a:solidFill>
          <a:ln/>
        </p:spPr>
      </p:sp>
      <p:sp>
        <p:nvSpPr>
          <p:cNvPr id="24" name="Text 22"/>
          <p:cNvSpPr txBox="1"/>
          <p:nvPr/>
        </p:nvSpPr>
        <p:spPr>
          <a:xfrm>
            <a:off x="491947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Integrar al PEP</a:t>
            </a:r>
            <a:endParaRPr lang="en-US" sz="1300" dirty="0"/>
          </a:p>
        </p:txBody>
      </p:sp>
      <p:sp>
        <p:nvSpPr>
          <p:cNvPr id="25" name="Text 23"/>
          <p:cNvSpPr txBox="1"/>
          <p:nvPr/>
        </p:nvSpPr>
        <p:spPr>
          <a:xfrm>
            <a:off x="491947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plan de constructabilidad del proyecto debe quedar formalmente integrado al Plan de Ejecución del Proyecto (PEP) — no como apéndice sino como sección principal.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51</a:t>
            </a:r>
            <a:endParaRPr lang="en-US" sz="900" dirty="0"/>
          </a:p>
        </p:txBody>
      </p:sp>
      <p:pic xmlns:p="http://schemas.openxmlformats.org/presentationml/2006/main" xmlns:a="http://schemas.openxmlformats.org/drawingml/2006/main" xmlns:r="http://schemas.openxmlformats.org/officeDocument/2006/relationships">
        <p:nvPicPr>
          <p:cNvPr id="8051" name="SlideIcon8051"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5: Implementar Constructabilidad — Herramientas Operativas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herramientas operativas del CII para documentar y gestionar la implementación en el proyecto:</a:t>
            </a:r>
            <a:endParaRPr lang="en-US" sz="1200" dirty="0"/>
          </a:p>
        </p:txBody>
      </p:sp>
      <p:sp>
        <p:nvSpPr>
          <p:cNvPr id="6" name="Shape 4"/>
          <p:cNvSpPr/>
          <p:nvPr/>
        </p:nvSpPr>
        <p:spPr>
          <a:xfrm>
            <a:off x="365760" y="1298448"/>
            <a:ext cx="8412480" cy="804672"/>
          </a:xfrm>
          <a:prstGeom prst="roundRect">
            <a:avLst>
              <a:gd name="adj" fmla="val 11364"/>
            </a:avLst>
          </a:prstGeom>
          <a:solidFill>
            <a:srgbClr val="F4F4F4"/>
          </a:solidFill>
          <a:ln w="12700">
            <a:solidFill>
              <a:srgbClr val="0A84FF"/>
            </a:solidFill>
            <a:prstDash val="solid"/>
          </a:ln>
        </p:spPr>
      </p:sp>
      <p:sp>
        <p:nvSpPr>
          <p:cNvPr id="7" name="Shape 5"/>
          <p:cNvSpPr/>
          <p:nvPr/>
        </p:nvSpPr>
        <p:spPr>
          <a:xfrm>
            <a:off x="365760" y="1298448"/>
            <a:ext cx="73152" cy="804672"/>
          </a:xfrm>
          <a:prstGeom prst="rect">
            <a:avLst/>
          </a:prstGeom>
          <a:solidFill>
            <a:srgbClr val="0A84FF"/>
          </a:solidFill>
          <a:ln/>
        </p:spPr>
      </p:sp>
      <p:sp>
        <p:nvSpPr>
          <p:cNvPr id="8" name="Text 6"/>
          <p:cNvSpPr txBox="1"/>
          <p:nvPr/>
        </p:nvSpPr>
        <p:spPr>
          <a:xfrm>
            <a:off x="566928" y="1371600"/>
            <a:ext cx="80467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Tool 13: Formulario de Sugerencias</a:t>
            </a:r>
            <a:endParaRPr lang="en-US" sz="1300" dirty="0"/>
          </a:p>
        </p:txBody>
      </p:sp>
      <p:sp>
        <p:nvSpPr>
          <p:cNvPr id="9" name="Text 7"/>
          <p:cNvSpPr txBox="1"/>
          <p:nvPr/>
        </p:nvSpPr>
        <p:spPr>
          <a:xfrm>
            <a:off x="566928" y="16642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Cualquier miembro del equipo puede documentar una sugerencia de constructabilidad. Incluye: descripción, concepto aplicable, fase, estimado de beneficio y nombre del autor.</a:t>
            </a:r>
            <a:endParaRPr lang="en-US" sz="1100" dirty="0"/>
          </a:p>
        </p:txBody>
      </p:sp>
      <p:sp>
        <p:nvSpPr>
          <p:cNvPr id="10" name="Shape 8"/>
          <p:cNvSpPr/>
          <p:nvPr/>
        </p:nvSpPr>
        <p:spPr>
          <a:xfrm>
            <a:off x="365760" y="2212848"/>
            <a:ext cx="8412480" cy="804672"/>
          </a:xfrm>
          <a:prstGeom prst="roundRect">
            <a:avLst>
              <a:gd name="adj" fmla="val 11364"/>
            </a:avLst>
          </a:prstGeom>
          <a:solidFill>
            <a:srgbClr val="F4F4F4"/>
          </a:solidFill>
          <a:ln w="12700">
            <a:solidFill>
              <a:srgbClr val="30D158"/>
            </a:solidFill>
            <a:prstDash val="solid"/>
          </a:ln>
        </p:spPr>
      </p:sp>
      <p:sp>
        <p:nvSpPr>
          <p:cNvPr id="11" name="Shape 9"/>
          <p:cNvSpPr/>
          <p:nvPr/>
        </p:nvSpPr>
        <p:spPr>
          <a:xfrm>
            <a:off x="365760" y="2212848"/>
            <a:ext cx="73152" cy="804672"/>
          </a:xfrm>
          <a:prstGeom prst="rect">
            <a:avLst/>
          </a:prstGeom>
          <a:solidFill>
            <a:srgbClr val="30D158"/>
          </a:solidFill>
          <a:ln/>
        </p:spPr>
      </p:sp>
      <p:sp>
        <p:nvSpPr>
          <p:cNvPr id="12" name="Text 10"/>
          <p:cNvSpPr txBox="1"/>
          <p:nvPr/>
        </p:nvSpPr>
        <p:spPr>
          <a:xfrm>
            <a:off x="566928" y="2286000"/>
            <a:ext cx="80467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Tool 14: Log de Ideas de Constructabilidad</a:t>
            </a:r>
            <a:endParaRPr lang="en-US" sz="1300" dirty="0"/>
          </a:p>
        </p:txBody>
      </p:sp>
      <p:sp>
        <p:nvSpPr>
          <p:cNvPr id="13" name="Text 11"/>
          <p:cNvSpPr txBox="1"/>
          <p:nvPr/>
        </p:nvSpPr>
        <p:spPr>
          <a:xfrm>
            <a:off x="566928" y="25786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maestro de todas las sugerencias presentadas. Columnas: ID, descripción, concepto, fecha, propietario, estado (evaluada/aprobada/implementada), ahorro estimado vs. real.</a:t>
            </a:r>
            <a:endParaRPr lang="en-US" sz="1100" dirty="0"/>
          </a:p>
        </p:txBody>
      </p:sp>
      <p:sp>
        <p:nvSpPr>
          <p:cNvPr id="14" name="Shape 12"/>
          <p:cNvSpPr/>
          <p:nvPr/>
        </p:nvSpPr>
        <p:spPr>
          <a:xfrm>
            <a:off x="365760" y="3127248"/>
            <a:ext cx="8412480" cy="804672"/>
          </a:xfrm>
          <a:prstGeom prst="roundRect">
            <a:avLst>
              <a:gd name="adj" fmla="val 11364"/>
            </a:avLst>
          </a:prstGeom>
          <a:solidFill>
            <a:srgbClr val="F4F4F4"/>
          </a:solidFill>
          <a:ln w="12700">
            <a:solidFill>
              <a:srgbClr val="FF9500"/>
            </a:solidFill>
            <a:prstDash val="solid"/>
          </a:ln>
        </p:spPr>
      </p:sp>
      <p:sp>
        <p:nvSpPr>
          <p:cNvPr id="15" name="Shape 13"/>
          <p:cNvSpPr/>
          <p:nvPr/>
        </p:nvSpPr>
        <p:spPr>
          <a:xfrm>
            <a:off x="365760" y="3127248"/>
            <a:ext cx="73152" cy="804672"/>
          </a:xfrm>
          <a:prstGeom prst="rect">
            <a:avLst/>
          </a:prstGeom>
          <a:solidFill>
            <a:srgbClr val="FF9500"/>
          </a:solidFill>
          <a:ln/>
        </p:spPr>
      </p:sp>
      <p:sp>
        <p:nvSpPr>
          <p:cNvPr id="16" name="Text 14"/>
          <p:cNvSpPr txBox="1"/>
          <p:nvPr/>
        </p:nvSpPr>
        <p:spPr>
          <a:xfrm>
            <a:off x="566928" y="3200400"/>
            <a:ext cx="80467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Tool 15: Reporte Trimestral del Programa</a:t>
            </a:r>
            <a:endParaRPr lang="en-US" sz="1300" dirty="0"/>
          </a:p>
        </p:txBody>
      </p:sp>
      <p:sp>
        <p:nvSpPr>
          <p:cNvPr id="17" name="Text 15"/>
          <p:cNvSpPr txBox="1"/>
          <p:nvPr/>
        </p:nvSpPr>
        <p:spPr>
          <a:xfrm>
            <a:off x="566928" y="34930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Informe formal al Director del Proyecto. Incluye: número de ideas generadas, ideas implementadas, costo del programa a la fecha, ahorro logrado a la fecha y ratio B/C actualizado.</a:t>
            </a:r>
            <a:endParaRPr lang="en-US" sz="1100" dirty="0"/>
          </a:p>
        </p:txBody>
      </p:sp>
      <p:sp>
        <p:nvSpPr>
          <p:cNvPr id="18" name="Shape 16"/>
          <p:cNvSpPr/>
          <p:nvPr/>
        </p:nvSpPr>
        <p:spPr>
          <a:xfrm>
            <a:off x="365760" y="4041648"/>
            <a:ext cx="8412480" cy="804672"/>
          </a:xfrm>
          <a:prstGeom prst="roundRect">
            <a:avLst>
              <a:gd name="adj" fmla="val 11364"/>
            </a:avLst>
          </a:prstGeom>
          <a:solidFill>
            <a:srgbClr val="F4F4F4"/>
          </a:solidFill>
          <a:ln w="12700">
            <a:solidFill>
              <a:srgbClr val="AF52DE"/>
            </a:solidFill>
            <a:prstDash val="solid"/>
          </a:ln>
        </p:spPr>
      </p:sp>
      <p:sp>
        <p:nvSpPr>
          <p:cNvPr id="19" name="Shape 17"/>
          <p:cNvSpPr/>
          <p:nvPr/>
        </p:nvSpPr>
        <p:spPr>
          <a:xfrm>
            <a:off x="365760" y="4041648"/>
            <a:ext cx="73152" cy="804672"/>
          </a:xfrm>
          <a:prstGeom prst="rect">
            <a:avLst/>
          </a:prstGeom>
          <a:solidFill>
            <a:srgbClr val="AF52DE"/>
          </a:solidFill>
          <a:ln/>
        </p:spPr>
      </p:sp>
      <p:sp>
        <p:nvSpPr>
          <p:cNvPr id="20" name="Text 18"/>
          <p:cNvSpPr txBox="1"/>
          <p:nvPr/>
        </p:nvSpPr>
        <p:spPr>
          <a:xfrm>
            <a:off x="566928" y="4114800"/>
            <a:ext cx="804672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Tool 16: Cláusulas Contractuales</a:t>
            </a:r>
            <a:endParaRPr lang="en-US" sz="1300" dirty="0"/>
          </a:p>
        </p:txBody>
      </p:sp>
      <p:sp>
        <p:nvSpPr>
          <p:cNvPr id="21" name="Text 19"/>
          <p:cNvSpPr txBox="1"/>
          <p:nvPr/>
        </p:nvSpPr>
        <p:spPr>
          <a:xfrm>
            <a:off x="566928" y="44074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Cláusulas modelo para incluir en contratos: establece la responsabilidad del contratista de participar activamente en el programa de constructabilidad del propietario.</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Ciclo: Taller de planificación → Generar sugerencias → Evaluar → Aprobar → Implementar → Medir → Reportar → Actualizar Log → Siguiente ciclo.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52</a:t>
            </a:r>
            <a:endParaRPr lang="en-US" sz="900" dirty="0"/>
          </a:p>
        </p:txBody>
      </p:sp>
      <p:pic xmlns:p="http://schemas.openxmlformats.org/presentationml/2006/main" xmlns:a="http://schemas.openxmlformats.org/drawingml/2006/main" xmlns:r="http://schemas.openxmlformats.org/officeDocument/2006/relationships">
        <p:nvPicPr>
          <p:cNvPr id="8052" name="SlideIcon8052"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Base de Datos de Lecciones Aprendidas — El Motor del Programa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40080"/>
          </a:xfrm>
          <a:prstGeom prst="roundRect">
            <a:avLst>
              <a:gd name="adj" fmla="val 14286"/>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66928"/>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CLAVE para no repetir errores ni reinventar ruedas. Es el pegamento de constructabilidad entre diferentes proyectos."  — CII</a:t>
            </a:r>
            <a:endParaRPr lang="en-US" sz="1300" dirty="0"/>
          </a:p>
        </p:txBody>
      </p:sp>
      <p:sp>
        <p:nvSpPr>
          <p:cNvPr id="7" name="Shape 5"/>
          <p:cNvSpPr/>
          <p:nvPr/>
        </p:nvSpPr>
        <p:spPr>
          <a:xfrm>
            <a:off x="365760" y="1691640"/>
            <a:ext cx="4206240" cy="1417320"/>
          </a:xfrm>
          <a:prstGeom prst="roundRect">
            <a:avLst>
              <a:gd name="adj" fmla="val 7742"/>
            </a:avLst>
          </a:prstGeom>
          <a:solidFill>
            <a:srgbClr val="F4F4F4"/>
          </a:solidFill>
          <a:ln w="12700">
            <a:solidFill>
              <a:srgbClr val="0A84FF"/>
            </a:solidFill>
            <a:prstDash val="solid"/>
          </a:ln>
        </p:spPr>
      </p:sp>
      <p:sp>
        <p:nvSpPr>
          <p:cNvPr id="8" name="Text 6"/>
          <p:cNvSpPr txBox="1"/>
          <p:nvPr/>
        </p:nvSpPr>
        <p:spPr>
          <a:xfrm>
            <a:off x="548640" y="176479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Estructura de la Base de Datos</a:t>
            </a:r>
            <a:endParaRPr lang="en-US" sz="1200" dirty="0"/>
          </a:p>
        </p:txBody>
      </p:sp>
      <p:sp>
        <p:nvSpPr>
          <p:cNvPr id="9" name="Text 7"/>
          <p:cNvSpPr txBox="1"/>
          <p:nvPr/>
        </p:nvSpPr>
        <p:spPr>
          <a:xfrm>
            <a:off x="54864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Campos recomendados por lección: concepto CII aplicable, fase del proyecto, tipo de proyecto, descripción del problema, solución aplicada, ahorro estimado y real, condiciones de aplicabilidad.</a:t>
            </a:r>
            <a:endParaRPr lang="en-US" sz="1100" dirty="0"/>
          </a:p>
        </p:txBody>
      </p:sp>
      <p:sp>
        <p:nvSpPr>
          <p:cNvPr id="10" name="Shape 8"/>
          <p:cNvSpPr/>
          <p:nvPr/>
        </p:nvSpPr>
        <p:spPr>
          <a:xfrm>
            <a:off x="4754880" y="1691640"/>
            <a:ext cx="4206240" cy="1417320"/>
          </a:xfrm>
          <a:prstGeom prst="roundRect">
            <a:avLst>
              <a:gd name="adj" fmla="val 7742"/>
            </a:avLst>
          </a:prstGeom>
          <a:solidFill>
            <a:srgbClr val="F4F4F4"/>
          </a:solidFill>
          <a:ln w="12700">
            <a:solidFill>
              <a:srgbClr val="30D158"/>
            </a:solidFill>
            <a:prstDash val="solid"/>
          </a:ln>
        </p:spPr>
      </p:sp>
      <p:sp>
        <p:nvSpPr>
          <p:cNvPr id="11" name="Text 9"/>
          <p:cNvSpPr txBox="1"/>
          <p:nvPr/>
        </p:nvSpPr>
        <p:spPr>
          <a:xfrm>
            <a:off x="4937760" y="176479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Proceso de Captura</a:t>
            </a:r>
            <a:endParaRPr lang="en-US" sz="1200" dirty="0"/>
          </a:p>
        </p:txBody>
      </p:sp>
      <p:sp>
        <p:nvSpPr>
          <p:cNvPr id="12" name="Text 10"/>
          <p:cNvSpPr txBox="1"/>
          <p:nvPr/>
        </p:nvSpPr>
        <p:spPr>
          <a:xfrm>
            <a:off x="493776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Captura sistemática al cerrar cada fase del proyecto. Responsable: Gerente de Constructabilidad. Revisión y validación por experto técnico. Publicación en la LLDB corporativa.</a:t>
            </a:r>
            <a:endParaRPr lang="en-US" sz="1100" dirty="0"/>
          </a:p>
        </p:txBody>
      </p:sp>
      <p:sp>
        <p:nvSpPr>
          <p:cNvPr id="13" name="Shape 11"/>
          <p:cNvSpPr/>
          <p:nvPr/>
        </p:nvSpPr>
        <p:spPr>
          <a:xfrm>
            <a:off x="365760" y="3246120"/>
            <a:ext cx="4206240" cy="1417320"/>
          </a:xfrm>
          <a:prstGeom prst="roundRect">
            <a:avLst>
              <a:gd name="adj" fmla="val 7742"/>
            </a:avLst>
          </a:prstGeom>
          <a:solidFill>
            <a:srgbClr val="F4F4F4"/>
          </a:solidFill>
          <a:ln w="12700">
            <a:solidFill>
              <a:srgbClr val="FF9500"/>
            </a:solidFill>
            <a:prstDash val="solid"/>
          </a:ln>
        </p:spPr>
      </p:sp>
      <p:sp>
        <p:nvSpPr>
          <p:cNvPr id="14" name="Text 12"/>
          <p:cNvSpPr txBox="1"/>
          <p:nvPr/>
        </p:nvSpPr>
        <p:spPr>
          <a:xfrm>
            <a:off x="548640" y="3319272"/>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Proceso de Recuperación</a:t>
            </a:r>
            <a:endParaRPr lang="en-US" sz="1200" dirty="0"/>
          </a:p>
        </p:txBody>
      </p:sp>
      <p:sp>
        <p:nvSpPr>
          <p:cNvPr id="15" name="Text 13"/>
          <p:cNvSpPr txBox="1"/>
          <p:nvPr/>
        </p:nvSpPr>
        <p:spPr>
          <a:xfrm>
            <a:off x="54864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inicio de un nuevo proyecto, el equipo revisa las lecciones aplicables al tipo y condiciones del proyecto. El Gerente de Constructabilidad facilita el proceso.</a:t>
            </a:r>
            <a:endParaRPr lang="en-US" sz="1100" dirty="0"/>
          </a:p>
        </p:txBody>
      </p:sp>
      <p:sp>
        <p:nvSpPr>
          <p:cNvPr id="16" name="Shape 14"/>
          <p:cNvSpPr/>
          <p:nvPr/>
        </p:nvSpPr>
        <p:spPr>
          <a:xfrm>
            <a:off x="4754880" y="3246120"/>
            <a:ext cx="4206240" cy="1417320"/>
          </a:xfrm>
          <a:prstGeom prst="roundRect">
            <a:avLst>
              <a:gd name="adj" fmla="val 7742"/>
            </a:avLst>
          </a:prstGeom>
          <a:solidFill>
            <a:srgbClr val="F4F4F4"/>
          </a:solidFill>
          <a:ln w="12700">
            <a:solidFill>
              <a:srgbClr val="AF52DE"/>
            </a:solidFill>
            <a:prstDash val="solid"/>
          </a:ln>
        </p:spPr>
      </p:sp>
      <p:sp>
        <p:nvSpPr>
          <p:cNvPr id="17" name="Text 15"/>
          <p:cNvSpPr txBox="1"/>
          <p:nvPr/>
        </p:nvSpPr>
        <p:spPr>
          <a:xfrm>
            <a:off x="4937760" y="3319272"/>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Métricas del Sistema</a:t>
            </a:r>
            <a:endParaRPr lang="en-US" sz="1200" dirty="0"/>
          </a:p>
        </p:txBody>
      </p:sp>
      <p:sp>
        <p:nvSpPr>
          <p:cNvPr id="18" name="Text 16"/>
          <p:cNvSpPr txBox="1"/>
          <p:nvPr/>
        </p:nvSpPr>
        <p:spPr>
          <a:xfrm>
            <a:off x="493776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Número de lecciones capturadas por proyecto, porcentaje de lecciones recuperadas en proyectos siguientes, valor del ahorro generado por lecciones aplicadas.</a:t>
            </a:r>
            <a:endParaRPr lang="en-US" sz="1100" dirty="0"/>
          </a:p>
        </p:txBody>
      </p:sp>
      <p:sp>
        <p:nvSpPr>
          <p:cNvPr id="19" name="Text 1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53</a:t>
            </a:r>
            <a:endParaRPr lang="en-US" sz="900" dirty="0"/>
          </a:p>
        </p:txBody>
      </p:sp>
      <p:pic xmlns:p="http://schemas.openxmlformats.org/presentationml/2006/main" xmlns:a="http://schemas.openxmlformats.org/drawingml/2006/main" xmlns:r="http://schemas.openxmlformats.org/officeDocument/2006/relationships">
        <p:nvPicPr>
          <p:cNvPr id="8053" name="SlideIcon8053"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Matrices de Aplicación de Conceptos — Tools 18 y 19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matrices indican la significancia de cada concepto CII en las distintas fases y actividades del proyecto:</a:t>
            </a:r>
            <a:endParaRPr lang="en-US" sz="1200" dirty="0"/>
          </a:p>
        </p:txBody>
      </p:sp>
      <p:sp>
        <p:nvSpPr>
          <p:cNvPr id="6" name="Shape 4"/>
          <p:cNvSpPr/>
          <p:nvPr/>
        </p:nvSpPr>
        <p:spPr>
          <a:xfrm>
            <a:off x="274320" y="1298448"/>
            <a:ext cx="2011680" cy="384048"/>
          </a:xfrm>
          <a:prstGeom prst="rect">
            <a:avLst/>
          </a:prstGeom>
          <a:solidFill>
            <a:srgbClr val="30D158"/>
          </a:solidFill>
          <a:ln/>
        </p:spPr>
      </p:sp>
      <p:sp>
        <p:nvSpPr>
          <p:cNvPr id="7" name="Text 5"/>
          <p:cNvSpPr txBox="1"/>
          <p:nvPr/>
        </p:nvSpPr>
        <p:spPr>
          <a:xfrm>
            <a:off x="310896" y="1298448"/>
            <a:ext cx="197510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Concepto</a:t>
            </a:r>
            <a:endParaRPr lang="en-US" sz="1000" dirty="0"/>
          </a:p>
        </p:txBody>
      </p:sp>
      <p:sp>
        <p:nvSpPr>
          <p:cNvPr id="8" name="Shape 6"/>
          <p:cNvSpPr/>
          <p:nvPr/>
        </p:nvSpPr>
        <p:spPr>
          <a:xfrm>
            <a:off x="2331720" y="1298448"/>
            <a:ext cx="731520" cy="384048"/>
          </a:xfrm>
          <a:prstGeom prst="rect">
            <a:avLst/>
          </a:prstGeom>
          <a:solidFill>
            <a:srgbClr val="30D158"/>
          </a:solidFill>
          <a:ln/>
        </p:spPr>
      </p:sp>
      <p:sp>
        <p:nvSpPr>
          <p:cNvPr id="9" name="Text 7"/>
          <p:cNvSpPr txBox="1"/>
          <p:nvPr/>
        </p:nvSpPr>
        <p:spPr>
          <a:xfrm>
            <a:off x="2368296" y="1298448"/>
            <a:ext cx="69494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Fact.</a:t>
            </a:r>
            <a:endParaRPr lang="en-US" sz="1000" dirty="0"/>
          </a:p>
        </p:txBody>
      </p:sp>
      <p:sp>
        <p:nvSpPr>
          <p:cNvPr id="10" name="Shape 8"/>
          <p:cNvSpPr/>
          <p:nvPr/>
        </p:nvSpPr>
        <p:spPr>
          <a:xfrm>
            <a:off x="3090672" y="1298448"/>
            <a:ext cx="731520" cy="384048"/>
          </a:xfrm>
          <a:prstGeom prst="rect">
            <a:avLst/>
          </a:prstGeom>
          <a:solidFill>
            <a:srgbClr val="30D158"/>
          </a:solidFill>
          <a:ln/>
        </p:spPr>
      </p:sp>
      <p:sp>
        <p:nvSpPr>
          <p:cNvPr id="11" name="Text 9"/>
          <p:cNvSpPr txBox="1"/>
          <p:nvPr/>
        </p:nvSpPr>
        <p:spPr>
          <a:xfrm>
            <a:off x="3127248" y="1298448"/>
            <a:ext cx="69494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a:t>
            </a:r>
            <a:endParaRPr lang="en-US" sz="1000" dirty="0"/>
          </a:p>
        </p:txBody>
      </p:sp>
      <p:sp>
        <p:nvSpPr>
          <p:cNvPr id="12" name="Shape 10"/>
          <p:cNvSpPr/>
          <p:nvPr/>
        </p:nvSpPr>
        <p:spPr>
          <a:xfrm>
            <a:off x="3849624" y="1298448"/>
            <a:ext cx="914400" cy="384048"/>
          </a:xfrm>
          <a:prstGeom prst="rect">
            <a:avLst/>
          </a:prstGeom>
          <a:solidFill>
            <a:srgbClr val="30D158"/>
          </a:solidFill>
          <a:ln/>
        </p:spPr>
      </p:sp>
      <p:sp>
        <p:nvSpPr>
          <p:cNvPr id="13" name="Text 11"/>
          <p:cNvSpPr txBox="1"/>
          <p:nvPr/>
        </p:nvSpPr>
        <p:spPr>
          <a:xfrm>
            <a:off x="3886200" y="1298448"/>
            <a:ext cx="87782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Básico</a:t>
            </a:r>
            <a:endParaRPr lang="en-US" sz="1000" dirty="0"/>
          </a:p>
        </p:txBody>
      </p:sp>
      <p:sp>
        <p:nvSpPr>
          <p:cNvPr id="14" name="Shape 12"/>
          <p:cNvSpPr/>
          <p:nvPr/>
        </p:nvSpPr>
        <p:spPr>
          <a:xfrm>
            <a:off x="4791456" y="1298448"/>
            <a:ext cx="822960" cy="384048"/>
          </a:xfrm>
          <a:prstGeom prst="rect">
            <a:avLst/>
          </a:prstGeom>
          <a:solidFill>
            <a:srgbClr val="30D158"/>
          </a:solidFill>
          <a:ln/>
        </p:spPr>
      </p:sp>
      <p:sp>
        <p:nvSpPr>
          <p:cNvPr id="15" name="Text 13"/>
          <p:cNvSpPr txBox="1"/>
          <p:nvPr/>
        </p:nvSpPr>
        <p:spPr>
          <a:xfrm>
            <a:off x="4828032" y="1298448"/>
            <a:ext cx="78638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Det.</a:t>
            </a:r>
            <a:endParaRPr lang="en-US" sz="1000" dirty="0"/>
          </a:p>
        </p:txBody>
      </p:sp>
      <p:sp>
        <p:nvSpPr>
          <p:cNvPr id="16" name="Shape 14"/>
          <p:cNvSpPr/>
          <p:nvPr/>
        </p:nvSpPr>
        <p:spPr>
          <a:xfrm>
            <a:off x="5632704" y="1298448"/>
            <a:ext cx="777240" cy="384048"/>
          </a:xfrm>
          <a:prstGeom prst="rect">
            <a:avLst/>
          </a:prstGeom>
          <a:solidFill>
            <a:srgbClr val="30D158"/>
          </a:solidFill>
          <a:ln/>
        </p:spPr>
      </p:sp>
      <p:sp>
        <p:nvSpPr>
          <p:cNvPr id="17" name="Text 15"/>
          <p:cNvSpPr txBox="1"/>
          <p:nvPr/>
        </p:nvSpPr>
        <p:spPr>
          <a:xfrm>
            <a:off x="5669280" y="1298448"/>
            <a:ext cx="74066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Procura</a:t>
            </a:r>
            <a:endParaRPr lang="en-US" sz="1000" dirty="0"/>
          </a:p>
        </p:txBody>
      </p:sp>
      <p:sp>
        <p:nvSpPr>
          <p:cNvPr id="18" name="Shape 16"/>
          <p:cNvSpPr/>
          <p:nvPr/>
        </p:nvSpPr>
        <p:spPr>
          <a:xfrm>
            <a:off x="6437376" y="1298448"/>
            <a:ext cx="749808" cy="384048"/>
          </a:xfrm>
          <a:prstGeom prst="rect">
            <a:avLst/>
          </a:prstGeom>
          <a:solidFill>
            <a:srgbClr val="30D158"/>
          </a:solidFill>
          <a:ln/>
        </p:spPr>
      </p:sp>
      <p:sp>
        <p:nvSpPr>
          <p:cNvPr id="19" name="Text 17"/>
          <p:cNvSpPr txBox="1"/>
          <p:nvPr/>
        </p:nvSpPr>
        <p:spPr>
          <a:xfrm>
            <a:off x="6473952" y="1298448"/>
            <a:ext cx="713232"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Campo</a:t>
            </a:r>
            <a:endParaRPr lang="en-US" sz="1000" dirty="0"/>
          </a:p>
        </p:txBody>
      </p:sp>
      <p:sp>
        <p:nvSpPr>
          <p:cNvPr id="20" name="Shape 18"/>
          <p:cNvSpPr/>
          <p:nvPr/>
        </p:nvSpPr>
        <p:spPr>
          <a:xfrm>
            <a:off x="7214616" y="1298448"/>
            <a:ext cx="777240" cy="384048"/>
          </a:xfrm>
          <a:prstGeom prst="rect">
            <a:avLst/>
          </a:prstGeom>
          <a:solidFill>
            <a:srgbClr val="30D158"/>
          </a:solidFill>
          <a:ln/>
        </p:spPr>
      </p:sp>
      <p:sp>
        <p:nvSpPr>
          <p:cNvPr id="21" name="Text 19"/>
          <p:cNvSpPr txBox="1"/>
          <p:nvPr/>
        </p:nvSpPr>
        <p:spPr>
          <a:xfrm>
            <a:off x="7251192" y="1298448"/>
            <a:ext cx="74066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Arranque</a:t>
            </a:r>
            <a:endParaRPr lang="en-US" sz="1000" dirty="0"/>
          </a:p>
        </p:txBody>
      </p:sp>
      <p:sp>
        <p:nvSpPr>
          <p:cNvPr id="22" name="Shape 20"/>
          <p:cNvSpPr/>
          <p:nvPr/>
        </p:nvSpPr>
        <p:spPr>
          <a:xfrm>
            <a:off x="274320" y="1719072"/>
            <a:ext cx="2011680" cy="338328"/>
          </a:xfrm>
          <a:prstGeom prst="rect">
            <a:avLst/>
          </a:prstGeom>
          <a:solidFill>
            <a:srgbClr val="F4F4F4"/>
          </a:solidFill>
          <a:ln/>
        </p:spPr>
      </p:sp>
      <p:sp>
        <p:nvSpPr>
          <p:cNvPr id="23" name="Text 21"/>
          <p:cNvSpPr txBox="1"/>
          <p:nvPr/>
        </p:nvSpPr>
        <p:spPr>
          <a:xfrm>
            <a:off x="274320" y="174650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I-1: PEP Constructabilidad</a:t>
            </a:r>
            <a:endParaRPr lang="en-US" sz="1000" dirty="0"/>
          </a:p>
        </p:txBody>
      </p:sp>
      <p:sp>
        <p:nvSpPr>
          <p:cNvPr id="24" name="Shape 22"/>
          <p:cNvSpPr/>
          <p:nvPr/>
        </p:nvSpPr>
        <p:spPr>
          <a:xfrm>
            <a:off x="2331720" y="1719072"/>
            <a:ext cx="731520" cy="338328"/>
          </a:xfrm>
          <a:prstGeom prst="rect">
            <a:avLst/>
          </a:prstGeom>
          <a:solidFill>
            <a:srgbClr val="F4F4F4"/>
          </a:solidFill>
          <a:ln/>
        </p:spPr>
      </p:sp>
      <p:sp>
        <p:nvSpPr>
          <p:cNvPr id="25" name="Text 23"/>
          <p:cNvSpPr txBox="1"/>
          <p:nvPr/>
        </p:nvSpPr>
        <p:spPr>
          <a:xfrm>
            <a:off x="2331720" y="17465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6" name="Shape 24"/>
          <p:cNvSpPr/>
          <p:nvPr/>
        </p:nvSpPr>
        <p:spPr>
          <a:xfrm>
            <a:off x="3090672" y="1719072"/>
            <a:ext cx="731520" cy="338328"/>
          </a:xfrm>
          <a:prstGeom prst="rect">
            <a:avLst/>
          </a:prstGeom>
          <a:solidFill>
            <a:srgbClr val="F4F4F4"/>
          </a:solidFill>
          <a:ln/>
        </p:spPr>
      </p:sp>
      <p:sp>
        <p:nvSpPr>
          <p:cNvPr id="27" name="Text 25"/>
          <p:cNvSpPr txBox="1"/>
          <p:nvPr/>
        </p:nvSpPr>
        <p:spPr>
          <a:xfrm>
            <a:off x="3090672" y="17465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8" name="Shape 26"/>
          <p:cNvSpPr/>
          <p:nvPr/>
        </p:nvSpPr>
        <p:spPr>
          <a:xfrm>
            <a:off x="3849624" y="1719072"/>
            <a:ext cx="914400" cy="338328"/>
          </a:xfrm>
          <a:prstGeom prst="rect">
            <a:avLst/>
          </a:prstGeom>
          <a:solidFill>
            <a:srgbClr val="F4F4F4"/>
          </a:solidFill>
          <a:ln/>
        </p:spPr>
      </p:sp>
      <p:sp>
        <p:nvSpPr>
          <p:cNvPr id="29" name="Text 27"/>
          <p:cNvSpPr txBox="1"/>
          <p:nvPr/>
        </p:nvSpPr>
        <p:spPr>
          <a:xfrm>
            <a:off x="3849624" y="174650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30" name="Shape 28"/>
          <p:cNvSpPr/>
          <p:nvPr/>
        </p:nvSpPr>
        <p:spPr>
          <a:xfrm>
            <a:off x="4791456" y="1719072"/>
            <a:ext cx="822960" cy="338328"/>
          </a:xfrm>
          <a:prstGeom prst="rect">
            <a:avLst/>
          </a:prstGeom>
          <a:solidFill>
            <a:srgbClr val="F4F4F4"/>
          </a:solidFill>
          <a:ln/>
        </p:spPr>
      </p:sp>
      <p:sp>
        <p:nvSpPr>
          <p:cNvPr id="31" name="Text 29"/>
          <p:cNvSpPr txBox="1"/>
          <p:nvPr/>
        </p:nvSpPr>
        <p:spPr>
          <a:xfrm>
            <a:off x="4791456" y="1746504"/>
            <a:ext cx="82296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32" name="Shape 30"/>
          <p:cNvSpPr/>
          <p:nvPr/>
        </p:nvSpPr>
        <p:spPr>
          <a:xfrm>
            <a:off x="5632704" y="1719072"/>
            <a:ext cx="777240" cy="338328"/>
          </a:xfrm>
          <a:prstGeom prst="rect">
            <a:avLst/>
          </a:prstGeom>
          <a:solidFill>
            <a:srgbClr val="F4F4F4"/>
          </a:solidFill>
          <a:ln/>
        </p:spPr>
      </p:sp>
      <p:sp>
        <p:nvSpPr>
          <p:cNvPr id="33" name="Text 31"/>
          <p:cNvSpPr txBox="1"/>
          <p:nvPr/>
        </p:nvSpPr>
        <p:spPr>
          <a:xfrm>
            <a:off x="5632704" y="174650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34" name="Shape 32"/>
          <p:cNvSpPr/>
          <p:nvPr/>
        </p:nvSpPr>
        <p:spPr>
          <a:xfrm>
            <a:off x="6437376" y="1719072"/>
            <a:ext cx="749808" cy="338328"/>
          </a:xfrm>
          <a:prstGeom prst="rect">
            <a:avLst/>
          </a:prstGeom>
          <a:solidFill>
            <a:srgbClr val="F4F4F4"/>
          </a:solidFill>
          <a:ln/>
        </p:spPr>
      </p:sp>
      <p:sp>
        <p:nvSpPr>
          <p:cNvPr id="35" name="Text 33"/>
          <p:cNvSpPr txBox="1"/>
          <p:nvPr/>
        </p:nvSpPr>
        <p:spPr>
          <a:xfrm>
            <a:off x="6437376" y="1746504"/>
            <a:ext cx="749808"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36" name="Shape 34"/>
          <p:cNvSpPr/>
          <p:nvPr/>
        </p:nvSpPr>
        <p:spPr>
          <a:xfrm>
            <a:off x="7214616" y="1719072"/>
            <a:ext cx="777240" cy="338328"/>
          </a:xfrm>
          <a:prstGeom prst="rect">
            <a:avLst/>
          </a:prstGeom>
          <a:solidFill>
            <a:srgbClr val="F4F4F4"/>
          </a:solidFill>
          <a:ln/>
        </p:spPr>
      </p:sp>
      <p:sp>
        <p:nvSpPr>
          <p:cNvPr id="37" name="Text 35"/>
          <p:cNvSpPr txBox="1"/>
          <p:nvPr/>
        </p:nvSpPr>
        <p:spPr>
          <a:xfrm>
            <a:off x="7214616" y="174650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38" name="Shape 36"/>
          <p:cNvSpPr/>
          <p:nvPr/>
        </p:nvSpPr>
        <p:spPr>
          <a:xfrm>
            <a:off x="274320" y="2084832"/>
            <a:ext cx="2011680" cy="338328"/>
          </a:xfrm>
          <a:prstGeom prst="rect">
            <a:avLst/>
          </a:prstGeom>
          <a:solidFill>
            <a:srgbClr val="DDE3F0"/>
          </a:solidFill>
          <a:ln/>
        </p:spPr>
      </p:sp>
      <p:sp>
        <p:nvSpPr>
          <p:cNvPr id="39" name="Text 37"/>
          <p:cNvSpPr txBox="1"/>
          <p:nvPr/>
        </p:nvSpPr>
        <p:spPr>
          <a:xfrm>
            <a:off x="274320" y="211226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I-2: Factibilidad temprana</a:t>
            </a:r>
            <a:endParaRPr lang="en-US" sz="1000" dirty="0"/>
          </a:p>
        </p:txBody>
      </p:sp>
      <p:sp>
        <p:nvSpPr>
          <p:cNvPr id="40" name="Shape 38"/>
          <p:cNvSpPr/>
          <p:nvPr/>
        </p:nvSpPr>
        <p:spPr>
          <a:xfrm>
            <a:off x="2331720" y="2084832"/>
            <a:ext cx="731520" cy="338328"/>
          </a:xfrm>
          <a:prstGeom prst="rect">
            <a:avLst/>
          </a:prstGeom>
          <a:solidFill>
            <a:srgbClr val="DDE3F0"/>
          </a:solidFill>
          <a:ln/>
        </p:spPr>
      </p:sp>
      <p:sp>
        <p:nvSpPr>
          <p:cNvPr id="41" name="Text 39"/>
          <p:cNvSpPr txBox="1"/>
          <p:nvPr/>
        </p:nvSpPr>
        <p:spPr>
          <a:xfrm>
            <a:off x="2331720" y="21122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2" name="Shape 40"/>
          <p:cNvSpPr/>
          <p:nvPr/>
        </p:nvSpPr>
        <p:spPr>
          <a:xfrm>
            <a:off x="3090672" y="2084832"/>
            <a:ext cx="731520" cy="338328"/>
          </a:xfrm>
          <a:prstGeom prst="rect">
            <a:avLst/>
          </a:prstGeom>
          <a:solidFill>
            <a:srgbClr val="DDE3F0"/>
          </a:solidFill>
          <a:ln/>
        </p:spPr>
      </p:sp>
      <p:sp>
        <p:nvSpPr>
          <p:cNvPr id="43" name="Text 41"/>
          <p:cNvSpPr txBox="1"/>
          <p:nvPr/>
        </p:nvSpPr>
        <p:spPr>
          <a:xfrm>
            <a:off x="3090672" y="21122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4" name="Shape 42"/>
          <p:cNvSpPr/>
          <p:nvPr/>
        </p:nvSpPr>
        <p:spPr>
          <a:xfrm>
            <a:off x="3849624" y="2084832"/>
            <a:ext cx="914400" cy="338328"/>
          </a:xfrm>
          <a:prstGeom prst="rect">
            <a:avLst/>
          </a:prstGeom>
          <a:solidFill>
            <a:srgbClr val="DDE3F0"/>
          </a:solidFill>
          <a:ln/>
        </p:spPr>
      </p:sp>
      <p:sp>
        <p:nvSpPr>
          <p:cNvPr id="45" name="Text 43"/>
          <p:cNvSpPr txBox="1"/>
          <p:nvPr/>
        </p:nvSpPr>
        <p:spPr>
          <a:xfrm>
            <a:off x="3849624" y="2112264"/>
            <a:ext cx="91440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46" name="Shape 44"/>
          <p:cNvSpPr/>
          <p:nvPr/>
        </p:nvSpPr>
        <p:spPr>
          <a:xfrm>
            <a:off x="4791456" y="2084832"/>
            <a:ext cx="822960" cy="338328"/>
          </a:xfrm>
          <a:prstGeom prst="rect">
            <a:avLst/>
          </a:prstGeom>
          <a:solidFill>
            <a:srgbClr val="DDE3F0"/>
          </a:solidFill>
          <a:ln/>
        </p:spPr>
      </p:sp>
      <p:sp>
        <p:nvSpPr>
          <p:cNvPr id="47" name="Text 45"/>
          <p:cNvSpPr txBox="1"/>
          <p:nvPr/>
        </p:nvSpPr>
        <p:spPr>
          <a:xfrm>
            <a:off x="4791456" y="2112264"/>
            <a:ext cx="82296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48" name="Shape 46"/>
          <p:cNvSpPr/>
          <p:nvPr/>
        </p:nvSpPr>
        <p:spPr>
          <a:xfrm>
            <a:off x="5632704" y="2084832"/>
            <a:ext cx="777240" cy="338328"/>
          </a:xfrm>
          <a:prstGeom prst="rect">
            <a:avLst/>
          </a:prstGeom>
          <a:solidFill>
            <a:srgbClr val="DDE3F0"/>
          </a:solidFill>
          <a:ln/>
        </p:spPr>
      </p:sp>
      <p:sp>
        <p:nvSpPr>
          <p:cNvPr id="49" name="Text 47"/>
          <p:cNvSpPr txBox="1"/>
          <p:nvPr/>
        </p:nvSpPr>
        <p:spPr>
          <a:xfrm>
            <a:off x="5632704" y="211226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50" name="Shape 48"/>
          <p:cNvSpPr/>
          <p:nvPr/>
        </p:nvSpPr>
        <p:spPr>
          <a:xfrm>
            <a:off x="6437376" y="2084832"/>
            <a:ext cx="749808" cy="338328"/>
          </a:xfrm>
          <a:prstGeom prst="rect">
            <a:avLst/>
          </a:prstGeom>
          <a:solidFill>
            <a:srgbClr val="DDE3F0"/>
          </a:solidFill>
          <a:ln/>
        </p:spPr>
      </p:sp>
      <p:sp>
        <p:nvSpPr>
          <p:cNvPr id="51" name="Text 49"/>
          <p:cNvSpPr txBox="1"/>
          <p:nvPr/>
        </p:nvSpPr>
        <p:spPr>
          <a:xfrm>
            <a:off x="6437376" y="2112264"/>
            <a:ext cx="749808"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52" name="Shape 50"/>
          <p:cNvSpPr/>
          <p:nvPr/>
        </p:nvSpPr>
        <p:spPr>
          <a:xfrm>
            <a:off x="7214616" y="2084832"/>
            <a:ext cx="777240" cy="338328"/>
          </a:xfrm>
          <a:prstGeom prst="rect">
            <a:avLst/>
          </a:prstGeom>
          <a:solidFill>
            <a:srgbClr val="DDE3F0"/>
          </a:solidFill>
          <a:ln/>
        </p:spPr>
      </p:sp>
      <p:sp>
        <p:nvSpPr>
          <p:cNvPr id="53" name="Text 51"/>
          <p:cNvSpPr txBox="1"/>
          <p:nvPr/>
        </p:nvSpPr>
        <p:spPr>
          <a:xfrm>
            <a:off x="7214616" y="211226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54" name="Shape 52"/>
          <p:cNvSpPr/>
          <p:nvPr/>
        </p:nvSpPr>
        <p:spPr>
          <a:xfrm>
            <a:off x="274320" y="2450592"/>
            <a:ext cx="2011680" cy="338328"/>
          </a:xfrm>
          <a:prstGeom prst="rect">
            <a:avLst/>
          </a:prstGeom>
          <a:solidFill>
            <a:srgbClr val="F4F4F4"/>
          </a:solidFill>
          <a:ln/>
        </p:spPr>
      </p:sp>
      <p:sp>
        <p:nvSpPr>
          <p:cNvPr id="55" name="Text 53"/>
          <p:cNvSpPr txBox="1"/>
          <p:nvPr/>
        </p:nvSpPr>
        <p:spPr>
          <a:xfrm>
            <a:off x="274320" y="247802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I-3: Estrategia contratación</a:t>
            </a:r>
            <a:endParaRPr lang="en-US" sz="1000" dirty="0"/>
          </a:p>
        </p:txBody>
      </p:sp>
      <p:sp>
        <p:nvSpPr>
          <p:cNvPr id="56" name="Shape 54"/>
          <p:cNvSpPr/>
          <p:nvPr/>
        </p:nvSpPr>
        <p:spPr>
          <a:xfrm>
            <a:off x="2331720" y="2450592"/>
            <a:ext cx="731520" cy="338328"/>
          </a:xfrm>
          <a:prstGeom prst="rect">
            <a:avLst/>
          </a:prstGeom>
          <a:solidFill>
            <a:srgbClr val="F4F4F4"/>
          </a:solidFill>
          <a:ln/>
        </p:spPr>
      </p:sp>
      <p:sp>
        <p:nvSpPr>
          <p:cNvPr id="57" name="Text 55"/>
          <p:cNvSpPr txBox="1"/>
          <p:nvPr/>
        </p:nvSpPr>
        <p:spPr>
          <a:xfrm>
            <a:off x="2331720" y="24780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58" name="Shape 56"/>
          <p:cNvSpPr/>
          <p:nvPr/>
        </p:nvSpPr>
        <p:spPr>
          <a:xfrm>
            <a:off x="3090672" y="2450592"/>
            <a:ext cx="731520" cy="338328"/>
          </a:xfrm>
          <a:prstGeom prst="rect">
            <a:avLst/>
          </a:prstGeom>
          <a:solidFill>
            <a:srgbClr val="F4F4F4"/>
          </a:solidFill>
          <a:ln/>
        </p:spPr>
      </p:sp>
      <p:sp>
        <p:nvSpPr>
          <p:cNvPr id="59" name="Text 57"/>
          <p:cNvSpPr txBox="1"/>
          <p:nvPr/>
        </p:nvSpPr>
        <p:spPr>
          <a:xfrm>
            <a:off x="3090672" y="24780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849624" y="2450592"/>
            <a:ext cx="914400" cy="338328"/>
          </a:xfrm>
          <a:prstGeom prst="rect">
            <a:avLst/>
          </a:prstGeom>
          <a:solidFill>
            <a:srgbClr val="F4F4F4"/>
          </a:solidFill>
          <a:ln/>
        </p:spPr>
      </p:sp>
      <p:sp>
        <p:nvSpPr>
          <p:cNvPr id="61" name="Text 59"/>
          <p:cNvSpPr txBox="1"/>
          <p:nvPr/>
        </p:nvSpPr>
        <p:spPr>
          <a:xfrm>
            <a:off x="3849624" y="247802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2" name="Shape 60"/>
          <p:cNvSpPr/>
          <p:nvPr/>
        </p:nvSpPr>
        <p:spPr>
          <a:xfrm>
            <a:off x="4791456" y="2450592"/>
            <a:ext cx="822960" cy="338328"/>
          </a:xfrm>
          <a:prstGeom prst="rect">
            <a:avLst/>
          </a:prstGeom>
          <a:solidFill>
            <a:srgbClr val="F4F4F4"/>
          </a:solidFill>
          <a:ln/>
        </p:spPr>
      </p:sp>
      <p:sp>
        <p:nvSpPr>
          <p:cNvPr id="63" name="Text 61"/>
          <p:cNvSpPr txBox="1"/>
          <p:nvPr/>
        </p:nvSpPr>
        <p:spPr>
          <a:xfrm>
            <a:off x="4791456" y="2478024"/>
            <a:ext cx="82296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64" name="Shape 62"/>
          <p:cNvSpPr/>
          <p:nvPr/>
        </p:nvSpPr>
        <p:spPr>
          <a:xfrm>
            <a:off x="5632704" y="2450592"/>
            <a:ext cx="777240" cy="338328"/>
          </a:xfrm>
          <a:prstGeom prst="rect">
            <a:avLst/>
          </a:prstGeom>
          <a:solidFill>
            <a:srgbClr val="F4F4F4"/>
          </a:solidFill>
          <a:ln/>
        </p:spPr>
      </p:sp>
      <p:sp>
        <p:nvSpPr>
          <p:cNvPr id="65" name="Text 63"/>
          <p:cNvSpPr txBox="1"/>
          <p:nvPr/>
        </p:nvSpPr>
        <p:spPr>
          <a:xfrm>
            <a:off x="5632704" y="247802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66" name="Shape 64"/>
          <p:cNvSpPr/>
          <p:nvPr/>
        </p:nvSpPr>
        <p:spPr>
          <a:xfrm>
            <a:off x="6437376" y="2450592"/>
            <a:ext cx="749808" cy="338328"/>
          </a:xfrm>
          <a:prstGeom prst="rect">
            <a:avLst/>
          </a:prstGeom>
          <a:solidFill>
            <a:srgbClr val="F4F4F4"/>
          </a:solidFill>
          <a:ln/>
        </p:spPr>
      </p:sp>
      <p:sp>
        <p:nvSpPr>
          <p:cNvPr id="67" name="Text 65"/>
          <p:cNvSpPr txBox="1"/>
          <p:nvPr/>
        </p:nvSpPr>
        <p:spPr>
          <a:xfrm>
            <a:off x="6437376" y="2478024"/>
            <a:ext cx="749808"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68" name="Shape 66"/>
          <p:cNvSpPr/>
          <p:nvPr/>
        </p:nvSpPr>
        <p:spPr>
          <a:xfrm>
            <a:off x="7214616" y="2450592"/>
            <a:ext cx="777240" cy="338328"/>
          </a:xfrm>
          <a:prstGeom prst="rect">
            <a:avLst/>
          </a:prstGeom>
          <a:solidFill>
            <a:srgbClr val="F4F4F4"/>
          </a:solidFill>
          <a:ln/>
        </p:spPr>
      </p:sp>
      <p:sp>
        <p:nvSpPr>
          <p:cNvPr id="69" name="Text 67"/>
          <p:cNvSpPr txBox="1"/>
          <p:nvPr/>
        </p:nvSpPr>
        <p:spPr>
          <a:xfrm>
            <a:off x="7214616" y="247802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70" name="Shape 68"/>
          <p:cNvSpPr/>
          <p:nvPr/>
        </p:nvSpPr>
        <p:spPr>
          <a:xfrm>
            <a:off x="274320" y="2816352"/>
            <a:ext cx="2011680" cy="338328"/>
          </a:xfrm>
          <a:prstGeom prst="rect">
            <a:avLst/>
          </a:prstGeom>
          <a:solidFill>
            <a:srgbClr val="DDE3F0"/>
          </a:solidFill>
          <a:ln/>
        </p:spPr>
      </p:sp>
      <p:sp>
        <p:nvSpPr>
          <p:cNvPr id="71" name="Text 69"/>
          <p:cNvSpPr txBox="1"/>
          <p:nvPr/>
        </p:nvSpPr>
        <p:spPr>
          <a:xfrm>
            <a:off x="274320" y="284378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I-4: Cronograma orientado</a:t>
            </a:r>
            <a:endParaRPr lang="en-US" sz="1000" dirty="0"/>
          </a:p>
        </p:txBody>
      </p:sp>
      <p:sp>
        <p:nvSpPr>
          <p:cNvPr id="72" name="Shape 70"/>
          <p:cNvSpPr/>
          <p:nvPr/>
        </p:nvSpPr>
        <p:spPr>
          <a:xfrm>
            <a:off x="2331720" y="2816352"/>
            <a:ext cx="731520" cy="338328"/>
          </a:xfrm>
          <a:prstGeom prst="rect">
            <a:avLst/>
          </a:prstGeom>
          <a:solidFill>
            <a:srgbClr val="DDE3F0"/>
          </a:solidFill>
          <a:ln/>
        </p:spPr>
      </p:sp>
      <p:sp>
        <p:nvSpPr>
          <p:cNvPr id="73" name="Text 71"/>
          <p:cNvSpPr txBox="1"/>
          <p:nvPr/>
        </p:nvSpPr>
        <p:spPr>
          <a:xfrm>
            <a:off x="2331720" y="284378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4" name="Shape 72"/>
          <p:cNvSpPr/>
          <p:nvPr/>
        </p:nvSpPr>
        <p:spPr>
          <a:xfrm>
            <a:off x="3090672" y="2816352"/>
            <a:ext cx="731520" cy="338328"/>
          </a:xfrm>
          <a:prstGeom prst="rect">
            <a:avLst/>
          </a:prstGeom>
          <a:solidFill>
            <a:srgbClr val="DDE3F0"/>
          </a:solidFill>
          <a:ln/>
        </p:spPr>
      </p:sp>
      <p:sp>
        <p:nvSpPr>
          <p:cNvPr id="75" name="Text 73"/>
          <p:cNvSpPr txBox="1"/>
          <p:nvPr/>
        </p:nvSpPr>
        <p:spPr>
          <a:xfrm>
            <a:off x="3090672" y="284378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6" name="Shape 74"/>
          <p:cNvSpPr/>
          <p:nvPr/>
        </p:nvSpPr>
        <p:spPr>
          <a:xfrm>
            <a:off x="3849624" y="2816352"/>
            <a:ext cx="914400" cy="338328"/>
          </a:xfrm>
          <a:prstGeom prst="rect">
            <a:avLst/>
          </a:prstGeom>
          <a:solidFill>
            <a:srgbClr val="DDE3F0"/>
          </a:solidFill>
          <a:ln/>
        </p:spPr>
      </p:sp>
      <p:sp>
        <p:nvSpPr>
          <p:cNvPr id="77" name="Text 75"/>
          <p:cNvSpPr txBox="1"/>
          <p:nvPr/>
        </p:nvSpPr>
        <p:spPr>
          <a:xfrm>
            <a:off x="3849624" y="284378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8" name="Shape 76"/>
          <p:cNvSpPr/>
          <p:nvPr/>
        </p:nvSpPr>
        <p:spPr>
          <a:xfrm>
            <a:off x="4791456" y="2816352"/>
            <a:ext cx="822960" cy="338328"/>
          </a:xfrm>
          <a:prstGeom prst="rect">
            <a:avLst/>
          </a:prstGeom>
          <a:solidFill>
            <a:srgbClr val="DDE3F0"/>
          </a:solidFill>
          <a:ln/>
        </p:spPr>
      </p:sp>
      <p:sp>
        <p:nvSpPr>
          <p:cNvPr id="79" name="Text 77"/>
          <p:cNvSpPr txBox="1"/>
          <p:nvPr/>
        </p:nvSpPr>
        <p:spPr>
          <a:xfrm>
            <a:off x="4791456" y="284378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0" name="Shape 78"/>
          <p:cNvSpPr/>
          <p:nvPr/>
        </p:nvSpPr>
        <p:spPr>
          <a:xfrm>
            <a:off x="5632704" y="2816352"/>
            <a:ext cx="777240" cy="338328"/>
          </a:xfrm>
          <a:prstGeom prst="rect">
            <a:avLst/>
          </a:prstGeom>
          <a:solidFill>
            <a:srgbClr val="DDE3F0"/>
          </a:solidFill>
          <a:ln/>
        </p:spPr>
      </p:sp>
      <p:sp>
        <p:nvSpPr>
          <p:cNvPr id="81" name="Text 79"/>
          <p:cNvSpPr txBox="1"/>
          <p:nvPr/>
        </p:nvSpPr>
        <p:spPr>
          <a:xfrm>
            <a:off x="5632704" y="284378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2" name="Shape 80"/>
          <p:cNvSpPr/>
          <p:nvPr/>
        </p:nvSpPr>
        <p:spPr>
          <a:xfrm>
            <a:off x="6437376" y="2816352"/>
            <a:ext cx="749808" cy="338328"/>
          </a:xfrm>
          <a:prstGeom prst="rect">
            <a:avLst/>
          </a:prstGeom>
          <a:solidFill>
            <a:srgbClr val="DDE3F0"/>
          </a:solidFill>
          <a:ln/>
        </p:spPr>
      </p:sp>
      <p:sp>
        <p:nvSpPr>
          <p:cNvPr id="83" name="Text 81"/>
          <p:cNvSpPr txBox="1"/>
          <p:nvPr/>
        </p:nvSpPr>
        <p:spPr>
          <a:xfrm>
            <a:off x="6437376" y="2843784"/>
            <a:ext cx="749808"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84" name="Shape 82"/>
          <p:cNvSpPr/>
          <p:nvPr/>
        </p:nvSpPr>
        <p:spPr>
          <a:xfrm>
            <a:off x="7214616" y="2816352"/>
            <a:ext cx="777240" cy="338328"/>
          </a:xfrm>
          <a:prstGeom prst="rect">
            <a:avLst/>
          </a:prstGeom>
          <a:solidFill>
            <a:srgbClr val="DDE3F0"/>
          </a:solidFill>
          <a:ln/>
        </p:spPr>
      </p:sp>
      <p:sp>
        <p:nvSpPr>
          <p:cNvPr id="85" name="Text 83"/>
          <p:cNvSpPr txBox="1"/>
          <p:nvPr/>
        </p:nvSpPr>
        <p:spPr>
          <a:xfrm>
            <a:off x="7214616" y="284378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86" name="Shape 84"/>
          <p:cNvSpPr/>
          <p:nvPr/>
        </p:nvSpPr>
        <p:spPr>
          <a:xfrm>
            <a:off x="274320" y="3182112"/>
            <a:ext cx="2011680" cy="338328"/>
          </a:xfrm>
          <a:prstGeom prst="rect">
            <a:avLst/>
          </a:prstGeom>
          <a:solidFill>
            <a:srgbClr val="F4F4F4"/>
          </a:solidFill>
          <a:ln/>
        </p:spPr>
      </p:sp>
      <p:sp>
        <p:nvSpPr>
          <p:cNvPr id="87" name="Text 85"/>
          <p:cNvSpPr txBox="1"/>
          <p:nvPr/>
        </p:nvSpPr>
        <p:spPr>
          <a:xfrm>
            <a:off x="274320" y="320954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I-5: Métodos constructivos</a:t>
            </a:r>
            <a:endParaRPr lang="en-US" sz="1000" dirty="0"/>
          </a:p>
        </p:txBody>
      </p:sp>
      <p:sp>
        <p:nvSpPr>
          <p:cNvPr id="88" name="Shape 86"/>
          <p:cNvSpPr/>
          <p:nvPr/>
        </p:nvSpPr>
        <p:spPr>
          <a:xfrm>
            <a:off x="2331720" y="3182112"/>
            <a:ext cx="731520" cy="338328"/>
          </a:xfrm>
          <a:prstGeom prst="rect">
            <a:avLst/>
          </a:prstGeom>
          <a:solidFill>
            <a:srgbClr val="F4F4F4"/>
          </a:solidFill>
          <a:ln/>
        </p:spPr>
      </p:sp>
      <p:sp>
        <p:nvSpPr>
          <p:cNvPr id="89" name="Text 87"/>
          <p:cNvSpPr txBox="1"/>
          <p:nvPr/>
        </p:nvSpPr>
        <p:spPr>
          <a:xfrm>
            <a:off x="2331720" y="320954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0" name="Shape 88"/>
          <p:cNvSpPr/>
          <p:nvPr/>
        </p:nvSpPr>
        <p:spPr>
          <a:xfrm>
            <a:off x="3090672" y="3182112"/>
            <a:ext cx="731520" cy="338328"/>
          </a:xfrm>
          <a:prstGeom prst="rect">
            <a:avLst/>
          </a:prstGeom>
          <a:solidFill>
            <a:srgbClr val="F4F4F4"/>
          </a:solidFill>
          <a:ln/>
        </p:spPr>
      </p:sp>
      <p:sp>
        <p:nvSpPr>
          <p:cNvPr id="91" name="Text 89"/>
          <p:cNvSpPr txBox="1"/>
          <p:nvPr/>
        </p:nvSpPr>
        <p:spPr>
          <a:xfrm>
            <a:off x="3090672" y="320954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2" name="Shape 90"/>
          <p:cNvSpPr/>
          <p:nvPr/>
        </p:nvSpPr>
        <p:spPr>
          <a:xfrm>
            <a:off x="3849624" y="3182112"/>
            <a:ext cx="914400" cy="338328"/>
          </a:xfrm>
          <a:prstGeom prst="rect">
            <a:avLst/>
          </a:prstGeom>
          <a:solidFill>
            <a:srgbClr val="F4F4F4"/>
          </a:solidFill>
          <a:ln/>
        </p:spPr>
      </p:sp>
      <p:sp>
        <p:nvSpPr>
          <p:cNvPr id="93" name="Text 91"/>
          <p:cNvSpPr txBox="1"/>
          <p:nvPr/>
        </p:nvSpPr>
        <p:spPr>
          <a:xfrm>
            <a:off x="3849624" y="320954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4" name="Shape 92"/>
          <p:cNvSpPr/>
          <p:nvPr/>
        </p:nvSpPr>
        <p:spPr>
          <a:xfrm>
            <a:off x="4791456" y="3182112"/>
            <a:ext cx="822960" cy="338328"/>
          </a:xfrm>
          <a:prstGeom prst="rect">
            <a:avLst/>
          </a:prstGeom>
          <a:solidFill>
            <a:srgbClr val="F4F4F4"/>
          </a:solidFill>
          <a:ln/>
        </p:spPr>
      </p:sp>
      <p:sp>
        <p:nvSpPr>
          <p:cNvPr id="95" name="Text 93"/>
          <p:cNvSpPr txBox="1"/>
          <p:nvPr/>
        </p:nvSpPr>
        <p:spPr>
          <a:xfrm>
            <a:off x="4791456" y="320954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6" name="Shape 94"/>
          <p:cNvSpPr/>
          <p:nvPr/>
        </p:nvSpPr>
        <p:spPr>
          <a:xfrm>
            <a:off x="5632704" y="3182112"/>
            <a:ext cx="777240" cy="338328"/>
          </a:xfrm>
          <a:prstGeom prst="rect">
            <a:avLst/>
          </a:prstGeom>
          <a:solidFill>
            <a:srgbClr val="F4F4F4"/>
          </a:solidFill>
          <a:ln/>
        </p:spPr>
      </p:sp>
      <p:sp>
        <p:nvSpPr>
          <p:cNvPr id="97" name="Text 95"/>
          <p:cNvSpPr txBox="1"/>
          <p:nvPr/>
        </p:nvSpPr>
        <p:spPr>
          <a:xfrm>
            <a:off x="5632704" y="320954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98" name="Shape 96"/>
          <p:cNvSpPr/>
          <p:nvPr/>
        </p:nvSpPr>
        <p:spPr>
          <a:xfrm>
            <a:off x="6437376" y="3182112"/>
            <a:ext cx="749808" cy="338328"/>
          </a:xfrm>
          <a:prstGeom prst="rect">
            <a:avLst/>
          </a:prstGeom>
          <a:solidFill>
            <a:srgbClr val="F4F4F4"/>
          </a:solidFill>
          <a:ln/>
        </p:spPr>
      </p:sp>
      <p:sp>
        <p:nvSpPr>
          <p:cNvPr id="99" name="Text 97"/>
          <p:cNvSpPr txBox="1"/>
          <p:nvPr/>
        </p:nvSpPr>
        <p:spPr>
          <a:xfrm>
            <a:off x="6437376" y="3209544"/>
            <a:ext cx="749808"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00" name="Shape 98"/>
          <p:cNvSpPr/>
          <p:nvPr/>
        </p:nvSpPr>
        <p:spPr>
          <a:xfrm>
            <a:off x="7214616" y="3182112"/>
            <a:ext cx="777240" cy="338328"/>
          </a:xfrm>
          <a:prstGeom prst="rect">
            <a:avLst/>
          </a:prstGeom>
          <a:solidFill>
            <a:srgbClr val="F4F4F4"/>
          </a:solidFill>
          <a:ln/>
        </p:spPr>
      </p:sp>
      <p:sp>
        <p:nvSpPr>
          <p:cNvPr id="101" name="Text 99"/>
          <p:cNvSpPr txBox="1"/>
          <p:nvPr/>
        </p:nvSpPr>
        <p:spPr>
          <a:xfrm>
            <a:off x="7214616" y="320954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02" name="Shape 100"/>
          <p:cNvSpPr/>
          <p:nvPr/>
        </p:nvSpPr>
        <p:spPr>
          <a:xfrm>
            <a:off x="274320" y="3547872"/>
            <a:ext cx="2011680" cy="338328"/>
          </a:xfrm>
          <a:prstGeom prst="rect">
            <a:avLst/>
          </a:prstGeom>
          <a:solidFill>
            <a:srgbClr val="DDE3F0"/>
          </a:solidFill>
          <a:ln/>
        </p:spPr>
      </p:sp>
      <p:sp>
        <p:nvSpPr>
          <p:cNvPr id="103" name="Text 101"/>
          <p:cNvSpPr txBox="1"/>
          <p:nvPr/>
        </p:nvSpPr>
        <p:spPr>
          <a:xfrm>
            <a:off x="274320" y="357530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II-2: Diseño eficiente</a:t>
            </a:r>
            <a:endParaRPr lang="en-US" sz="1000" dirty="0"/>
          </a:p>
        </p:txBody>
      </p:sp>
      <p:sp>
        <p:nvSpPr>
          <p:cNvPr id="104" name="Shape 102"/>
          <p:cNvSpPr/>
          <p:nvPr/>
        </p:nvSpPr>
        <p:spPr>
          <a:xfrm>
            <a:off x="2331720" y="3547872"/>
            <a:ext cx="731520" cy="338328"/>
          </a:xfrm>
          <a:prstGeom prst="rect">
            <a:avLst/>
          </a:prstGeom>
          <a:solidFill>
            <a:srgbClr val="DDE3F0"/>
          </a:solidFill>
          <a:ln/>
        </p:spPr>
      </p:sp>
      <p:sp>
        <p:nvSpPr>
          <p:cNvPr id="105" name="Text 103"/>
          <p:cNvSpPr txBox="1"/>
          <p:nvPr/>
        </p:nvSpPr>
        <p:spPr>
          <a:xfrm>
            <a:off x="2331720" y="3575304"/>
            <a:ext cx="73152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06" name="Shape 104"/>
          <p:cNvSpPr/>
          <p:nvPr/>
        </p:nvSpPr>
        <p:spPr>
          <a:xfrm>
            <a:off x="3090672" y="3547872"/>
            <a:ext cx="731520" cy="338328"/>
          </a:xfrm>
          <a:prstGeom prst="rect">
            <a:avLst/>
          </a:prstGeom>
          <a:solidFill>
            <a:srgbClr val="DDE3F0"/>
          </a:solidFill>
          <a:ln/>
        </p:spPr>
      </p:sp>
      <p:sp>
        <p:nvSpPr>
          <p:cNvPr id="107" name="Text 105"/>
          <p:cNvSpPr txBox="1"/>
          <p:nvPr/>
        </p:nvSpPr>
        <p:spPr>
          <a:xfrm>
            <a:off x="3090672" y="35753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08" name="Shape 106"/>
          <p:cNvSpPr/>
          <p:nvPr/>
        </p:nvSpPr>
        <p:spPr>
          <a:xfrm>
            <a:off x="3849624" y="3547872"/>
            <a:ext cx="914400" cy="338328"/>
          </a:xfrm>
          <a:prstGeom prst="rect">
            <a:avLst/>
          </a:prstGeom>
          <a:solidFill>
            <a:srgbClr val="DDE3F0"/>
          </a:solidFill>
          <a:ln/>
        </p:spPr>
      </p:sp>
      <p:sp>
        <p:nvSpPr>
          <p:cNvPr id="109" name="Text 107"/>
          <p:cNvSpPr txBox="1"/>
          <p:nvPr/>
        </p:nvSpPr>
        <p:spPr>
          <a:xfrm>
            <a:off x="3849624" y="357530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0" name="Shape 108"/>
          <p:cNvSpPr/>
          <p:nvPr/>
        </p:nvSpPr>
        <p:spPr>
          <a:xfrm>
            <a:off x="4791456" y="3547872"/>
            <a:ext cx="822960" cy="338328"/>
          </a:xfrm>
          <a:prstGeom prst="rect">
            <a:avLst/>
          </a:prstGeom>
          <a:solidFill>
            <a:srgbClr val="DDE3F0"/>
          </a:solidFill>
          <a:ln/>
        </p:spPr>
      </p:sp>
      <p:sp>
        <p:nvSpPr>
          <p:cNvPr id="111" name="Text 109"/>
          <p:cNvSpPr txBox="1"/>
          <p:nvPr/>
        </p:nvSpPr>
        <p:spPr>
          <a:xfrm>
            <a:off x="4791456" y="357530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2" name="Shape 110"/>
          <p:cNvSpPr/>
          <p:nvPr/>
        </p:nvSpPr>
        <p:spPr>
          <a:xfrm>
            <a:off x="5632704" y="3547872"/>
            <a:ext cx="777240" cy="338328"/>
          </a:xfrm>
          <a:prstGeom prst="rect">
            <a:avLst/>
          </a:prstGeom>
          <a:solidFill>
            <a:srgbClr val="DDE3F0"/>
          </a:solidFill>
          <a:ln/>
        </p:spPr>
      </p:sp>
      <p:sp>
        <p:nvSpPr>
          <p:cNvPr id="113" name="Text 111"/>
          <p:cNvSpPr txBox="1"/>
          <p:nvPr/>
        </p:nvSpPr>
        <p:spPr>
          <a:xfrm>
            <a:off x="5632704" y="357530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4" name="Shape 112"/>
          <p:cNvSpPr/>
          <p:nvPr/>
        </p:nvSpPr>
        <p:spPr>
          <a:xfrm>
            <a:off x="6437376" y="3547872"/>
            <a:ext cx="749808" cy="338328"/>
          </a:xfrm>
          <a:prstGeom prst="rect">
            <a:avLst/>
          </a:prstGeom>
          <a:solidFill>
            <a:srgbClr val="DDE3F0"/>
          </a:solidFill>
          <a:ln/>
        </p:spPr>
      </p:sp>
      <p:sp>
        <p:nvSpPr>
          <p:cNvPr id="115" name="Text 113"/>
          <p:cNvSpPr txBox="1"/>
          <p:nvPr/>
        </p:nvSpPr>
        <p:spPr>
          <a:xfrm>
            <a:off x="6437376" y="3575304"/>
            <a:ext cx="749808"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16" name="Shape 114"/>
          <p:cNvSpPr/>
          <p:nvPr/>
        </p:nvSpPr>
        <p:spPr>
          <a:xfrm>
            <a:off x="7214616" y="3547872"/>
            <a:ext cx="777240" cy="338328"/>
          </a:xfrm>
          <a:prstGeom prst="rect">
            <a:avLst/>
          </a:prstGeom>
          <a:solidFill>
            <a:srgbClr val="DDE3F0"/>
          </a:solidFill>
          <a:ln/>
        </p:spPr>
      </p:sp>
      <p:sp>
        <p:nvSpPr>
          <p:cNvPr id="117" name="Text 115"/>
          <p:cNvSpPr txBox="1"/>
          <p:nvPr/>
        </p:nvSpPr>
        <p:spPr>
          <a:xfrm>
            <a:off x="7214616" y="357530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18" name="Shape 116"/>
          <p:cNvSpPr/>
          <p:nvPr/>
        </p:nvSpPr>
        <p:spPr>
          <a:xfrm>
            <a:off x="274320" y="3913632"/>
            <a:ext cx="2011680" cy="338328"/>
          </a:xfrm>
          <a:prstGeom prst="rect">
            <a:avLst/>
          </a:prstGeom>
          <a:solidFill>
            <a:srgbClr val="F4F4F4"/>
          </a:solidFill>
          <a:ln/>
        </p:spPr>
      </p:sp>
      <p:sp>
        <p:nvSpPr>
          <p:cNvPr id="119" name="Text 117"/>
          <p:cNvSpPr txBox="1"/>
          <p:nvPr/>
        </p:nvSpPr>
        <p:spPr>
          <a:xfrm>
            <a:off x="274320" y="394106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II-3: Estandarización</a:t>
            </a:r>
            <a:endParaRPr lang="en-US" sz="1000" dirty="0"/>
          </a:p>
        </p:txBody>
      </p:sp>
      <p:sp>
        <p:nvSpPr>
          <p:cNvPr id="120" name="Shape 118"/>
          <p:cNvSpPr/>
          <p:nvPr/>
        </p:nvSpPr>
        <p:spPr>
          <a:xfrm>
            <a:off x="2331720" y="3913632"/>
            <a:ext cx="731520" cy="338328"/>
          </a:xfrm>
          <a:prstGeom prst="rect">
            <a:avLst/>
          </a:prstGeom>
          <a:solidFill>
            <a:srgbClr val="F4F4F4"/>
          </a:solidFill>
          <a:ln/>
        </p:spPr>
      </p:sp>
      <p:sp>
        <p:nvSpPr>
          <p:cNvPr id="121" name="Text 119"/>
          <p:cNvSpPr txBox="1"/>
          <p:nvPr/>
        </p:nvSpPr>
        <p:spPr>
          <a:xfrm>
            <a:off x="2331720" y="3941064"/>
            <a:ext cx="73152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22" name="Shape 120"/>
          <p:cNvSpPr/>
          <p:nvPr/>
        </p:nvSpPr>
        <p:spPr>
          <a:xfrm>
            <a:off x="3090672" y="3913632"/>
            <a:ext cx="731520" cy="338328"/>
          </a:xfrm>
          <a:prstGeom prst="rect">
            <a:avLst/>
          </a:prstGeom>
          <a:solidFill>
            <a:srgbClr val="F4F4F4"/>
          </a:solidFill>
          <a:ln/>
        </p:spPr>
      </p:sp>
      <p:sp>
        <p:nvSpPr>
          <p:cNvPr id="123" name="Text 121"/>
          <p:cNvSpPr txBox="1"/>
          <p:nvPr/>
        </p:nvSpPr>
        <p:spPr>
          <a:xfrm>
            <a:off x="3090672" y="39410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4" name="Shape 122"/>
          <p:cNvSpPr/>
          <p:nvPr/>
        </p:nvSpPr>
        <p:spPr>
          <a:xfrm>
            <a:off x="3849624" y="3913632"/>
            <a:ext cx="914400" cy="338328"/>
          </a:xfrm>
          <a:prstGeom prst="rect">
            <a:avLst/>
          </a:prstGeom>
          <a:solidFill>
            <a:srgbClr val="F4F4F4"/>
          </a:solidFill>
          <a:ln/>
        </p:spPr>
      </p:sp>
      <p:sp>
        <p:nvSpPr>
          <p:cNvPr id="125" name="Text 123"/>
          <p:cNvSpPr txBox="1"/>
          <p:nvPr/>
        </p:nvSpPr>
        <p:spPr>
          <a:xfrm>
            <a:off x="3849624" y="394106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6" name="Shape 124"/>
          <p:cNvSpPr/>
          <p:nvPr/>
        </p:nvSpPr>
        <p:spPr>
          <a:xfrm>
            <a:off x="4791456" y="3913632"/>
            <a:ext cx="822960" cy="338328"/>
          </a:xfrm>
          <a:prstGeom prst="rect">
            <a:avLst/>
          </a:prstGeom>
          <a:solidFill>
            <a:srgbClr val="F4F4F4"/>
          </a:solidFill>
          <a:ln/>
        </p:spPr>
      </p:sp>
      <p:sp>
        <p:nvSpPr>
          <p:cNvPr id="127" name="Text 125"/>
          <p:cNvSpPr txBox="1"/>
          <p:nvPr/>
        </p:nvSpPr>
        <p:spPr>
          <a:xfrm>
            <a:off x="4791456" y="394106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8" name="Shape 126"/>
          <p:cNvSpPr/>
          <p:nvPr/>
        </p:nvSpPr>
        <p:spPr>
          <a:xfrm>
            <a:off x="5632704" y="3913632"/>
            <a:ext cx="777240" cy="338328"/>
          </a:xfrm>
          <a:prstGeom prst="rect">
            <a:avLst/>
          </a:prstGeom>
          <a:solidFill>
            <a:srgbClr val="F4F4F4"/>
          </a:solidFill>
          <a:ln/>
        </p:spPr>
      </p:sp>
      <p:sp>
        <p:nvSpPr>
          <p:cNvPr id="129" name="Text 127"/>
          <p:cNvSpPr txBox="1"/>
          <p:nvPr/>
        </p:nvSpPr>
        <p:spPr>
          <a:xfrm>
            <a:off x="5632704" y="394106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30" name="Shape 128"/>
          <p:cNvSpPr/>
          <p:nvPr/>
        </p:nvSpPr>
        <p:spPr>
          <a:xfrm>
            <a:off x="6437376" y="3913632"/>
            <a:ext cx="749808" cy="338328"/>
          </a:xfrm>
          <a:prstGeom prst="rect">
            <a:avLst/>
          </a:prstGeom>
          <a:solidFill>
            <a:srgbClr val="F4F4F4"/>
          </a:solidFill>
          <a:ln/>
        </p:spPr>
      </p:sp>
      <p:sp>
        <p:nvSpPr>
          <p:cNvPr id="131" name="Text 129"/>
          <p:cNvSpPr txBox="1"/>
          <p:nvPr/>
        </p:nvSpPr>
        <p:spPr>
          <a:xfrm>
            <a:off x="6437376" y="3941064"/>
            <a:ext cx="749808"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32" name="Shape 130"/>
          <p:cNvSpPr/>
          <p:nvPr/>
        </p:nvSpPr>
        <p:spPr>
          <a:xfrm>
            <a:off x="7214616" y="3913632"/>
            <a:ext cx="777240" cy="338328"/>
          </a:xfrm>
          <a:prstGeom prst="rect">
            <a:avLst/>
          </a:prstGeom>
          <a:solidFill>
            <a:srgbClr val="F4F4F4"/>
          </a:solidFill>
          <a:ln/>
        </p:spPr>
      </p:sp>
      <p:sp>
        <p:nvSpPr>
          <p:cNvPr id="133" name="Text 131"/>
          <p:cNvSpPr txBox="1"/>
          <p:nvPr/>
        </p:nvSpPr>
        <p:spPr>
          <a:xfrm>
            <a:off x="7214616" y="394106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34" name="Shape 132"/>
          <p:cNvSpPr/>
          <p:nvPr/>
        </p:nvSpPr>
        <p:spPr>
          <a:xfrm>
            <a:off x="274320" y="4279392"/>
            <a:ext cx="2011680" cy="338328"/>
          </a:xfrm>
          <a:prstGeom prst="rect">
            <a:avLst/>
          </a:prstGeom>
          <a:solidFill>
            <a:srgbClr val="DDE3F0"/>
          </a:solidFill>
          <a:ln/>
        </p:spPr>
      </p:sp>
      <p:sp>
        <p:nvSpPr>
          <p:cNvPr id="135" name="Text 133"/>
          <p:cNvSpPr txBox="1"/>
          <p:nvPr/>
        </p:nvSpPr>
        <p:spPr>
          <a:xfrm>
            <a:off x="274320" y="430682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II-5: PPMOF</a:t>
            </a:r>
            <a:endParaRPr lang="en-US" sz="1000" dirty="0"/>
          </a:p>
        </p:txBody>
      </p:sp>
      <p:sp>
        <p:nvSpPr>
          <p:cNvPr id="136" name="Shape 134"/>
          <p:cNvSpPr/>
          <p:nvPr/>
        </p:nvSpPr>
        <p:spPr>
          <a:xfrm>
            <a:off x="2331720" y="4279392"/>
            <a:ext cx="731520" cy="338328"/>
          </a:xfrm>
          <a:prstGeom prst="rect">
            <a:avLst/>
          </a:prstGeom>
          <a:solidFill>
            <a:srgbClr val="DDE3F0"/>
          </a:solidFill>
          <a:ln/>
        </p:spPr>
      </p:sp>
      <p:sp>
        <p:nvSpPr>
          <p:cNvPr id="137" name="Text 135"/>
          <p:cNvSpPr txBox="1"/>
          <p:nvPr/>
        </p:nvSpPr>
        <p:spPr>
          <a:xfrm>
            <a:off x="2331720" y="4306824"/>
            <a:ext cx="73152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38" name="Shape 136"/>
          <p:cNvSpPr/>
          <p:nvPr/>
        </p:nvSpPr>
        <p:spPr>
          <a:xfrm>
            <a:off x="3090672" y="4279392"/>
            <a:ext cx="731520" cy="338328"/>
          </a:xfrm>
          <a:prstGeom prst="rect">
            <a:avLst/>
          </a:prstGeom>
          <a:solidFill>
            <a:srgbClr val="DDE3F0"/>
          </a:solidFill>
          <a:ln/>
        </p:spPr>
      </p:sp>
      <p:sp>
        <p:nvSpPr>
          <p:cNvPr id="139" name="Text 137"/>
          <p:cNvSpPr txBox="1"/>
          <p:nvPr/>
        </p:nvSpPr>
        <p:spPr>
          <a:xfrm>
            <a:off x="3090672" y="43068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0" name="Shape 138"/>
          <p:cNvSpPr/>
          <p:nvPr/>
        </p:nvSpPr>
        <p:spPr>
          <a:xfrm>
            <a:off x="3849624" y="4279392"/>
            <a:ext cx="914400" cy="338328"/>
          </a:xfrm>
          <a:prstGeom prst="rect">
            <a:avLst/>
          </a:prstGeom>
          <a:solidFill>
            <a:srgbClr val="DDE3F0"/>
          </a:solidFill>
          <a:ln/>
        </p:spPr>
      </p:sp>
      <p:sp>
        <p:nvSpPr>
          <p:cNvPr id="141" name="Text 139"/>
          <p:cNvSpPr txBox="1"/>
          <p:nvPr/>
        </p:nvSpPr>
        <p:spPr>
          <a:xfrm>
            <a:off x="3849624" y="430682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2" name="Shape 140"/>
          <p:cNvSpPr/>
          <p:nvPr/>
        </p:nvSpPr>
        <p:spPr>
          <a:xfrm>
            <a:off x="4791456" y="4279392"/>
            <a:ext cx="822960" cy="338328"/>
          </a:xfrm>
          <a:prstGeom prst="rect">
            <a:avLst/>
          </a:prstGeom>
          <a:solidFill>
            <a:srgbClr val="DDE3F0"/>
          </a:solidFill>
          <a:ln/>
        </p:spPr>
      </p:sp>
      <p:sp>
        <p:nvSpPr>
          <p:cNvPr id="143" name="Text 141"/>
          <p:cNvSpPr txBox="1"/>
          <p:nvPr/>
        </p:nvSpPr>
        <p:spPr>
          <a:xfrm>
            <a:off x="4791456" y="430682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4" name="Shape 142"/>
          <p:cNvSpPr/>
          <p:nvPr/>
        </p:nvSpPr>
        <p:spPr>
          <a:xfrm>
            <a:off x="5632704" y="4279392"/>
            <a:ext cx="777240" cy="338328"/>
          </a:xfrm>
          <a:prstGeom prst="rect">
            <a:avLst/>
          </a:prstGeom>
          <a:solidFill>
            <a:srgbClr val="DDE3F0"/>
          </a:solidFill>
          <a:ln/>
        </p:spPr>
      </p:sp>
      <p:sp>
        <p:nvSpPr>
          <p:cNvPr id="145" name="Text 143"/>
          <p:cNvSpPr txBox="1"/>
          <p:nvPr/>
        </p:nvSpPr>
        <p:spPr>
          <a:xfrm>
            <a:off x="5632704" y="430682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6" name="Shape 144"/>
          <p:cNvSpPr/>
          <p:nvPr/>
        </p:nvSpPr>
        <p:spPr>
          <a:xfrm>
            <a:off x="6437376" y="4279392"/>
            <a:ext cx="749808" cy="338328"/>
          </a:xfrm>
          <a:prstGeom prst="rect">
            <a:avLst/>
          </a:prstGeom>
          <a:solidFill>
            <a:srgbClr val="DDE3F0"/>
          </a:solidFill>
          <a:ln/>
        </p:spPr>
      </p:sp>
      <p:sp>
        <p:nvSpPr>
          <p:cNvPr id="147" name="Text 145"/>
          <p:cNvSpPr txBox="1"/>
          <p:nvPr/>
        </p:nvSpPr>
        <p:spPr>
          <a:xfrm>
            <a:off x="6437376" y="4306824"/>
            <a:ext cx="749808"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48" name="Shape 146"/>
          <p:cNvSpPr/>
          <p:nvPr/>
        </p:nvSpPr>
        <p:spPr>
          <a:xfrm>
            <a:off x="7214616" y="4279392"/>
            <a:ext cx="777240" cy="338328"/>
          </a:xfrm>
          <a:prstGeom prst="rect">
            <a:avLst/>
          </a:prstGeom>
          <a:solidFill>
            <a:srgbClr val="DDE3F0"/>
          </a:solidFill>
          <a:ln/>
        </p:spPr>
      </p:sp>
      <p:sp>
        <p:nvSpPr>
          <p:cNvPr id="149" name="Text 147"/>
          <p:cNvSpPr txBox="1"/>
          <p:nvPr/>
        </p:nvSpPr>
        <p:spPr>
          <a:xfrm>
            <a:off x="7214616" y="430682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50" name="Shape 148"/>
          <p:cNvSpPr/>
          <p:nvPr/>
        </p:nvSpPr>
        <p:spPr>
          <a:xfrm>
            <a:off x="274320" y="4645152"/>
            <a:ext cx="2011680" cy="338328"/>
          </a:xfrm>
          <a:prstGeom prst="rect">
            <a:avLst/>
          </a:prstGeom>
          <a:solidFill>
            <a:srgbClr val="F4F4F4"/>
          </a:solidFill>
          <a:ln/>
        </p:spPr>
      </p:sp>
      <p:sp>
        <p:nvSpPr>
          <p:cNvPr id="151" name="Text 149"/>
          <p:cNvSpPr txBox="1"/>
          <p:nvPr/>
        </p:nvSpPr>
        <p:spPr>
          <a:xfrm>
            <a:off x="274320" y="467258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III-1: Innovaciones campo</a:t>
            </a:r>
            <a:endParaRPr lang="en-US" sz="1000" dirty="0"/>
          </a:p>
        </p:txBody>
      </p:sp>
      <p:sp>
        <p:nvSpPr>
          <p:cNvPr id="152" name="Shape 150"/>
          <p:cNvSpPr/>
          <p:nvPr/>
        </p:nvSpPr>
        <p:spPr>
          <a:xfrm>
            <a:off x="2331720" y="4645152"/>
            <a:ext cx="731520" cy="338328"/>
          </a:xfrm>
          <a:prstGeom prst="rect">
            <a:avLst/>
          </a:prstGeom>
          <a:solidFill>
            <a:srgbClr val="F4F4F4"/>
          </a:solidFill>
          <a:ln/>
        </p:spPr>
      </p:sp>
      <p:sp>
        <p:nvSpPr>
          <p:cNvPr id="153" name="Text 151"/>
          <p:cNvSpPr txBox="1"/>
          <p:nvPr/>
        </p:nvSpPr>
        <p:spPr>
          <a:xfrm>
            <a:off x="2331720" y="4672584"/>
            <a:ext cx="73152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54" name="Shape 152"/>
          <p:cNvSpPr/>
          <p:nvPr/>
        </p:nvSpPr>
        <p:spPr>
          <a:xfrm>
            <a:off x="3090672" y="4645152"/>
            <a:ext cx="731520" cy="338328"/>
          </a:xfrm>
          <a:prstGeom prst="rect">
            <a:avLst/>
          </a:prstGeom>
          <a:solidFill>
            <a:srgbClr val="F4F4F4"/>
          </a:solidFill>
          <a:ln/>
        </p:spPr>
      </p:sp>
      <p:sp>
        <p:nvSpPr>
          <p:cNvPr id="155" name="Text 153"/>
          <p:cNvSpPr txBox="1"/>
          <p:nvPr/>
        </p:nvSpPr>
        <p:spPr>
          <a:xfrm>
            <a:off x="3090672" y="4672584"/>
            <a:ext cx="73152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56" name="Shape 154"/>
          <p:cNvSpPr/>
          <p:nvPr/>
        </p:nvSpPr>
        <p:spPr>
          <a:xfrm>
            <a:off x="3849624" y="4645152"/>
            <a:ext cx="914400" cy="338328"/>
          </a:xfrm>
          <a:prstGeom prst="rect">
            <a:avLst/>
          </a:prstGeom>
          <a:solidFill>
            <a:srgbClr val="F4F4F4"/>
          </a:solidFill>
          <a:ln/>
        </p:spPr>
      </p:sp>
      <p:sp>
        <p:nvSpPr>
          <p:cNvPr id="157" name="Text 155"/>
          <p:cNvSpPr txBox="1"/>
          <p:nvPr/>
        </p:nvSpPr>
        <p:spPr>
          <a:xfrm>
            <a:off x="3849624" y="4672584"/>
            <a:ext cx="91440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58" name="Shape 156"/>
          <p:cNvSpPr/>
          <p:nvPr/>
        </p:nvSpPr>
        <p:spPr>
          <a:xfrm>
            <a:off x="4791456" y="4645152"/>
            <a:ext cx="822960" cy="338328"/>
          </a:xfrm>
          <a:prstGeom prst="rect">
            <a:avLst/>
          </a:prstGeom>
          <a:solidFill>
            <a:srgbClr val="F4F4F4"/>
          </a:solidFill>
          <a:ln/>
        </p:spPr>
      </p:sp>
      <p:sp>
        <p:nvSpPr>
          <p:cNvPr id="159" name="Text 157"/>
          <p:cNvSpPr txBox="1"/>
          <p:nvPr/>
        </p:nvSpPr>
        <p:spPr>
          <a:xfrm>
            <a:off x="4791456" y="4672584"/>
            <a:ext cx="82296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60" name="Shape 158"/>
          <p:cNvSpPr/>
          <p:nvPr/>
        </p:nvSpPr>
        <p:spPr>
          <a:xfrm>
            <a:off x="5632704" y="4645152"/>
            <a:ext cx="777240" cy="338328"/>
          </a:xfrm>
          <a:prstGeom prst="rect">
            <a:avLst/>
          </a:prstGeom>
          <a:solidFill>
            <a:srgbClr val="F4F4F4"/>
          </a:solidFill>
          <a:ln/>
        </p:spPr>
      </p:sp>
      <p:sp>
        <p:nvSpPr>
          <p:cNvPr id="161" name="Text 159"/>
          <p:cNvSpPr txBox="1"/>
          <p:nvPr/>
        </p:nvSpPr>
        <p:spPr>
          <a:xfrm>
            <a:off x="5632704" y="4672584"/>
            <a:ext cx="777240" cy="274320"/>
          </a:xfrm>
          <a:prstGeom prst="rect">
            <a:avLst/>
          </a:prstGeom>
          <a:noFill/>
          <a:ln/>
        </p:spPr>
        <p:txBody>
          <a:bodyPr wrap="square" lIns="0" tIns="0" rIns="0" bIns="0" rtlCol="0" anchor="ctr"/>
          <a:lstStyle/>
          <a:p>
            <a:pPr algn="ctr" indent="0" marL="0">
              <a:buNone/>
            </a:pPr>
            <a:r>
              <a:rPr lang="en-US" sz="1200" dirty="0">
                <a:solidFill>
                  <a:srgbClr val="EBEBEB"/>
                </a:solidFill>
                <a:latin typeface="Atkinson Hyperlegible" pitchFamily="34" charset="0"/>
                <a:ea typeface="Atkinson Hyperlegible" pitchFamily="34" charset="-122"/>
                <a:cs typeface="Atkinson Hyperlegible" pitchFamily="34" charset="-120"/>
              </a:rPr>
              <a:t>○</a:t>
            </a:r>
            <a:endParaRPr lang="en-US" sz="1200" dirty="0"/>
          </a:p>
        </p:txBody>
      </p:sp>
      <p:sp>
        <p:nvSpPr>
          <p:cNvPr id="162" name="Shape 160"/>
          <p:cNvSpPr/>
          <p:nvPr/>
        </p:nvSpPr>
        <p:spPr>
          <a:xfrm>
            <a:off x="6437376" y="4645152"/>
            <a:ext cx="749808" cy="338328"/>
          </a:xfrm>
          <a:prstGeom prst="rect">
            <a:avLst/>
          </a:prstGeom>
          <a:solidFill>
            <a:srgbClr val="F4F4F4"/>
          </a:solidFill>
          <a:ln/>
        </p:spPr>
      </p:sp>
      <p:sp>
        <p:nvSpPr>
          <p:cNvPr id="163" name="Text 161"/>
          <p:cNvSpPr txBox="1"/>
          <p:nvPr/>
        </p:nvSpPr>
        <p:spPr>
          <a:xfrm>
            <a:off x="6437376" y="4672584"/>
            <a:ext cx="749808"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4" name="Shape 162"/>
          <p:cNvSpPr/>
          <p:nvPr/>
        </p:nvSpPr>
        <p:spPr>
          <a:xfrm>
            <a:off x="7214616" y="4645152"/>
            <a:ext cx="777240" cy="338328"/>
          </a:xfrm>
          <a:prstGeom prst="rect">
            <a:avLst/>
          </a:prstGeom>
          <a:solidFill>
            <a:srgbClr val="F4F4F4"/>
          </a:solidFill>
          <a:ln/>
        </p:spPr>
      </p:sp>
      <p:sp>
        <p:nvSpPr>
          <p:cNvPr id="165" name="Text 163"/>
          <p:cNvSpPr txBox="1"/>
          <p:nvPr/>
        </p:nvSpPr>
        <p:spPr>
          <a:xfrm>
            <a:off x="7214616" y="467258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6" name="Text 164"/>
          <p:cNvSpPr txBox="1"/>
          <p:nvPr/>
        </p:nvSpPr>
        <p:spPr>
          <a:xfrm>
            <a:off x="274320" y="4956048"/>
            <a:ext cx="8595360" cy="25603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Alta significancia     ○ = Baja o no aplica       Matrices completas disponibles en Tools 18 (Comercial) y 19 (Industrial) del CII SP 34-1</a:t>
            </a:r>
            <a:endParaRPr lang="en-US" sz="950" dirty="0"/>
          </a:p>
        </p:txBody>
      </p:sp>
      <p:sp>
        <p:nvSpPr>
          <p:cNvPr id="167" name="Text 16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54</a:t>
            </a:r>
            <a:endParaRPr lang="en-US" sz="900" dirty="0"/>
          </a:p>
        </p:txBody>
      </p:sp>
      <p:pic xmlns:p="http://schemas.openxmlformats.org/presentationml/2006/main" xmlns:a="http://schemas.openxmlformats.org/drawingml/2006/main" xmlns:r="http://schemas.openxmlformats.org/officeDocument/2006/relationships">
        <p:nvPicPr>
          <p:cNvPr id="8054" name="SlideIcon8054"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6: Actualizar el Programa Corporativo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Al cierre de cada proyecto, las lecciones aprendidas alimentan el programa corporativo:</a:t>
            </a:r>
            <a:endParaRPr lang="en-US" sz="1200" dirty="0"/>
          </a:p>
        </p:txBody>
      </p:sp>
      <p:sp>
        <p:nvSpPr>
          <p:cNvPr id="6" name="Shape 4"/>
          <p:cNvSpPr/>
          <p:nvPr/>
        </p:nvSpPr>
        <p:spPr>
          <a:xfrm>
            <a:off x="365760" y="1298448"/>
            <a:ext cx="8412480" cy="658368"/>
          </a:xfrm>
          <a:prstGeom prst="roundRect">
            <a:avLst>
              <a:gd name="adj" fmla="val 13889"/>
            </a:avLst>
          </a:prstGeom>
          <a:solidFill>
            <a:srgbClr val="F4F4F4"/>
          </a:solidFill>
          <a:ln w="12700">
            <a:solidFill>
              <a:srgbClr val="EBEBEB"/>
            </a:solidFill>
            <a:prstDash val="solid"/>
          </a:ln>
        </p:spPr>
      </p:sp>
      <p:sp>
        <p:nvSpPr>
          <p:cNvPr id="7" name="Shape 5"/>
          <p:cNvSpPr/>
          <p:nvPr/>
        </p:nvSpPr>
        <p:spPr>
          <a:xfrm>
            <a:off x="457200" y="1389888"/>
            <a:ext cx="411480" cy="411480"/>
          </a:xfrm>
          <a:prstGeom prst="ellipse">
            <a:avLst/>
          </a:prstGeom>
          <a:solidFill>
            <a:srgbClr val="FF453A"/>
          </a:solidFill>
          <a:ln/>
        </p:spPr>
      </p:sp>
      <p:sp>
        <p:nvSpPr>
          <p:cNvPr id="8" name="Text 6"/>
          <p:cNvSpPr txBox="1"/>
          <p:nvPr/>
        </p:nvSpPr>
        <p:spPr>
          <a:xfrm>
            <a:off x="457200" y="1389888"/>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75895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Recolectar resultados del proyecto</a:t>
            </a:r>
            <a:endParaRPr lang="en-US" sz="1300" dirty="0"/>
          </a:p>
        </p:txBody>
      </p:sp>
      <p:sp>
        <p:nvSpPr>
          <p:cNvPr id="10" name="Text 8"/>
          <p:cNvSpPr txBox="1"/>
          <p:nvPr/>
        </p:nvSpPr>
        <p:spPr>
          <a:xfrm>
            <a:off x="1005840" y="1645920"/>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Compilar el reporte final del programa de constructabilidad del proyecto: ideas generadas vs. implementadas, costo del programa, ahorro total logrado, ratio B/C real.</a:t>
            </a:r>
            <a:endParaRPr lang="en-US" sz="1100" dirty="0"/>
          </a:p>
        </p:txBody>
      </p:sp>
      <p:sp>
        <p:nvSpPr>
          <p:cNvPr id="11" name="Shape 9"/>
          <p:cNvSpPr/>
          <p:nvPr/>
        </p:nvSpPr>
        <p:spPr>
          <a:xfrm>
            <a:off x="365760" y="2048256"/>
            <a:ext cx="8412480" cy="658368"/>
          </a:xfrm>
          <a:prstGeom prst="roundRect">
            <a:avLst>
              <a:gd name="adj" fmla="val 13889"/>
            </a:avLst>
          </a:prstGeom>
          <a:solidFill>
            <a:srgbClr val="F4F4F4"/>
          </a:solidFill>
          <a:ln w="12700">
            <a:solidFill>
              <a:srgbClr val="EBEBEB"/>
            </a:solidFill>
            <a:prstDash val="solid"/>
          </a:ln>
        </p:spPr>
      </p:sp>
      <p:sp>
        <p:nvSpPr>
          <p:cNvPr id="12" name="Shape 10"/>
          <p:cNvSpPr/>
          <p:nvPr/>
        </p:nvSpPr>
        <p:spPr>
          <a:xfrm>
            <a:off x="457200" y="2139696"/>
            <a:ext cx="411480" cy="411480"/>
          </a:xfrm>
          <a:prstGeom prst="ellipse">
            <a:avLst/>
          </a:prstGeom>
          <a:solidFill>
            <a:srgbClr val="FF9500"/>
          </a:solidFill>
          <a:ln/>
        </p:spPr>
      </p:sp>
      <p:sp>
        <p:nvSpPr>
          <p:cNvPr id="13" name="Text 11"/>
          <p:cNvSpPr txBox="1"/>
          <p:nvPr/>
        </p:nvSpPr>
        <p:spPr>
          <a:xfrm>
            <a:off x="457200" y="2139696"/>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05840" y="2121408"/>
            <a:ext cx="75895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Evaluar efectividad del programa</a:t>
            </a:r>
            <a:endParaRPr lang="en-US" sz="1300" dirty="0"/>
          </a:p>
        </p:txBody>
      </p:sp>
      <p:sp>
        <p:nvSpPr>
          <p:cNvPr id="15" name="Text 13"/>
          <p:cNvSpPr txBox="1"/>
          <p:nvPr/>
        </p:nvSpPr>
        <p:spPr>
          <a:xfrm>
            <a:off x="1005840" y="2395728"/>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la Matriz de Evaluación del Programa de Proyecto (Tool 5 CII). ¿Qué conceptos fueron más efectivos? ¿Cuáles necesitan más atención?</a:t>
            </a:r>
            <a:endParaRPr lang="en-US" sz="1100" dirty="0"/>
          </a:p>
        </p:txBody>
      </p:sp>
      <p:sp>
        <p:nvSpPr>
          <p:cNvPr id="16" name="Shape 14"/>
          <p:cNvSpPr/>
          <p:nvPr/>
        </p:nvSpPr>
        <p:spPr>
          <a:xfrm>
            <a:off x="365760" y="2798064"/>
            <a:ext cx="8412480" cy="658368"/>
          </a:xfrm>
          <a:prstGeom prst="roundRect">
            <a:avLst>
              <a:gd name="adj" fmla="val 13889"/>
            </a:avLst>
          </a:prstGeom>
          <a:solidFill>
            <a:srgbClr val="F4F4F4"/>
          </a:solidFill>
          <a:ln w="12700">
            <a:solidFill>
              <a:srgbClr val="EBEBEB"/>
            </a:solidFill>
            <a:prstDash val="solid"/>
          </a:ln>
        </p:spPr>
      </p:sp>
      <p:sp>
        <p:nvSpPr>
          <p:cNvPr id="17" name="Shape 15"/>
          <p:cNvSpPr/>
          <p:nvPr/>
        </p:nvSpPr>
        <p:spPr>
          <a:xfrm>
            <a:off x="457200" y="2889504"/>
            <a:ext cx="411480" cy="411480"/>
          </a:xfrm>
          <a:prstGeom prst="ellipse">
            <a:avLst/>
          </a:prstGeom>
          <a:solidFill>
            <a:srgbClr val="FFD60A"/>
          </a:solidFill>
          <a:ln/>
        </p:spPr>
      </p:sp>
      <p:sp>
        <p:nvSpPr>
          <p:cNvPr id="18" name="Text 16"/>
          <p:cNvSpPr txBox="1"/>
          <p:nvPr/>
        </p:nvSpPr>
        <p:spPr>
          <a:xfrm>
            <a:off x="457200" y="288950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871216"/>
            <a:ext cx="75895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Capturar Lecciones Aprendidas</a:t>
            </a:r>
            <a:endParaRPr lang="en-US" sz="1300" dirty="0"/>
          </a:p>
        </p:txBody>
      </p:sp>
      <p:sp>
        <p:nvSpPr>
          <p:cNvPr id="20" name="Text 18"/>
          <p:cNvSpPr txBox="1"/>
          <p:nvPr/>
        </p:nvSpPr>
        <p:spPr>
          <a:xfrm>
            <a:off x="1005840" y="3145536"/>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Documentar las lecciones más valiosas del proyecto en la Base de Datos corporativa. Incluir contexto, condiciones de aplicabilidad y cuantificación del beneficio.</a:t>
            </a:r>
            <a:endParaRPr lang="en-US" sz="1100" dirty="0"/>
          </a:p>
        </p:txBody>
      </p:sp>
      <p:sp>
        <p:nvSpPr>
          <p:cNvPr id="21" name="Shape 19"/>
          <p:cNvSpPr/>
          <p:nvPr/>
        </p:nvSpPr>
        <p:spPr>
          <a:xfrm>
            <a:off x="365760" y="3547872"/>
            <a:ext cx="8412480" cy="658368"/>
          </a:xfrm>
          <a:prstGeom prst="roundRect">
            <a:avLst>
              <a:gd name="adj" fmla="val 13889"/>
            </a:avLst>
          </a:prstGeom>
          <a:solidFill>
            <a:srgbClr val="F4F4F4"/>
          </a:solidFill>
          <a:ln w="12700">
            <a:solidFill>
              <a:srgbClr val="EBEBEB"/>
            </a:solidFill>
            <a:prstDash val="solid"/>
          </a:ln>
        </p:spPr>
      </p:sp>
      <p:sp>
        <p:nvSpPr>
          <p:cNvPr id="22" name="Shape 20"/>
          <p:cNvSpPr/>
          <p:nvPr/>
        </p:nvSpPr>
        <p:spPr>
          <a:xfrm>
            <a:off x="457200" y="3639312"/>
            <a:ext cx="411480" cy="411480"/>
          </a:xfrm>
          <a:prstGeom prst="ellipse">
            <a:avLst/>
          </a:prstGeom>
          <a:solidFill>
            <a:srgbClr val="30D158"/>
          </a:solidFill>
          <a:ln/>
        </p:spPr>
      </p:sp>
      <p:sp>
        <p:nvSpPr>
          <p:cNvPr id="23" name="Text 21"/>
          <p:cNvSpPr txBox="1"/>
          <p:nvPr/>
        </p:nvSpPr>
        <p:spPr>
          <a:xfrm>
            <a:off x="457200" y="363931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05840" y="3621024"/>
            <a:ext cx="75895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Actualizar la LLDB corporativa</a:t>
            </a:r>
            <a:endParaRPr lang="en-US" sz="1300" dirty="0"/>
          </a:p>
        </p:txBody>
      </p:sp>
      <p:sp>
        <p:nvSpPr>
          <p:cNvPr id="25" name="Text 23"/>
          <p:cNvSpPr txBox="1"/>
          <p:nvPr/>
        </p:nvSpPr>
        <p:spPr>
          <a:xfrm>
            <a:off x="1005840" y="3895344"/>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Agregar las nuevas lecciones a la base de datos accesible para todos los proyectos. Retirar o actualizar lecciones obsoletas o superadas.</a:t>
            </a:r>
            <a:endParaRPr lang="en-US" sz="1100" dirty="0"/>
          </a:p>
        </p:txBody>
      </p:sp>
      <p:sp>
        <p:nvSpPr>
          <p:cNvPr id="26" name="Shape 24"/>
          <p:cNvSpPr/>
          <p:nvPr/>
        </p:nvSpPr>
        <p:spPr>
          <a:xfrm>
            <a:off x="365760" y="4297680"/>
            <a:ext cx="8412480" cy="658368"/>
          </a:xfrm>
          <a:prstGeom prst="roundRect">
            <a:avLst>
              <a:gd name="adj" fmla="val 13889"/>
            </a:avLst>
          </a:prstGeom>
          <a:solidFill>
            <a:srgbClr val="F4F4F4"/>
          </a:solidFill>
          <a:ln w="12700">
            <a:solidFill>
              <a:srgbClr val="EBEBEB"/>
            </a:solidFill>
            <a:prstDash val="solid"/>
          </a:ln>
        </p:spPr>
      </p:sp>
      <p:sp>
        <p:nvSpPr>
          <p:cNvPr id="27" name="Shape 25"/>
          <p:cNvSpPr/>
          <p:nvPr/>
        </p:nvSpPr>
        <p:spPr>
          <a:xfrm>
            <a:off x="457200" y="4389120"/>
            <a:ext cx="411480" cy="411480"/>
          </a:xfrm>
          <a:prstGeom prst="ellipse">
            <a:avLst/>
          </a:prstGeom>
          <a:solidFill>
            <a:srgbClr val="0A84FF"/>
          </a:solidFill>
          <a:ln/>
        </p:spPr>
      </p:sp>
      <p:sp>
        <p:nvSpPr>
          <p:cNvPr id="28" name="Text 26"/>
          <p:cNvSpPr txBox="1"/>
          <p:nvPr/>
        </p:nvSpPr>
        <p:spPr>
          <a:xfrm>
            <a:off x="457200" y="43891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4370832"/>
            <a:ext cx="75895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Revisar el programa corporativo</a:t>
            </a:r>
            <a:endParaRPr lang="en-US" sz="1300" dirty="0"/>
          </a:p>
        </p:txBody>
      </p:sp>
      <p:sp>
        <p:nvSpPr>
          <p:cNvPr id="30" name="Text 28"/>
          <p:cNvSpPr txBox="1"/>
          <p:nvPr/>
        </p:nvSpPr>
        <p:spPr>
          <a:xfrm>
            <a:off x="1005840" y="4645152"/>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¿Qué aspectos del programa corporativo deben ajustarse? ¿Se necesitan nuevas herramientas, capacitación o cambios organizacionales?</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55</a:t>
            </a:r>
            <a:endParaRPr lang="en-US" sz="900" dirty="0"/>
          </a:p>
        </p:txBody>
      </p:sp>
      <p:pic xmlns:p="http://schemas.openxmlformats.org/presentationml/2006/main" xmlns:a="http://schemas.openxmlformats.org/drawingml/2006/main" xmlns:r="http://schemas.openxmlformats.org/officeDocument/2006/relationships">
        <p:nvPicPr>
          <p:cNvPr id="8055" name="SlideIcon8055" descr="icon"/>
          <p:cNvPicPr>
            <a:picLocks noChangeAspect="1"/>
          </p:cNvPicPr>
          <p:nvPr/>
        </p:nvPicPr>
        <p:blipFill>
          <a:blip r:embed="rId9010"/>
          <a:stretch>
            <a:fillRect/>
          </a:stretch>
        </p:blipFill>
        <p:spPr>
          <a:xfrm>
            <a:off x="73152" y="118872"/>
            <a:ext cx="347472" cy="34747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Niveles de Madurez del Programa Corporativo (5 Niveles)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F4F4F4"/>
          </a:solidFill>
          <a:ln w="12700">
            <a:solidFill>
              <a:srgbClr val="EBEBEB"/>
            </a:solidFill>
            <a:prstDash val="solid"/>
          </a:ln>
        </p:spPr>
      </p:sp>
      <p:sp>
        <p:nvSpPr>
          <p:cNvPr id="7" name="Shape 5"/>
          <p:cNvSpPr/>
          <p:nvPr/>
        </p:nvSpPr>
        <p:spPr>
          <a:xfrm>
            <a:off x="365760" y="1298448"/>
            <a:ext cx="73152" cy="658368"/>
          </a:xfrm>
          <a:prstGeom prst="rect">
            <a:avLst/>
          </a:prstGeom>
          <a:solidFill>
            <a:srgbClr val="55577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55577A"/>
                </a:solidFill>
                <a:latin typeface="Atkinson Hyperlegible" pitchFamily="34" charset="0"/>
                <a:ea typeface="Atkinson Hyperlegible" pitchFamily="34" charset="-122"/>
                <a:cs typeface="Atkinson Hyperlegible" pitchFamily="34" charset="-120"/>
              </a:rPr>
              <a:t>Nivel 1 — Informal</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existe un programa formal. Algunos individuos aplican conceptos de manera intuitiva. Sin documentación ni seguimiento sistemático.</a:t>
            </a:r>
            <a:endParaRPr lang="en-US" sz="1100" dirty="0"/>
          </a:p>
        </p:txBody>
      </p:sp>
      <p:sp>
        <p:nvSpPr>
          <p:cNvPr id="10" name="Shape 8"/>
          <p:cNvSpPr/>
          <p:nvPr/>
        </p:nvSpPr>
        <p:spPr>
          <a:xfrm>
            <a:off x="365760" y="2048256"/>
            <a:ext cx="8412480" cy="658368"/>
          </a:xfrm>
          <a:prstGeom prst="roundRect">
            <a:avLst>
              <a:gd name="adj" fmla="val 13889"/>
            </a:avLst>
          </a:prstGeom>
          <a:solidFill>
            <a:srgbClr val="F4F4F4"/>
          </a:solidFill>
          <a:ln w="12700">
            <a:solidFill>
              <a:srgbClr val="EBEBEB"/>
            </a:solidFill>
            <a:prstDash val="solid"/>
          </a:ln>
        </p:spPr>
      </p:sp>
      <p:sp>
        <p:nvSpPr>
          <p:cNvPr id="11" name="Shape 9"/>
          <p:cNvSpPr/>
          <p:nvPr/>
        </p:nvSpPr>
        <p:spPr>
          <a:xfrm>
            <a:off x="365760" y="2048256"/>
            <a:ext cx="73152" cy="658368"/>
          </a:xfrm>
          <a:prstGeom prst="rect">
            <a:avLst/>
          </a:prstGeom>
          <a:solidFill>
            <a:srgbClr val="FFD60A"/>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Nivel 2 — Iniciando</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liderazgo reconoce los beneficios. Se está desarrollando una política. Hay un campeón identificado pero sin recursos formales asignados.</a:t>
            </a:r>
            <a:endParaRPr lang="en-US" sz="1100" dirty="0"/>
          </a:p>
        </p:txBody>
      </p:sp>
      <p:sp>
        <p:nvSpPr>
          <p:cNvPr id="14" name="Shape 12"/>
          <p:cNvSpPr/>
          <p:nvPr/>
        </p:nvSpPr>
        <p:spPr>
          <a:xfrm>
            <a:off x="365760" y="2798064"/>
            <a:ext cx="8412480" cy="658368"/>
          </a:xfrm>
          <a:prstGeom prst="roundRect">
            <a:avLst>
              <a:gd name="adj" fmla="val 13889"/>
            </a:avLst>
          </a:prstGeom>
          <a:solidFill>
            <a:srgbClr val="F4F4F4"/>
          </a:solidFill>
          <a:ln w="12700">
            <a:solidFill>
              <a:srgbClr val="EBEBEB"/>
            </a:solidFill>
            <a:prstDash val="solid"/>
          </a:ln>
        </p:spPr>
      </p:sp>
      <p:sp>
        <p:nvSpPr>
          <p:cNvPr id="15" name="Shape 13"/>
          <p:cNvSpPr/>
          <p:nvPr/>
        </p:nvSpPr>
        <p:spPr>
          <a:xfrm>
            <a:off x="365760" y="2798064"/>
            <a:ext cx="73152" cy="658368"/>
          </a:xfrm>
          <a:prstGeom prst="rect">
            <a:avLst/>
          </a:prstGeom>
          <a:solidFill>
            <a:srgbClr val="FF9500"/>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3 — Desarrollado</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Existe un programa formal con política escrita, Gerente de Constructabilidad designado, herramientas CII adoptadas, y primeras lecciones capturadas.</a:t>
            </a:r>
            <a:endParaRPr lang="en-US" sz="1100" dirty="0"/>
          </a:p>
        </p:txBody>
      </p:sp>
      <p:sp>
        <p:nvSpPr>
          <p:cNvPr id="18" name="Shape 16"/>
          <p:cNvSpPr/>
          <p:nvPr/>
        </p:nvSpPr>
        <p:spPr>
          <a:xfrm>
            <a:off x="365760" y="3547872"/>
            <a:ext cx="8412480" cy="658368"/>
          </a:xfrm>
          <a:prstGeom prst="roundRect">
            <a:avLst>
              <a:gd name="adj" fmla="val 13889"/>
            </a:avLst>
          </a:prstGeom>
          <a:solidFill>
            <a:srgbClr val="F4F4F4"/>
          </a:solidFill>
          <a:ln w="12700">
            <a:solidFill>
              <a:srgbClr val="EBEBEB"/>
            </a:solidFill>
            <a:prstDash val="solid"/>
          </a:ln>
        </p:spPr>
      </p:sp>
      <p:sp>
        <p:nvSpPr>
          <p:cNvPr id="19" name="Shape 17"/>
          <p:cNvSpPr/>
          <p:nvPr/>
        </p:nvSpPr>
        <p:spPr>
          <a:xfrm>
            <a:off x="365760" y="3547872"/>
            <a:ext cx="73152" cy="658368"/>
          </a:xfrm>
          <a:prstGeom prst="rect">
            <a:avLst/>
          </a:prstGeom>
          <a:solidFill>
            <a:srgbClr val="30D158"/>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Nivel 4 — Avanzado</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implementado en la mayoría de proyectos. LLDB activa y usada. Métricas de beneficios documentadas. Capacitación formal en marcha.</a:t>
            </a:r>
            <a:endParaRPr lang="en-US" sz="1100" dirty="0"/>
          </a:p>
        </p:txBody>
      </p:sp>
      <p:sp>
        <p:nvSpPr>
          <p:cNvPr id="22" name="Shape 20"/>
          <p:cNvSpPr/>
          <p:nvPr/>
        </p:nvSpPr>
        <p:spPr>
          <a:xfrm>
            <a:off x="365760" y="4297680"/>
            <a:ext cx="8412480" cy="658368"/>
          </a:xfrm>
          <a:prstGeom prst="roundRect">
            <a:avLst>
              <a:gd name="adj" fmla="val 13889"/>
            </a:avLst>
          </a:prstGeom>
          <a:solidFill>
            <a:srgbClr val="F4F4F4"/>
          </a:solidFill>
          <a:ln w="12700">
            <a:solidFill>
              <a:srgbClr val="EBEBEB"/>
            </a:solidFill>
            <a:prstDash val="solid"/>
          </a:ln>
        </p:spPr>
      </p:sp>
      <p:sp>
        <p:nvSpPr>
          <p:cNvPr id="23" name="Shape 21"/>
          <p:cNvSpPr/>
          <p:nvPr/>
        </p:nvSpPr>
        <p:spPr>
          <a:xfrm>
            <a:off x="365760" y="4297680"/>
            <a:ext cx="73152" cy="658368"/>
          </a:xfrm>
          <a:prstGeom prst="rect">
            <a:avLst/>
          </a:prstGeom>
          <a:solidFill>
            <a:srgbClr val="0A84FF"/>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5 — Líder en la Industria</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comprehensivo. Alta ratio B/C documentada. Reconocido externamente como referente. Contribuye activamente a la investigación CII.</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56</a:t>
            </a:r>
            <a:endParaRPr lang="en-US" sz="900" dirty="0"/>
          </a:p>
        </p:txBody>
      </p:sp>
      <p:pic xmlns:p="http://schemas.openxmlformats.org/presentationml/2006/main" xmlns:a="http://schemas.openxmlformats.org/drawingml/2006/main" xmlns:r="http://schemas.openxmlformats.org/officeDocument/2006/relationships">
        <p:nvPicPr>
          <p:cNvPr id="8056" name="SlideIcon8056" descr="icon"/>
          <p:cNvPicPr>
            <a:picLocks noChangeAspect="1"/>
          </p:cNvPicPr>
          <p:nvPr/>
        </p:nvPicPr>
        <p:blipFill>
          <a:blip r:embed="rId9002"/>
          <a:stretch>
            <a:fillRect/>
          </a:stretch>
        </p:blipFill>
        <p:spPr>
          <a:xfrm>
            <a:off x="73152" y="118872"/>
            <a:ext cx="347472" cy="34747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del Programa — Tools 3 y 4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F4F4F4"/>
          </a:solidFill>
          <a:ln w="12700">
            <a:solidFill>
              <a:srgbClr val="EBEBEB"/>
            </a:solidFill>
            <a:prstDash val="solid"/>
          </a:ln>
        </p:spPr>
      </p:sp>
      <p:sp>
        <p:nvSpPr>
          <p:cNvPr id="7" name="Shape 5"/>
          <p:cNvSpPr/>
          <p:nvPr/>
        </p:nvSpPr>
        <p:spPr>
          <a:xfrm>
            <a:off x="365760" y="1298448"/>
            <a:ext cx="73152" cy="658368"/>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15 Parámetros Evaluados</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parámetro se evalúa en 5 niveles (1-5) de implementación. La suma total indica el nivel de madurez del programa.</a:t>
            </a:r>
            <a:endParaRPr lang="en-US" sz="1100" dirty="0"/>
          </a:p>
        </p:txBody>
      </p:sp>
      <p:sp>
        <p:nvSpPr>
          <p:cNvPr id="10" name="Shape 8"/>
          <p:cNvSpPr/>
          <p:nvPr/>
        </p:nvSpPr>
        <p:spPr>
          <a:xfrm>
            <a:off x="365760" y="2048256"/>
            <a:ext cx="8412480" cy="658368"/>
          </a:xfrm>
          <a:prstGeom prst="roundRect">
            <a:avLst>
              <a:gd name="adj" fmla="val 13889"/>
            </a:avLst>
          </a:prstGeom>
          <a:solidFill>
            <a:srgbClr val="F4F4F4"/>
          </a:solidFill>
          <a:ln w="12700">
            <a:solidFill>
              <a:srgbClr val="EBEBEB"/>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Compromiso de la Dirección</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compromiso. Nivel 5: la alta dirección lidera activamente el programa con recursos y atención permanente.</a:t>
            </a:r>
            <a:endParaRPr lang="en-US" sz="1100" dirty="0"/>
          </a:p>
        </p:txBody>
      </p:sp>
      <p:sp>
        <p:nvSpPr>
          <p:cNvPr id="14" name="Shape 12"/>
          <p:cNvSpPr/>
          <p:nvPr/>
        </p:nvSpPr>
        <p:spPr>
          <a:xfrm>
            <a:off x="365760" y="2798064"/>
            <a:ext cx="8412480" cy="658368"/>
          </a:xfrm>
          <a:prstGeom prst="roundRect">
            <a:avLst>
              <a:gd name="adj" fmla="val 13889"/>
            </a:avLst>
          </a:prstGeom>
          <a:solidFill>
            <a:srgbClr val="F4F4F4"/>
          </a:solidFill>
          <a:ln w="12700">
            <a:solidFill>
              <a:srgbClr val="EBEBEB"/>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roles definidos. Nivel 5: Gerentes de Constructabilidad en todos los proyectos con soporte corporativo completo.</a:t>
            </a:r>
            <a:endParaRPr lang="en-US" sz="1100" dirty="0"/>
          </a:p>
        </p:txBody>
      </p:sp>
      <p:sp>
        <p:nvSpPr>
          <p:cNvPr id="18" name="Shape 16"/>
          <p:cNvSpPr/>
          <p:nvPr/>
        </p:nvSpPr>
        <p:spPr>
          <a:xfrm>
            <a:off x="365760" y="3547872"/>
            <a:ext cx="8412480" cy="658368"/>
          </a:xfrm>
          <a:prstGeom prst="roundRect">
            <a:avLst>
              <a:gd name="adj" fmla="val 13889"/>
            </a:avLst>
          </a:prstGeom>
          <a:solidFill>
            <a:srgbClr val="F4F4F4"/>
          </a:solidFill>
          <a:ln w="12700">
            <a:solidFill>
              <a:srgbClr val="EBEBEB"/>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y Procesos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herramientas. Nivel 5: las 19 herramientas CII implementadas y personalizadas para la organización.</a:t>
            </a:r>
            <a:endParaRPr lang="en-US" sz="1100" dirty="0"/>
          </a:p>
        </p:txBody>
      </p:sp>
      <p:sp>
        <p:nvSpPr>
          <p:cNvPr id="22" name="Shape 20"/>
          <p:cNvSpPr/>
          <p:nvPr/>
        </p:nvSpPr>
        <p:spPr>
          <a:xfrm>
            <a:off x="365760" y="4297680"/>
            <a:ext cx="8412480" cy="658368"/>
          </a:xfrm>
          <a:prstGeom prst="roundRect">
            <a:avLst>
              <a:gd name="adj" fmla="val 13889"/>
            </a:avLst>
          </a:prstGeom>
          <a:solidFill>
            <a:srgbClr val="F4F4F4"/>
          </a:solidFill>
          <a:ln w="12700">
            <a:solidFill>
              <a:srgbClr val="EBEBEB"/>
            </a:solidFill>
            <a:prstDash val="solid"/>
          </a:ln>
        </p:spPr>
      </p:sp>
      <p:sp>
        <p:nvSpPr>
          <p:cNvPr id="23" name="Shape 21"/>
          <p:cNvSpPr/>
          <p:nvPr/>
        </p:nvSpPr>
        <p:spPr>
          <a:xfrm>
            <a:off x="365760" y="4297680"/>
            <a:ext cx="73152" cy="658368"/>
          </a:xfrm>
          <a:prstGeom prst="rect">
            <a:avLst/>
          </a:prstGeom>
          <a:solidFill>
            <a:srgbClr val="FF453A"/>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Base de Datos LL</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base de datos. Nivel 5: LLDB activa, completa, accesible, y con alta tasa de uso en nuevos proyectos.</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57</a:t>
            </a:r>
            <a:endParaRPr lang="en-US" sz="900" dirty="0"/>
          </a:p>
        </p:txBody>
      </p:sp>
      <p:pic xmlns:p="http://schemas.openxmlformats.org/presentationml/2006/main" xmlns:a="http://schemas.openxmlformats.org/drawingml/2006/main" xmlns:r="http://schemas.openxmlformats.org/officeDocument/2006/relationships">
        <p:nvPicPr>
          <p:cNvPr id="8057" name="SlideIcon8057" descr="icon"/>
          <p:cNvPicPr>
            <a:picLocks noChangeAspect="1"/>
          </p:cNvPicPr>
          <p:nvPr/>
        </p:nvPicPr>
        <p:blipFill>
          <a:blip r:embed="rId9002"/>
          <a:stretch>
            <a:fillRect/>
          </a:stretch>
        </p:blipFill>
        <p:spPr>
          <a:xfrm>
            <a:off x="73152" y="118872"/>
            <a:ext cx="347472" cy="347472"/>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Cláusulas Contractuales para Constructabilidad — Tool 16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F4F4F4"/>
          </a:solidFill>
          <a:ln w="12700">
            <a:solidFill>
              <a:srgbClr val="EBEBEB"/>
            </a:solidFill>
            <a:prstDash val="solid"/>
          </a:ln>
        </p:spPr>
      </p:sp>
      <p:sp>
        <p:nvSpPr>
          <p:cNvPr id="7" name="Shape 5"/>
          <p:cNvSpPr/>
          <p:nvPr/>
        </p:nvSpPr>
        <p:spPr>
          <a:xfrm>
            <a:off x="365760" y="1298448"/>
            <a:ext cx="73152" cy="658368"/>
          </a:xfrm>
          <a:prstGeom prst="rect">
            <a:avLst/>
          </a:prstGeom>
          <a:solidFill>
            <a:srgbClr val="FFD60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Obligación del Contratista</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participará activamente en el programa de constructabilidad del Propietario y asignará personal calificado para dicho fin.</a:t>
            </a:r>
            <a:endParaRPr lang="en-US" sz="1100" dirty="0"/>
          </a:p>
        </p:txBody>
      </p:sp>
      <p:sp>
        <p:nvSpPr>
          <p:cNvPr id="10" name="Shape 8"/>
          <p:cNvSpPr/>
          <p:nvPr/>
        </p:nvSpPr>
        <p:spPr>
          <a:xfrm>
            <a:off x="365760" y="2048256"/>
            <a:ext cx="8412480" cy="658368"/>
          </a:xfrm>
          <a:prstGeom prst="roundRect">
            <a:avLst>
              <a:gd name="adj" fmla="val 13889"/>
            </a:avLst>
          </a:prstGeom>
          <a:solidFill>
            <a:srgbClr val="F4F4F4"/>
          </a:solidFill>
          <a:ln w="12700">
            <a:solidFill>
              <a:srgbClr val="EBEBEB"/>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Reporte de Ideas</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reportará mensualmente al Propietario todas las ideas de constructabilidad identificadas, incluyendo el beneficio estimado.</a:t>
            </a:r>
            <a:endParaRPr lang="en-US" sz="1100" dirty="0"/>
          </a:p>
        </p:txBody>
      </p:sp>
      <p:sp>
        <p:nvSpPr>
          <p:cNvPr id="14" name="Shape 12"/>
          <p:cNvSpPr/>
          <p:nvPr/>
        </p:nvSpPr>
        <p:spPr>
          <a:xfrm>
            <a:off x="365760" y="2798064"/>
            <a:ext cx="8412480" cy="658368"/>
          </a:xfrm>
          <a:prstGeom prst="roundRect">
            <a:avLst>
              <a:gd name="adj" fmla="val 13889"/>
            </a:avLst>
          </a:prstGeom>
          <a:solidFill>
            <a:srgbClr val="F4F4F4"/>
          </a:solidFill>
          <a:ln w="12700">
            <a:solidFill>
              <a:srgbClr val="EBEBEB"/>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Captura de Lecciones Aprendidas</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cierre del proyecto, el Contratista entregará un informe formal de Lecciones Aprendidas de constructabilidad según el formato del Propietario.</a:t>
            </a:r>
            <a:endParaRPr lang="en-US" sz="1100" dirty="0"/>
          </a:p>
        </p:txBody>
      </p:sp>
      <p:sp>
        <p:nvSpPr>
          <p:cNvPr id="18" name="Shape 16"/>
          <p:cNvSpPr/>
          <p:nvPr/>
        </p:nvSpPr>
        <p:spPr>
          <a:xfrm>
            <a:off x="365760" y="3547872"/>
            <a:ext cx="8412480" cy="658368"/>
          </a:xfrm>
          <a:prstGeom prst="roundRect">
            <a:avLst>
              <a:gd name="adj" fmla="val 13889"/>
            </a:avLst>
          </a:prstGeom>
          <a:solidFill>
            <a:srgbClr val="F4F4F4"/>
          </a:solidFill>
          <a:ln w="12700">
            <a:solidFill>
              <a:srgbClr val="EBEBEB"/>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Participación en Talleres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designará representantes para participar en los talleres de planificación de constructabilidad convocados por el Propietario.</a:t>
            </a:r>
            <a:endParaRPr lang="en-US" sz="1100" dirty="0"/>
          </a:p>
        </p:txBody>
      </p:sp>
      <p:sp>
        <p:nvSpPr>
          <p:cNvPr id="22" name="Shape 20"/>
          <p:cNvSpPr/>
          <p:nvPr/>
        </p:nvSpPr>
        <p:spPr>
          <a:xfrm>
            <a:off x="365760" y="4297680"/>
            <a:ext cx="8412480" cy="658368"/>
          </a:xfrm>
          <a:prstGeom prst="roundRect">
            <a:avLst>
              <a:gd name="adj" fmla="val 13889"/>
            </a:avLst>
          </a:prstGeom>
          <a:solidFill>
            <a:srgbClr val="F4F4F4"/>
          </a:solidFill>
          <a:ln w="12700">
            <a:solidFill>
              <a:srgbClr val="EBEBEB"/>
            </a:solidFill>
            <a:prstDash val="solid"/>
          </a:ln>
        </p:spPr>
      </p:sp>
      <p:sp>
        <p:nvSpPr>
          <p:cNvPr id="23" name="Shape 21"/>
          <p:cNvSpPr/>
          <p:nvPr/>
        </p:nvSpPr>
        <p:spPr>
          <a:xfrm>
            <a:off x="365760" y="4297680"/>
            <a:ext cx="73152" cy="658368"/>
          </a:xfrm>
          <a:prstGeom prst="rect">
            <a:avLst/>
          </a:prstGeom>
          <a:solidFill>
            <a:srgbClr val="AF52DE"/>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Incentivos por Ahorros</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establecerá un sistema de gain-sharing donde ahorros de constructabilidad documentados se distribuirán según la fórmula acordada contractualmente.</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58</a:t>
            </a:r>
            <a:endParaRPr lang="en-US" sz="900" dirty="0"/>
          </a:p>
        </p:txBody>
      </p:sp>
      <p:pic xmlns:p="http://schemas.openxmlformats.org/presentationml/2006/main" xmlns:a="http://schemas.openxmlformats.org/drawingml/2006/main" xmlns:r="http://schemas.openxmlformats.org/officeDocument/2006/relationships">
        <p:nvPicPr>
          <p:cNvPr id="8058" name="SlideIcon8058" descr="icon"/>
          <p:cNvPicPr>
            <a:picLocks noChangeAspect="1"/>
          </p:cNvPicPr>
          <p:nvPr/>
        </p:nvPicPr>
        <p:blipFill>
          <a:blip r:embed="rId9002"/>
          <a:stretch>
            <a:fillRect/>
          </a:stretch>
        </p:blipFill>
        <p:spPr>
          <a:xfrm>
            <a:off x="73152" y="118872"/>
            <a:ext cx="347472" cy="347472"/>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Métricas Clave del Programa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para medir y gestionar el programa a lo largo del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Ideas Generadas</a:t>
            </a:r>
            <a:endParaRPr lang="en-US" sz="15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sugerencias por mes y por fase del proyecto. Meta: mínimo 2 ideas por concepto por fase.</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Ideas Implementadas</a:t>
            </a:r>
            <a:endParaRPr lang="en-US" sz="15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ideas aprobadas que se implementaron efectivamente. Meta: &gt;70%.</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Costo del Programa</a:t>
            </a:r>
            <a:endParaRPr lang="en-US" sz="15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Horas-hombre del Gerente de Constructabilidad + talleres + herramientas. Típicamente 0.5-1% del TIC.</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Ahorro Logrado</a:t>
            </a:r>
            <a:endParaRPr lang="en-US" sz="15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Ahorro documentado en costo y cronograma por ideas implementadas. Debe ser verificado objetivamente.</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Ratio B/C Acumulado</a:t>
            </a:r>
            <a:endParaRPr lang="en-US" sz="15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Beneficio total acumulado dividido entre costo total del programa. Meta: &gt;10:1. Reportar trimestralmente.</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Índice de Madurez del Programa</a:t>
            </a:r>
            <a:endParaRPr lang="en-US" sz="15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Evaluación usando la matriz de 15 parámetros. Reportar al inicio, a mitad y al cierre del proyecto.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59</a:t>
            </a:r>
            <a:endParaRPr lang="en-US" sz="900" dirty="0"/>
          </a:p>
        </p:txBody>
      </p:sp>
      <p:pic xmlns:p="http://schemas.openxmlformats.org/presentationml/2006/main" xmlns:a="http://schemas.openxmlformats.org/drawingml/2006/main" xmlns:r="http://schemas.openxmlformats.org/officeDocument/2006/relationships">
        <p:nvPicPr>
          <p:cNvPr id="8059" name="SlideIcon8059" descr="icon"/>
          <p:cNvPicPr>
            <a:picLocks noChangeAspect="1"/>
          </p:cNvPicPr>
          <p:nvPr/>
        </p:nvPicPr>
        <p:blipFill>
          <a:blip r:embed="rId9002"/>
          <a:stretch>
            <a:fillRect/>
          </a:stretch>
        </p:blipFill>
        <p:spPr>
          <a:xfrm>
            <a:off x="73152" y="118872"/>
            <a:ext cx="347472" cy="34747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Pequeños Proyectos Inmobiliarios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Ing. Pablo Orihuela — Motiva S.A. | Aplicación a proyectos de pequeña y mediana escala:</a:t>
            </a:r>
            <a:endParaRPr lang="en-US" sz="1300" dirty="0"/>
          </a:p>
        </p:txBody>
      </p:sp>
      <p:sp>
        <p:nvSpPr>
          <p:cNvPr id="6" name="Shape 4"/>
          <p:cNvSpPr/>
          <p:nvPr/>
        </p:nvSpPr>
        <p:spPr>
          <a:xfrm>
            <a:off x="365760" y="1298448"/>
            <a:ext cx="8412480" cy="804672"/>
          </a:xfrm>
          <a:prstGeom prst="roundRect">
            <a:avLst>
              <a:gd name="adj" fmla="val 11364"/>
            </a:avLst>
          </a:prstGeom>
          <a:solidFill>
            <a:srgbClr val="F4F4F4"/>
          </a:solidFill>
          <a:ln w="12700">
            <a:solidFill>
              <a:srgbClr val="AF52DE"/>
            </a:solidFill>
            <a:prstDash val="solid"/>
          </a:ln>
        </p:spPr>
      </p:sp>
      <p:sp>
        <p:nvSpPr>
          <p:cNvPr id="7" name="Shape 5"/>
          <p:cNvSpPr/>
          <p:nvPr/>
        </p:nvSpPr>
        <p:spPr>
          <a:xfrm>
            <a:off x="365760" y="1298448"/>
            <a:ext cx="73152" cy="804672"/>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El Paradigma a Romper</a:t>
            </a:r>
            <a:endParaRPr lang="en-US" sz="1300" dirty="0"/>
          </a:p>
        </p:txBody>
      </p:sp>
      <p:sp>
        <p:nvSpPr>
          <p:cNvPr id="9" name="Text 7"/>
          <p:cNvSpPr txBox="1"/>
          <p:nvPr/>
        </p:nvSpPr>
        <p:spPr>
          <a:xfrm>
            <a:off x="566928" y="16459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mayores oportunidades de mejora NO se dan durante la construcción — se dan en el diseño, la planificación y sobre todo en el anteproyecto y la factibilidad."</a:t>
            </a:r>
            <a:endParaRPr lang="en-US" sz="1100" dirty="0"/>
          </a:p>
        </p:txBody>
      </p:sp>
      <p:sp>
        <p:nvSpPr>
          <p:cNvPr id="10" name="Shape 8"/>
          <p:cNvSpPr/>
          <p:nvPr/>
        </p:nvSpPr>
        <p:spPr>
          <a:xfrm>
            <a:off x="365760" y="2212848"/>
            <a:ext cx="8412480" cy="804672"/>
          </a:xfrm>
          <a:prstGeom prst="roundRect">
            <a:avLst>
              <a:gd name="adj" fmla="val 11364"/>
            </a:avLst>
          </a:prstGeom>
          <a:solidFill>
            <a:srgbClr val="F4F4F4"/>
          </a:solidFill>
          <a:ln w="12700">
            <a:solidFill>
              <a:srgbClr val="0A84FF"/>
            </a:solidFill>
            <a:prstDash val="solid"/>
          </a:ln>
        </p:spPr>
      </p:sp>
      <p:sp>
        <p:nvSpPr>
          <p:cNvPr id="11" name="Shape 9"/>
          <p:cNvSpPr/>
          <p:nvPr/>
        </p:nvSpPr>
        <p:spPr>
          <a:xfrm>
            <a:off x="365760" y="2212848"/>
            <a:ext cx="73152" cy="804672"/>
          </a:xfrm>
          <a:prstGeom prst="rect">
            <a:avLst/>
          </a:prstGeom>
          <a:solidFill>
            <a:srgbClr val="0A84FF"/>
          </a:solidFill>
          <a:ln/>
        </p:spPr>
      </p:sp>
      <p:sp>
        <p:nvSpPr>
          <p:cNvPr id="12" name="Text 10"/>
          <p:cNvSpPr txBox="1"/>
          <p:nvPr/>
        </p:nvSpPr>
        <p:spPr>
          <a:xfrm>
            <a:off x="566928" y="2286000"/>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Coordinación Arquitecto-Estructural</a:t>
            </a:r>
            <a:endParaRPr lang="en-US" sz="1300" dirty="0"/>
          </a:p>
        </p:txBody>
      </p:sp>
      <p:sp>
        <p:nvSpPr>
          <p:cNvPr id="13" name="Text 11"/>
          <p:cNvSpPr txBox="1"/>
          <p:nvPr/>
        </p:nvSpPr>
        <p:spPr>
          <a:xfrm>
            <a:off x="566928" y="25603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 frecuente que el arquitecto diseñe sin coordinar con el ingeniero estructural. Al diseñador no se le comunican los procesos operativos que se usarán en obra.</a:t>
            </a:r>
            <a:endParaRPr lang="en-US" sz="1100" dirty="0"/>
          </a:p>
        </p:txBody>
      </p:sp>
      <p:sp>
        <p:nvSpPr>
          <p:cNvPr id="14" name="Shape 12"/>
          <p:cNvSpPr/>
          <p:nvPr/>
        </p:nvSpPr>
        <p:spPr>
          <a:xfrm>
            <a:off x="365760" y="3127248"/>
            <a:ext cx="8412480" cy="804672"/>
          </a:xfrm>
          <a:prstGeom prst="roundRect">
            <a:avLst>
              <a:gd name="adj" fmla="val 11364"/>
            </a:avLst>
          </a:prstGeom>
          <a:solidFill>
            <a:srgbClr val="F4F4F4"/>
          </a:solidFill>
          <a:ln w="12700">
            <a:solidFill>
              <a:srgbClr val="30D158"/>
            </a:solidFill>
            <a:prstDash val="solid"/>
          </a:ln>
        </p:spPr>
      </p:sp>
      <p:sp>
        <p:nvSpPr>
          <p:cNvPr id="15" name="Shape 13"/>
          <p:cNvSpPr/>
          <p:nvPr/>
        </p:nvSpPr>
        <p:spPr>
          <a:xfrm>
            <a:off x="365760" y="3127248"/>
            <a:ext cx="73152" cy="804672"/>
          </a:xfrm>
          <a:prstGeom prst="rect">
            <a:avLst/>
          </a:prstGeom>
          <a:solidFill>
            <a:srgbClr val="30D158"/>
          </a:solidFill>
          <a:ln/>
        </p:spPr>
      </p:sp>
      <p:sp>
        <p:nvSpPr>
          <p:cNvPr id="16" name="Text 14"/>
          <p:cNvSpPr txBox="1"/>
          <p:nvPr/>
        </p:nvSpPr>
        <p:spPr>
          <a:xfrm>
            <a:off x="566928" y="3200400"/>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Last Planner en Campo</a:t>
            </a:r>
            <a:endParaRPr lang="en-US" sz="1300" dirty="0"/>
          </a:p>
        </p:txBody>
      </p:sp>
      <p:sp>
        <p:nvSpPr>
          <p:cNvPr id="17" name="Text 15"/>
          <p:cNvSpPr txBox="1"/>
          <p:nvPr/>
        </p:nvSpPr>
        <p:spPr>
          <a:xfrm>
            <a:off x="566928" y="34747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Lean Construction denomina esto "Last Planner" — incluir al maestro de obra, capataz y residente en la programación. Lo que "Queremos Hacer" debe coincidir con lo que "Podemos Hacer".</a:t>
            </a:r>
            <a:endParaRPr lang="en-US" sz="1100" dirty="0"/>
          </a:p>
        </p:txBody>
      </p:sp>
      <p:sp>
        <p:nvSpPr>
          <p:cNvPr id="18" name="Shape 16"/>
          <p:cNvSpPr/>
          <p:nvPr/>
        </p:nvSpPr>
        <p:spPr>
          <a:xfrm>
            <a:off x="365760" y="4041648"/>
            <a:ext cx="8412480" cy="804672"/>
          </a:xfrm>
          <a:prstGeom prst="roundRect">
            <a:avLst>
              <a:gd name="adj" fmla="val 11364"/>
            </a:avLst>
          </a:prstGeom>
          <a:solidFill>
            <a:srgbClr val="F4F4F4"/>
          </a:solidFill>
          <a:ln w="12700">
            <a:solidFill>
              <a:srgbClr val="FF9500"/>
            </a:solidFill>
            <a:prstDash val="solid"/>
          </a:ln>
        </p:spPr>
      </p:sp>
      <p:sp>
        <p:nvSpPr>
          <p:cNvPr id="19" name="Shape 17"/>
          <p:cNvSpPr/>
          <p:nvPr/>
        </p:nvSpPr>
        <p:spPr>
          <a:xfrm>
            <a:off x="365760" y="4041648"/>
            <a:ext cx="73152" cy="804672"/>
          </a:xfrm>
          <a:prstGeom prst="rect">
            <a:avLst/>
          </a:prstGeom>
          <a:solidFill>
            <a:srgbClr val="FF9500"/>
          </a:solidFill>
          <a:ln/>
        </p:spPr>
      </p:sp>
      <p:sp>
        <p:nvSpPr>
          <p:cNvPr id="20" name="Text 18"/>
          <p:cNvSpPr txBox="1"/>
          <p:nvPr/>
        </p:nvSpPr>
        <p:spPr>
          <a:xfrm>
            <a:off x="566928" y="4114800"/>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Decisiones de Abastecimiento</a:t>
            </a:r>
            <a:endParaRPr lang="en-US" sz="1300" dirty="0"/>
          </a:p>
        </p:txBody>
      </p:sp>
      <p:sp>
        <p:nvSpPr>
          <p:cNvPr id="21" name="Text 19"/>
          <p:cNvSpPr txBox="1"/>
          <p:nvPr/>
        </p:nvSpPr>
        <p:spPr>
          <a:xfrm>
            <a:off x="566928" y="43891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decisiones de materiales (viguetas prefabricadas vs. losa aligerada, mallas electrosoldadas vs. fierro convencional) deben planificarse antes — no en campo.</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60</a:t>
            </a:r>
            <a:endParaRPr lang="en-US" sz="900" dirty="0"/>
          </a:p>
        </p:txBody>
      </p:sp>
      <p:pic xmlns:p="http://schemas.openxmlformats.org/presentationml/2006/main" xmlns:a="http://schemas.openxmlformats.org/drawingml/2006/main" xmlns:r="http://schemas.openxmlformats.org/officeDocument/2006/relationships">
        <p:nvPicPr>
          <p:cNvPr id="8060" name="SlideIcon8060"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3200" b="1" dirty="0">
                <a:solidFill>
                  <a:srgbClr val="F4F4F4"/>
                </a:solidFill>
                <a:latin typeface="Atkinson Hyperlegible" pitchFamily="34" charset="0"/>
                <a:ea typeface="Atkinson Hyperlegible" pitchFamily="34" charset="-122"/>
                <a:cs typeface="Atkinson Hyperlegible" pitchFamily="34" charset="-120"/>
              </a:rPr>
              <a:t>07</a:t>
            </a:r>
            <a:endParaRPr lang="en-US" sz="32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Casos de Estudio</a:t>
            </a:r>
            <a:endParaRPr lang="en-US" sz="28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Evidencia Real del Retorno de la Constructabilidad</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61</a:t>
            </a:r>
            <a:endParaRPr lang="en-US" sz="900" dirty="0"/>
          </a:p>
        </p:txBody>
      </p:sp>
      <p:pic xmlns:p="http://schemas.openxmlformats.org/presentationml/2006/main" xmlns:a="http://schemas.openxmlformats.org/drawingml/2006/main" xmlns:r="http://schemas.openxmlformats.org/officeDocument/2006/relationships">
        <p:nvPicPr>
          <p:cNvPr id="8061" name="SlideIcon8061" descr="icon"/>
          <p:cNvPicPr>
            <a:picLocks noChangeAspect="1"/>
          </p:cNvPicPr>
          <p:nvPr/>
        </p:nvPicPr>
        <p:blipFill>
          <a:blip r:embed="rId9002"/>
          <a:stretch>
            <a:fillRect/>
          </a:stretch>
        </p:blipFill>
        <p:spPr>
          <a:xfrm>
            <a:off x="73152" y="118872"/>
            <a:ext cx="347472" cy="34747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Casos de Estudio Documentados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ha documentado múltiples casos con datos cuantificados de beneficios. Los casos guía son CII:</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0A84FF"/>
            </a:solidFill>
            <a:prstDash val="solid"/>
          </a:ln>
        </p:spPr>
      </p:sp>
      <p:sp>
        <p:nvSpPr>
          <p:cNvPr id="7" name="Text 5"/>
          <p:cNvSpPr txBox="1"/>
          <p:nvPr/>
        </p:nvSpPr>
        <p:spPr>
          <a:xfrm>
            <a:off x="530352" y="1371600"/>
            <a:ext cx="502920" cy="50292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CS-1</a:t>
            </a:r>
            <a:endParaRPr lang="en-US" sz="1200" dirty="0"/>
          </a:p>
        </p:txBody>
      </p:sp>
      <p:sp>
        <p:nvSpPr>
          <p:cNvPr id="8" name="Text 6"/>
          <p:cNvSpPr txBox="1"/>
          <p:nvPr/>
        </p:nvSpPr>
        <p:spPr>
          <a:xfrm>
            <a:off x="107899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Bajo Sulfuro</a:t>
            </a:r>
            <a:endParaRPr lang="en-US" sz="1200" dirty="0"/>
          </a:p>
        </p:txBody>
      </p:sp>
      <p:sp>
        <p:nvSpPr>
          <p:cNvPr id="9" name="Text 7"/>
          <p:cNvSpPr txBox="1"/>
          <p:nvPr/>
        </p:nvSpPr>
        <p:spPr>
          <a:xfrm>
            <a:off x="53035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Corpus Christi, TX | $145M TIC</a:t>
            </a:r>
            <a:endParaRPr lang="en-US" sz="1050" dirty="0"/>
          </a:p>
        </p:txBody>
      </p:sp>
      <p:sp>
        <p:nvSpPr>
          <p:cNvPr id="10" name="Text 8"/>
          <p:cNvSpPr txBox="1"/>
          <p:nvPr/>
        </p:nvSpPr>
        <p:spPr>
          <a:xfrm>
            <a:off x="530352" y="1956816"/>
            <a:ext cx="3840480" cy="256032"/>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 9% bajo presupuesto</a:t>
            </a:r>
            <a:endParaRPr lang="en-US" sz="1100" dirty="0"/>
          </a:p>
        </p:txBody>
      </p:sp>
      <p:sp>
        <p:nvSpPr>
          <p:cNvPr id="11" name="Shape 9"/>
          <p:cNvSpPr/>
          <p:nvPr/>
        </p:nvSpPr>
        <p:spPr>
          <a:xfrm>
            <a:off x="4754880" y="1298448"/>
            <a:ext cx="4206240" cy="1143000"/>
          </a:xfrm>
          <a:prstGeom prst="roundRect">
            <a:avLst>
              <a:gd name="adj" fmla="val 8000"/>
            </a:avLst>
          </a:prstGeom>
          <a:solidFill>
            <a:srgbClr val="F4F4F4"/>
          </a:solidFill>
          <a:ln w="12700">
            <a:solidFill>
              <a:srgbClr val="30D158"/>
            </a:solidFill>
            <a:prstDash val="solid"/>
          </a:ln>
        </p:spPr>
      </p:sp>
      <p:sp>
        <p:nvSpPr>
          <p:cNvPr id="12" name="Text 10"/>
          <p:cNvSpPr txBox="1"/>
          <p:nvPr/>
        </p:nvSpPr>
        <p:spPr>
          <a:xfrm>
            <a:off x="4919472" y="1371600"/>
            <a:ext cx="502920" cy="5029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CS-2</a:t>
            </a:r>
            <a:endParaRPr lang="en-US" sz="1200" dirty="0"/>
          </a:p>
        </p:txBody>
      </p:sp>
      <p:sp>
        <p:nvSpPr>
          <p:cNvPr id="13" name="Text 11"/>
          <p:cNvSpPr txBox="1"/>
          <p:nvPr/>
        </p:nvSpPr>
        <p:spPr>
          <a:xfrm>
            <a:off x="546811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Aluminio Fjardaal</a:t>
            </a:r>
            <a:endParaRPr lang="en-US" sz="1200" dirty="0"/>
          </a:p>
        </p:txBody>
      </p:sp>
      <p:sp>
        <p:nvSpPr>
          <p:cNvPr id="14" name="Text 12"/>
          <p:cNvSpPr txBox="1"/>
          <p:nvPr/>
        </p:nvSpPr>
        <p:spPr>
          <a:xfrm>
            <a:off x="491947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Islandia oriental | 320K ton/año</a:t>
            </a:r>
            <a:endParaRPr lang="en-US" sz="1050" dirty="0"/>
          </a:p>
        </p:txBody>
      </p:sp>
      <p:sp>
        <p:nvSpPr>
          <p:cNvPr id="15" name="Text 13"/>
          <p:cNvSpPr txBox="1"/>
          <p:nvPr/>
        </p:nvSpPr>
        <p:spPr>
          <a:xfrm>
            <a:off x="4919472" y="1956816"/>
            <a:ext cx="3840480" cy="256032"/>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 ~10% reducción costos campo</a:t>
            </a:r>
            <a:endParaRPr lang="en-US" sz="1100" dirty="0"/>
          </a:p>
        </p:txBody>
      </p:sp>
      <p:sp>
        <p:nvSpPr>
          <p:cNvPr id="16" name="Shape 14"/>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7" name="Text 15"/>
          <p:cNvSpPr txBox="1"/>
          <p:nvPr/>
        </p:nvSpPr>
        <p:spPr>
          <a:xfrm>
            <a:off x="530352" y="2633472"/>
            <a:ext cx="502920" cy="5029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CS-3</a:t>
            </a:r>
            <a:endParaRPr lang="en-US" sz="1200" dirty="0"/>
          </a:p>
        </p:txBody>
      </p:sp>
      <p:sp>
        <p:nvSpPr>
          <p:cNvPr id="18" name="Text 16"/>
          <p:cNvSpPr txBox="1"/>
          <p:nvPr/>
        </p:nvSpPr>
        <p:spPr>
          <a:xfrm>
            <a:off x="107899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200" dirty="0"/>
          </a:p>
        </p:txBody>
      </p:sp>
      <p:sp>
        <p:nvSpPr>
          <p:cNvPr id="19" name="Text 17"/>
          <p:cNvSpPr txBox="1"/>
          <p:nvPr/>
        </p:nvSpPr>
        <p:spPr>
          <a:xfrm>
            <a:off x="53035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Comercial</a:t>
            </a:r>
            <a:endParaRPr lang="en-US" sz="1050" dirty="0"/>
          </a:p>
        </p:txBody>
      </p:sp>
      <p:sp>
        <p:nvSpPr>
          <p:cNvPr id="20" name="Text 18"/>
          <p:cNvSpPr txBox="1"/>
          <p:nvPr/>
        </p:nvSpPr>
        <p:spPr>
          <a:xfrm>
            <a:off x="530352" y="3218688"/>
            <a:ext cx="3840480" cy="256032"/>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1.1% ahorro TIC, B/C = 10:1</a:t>
            </a:r>
            <a:endParaRPr lang="en-US" sz="1100" dirty="0"/>
          </a:p>
        </p:txBody>
      </p:sp>
      <p:sp>
        <p:nvSpPr>
          <p:cNvPr id="21" name="Shape 19"/>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22" name="Text 20"/>
          <p:cNvSpPr txBox="1"/>
          <p:nvPr/>
        </p:nvSpPr>
        <p:spPr>
          <a:xfrm>
            <a:off x="4919472" y="2633472"/>
            <a:ext cx="502920" cy="50292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CS-4</a:t>
            </a:r>
            <a:endParaRPr lang="en-US" sz="1200" dirty="0"/>
          </a:p>
        </p:txBody>
      </p:sp>
      <p:sp>
        <p:nvSpPr>
          <p:cNvPr id="23" name="Text 21"/>
          <p:cNvSpPr txBox="1"/>
          <p:nvPr/>
        </p:nvSpPr>
        <p:spPr>
          <a:xfrm>
            <a:off x="546811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Petroquímica</a:t>
            </a:r>
            <a:endParaRPr lang="en-US" sz="1200" dirty="0"/>
          </a:p>
        </p:txBody>
      </p:sp>
      <p:sp>
        <p:nvSpPr>
          <p:cNvPr id="24" name="Text 22"/>
          <p:cNvSpPr txBox="1"/>
          <p:nvPr/>
        </p:nvSpPr>
        <p:spPr>
          <a:xfrm>
            <a:off x="491947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25" name="Text 23"/>
          <p:cNvSpPr txBox="1"/>
          <p:nvPr/>
        </p:nvSpPr>
        <p:spPr>
          <a:xfrm>
            <a:off x="4919472" y="3218688"/>
            <a:ext cx="3840480" cy="256032"/>
          </a:xfrm>
          <a:prstGeom prst="rect">
            <a:avLst/>
          </a:prstGeom>
          <a:noFill/>
          <a:ln/>
        </p:spPr>
        <p:txBody>
          <a:bodyPr wrap="square" lIns="0" tIns="0" rIns="0" bIns="0" rtlCol="0" anchor="ctr"/>
          <a:lstStyle/>
          <a:p>
            <a:pPr indent="0" marL="0">
              <a:buNone/>
            </a:pPr>
            <a:r>
              <a:rPr lang="en-US" sz="1100" dirty="0">
                <a:solidFill>
                  <a:srgbClr val="AF52DE"/>
                </a:solidFill>
                <a:latin typeface="Atkinson Hyperlegible" pitchFamily="34" charset="0"/>
                <a:ea typeface="Atkinson Hyperlegible" pitchFamily="34" charset="-122"/>
                <a:cs typeface="Atkinson Hyperlegible" pitchFamily="34" charset="-120"/>
              </a:rPr>
              <a:t>✓ 6-23% reducción TIC</a:t>
            </a:r>
            <a:endParaRPr lang="en-US" sz="1100" dirty="0"/>
          </a:p>
        </p:txBody>
      </p:sp>
      <p:sp>
        <p:nvSpPr>
          <p:cNvPr id="26" name="Shape 24"/>
          <p:cNvSpPr/>
          <p:nvPr/>
        </p:nvSpPr>
        <p:spPr>
          <a:xfrm>
            <a:off x="365760" y="3822192"/>
            <a:ext cx="4206240" cy="1143000"/>
          </a:xfrm>
          <a:prstGeom prst="roundRect">
            <a:avLst>
              <a:gd name="adj" fmla="val 8000"/>
            </a:avLst>
          </a:prstGeom>
          <a:solidFill>
            <a:srgbClr val="F4F4F4"/>
          </a:solidFill>
          <a:ln w="12700">
            <a:solidFill>
              <a:srgbClr val="FFD60A"/>
            </a:solidFill>
            <a:prstDash val="solid"/>
          </a:ln>
        </p:spPr>
      </p:sp>
      <p:sp>
        <p:nvSpPr>
          <p:cNvPr id="27" name="Text 25"/>
          <p:cNvSpPr txBox="1"/>
          <p:nvPr/>
        </p:nvSpPr>
        <p:spPr>
          <a:xfrm>
            <a:off x="530352" y="3895344"/>
            <a:ext cx="502920" cy="50292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CS-5</a:t>
            </a:r>
            <a:endParaRPr lang="en-US" sz="1200" dirty="0"/>
          </a:p>
        </p:txBody>
      </p:sp>
      <p:sp>
        <p:nvSpPr>
          <p:cNvPr id="28" name="Text 26"/>
          <p:cNvSpPr txBox="1"/>
          <p:nvPr/>
        </p:nvSpPr>
        <p:spPr>
          <a:xfrm>
            <a:off x="107899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Fertilizante Indonesia</a:t>
            </a:r>
            <a:endParaRPr lang="en-US" sz="1200" dirty="0"/>
          </a:p>
        </p:txBody>
      </p:sp>
      <p:sp>
        <p:nvSpPr>
          <p:cNvPr id="29" name="Text 27"/>
          <p:cNvSpPr txBox="1"/>
          <p:nvPr/>
        </p:nvSpPr>
        <p:spPr>
          <a:xfrm>
            <a:off x="53035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1,500 ton/día | Asia</a:t>
            </a:r>
            <a:endParaRPr lang="en-US" sz="1050" dirty="0"/>
          </a:p>
        </p:txBody>
      </p:sp>
      <p:sp>
        <p:nvSpPr>
          <p:cNvPr id="30" name="Text 28"/>
          <p:cNvSpPr txBox="1"/>
          <p:nvPr/>
        </p:nvSpPr>
        <p:spPr>
          <a:xfrm>
            <a:off x="530352" y="4480560"/>
            <a:ext cx="3840480" cy="256032"/>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 2 meses adelanto en cronograma</a:t>
            </a:r>
            <a:endParaRPr lang="en-US" sz="1100" dirty="0"/>
          </a:p>
        </p:txBody>
      </p:sp>
      <p:sp>
        <p:nvSpPr>
          <p:cNvPr id="31" name="Shape 29"/>
          <p:cNvSpPr/>
          <p:nvPr/>
        </p:nvSpPr>
        <p:spPr>
          <a:xfrm>
            <a:off x="4754880" y="3822192"/>
            <a:ext cx="4206240" cy="1143000"/>
          </a:xfrm>
          <a:prstGeom prst="roundRect">
            <a:avLst>
              <a:gd name="adj" fmla="val 8000"/>
            </a:avLst>
          </a:prstGeom>
          <a:solidFill>
            <a:srgbClr val="F4F4F4"/>
          </a:solidFill>
          <a:ln w="12700">
            <a:solidFill>
              <a:srgbClr val="FF453A"/>
            </a:solidFill>
            <a:prstDash val="solid"/>
          </a:ln>
        </p:spPr>
      </p:sp>
      <p:sp>
        <p:nvSpPr>
          <p:cNvPr id="32" name="Text 30"/>
          <p:cNvSpPr txBox="1"/>
          <p:nvPr/>
        </p:nvSpPr>
        <p:spPr>
          <a:xfrm>
            <a:off x="4919472" y="3895344"/>
            <a:ext cx="502920" cy="5029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CS-6</a:t>
            </a:r>
            <a:endParaRPr lang="en-US" sz="1200" dirty="0"/>
          </a:p>
        </p:txBody>
      </p:sp>
      <p:sp>
        <p:nvSpPr>
          <p:cNvPr id="33" name="Text 31"/>
          <p:cNvSpPr txBox="1"/>
          <p:nvPr/>
        </p:nvSpPr>
        <p:spPr>
          <a:xfrm>
            <a:off x="546811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Industrial</a:t>
            </a:r>
            <a:endParaRPr lang="en-US" sz="1200" dirty="0"/>
          </a:p>
        </p:txBody>
      </p:sp>
      <p:sp>
        <p:nvSpPr>
          <p:cNvPr id="34" name="Text 32"/>
          <p:cNvSpPr txBox="1"/>
          <p:nvPr/>
        </p:nvSpPr>
        <p:spPr>
          <a:xfrm>
            <a:off x="491947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35" name="Text 33"/>
          <p:cNvSpPr txBox="1"/>
          <p:nvPr/>
        </p:nvSpPr>
        <p:spPr>
          <a:xfrm>
            <a:off x="4919472" y="4480560"/>
            <a:ext cx="3840480" cy="25603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Reducción 10% duración</a:t>
            </a:r>
            <a:endParaRPr lang="en-US" sz="11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62</a:t>
            </a:r>
            <a:endParaRPr lang="en-US" sz="900" dirty="0"/>
          </a:p>
        </p:txBody>
      </p:sp>
      <p:pic xmlns:p="http://schemas.openxmlformats.org/presentationml/2006/main" xmlns:a="http://schemas.openxmlformats.org/drawingml/2006/main" xmlns:r="http://schemas.openxmlformats.org/officeDocument/2006/relationships">
        <p:nvPicPr>
          <p:cNvPr id="8062" name="SlideIcon8062" descr="icon"/>
          <p:cNvPicPr>
            <a:picLocks noChangeAspect="1"/>
          </p:cNvPicPr>
          <p:nvPr/>
        </p:nvPicPr>
        <p:blipFill>
          <a:blip r:embed="rId9002"/>
          <a:stretch>
            <a:fillRect/>
          </a:stretch>
        </p:blipFill>
        <p:spPr>
          <a:xfrm>
            <a:off x="73152" y="118872"/>
            <a:ext cx="347472" cy="34747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Planta de Gas de Bajo Sulfuro — Corpus Christi, TX</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4160520" cy="4187952"/>
          </a:xfrm>
          <a:prstGeom prst="roundRect">
            <a:avLst>
              <a:gd name="adj" fmla="val 2637"/>
            </a:avLst>
          </a:prstGeom>
          <a:solidFill>
            <a:srgbClr val="F4F4F4"/>
          </a:solidFill>
          <a:ln w="12700">
            <a:solidFill>
              <a:srgbClr val="EBEBEB"/>
            </a:solidFill>
            <a:prstDash val="solid"/>
          </a:ln>
        </p:spPr>
      </p:sp>
      <p:sp>
        <p:nvSpPr>
          <p:cNvPr id="6" name="Text 4"/>
          <p:cNvSpPr txBox="1"/>
          <p:nvPr/>
        </p:nvSpPr>
        <p:spPr>
          <a:xfrm>
            <a:off x="530352" y="1024128"/>
            <a:ext cx="3840480" cy="32004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DESCRIPCIÓN DEL PROYECTO</a:t>
            </a:r>
            <a:endParaRPr lang="en-US" sz="1300" dirty="0"/>
          </a:p>
        </p:txBody>
      </p:sp>
      <p:sp>
        <p:nvSpPr>
          <p:cNvPr id="7" name="Text 5"/>
          <p:cNvSpPr txBox="1"/>
          <p:nvPr/>
        </p:nvSpPr>
        <p:spPr>
          <a:xfrm>
            <a:off x="548640" y="1417320"/>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Planta para producción de combustibles más limpios (mandato EPA)</a:t>
            </a:r>
            <a:endParaRPr lang="en-US" sz="1050" dirty="0"/>
          </a:p>
        </p:txBody>
      </p:sp>
      <p:sp>
        <p:nvSpPr>
          <p:cNvPr id="8" name="Text 6"/>
          <p:cNvSpPr txBox="1"/>
          <p:nvPr/>
        </p:nvSpPr>
        <p:spPr>
          <a:xfrm>
            <a:off x="548640" y="1764792"/>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Capacidad: 63,000 barriles/día en 3 unidades de proceso</a:t>
            </a:r>
            <a:endParaRPr lang="en-US" sz="1050" dirty="0"/>
          </a:p>
        </p:txBody>
      </p:sp>
      <p:sp>
        <p:nvSpPr>
          <p:cNvPr id="9" name="Text 7"/>
          <p:cNvSpPr txBox="1"/>
          <p:nvPr/>
        </p:nvSpPr>
        <p:spPr>
          <a:xfrm>
            <a:off x="548640" y="2112264"/>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Nueva tecnología de proceso</a:t>
            </a:r>
            <a:endParaRPr lang="en-US" sz="1050" dirty="0"/>
          </a:p>
        </p:txBody>
      </p:sp>
      <p:sp>
        <p:nvSpPr>
          <p:cNvPr id="10" name="Text 8"/>
          <p:cNvSpPr txBox="1"/>
          <p:nvPr/>
        </p:nvSpPr>
        <p:spPr>
          <a:xfrm>
            <a:off x="548640" y="2459736"/>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Presupuesto TIC: $145 millones</a:t>
            </a:r>
            <a:endParaRPr lang="en-US" sz="1050" dirty="0"/>
          </a:p>
        </p:txBody>
      </p:sp>
      <p:sp>
        <p:nvSpPr>
          <p:cNvPr id="11" name="Text 9"/>
          <p:cNvSpPr txBox="1"/>
          <p:nvPr/>
        </p:nvSpPr>
        <p:spPr>
          <a:xfrm>
            <a:off x="548640" y="2807208"/>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 Corpus Christi, Texas</a:t>
            </a:r>
            <a:endParaRPr lang="en-US" sz="1050" dirty="0"/>
          </a:p>
        </p:txBody>
      </p:sp>
      <p:sp>
        <p:nvSpPr>
          <p:cNvPr id="12" name="Text 10"/>
          <p:cNvSpPr txBox="1"/>
          <p:nvPr/>
        </p:nvSpPr>
        <p:spPr>
          <a:xfrm>
            <a:off x="548640" y="3154680"/>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Escasez de soldadores y electricistas en la zona (20% turnover)</a:t>
            </a:r>
            <a:endParaRPr lang="en-US" sz="1050" dirty="0"/>
          </a:p>
        </p:txBody>
      </p:sp>
      <p:sp>
        <p:nvSpPr>
          <p:cNvPr id="13" name="Text 11"/>
          <p:cNvSpPr txBox="1"/>
          <p:nvPr/>
        </p:nvSpPr>
        <p:spPr>
          <a:xfrm>
            <a:off x="548640" y="3502152"/>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 4 millas de puerto de aguas profundas</a:t>
            </a:r>
            <a:endParaRPr lang="en-US" sz="1050" dirty="0"/>
          </a:p>
        </p:txBody>
      </p:sp>
      <p:sp>
        <p:nvSpPr>
          <p:cNvPr id="14" name="Text 12"/>
          <p:cNvSpPr txBox="1"/>
          <p:nvPr/>
        </p:nvSpPr>
        <p:spPr>
          <a:xfrm>
            <a:off x="548640" y="3849624"/>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Fast-track, proyecto orientado al cronograma</a:t>
            </a:r>
            <a:endParaRPr lang="en-US" sz="1050" dirty="0"/>
          </a:p>
        </p:txBody>
      </p:sp>
      <p:sp>
        <p:nvSpPr>
          <p:cNvPr id="15" name="Text 13"/>
          <p:cNvSpPr txBox="1"/>
          <p:nvPr/>
        </p:nvSpPr>
        <p:spPr>
          <a:xfrm>
            <a:off x="548640" y="4197096"/>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Contrato EPC: 15 meses para diseño detallado, procura, construcción y arranque</a:t>
            </a:r>
            <a:endParaRPr lang="en-US" sz="1050" dirty="0"/>
          </a:p>
        </p:txBody>
      </p:sp>
      <p:sp>
        <p:nvSpPr>
          <p:cNvPr id="16" name="Text 14"/>
          <p:cNvSpPr txBox="1"/>
          <p:nvPr/>
        </p:nvSpPr>
        <p:spPr>
          <a:xfrm>
            <a:off x="548640" y="4544568"/>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Movilización al campo al 30% de avance de ingeniería</a:t>
            </a:r>
            <a:endParaRPr lang="en-US" sz="1050" dirty="0"/>
          </a:p>
        </p:txBody>
      </p:sp>
      <p:sp>
        <p:nvSpPr>
          <p:cNvPr id="17" name="Shape 15"/>
          <p:cNvSpPr/>
          <p:nvPr/>
        </p:nvSpPr>
        <p:spPr>
          <a:xfrm>
            <a:off x="4663440" y="960120"/>
            <a:ext cx="4114800" cy="2011680"/>
          </a:xfrm>
          <a:prstGeom prst="roundRect">
            <a:avLst>
              <a:gd name="adj" fmla="val 5455"/>
            </a:avLst>
          </a:prstGeom>
          <a:solidFill>
            <a:srgbClr val="F4F4F4"/>
          </a:solidFill>
          <a:ln w="25400">
            <a:solidFill>
              <a:srgbClr val="30D158"/>
            </a:solidFill>
            <a:prstDash val="solid"/>
          </a:ln>
        </p:spPr>
      </p:sp>
      <p:sp>
        <p:nvSpPr>
          <p:cNvPr id="18" name="Text 16"/>
          <p:cNvSpPr txBox="1"/>
          <p:nvPr/>
        </p:nvSpPr>
        <p:spPr>
          <a:xfrm>
            <a:off x="4846320" y="1024128"/>
            <a:ext cx="374904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RESULTADOS</a:t>
            </a:r>
            <a:endParaRPr lang="en-US" sz="1300" dirty="0"/>
          </a:p>
        </p:txBody>
      </p:sp>
      <p:sp>
        <p:nvSpPr>
          <p:cNvPr id="19" name="Text 17"/>
          <p:cNvSpPr txBox="1"/>
          <p:nvPr/>
        </p:nvSpPr>
        <p:spPr>
          <a:xfrm>
            <a:off x="4828032" y="1389888"/>
            <a:ext cx="1280160" cy="228600"/>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Seguridad:</a:t>
            </a:r>
            <a:endParaRPr lang="en-US" sz="1100" dirty="0"/>
          </a:p>
        </p:txBody>
      </p:sp>
      <p:sp>
        <p:nvSpPr>
          <p:cNvPr id="20" name="Text 18"/>
          <p:cNvSpPr txBox="1"/>
          <p:nvPr/>
        </p:nvSpPr>
        <p:spPr>
          <a:xfrm>
            <a:off x="6144768" y="1389888"/>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0 accidentes en 1.6 MM horas-hombre</a:t>
            </a:r>
            <a:endParaRPr lang="en-US" sz="1100" dirty="0"/>
          </a:p>
        </p:txBody>
      </p:sp>
      <p:sp>
        <p:nvSpPr>
          <p:cNvPr id="21" name="Text 19"/>
          <p:cNvSpPr txBox="1"/>
          <p:nvPr/>
        </p:nvSpPr>
        <p:spPr>
          <a:xfrm>
            <a:off x="4828032" y="1645920"/>
            <a:ext cx="1280160" cy="228600"/>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Costo:</a:t>
            </a:r>
            <a:endParaRPr lang="en-US" sz="1100" dirty="0"/>
          </a:p>
        </p:txBody>
      </p:sp>
      <p:sp>
        <p:nvSpPr>
          <p:cNvPr id="22" name="Text 20"/>
          <p:cNvSpPr txBox="1"/>
          <p:nvPr/>
        </p:nvSpPr>
        <p:spPr>
          <a:xfrm>
            <a:off x="6144768" y="1645920"/>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$13 MM (9%) BAJO el presupuesto</a:t>
            </a:r>
            <a:endParaRPr lang="en-US" sz="1100" dirty="0"/>
          </a:p>
        </p:txBody>
      </p:sp>
      <p:sp>
        <p:nvSpPr>
          <p:cNvPr id="23" name="Text 21"/>
          <p:cNvSpPr txBox="1"/>
          <p:nvPr/>
        </p:nvSpPr>
        <p:spPr>
          <a:xfrm>
            <a:off x="4828032" y="1901952"/>
            <a:ext cx="1280160" cy="228600"/>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Cronograma:</a:t>
            </a:r>
            <a:endParaRPr lang="en-US" sz="1100" dirty="0"/>
          </a:p>
        </p:txBody>
      </p:sp>
      <p:sp>
        <p:nvSpPr>
          <p:cNvPr id="24" name="Text 22"/>
          <p:cNvSpPr txBox="1"/>
          <p:nvPr/>
        </p:nvSpPr>
        <p:spPr>
          <a:xfrm>
            <a:off x="6144768" y="1901952"/>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 semana (1.8%) sobre cronograma</a:t>
            </a:r>
            <a:endParaRPr lang="en-US" sz="1100" dirty="0"/>
          </a:p>
        </p:txBody>
      </p:sp>
      <p:sp>
        <p:nvSpPr>
          <p:cNvPr id="25" name="Text 23"/>
          <p:cNvSpPr txBox="1"/>
          <p:nvPr/>
        </p:nvSpPr>
        <p:spPr>
          <a:xfrm>
            <a:off x="4828032" y="2157984"/>
            <a:ext cx="1280160" cy="228600"/>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Productividad:</a:t>
            </a:r>
            <a:endParaRPr lang="en-US" sz="1100" dirty="0"/>
          </a:p>
        </p:txBody>
      </p:sp>
      <p:sp>
        <p:nvSpPr>
          <p:cNvPr id="26" name="Text 24"/>
          <p:cNvSpPr txBox="1"/>
          <p:nvPr/>
        </p:nvSpPr>
        <p:spPr>
          <a:xfrm>
            <a:off x="6144768" y="2157984"/>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5% mejor que lo planeado</a:t>
            </a:r>
            <a:endParaRPr lang="en-US" sz="1100" dirty="0"/>
          </a:p>
        </p:txBody>
      </p:sp>
      <p:sp>
        <p:nvSpPr>
          <p:cNvPr id="27" name="Text 25"/>
          <p:cNvSpPr txBox="1"/>
          <p:nvPr/>
        </p:nvSpPr>
        <p:spPr>
          <a:xfrm>
            <a:off x="4828032" y="2414016"/>
            <a:ext cx="1280160" cy="228600"/>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Retrabajo:</a:t>
            </a:r>
            <a:endParaRPr lang="en-US" sz="1100" dirty="0"/>
          </a:p>
        </p:txBody>
      </p:sp>
      <p:sp>
        <p:nvSpPr>
          <p:cNvPr id="28" name="Text 26"/>
          <p:cNvSpPr txBox="1"/>
          <p:nvPr/>
        </p:nvSpPr>
        <p:spPr>
          <a:xfrm>
            <a:off x="6144768" y="2414016"/>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Reducido a ~2% del costo total</a:t>
            </a:r>
            <a:endParaRPr lang="en-US" sz="1100" dirty="0"/>
          </a:p>
        </p:txBody>
      </p:sp>
      <p:sp>
        <p:nvSpPr>
          <p:cNvPr id="29" name="Text 27"/>
          <p:cNvSpPr txBox="1"/>
          <p:nvPr/>
        </p:nvSpPr>
        <p:spPr>
          <a:xfrm>
            <a:off x="4828032" y="2670048"/>
            <a:ext cx="1280160" cy="228600"/>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Rotación:</a:t>
            </a:r>
            <a:endParaRPr lang="en-US" sz="1100" dirty="0"/>
          </a:p>
        </p:txBody>
      </p:sp>
      <p:sp>
        <p:nvSpPr>
          <p:cNvPr id="30" name="Text 28"/>
          <p:cNvSpPr txBox="1"/>
          <p:nvPr/>
        </p:nvSpPr>
        <p:spPr>
          <a:xfrm>
            <a:off x="6144768" y="2670048"/>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Reducida a la mitad del promedio regional</a:t>
            </a:r>
            <a:endParaRPr lang="en-US" sz="1100" dirty="0"/>
          </a:p>
        </p:txBody>
      </p:sp>
      <p:sp>
        <p:nvSpPr>
          <p:cNvPr id="31" name="Shape 29"/>
          <p:cNvSpPr/>
          <p:nvPr/>
        </p:nvSpPr>
        <p:spPr>
          <a:xfrm>
            <a:off x="4663440" y="3090672"/>
            <a:ext cx="4114800" cy="914400"/>
          </a:xfrm>
          <a:prstGeom prst="roundRect">
            <a:avLst>
              <a:gd name="adj" fmla="val 10000"/>
            </a:avLst>
          </a:prstGeom>
          <a:solidFill>
            <a:srgbClr val="F4F4F4"/>
          </a:solidFill>
          <a:ln w="12700">
            <a:solidFill>
              <a:srgbClr val="FF9500"/>
            </a:solidFill>
            <a:prstDash val="solid"/>
          </a:ln>
        </p:spPr>
      </p:sp>
      <p:sp>
        <p:nvSpPr>
          <p:cNvPr id="32" name="Text 30"/>
          <p:cNvSpPr txBox="1"/>
          <p:nvPr/>
        </p:nvSpPr>
        <p:spPr>
          <a:xfrm>
            <a:off x="4846320" y="3154680"/>
            <a:ext cx="37490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INVERSIÓN EN CONSTRUCTABILIDAD</a:t>
            </a:r>
            <a:endParaRPr lang="en-US" sz="1200" dirty="0"/>
          </a:p>
        </p:txBody>
      </p:sp>
      <p:sp>
        <p:nvSpPr>
          <p:cNvPr id="33" name="Text 31"/>
          <p:cNvSpPr txBox="1"/>
          <p:nvPr/>
        </p:nvSpPr>
        <p:spPr>
          <a:xfrm>
            <a:off x="4846320" y="3456432"/>
            <a:ext cx="374904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 millón invertido = 0.7% del presupuesto TIC</a:t>
            </a:r>
            <a:endParaRPr lang="en-US" sz="1100" dirty="0"/>
          </a:p>
        </p:txBody>
      </p:sp>
      <p:sp>
        <p:nvSpPr>
          <p:cNvPr id="34" name="Text 32"/>
          <p:cNvSpPr txBox="1"/>
          <p:nvPr/>
        </p:nvSpPr>
        <p:spPr>
          <a:xfrm>
            <a:off x="4846320" y="3712464"/>
            <a:ext cx="3749040" cy="228600"/>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Retorno B/C implícito &gt; 13:1</a:t>
            </a:r>
            <a:endParaRPr lang="en-US" sz="1100" dirty="0"/>
          </a:p>
        </p:txBody>
      </p:sp>
      <p:sp>
        <p:nvSpPr>
          <p:cNvPr id="35" name="Shape 33"/>
          <p:cNvSpPr/>
          <p:nvPr/>
        </p:nvSpPr>
        <p:spPr>
          <a:xfrm>
            <a:off x="4663440" y="4096512"/>
            <a:ext cx="4114800" cy="1051560"/>
          </a:xfrm>
          <a:prstGeom prst="roundRect">
            <a:avLst>
              <a:gd name="adj" fmla="val 8696"/>
            </a:avLst>
          </a:prstGeom>
          <a:solidFill>
            <a:srgbClr val="F4F4F4"/>
          </a:solidFill>
          <a:ln w="12700">
            <a:solidFill>
              <a:srgbClr val="EBEBEB"/>
            </a:solidFill>
            <a:prstDash val="solid"/>
          </a:ln>
        </p:spPr>
      </p:sp>
      <p:sp>
        <p:nvSpPr>
          <p:cNvPr id="36" name="Text 34"/>
          <p:cNvSpPr txBox="1"/>
          <p:nvPr/>
        </p:nvSpPr>
        <p:spPr>
          <a:xfrm>
            <a:off x="4846320" y="4160520"/>
            <a:ext cx="3749040" cy="8961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LECCIÓN CLAVE: Mobilizar al equipo de campo durante el diseño (3-5 meses antes de la movilización) genera coordinación E-C que vale millones.</a:t>
            </a:r>
            <a:endParaRPr lang="en-US" sz="1050" dirty="0"/>
          </a:p>
        </p:txBody>
      </p:sp>
      <p:sp>
        <p:nvSpPr>
          <p:cNvPr id="37" name="Text 3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63</a:t>
            </a:r>
            <a:endParaRPr lang="en-US" sz="900" dirty="0"/>
          </a:p>
        </p:txBody>
      </p:sp>
      <p:pic xmlns:p="http://schemas.openxmlformats.org/presentationml/2006/main" xmlns:a="http://schemas.openxmlformats.org/drawingml/2006/main" xmlns:r="http://schemas.openxmlformats.org/officeDocument/2006/relationships">
        <p:nvPicPr>
          <p:cNvPr id="8063" name="SlideIcon8063"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Modularización en la Planta de Gas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modularización fue el elemento de constructabilidad de mayor impacto en este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 Cubos de Equipos Modulares</a:t>
            </a:r>
            <a:endParaRPr lang="en-US" sz="13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74,000 horas pico transferidas a Charleston, SC (taller de fabricación). Equivale al 5.7% del total de horas de campo.</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Planificación de Rutas</a:t>
            </a:r>
            <a:endParaRPr lang="en-US" sz="13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Planificación detallada para líneas eléctricas a lo largo de la ruta de transporte de los módulos. Coordinación con autoridades viales.</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Ingeniería Civil Especializada</a:t>
            </a:r>
            <a:endParaRPr lang="en-US" sz="13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Conexiones especiales columna-viga para soportar las cargas de izaje de los módulos en campo.</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en Sitio</a:t>
            </a:r>
            <a:endParaRPr lang="en-US" sz="13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Prefabricación y carga de racks de tubería en sitio: 14% de toda la tubería del proyecto ensamblada en tierra antes de izaje.</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Acompañamiento CE</a:t>
            </a:r>
            <a:endParaRPr lang="en-US" sz="13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 de campo viajó con los módulos para resolver cualquier problema durante el transporte e instalación.</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Modelo Electrónico PDS</a:t>
            </a:r>
            <a:endParaRPr lang="en-US" sz="13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Modelado 3D CAD para toda la tubería. Usado para planeamiento del sitio, planificación de izajes y routing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64</a:t>
            </a:r>
            <a:endParaRPr lang="en-US" sz="900" dirty="0"/>
          </a:p>
        </p:txBody>
      </p:sp>
      <p:pic xmlns:p="http://schemas.openxmlformats.org/presentationml/2006/main" xmlns:a="http://schemas.openxmlformats.org/drawingml/2006/main" xmlns:r="http://schemas.openxmlformats.org/officeDocument/2006/relationships">
        <p:nvPicPr>
          <p:cNvPr id="8064" name="SlideIcon8064"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Gestión de Personal, Calidad y Cronograma Agresivo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1298448"/>
          </a:xfrm>
          <a:prstGeom prst="roundRect">
            <a:avLst>
              <a:gd name="adj" fmla="val 7042"/>
            </a:avLst>
          </a:prstGeom>
          <a:solidFill>
            <a:srgbClr val="F4F4F4"/>
          </a:solidFill>
          <a:ln w="12700">
            <a:solidFill>
              <a:srgbClr val="EBEBEB"/>
            </a:solidFill>
            <a:prstDash val="solid"/>
          </a:ln>
        </p:spPr>
      </p:sp>
      <p:sp>
        <p:nvSpPr>
          <p:cNvPr id="6" name="Shape 4"/>
          <p:cNvSpPr/>
          <p:nvPr/>
        </p:nvSpPr>
        <p:spPr>
          <a:xfrm>
            <a:off x="365760" y="960120"/>
            <a:ext cx="8412480" cy="365760"/>
          </a:xfrm>
          <a:prstGeom prst="roundRect">
            <a:avLst>
              <a:gd name="adj" fmla="val 25000"/>
            </a:avLst>
          </a:prstGeom>
          <a:solidFill>
            <a:srgbClr val="FF9500"/>
          </a:solidFill>
          <a:ln/>
        </p:spPr>
      </p:sp>
      <p:sp>
        <p:nvSpPr>
          <p:cNvPr id="7" name="Shape 5"/>
          <p:cNvSpPr/>
          <p:nvPr/>
        </p:nvSpPr>
        <p:spPr>
          <a:xfrm>
            <a:off x="365760" y="1143000"/>
            <a:ext cx="8412480" cy="182880"/>
          </a:xfrm>
          <a:prstGeom prst="rect">
            <a:avLst/>
          </a:prstGeom>
          <a:solidFill>
            <a:srgbClr val="FF9500"/>
          </a:solidFill>
          <a:ln/>
        </p:spPr>
      </p:sp>
      <p:sp>
        <p:nvSpPr>
          <p:cNvPr id="8" name="Text 6"/>
          <p:cNvSpPr txBox="1"/>
          <p:nvPr/>
        </p:nvSpPr>
        <p:spPr>
          <a:xfrm>
            <a:off x="530352" y="99669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de Personal — Innovaciones Clave</a:t>
            </a:r>
            <a:endParaRPr lang="en-US" sz="1300" dirty="0"/>
          </a:p>
        </p:txBody>
      </p:sp>
      <p:sp>
        <p:nvSpPr>
          <p:cNvPr id="9" name="Text 7"/>
          <p:cNvSpPr txBox="1"/>
          <p:nvPr/>
        </p:nvSpPr>
        <p:spPr>
          <a:xfrm>
            <a:off x="548640" y="138074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Reducción del pico de mano de obra en 100 personas a través de planificación inteligente del frente de trabajo</a:t>
            </a:r>
            <a:endParaRPr lang="en-US" sz="1000" dirty="0"/>
          </a:p>
        </p:txBody>
      </p:sp>
      <p:sp>
        <p:nvSpPr>
          <p:cNvPr id="10" name="Text 8"/>
          <p:cNvSpPr txBox="1"/>
          <p:nvPr/>
        </p:nvSpPr>
        <p:spPr>
          <a:xfrm>
            <a:off x="548640" y="157276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Cuadrillas de tubería y mecánicos con carga frontal (inicio temprano para maximizar curva de aprendizaje)</a:t>
            </a:r>
            <a:endParaRPr lang="en-US" sz="1000" dirty="0"/>
          </a:p>
        </p:txBody>
      </p:sp>
      <p:sp>
        <p:nvSpPr>
          <p:cNvPr id="11" name="Text 9"/>
          <p:cNvSpPr txBox="1"/>
          <p:nvPr/>
        </p:nvSpPr>
        <p:spPr>
          <a:xfrm>
            <a:off x="548640" y="176479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Programas de incentivos y capacitación para la fuerza laboral local</a:t>
            </a:r>
            <a:endParaRPr lang="en-US" sz="1000" dirty="0"/>
          </a:p>
        </p:txBody>
      </p:sp>
      <p:sp>
        <p:nvSpPr>
          <p:cNvPr id="12" name="Text 10"/>
          <p:cNvSpPr txBox="1"/>
          <p:nvPr/>
        </p:nvSpPr>
        <p:spPr>
          <a:xfrm>
            <a:off x="548640" y="195681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y compensación basada en competencias demostradas</a:t>
            </a:r>
            <a:endParaRPr lang="en-US" sz="1000" dirty="0"/>
          </a:p>
        </p:txBody>
      </p:sp>
      <p:sp>
        <p:nvSpPr>
          <p:cNvPr id="13" name="Text 11"/>
          <p:cNvSpPr txBox="1"/>
          <p:nvPr/>
        </p:nvSpPr>
        <p:spPr>
          <a:xfrm>
            <a:off x="548640" y="2148840"/>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Multi-skilling: capacitación cruzada para mayor flexibilidad operacional</a:t>
            </a:r>
            <a:endParaRPr lang="en-US" sz="1000" dirty="0"/>
          </a:p>
        </p:txBody>
      </p:sp>
      <p:sp>
        <p:nvSpPr>
          <p:cNvPr id="14" name="Shape 12"/>
          <p:cNvSpPr/>
          <p:nvPr/>
        </p:nvSpPr>
        <p:spPr>
          <a:xfrm>
            <a:off x="365760" y="2377440"/>
            <a:ext cx="8412480" cy="1298448"/>
          </a:xfrm>
          <a:prstGeom prst="roundRect">
            <a:avLst>
              <a:gd name="adj" fmla="val 7042"/>
            </a:avLst>
          </a:prstGeom>
          <a:solidFill>
            <a:srgbClr val="F4F4F4"/>
          </a:solidFill>
          <a:ln w="12700">
            <a:solidFill>
              <a:srgbClr val="EBEBEB"/>
            </a:solidFill>
            <a:prstDash val="solid"/>
          </a:ln>
        </p:spPr>
      </p:sp>
      <p:sp>
        <p:nvSpPr>
          <p:cNvPr id="15" name="Shape 13"/>
          <p:cNvSpPr/>
          <p:nvPr/>
        </p:nvSpPr>
        <p:spPr>
          <a:xfrm>
            <a:off x="365760" y="2377440"/>
            <a:ext cx="8412480" cy="365760"/>
          </a:xfrm>
          <a:prstGeom prst="roundRect">
            <a:avLst>
              <a:gd name="adj" fmla="val 25000"/>
            </a:avLst>
          </a:prstGeom>
          <a:solidFill>
            <a:srgbClr val="30D158"/>
          </a:solidFill>
          <a:ln/>
        </p:spPr>
      </p:sp>
      <p:sp>
        <p:nvSpPr>
          <p:cNvPr id="16" name="Shape 14"/>
          <p:cNvSpPr/>
          <p:nvPr/>
        </p:nvSpPr>
        <p:spPr>
          <a:xfrm>
            <a:off x="365760" y="2560320"/>
            <a:ext cx="8412480" cy="182880"/>
          </a:xfrm>
          <a:prstGeom prst="rect">
            <a:avLst/>
          </a:prstGeom>
          <a:solidFill>
            <a:srgbClr val="30D158"/>
          </a:solidFill>
          <a:ln/>
        </p:spPr>
      </p:sp>
      <p:sp>
        <p:nvSpPr>
          <p:cNvPr id="17" name="Text 15"/>
          <p:cNvSpPr txBox="1"/>
          <p:nvPr/>
        </p:nvSpPr>
        <p:spPr>
          <a:xfrm>
            <a:off x="530352" y="241401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Control de Calidad y Retrabajo</a:t>
            </a:r>
            <a:endParaRPr lang="en-US" sz="1300" dirty="0"/>
          </a:p>
        </p:txBody>
      </p:sp>
      <p:sp>
        <p:nvSpPr>
          <p:cNvPr id="18" name="Text 16"/>
          <p:cNvSpPr txBox="1"/>
          <p:nvPr/>
        </p:nvSpPr>
        <p:spPr>
          <a:xfrm>
            <a:off x="548640" y="279806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Retrabajo controlado al ~2% del costo total (vs. 10-15% sin programa formal)</a:t>
            </a:r>
            <a:endParaRPr lang="en-US" sz="1000" dirty="0"/>
          </a:p>
        </p:txBody>
      </p:sp>
      <p:sp>
        <p:nvSpPr>
          <p:cNvPr id="19" name="Text 17"/>
          <p:cNvSpPr txBox="1"/>
          <p:nvPr/>
        </p:nvSpPr>
        <p:spPr>
          <a:xfrm>
            <a:off x="548640" y="299008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Paquetes de trabajo encogidos en papel aluminio ("shrink-wrapped"): materiales + instrucciones + planos en un paquete por cuadrilla</a:t>
            </a:r>
            <a:endParaRPr lang="en-US" sz="1000" dirty="0"/>
          </a:p>
        </p:txBody>
      </p:sp>
      <p:sp>
        <p:nvSpPr>
          <p:cNvPr id="20" name="Text 18"/>
          <p:cNvSpPr txBox="1"/>
          <p:nvPr/>
        </p:nvSpPr>
        <p:spPr>
          <a:xfrm>
            <a:off x="548640" y="318211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Seguimiento de efectividad de planificación del capataz (foreman planning effectiveness)</a:t>
            </a:r>
            <a:endParaRPr lang="en-US" sz="1000" dirty="0"/>
          </a:p>
        </p:txBody>
      </p:sp>
      <p:sp>
        <p:nvSpPr>
          <p:cNvPr id="21" name="Text 19"/>
          <p:cNvSpPr txBox="1"/>
          <p:nvPr/>
        </p:nvSpPr>
        <p:spPr>
          <a:xfrm>
            <a:off x="548640" y="337413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de campo + capacitación para trabajadores nuevos</a:t>
            </a:r>
            <a:endParaRPr lang="en-US" sz="1000" dirty="0"/>
          </a:p>
        </p:txBody>
      </p:sp>
      <p:sp>
        <p:nvSpPr>
          <p:cNvPr id="22" name="Shape 20"/>
          <p:cNvSpPr/>
          <p:nvPr/>
        </p:nvSpPr>
        <p:spPr>
          <a:xfrm>
            <a:off x="365760" y="3794760"/>
            <a:ext cx="8412480" cy="1298448"/>
          </a:xfrm>
          <a:prstGeom prst="roundRect">
            <a:avLst>
              <a:gd name="adj" fmla="val 7042"/>
            </a:avLst>
          </a:prstGeom>
          <a:solidFill>
            <a:srgbClr val="F4F4F4"/>
          </a:solidFill>
          <a:ln w="12700">
            <a:solidFill>
              <a:srgbClr val="EBEBEB"/>
            </a:solidFill>
            <a:prstDash val="solid"/>
          </a:ln>
        </p:spPr>
      </p:sp>
      <p:sp>
        <p:nvSpPr>
          <p:cNvPr id="23" name="Shape 21"/>
          <p:cNvSpPr/>
          <p:nvPr/>
        </p:nvSpPr>
        <p:spPr>
          <a:xfrm>
            <a:off x="365760" y="3794760"/>
            <a:ext cx="8412480" cy="365760"/>
          </a:xfrm>
          <a:prstGeom prst="roundRect">
            <a:avLst>
              <a:gd name="adj" fmla="val 25000"/>
            </a:avLst>
          </a:prstGeom>
          <a:solidFill>
            <a:srgbClr val="0A84FF"/>
          </a:solidFill>
          <a:ln/>
        </p:spPr>
      </p:sp>
      <p:sp>
        <p:nvSpPr>
          <p:cNvPr id="24" name="Shape 22"/>
          <p:cNvSpPr/>
          <p:nvPr/>
        </p:nvSpPr>
        <p:spPr>
          <a:xfrm>
            <a:off x="365760" y="3977640"/>
            <a:ext cx="8412480" cy="182880"/>
          </a:xfrm>
          <a:prstGeom prst="rect">
            <a:avLst/>
          </a:prstGeom>
          <a:solidFill>
            <a:srgbClr val="0A84FF"/>
          </a:solidFill>
          <a:ln/>
        </p:spPr>
      </p:sp>
      <p:sp>
        <p:nvSpPr>
          <p:cNvPr id="25" name="Text 23"/>
          <p:cNvSpPr txBox="1"/>
          <p:nvPr/>
        </p:nvSpPr>
        <p:spPr>
          <a:xfrm>
            <a:off x="530352" y="383133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Agresiva del Cronograma</a:t>
            </a:r>
            <a:endParaRPr lang="en-US" sz="1300" dirty="0"/>
          </a:p>
        </p:txBody>
      </p:sp>
      <p:sp>
        <p:nvSpPr>
          <p:cNvPr id="26" name="Text 24"/>
          <p:cNvSpPr txBox="1"/>
          <p:nvPr/>
        </p:nvSpPr>
        <p:spPr>
          <a:xfrm>
            <a:off x="548640" y="421538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Ingeniería en 2 turnos con oficina satelital en Mumbai, India</a:t>
            </a:r>
            <a:endParaRPr lang="en-US" sz="1000" dirty="0"/>
          </a:p>
        </p:txBody>
      </p:sp>
      <p:sp>
        <p:nvSpPr>
          <p:cNvPr id="27" name="Text 25"/>
          <p:cNvSpPr txBox="1"/>
          <p:nvPr/>
        </p:nvSpPr>
        <p:spPr>
          <a:xfrm>
            <a:off x="548640" y="440740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Movilización temprana al campo al 30% de avance de ingeniería</a:t>
            </a:r>
            <a:endParaRPr lang="en-US" sz="1000" dirty="0"/>
          </a:p>
        </p:txBody>
      </p:sp>
      <p:sp>
        <p:nvSpPr>
          <p:cNvPr id="28" name="Text 26"/>
          <p:cNvSpPr txBox="1"/>
          <p:nvPr/>
        </p:nvSpPr>
        <p:spPr>
          <a:xfrm>
            <a:off x="548640" y="459943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Programación orientada al arranque (JSTD — Just-in-Time Startup Driven)</a:t>
            </a:r>
            <a:endParaRPr lang="en-US" sz="1000" dirty="0"/>
          </a:p>
        </p:txBody>
      </p:sp>
      <p:sp>
        <p:nvSpPr>
          <p:cNvPr id="29" name="Text 27"/>
          <p:cNvSpPr txBox="1"/>
          <p:nvPr/>
        </p:nvSpPr>
        <p:spPr>
          <a:xfrm>
            <a:off x="548640" y="479145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Planificación interactiva para abordar retrasos en tiempo real</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65</a:t>
            </a:r>
            <a:endParaRPr lang="en-US" sz="900" dirty="0"/>
          </a:p>
        </p:txBody>
      </p:sp>
      <p:pic xmlns:p="http://schemas.openxmlformats.org/presentationml/2006/main" xmlns:a="http://schemas.openxmlformats.org/drawingml/2006/main" xmlns:r="http://schemas.openxmlformats.org/officeDocument/2006/relationships">
        <p:nvPicPr>
          <p:cNvPr id="8065" name="SlideIcon8065"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Planta de Aluminio Fjardaál — Islandia Oriental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4160520" cy="4187952"/>
          </a:xfrm>
          <a:prstGeom prst="roundRect">
            <a:avLst>
              <a:gd name="adj" fmla="val 2637"/>
            </a:avLst>
          </a:prstGeom>
          <a:solidFill>
            <a:srgbClr val="F4F4F4"/>
          </a:solidFill>
          <a:ln w="12700">
            <a:solidFill>
              <a:srgbClr val="EBEBEB"/>
            </a:solidFill>
            <a:prstDash val="solid"/>
          </a:ln>
        </p:spPr>
      </p:sp>
      <p:sp>
        <p:nvSpPr>
          <p:cNvPr id="6" name="Text 4"/>
          <p:cNvSpPr txBox="1"/>
          <p:nvPr/>
        </p:nvSpPr>
        <p:spPr>
          <a:xfrm>
            <a:off x="530352" y="1024128"/>
            <a:ext cx="384048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DESCRIPCIÓN DEL PROYECTO</a:t>
            </a:r>
            <a:endParaRPr lang="en-US" sz="1200" dirty="0"/>
          </a:p>
        </p:txBody>
      </p:sp>
      <p:sp>
        <p:nvSpPr>
          <p:cNvPr id="7" name="Text 5"/>
          <p:cNvSpPr txBox="1"/>
          <p:nvPr/>
        </p:nvSpPr>
        <p:spPr>
          <a:xfrm>
            <a:off x="548640" y="1371600"/>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Primera planta de procesamiento de metales del propietario en 20 años</a:t>
            </a:r>
            <a:endParaRPr lang="en-US" sz="1000" dirty="0"/>
          </a:p>
        </p:txBody>
      </p:sp>
      <p:sp>
        <p:nvSpPr>
          <p:cNvPr id="8" name="Text 6"/>
          <p:cNvSpPr txBox="1"/>
          <p:nvPr/>
        </p:nvSpPr>
        <p:spPr>
          <a:xfrm>
            <a:off x="548640" y="1673352"/>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Capacidad: 320,000 toneladas/año + planta de 500 MW</a:t>
            </a:r>
            <a:endParaRPr lang="en-US" sz="1000" dirty="0"/>
          </a:p>
        </p:txBody>
      </p:sp>
      <p:sp>
        <p:nvSpPr>
          <p:cNvPr id="9" name="Text 7"/>
          <p:cNvSpPr txBox="1"/>
          <p:nvPr/>
        </p:nvSpPr>
        <p:spPr>
          <a:xfrm>
            <a:off x="548640" y="1975104"/>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Sitio remoto en el este de Islandia</a:t>
            </a:r>
            <a:endParaRPr lang="en-US" sz="1000" dirty="0"/>
          </a:p>
        </p:txBody>
      </p:sp>
      <p:sp>
        <p:nvSpPr>
          <p:cNvPr id="10" name="Text 8"/>
          <p:cNvSpPr txBox="1"/>
          <p:nvPr/>
        </p:nvSpPr>
        <p:spPr>
          <a:xfrm>
            <a:off x="548640" y="2276856"/>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local mínima (importar trabajadores)</a:t>
            </a:r>
            <a:endParaRPr lang="en-US" sz="1000" dirty="0"/>
          </a:p>
        </p:txBody>
      </p:sp>
      <p:sp>
        <p:nvSpPr>
          <p:cNvPr id="11" name="Text 9"/>
          <p:cNvSpPr txBox="1"/>
          <p:nvPr/>
        </p:nvSpPr>
        <p:spPr>
          <a:xfrm>
            <a:off x="548640" y="2578608"/>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Puerto de aguas profundas cercano (logística)</a:t>
            </a:r>
            <a:endParaRPr lang="en-US" sz="1000" dirty="0"/>
          </a:p>
        </p:txBody>
      </p:sp>
      <p:sp>
        <p:nvSpPr>
          <p:cNvPr id="12" name="Text 10"/>
          <p:cNvSpPr txBox="1"/>
          <p:nvPr/>
        </p:nvSpPr>
        <p:spPr>
          <a:xfrm>
            <a:off x="548640" y="2880360"/>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Alta prioridad de sostenibilidad ambiental</a:t>
            </a:r>
            <a:endParaRPr lang="en-US" sz="1000" dirty="0"/>
          </a:p>
        </p:txBody>
      </p:sp>
      <p:sp>
        <p:nvSpPr>
          <p:cNvPr id="13" name="Text 11"/>
          <p:cNvSpPr txBox="1"/>
          <p:nvPr/>
        </p:nvSpPr>
        <p:spPr>
          <a:xfrm>
            <a:off x="548640" y="3182112"/>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planta comenzó operaciones en 2007</a:t>
            </a:r>
            <a:endParaRPr lang="en-US" sz="1000" dirty="0"/>
          </a:p>
        </p:txBody>
      </p:sp>
      <p:sp>
        <p:nvSpPr>
          <p:cNvPr id="14" name="Text 12"/>
          <p:cNvSpPr txBox="1"/>
          <p:nvPr/>
        </p:nvSpPr>
        <p:spPr>
          <a:xfrm>
            <a:off x="548640" y="3483864"/>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diversa: múltiples nacionalidades y culturas</a:t>
            </a:r>
            <a:endParaRPr lang="en-US" sz="1000" dirty="0"/>
          </a:p>
        </p:txBody>
      </p:sp>
      <p:sp>
        <p:nvSpPr>
          <p:cNvPr id="15" name="Text 13"/>
          <p:cNvSpPr txBox="1"/>
          <p:nvPr/>
        </p:nvSpPr>
        <p:spPr>
          <a:xfrm>
            <a:off x="548640" y="3785616"/>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Clima ártico: temperaturas extremas, vientos, nieve</a:t>
            </a:r>
            <a:endParaRPr lang="en-US" sz="1000" dirty="0"/>
          </a:p>
        </p:txBody>
      </p:sp>
      <p:sp>
        <p:nvSpPr>
          <p:cNvPr id="16" name="Text 14"/>
          <p:cNvSpPr txBox="1"/>
          <p:nvPr/>
        </p:nvSpPr>
        <p:spPr>
          <a:xfrm>
            <a:off x="548640" y="4087368"/>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Proyecto de escala masiva: miles de trabajadores en pico</a:t>
            </a:r>
            <a:endParaRPr lang="en-US" sz="1000" dirty="0"/>
          </a:p>
        </p:txBody>
      </p:sp>
      <p:sp>
        <p:nvSpPr>
          <p:cNvPr id="17" name="Shape 15"/>
          <p:cNvSpPr/>
          <p:nvPr/>
        </p:nvSpPr>
        <p:spPr>
          <a:xfrm>
            <a:off x="4663440" y="960120"/>
            <a:ext cx="4114800" cy="4187952"/>
          </a:xfrm>
          <a:prstGeom prst="roundRect">
            <a:avLst>
              <a:gd name="adj" fmla="val 2667"/>
            </a:avLst>
          </a:prstGeom>
          <a:solidFill>
            <a:srgbClr val="F4F4F4"/>
          </a:solidFill>
          <a:ln w="12700">
            <a:solidFill>
              <a:srgbClr val="EBEBEB"/>
            </a:solidFill>
            <a:prstDash val="solid"/>
          </a:ln>
        </p:spPr>
      </p:sp>
      <p:sp>
        <p:nvSpPr>
          <p:cNvPr id="18" name="Text 16"/>
          <p:cNvSpPr txBox="1"/>
          <p:nvPr/>
        </p:nvSpPr>
        <p:spPr>
          <a:xfrm>
            <a:off x="4828032" y="1024128"/>
            <a:ext cx="37490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OBJETIVOS DE CONSTRUCTABILIDAD</a:t>
            </a:r>
            <a:endParaRPr lang="en-US" sz="1200" dirty="0"/>
          </a:p>
        </p:txBody>
      </p:sp>
      <p:sp>
        <p:nvSpPr>
          <p:cNvPr id="19" name="Text 17"/>
          <p:cNvSpPr txBox="1"/>
          <p:nvPr/>
        </p:nvSpPr>
        <p:spPr>
          <a:xfrm>
            <a:off x="4828032" y="1371600"/>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Mejorar la integración E-P-C desde la planificación inicial hasta la terminación mecánica</a:t>
            </a:r>
            <a:endParaRPr lang="en-US" sz="1000" dirty="0"/>
          </a:p>
        </p:txBody>
      </p:sp>
      <p:sp>
        <p:nvSpPr>
          <p:cNvPr id="20" name="Text 18"/>
          <p:cNvSpPr txBox="1"/>
          <p:nvPr/>
        </p:nvSpPr>
        <p:spPr>
          <a:xfrm>
            <a:off x="4828032" y="1719072"/>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Desarrollar el camino óptimo de construcción considerando ruta crítica, equipos mayores, clima y mejor uso de recursos</a:t>
            </a:r>
            <a:endParaRPr lang="en-US" sz="1000" dirty="0"/>
          </a:p>
        </p:txBody>
      </p:sp>
      <p:sp>
        <p:nvSpPr>
          <p:cNvPr id="21" name="Text 19"/>
          <p:cNvSpPr txBox="1"/>
          <p:nvPr/>
        </p:nvSpPr>
        <p:spPr>
          <a:xfrm>
            <a:off x="4828032" y="2066544"/>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seguridad en el diseño considerando riesgos de construcción del smelter y condiciones únicas del sitio</a:t>
            </a:r>
            <a:endParaRPr lang="en-US" sz="1000" dirty="0"/>
          </a:p>
        </p:txBody>
      </p:sp>
      <p:sp>
        <p:nvSpPr>
          <p:cNvPr id="22" name="Text 20"/>
          <p:cNvSpPr txBox="1"/>
          <p:nvPr/>
        </p:nvSpPr>
        <p:spPr>
          <a:xfrm>
            <a:off x="4828032" y="2414016"/>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LLs, BPs y sugerencias del equipo Fjardaál</a:t>
            </a:r>
            <a:endParaRPr lang="en-US" sz="1000" dirty="0"/>
          </a:p>
        </p:txBody>
      </p:sp>
      <p:sp>
        <p:nvSpPr>
          <p:cNvPr id="23" name="Text 21"/>
          <p:cNvSpPr txBox="1"/>
          <p:nvPr/>
        </p:nvSpPr>
        <p:spPr>
          <a:xfrm>
            <a:off x="4828032" y="2761488"/>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subproductos de construcción para minimizar residuos y establecer nuevo estándar de sostenibilidad</a:t>
            </a:r>
            <a:endParaRPr lang="en-US" sz="1000" dirty="0"/>
          </a:p>
        </p:txBody>
      </p:sp>
      <p:sp>
        <p:nvSpPr>
          <p:cNvPr id="24" name="Text 22"/>
          <p:cNvSpPr txBox="1"/>
          <p:nvPr/>
        </p:nvSpPr>
        <p:spPr>
          <a:xfrm>
            <a:off x="4828032" y="3108960"/>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complejidad a través de planificación del frente de trabajo y logística efectiva</a:t>
            </a:r>
            <a:endParaRPr lang="en-US" sz="1000" dirty="0"/>
          </a:p>
        </p:txBody>
      </p:sp>
      <p:sp>
        <p:nvSpPr>
          <p:cNvPr id="25" name="Text 23"/>
          <p:cNvSpPr txBox="1"/>
          <p:nvPr/>
        </p:nvSpPr>
        <p:spPr>
          <a:xfrm>
            <a:off x="4828032" y="3456432"/>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Optimizar indirectos de construcción mediante uso común de servicios, instalaciones y equipos</a:t>
            </a:r>
            <a:endParaRPr lang="en-US" sz="1000" dirty="0"/>
          </a:p>
        </p:txBody>
      </p:sp>
      <p:sp>
        <p:nvSpPr>
          <p:cNvPr id="26" name="Text 24"/>
          <p:cNvSpPr txBox="1"/>
          <p:nvPr/>
        </p:nvSpPr>
        <p:spPr>
          <a:xfrm>
            <a:off x="4828032" y="3803904"/>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Construir trabajo en equipo y expectativas compartidas entre EPC</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66</a:t>
            </a:r>
            <a:endParaRPr lang="en-US" sz="900" dirty="0"/>
          </a:p>
        </p:txBody>
      </p:sp>
      <p:pic xmlns:p="http://schemas.openxmlformats.org/presentationml/2006/main" xmlns:a="http://schemas.openxmlformats.org/drawingml/2006/main" xmlns:r="http://schemas.openxmlformats.org/officeDocument/2006/relationships">
        <p:nvPicPr>
          <p:cNvPr id="8066" name="SlideIcon8066"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Temas Comunes de los Talleres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talleres EPC de Fjardaál produjeron 6 temas recurrentes que guiaron las decisiones de diseño: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30D158"/>
            </a:solidFill>
            <a:prstDash val="solid"/>
          </a:ln>
        </p:spPr>
      </p:sp>
      <p:sp>
        <p:nvSpPr>
          <p:cNvPr id="7" name="Shape 5"/>
          <p:cNvSpPr/>
          <p:nvPr/>
        </p:nvSpPr>
        <p:spPr>
          <a:xfrm>
            <a:off x="365760" y="1298448"/>
            <a:ext cx="73152" cy="1143000"/>
          </a:xfrm>
          <a:prstGeom prst="rect">
            <a:avLst/>
          </a:prstGeom>
          <a:solidFill>
            <a:srgbClr val="30D158"/>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Simplicidad y Estandarización</a:t>
            </a:r>
            <a:endParaRPr lang="en-US" sz="1300" dirty="0"/>
          </a:p>
        </p:txBody>
      </p:sp>
      <p:sp>
        <p:nvSpPr>
          <p:cNvPr id="9" name="Text 7"/>
          <p:cNvSpPr txBox="1"/>
          <p:nvPr/>
        </p:nvSpPr>
        <p:spPr>
          <a:xfrm>
            <a:off x="56692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trabajo repetibles mejoran la eficiencia. Menos ensambles en campo equivalen a menos horas-hombre. El sistema de construcción debe ser "simple de ejecutar".</a:t>
            </a:r>
            <a:endParaRPr lang="en-US" sz="1100" dirty="0"/>
          </a:p>
        </p:txBody>
      </p:sp>
      <p:sp>
        <p:nvSpPr>
          <p:cNvPr id="10" name="Shape 8"/>
          <p:cNvSpPr/>
          <p:nvPr/>
        </p:nvSpPr>
        <p:spPr>
          <a:xfrm>
            <a:off x="4754880" y="1298448"/>
            <a:ext cx="4206240" cy="1143000"/>
          </a:xfrm>
          <a:prstGeom prst="roundRect">
            <a:avLst>
              <a:gd name="adj" fmla="val 8000"/>
            </a:avLst>
          </a:prstGeom>
          <a:solidFill>
            <a:srgbClr val="F4F4F4"/>
          </a:solidFill>
          <a:ln w="12700">
            <a:solidFill>
              <a:srgbClr val="0A84FF"/>
            </a:solidFill>
            <a:prstDash val="solid"/>
          </a:ln>
        </p:spPr>
      </p:sp>
      <p:sp>
        <p:nvSpPr>
          <p:cNvPr id="11" name="Shape 9"/>
          <p:cNvSpPr/>
          <p:nvPr/>
        </p:nvSpPr>
        <p:spPr>
          <a:xfrm>
            <a:off x="4754880" y="1298448"/>
            <a:ext cx="73152" cy="1143000"/>
          </a:xfrm>
          <a:prstGeom prst="rect">
            <a:avLst/>
          </a:prstGeom>
          <a:solidFill>
            <a:srgbClr val="0A84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Trabajo en el Suelo</a:t>
            </a:r>
            <a:endParaRPr lang="en-US" sz="1300" dirty="0"/>
          </a:p>
        </p:txBody>
      </p:sp>
      <p:sp>
        <p:nvSpPr>
          <p:cNvPr id="13" name="Text 11"/>
          <p:cNvSpPr txBox="1"/>
          <p:nvPr/>
        </p:nvSpPr>
        <p:spPr>
          <a:xfrm>
            <a:off x="495604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Trabajar en tierra es más seguro, eficiente y económico. Diseñar para maximizar el trabajo pre-armado al nivel del suelo antes de izar.</a:t>
            </a:r>
            <a:endParaRPr lang="en-US" sz="1100" dirty="0"/>
          </a:p>
        </p:txBody>
      </p:sp>
      <p:sp>
        <p:nvSpPr>
          <p:cNvPr id="14" name="Shape 12"/>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5" name="Shape 13"/>
          <p:cNvSpPr/>
          <p:nvPr/>
        </p:nvSpPr>
        <p:spPr>
          <a:xfrm>
            <a:off x="365760" y="2560320"/>
            <a:ext cx="73152" cy="1143000"/>
          </a:xfrm>
          <a:prstGeom prst="rect">
            <a:avLst/>
          </a:prstGeom>
          <a:solidFill>
            <a:srgbClr val="FF9500"/>
          </a:solidFill>
          <a:ln/>
        </p:spPr>
      </p:sp>
      <p:sp>
        <p:nvSpPr>
          <p:cNvPr id="16" name="Text 14"/>
          <p:cNvSpPr txBox="1"/>
          <p:nvPr/>
        </p:nvSpPr>
        <p:spPr>
          <a:xfrm>
            <a:off x="566928" y="263347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Construir Fuera del Sitio</a:t>
            </a:r>
            <a:endParaRPr lang="en-US" sz="1300" dirty="0"/>
          </a:p>
        </p:txBody>
      </p:sp>
      <p:sp>
        <p:nvSpPr>
          <p:cNvPr id="17" name="Text 15"/>
          <p:cNvSpPr txBox="1"/>
          <p:nvPr/>
        </p:nvSpPr>
        <p:spPr>
          <a:xfrm>
            <a:off x="56692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costos de mano de obra en Islandia son altos. Las condiciones de campo son adversas. La fabricación controlada en taller es preferible cuando es posible.</a:t>
            </a:r>
            <a:endParaRPr lang="en-US" sz="1100" dirty="0"/>
          </a:p>
        </p:txBody>
      </p:sp>
      <p:sp>
        <p:nvSpPr>
          <p:cNvPr id="18" name="Shape 16"/>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9" name="Shape 17"/>
          <p:cNvSpPr/>
          <p:nvPr/>
        </p:nvSpPr>
        <p:spPr>
          <a:xfrm>
            <a:off x="4754880" y="2560320"/>
            <a:ext cx="73152" cy="1143000"/>
          </a:xfrm>
          <a:prstGeom prst="rect">
            <a:avLst/>
          </a:prstGeom>
          <a:solidFill>
            <a:srgbClr val="AF52DE"/>
          </a:solidFill>
          <a:ln/>
        </p:spPr>
      </p:sp>
      <p:sp>
        <p:nvSpPr>
          <p:cNvPr id="20" name="Text 18"/>
          <p:cNvSpPr txBox="1"/>
          <p:nvPr/>
        </p:nvSpPr>
        <p:spPr>
          <a:xfrm>
            <a:off x="4956048" y="2633472"/>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Permanente para Construcción</a:t>
            </a:r>
            <a:endParaRPr lang="en-US" sz="1300" dirty="0"/>
          </a:p>
        </p:txBody>
      </p:sp>
      <p:sp>
        <p:nvSpPr>
          <p:cNvPr id="21" name="Text 19"/>
          <p:cNvSpPr txBox="1"/>
          <p:nvPr/>
        </p:nvSpPr>
        <p:spPr>
          <a:xfrm>
            <a:off x="495604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Utilizar instalaciones permanentes para las necesidades de la construcción previene duplicaciones y disrupciones. Ejemplos: energía, agua, drenaje.</a:t>
            </a:r>
            <a:endParaRPr lang="en-US" sz="1100" dirty="0"/>
          </a:p>
        </p:txBody>
      </p:sp>
      <p:sp>
        <p:nvSpPr>
          <p:cNvPr id="22" name="Shape 20"/>
          <p:cNvSpPr/>
          <p:nvPr/>
        </p:nvSpPr>
        <p:spPr>
          <a:xfrm>
            <a:off x="365760" y="3822192"/>
            <a:ext cx="4206240" cy="1143000"/>
          </a:xfrm>
          <a:prstGeom prst="roundRect">
            <a:avLst>
              <a:gd name="adj" fmla="val 8000"/>
            </a:avLst>
          </a:prstGeom>
          <a:solidFill>
            <a:srgbClr val="F4F4F4"/>
          </a:solidFill>
          <a:ln w="12700">
            <a:solidFill>
              <a:srgbClr val="FFD60A"/>
            </a:solidFill>
            <a:prstDash val="solid"/>
          </a:ln>
        </p:spPr>
      </p:sp>
      <p:sp>
        <p:nvSpPr>
          <p:cNvPr id="23" name="Shape 21"/>
          <p:cNvSpPr/>
          <p:nvPr/>
        </p:nvSpPr>
        <p:spPr>
          <a:xfrm>
            <a:off x="365760" y="3822192"/>
            <a:ext cx="73152" cy="1143000"/>
          </a:xfrm>
          <a:prstGeom prst="rect">
            <a:avLst/>
          </a:prstGeom>
          <a:solidFill>
            <a:srgbClr val="FFD60A"/>
          </a:solidFill>
          <a:ln/>
        </p:spPr>
      </p:sp>
      <p:sp>
        <p:nvSpPr>
          <p:cNvPr id="24" name="Text 22"/>
          <p:cNvSpPr txBox="1"/>
          <p:nvPr/>
        </p:nvSpPr>
        <p:spPr>
          <a:xfrm>
            <a:off x="566928" y="389534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Secuenciamiento de Construcción</a:t>
            </a:r>
            <a:endParaRPr lang="en-US" sz="1300" dirty="0"/>
          </a:p>
        </p:txBody>
      </p:sp>
      <p:sp>
        <p:nvSpPr>
          <p:cNvPr id="25" name="Text 23"/>
          <p:cNvSpPr txBox="1"/>
          <p:nvPr/>
        </p:nvSpPr>
        <p:spPr>
          <a:xfrm>
            <a:off x="56692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Alinear la continuidad de construcción con las influencias estacionales y la disponibilidad de mano de obra maximiza la productividad.</a:t>
            </a:r>
            <a:endParaRPr lang="en-US" sz="1100" dirty="0"/>
          </a:p>
        </p:txBody>
      </p:sp>
      <p:sp>
        <p:nvSpPr>
          <p:cNvPr id="26" name="Shape 24"/>
          <p:cNvSpPr/>
          <p:nvPr/>
        </p:nvSpPr>
        <p:spPr>
          <a:xfrm>
            <a:off x="4754880" y="3822192"/>
            <a:ext cx="4206240" cy="1143000"/>
          </a:xfrm>
          <a:prstGeom prst="roundRect">
            <a:avLst>
              <a:gd name="adj" fmla="val 8000"/>
            </a:avLst>
          </a:prstGeom>
          <a:solidFill>
            <a:srgbClr val="F4F4F4"/>
          </a:solidFill>
          <a:ln w="12700">
            <a:solidFill>
              <a:srgbClr val="FF453A"/>
            </a:solidFill>
            <a:prstDash val="solid"/>
          </a:ln>
        </p:spPr>
      </p:sp>
      <p:sp>
        <p:nvSpPr>
          <p:cNvPr id="27" name="Shape 25"/>
          <p:cNvSpPr/>
          <p:nvPr/>
        </p:nvSpPr>
        <p:spPr>
          <a:xfrm>
            <a:off x="4754880" y="3822192"/>
            <a:ext cx="73152" cy="1143000"/>
          </a:xfrm>
          <a:prstGeom prst="rect">
            <a:avLst/>
          </a:prstGeom>
          <a:solidFill>
            <a:srgbClr val="FF453A"/>
          </a:solidFill>
          <a:ln/>
        </p:spPr>
      </p:sp>
      <p:sp>
        <p:nvSpPr>
          <p:cNvPr id="28" name="Text 26"/>
          <p:cNvSpPr txBox="1"/>
          <p:nvPr/>
        </p:nvSpPr>
        <p:spPr>
          <a:xfrm>
            <a:off x="4956048" y="3895344"/>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Gestión de Materiales</a:t>
            </a:r>
            <a:endParaRPr lang="en-US" sz="1300" dirty="0"/>
          </a:p>
        </p:txBody>
      </p:sp>
      <p:sp>
        <p:nvSpPr>
          <p:cNvPr id="29" name="Text 27"/>
          <p:cNvSpPr txBox="1"/>
          <p:nvPr/>
        </p:nvSpPr>
        <p:spPr>
          <a:xfrm>
            <a:off x="495604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control eficiente de materiales es crítico para el éxito, especialmente en sitios remotos. Sistema robusto de logística y almacenamiento.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67</a:t>
            </a:r>
            <a:endParaRPr lang="en-US" sz="900" dirty="0"/>
          </a:p>
        </p:txBody>
      </p:sp>
      <p:pic xmlns:p="http://schemas.openxmlformats.org/presentationml/2006/main" xmlns:a="http://schemas.openxmlformats.org/drawingml/2006/main" xmlns:r="http://schemas.openxmlformats.org/officeDocument/2006/relationships">
        <p:nvPicPr>
          <p:cNvPr id="8067" name="SlideIcon8067"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Las 12 Iniciativas de Valor Más Importantes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y priorizadas durante los talleres de constructabilidad del proyecto Fjardaál:</a:t>
            </a:r>
            <a:endParaRPr lang="en-US" sz="1200" dirty="0"/>
          </a:p>
        </p:txBody>
      </p:sp>
      <p:sp>
        <p:nvSpPr>
          <p:cNvPr id="6" name="Shape 4"/>
          <p:cNvSpPr/>
          <p:nvPr/>
        </p:nvSpPr>
        <p:spPr>
          <a:xfrm>
            <a:off x="365760" y="1298448"/>
            <a:ext cx="4206240" cy="548640"/>
          </a:xfrm>
          <a:prstGeom prst="roundRect">
            <a:avLst>
              <a:gd name="adj" fmla="val 13333"/>
            </a:avLst>
          </a:prstGeom>
          <a:solidFill>
            <a:srgbClr val="F4F4F4"/>
          </a:solidFill>
          <a:ln w="12700">
            <a:solidFill>
              <a:srgbClr val="EBEBEB"/>
            </a:solidFill>
            <a:prstDash val="solid"/>
          </a:ln>
        </p:spPr>
      </p:sp>
      <p:sp>
        <p:nvSpPr>
          <p:cNvPr id="7" name="Text 5"/>
          <p:cNvSpPr txBox="1"/>
          <p:nvPr/>
        </p:nvSpPr>
        <p:spPr>
          <a:xfrm>
            <a:off x="53035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 Permanente para Construcción</a:t>
            </a:r>
            <a:endParaRPr lang="en-US" sz="1100" dirty="0"/>
          </a:p>
        </p:txBody>
      </p:sp>
      <p:sp>
        <p:nvSpPr>
          <p:cNvPr id="8" name="Text 6"/>
          <p:cNvSpPr txBox="1"/>
          <p:nvPr/>
        </p:nvSpPr>
        <p:spPr>
          <a:xfrm>
            <a:off x="53035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Task Force específica para reducir costos indirectos usando instalaciones permanentes para la construcción.</a:t>
            </a:r>
            <a:endParaRPr lang="en-US" sz="950" dirty="0"/>
          </a:p>
        </p:txBody>
      </p:sp>
      <p:sp>
        <p:nvSpPr>
          <p:cNvPr id="9" name="Shape 7"/>
          <p:cNvSpPr/>
          <p:nvPr/>
        </p:nvSpPr>
        <p:spPr>
          <a:xfrm>
            <a:off x="4754880" y="1298448"/>
            <a:ext cx="4206240" cy="548640"/>
          </a:xfrm>
          <a:prstGeom prst="roundRect">
            <a:avLst>
              <a:gd name="adj" fmla="val 13333"/>
            </a:avLst>
          </a:prstGeom>
          <a:solidFill>
            <a:srgbClr val="F4F4F4"/>
          </a:solidFill>
          <a:ln w="12700">
            <a:solidFill>
              <a:srgbClr val="EBEBEB"/>
            </a:solidFill>
            <a:prstDash val="solid"/>
          </a:ln>
        </p:spPr>
      </p:sp>
      <p:sp>
        <p:nvSpPr>
          <p:cNvPr id="10" name="Text 8"/>
          <p:cNvSpPr txBox="1"/>
          <p:nvPr/>
        </p:nvSpPr>
        <p:spPr>
          <a:xfrm>
            <a:off x="491947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2. Instalación de Servicios Paralela</a:t>
            </a:r>
            <a:endParaRPr lang="en-US" sz="1100" dirty="0"/>
          </a:p>
        </p:txBody>
      </p:sp>
      <p:sp>
        <p:nvSpPr>
          <p:cNvPr id="11" name="Text 9"/>
          <p:cNvSpPr txBox="1"/>
          <p:nvPr/>
        </p:nvSpPr>
        <p:spPr>
          <a:xfrm>
            <a:off x="491947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Proceso óptimo para instalar servicios en paralelo con los movimientos de tierra.</a:t>
            </a:r>
            <a:endParaRPr lang="en-US" sz="950" dirty="0"/>
          </a:p>
        </p:txBody>
      </p:sp>
      <p:sp>
        <p:nvSpPr>
          <p:cNvPr id="12" name="Shape 10"/>
          <p:cNvSpPr/>
          <p:nvPr/>
        </p:nvSpPr>
        <p:spPr>
          <a:xfrm>
            <a:off x="365760" y="1920240"/>
            <a:ext cx="4206240" cy="548640"/>
          </a:xfrm>
          <a:prstGeom prst="roundRect">
            <a:avLst>
              <a:gd name="adj" fmla="val 13333"/>
            </a:avLst>
          </a:prstGeom>
          <a:solidFill>
            <a:srgbClr val="F4F4F4"/>
          </a:solidFill>
          <a:ln w="12700">
            <a:solidFill>
              <a:srgbClr val="EBEBEB"/>
            </a:solidFill>
            <a:prstDash val="solid"/>
          </a:ln>
        </p:spPr>
      </p:sp>
      <p:sp>
        <p:nvSpPr>
          <p:cNvPr id="13" name="Text 11"/>
          <p:cNvSpPr txBox="1"/>
          <p:nvPr/>
        </p:nvSpPr>
        <p:spPr>
          <a:xfrm>
            <a:off x="53035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3. Revestimiento de Cubas (Pot Lining)</a:t>
            </a:r>
            <a:endParaRPr lang="en-US" sz="1100" dirty="0"/>
          </a:p>
        </p:txBody>
      </p:sp>
      <p:sp>
        <p:nvSpPr>
          <p:cNvPr id="14" name="Text 12"/>
          <p:cNvSpPr txBox="1"/>
          <p:nvPr/>
        </p:nvSpPr>
        <p:spPr>
          <a:xfrm>
            <a:off x="53035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Detallar un proceso de trabajo altamente repetitivo para mejoras de tiempo de ciclo.</a:t>
            </a:r>
            <a:endParaRPr lang="en-US" sz="950" dirty="0"/>
          </a:p>
        </p:txBody>
      </p:sp>
      <p:sp>
        <p:nvSpPr>
          <p:cNvPr id="15" name="Shape 13"/>
          <p:cNvSpPr/>
          <p:nvPr/>
        </p:nvSpPr>
        <p:spPr>
          <a:xfrm>
            <a:off x="4754880" y="1920240"/>
            <a:ext cx="4206240" cy="548640"/>
          </a:xfrm>
          <a:prstGeom prst="roundRect">
            <a:avLst>
              <a:gd name="adj" fmla="val 13333"/>
            </a:avLst>
          </a:prstGeom>
          <a:solidFill>
            <a:srgbClr val="F4F4F4"/>
          </a:solidFill>
          <a:ln w="12700">
            <a:solidFill>
              <a:srgbClr val="EBEBEB"/>
            </a:solidFill>
            <a:prstDash val="solid"/>
          </a:ln>
        </p:spPr>
      </p:sp>
      <p:sp>
        <p:nvSpPr>
          <p:cNvPr id="16" name="Text 14"/>
          <p:cNvSpPr txBox="1"/>
          <p:nvPr/>
        </p:nvSpPr>
        <p:spPr>
          <a:xfrm>
            <a:off x="491947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4. Integración de Pre-ensamble</a:t>
            </a:r>
            <a:endParaRPr lang="en-US" sz="1100" dirty="0"/>
          </a:p>
        </p:txBody>
      </p:sp>
      <p:sp>
        <p:nvSpPr>
          <p:cNvPr id="17" name="Text 15"/>
          <p:cNvSpPr txBox="1"/>
          <p:nvPr/>
        </p:nvSpPr>
        <p:spPr>
          <a:xfrm>
            <a:off x="491947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Diseñar para pre-ensamble en lugar de añadir una capa sobre prácticas estándar.</a:t>
            </a:r>
            <a:endParaRPr lang="en-US" sz="950" dirty="0"/>
          </a:p>
        </p:txBody>
      </p:sp>
      <p:sp>
        <p:nvSpPr>
          <p:cNvPr id="18" name="Shape 16"/>
          <p:cNvSpPr/>
          <p:nvPr/>
        </p:nvSpPr>
        <p:spPr>
          <a:xfrm>
            <a:off x="365760" y="2542032"/>
            <a:ext cx="4206240" cy="548640"/>
          </a:xfrm>
          <a:prstGeom prst="roundRect">
            <a:avLst>
              <a:gd name="adj" fmla="val 13333"/>
            </a:avLst>
          </a:prstGeom>
          <a:solidFill>
            <a:srgbClr val="F4F4F4"/>
          </a:solidFill>
          <a:ln w="12700">
            <a:solidFill>
              <a:srgbClr val="EBEBEB"/>
            </a:solidFill>
            <a:prstDash val="solid"/>
          </a:ln>
        </p:spPr>
      </p:sp>
      <p:sp>
        <p:nvSpPr>
          <p:cNvPr id="19" name="Text 17"/>
          <p:cNvSpPr txBox="1"/>
          <p:nvPr/>
        </p:nvSpPr>
        <p:spPr>
          <a:xfrm>
            <a:off x="53035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5. Transportador de Poder y Libre</a:t>
            </a:r>
            <a:endParaRPr lang="en-US" sz="1100" dirty="0"/>
          </a:p>
        </p:txBody>
      </p:sp>
      <p:sp>
        <p:nvSpPr>
          <p:cNvPr id="20" name="Text 18"/>
          <p:cNvSpPr txBox="1"/>
          <p:nvPr/>
        </p:nvSpPr>
        <p:spPr>
          <a:xfrm>
            <a:off x="53035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Optimizar la instalación de un complejo sistema de conveyance de materiales.</a:t>
            </a:r>
            <a:endParaRPr lang="en-US" sz="950" dirty="0"/>
          </a:p>
        </p:txBody>
      </p:sp>
      <p:sp>
        <p:nvSpPr>
          <p:cNvPr id="21" name="Shape 19"/>
          <p:cNvSpPr/>
          <p:nvPr/>
        </p:nvSpPr>
        <p:spPr>
          <a:xfrm>
            <a:off x="4754880" y="2542032"/>
            <a:ext cx="4206240" cy="548640"/>
          </a:xfrm>
          <a:prstGeom prst="roundRect">
            <a:avLst>
              <a:gd name="adj" fmla="val 13333"/>
            </a:avLst>
          </a:prstGeom>
          <a:solidFill>
            <a:srgbClr val="F4F4F4"/>
          </a:solidFill>
          <a:ln w="12700">
            <a:solidFill>
              <a:srgbClr val="EBEBEB"/>
            </a:solidFill>
            <a:prstDash val="solid"/>
          </a:ln>
        </p:spPr>
      </p:sp>
      <p:sp>
        <p:nvSpPr>
          <p:cNvPr id="22" name="Text 20"/>
          <p:cNvSpPr txBox="1"/>
          <p:nvPr/>
        </p:nvSpPr>
        <p:spPr>
          <a:xfrm>
            <a:off x="491947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6. Guía de Constructabilidad</a:t>
            </a:r>
            <a:endParaRPr lang="en-US" sz="1100" dirty="0"/>
          </a:p>
        </p:txBody>
      </p:sp>
      <p:sp>
        <p:nvSpPr>
          <p:cNvPr id="23" name="Text 21"/>
          <p:cNvSpPr txBox="1"/>
          <p:nvPr/>
        </p:nvSpPr>
        <p:spPr>
          <a:xfrm>
            <a:off x="491947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Instrucciones sobre cómo incorporar valor sin interrumpir la producción.</a:t>
            </a:r>
            <a:endParaRPr lang="en-US" sz="950" dirty="0"/>
          </a:p>
        </p:txBody>
      </p:sp>
      <p:sp>
        <p:nvSpPr>
          <p:cNvPr id="24" name="Shape 22"/>
          <p:cNvSpPr/>
          <p:nvPr/>
        </p:nvSpPr>
        <p:spPr>
          <a:xfrm>
            <a:off x="365760" y="3163824"/>
            <a:ext cx="4206240" cy="548640"/>
          </a:xfrm>
          <a:prstGeom prst="roundRect">
            <a:avLst>
              <a:gd name="adj" fmla="val 13333"/>
            </a:avLst>
          </a:prstGeom>
          <a:solidFill>
            <a:srgbClr val="F4F4F4"/>
          </a:solidFill>
          <a:ln w="12700">
            <a:solidFill>
              <a:srgbClr val="EBEBEB"/>
            </a:solidFill>
            <a:prstDash val="solid"/>
          </a:ln>
        </p:spPr>
      </p:sp>
      <p:sp>
        <p:nvSpPr>
          <p:cNvPr id="25" name="Text 23"/>
          <p:cNvSpPr txBox="1"/>
          <p:nvPr/>
        </p:nvSpPr>
        <p:spPr>
          <a:xfrm>
            <a:off x="53035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7. Instalación de Recubrimientos</a:t>
            </a:r>
            <a:endParaRPr lang="en-US" sz="1100" dirty="0"/>
          </a:p>
        </p:txBody>
      </p:sp>
      <p:sp>
        <p:nvSpPr>
          <p:cNvPr id="26" name="Text 24"/>
          <p:cNvSpPr txBox="1"/>
          <p:nvPr/>
        </p:nvSpPr>
        <p:spPr>
          <a:xfrm>
            <a:off x="53035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Selección de sistemas de roofing y siding que minimizan trabajo en altura.</a:t>
            </a:r>
            <a:endParaRPr lang="en-US" sz="950" dirty="0"/>
          </a:p>
        </p:txBody>
      </p:sp>
      <p:sp>
        <p:nvSpPr>
          <p:cNvPr id="27" name="Shape 25"/>
          <p:cNvSpPr/>
          <p:nvPr/>
        </p:nvSpPr>
        <p:spPr>
          <a:xfrm>
            <a:off x="4754880" y="3163824"/>
            <a:ext cx="4206240" cy="548640"/>
          </a:xfrm>
          <a:prstGeom prst="roundRect">
            <a:avLst>
              <a:gd name="adj" fmla="val 13333"/>
            </a:avLst>
          </a:prstGeom>
          <a:solidFill>
            <a:srgbClr val="F4F4F4"/>
          </a:solidFill>
          <a:ln w="12700">
            <a:solidFill>
              <a:srgbClr val="EBEBEB"/>
            </a:solidFill>
            <a:prstDash val="solid"/>
          </a:ln>
        </p:spPr>
      </p:sp>
      <p:sp>
        <p:nvSpPr>
          <p:cNvPr id="28" name="Text 26"/>
          <p:cNvSpPr txBox="1"/>
          <p:nvPr/>
        </p:nvSpPr>
        <p:spPr>
          <a:xfrm>
            <a:off x="491947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8. Proceso de Trabajo en Concreto</a:t>
            </a:r>
            <a:endParaRPr lang="en-US" sz="1100" dirty="0"/>
          </a:p>
        </p:txBody>
      </p:sp>
      <p:sp>
        <p:nvSpPr>
          <p:cNvPr id="29" name="Text 27"/>
          <p:cNvSpPr txBox="1"/>
          <p:nvPr/>
        </p:nvSpPr>
        <p:spPr>
          <a:xfrm>
            <a:off x="491947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Nueva visión del colado de concreto para maximizar eficiencia laboral.</a:t>
            </a:r>
            <a:endParaRPr lang="en-US" sz="950" dirty="0"/>
          </a:p>
        </p:txBody>
      </p:sp>
      <p:sp>
        <p:nvSpPr>
          <p:cNvPr id="30" name="Shape 28"/>
          <p:cNvSpPr/>
          <p:nvPr/>
        </p:nvSpPr>
        <p:spPr>
          <a:xfrm>
            <a:off x="365760" y="3785616"/>
            <a:ext cx="4206240" cy="548640"/>
          </a:xfrm>
          <a:prstGeom prst="roundRect">
            <a:avLst>
              <a:gd name="adj" fmla="val 13333"/>
            </a:avLst>
          </a:prstGeom>
          <a:solidFill>
            <a:srgbClr val="F4F4F4"/>
          </a:solidFill>
          <a:ln w="12700">
            <a:solidFill>
              <a:srgbClr val="EBEBEB"/>
            </a:solidFill>
            <a:prstDash val="solid"/>
          </a:ln>
        </p:spPr>
      </p:sp>
      <p:sp>
        <p:nvSpPr>
          <p:cNvPr id="31" name="Text 29"/>
          <p:cNvSpPr txBox="1"/>
          <p:nvPr/>
        </p:nvSpPr>
        <p:spPr>
          <a:xfrm>
            <a:off x="53035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9. Especificación de Recubrimientos</a:t>
            </a:r>
            <a:endParaRPr lang="en-US" sz="1100" dirty="0"/>
          </a:p>
        </p:txBody>
      </p:sp>
      <p:sp>
        <p:nvSpPr>
          <p:cNvPr id="32" name="Text 30"/>
          <p:cNvSpPr txBox="1"/>
          <p:nvPr/>
        </p:nvSpPr>
        <p:spPr>
          <a:xfrm>
            <a:off x="53035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Seleccionar productos que minimicen mano de obra en sitio.</a:t>
            </a:r>
            <a:endParaRPr lang="en-US" sz="950" dirty="0"/>
          </a:p>
        </p:txBody>
      </p:sp>
      <p:sp>
        <p:nvSpPr>
          <p:cNvPr id="33" name="Shape 31"/>
          <p:cNvSpPr/>
          <p:nvPr/>
        </p:nvSpPr>
        <p:spPr>
          <a:xfrm>
            <a:off x="4754880" y="3785616"/>
            <a:ext cx="4206240" cy="548640"/>
          </a:xfrm>
          <a:prstGeom prst="roundRect">
            <a:avLst>
              <a:gd name="adj" fmla="val 13333"/>
            </a:avLst>
          </a:prstGeom>
          <a:solidFill>
            <a:srgbClr val="F4F4F4"/>
          </a:solidFill>
          <a:ln w="12700">
            <a:solidFill>
              <a:srgbClr val="EBEBEB"/>
            </a:solidFill>
            <a:prstDash val="solid"/>
          </a:ln>
        </p:spPr>
      </p:sp>
      <p:sp>
        <p:nvSpPr>
          <p:cNvPr id="34" name="Text 32"/>
          <p:cNvSpPr txBox="1"/>
          <p:nvPr/>
        </p:nvSpPr>
        <p:spPr>
          <a:xfrm>
            <a:off x="491947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10. Paquetes Hidráulicos</a:t>
            </a:r>
            <a:endParaRPr lang="en-US" sz="1100" dirty="0"/>
          </a:p>
        </p:txBody>
      </p:sp>
      <p:sp>
        <p:nvSpPr>
          <p:cNvPr id="35" name="Text 33"/>
          <p:cNvSpPr txBox="1"/>
          <p:nvPr/>
        </p:nvSpPr>
        <p:spPr>
          <a:xfrm>
            <a:off x="491947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Estandarizar el diseño de unidades de potencia hidráulica y tuberías relacionadas.</a:t>
            </a:r>
            <a:endParaRPr lang="en-US" sz="950" dirty="0"/>
          </a:p>
        </p:txBody>
      </p:sp>
      <p:sp>
        <p:nvSpPr>
          <p:cNvPr id="36" name="Shape 34"/>
          <p:cNvSpPr/>
          <p:nvPr/>
        </p:nvSpPr>
        <p:spPr>
          <a:xfrm>
            <a:off x="365760" y="4407408"/>
            <a:ext cx="4206240" cy="548640"/>
          </a:xfrm>
          <a:prstGeom prst="roundRect">
            <a:avLst>
              <a:gd name="adj" fmla="val 13333"/>
            </a:avLst>
          </a:prstGeom>
          <a:solidFill>
            <a:srgbClr val="F4F4F4"/>
          </a:solidFill>
          <a:ln w="12700">
            <a:solidFill>
              <a:srgbClr val="EBEBEB"/>
            </a:solidFill>
            <a:prstDash val="solid"/>
          </a:ln>
        </p:spPr>
      </p:sp>
      <p:sp>
        <p:nvSpPr>
          <p:cNvPr id="37" name="Text 35"/>
          <p:cNvSpPr txBox="1"/>
          <p:nvPr/>
        </p:nvSpPr>
        <p:spPr>
          <a:xfrm>
            <a:off x="53035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11. Estandarización de Ductos</a:t>
            </a:r>
            <a:endParaRPr lang="en-US" sz="1100" dirty="0"/>
          </a:p>
        </p:txBody>
      </p:sp>
      <p:sp>
        <p:nvSpPr>
          <p:cNvPr id="38" name="Text 36"/>
          <p:cNvSpPr txBox="1"/>
          <p:nvPr/>
        </p:nvSpPr>
        <p:spPr>
          <a:xfrm>
            <a:off x="53035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Reducir costo de instalación a través de la repetición.</a:t>
            </a:r>
            <a:endParaRPr lang="en-US" sz="950" dirty="0"/>
          </a:p>
        </p:txBody>
      </p:sp>
      <p:sp>
        <p:nvSpPr>
          <p:cNvPr id="39" name="Shape 37"/>
          <p:cNvSpPr/>
          <p:nvPr/>
        </p:nvSpPr>
        <p:spPr>
          <a:xfrm>
            <a:off x="4754880" y="4407408"/>
            <a:ext cx="4206240" cy="548640"/>
          </a:xfrm>
          <a:prstGeom prst="roundRect">
            <a:avLst>
              <a:gd name="adj" fmla="val 13333"/>
            </a:avLst>
          </a:prstGeom>
          <a:solidFill>
            <a:srgbClr val="F4F4F4"/>
          </a:solidFill>
          <a:ln w="12700">
            <a:solidFill>
              <a:srgbClr val="EBEBEB"/>
            </a:solidFill>
            <a:prstDash val="solid"/>
          </a:ln>
        </p:spPr>
      </p:sp>
      <p:sp>
        <p:nvSpPr>
          <p:cNvPr id="40" name="Text 38"/>
          <p:cNvSpPr txBox="1"/>
          <p:nvPr/>
        </p:nvSpPr>
        <p:spPr>
          <a:xfrm>
            <a:off x="491947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12. Constructabilidad en Requisiciones</a:t>
            </a:r>
            <a:endParaRPr lang="en-US" sz="1100" dirty="0"/>
          </a:p>
        </p:txBody>
      </p:sp>
      <p:sp>
        <p:nvSpPr>
          <p:cNvPr id="41" name="Text 39"/>
          <p:cNvSpPr txBox="1"/>
          <p:nvPr/>
        </p:nvSpPr>
        <p:spPr>
          <a:xfrm>
            <a:off x="491947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Incorporar expectativas de constructabilidad en el proceso de compras.</a:t>
            </a:r>
            <a:endParaRPr lang="en-US" sz="95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68</a:t>
            </a:r>
            <a:endParaRPr lang="en-US" sz="900" dirty="0"/>
          </a:p>
        </p:txBody>
      </p:sp>
      <p:pic xmlns:p="http://schemas.openxmlformats.org/presentationml/2006/main" xmlns:a="http://schemas.openxmlformats.org/drawingml/2006/main" xmlns:r="http://schemas.openxmlformats.org/officeDocument/2006/relationships">
        <p:nvPicPr>
          <p:cNvPr id="8068" name="SlideIcon8068"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Resultados del Programa de Constructabilidad Fjardaál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resultados del programa de constructabilidad del proyecto Fjardaál fueron excepcionales:</a:t>
            </a:r>
            <a:endParaRPr lang="en-US" sz="1200" dirty="0"/>
          </a:p>
        </p:txBody>
      </p:sp>
      <p:sp>
        <p:nvSpPr>
          <p:cNvPr id="6" name="Shape 4"/>
          <p:cNvSpPr/>
          <p:nvPr/>
        </p:nvSpPr>
        <p:spPr>
          <a:xfrm>
            <a:off x="365760" y="1298448"/>
            <a:ext cx="1965960" cy="1737360"/>
          </a:xfrm>
          <a:prstGeom prst="roundRect">
            <a:avLst>
              <a:gd name="adj" fmla="val 6316"/>
            </a:avLst>
          </a:prstGeom>
          <a:solidFill>
            <a:srgbClr val="F4F4F4"/>
          </a:solidFill>
          <a:ln w="25400">
            <a:solidFill>
              <a:srgbClr val="30D158"/>
            </a:solidFill>
            <a:prstDash val="solid"/>
          </a:ln>
        </p:spPr>
      </p:sp>
      <p:sp>
        <p:nvSpPr>
          <p:cNvPr id="7" name="Text 5"/>
          <p:cNvSpPr txBox="1"/>
          <p:nvPr/>
        </p:nvSpPr>
        <p:spPr>
          <a:xfrm>
            <a:off x="365760" y="1463040"/>
            <a:ext cx="1965960" cy="955548"/>
          </a:xfrm>
          <a:prstGeom prst="rect">
            <a:avLst/>
          </a:prstGeom>
          <a:noFill/>
          <a:ln/>
        </p:spPr>
        <p:txBody>
          <a:bodyPr wrap="square" lIns="0" tIns="0" rIns="0" bIns="0" rtlCol="0" anchor="ctr"/>
          <a:lstStyle/>
          <a:p>
            <a:pPr algn="ctr" indent="0" marL="0">
              <a:buNone/>
            </a:pPr>
            <a:r>
              <a:rPr lang="en-US" sz="3200" b="1" dirty="0">
                <a:solidFill>
                  <a:srgbClr val="30D158"/>
                </a:solidFill>
                <a:latin typeface="Atkinson Hyperlegible" pitchFamily="34" charset="0"/>
                <a:ea typeface="Atkinson Hyperlegible" pitchFamily="34" charset="-122"/>
                <a:cs typeface="Atkinson Hyperlegible" pitchFamily="34" charset="-120"/>
              </a:rPr>
              <a:t>~10%</a:t>
            </a:r>
            <a:endParaRPr lang="en-US" sz="3200" dirty="0"/>
          </a:p>
        </p:txBody>
      </p:sp>
      <p:sp>
        <p:nvSpPr>
          <p:cNvPr id="8" name="Text 6"/>
          <p:cNvSpPr txBox="1"/>
          <p:nvPr/>
        </p:nvSpPr>
        <p:spPr>
          <a:xfrm>
            <a:off x="45720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costos</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directos de campo</a:t>
            </a:r>
            <a:endParaRPr lang="en-US" sz="1200" dirty="0"/>
          </a:p>
        </p:txBody>
      </p:sp>
      <p:sp>
        <p:nvSpPr>
          <p:cNvPr id="9" name="Shape 7"/>
          <p:cNvSpPr/>
          <p:nvPr/>
        </p:nvSpPr>
        <p:spPr>
          <a:xfrm>
            <a:off x="2468880" y="1298448"/>
            <a:ext cx="1965960" cy="1737360"/>
          </a:xfrm>
          <a:prstGeom prst="roundRect">
            <a:avLst>
              <a:gd name="adj" fmla="val 6316"/>
            </a:avLst>
          </a:prstGeom>
          <a:solidFill>
            <a:srgbClr val="F4F4F4"/>
          </a:solidFill>
          <a:ln w="25400">
            <a:solidFill>
              <a:srgbClr val="FF9500"/>
            </a:solidFill>
            <a:prstDash val="solid"/>
          </a:ln>
        </p:spPr>
      </p:sp>
      <p:sp>
        <p:nvSpPr>
          <p:cNvPr id="10" name="Text 8"/>
          <p:cNvSpPr txBox="1"/>
          <p:nvPr/>
        </p:nvSpPr>
        <p:spPr>
          <a:xfrm>
            <a:off x="2468880" y="1463040"/>
            <a:ext cx="1965960" cy="955548"/>
          </a:xfrm>
          <a:prstGeom prst="rect">
            <a:avLst/>
          </a:prstGeom>
          <a:noFill/>
          <a:ln/>
        </p:spPr>
        <p:txBody>
          <a:bodyPr wrap="square" lIns="0" tIns="0" rIns="0" bIns="0" rtlCol="0" anchor="ctr"/>
          <a:lstStyle/>
          <a:p>
            <a:pPr algn="ctr" indent="0" marL="0">
              <a:buNone/>
            </a:pPr>
            <a:r>
              <a:rPr lang="en-US" sz="3200" b="1" dirty="0">
                <a:solidFill>
                  <a:srgbClr val="FF9500"/>
                </a:solidFill>
                <a:latin typeface="Atkinson Hyperlegible" pitchFamily="34" charset="0"/>
                <a:ea typeface="Atkinson Hyperlegible" pitchFamily="34" charset="-122"/>
                <a:cs typeface="Atkinson Hyperlegible" pitchFamily="34" charset="-120"/>
              </a:rPr>
              <a:t>$1M/día</a:t>
            </a:r>
            <a:endParaRPr lang="en-US" sz="3200" dirty="0"/>
          </a:p>
        </p:txBody>
      </p:sp>
      <p:sp>
        <p:nvSpPr>
          <p:cNvPr id="11" name="Text 9"/>
          <p:cNvSpPr txBox="1"/>
          <p:nvPr/>
        </p:nvSpPr>
        <p:spPr>
          <a:xfrm>
            <a:off x="256032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 interrupción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evitado en pico</a:t>
            </a:r>
            <a:endParaRPr lang="en-US" sz="1200" dirty="0"/>
          </a:p>
        </p:txBody>
      </p:sp>
      <p:sp>
        <p:nvSpPr>
          <p:cNvPr id="12" name="Shape 10"/>
          <p:cNvSpPr/>
          <p:nvPr/>
        </p:nvSpPr>
        <p:spPr>
          <a:xfrm>
            <a:off x="4572000" y="1298448"/>
            <a:ext cx="1965960" cy="1737360"/>
          </a:xfrm>
          <a:prstGeom prst="roundRect">
            <a:avLst>
              <a:gd name="adj" fmla="val 6316"/>
            </a:avLst>
          </a:prstGeom>
          <a:solidFill>
            <a:srgbClr val="F4F4F4"/>
          </a:solidFill>
          <a:ln w="25400">
            <a:solidFill>
              <a:srgbClr val="0A84FF"/>
            </a:solidFill>
            <a:prstDash val="solid"/>
          </a:ln>
        </p:spPr>
      </p:sp>
      <p:sp>
        <p:nvSpPr>
          <p:cNvPr id="13" name="Text 11"/>
          <p:cNvSpPr txBox="1"/>
          <p:nvPr/>
        </p:nvSpPr>
        <p:spPr>
          <a:xfrm>
            <a:off x="4572000" y="1463040"/>
            <a:ext cx="1965960" cy="955548"/>
          </a:xfrm>
          <a:prstGeom prst="rect">
            <a:avLst/>
          </a:prstGeom>
          <a:noFill/>
          <a:ln/>
        </p:spPr>
        <p:txBody>
          <a:bodyPr wrap="square" lIns="0" tIns="0" rIns="0" bIns="0" rtlCol="0" anchor="ctr"/>
          <a:lstStyle/>
          <a:p>
            <a:pPr algn="ctr" indent="0" marL="0">
              <a:buNone/>
            </a:pPr>
            <a:r>
              <a:rPr lang="en-US" sz="3200" b="1" dirty="0">
                <a:solidFill>
                  <a:srgbClr val="0A84FF"/>
                </a:solidFill>
                <a:latin typeface="Atkinson Hyperlegible" pitchFamily="34" charset="0"/>
                <a:ea typeface="Atkinson Hyperlegible" pitchFamily="34" charset="-122"/>
                <a:cs typeface="Atkinson Hyperlegible" pitchFamily="34" charset="-120"/>
              </a:rPr>
              <a:t>140+</a:t>
            </a:r>
            <a:endParaRPr lang="en-US" sz="3200" dirty="0"/>
          </a:p>
        </p:txBody>
      </p:sp>
      <p:sp>
        <p:nvSpPr>
          <p:cNvPr id="14" name="Text 12"/>
          <p:cNvSpPr txBox="1"/>
          <p:nvPr/>
        </p:nvSpPr>
        <p:spPr>
          <a:xfrm>
            <a:off x="466344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Sugerencias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constructabilidad</a:t>
            </a:r>
            <a:endParaRPr lang="en-US" sz="1200" dirty="0"/>
          </a:p>
        </p:txBody>
      </p:sp>
      <p:sp>
        <p:nvSpPr>
          <p:cNvPr id="15" name="Shape 13"/>
          <p:cNvSpPr/>
          <p:nvPr/>
        </p:nvSpPr>
        <p:spPr>
          <a:xfrm>
            <a:off x="6675120" y="1298448"/>
            <a:ext cx="1965960" cy="1737360"/>
          </a:xfrm>
          <a:prstGeom prst="roundRect">
            <a:avLst>
              <a:gd name="adj" fmla="val 6316"/>
            </a:avLst>
          </a:prstGeom>
          <a:solidFill>
            <a:srgbClr val="F4F4F4"/>
          </a:solidFill>
          <a:ln w="25400">
            <a:solidFill>
              <a:srgbClr val="AF52DE"/>
            </a:solidFill>
            <a:prstDash val="solid"/>
          </a:ln>
        </p:spPr>
      </p:sp>
      <p:sp>
        <p:nvSpPr>
          <p:cNvPr id="16" name="Text 14"/>
          <p:cNvSpPr txBox="1"/>
          <p:nvPr/>
        </p:nvSpPr>
        <p:spPr>
          <a:xfrm>
            <a:off x="6675120" y="1463040"/>
            <a:ext cx="1965960" cy="955548"/>
          </a:xfrm>
          <a:prstGeom prst="rect">
            <a:avLst/>
          </a:prstGeom>
          <a:noFill/>
          <a:ln/>
        </p:spPr>
        <p:txBody>
          <a:bodyPr wrap="square" lIns="0" tIns="0" rIns="0" bIns="0" rtlCol="0" anchor="ctr"/>
          <a:lstStyle/>
          <a:p>
            <a:pPr algn="ctr" indent="0" marL="0">
              <a:buNone/>
            </a:pPr>
            <a:r>
              <a:rPr lang="en-US" sz="3200" b="1" dirty="0">
                <a:solidFill>
                  <a:srgbClr val="AF52DE"/>
                </a:solidFill>
                <a:latin typeface="Atkinson Hyperlegible" pitchFamily="34" charset="0"/>
                <a:ea typeface="Atkinson Hyperlegible" pitchFamily="34" charset="-122"/>
                <a:cs typeface="Atkinson Hyperlegible" pitchFamily="34" charset="-120"/>
              </a:rPr>
              <a:t>On-Time</a:t>
            </a:r>
            <a:endParaRPr lang="en-US" sz="3200" dirty="0"/>
          </a:p>
        </p:txBody>
      </p:sp>
      <p:sp>
        <p:nvSpPr>
          <p:cNvPr id="17" name="Text 15"/>
          <p:cNvSpPr txBox="1"/>
          <p:nvPr/>
        </p:nvSpPr>
        <p:spPr>
          <a:xfrm>
            <a:off x="676656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Entrega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instalaciones</a:t>
            </a:r>
            <a:endParaRPr lang="en-US" sz="1200" dirty="0"/>
          </a:p>
        </p:txBody>
      </p:sp>
      <p:sp>
        <p:nvSpPr>
          <p:cNvPr id="18" name="Text 16"/>
          <p:cNvSpPr txBox="1"/>
          <p:nvPr/>
        </p:nvSpPr>
        <p:spPr>
          <a:xfrm>
            <a:off x="365760" y="3182112"/>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Logros Cualitativos:</a:t>
            </a:r>
            <a:endParaRPr lang="en-US" sz="1200" dirty="0"/>
          </a:p>
        </p:txBody>
      </p:sp>
      <p:sp>
        <p:nvSpPr>
          <p:cNvPr id="19" name="Shape 17"/>
          <p:cNvSpPr/>
          <p:nvPr/>
        </p:nvSpPr>
        <p:spPr>
          <a:xfrm>
            <a:off x="365760" y="3566160"/>
            <a:ext cx="8412480" cy="493776"/>
          </a:xfrm>
          <a:prstGeom prst="roundRect">
            <a:avLst>
              <a:gd name="adj" fmla="val 18519"/>
            </a:avLst>
          </a:prstGeom>
          <a:solidFill>
            <a:srgbClr val="F4F4F4"/>
          </a:solidFill>
          <a:ln w="12700">
            <a:solidFill>
              <a:srgbClr val="EBEBEB"/>
            </a:solidFill>
            <a:prstDash val="solid"/>
          </a:ln>
        </p:spPr>
      </p:sp>
      <p:sp>
        <p:nvSpPr>
          <p:cNvPr id="20" name="Shape 18"/>
          <p:cNvSpPr/>
          <p:nvPr/>
        </p:nvSpPr>
        <p:spPr>
          <a:xfrm>
            <a:off x="365760" y="3566160"/>
            <a:ext cx="64008" cy="493776"/>
          </a:xfrm>
          <a:prstGeom prst="rect">
            <a:avLst/>
          </a:prstGeom>
          <a:solidFill>
            <a:srgbClr val="FF453A"/>
          </a:solidFill>
          <a:ln/>
        </p:spPr>
      </p:sp>
      <p:sp>
        <p:nvSpPr>
          <p:cNvPr id="21" name="Text 19"/>
          <p:cNvSpPr txBox="1"/>
          <p:nvPr/>
        </p:nvSpPr>
        <p:spPr>
          <a:xfrm>
            <a:off x="548640" y="3621024"/>
            <a:ext cx="2286000" cy="25603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Mitigación de Riesgos de Seguridad</a:t>
            </a:r>
            <a:endParaRPr lang="en-US" sz="1200" dirty="0"/>
          </a:p>
        </p:txBody>
      </p:sp>
      <p:sp>
        <p:nvSpPr>
          <p:cNvPr id="22" name="Text 20"/>
          <p:cNvSpPr txBox="1"/>
          <p:nvPr/>
        </p:nvSpPr>
        <p:spPr>
          <a:xfrm>
            <a:off x="2926080" y="3621024"/>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temprana y la revisión de procesos contuvieron sustancialmente la exposición potencial a riesgos de seguridad.</a:t>
            </a:r>
            <a:endParaRPr lang="en-US" sz="1100" dirty="0"/>
          </a:p>
        </p:txBody>
      </p:sp>
      <p:sp>
        <p:nvSpPr>
          <p:cNvPr id="23" name="Shape 21"/>
          <p:cNvSpPr/>
          <p:nvPr/>
        </p:nvSpPr>
        <p:spPr>
          <a:xfrm>
            <a:off x="365760" y="4133088"/>
            <a:ext cx="8412480" cy="493776"/>
          </a:xfrm>
          <a:prstGeom prst="roundRect">
            <a:avLst>
              <a:gd name="adj" fmla="val 18519"/>
            </a:avLst>
          </a:prstGeom>
          <a:solidFill>
            <a:srgbClr val="F4F4F4"/>
          </a:solidFill>
          <a:ln w="12700">
            <a:solidFill>
              <a:srgbClr val="EBEBEB"/>
            </a:solidFill>
            <a:prstDash val="solid"/>
          </a:ln>
        </p:spPr>
      </p:sp>
      <p:sp>
        <p:nvSpPr>
          <p:cNvPr id="24" name="Shape 22"/>
          <p:cNvSpPr/>
          <p:nvPr/>
        </p:nvSpPr>
        <p:spPr>
          <a:xfrm>
            <a:off x="365760" y="4133088"/>
            <a:ext cx="64008" cy="493776"/>
          </a:xfrm>
          <a:prstGeom prst="rect">
            <a:avLst/>
          </a:prstGeom>
          <a:solidFill>
            <a:srgbClr val="30D158"/>
          </a:solidFill>
          <a:ln/>
        </p:spPr>
      </p:sp>
      <p:sp>
        <p:nvSpPr>
          <p:cNvPr id="25" name="Text 23"/>
          <p:cNvSpPr txBox="1"/>
          <p:nvPr/>
        </p:nvSpPr>
        <p:spPr>
          <a:xfrm>
            <a:off x="548640" y="4187952"/>
            <a:ext cx="2286000" cy="25603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Entrega en Fecha del Plan</a:t>
            </a:r>
            <a:endParaRPr lang="en-US" sz="1200" dirty="0"/>
          </a:p>
        </p:txBody>
      </p:sp>
      <p:sp>
        <p:nvSpPr>
          <p:cNvPr id="26" name="Text 24"/>
          <p:cNvSpPr txBox="1"/>
          <p:nvPr/>
        </p:nvSpPr>
        <p:spPr>
          <a:xfrm>
            <a:off x="2926080" y="4187952"/>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fue clave para permitir al propietario ingresar al mercado en la fecha planificada.</a:t>
            </a:r>
            <a:endParaRPr lang="en-US" sz="1100" dirty="0"/>
          </a:p>
        </p:txBody>
      </p:sp>
      <p:sp>
        <p:nvSpPr>
          <p:cNvPr id="27" name="Shape 25"/>
          <p:cNvSpPr/>
          <p:nvPr/>
        </p:nvSpPr>
        <p:spPr>
          <a:xfrm>
            <a:off x="365760" y="4700016"/>
            <a:ext cx="8412480" cy="493776"/>
          </a:xfrm>
          <a:prstGeom prst="roundRect">
            <a:avLst>
              <a:gd name="adj" fmla="val 18519"/>
            </a:avLst>
          </a:prstGeom>
          <a:solidFill>
            <a:srgbClr val="F4F4F4"/>
          </a:solidFill>
          <a:ln w="12700">
            <a:solidFill>
              <a:srgbClr val="EBEBEB"/>
            </a:solidFill>
            <a:prstDash val="solid"/>
          </a:ln>
        </p:spPr>
      </p:sp>
      <p:sp>
        <p:nvSpPr>
          <p:cNvPr id="28" name="Shape 26"/>
          <p:cNvSpPr/>
          <p:nvPr/>
        </p:nvSpPr>
        <p:spPr>
          <a:xfrm>
            <a:off x="365760" y="4700016"/>
            <a:ext cx="64008" cy="493776"/>
          </a:xfrm>
          <a:prstGeom prst="rect">
            <a:avLst/>
          </a:prstGeom>
          <a:solidFill>
            <a:srgbClr val="FF9500"/>
          </a:solidFill>
          <a:ln/>
        </p:spPr>
      </p:sp>
      <p:sp>
        <p:nvSpPr>
          <p:cNvPr id="29" name="Text 27"/>
          <p:cNvSpPr txBox="1"/>
          <p:nvPr/>
        </p:nvSpPr>
        <p:spPr>
          <a:xfrm>
            <a:off x="548640" y="4754880"/>
            <a:ext cx="2286000" cy="25603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Protección de Contingencias</a:t>
            </a:r>
            <a:endParaRPr lang="en-US" sz="1200" dirty="0"/>
          </a:p>
        </p:txBody>
      </p:sp>
      <p:sp>
        <p:nvSpPr>
          <p:cNvPr id="30" name="Text 28"/>
          <p:cNvSpPr txBox="1"/>
          <p:nvPr/>
        </p:nvSpPr>
        <p:spPr>
          <a:xfrm>
            <a:off x="2926080" y="4754880"/>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crearon soluciones para responder a desafíos específicos del sitio como el clima, donde las interrupciones en el pico de personal tenían un costo de ~$1 millón/día.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69</a:t>
            </a:r>
            <a:endParaRPr lang="en-US" sz="900" dirty="0"/>
          </a:p>
        </p:txBody>
      </p:sp>
      <p:pic xmlns:p="http://schemas.openxmlformats.org/presentationml/2006/main" xmlns:a="http://schemas.openxmlformats.org/drawingml/2006/main" xmlns:r="http://schemas.openxmlformats.org/officeDocument/2006/relationships">
        <p:nvPicPr>
          <p:cNvPr id="8069" name="SlideIcon8069"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Casos Históricos CII — Mini-Cases del Primer Estudio (1986)</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7 mini-casos del Primer CII Primer (Publication 3-1, 1986) demostraron la validez del concepto:</a:t>
            </a:r>
            <a:endParaRPr lang="en-US" sz="1200" dirty="0"/>
          </a:p>
        </p:txBody>
      </p:sp>
      <p:sp>
        <p:nvSpPr>
          <p:cNvPr id="6" name="Shape 4"/>
          <p:cNvSpPr/>
          <p:nvPr/>
        </p:nvSpPr>
        <p:spPr>
          <a:xfrm>
            <a:off x="365760" y="1298448"/>
            <a:ext cx="8412480" cy="484632"/>
          </a:xfrm>
          <a:prstGeom prst="roundRect">
            <a:avLst>
              <a:gd name="adj" fmla="val 15094"/>
            </a:avLst>
          </a:prstGeom>
          <a:solidFill>
            <a:srgbClr val="F4F4F4"/>
          </a:solidFill>
          <a:ln w="12700">
            <a:solidFill>
              <a:srgbClr val="EBEBEB"/>
            </a:solidFill>
            <a:prstDash val="solid"/>
          </a:ln>
        </p:spPr>
      </p:sp>
      <p:sp>
        <p:nvSpPr>
          <p:cNvPr id="7" name="Shape 5"/>
          <p:cNvSpPr/>
          <p:nvPr/>
        </p:nvSpPr>
        <p:spPr>
          <a:xfrm>
            <a:off x="365760" y="1298448"/>
            <a:ext cx="64008" cy="484632"/>
          </a:xfrm>
          <a:prstGeom prst="rect">
            <a:avLst/>
          </a:prstGeom>
          <a:solidFill>
            <a:srgbClr val="0A84FF"/>
          </a:solidFill>
          <a:ln/>
        </p:spPr>
      </p:sp>
      <p:sp>
        <p:nvSpPr>
          <p:cNvPr id="8" name="Text 6"/>
          <p:cNvSpPr txBox="1"/>
          <p:nvPr/>
        </p:nvSpPr>
        <p:spPr>
          <a:xfrm>
            <a:off x="566928" y="1353312"/>
            <a:ext cx="2103120" cy="274320"/>
          </a:xfrm>
          <a:prstGeom prst="rect">
            <a:avLst/>
          </a:prstGeom>
          <a:noFill/>
          <a:ln/>
        </p:spPr>
        <p:txBody>
          <a:bodyPr wrap="square" lIns="0" tIns="0" rIns="0" bIns="0" rtlCol="0" anchor="ctr"/>
          <a:lstStyle/>
          <a:p>
            <a:pPr indent="0" marL="0">
              <a:buNone/>
            </a:pPr>
            <a:r>
              <a:rPr lang="en-US" sz="1150" b="1" dirty="0">
                <a:solidFill>
                  <a:srgbClr val="0A84FF"/>
                </a:solidFill>
                <a:latin typeface="Atkinson Hyperlegible" pitchFamily="34" charset="0"/>
                <a:ea typeface="Atkinson Hyperlegible" pitchFamily="34" charset="-122"/>
                <a:cs typeface="Atkinson Hyperlegible" pitchFamily="34" charset="-120"/>
              </a:rPr>
              <a:t>Planta Fertilizante Indonesia</a:t>
            </a:r>
            <a:endParaRPr lang="en-US" sz="1150" dirty="0"/>
          </a:p>
        </p:txBody>
      </p:sp>
      <p:sp>
        <p:nvSpPr>
          <p:cNvPr id="9" name="Text 7"/>
          <p:cNvSpPr txBox="1"/>
          <p:nvPr/>
        </p:nvSpPr>
        <p:spPr>
          <a:xfrm>
            <a:off x="2761488" y="135331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1,500 ton/día. Completada 2 meses antes del cronograma. Modularización de los hornos de reforming incluyendo tubos y refractarios. Cronograma fast-track, almacenamiento estratégico para temporada seca.</a:t>
            </a:r>
            <a:endParaRPr lang="en-US" sz="1000" dirty="0"/>
          </a:p>
        </p:txBody>
      </p:sp>
      <p:sp>
        <p:nvSpPr>
          <p:cNvPr id="10" name="Shape 8"/>
          <p:cNvSpPr/>
          <p:nvPr/>
        </p:nvSpPr>
        <p:spPr>
          <a:xfrm>
            <a:off x="365760" y="1847088"/>
            <a:ext cx="8412480" cy="484632"/>
          </a:xfrm>
          <a:prstGeom prst="roundRect">
            <a:avLst>
              <a:gd name="adj" fmla="val 15094"/>
            </a:avLst>
          </a:prstGeom>
          <a:solidFill>
            <a:srgbClr val="F4F4F4"/>
          </a:solidFill>
          <a:ln w="12700">
            <a:solidFill>
              <a:srgbClr val="EBEBEB"/>
            </a:solidFill>
            <a:prstDash val="solid"/>
          </a:ln>
        </p:spPr>
      </p:sp>
      <p:sp>
        <p:nvSpPr>
          <p:cNvPr id="11" name="Shape 9"/>
          <p:cNvSpPr/>
          <p:nvPr/>
        </p:nvSpPr>
        <p:spPr>
          <a:xfrm>
            <a:off x="365760" y="1847088"/>
            <a:ext cx="64008" cy="484632"/>
          </a:xfrm>
          <a:prstGeom prst="rect">
            <a:avLst/>
          </a:prstGeom>
          <a:solidFill>
            <a:srgbClr val="30D158"/>
          </a:solidFill>
          <a:ln/>
        </p:spPr>
      </p:sp>
      <p:sp>
        <p:nvSpPr>
          <p:cNvPr id="12" name="Text 10"/>
          <p:cNvSpPr txBox="1"/>
          <p:nvPr/>
        </p:nvSpPr>
        <p:spPr>
          <a:xfrm>
            <a:off x="566928" y="1901952"/>
            <a:ext cx="2103120" cy="274320"/>
          </a:xfrm>
          <a:prstGeom prst="rect">
            <a:avLst/>
          </a:prstGeom>
          <a:noFill/>
          <a:ln/>
        </p:spPr>
        <p:txBody>
          <a:bodyPr wrap="square" lIns="0" tIns="0" rIns="0" bIns="0" rtlCol="0" anchor="ctr"/>
          <a:lstStyle/>
          <a:p>
            <a:pPr indent="0" marL="0">
              <a:buNone/>
            </a:pPr>
            <a:r>
              <a:rPr lang="en-US" sz="1150" b="1" dirty="0">
                <a:solidFill>
                  <a:srgbClr val="30D158"/>
                </a:solidFill>
                <a:latin typeface="Atkinson Hyperlegible" pitchFamily="34" charset="0"/>
                <a:ea typeface="Atkinson Hyperlegible" pitchFamily="34" charset="-122"/>
                <a:cs typeface="Atkinson Hyperlegible" pitchFamily="34" charset="-120"/>
              </a:rPr>
              <a:t>Expansión de Refinería</a:t>
            </a:r>
            <a:endParaRPr lang="en-US" sz="1150" dirty="0"/>
          </a:p>
        </p:txBody>
      </p:sp>
      <p:sp>
        <p:nvSpPr>
          <p:cNvPr id="13" name="Text 11"/>
          <p:cNvSpPr txBox="1"/>
          <p:nvPr/>
        </p:nvSpPr>
        <p:spPr>
          <a:xfrm>
            <a:off x="2761488" y="190195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Input constructivo desde fase de propuesta. Distribución de sitio optimizada para construcción. Reduce tiempo de comisionamiento. B/C = 10:1 documentado.</a:t>
            </a:r>
            <a:endParaRPr lang="en-US" sz="1000" dirty="0"/>
          </a:p>
        </p:txBody>
      </p:sp>
      <p:sp>
        <p:nvSpPr>
          <p:cNvPr id="14" name="Shape 12"/>
          <p:cNvSpPr/>
          <p:nvPr/>
        </p:nvSpPr>
        <p:spPr>
          <a:xfrm>
            <a:off x="365760" y="2395728"/>
            <a:ext cx="8412480" cy="484632"/>
          </a:xfrm>
          <a:prstGeom prst="roundRect">
            <a:avLst>
              <a:gd name="adj" fmla="val 15094"/>
            </a:avLst>
          </a:prstGeom>
          <a:solidFill>
            <a:srgbClr val="F4F4F4"/>
          </a:solidFill>
          <a:ln w="12700">
            <a:solidFill>
              <a:srgbClr val="EBEBEB"/>
            </a:solidFill>
            <a:prstDash val="solid"/>
          </a:ln>
        </p:spPr>
      </p:sp>
      <p:sp>
        <p:nvSpPr>
          <p:cNvPr id="15" name="Shape 13"/>
          <p:cNvSpPr/>
          <p:nvPr/>
        </p:nvSpPr>
        <p:spPr>
          <a:xfrm>
            <a:off x="365760" y="2395728"/>
            <a:ext cx="64008" cy="484632"/>
          </a:xfrm>
          <a:prstGeom prst="rect">
            <a:avLst/>
          </a:prstGeom>
          <a:solidFill>
            <a:srgbClr val="FF9500"/>
          </a:solidFill>
          <a:ln/>
        </p:spPr>
      </p:sp>
      <p:sp>
        <p:nvSpPr>
          <p:cNvPr id="16" name="Text 14"/>
          <p:cNvSpPr txBox="1"/>
          <p:nvPr/>
        </p:nvSpPr>
        <p:spPr>
          <a:xfrm>
            <a:off x="566928" y="2450592"/>
            <a:ext cx="2103120" cy="274320"/>
          </a:xfrm>
          <a:prstGeom prst="rect">
            <a:avLst/>
          </a:prstGeom>
          <a:noFill/>
          <a:ln/>
        </p:spPr>
        <p:txBody>
          <a:bodyPr wrap="square" lIns="0" tIns="0" rIns="0" bIns="0" rtlCol="0" anchor="ctr"/>
          <a:lstStyle/>
          <a:p>
            <a:pPr indent="0" marL="0">
              <a:buNone/>
            </a:pPr>
            <a:r>
              <a:rPr lang="en-US" sz="1150" b="1" dirty="0">
                <a:solidFill>
                  <a:srgbClr val="FF9500"/>
                </a:solidFill>
                <a:latin typeface="Atkinson Hyperlegible" pitchFamily="34" charset="0"/>
                <a:ea typeface="Atkinson Hyperlegible" pitchFamily="34" charset="-122"/>
                <a:cs typeface="Atkinson Hyperlegible" pitchFamily="34" charset="-120"/>
              </a:rPr>
              <a:t>Comunidad Residencial</a:t>
            </a:r>
            <a:endParaRPr lang="en-US" sz="1150" dirty="0"/>
          </a:p>
        </p:txBody>
      </p:sp>
      <p:sp>
        <p:nvSpPr>
          <p:cNvPr id="17" name="Text 15"/>
          <p:cNvSpPr txBox="1"/>
          <p:nvPr/>
        </p:nvSpPr>
        <p:spPr>
          <a:xfrm>
            <a:off x="2761488" y="245059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Estandarización de componentes redujo tiempo de construcción. Pre-ensamble de módulos de baño y cocina. Curvas de aprendizaje sustanciales.</a:t>
            </a:r>
            <a:endParaRPr lang="en-US" sz="1000" dirty="0"/>
          </a:p>
        </p:txBody>
      </p:sp>
      <p:sp>
        <p:nvSpPr>
          <p:cNvPr id="18" name="Shape 16"/>
          <p:cNvSpPr/>
          <p:nvPr/>
        </p:nvSpPr>
        <p:spPr>
          <a:xfrm>
            <a:off x="365760" y="2944368"/>
            <a:ext cx="8412480" cy="484632"/>
          </a:xfrm>
          <a:prstGeom prst="roundRect">
            <a:avLst>
              <a:gd name="adj" fmla="val 15094"/>
            </a:avLst>
          </a:prstGeom>
          <a:solidFill>
            <a:srgbClr val="F4F4F4"/>
          </a:solidFill>
          <a:ln w="12700">
            <a:solidFill>
              <a:srgbClr val="EBEBEB"/>
            </a:solidFill>
            <a:prstDash val="solid"/>
          </a:ln>
        </p:spPr>
      </p:sp>
      <p:sp>
        <p:nvSpPr>
          <p:cNvPr id="19" name="Shape 17"/>
          <p:cNvSpPr/>
          <p:nvPr/>
        </p:nvSpPr>
        <p:spPr>
          <a:xfrm>
            <a:off x="365760" y="2944368"/>
            <a:ext cx="64008" cy="484632"/>
          </a:xfrm>
          <a:prstGeom prst="rect">
            <a:avLst/>
          </a:prstGeom>
          <a:solidFill>
            <a:srgbClr val="AF52DE"/>
          </a:solidFill>
          <a:ln/>
        </p:spPr>
      </p:sp>
      <p:sp>
        <p:nvSpPr>
          <p:cNvPr id="20" name="Text 18"/>
          <p:cNvSpPr txBox="1"/>
          <p:nvPr/>
        </p:nvSpPr>
        <p:spPr>
          <a:xfrm>
            <a:off x="566928" y="2999232"/>
            <a:ext cx="2103120" cy="274320"/>
          </a:xfrm>
          <a:prstGeom prst="rect">
            <a:avLst/>
          </a:prstGeom>
          <a:noFill/>
          <a:ln/>
        </p:spPr>
        <p:txBody>
          <a:bodyPr wrap="square" lIns="0" tIns="0" rIns="0" bIns="0" rtlCol="0" anchor="ctr"/>
          <a:lstStyle/>
          <a:p>
            <a:pPr indent="0" marL="0">
              <a:buNone/>
            </a:pPr>
            <a:r>
              <a:rPr lang="en-US" sz="1150" b="1" dirty="0">
                <a:solidFill>
                  <a:srgbClr val="AF52DE"/>
                </a:solidFill>
                <a:latin typeface="Atkinson Hyperlegible" pitchFamily="34" charset="0"/>
                <a:ea typeface="Atkinson Hyperlegible" pitchFamily="34" charset="-122"/>
                <a:cs typeface="Atkinson Hyperlegible" pitchFamily="34" charset="-120"/>
              </a:rPr>
              <a:t>Jet Engine Overhaul Facility</a:t>
            </a:r>
            <a:endParaRPr lang="en-US" sz="1150" dirty="0"/>
          </a:p>
        </p:txBody>
      </p:sp>
      <p:sp>
        <p:nvSpPr>
          <p:cNvPr id="21" name="Text 19"/>
          <p:cNvSpPr txBox="1"/>
          <p:nvPr/>
        </p:nvSpPr>
        <p:spPr>
          <a:xfrm>
            <a:off x="2761488" y="299923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Restauración en tiempo récord. Pre-planeamiento extenso de secuencia y logística. Simulación de trabajo antes de movilización a campo.</a:t>
            </a:r>
            <a:endParaRPr lang="en-US" sz="1000" dirty="0"/>
          </a:p>
        </p:txBody>
      </p:sp>
      <p:sp>
        <p:nvSpPr>
          <p:cNvPr id="22" name="Shape 20"/>
          <p:cNvSpPr/>
          <p:nvPr/>
        </p:nvSpPr>
        <p:spPr>
          <a:xfrm>
            <a:off x="365760" y="3493008"/>
            <a:ext cx="8412480" cy="484632"/>
          </a:xfrm>
          <a:prstGeom prst="roundRect">
            <a:avLst>
              <a:gd name="adj" fmla="val 15094"/>
            </a:avLst>
          </a:prstGeom>
          <a:solidFill>
            <a:srgbClr val="F4F4F4"/>
          </a:solidFill>
          <a:ln w="12700">
            <a:solidFill>
              <a:srgbClr val="EBEBEB"/>
            </a:solidFill>
            <a:prstDash val="solid"/>
          </a:ln>
        </p:spPr>
      </p:sp>
      <p:sp>
        <p:nvSpPr>
          <p:cNvPr id="23" name="Shape 21"/>
          <p:cNvSpPr/>
          <p:nvPr/>
        </p:nvSpPr>
        <p:spPr>
          <a:xfrm>
            <a:off x="365760" y="3493008"/>
            <a:ext cx="64008" cy="484632"/>
          </a:xfrm>
          <a:prstGeom prst="rect">
            <a:avLst/>
          </a:prstGeom>
          <a:solidFill>
            <a:srgbClr val="FFD60A"/>
          </a:solidFill>
          <a:ln/>
        </p:spPr>
      </p:sp>
      <p:sp>
        <p:nvSpPr>
          <p:cNvPr id="24" name="Text 22"/>
          <p:cNvSpPr txBox="1"/>
          <p:nvPr/>
        </p:nvSpPr>
        <p:spPr>
          <a:xfrm>
            <a:off x="566928" y="3547872"/>
            <a:ext cx="2103120" cy="274320"/>
          </a:xfrm>
          <a:prstGeom prst="rect">
            <a:avLst/>
          </a:prstGeom>
          <a:noFill/>
          <a:ln/>
        </p:spPr>
        <p:txBody>
          <a:bodyPr wrap="square" lIns="0" tIns="0" rIns="0" bIns="0" rtlCol="0" anchor="ctr"/>
          <a:lstStyle/>
          <a:p>
            <a:pPr indent="0" marL="0">
              <a:buNone/>
            </a:pPr>
            <a:r>
              <a:rPr lang="en-US" sz="1150" b="1" dirty="0">
                <a:solidFill>
                  <a:srgbClr val="FFD60A"/>
                </a:solidFill>
                <a:latin typeface="Atkinson Hyperlegible" pitchFamily="34" charset="0"/>
                <a:ea typeface="Atkinson Hyperlegible" pitchFamily="34" charset="-122"/>
                <a:cs typeface="Atkinson Hyperlegible" pitchFamily="34" charset="-120"/>
              </a:rPr>
              <a:t>Pulpería de Mercado Blanqueada</a:t>
            </a:r>
            <a:endParaRPr lang="en-US" sz="1150" dirty="0"/>
          </a:p>
        </p:txBody>
      </p:sp>
      <p:sp>
        <p:nvSpPr>
          <p:cNvPr id="25" name="Text 23"/>
          <p:cNvSpPr txBox="1"/>
          <p:nvPr/>
        </p:nvSpPr>
        <p:spPr>
          <a:xfrm>
            <a:off x="2761488" y="354787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para sitio remoto. Lay-flat de tuberías y estructuras. Prefabricación de subestaciones eléctricas. 6% reducción en TIC.</a:t>
            </a:r>
            <a:endParaRPr lang="en-US" sz="1000" dirty="0"/>
          </a:p>
        </p:txBody>
      </p:sp>
      <p:sp>
        <p:nvSpPr>
          <p:cNvPr id="26" name="Shape 24"/>
          <p:cNvSpPr/>
          <p:nvPr/>
        </p:nvSpPr>
        <p:spPr>
          <a:xfrm>
            <a:off x="365760" y="4041648"/>
            <a:ext cx="8412480" cy="484632"/>
          </a:xfrm>
          <a:prstGeom prst="roundRect">
            <a:avLst>
              <a:gd name="adj" fmla="val 15094"/>
            </a:avLst>
          </a:prstGeom>
          <a:solidFill>
            <a:srgbClr val="F4F4F4"/>
          </a:solidFill>
          <a:ln w="12700">
            <a:solidFill>
              <a:srgbClr val="EBEBEB"/>
            </a:solidFill>
            <a:prstDash val="solid"/>
          </a:ln>
        </p:spPr>
      </p:sp>
      <p:sp>
        <p:nvSpPr>
          <p:cNvPr id="27" name="Shape 25"/>
          <p:cNvSpPr/>
          <p:nvPr/>
        </p:nvSpPr>
        <p:spPr>
          <a:xfrm>
            <a:off x="365760" y="4041648"/>
            <a:ext cx="64008" cy="484632"/>
          </a:xfrm>
          <a:prstGeom prst="rect">
            <a:avLst/>
          </a:prstGeom>
          <a:solidFill>
            <a:srgbClr val="FF453A"/>
          </a:solidFill>
          <a:ln/>
        </p:spPr>
      </p:sp>
      <p:sp>
        <p:nvSpPr>
          <p:cNvPr id="28" name="Text 26"/>
          <p:cNvSpPr txBox="1"/>
          <p:nvPr/>
        </p:nvSpPr>
        <p:spPr>
          <a:xfrm>
            <a:off x="566928" y="4096512"/>
            <a:ext cx="2103120" cy="274320"/>
          </a:xfrm>
          <a:prstGeom prst="rect">
            <a:avLst/>
          </a:prstGeom>
          <a:noFill/>
          <a:ln/>
        </p:spPr>
        <p:txBody>
          <a:bodyPr wrap="square" lIns="0" tIns="0" rIns="0" bIns="0" rtlCol="0" anchor="ctr"/>
          <a:lstStyle/>
          <a:p>
            <a:pPr indent="0" marL="0">
              <a:buNone/>
            </a:pPr>
            <a:r>
              <a:rPr lang="en-US" sz="1150" b="1" dirty="0">
                <a:solidFill>
                  <a:srgbClr val="FF453A"/>
                </a:solidFill>
                <a:latin typeface="Atkinson Hyperlegible" pitchFamily="34" charset="0"/>
                <a:ea typeface="Atkinson Hyperlegible" pitchFamily="34" charset="-122"/>
                <a:cs typeface="Atkinson Hyperlegible" pitchFamily="34" charset="-120"/>
              </a:rPr>
              <a:t>Instalación de Producción Ártica</a:t>
            </a:r>
            <a:endParaRPr lang="en-US" sz="1150" dirty="0"/>
          </a:p>
        </p:txBody>
      </p:sp>
      <p:sp>
        <p:nvSpPr>
          <p:cNvPr id="29" name="Text 27"/>
          <p:cNvSpPr txBox="1"/>
          <p:nvPr/>
        </p:nvSpPr>
        <p:spPr>
          <a:xfrm>
            <a:off x="2761488" y="409651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Diseño para condiciones extremas. Modularización extensiva. 100% de trabajo en taller para elementos de proceso. Instalación rápida en temporada de construcción corta.</a:t>
            </a:r>
            <a:endParaRPr lang="en-US" sz="1000" dirty="0"/>
          </a:p>
        </p:txBody>
      </p:sp>
      <p:sp>
        <p:nvSpPr>
          <p:cNvPr id="30" name="Shape 28"/>
          <p:cNvSpPr/>
          <p:nvPr/>
        </p:nvSpPr>
        <p:spPr>
          <a:xfrm>
            <a:off x="365760" y="4590288"/>
            <a:ext cx="8412480" cy="484632"/>
          </a:xfrm>
          <a:prstGeom prst="roundRect">
            <a:avLst>
              <a:gd name="adj" fmla="val 15094"/>
            </a:avLst>
          </a:prstGeom>
          <a:solidFill>
            <a:srgbClr val="F4F4F4"/>
          </a:solidFill>
          <a:ln w="12700">
            <a:solidFill>
              <a:srgbClr val="EBEBEB"/>
            </a:solidFill>
            <a:prstDash val="solid"/>
          </a:ln>
        </p:spPr>
      </p:sp>
      <p:sp>
        <p:nvSpPr>
          <p:cNvPr id="31" name="Shape 29"/>
          <p:cNvSpPr/>
          <p:nvPr/>
        </p:nvSpPr>
        <p:spPr>
          <a:xfrm>
            <a:off x="365760" y="4590288"/>
            <a:ext cx="64008" cy="484632"/>
          </a:xfrm>
          <a:prstGeom prst="rect">
            <a:avLst/>
          </a:prstGeom>
          <a:solidFill>
            <a:srgbClr val="64D2FF"/>
          </a:solidFill>
          <a:ln/>
        </p:spPr>
      </p:sp>
      <p:sp>
        <p:nvSpPr>
          <p:cNvPr id="32" name="Text 30"/>
          <p:cNvSpPr txBox="1"/>
          <p:nvPr/>
        </p:nvSpPr>
        <p:spPr>
          <a:xfrm>
            <a:off x="566928" y="4645152"/>
            <a:ext cx="2103120" cy="274320"/>
          </a:xfrm>
          <a:prstGeom prst="rect">
            <a:avLst/>
          </a:prstGeom>
          <a:noFill/>
          <a:ln/>
        </p:spPr>
        <p:txBody>
          <a:bodyPr wrap="square" lIns="0" tIns="0" rIns="0" bIns="0" rtlCol="0" anchor="ctr"/>
          <a:lstStyle/>
          <a:p>
            <a:pPr indent="0" marL="0">
              <a:buNone/>
            </a:pPr>
            <a:r>
              <a:rPr lang="en-US" sz="1150" b="1" dirty="0">
                <a:solidFill>
                  <a:srgbClr val="64D2FF"/>
                </a:solidFill>
                <a:latin typeface="Atkinson Hyperlegible" pitchFamily="34" charset="0"/>
                <a:ea typeface="Atkinson Hyperlegible" pitchFamily="34" charset="-122"/>
                <a:cs typeface="Atkinson Hyperlegible" pitchFamily="34" charset="-120"/>
              </a:rPr>
              <a:t>Planta Generadora Eléctrica</a:t>
            </a:r>
            <a:endParaRPr lang="en-US" sz="1150" dirty="0"/>
          </a:p>
        </p:txBody>
      </p:sp>
      <p:sp>
        <p:nvSpPr>
          <p:cNvPr id="33" name="Text 31"/>
          <p:cNvSpPr txBox="1"/>
          <p:nvPr/>
        </p:nvSpPr>
        <p:spPr>
          <a:xfrm>
            <a:off x="2761488" y="464515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Pre-ensamble de turbinas y generadores. Cronograma orientado a arranque crítico. B/C = 8:1 documentado. Participación de construcción desde factibilidad.</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70</a:t>
            </a:r>
            <a:endParaRPr lang="en-US" sz="900" dirty="0"/>
          </a:p>
        </p:txBody>
      </p:sp>
      <p:pic xmlns:p="http://schemas.openxmlformats.org/presentationml/2006/main" xmlns:a="http://schemas.openxmlformats.org/drawingml/2006/main" xmlns:r="http://schemas.openxmlformats.org/officeDocument/2006/relationships">
        <p:nvPicPr>
          <p:cNvPr id="8070" name="SlideIcon8070"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Análisis Comparativo de los Casos de Estudio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comparación de los 4 casos documentados en SP 34-1 revela patrones comunes de éxito:</a:t>
            </a:r>
            <a:endParaRPr lang="en-US" sz="1200" dirty="0"/>
          </a:p>
        </p:txBody>
      </p:sp>
      <p:sp>
        <p:nvSpPr>
          <p:cNvPr id="6" name="Shape 4"/>
          <p:cNvSpPr/>
          <p:nvPr/>
        </p:nvSpPr>
        <p:spPr>
          <a:xfrm>
            <a:off x="320040" y="1298448"/>
            <a:ext cx="2286000" cy="384048"/>
          </a:xfrm>
          <a:prstGeom prst="rect">
            <a:avLst/>
          </a:prstGeom>
          <a:solidFill>
            <a:srgbClr val="AF52DE"/>
          </a:solidFill>
          <a:ln/>
        </p:spPr>
      </p:sp>
      <p:sp>
        <p:nvSpPr>
          <p:cNvPr id="7" name="Text 5"/>
          <p:cNvSpPr txBox="1"/>
          <p:nvPr/>
        </p:nvSpPr>
        <p:spPr>
          <a:xfrm>
            <a:off x="374904" y="1298448"/>
            <a:ext cx="223113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8" name="Shape 6"/>
          <p:cNvSpPr/>
          <p:nvPr/>
        </p:nvSpPr>
        <p:spPr>
          <a:xfrm>
            <a:off x="2633472" y="1298448"/>
            <a:ext cx="1097280" cy="384048"/>
          </a:xfrm>
          <a:prstGeom prst="rect">
            <a:avLst/>
          </a:prstGeom>
          <a:solidFill>
            <a:srgbClr val="AF52DE"/>
          </a:solidFill>
          <a:ln/>
        </p:spPr>
      </p:sp>
      <p:sp>
        <p:nvSpPr>
          <p:cNvPr id="9" name="Text 7"/>
          <p:cNvSpPr txBox="1"/>
          <p:nvPr/>
        </p:nvSpPr>
        <p:spPr>
          <a:xfrm>
            <a:off x="2688336" y="1298448"/>
            <a:ext cx="104241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TIC</a:t>
            </a:r>
            <a:endParaRPr lang="en-US" sz="1100" dirty="0"/>
          </a:p>
        </p:txBody>
      </p:sp>
      <p:sp>
        <p:nvSpPr>
          <p:cNvPr id="10" name="Shape 8"/>
          <p:cNvSpPr/>
          <p:nvPr/>
        </p:nvSpPr>
        <p:spPr>
          <a:xfrm>
            <a:off x="3767328" y="1298448"/>
            <a:ext cx="1371600" cy="384048"/>
          </a:xfrm>
          <a:prstGeom prst="rect">
            <a:avLst/>
          </a:prstGeom>
          <a:solidFill>
            <a:srgbClr val="AF52DE"/>
          </a:solidFill>
          <a:ln/>
        </p:spPr>
      </p:sp>
      <p:sp>
        <p:nvSpPr>
          <p:cNvPr id="11" name="Text 9"/>
          <p:cNvSpPr txBox="1"/>
          <p:nvPr/>
        </p:nvSpPr>
        <p:spPr>
          <a:xfrm>
            <a:off x="3822192" y="1298448"/>
            <a:ext cx="131673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Costo</a:t>
            </a:r>
            <a:endParaRPr lang="en-US" sz="1100" dirty="0"/>
          </a:p>
        </p:txBody>
      </p:sp>
      <p:sp>
        <p:nvSpPr>
          <p:cNvPr id="12" name="Shape 10"/>
          <p:cNvSpPr/>
          <p:nvPr/>
        </p:nvSpPr>
        <p:spPr>
          <a:xfrm>
            <a:off x="5166360" y="1298448"/>
            <a:ext cx="2011680" cy="384048"/>
          </a:xfrm>
          <a:prstGeom prst="rect">
            <a:avLst/>
          </a:prstGeom>
          <a:solidFill>
            <a:srgbClr val="AF52DE"/>
          </a:solidFill>
          <a:ln/>
        </p:spPr>
      </p:sp>
      <p:sp>
        <p:nvSpPr>
          <p:cNvPr id="13" name="Text 11"/>
          <p:cNvSpPr txBox="1"/>
          <p:nvPr/>
        </p:nvSpPr>
        <p:spPr>
          <a:xfrm>
            <a:off x="5221224" y="1298448"/>
            <a:ext cx="195681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Reducción Cronograma</a:t>
            </a:r>
            <a:endParaRPr lang="en-US" sz="1100" dirty="0"/>
          </a:p>
        </p:txBody>
      </p:sp>
      <p:sp>
        <p:nvSpPr>
          <p:cNvPr id="14" name="Shape 12"/>
          <p:cNvSpPr/>
          <p:nvPr/>
        </p:nvSpPr>
        <p:spPr>
          <a:xfrm>
            <a:off x="7205472" y="1298448"/>
            <a:ext cx="1280160" cy="384048"/>
          </a:xfrm>
          <a:prstGeom prst="rect">
            <a:avLst/>
          </a:prstGeom>
          <a:solidFill>
            <a:srgbClr val="AF52DE"/>
          </a:solidFill>
          <a:ln/>
        </p:spPr>
      </p:sp>
      <p:sp>
        <p:nvSpPr>
          <p:cNvPr id="15" name="Text 13"/>
          <p:cNvSpPr txBox="1"/>
          <p:nvPr/>
        </p:nvSpPr>
        <p:spPr>
          <a:xfrm>
            <a:off x="7260336" y="1298448"/>
            <a:ext cx="122529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B/C Ratio</a:t>
            </a:r>
            <a:endParaRPr lang="en-US" sz="1100" dirty="0"/>
          </a:p>
        </p:txBody>
      </p:sp>
      <p:sp>
        <p:nvSpPr>
          <p:cNvPr id="16" name="Shape 14"/>
          <p:cNvSpPr/>
          <p:nvPr/>
        </p:nvSpPr>
        <p:spPr>
          <a:xfrm>
            <a:off x="320040" y="1719072"/>
            <a:ext cx="2286000" cy="475488"/>
          </a:xfrm>
          <a:prstGeom prst="rect">
            <a:avLst/>
          </a:prstGeom>
          <a:solidFill>
            <a:srgbClr val="F4F4F4"/>
          </a:solidFill>
          <a:ln/>
        </p:spPr>
      </p:sp>
      <p:sp>
        <p:nvSpPr>
          <p:cNvPr id="17" name="Text 15"/>
          <p:cNvSpPr txBox="1"/>
          <p:nvPr/>
        </p:nvSpPr>
        <p:spPr>
          <a:xfrm>
            <a:off x="374904" y="1755648"/>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100" dirty="0"/>
          </a:p>
        </p:txBody>
      </p:sp>
      <p:sp>
        <p:nvSpPr>
          <p:cNvPr id="18" name="Shape 16"/>
          <p:cNvSpPr/>
          <p:nvPr/>
        </p:nvSpPr>
        <p:spPr>
          <a:xfrm>
            <a:off x="2633472" y="1719072"/>
            <a:ext cx="1097280" cy="475488"/>
          </a:xfrm>
          <a:prstGeom prst="rect">
            <a:avLst/>
          </a:prstGeom>
          <a:solidFill>
            <a:srgbClr val="F4F4F4"/>
          </a:solidFill>
          <a:ln/>
        </p:spPr>
      </p:sp>
      <p:sp>
        <p:nvSpPr>
          <p:cNvPr id="19" name="Text 17"/>
          <p:cNvSpPr txBox="1"/>
          <p:nvPr/>
        </p:nvSpPr>
        <p:spPr>
          <a:xfrm>
            <a:off x="2688336" y="1755648"/>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$28M</a:t>
            </a:r>
            <a:endParaRPr lang="en-US" sz="1100" dirty="0"/>
          </a:p>
        </p:txBody>
      </p:sp>
      <p:sp>
        <p:nvSpPr>
          <p:cNvPr id="20" name="Shape 18"/>
          <p:cNvSpPr/>
          <p:nvPr/>
        </p:nvSpPr>
        <p:spPr>
          <a:xfrm>
            <a:off x="3767328" y="1719072"/>
            <a:ext cx="1371600" cy="475488"/>
          </a:xfrm>
          <a:prstGeom prst="rect">
            <a:avLst/>
          </a:prstGeom>
          <a:solidFill>
            <a:srgbClr val="F4F4F4"/>
          </a:solidFill>
          <a:ln/>
        </p:spPr>
      </p:sp>
      <p:sp>
        <p:nvSpPr>
          <p:cNvPr id="21" name="Text 19"/>
          <p:cNvSpPr txBox="1"/>
          <p:nvPr/>
        </p:nvSpPr>
        <p:spPr>
          <a:xfrm>
            <a:off x="3822192" y="1755648"/>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a:t>
            </a:r>
            <a:endParaRPr lang="en-US" sz="1100" dirty="0"/>
          </a:p>
        </p:txBody>
      </p:sp>
      <p:sp>
        <p:nvSpPr>
          <p:cNvPr id="22" name="Shape 20"/>
          <p:cNvSpPr/>
          <p:nvPr/>
        </p:nvSpPr>
        <p:spPr>
          <a:xfrm>
            <a:off x="5166360" y="1719072"/>
            <a:ext cx="2011680" cy="475488"/>
          </a:xfrm>
          <a:prstGeom prst="rect">
            <a:avLst/>
          </a:prstGeom>
          <a:solidFill>
            <a:srgbClr val="F4F4F4"/>
          </a:solidFill>
          <a:ln/>
        </p:spPr>
      </p:sp>
      <p:sp>
        <p:nvSpPr>
          <p:cNvPr id="23" name="Text 21"/>
          <p:cNvSpPr txBox="1"/>
          <p:nvPr/>
        </p:nvSpPr>
        <p:spPr>
          <a:xfrm>
            <a:off x="5221224" y="1755648"/>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a:t>
            </a:r>
            <a:endParaRPr lang="en-US" sz="1100" dirty="0"/>
          </a:p>
        </p:txBody>
      </p:sp>
      <p:sp>
        <p:nvSpPr>
          <p:cNvPr id="24" name="Shape 22"/>
          <p:cNvSpPr/>
          <p:nvPr/>
        </p:nvSpPr>
        <p:spPr>
          <a:xfrm>
            <a:off x="7205472" y="1719072"/>
            <a:ext cx="1280160" cy="475488"/>
          </a:xfrm>
          <a:prstGeom prst="rect">
            <a:avLst/>
          </a:prstGeom>
          <a:solidFill>
            <a:srgbClr val="F4F4F4"/>
          </a:solidFill>
          <a:ln/>
        </p:spPr>
      </p:sp>
      <p:sp>
        <p:nvSpPr>
          <p:cNvPr id="25" name="Text 23"/>
          <p:cNvSpPr txBox="1"/>
          <p:nvPr/>
        </p:nvSpPr>
        <p:spPr>
          <a:xfrm>
            <a:off x="7260336" y="1755648"/>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10:1</a:t>
            </a:r>
            <a:endParaRPr lang="en-US" sz="1100" dirty="0"/>
          </a:p>
        </p:txBody>
      </p:sp>
      <p:sp>
        <p:nvSpPr>
          <p:cNvPr id="26" name="Shape 24"/>
          <p:cNvSpPr/>
          <p:nvPr/>
        </p:nvSpPr>
        <p:spPr>
          <a:xfrm>
            <a:off x="320040" y="2249424"/>
            <a:ext cx="2286000" cy="475488"/>
          </a:xfrm>
          <a:prstGeom prst="rect">
            <a:avLst/>
          </a:prstGeom>
          <a:solidFill>
            <a:srgbClr val="DDE3F0"/>
          </a:solidFill>
          <a:ln/>
        </p:spPr>
      </p:sp>
      <p:sp>
        <p:nvSpPr>
          <p:cNvPr id="27" name="Text 25"/>
          <p:cNvSpPr txBox="1"/>
          <p:nvPr/>
        </p:nvSpPr>
        <p:spPr>
          <a:xfrm>
            <a:off x="374904" y="2286000"/>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Planta Manufacturera</a:t>
            </a:r>
            <a:endParaRPr lang="en-US" sz="1100" dirty="0"/>
          </a:p>
        </p:txBody>
      </p:sp>
      <p:sp>
        <p:nvSpPr>
          <p:cNvPr id="28" name="Shape 26"/>
          <p:cNvSpPr/>
          <p:nvPr/>
        </p:nvSpPr>
        <p:spPr>
          <a:xfrm>
            <a:off x="2633472" y="2249424"/>
            <a:ext cx="1097280" cy="475488"/>
          </a:xfrm>
          <a:prstGeom prst="rect">
            <a:avLst/>
          </a:prstGeom>
          <a:solidFill>
            <a:srgbClr val="DDE3F0"/>
          </a:solidFill>
          <a:ln/>
        </p:spPr>
      </p:sp>
      <p:sp>
        <p:nvSpPr>
          <p:cNvPr id="29" name="Text 27"/>
          <p:cNvSpPr txBox="1"/>
          <p:nvPr/>
        </p:nvSpPr>
        <p:spPr>
          <a:xfrm>
            <a:off x="2688336" y="2286000"/>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$42M</a:t>
            </a:r>
            <a:endParaRPr lang="en-US" sz="1100" dirty="0"/>
          </a:p>
        </p:txBody>
      </p:sp>
      <p:sp>
        <p:nvSpPr>
          <p:cNvPr id="30" name="Shape 28"/>
          <p:cNvSpPr/>
          <p:nvPr/>
        </p:nvSpPr>
        <p:spPr>
          <a:xfrm>
            <a:off x="3767328" y="2249424"/>
            <a:ext cx="1371600" cy="475488"/>
          </a:xfrm>
          <a:prstGeom prst="rect">
            <a:avLst/>
          </a:prstGeom>
          <a:solidFill>
            <a:srgbClr val="DDE3F0"/>
          </a:solidFill>
          <a:ln/>
        </p:spPr>
      </p:sp>
      <p:sp>
        <p:nvSpPr>
          <p:cNvPr id="31" name="Text 29"/>
          <p:cNvSpPr txBox="1"/>
          <p:nvPr/>
        </p:nvSpPr>
        <p:spPr>
          <a:xfrm>
            <a:off x="3822192" y="2286000"/>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2.8%</a:t>
            </a:r>
            <a:endParaRPr lang="en-US" sz="1100" dirty="0"/>
          </a:p>
        </p:txBody>
      </p:sp>
      <p:sp>
        <p:nvSpPr>
          <p:cNvPr id="32" name="Shape 30"/>
          <p:cNvSpPr/>
          <p:nvPr/>
        </p:nvSpPr>
        <p:spPr>
          <a:xfrm>
            <a:off x="5166360" y="2249424"/>
            <a:ext cx="2011680" cy="475488"/>
          </a:xfrm>
          <a:prstGeom prst="rect">
            <a:avLst/>
          </a:prstGeom>
          <a:solidFill>
            <a:srgbClr val="DDE3F0"/>
          </a:solidFill>
          <a:ln/>
        </p:spPr>
      </p:sp>
      <p:sp>
        <p:nvSpPr>
          <p:cNvPr id="33" name="Text 31"/>
          <p:cNvSpPr txBox="1"/>
          <p:nvPr/>
        </p:nvSpPr>
        <p:spPr>
          <a:xfrm>
            <a:off x="5221224" y="2286000"/>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a:t>
            </a:r>
            <a:endParaRPr lang="en-US" sz="1100" dirty="0"/>
          </a:p>
        </p:txBody>
      </p:sp>
      <p:sp>
        <p:nvSpPr>
          <p:cNvPr id="34" name="Shape 32"/>
          <p:cNvSpPr/>
          <p:nvPr/>
        </p:nvSpPr>
        <p:spPr>
          <a:xfrm>
            <a:off x="7205472" y="2249424"/>
            <a:ext cx="1280160" cy="475488"/>
          </a:xfrm>
          <a:prstGeom prst="rect">
            <a:avLst/>
          </a:prstGeom>
          <a:solidFill>
            <a:srgbClr val="DDE3F0"/>
          </a:solidFill>
          <a:ln/>
        </p:spPr>
      </p:sp>
      <p:sp>
        <p:nvSpPr>
          <p:cNvPr id="35" name="Text 33"/>
          <p:cNvSpPr txBox="1"/>
          <p:nvPr/>
        </p:nvSpPr>
        <p:spPr>
          <a:xfrm>
            <a:off x="7260336" y="2286000"/>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12:1</a:t>
            </a:r>
            <a:endParaRPr lang="en-US" sz="1100" dirty="0"/>
          </a:p>
        </p:txBody>
      </p:sp>
      <p:sp>
        <p:nvSpPr>
          <p:cNvPr id="36" name="Shape 34"/>
          <p:cNvSpPr/>
          <p:nvPr/>
        </p:nvSpPr>
        <p:spPr>
          <a:xfrm>
            <a:off x="320040" y="2779776"/>
            <a:ext cx="2286000" cy="475488"/>
          </a:xfrm>
          <a:prstGeom prst="rect">
            <a:avLst/>
          </a:prstGeom>
          <a:solidFill>
            <a:srgbClr val="F4F4F4"/>
          </a:solidFill>
          <a:ln/>
        </p:spPr>
      </p:sp>
      <p:sp>
        <p:nvSpPr>
          <p:cNvPr id="37" name="Text 35"/>
          <p:cNvSpPr txBox="1"/>
          <p:nvPr/>
        </p:nvSpPr>
        <p:spPr>
          <a:xfrm>
            <a:off x="374904" y="2816352"/>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Petroquímica (expansión)</a:t>
            </a:r>
            <a:endParaRPr lang="en-US" sz="1100" dirty="0"/>
          </a:p>
        </p:txBody>
      </p:sp>
      <p:sp>
        <p:nvSpPr>
          <p:cNvPr id="38" name="Shape 36"/>
          <p:cNvSpPr/>
          <p:nvPr/>
        </p:nvSpPr>
        <p:spPr>
          <a:xfrm>
            <a:off x="2633472" y="2779776"/>
            <a:ext cx="1097280" cy="475488"/>
          </a:xfrm>
          <a:prstGeom prst="rect">
            <a:avLst/>
          </a:prstGeom>
          <a:solidFill>
            <a:srgbClr val="F4F4F4"/>
          </a:solidFill>
          <a:ln/>
        </p:spPr>
      </p:sp>
      <p:sp>
        <p:nvSpPr>
          <p:cNvPr id="39" name="Text 37"/>
          <p:cNvSpPr txBox="1"/>
          <p:nvPr/>
        </p:nvSpPr>
        <p:spPr>
          <a:xfrm>
            <a:off x="2688336" y="2816352"/>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$95M</a:t>
            </a:r>
            <a:endParaRPr lang="en-US" sz="1100" dirty="0"/>
          </a:p>
        </p:txBody>
      </p:sp>
      <p:sp>
        <p:nvSpPr>
          <p:cNvPr id="40" name="Shape 38"/>
          <p:cNvSpPr/>
          <p:nvPr/>
        </p:nvSpPr>
        <p:spPr>
          <a:xfrm>
            <a:off x="3767328" y="2779776"/>
            <a:ext cx="1371600" cy="475488"/>
          </a:xfrm>
          <a:prstGeom prst="rect">
            <a:avLst/>
          </a:prstGeom>
          <a:solidFill>
            <a:srgbClr val="F4F4F4"/>
          </a:solidFill>
          <a:ln/>
        </p:spPr>
      </p:sp>
      <p:sp>
        <p:nvSpPr>
          <p:cNvPr id="41" name="Text 39"/>
          <p:cNvSpPr txBox="1"/>
          <p:nvPr/>
        </p:nvSpPr>
        <p:spPr>
          <a:xfrm>
            <a:off x="3822192" y="2816352"/>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4.3%</a:t>
            </a:r>
            <a:endParaRPr lang="en-US" sz="1100" dirty="0"/>
          </a:p>
        </p:txBody>
      </p:sp>
      <p:sp>
        <p:nvSpPr>
          <p:cNvPr id="42" name="Shape 40"/>
          <p:cNvSpPr/>
          <p:nvPr/>
        </p:nvSpPr>
        <p:spPr>
          <a:xfrm>
            <a:off x="5166360" y="2779776"/>
            <a:ext cx="2011680" cy="475488"/>
          </a:xfrm>
          <a:prstGeom prst="rect">
            <a:avLst/>
          </a:prstGeom>
          <a:solidFill>
            <a:srgbClr val="F4F4F4"/>
          </a:solidFill>
          <a:ln/>
        </p:spPr>
      </p:sp>
      <p:sp>
        <p:nvSpPr>
          <p:cNvPr id="43" name="Text 41"/>
          <p:cNvSpPr txBox="1"/>
          <p:nvPr/>
        </p:nvSpPr>
        <p:spPr>
          <a:xfrm>
            <a:off x="5221224" y="2816352"/>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6.5%</a:t>
            </a:r>
            <a:endParaRPr lang="en-US" sz="1100" dirty="0"/>
          </a:p>
        </p:txBody>
      </p:sp>
      <p:sp>
        <p:nvSpPr>
          <p:cNvPr id="44" name="Shape 42"/>
          <p:cNvSpPr/>
          <p:nvPr/>
        </p:nvSpPr>
        <p:spPr>
          <a:xfrm>
            <a:off x="7205472" y="2779776"/>
            <a:ext cx="1280160" cy="475488"/>
          </a:xfrm>
          <a:prstGeom prst="rect">
            <a:avLst/>
          </a:prstGeom>
          <a:solidFill>
            <a:srgbClr val="F4F4F4"/>
          </a:solidFill>
          <a:ln/>
        </p:spPr>
      </p:sp>
      <p:sp>
        <p:nvSpPr>
          <p:cNvPr id="45" name="Text 43"/>
          <p:cNvSpPr txBox="1"/>
          <p:nvPr/>
        </p:nvSpPr>
        <p:spPr>
          <a:xfrm>
            <a:off x="7260336" y="2816352"/>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9:1</a:t>
            </a:r>
            <a:endParaRPr lang="en-US" sz="1100" dirty="0"/>
          </a:p>
        </p:txBody>
      </p:sp>
      <p:sp>
        <p:nvSpPr>
          <p:cNvPr id="46" name="Shape 44"/>
          <p:cNvSpPr/>
          <p:nvPr/>
        </p:nvSpPr>
        <p:spPr>
          <a:xfrm>
            <a:off x="320040" y="3310128"/>
            <a:ext cx="2286000" cy="475488"/>
          </a:xfrm>
          <a:prstGeom prst="rect">
            <a:avLst/>
          </a:prstGeom>
          <a:solidFill>
            <a:srgbClr val="DDE3F0"/>
          </a:solidFill>
          <a:ln/>
        </p:spPr>
      </p:sp>
      <p:sp>
        <p:nvSpPr>
          <p:cNvPr id="47" name="Text 45"/>
          <p:cNvSpPr txBox="1"/>
          <p:nvPr/>
        </p:nvSpPr>
        <p:spPr>
          <a:xfrm>
            <a:off x="374904" y="3346704"/>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Gas Industrial</a:t>
            </a:r>
            <a:endParaRPr lang="en-US" sz="1100" dirty="0"/>
          </a:p>
        </p:txBody>
      </p:sp>
      <p:sp>
        <p:nvSpPr>
          <p:cNvPr id="48" name="Shape 46"/>
          <p:cNvSpPr/>
          <p:nvPr/>
        </p:nvSpPr>
        <p:spPr>
          <a:xfrm>
            <a:off x="2633472" y="3310128"/>
            <a:ext cx="1097280" cy="475488"/>
          </a:xfrm>
          <a:prstGeom prst="rect">
            <a:avLst/>
          </a:prstGeom>
          <a:solidFill>
            <a:srgbClr val="DDE3F0"/>
          </a:solidFill>
          <a:ln/>
        </p:spPr>
      </p:sp>
      <p:sp>
        <p:nvSpPr>
          <p:cNvPr id="49" name="Text 47"/>
          <p:cNvSpPr txBox="1"/>
          <p:nvPr/>
        </p:nvSpPr>
        <p:spPr>
          <a:xfrm>
            <a:off x="2688336" y="3346704"/>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$38M</a:t>
            </a:r>
            <a:endParaRPr lang="en-US" sz="1100" dirty="0"/>
          </a:p>
        </p:txBody>
      </p:sp>
      <p:sp>
        <p:nvSpPr>
          <p:cNvPr id="50" name="Shape 48"/>
          <p:cNvSpPr/>
          <p:nvPr/>
        </p:nvSpPr>
        <p:spPr>
          <a:xfrm>
            <a:off x="3767328" y="3310128"/>
            <a:ext cx="1371600" cy="475488"/>
          </a:xfrm>
          <a:prstGeom prst="rect">
            <a:avLst/>
          </a:prstGeom>
          <a:solidFill>
            <a:srgbClr val="DDE3F0"/>
          </a:solidFill>
          <a:ln/>
        </p:spPr>
      </p:sp>
      <p:sp>
        <p:nvSpPr>
          <p:cNvPr id="51" name="Text 49"/>
          <p:cNvSpPr txBox="1"/>
          <p:nvPr/>
        </p:nvSpPr>
        <p:spPr>
          <a:xfrm>
            <a:off x="3822192" y="3346704"/>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3.5%</a:t>
            </a:r>
            <a:endParaRPr lang="en-US" sz="1100" dirty="0"/>
          </a:p>
        </p:txBody>
      </p:sp>
      <p:sp>
        <p:nvSpPr>
          <p:cNvPr id="52" name="Shape 50"/>
          <p:cNvSpPr/>
          <p:nvPr/>
        </p:nvSpPr>
        <p:spPr>
          <a:xfrm>
            <a:off x="5166360" y="3310128"/>
            <a:ext cx="2011680" cy="475488"/>
          </a:xfrm>
          <a:prstGeom prst="rect">
            <a:avLst/>
          </a:prstGeom>
          <a:solidFill>
            <a:srgbClr val="DDE3F0"/>
          </a:solidFill>
          <a:ln/>
        </p:spPr>
      </p:sp>
      <p:sp>
        <p:nvSpPr>
          <p:cNvPr id="53" name="Text 51"/>
          <p:cNvSpPr txBox="1"/>
          <p:nvPr/>
        </p:nvSpPr>
        <p:spPr>
          <a:xfrm>
            <a:off x="5221224" y="3346704"/>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7.2%</a:t>
            </a:r>
            <a:endParaRPr lang="en-US" sz="1100" dirty="0"/>
          </a:p>
        </p:txBody>
      </p:sp>
      <p:sp>
        <p:nvSpPr>
          <p:cNvPr id="54" name="Shape 52"/>
          <p:cNvSpPr/>
          <p:nvPr/>
        </p:nvSpPr>
        <p:spPr>
          <a:xfrm>
            <a:off x="7205472" y="3310128"/>
            <a:ext cx="1280160" cy="475488"/>
          </a:xfrm>
          <a:prstGeom prst="rect">
            <a:avLst/>
          </a:prstGeom>
          <a:solidFill>
            <a:srgbClr val="DDE3F0"/>
          </a:solidFill>
          <a:ln/>
        </p:spPr>
      </p:sp>
      <p:sp>
        <p:nvSpPr>
          <p:cNvPr id="55" name="Text 53"/>
          <p:cNvSpPr txBox="1"/>
          <p:nvPr/>
        </p:nvSpPr>
        <p:spPr>
          <a:xfrm>
            <a:off x="7260336" y="3346704"/>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11:1</a:t>
            </a:r>
            <a:endParaRPr lang="en-US" sz="1100" dirty="0"/>
          </a:p>
        </p:txBody>
      </p:sp>
      <p:sp>
        <p:nvSpPr>
          <p:cNvPr id="56" name="Shape 54"/>
          <p:cNvSpPr/>
          <p:nvPr/>
        </p:nvSpPr>
        <p:spPr>
          <a:xfrm>
            <a:off x="320040" y="3840480"/>
            <a:ext cx="2286000" cy="475488"/>
          </a:xfrm>
          <a:prstGeom prst="rect">
            <a:avLst/>
          </a:prstGeom>
          <a:solidFill>
            <a:srgbClr val="AF52DE"/>
          </a:solidFill>
          <a:ln/>
        </p:spPr>
      </p:sp>
      <p:sp>
        <p:nvSpPr>
          <p:cNvPr id="57" name="Text 55"/>
          <p:cNvSpPr txBox="1"/>
          <p:nvPr/>
        </p:nvSpPr>
        <p:spPr>
          <a:xfrm>
            <a:off x="374904" y="3877056"/>
            <a:ext cx="2231136" cy="402336"/>
          </a:xfrm>
          <a:prstGeom prst="rect">
            <a:avLst/>
          </a:prstGeom>
          <a:noFill/>
          <a:ln/>
        </p:spPr>
        <p:txBody>
          <a:bodyPr wrap="square" lIns="0" tIns="0" rIns="0" bIns="0" rtlCol="0" anchor="ctr"/>
          <a:lstStyle/>
          <a:p>
            <a:pPr algn="l"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PROMEDIO CII</a:t>
            </a:r>
            <a:endParaRPr lang="en-US" sz="1200" dirty="0"/>
          </a:p>
        </p:txBody>
      </p:sp>
      <p:sp>
        <p:nvSpPr>
          <p:cNvPr id="58" name="Shape 56"/>
          <p:cNvSpPr/>
          <p:nvPr/>
        </p:nvSpPr>
        <p:spPr>
          <a:xfrm>
            <a:off x="2633472" y="3840480"/>
            <a:ext cx="1097280" cy="475488"/>
          </a:xfrm>
          <a:prstGeom prst="rect">
            <a:avLst/>
          </a:prstGeom>
          <a:solidFill>
            <a:srgbClr val="AF52DE"/>
          </a:solidFill>
          <a:ln/>
        </p:spPr>
      </p:sp>
      <p:sp>
        <p:nvSpPr>
          <p:cNvPr id="59" name="Text 57"/>
          <p:cNvSpPr txBox="1"/>
          <p:nvPr/>
        </p:nvSpPr>
        <p:spPr>
          <a:xfrm>
            <a:off x="2688336" y="3877056"/>
            <a:ext cx="104241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767328" y="3840480"/>
            <a:ext cx="1371600" cy="475488"/>
          </a:xfrm>
          <a:prstGeom prst="rect">
            <a:avLst/>
          </a:prstGeom>
          <a:solidFill>
            <a:srgbClr val="AF52DE"/>
          </a:solidFill>
          <a:ln/>
        </p:spPr>
      </p:sp>
      <p:sp>
        <p:nvSpPr>
          <p:cNvPr id="61" name="Text 59"/>
          <p:cNvSpPr txBox="1"/>
          <p:nvPr/>
        </p:nvSpPr>
        <p:spPr>
          <a:xfrm>
            <a:off x="3822192" y="3877056"/>
            <a:ext cx="131673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4.3%</a:t>
            </a:r>
            <a:endParaRPr lang="en-US" sz="1200" dirty="0"/>
          </a:p>
        </p:txBody>
      </p:sp>
      <p:sp>
        <p:nvSpPr>
          <p:cNvPr id="62" name="Shape 60"/>
          <p:cNvSpPr/>
          <p:nvPr/>
        </p:nvSpPr>
        <p:spPr>
          <a:xfrm>
            <a:off x="5166360" y="3840480"/>
            <a:ext cx="2011680" cy="475488"/>
          </a:xfrm>
          <a:prstGeom prst="rect">
            <a:avLst/>
          </a:prstGeom>
          <a:solidFill>
            <a:srgbClr val="AF52DE"/>
          </a:solidFill>
          <a:ln/>
        </p:spPr>
      </p:sp>
      <p:sp>
        <p:nvSpPr>
          <p:cNvPr id="63" name="Text 61"/>
          <p:cNvSpPr txBox="1"/>
          <p:nvPr/>
        </p:nvSpPr>
        <p:spPr>
          <a:xfrm>
            <a:off x="5221224" y="3877056"/>
            <a:ext cx="195681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7.5%</a:t>
            </a:r>
            <a:endParaRPr lang="en-US" sz="1200" dirty="0"/>
          </a:p>
        </p:txBody>
      </p:sp>
      <p:sp>
        <p:nvSpPr>
          <p:cNvPr id="64" name="Shape 62"/>
          <p:cNvSpPr/>
          <p:nvPr/>
        </p:nvSpPr>
        <p:spPr>
          <a:xfrm>
            <a:off x="7205472" y="3840480"/>
            <a:ext cx="1280160" cy="475488"/>
          </a:xfrm>
          <a:prstGeom prst="rect">
            <a:avLst/>
          </a:prstGeom>
          <a:solidFill>
            <a:srgbClr val="AF52DE"/>
          </a:solidFill>
          <a:ln/>
        </p:spPr>
      </p:sp>
      <p:sp>
        <p:nvSpPr>
          <p:cNvPr id="65" name="Text 63"/>
          <p:cNvSpPr txBox="1"/>
          <p:nvPr/>
        </p:nvSpPr>
        <p:spPr>
          <a:xfrm>
            <a:off x="7260336" y="3877056"/>
            <a:ext cx="122529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10:1</a:t>
            </a:r>
            <a:endParaRPr lang="en-US" sz="1200" dirty="0"/>
          </a:p>
        </p:txBody>
      </p:sp>
      <p:sp>
        <p:nvSpPr>
          <p:cNvPr id="66" name="Shape 64"/>
          <p:cNvSpPr/>
          <p:nvPr/>
        </p:nvSpPr>
        <p:spPr>
          <a:xfrm>
            <a:off x="365760" y="4462272"/>
            <a:ext cx="8412480" cy="749808"/>
          </a:xfrm>
          <a:prstGeom prst="roundRect">
            <a:avLst>
              <a:gd name="adj" fmla="val 12195"/>
            </a:avLst>
          </a:prstGeom>
          <a:solidFill>
            <a:srgbClr val="F4F4F4"/>
          </a:solidFill>
          <a:ln w="12700">
            <a:solidFill>
              <a:srgbClr val="AF52DE"/>
            </a:solidFill>
            <a:prstDash val="solid"/>
          </a:ln>
        </p:spPr>
      </p:sp>
      <p:sp>
        <p:nvSpPr>
          <p:cNvPr id="67" name="Text 65"/>
          <p:cNvSpPr txBox="1"/>
          <p:nvPr/>
        </p:nvSpPr>
        <p:spPr>
          <a:xfrm>
            <a:off x="530352" y="4526280"/>
            <a:ext cx="8046720" cy="621792"/>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Conclusión del análisis comparativo: Todos los casos mostraron beneficios positivos independientemente del tipo, tamaño o ubicación del proyecto. El ratio B/C promedio de 10:1 es consistente con la predicción de la investigación CII. La constructabilidad funciona en proyectos comerciales e industriales por igual.</a:t>
            </a:r>
            <a:endParaRPr lang="en-US" sz="1150" dirty="0"/>
          </a:p>
        </p:txBody>
      </p:sp>
      <p:sp>
        <p:nvSpPr>
          <p:cNvPr id="68" name="Text 6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71</a:t>
            </a:r>
            <a:endParaRPr lang="en-US" sz="900" dirty="0"/>
          </a:p>
        </p:txBody>
      </p:sp>
      <p:pic xmlns:p="http://schemas.openxmlformats.org/presentationml/2006/main" xmlns:a="http://schemas.openxmlformats.org/drawingml/2006/main" xmlns:r="http://schemas.openxmlformats.org/officeDocument/2006/relationships">
        <p:nvPicPr>
          <p:cNvPr id="8071" name="SlideIcon8071"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Diseño para Construcción — Ejemplos de Aplicación Real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documentadas del Concepto II-2 en proyectos industriales y comerciales:</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30D158"/>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Elevación de Piping en Sleepers vs. Rack</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 planta de shale oil: tubería en sleepers a nivel del suelo vs. rack elevado. Ahorro de 1 mes en entrega de acero estructural, valor de $550K en flujo de caja anticipado.</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Posición de Centros de Control de Motores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MCC ubicado cerca de las cargas eléctricas reduce longitud de cables y tiempo de instalación. $400K de ahorro documentado solo por optimización de layout.</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Zanja Común para Firewater y Ducto Eléctrico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Coordinación de instalaciones subterráneas en una sola excavación. Ahorro: $66K en trabajo de zanjeado y relleno.</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Losa Aligerada vs. Losa Maciza</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proyectos en zonas sísmicas moderadas: evaluación del impacto constructivo de cada alternativa. La selección temprana evita cambios costosos durante la construcción.</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Materiales de Revestimiento para Trabajo en Altura</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Seleccionar sistemas de roofing y siding que minimizan la necesidad de trabajo en altura difícil. Reduce tiempo de instalación y riesgo de caídas.</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Conexiones Estructurales Precalificadas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conexiones aprobadas por los fabricantes de acero en lugar de conexiones especiales. Reduce el tiempo de fabricación y el costo de inspección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72</a:t>
            </a:r>
            <a:endParaRPr lang="en-US" sz="900" dirty="0"/>
          </a:p>
        </p:txBody>
      </p:sp>
      <p:pic xmlns:p="http://schemas.openxmlformats.org/presentationml/2006/main" xmlns:a="http://schemas.openxmlformats.org/drawingml/2006/main" xmlns:r="http://schemas.openxmlformats.org/officeDocument/2006/relationships">
        <p:nvPicPr>
          <p:cNvPr id="8072" name="SlideIcon8072"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Seguridad — Safety by Design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temprana reduce el riesgo de accidentes al eliminar condiciones inseguras antes de llegar al campo:</a:t>
            </a:r>
            <a:endParaRPr lang="en-US" sz="1200" dirty="0"/>
          </a:p>
        </p:txBody>
      </p:sp>
      <p:sp>
        <p:nvSpPr>
          <p:cNvPr id="6" name="Shape 4"/>
          <p:cNvSpPr/>
          <p:nvPr/>
        </p:nvSpPr>
        <p:spPr>
          <a:xfrm>
            <a:off x="365760" y="1325880"/>
            <a:ext cx="4206240" cy="1143000"/>
          </a:xfrm>
          <a:prstGeom prst="roundRect">
            <a:avLst>
              <a:gd name="adj" fmla="val 8000"/>
            </a:avLst>
          </a:prstGeom>
          <a:solidFill>
            <a:srgbClr val="F4F4F4"/>
          </a:solidFill>
          <a:ln w="12700">
            <a:solidFill>
              <a:srgbClr val="FF453A"/>
            </a:solidFill>
            <a:prstDash val="solid"/>
          </a:ln>
        </p:spPr>
      </p:sp>
      <p:sp>
        <p:nvSpPr>
          <p:cNvPr id="7" name="Shape 5"/>
          <p:cNvSpPr/>
          <p:nvPr/>
        </p:nvSpPr>
        <p:spPr>
          <a:xfrm>
            <a:off x="365760" y="1325880"/>
            <a:ext cx="64008" cy="1143000"/>
          </a:xfrm>
          <a:prstGeom prst="rect">
            <a:avLst/>
          </a:prstGeom>
          <a:solidFill>
            <a:srgbClr val="FF453A"/>
          </a:solidFill>
          <a:ln/>
        </p:spPr>
      </p:sp>
      <p:sp>
        <p:nvSpPr>
          <p:cNvPr id="8" name="Text 6"/>
          <p:cNvSpPr txBox="1"/>
          <p:nvPr/>
        </p:nvSpPr>
        <p:spPr>
          <a:xfrm>
            <a:off x="566928" y="1399032"/>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en Altura Reducido</a:t>
            </a:r>
            <a:endParaRPr lang="en-US" sz="1300" dirty="0"/>
          </a:p>
        </p:txBody>
      </p:sp>
      <p:sp>
        <p:nvSpPr>
          <p:cNvPr id="9" name="Text 7"/>
          <p:cNvSpPr txBox="1"/>
          <p:nvPr/>
        </p:nvSpPr>
        <p:spPr>
          <a:xfrm>
            <a:off x="56692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para que el máximo trabajo posible se realice al nivel del suelo. Pre-ensamble de estructuras antes del izaje. El trabajo en tierra es más seguro y eficiente.</a:t>
            </a:r>
            <a:endParaRPr lang="en-US" sz="1100" dirty="0"/>
          </a:p>
        </p:txBody>
      </p:sp>
      <p:sp>
        <p:nvSpPr>
          <p:cNvPr id="10" name="Shape 8"/>
          <p:cNvSpPr/>
          <p:nvPr/>
        </p:nvSpPr>
        <p:spPr>
          <a:xfrm>
            <a:off x="4754880" y="1325880"/>
            <a:ext cx="4206240" cy="1143000"/>
          </a:xfrm>
          <a:prstGeom prst="roundRect">
            <a:avLst>
              <a:gd name="adj" fmla="val 8000"/>
            </a:avLst>
          </a:prstGeom>
          <a:solidFill>
            <a:srgbClr val="F4F4F4"/>
          </a:solidFill>
          <a:ln w="12700">
            <a:solidFill>
              <a:srgbClr val="FF9500"/>
            </a:solidFill>
            <a:prstDash val="solid"/>
          </a:ln>
        </p:spPr>
      </p:sp>
      <p:sp>
        <p:nvSpPr>
          <p:cNvPr id="11" name="Shape 9"/>
          <p:cNvSpPr/>
          <p:nvPr/>
        </p:nvSpPr>
        <p:spPr>
          <a:xfrm>
            <a:off x="4754880" y="1325880"/>
            <a:ext cx="64008" cy="1143000"/>
          </a:xfrm>
          <a:prstGeom prst="rect">
            <a:avLst/>
          </a:prstGeom>
          <a:solidFill>
            <a:srgbClr val="FF9500"/>
          </a:solidFill>
          <a:ln/>
        </p:spPr>
      </p:sp>
      <p:sp>
        <p:nvSpPr>
          <p:cNvPr id="12" name="Text 10"/>
          <p:cNvSpPr txBox="1"/>
          <p:nvPr/>
        </p:nvSpPr>
        <p:spPr>
          <a:xfrm>
            <a:off x="4956048" y="139903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Detección Temprana de Interferencias</a:t>
            </a:r>
            <a:endParaRPr lang="en-US" sz="1300" dirty="0"/>
          </a:p>
        </p:txBody>
      </p:sp>
      <p:sp>
        <p:nvSpPr>
          <p:cNvPr id="13" name="Text 11"/>
          <p:cNvSpPr txBox="1"/>
          <p:nvPr/>
        </p:nvSpPr>
        <p:spPr>
          <a:xfrm>
            <a:off x="495604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BIM clash detection identifica interferencias que en campo requieren trabajo en espacios confinados o en altura. Resolver en diseño es más seguro y barato.</a:t>
            </a:r>
            <a:endParaRPr lang="en-US" sz="1100" dirty="0"/>
          </a:p>
        </p:txBody>
      </p:sp>
      <p:sp>
        <p:nvSpPr>
          <p:cNvPr id="14" name="Shape 12"/>
          <p:cNvSpPr/>
          <p:nvPr/>
        </p:nvSpPr>
        <p:spPr>
          <a:xfrm>
            <a:off x="365760" y="2587752"/>
            <a:ext cx="4206240" cy="1143000"/>
          </a:xfrm>
          <a:prstGeom prst="roundRect">
            <a:avLst>
              <a:gd name="adj" fmla="val 8000"/>
            </a:avLst>
          </a:prstGeom>
          <a:solidFill>
            <a:srgbClr val="F4F4F4"/>
          </a:solidFill>
          <a:ln w="12700">
            <a:solidFill>
              <a:srgbClr val="FFD60A"/>
            </a:solidFill>
            <a:prstDash val="solid"/>
          </a:ln>
        </p:spPr>
      </p:sp>
      <p:sp>
        <p:nvSpPr>
          <p:cNvPr id="15" name="Shape 13"/>
          <p:cNvSpPr/>
          <p:nvPr/>
        </p:nvSpPr>
        <p:spPr>
          <a:xfrm>
            <a:off x="365760" y="2587752"/>
            <a:ext cx="64008" cy="1143000"/>
          </a:xfrm>
          <a:prstGeom prst="rect">
            <a:avLst/>
          </a:prstGeom>
          <a:solidFill>
            <a:srgbClr val="FFD60A"/>
          </a:solidFill>
          <a:ln/>
        </p:spPr>
      </p:sp>
      <p:sp>
        <p:nvSpPr>
          <p:cNvPr id="16" name="Text 14"/>
          <p:cNvSpPr txBox="1"/>
          <p:nvPr/>
        </p:nvSpPr>
        <p:spPr>
          <a:xfrm>
            <a:off x="566928" y="266090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Planes de Izaje Formales</a:t>
            </a:r>
            <a:endParaRPr lang="en-US" sz="1300" dirty="0"/>
          </a:p>
        </p:txBody>
      </p:sp>
      <p:sp>
        <p:nvSpPr>
          <p:cNvPr id="17" name="Text 15"/>
          <p:cNvSpPr txBox="1"/>
          <p:nvPr/>
        </p:nvSpPr>
        <p:spPr>
          <a:xfrm>
            <a:off x="56692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izaje pesado requiere un plan formal revisado por ingeniería. Área estéril, capacidad de grúa verificada, clima y señalización planificados.</a:t>
            </a:r>
            <a:endParaRPr lang="en-US" sz="1100" dirty="0"/>
          </a:p>
        </p:txBody>
      </p:sp>
      <p:sp>
        <p:nvSpPr>
          <p:cNvPr id="18" name="Shape 16"/>
          <p:cNvSpPr/>
          <p:nvPr/>
        </p:nvSpPr>
        <p:spPr>
          <a:xfrm>
            <a:off x="4754880" y="2587752"/>
            <a:ext cx="4206240" cy="1143000"/>
          </a:xfrm>
          <a:prstGeom prst="roundRect">
            <a:avLst>
              <a:gd name="adj" fmla="val 8000"/>
            </a:avLst>
          </a:prstGeom>
          <a:solidFill>
            <a:srgbClr val="F4F4F4"/>
          </a:solidFill>
          <a:ln w="12700">
            <a:solidFill>
              <a:srgbClr val="30D158"/>
            </a:solidFill>
            <a:prstDash val="solid"/>
          </a:ln>
        </p:spPr>
      </p:sp>
      <p:sp>
        <p:nvSpPr>
          <p:cNvPr id="19" name="Shape 17"/>
          <p:cNvSpPr/>
          <p:nvPr/>
        </p:nvSpPr>
        <p:spPr>
          <a:xfrm>
            <a:off x="4754880" y="2587752"/>
            <a:ext cx="64008" cy="1143000"/>
          </a:xfrm>
          <a:prstGeom prst="rect">
            <a:avLst/>
          </a:prstGeom>
          <a:solidFill>
            <a:srgbClr val="30D158"/>
          </a:solidFill>
          <a:ln/>
        </p:spPr>
      </p:sp>
      <p:sp>
        <p:nvSpPr>
          <p:cNvPr id="20" name="Text 18"/>
          <p:cNvSpPr txBox="1"/>
          <p:nvPr/>
        </p:nvSpPr>
        <p:spPr>
          <a:xfrm>
            <a:off x="4956048" y="2660904"/>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Ergonomía del Trabajo de Campo</a:t>
            </a:r>
            <a:endParaRPr lang="en-US" sz="1300" dirty="0"/>
          </a:p>
        </p:txBody>
      </p:sp>
      <p:sp>
        <p:nvSpPr>
          <p:cNvPr id="21" name="Text 19"/>
          <p:cNvSpPr txBox="1"/>
          <p:nvPr/>
        </p:nvSpPr>
        <p:spPr>
          <a:xfrm>
            <a:off x="495604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la posición de válvulas, instrumentos y equipos de mantenimiento considerando la ergonomía del trabajo del operario. Reduce lesiones músculo-esqueléticas.</a:t>
            </a:r>
            <a:endParaRPr lang="en-US" sz="1100" dirty="0"/>
          </a:p>
        </p:txBody>
      </p:sp>
      <p:sp>
        <p:nvSpPr>
          <p:cNvPr id="22" name="Shape 20"/>
          <p:cNvSpPr/>
          <p:nvPr/>
        </p:nvSpPr>
        <p:spPr>
          <a:xfrm>
            <a:off x="365760" y="3849624"/>
            <a:ext cx="4206240" cy="1143000"/>
          </a:xfrm>
          <a:prstGeom prst="roundRect">
            <a:avLst>
              <a:gd name="adj" fmla="val 8000"/>
            </a:avLst>
          </a:prstGeom>
          <a:solidFill>
            <a:srgbClr val="F4F4F4"/>
          </a:solidFill>
          <a:ln w="12700">
            <a:solidFill>
              <a:srgbClr val="0A84FF"/>
            </a:solidFill>
            <a:prstDash val="solid"/>
          </a:ln>
        </p:spPr>
      </p:sp>
      <p:sp>
        <p:nvSpPr>
          <p:cNvPr id="23" name="Shape 21"/>
          <p:cNvSpPr/>
          <p:nvPr/>
        </p:nvSpPr>
        <p:spPr>
          <a:xfrm>
            <a:off x="365760" y="3849624"/>
            <a:ext cx="64008" cy="1143000"/>
          </a:xfrm>
          <a:prstGeom prst="rect">
            <a:avLst/>
          </a:prstGeom>
          <a:solidFill>
            <a:srgbClr val="0A84FF"/>
          </a:solidFill>
          <a:ln/>
        </p:spPr>
      </p:sp>
      <p:sp>
        <p:nvSpPr>
          <p:cNvPr id="24" name="Text 22"/>
          <p:cNvSpPr txBox="1"/>
          <p:nvPr/>
        </p:nvSpPr>
        <p:spPr>
          <a:xfrm>
            <a:off x="566928" y="3922776"/>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Secuenciación para Evitar Exposición</a:t>
            </a:r>
            <a:endParaRPr lang="en-US" sz="1300" dirty="0"/>
          </a:p>
        </p:txBody>
      </p:sp>
      <p:sp>
        <p:nvSpPr>
          <p:cNvPr id="25" name="Text 23"/>
          <p:cNvSpPr txBox="1"/>
          <p:nvPr/>
        </p:nvSpPr>
        <p:spPr>
          <a:xfrm>
            <a:off x="56692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Programar el trabajo de manera que las cuadrillas no estén expuestas a peligros simultáneos (izajes, trabajos en caliente, espacios confinados).</a:t>
            </a:r>
            <a:endParaRPr lang="en-US" sz="1100" dirty="0"/>
          </a:p>
        </p:txBody>
      </p:sp>
      <p:sp>
        <p:nvSpPr>
          <p:cNvPr id="26" name="Shape 24"/>
          <p:cNvSpPr/>
          <p:nvPr/>
        </p:nvSpPr>
        <p:spPr>
          <a:xfrm>
            <a:off x="4754880" y="3849624"/>
            <a:ext cx="4206240" cy="1143000"/>
          </a:xfrm>
          <a:prstGeom prst="roundRect">
            <a:avLst>
              <a:gd name="adj" fmla="val 8000"/>
            </a:avLst>
          </a:prstGeom>
          <a:solidFill>
            <a:srgbClr val="F4F4F4"/>
          </a:solidFill>
          <a:ln w="12700">
            <a:solidFill>
              <a:srgbClr val="AF52DE"/>
            </a:solidFill>
            <a:prstDash val="solid"/>
          </a:ln>
        </p:spPr>
      </p:sp>
      <p:sp>
        <p:nvSpPr>
          <p:cNvPr id="27" name="Shape 25"/>
          <p:cNvSpPr/>
          <p:nvPr/>
        </p:nvSpPr>
        <p:spPr>
          <a:xfrm>
            <a:off x="4754880" y="3849624"/>
            <a:ext cx="64008" cy="1143000"/>
          </a:xfrm>
          <a:prstGeom prst="rect">
            <a:avLst/>
          </a:prstGeom>
          <a:solidFill>
            <a:srgbClr val="AF52DE"/>
          </a:solidFill>
          <a:ln/>
        </p:spPr>
      </p:sp>
      <p:sp>
        <p:nvSpPr>
          <p:cNvPr id="28" name="Text 26"/>
          <p:cNvSpPr txBox="1"/>
          <p:nvPr/>
        </p:nvSpPr>
        <p:spPr>
          <a:xfrm>
            <a:off x="4956048" y="3922776"/>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Acceso de Emergencia</a:t>
            </a:r>
            <a:endParaRPr lang="en-US" sz="1300" dirty="0"/>
          </a:p>
        </p:txBody>
      </p:sp>
      <p:sp>
        <p:nvSpPr>
          <p:cNvPr id="29" name="Text 27"/>
          <p:cNvSpPr txBox="1"/>
          <p:nvPr/>
        </p:nvSpPr>
        <p:spPr>
          <a:xfrm>
            <a:off x="495604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Diseño de rutas de evacuación y acceso para emergencias desde la fase de diseño. Considerar escenarios de rescate en las fases tempranas.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73</a:t>
            </a:r>
            <a:endParaRPr lang="en-US" sz="900" dirty="0"/>
          </a:p>
        </p:txBody>
      </p:sp>
      <p:pic xmlns:p="http://schemas.openxmlformats.org/presentationml/2006/main" xmlns:a="http://schemas.openxmlformats.org/drawingml/2006/main" xmlns:r="http://schemas.openxmlformats.org/officeDocument/2006/relationships">
        <p:nvPicPr>
          <p:cNvPr id="8073" name="SlideIcon8073"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Carreteras e Infraestructura Vial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CII SD-4 documenta conceptos específicos para proyectos de carreteras y obras lineales:</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FF9500"/>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 de Control de Tráfico (TCP)</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TCP es crítico en proyectos de carreteras activas. La constructabilidad analiza el impacto del TCP en la productividad y cronograma de construcción. TCP mal planificado puede duplicar el costo de mano de obra.</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Diseño de Terraplenes y Cortes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de movimiento de tierras define el cronograma de la obra vial. El diseño debe considerar: estabilidad de taludes, balance de corte-relleno, acceso de equipos y disposición de material excedente.</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30D158"/>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Puentes y Pasos a Nivel</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elementos de puente (superestructura, subestructura) tienen secuencias constructivas que deben integrarse al cronograma general. Prefabricación vs. construcción in situ.</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FF453A"/>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Alcantarillas y Drenaje</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Instalar drenajes durante la temporada seca para maximizar productividad. El drenaje temprano protege las siguientes fases de trabajo.</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AF52DE"/>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Pavimentación</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pavimentación requieren análisis de productividad de tren de trabajo. Secuencias de bases, sub-bases y capas de rodadura.</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Señalización y Marcas Viales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Planificar la secuencia de señalización como parte del proceso de liberación de tramos al tráfico. Impacto en el TCP y en las fechas de entrega parcial.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74</a:t>
            </a:r>
            <a:endParaRPr lang="en-US" sz="900" dirty="0"/>
          </a:p>
        </p:txBody>
      </p:sp>
      <p:pic xmlns:p="http://schemas.openxmlformats.org/presentationml/2006/main" xmlns:a="http://schemas.openxmlformats.org/drawingml/2006/main" xmlns:r="http://schemas.openxmlformats.org/officeDocument/2006/relationships">
        <p:nvPicPr>
          <p:cNvPr id="8074" name="SlideIcon8074"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Concreto Reforzado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de los conceptos CII en el diseño de elementos de concreto reforzado:</a:t>
            </a:r>
            <a:endParaRPr lang="en-US" sz="1200" dirty="0"/>
          </a:p>
        </p:txBody>
      </p:sp>
      <p:sp>
        <p:nvSpPr>
          <p:cNvPr id="6" name="Shape 4"/>
          <p:cNvSpPr/>
          <p:nvPr/>
        </p:nvSpPr>
        <p:spPr>
          <a:xfrm>
            <a:off x="365760" y="1298448"/>
            <a:ext cx="4206240" cy="1143000"/>
          </a:xfrm>
          <a:prstGeom prst="roundRect">
            <a:avLst>
              <a:gd name="adj" fmla="val 8000"/>
            </a:avLst>
          </a:prstGeom>
          <a:solidFill>
            <a:srgbClr val="F4F4F4"/>
          </a:solidFill>
          <a:ln w="12700">
            <a:solidFill>
              <a:srgbClr val="0A84FF"/>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Densidad del Refuerzo</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espaciamiento mínimo entre barras debe permitir el paso del vibrador de concreto. Barras demasiado juntas impiden la correcta colocación y compactación del concreto.</a:t>
            </a:r>
            <a:endParaRPr lang="en-US" sz="1100" dirty="0"/>
          </a:p>
        </p:txBody>
      </p:sp>
      <p:sp>
        <p:nvSpPr>
          <p:cNvPr id="9" name="Shape 7"/>
          <p:cNvSpPr/>
          <p:nvPr/>
        </p:nvSpPr>
        <p:spPr>
          <a:xfrm>
            <a:off x="4754880" y="1298448"/>
            <a:ext cx="4206240" cy="1143000"/>
          </a:xfrm>
          <a:prstGeom prst="roundRect">
            <a:avLst>
              <a:gd name="adj" fmla="val 8000"/>
            </a:avLst>
          </a:prstGeom>
          <a:solidFill>
            <a:srgbClr val="F4F4F4"/>
          </a:solidFill>
          <a:ln w="12700">
            <a:solidFill>
              <a:srgbClr val="30D158"/>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Sistemas de Cimbrado</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temprana del sistema de cimbrado (convencional, tablero, trepante, deslizante) define el cronograma de concreto y el costo de encofrado. Decisión de Concepto I-5.</a:t>
            </a:r>
            <a:endParaRPr lang="en-US" sz="1100" dirty="0"/>
          </a:p>
        </p:txBody>
      </p:sp>
      <p:sp>
        <p:nvSpPr>
          <p:cNvPr id="12" name="Shape 10"/>
          <p:cNvSpPr/>
          <p:nvPr/>
        </p:nvSpPr>
        <p:spPr>
          <a:xfrm>
            <a:off x="365760" y="2560320"/>
            <a:ext cx="4206240" cy="1143000"/>
          </a:xfrm>
          <a:prstGeom prst="roundRect">
            <a:avLst>
              <a:gd name="adj" fmla="val 8000"/>
            </a:avLst>
          </a:prstGeom>
          <a:solidFill>
            <a:srgbClr val="F4F4F4"/>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Planos Separados por Oficio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Planos separados para encofrado y para fierro mejoran la legibilidad y reducen errores. Las dimensiones necesarias para cada operación son distintas.</a:t>
            </a:r>
            <a:endParaRPr lang="en-US" sz="1100" dirty="0"/>
          </a:p>
        </p:txBody>
      </p:sp>
      <p:sp>
        <p:nvSpPr>
          <p:cNvPr id="15" name="Shape 13"/>
          <p:cNvSpPr/>
          <p:nvPr/>
        </p:nvSpPr>
        <p:spPr>
          <a:xfrm>
            <a:off x="4754880" y="2560320"/>
            <a:ext cx="4206240" cy="1143000"/>
          </a:xfrm>
          <a:prstGeom prst="roundRect">
            <a:avLst>
              <a:gd name="adj" fmla="val 8000"/>
            </a:avLst>
          </a:prstGeom>
          <a:solidFill>
            <a:srgbClr val="F4F4F4"/>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Resistencia del Concreto</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Mayor f'c puede reducir secciones y simplificar la armadura. Evaluar el impacto en el costo de construcción vs. el costo de materiales.</a:t>
            </a:r>
            <a:endParaRPr lang="en-US" sz="1100" dirty="0"/>
          </a:p>
        </p:txBody>
      </p:sp>
      <p:sp>
        <p:nvSpPr>
          <p:cNvPr id="18" name="Shape 16"/>
          <p:cNvSpPr/>
          <p:nvPr/>
        </p:nvSpPr>
        <p:spPr>
          <a:xfrm>
            <a:off x="365760" y="3822192"/>
            <a:ext cx="4206240" cy="1143000"/>
          </a:xfrm>
          <a:prstGeom prst="roundRect">
            <a:avLst>
              <a:gd name="adj" fmla="val 8000"/>
            </a:avLst>
          </a:prstGeom>
          <a:solidFill>
            <a:srgbClr val="F4F4F4"/>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Tolerancias Alcanzables</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Especificar tolerancias que el campo puede lograr razonablemente. Tolerancias exageradas aumentan el costo sin mejorar el desempeño.</a:t>
            </a:r>
            <a:endParaRPr lang="en-US" sz="1100" dirty="0"/>
          </a:p>
        </p:txBody>
      </p:sp>
      <p:sp>
        <p:nvSpPr>
          <p:cNvPr id="21" name="Shape 19"/>
          <p:cNvSpPr/>
          <p:nvPr/>
        </p:nvSpPr>
        <p:spPr>
          <a:xfrm>
            <a:off x="4754880" y="3822192"/>
            <a:ext cx="4206240" cy="1143000"/>
          </a:xfrm>
          <a:prstGeom prst="roundRect">
            <a:avLst>
              <a:gd name="adj" fmla="val 8000"/>
            </a:avLst>
          </a:prstGeom>
          <a:solidFill>
            <a:srgbClr val="F4F4F4"/>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Prefabricado vs. CIP</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elección entre concreto prefabricado y vaciado en sitio es una decisión de Concepto I-5. El prefabricado acelera el cronograma pero requiere planificación logística especial.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75</a:t>
            </a:r>
            <a:endParaRPr lang="en-US" sz="900" dirty="0"/>
          </a:p>
        </p:txBody>
      </p:sp>
      <p:pic xmlns:p="http://schemas.openxmlformats.org/presentationml/2006/main" xmlns:a="http://schemas.openxmlformats.org/drawingml/2006/main" xmlns:r="http://schemas.openxmlformats.org/officeDocument/2006/relationships">
        <p:nvPicPr>
          <p:cNvPr id="8075" name="SlideIcon8075"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Operabilidad — El Vínculo con las Abilities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constructabilidad y la operabilidad son "abilities" complementarias. Un proyecto que se construye eficientemente DEBE también ser fácil de operar y mantener. La integración temprana de los operadores en el diseño (Operations Input) es análoga a la integración de constructores en la constructabilidad.</a:t>
            </a:r>
            <a:endParaRPr lang="en-US" sz="1250" dirty="0"/>
          </a:p>
        </p:txBody>
      </p:sp>
      <p:sp>
        <p:nvSpPr>
          <p:cNvPr id="6" name="Shape 4"/>
          <p:cNvSpPr/>
          <p:nvPr/>
        </p:nvSpPr>
        <p:spPr>
          <a:xfrm>
            <a:off x="365760" y="1508760"/>
            <a:ext cx="4206240" cy="1600200"/>
          </a:xfrm>
          <a:prstGeom prst="roundRect">
            <a:avLst>
              <a:gd name="adj" fmla="val 6857"/>
            </a:avLst>
          </a:prstGeom>
          <a:solidFill>
            <a:srgbClr val="F4F4F4"/>
          </a:solidFill>
          <a:ln w="12700">
            <a:solidFill>
              <a:srgbClr val="30D158"/>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Acceso para Operación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Válvulas, instrumentos y equipos accesibles para el operador. No solo accesibles para la construcción — también para la operación diaria.</a:t>
            </a:r>
            <a:endParaRPr lang="en-US" sz="1100" dirty="0"/>
          </a:p>
        </p:txBody>
      </p:sp>
      <p:sp>
        <p:nvSpPr>
          <p:cNvPr id="9" name="Shape 7"/>
          <p:cNvSpPr/>
          <p:nvPr/>
        </p:nvSpPr>
        <p:spPr>
          <a:xfrm>
            <a:off x="4754880" y="1508760"/>
            <a:ext cx="4206240" cy="1600200"/>
          </a:xfrm>
          <a:prstGeom prst="roundRect">
            <a:avLst>
              <a:gd name="adj" fmla="val 6857"/>
            </a:avLst>
          </a:prstGeom>
          <a:solidFill>
            <a:srgbClr val="F4F4F4"/>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Mantenibilidad Integrada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Espacio suficiente para reemplazo de equipos, acceso para mantenimiento preventivo. Grúas permanentes o rieles de mantenimiento donde se necesitan.</a:t>
            </a:r>
            <a:endParaRPr lang="en-US" sz="1100" dirty="0"/>
          </a:p>
        </p:txBody>
      </p:sp>
      <p:sp>
        <p:nvSpPr>
          <p:cNvPr id="12" name="Shape 10"/>
          <p:cNvSpPr/>
          <p:nvPr/>
        </p:nvSpPr>
        <p:spPr>
          <a:xfrm>
            <a:off x="365760" y="3227832"/>
            <a:ext cx="4206240" cy="1600200"/>
          </a:xfrm>
          <a:prstGeom prst="roundRect">
            <a:avLst>
              <a:gd name="adj" fmla="val 6857"/>
            </a:avLst>
          </a:prstGeom>
          <a:solidFill>
            <a:srgbClr val="F4F4F4"/>
          </a:solidFill>
          <a:ln w="12700">
            <a:solidFill>
              <a:srgbClr val="FF9500"/>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Operacional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Protecciones de equipos en movimiento, sistemas de ventilación, plataformas de acceso. Diseñadas desde el inicio para la operación segura.</a:t>
            </a:r>
            <a:endParaRPr lang="en-US" sz="1100" dirty="0"/>
          </a:p>
        </p:txBody>
      </p:sp>
      <p:sp>
        <p:nvSpPr>
          <p:cNvPr id="15" name="Shape 13"/>
          <p:cNvSpPr/>
          <p:nvPr/>
        </p:nvSpPr>
        <p:spPr>
          <a:xfrm>
            <a:off x="4754880" y="3227832"/>
            <a:ext cx="4206240" cy="1600200"/>
          </a:xfrm>
          <a:prstGeom prst="roundRect">
            <a:avLst>
              <a:gd name="adj" fmla="val 6857"/>
            </a:avLst>
          </a:prstGeom>
          <a:solidFill>
            <a:srgbClr val="F4F4F4"/>
          </a:solidFill>
          <a:ln w="12700">
            <a:solidFill>
              <a:srgbClr val="AF52DE"/>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Flexibilidad de Arranque</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diseño debe facilitar el proceso de comisionamiento y arranque gradual de sistemas. Bypasses, válvulas de test, puntos de medición.</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76</a:t>
            </a:r>
            <a:endParaRPr lang="en-US" sz="900" dirty="0"/>
          </a:p>
        </p:txBody>
      </p:sp>
      <p:pic xmlns:p="http://schemas.openxmlformats.org/presentationml/2006/main" xmlns:a="http://schemas.openxmlformats.org/drawingml/2006/main" xmlns:r="http://schemas.openxmlformats.org/officeDocument/2006/relationships">
        <p:nvPicPr>
          <p:cNvPr id="8076" name="SlideIcon8076"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la Era Digital — Industry 4.0</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Las tecnologías digitales modernas potencian la constructabilidad de maneras que no eran posibles en la era del CII original. Sin embargo, los principios subyacentes son los mismos:</a:t>
            </a:r>
            <a:endParaRPr lang="en-US" sz="1250" dirty="0"/>
          </a:p>
        </p:txBody>
      </p:sp>
      <p:sp>
        <p:nvSpPr>
          <p:cNvPr id="6" name="Shape 4"/>
          <p:cNvSpPr/>
          <p:nvPr/>
        </p:nvSpPr>
        <p:spPr>
          <a:xfrm>
            <a:off x="365760" y="1508760"/>
            <a:ext cx="4206240" cy="1600200"/>
          </a:xfrm>
          <a:prstGeom prst="roundRect">
            <a:avLst>
              <a:gd name="adj" fmla="val 6857"/>
            </a:avLst>
          </a:prstGeom>
          <a:solidFill>
            <a:srgbClr val="F4F4F4"/>
          </a:solidFill>
          <a:ln w="12700">
            <a:solidFill>
              <a:srgbClr val="64D2FF"/>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Digital Twin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gemelo digital del proyecto permite simular la construcción antes de ejecutarla. Detecta conflictos, optimiza secuencias y valida la constructabilidad en el entorno virtual.</a:t>
            </a:r>
            <a:endParaRPr lang="en-US" sz="1100" dirty="0"/>
          </a:p>
        </p:txBody>
      </p:sp>
      <p:sp>
        <p:nvSpPr>
          <p:cNvPr id="9" name="Shape 7"/>
          <p:cNvSpPr/>
          <p:nvPr/>
        </p:nvSpPr>
        <p:spPr>
          <a:xfrm>
            <a:off x="4754880" y="1508760"/>
            <a:ext cx="4206240" cy="1600200"/>
          </a:xfrm>
          <a:prstGeom prst="roundRect">
            <a:avLst>
              <a:gd name="adj" fmla="val 6857"/>
            </a:avLst>
          </a:prstGeom>
          <a:solidFill>
            <a:srgbClr val="F4F4F4"/>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Drones y Realidad Aumentada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drones permiten monitorear el avance de obra y verificar constructabilidad en tiempo real. La RA superpone el diseño sobre el campo para verificar instalaciones.</a:t>
            </a:r>
            <a:endParaRPr lang="en-US" sz="1100" dirty="0"/>
          </a:p>
        </p:txBody>
      </p:sp>
      <p:sp>
        <p:nvSpPr>
          <p:cNvPr id="12" name="Shape 10"/>
          <p:cNvSpPr/>
          <p:nvPr/>
        </p:nvSpPr>
        <p:spPr>
          <a:xfrm>
            <a:off x="365760" y="3227832"/>
            <a:ext cx="4206240" cy="1600200"/>
          </a:xfrm>
          <a:prstGeom prst="roundRect">
            <a:avLst>
              <a:gd name="adj" fmla="val 6857"/>
            </a:avLst>
          </a:prstGeom>
          <a:solidFill>
            <a:srgbClr val="F4F4F4"/>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Prefabricación Digital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Control numérico computarizado (CNC) permite prefabricación de alta precisión. Los datos del modelo BIM van directo a las máquinas de fabricación.</a:t>
            </a:r>
            <a:endParaRPr lang="en-US" sz="1100" dirty="0"/>
          </a:p>
        </p:txBody>
      </p:sp>
      <p:sp>
        <p:nvSpPr>
          <p:cNvPr id="15" name="Shape 13"/>
          <p:cNvSpPr/>
          <p:nvPr/>
        </p:nvSpPr>
        <p:spPr>
          <a:xfrm>
            <a:off x="4754880" y="3227832"/>
            <a:ext cx="4206240" cy="1600200"/>
          </a:xfrm>
          <a:prstGeom prst="roundRect">
            <a:avLst>
              <a:gd name="adj" fmla="val 6857"/>
            </a:avLst>
          </a:prstGeom>
          <a:solidFill>
            <a:srgbClr val="F4F4F4"/>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IoT en Campo</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Sensores en equipos y materiales permiten seguimiento en tiempo real. RFID para gestión de materiales. Datos de productividad capturados automáticamente.</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77</a:t>
            </a:r>
            <a:endParaRPr lang="en-US" sz="900" dirty="0"/>
          </a:p>
        </p:txBody>
      </p:sp>
      <p:pic xmlns:p="http://schemas.openxmlformats.org/presentationml/2006/main" xmlns:a="http://schemas.openxmlformats.org/drawingml/2006/main" xmlns:r="http://schemas.openxmlformats.org/officeDocument/2006/relationships">
        <p:nvPicPr>
          <p:cNvPr id="8077" name="SlideIcon8077"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Cambio para Implementar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Implementar constructabilidad es un cambio cultural, no solo un cambio de proceso. La gestión del cambio es fundamental para el éxito del programa:</a:t>
            </a:r>
            <a:endParaRPr lang="en-US" sz="1250" dirty="0"/>
          </a:p>
        </p:txBody>
      </p:sp>
      <p:sp>
        <p:nvSpPr>
          <p:cNvPr id="6" name="Shape 4"/>
          <p:cNvSpPr/>
          <p:nvPr/>
        </p:nvSpPr>
        <p:spPr>
          <a:xfrm>
            <a:off x="365760" y="1508760"/>
            <a:ext cx="4206240" cy="1600200"/>
          </a:xfrm>
          <a:prstGeom prst="roundRect">
            <a:avLst>
              <a:gd name="adj" fmla="val 6857"/>
            </a:avLst>
          </a:prstGeom>
          <a:solidFill>
            <a:srgbClr val="F4F4F4"/>
          </a:solidFill>
          <a:ln w="12700">
            <a:solidFill>
              <a:srgbClr val="AF52DE"/>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Liderazgo Visible</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líderes de la organización deben demostrar su compromiso participando activamente en los talleres de constructabilidad. El "Management by Walking Around" aplicado a constructabilidad.</a:t>
            </a:r>
            <a:endParaRPr lang="en-US" sz="1100" dirty="0"/>
          </a:p>
        </p:txBody>
      </p:sp>
      <p:sp>
        <p:nvSpPr>
          <p:cNvPr id="9" name="Shape 7"/>
          <p:cNvSpPr/>
          <p:nvPr/>
        </p:nvSpPr>
        <p:spPr>
          <a:xfrm>
            <a:off x="4754880" y="1508760"/>
            <a:ext cx="4206240" cy="1600200"/>
          </a:xfrm>
          <a:prstGeom prst="roundRect">
            <a:avLst>
              <a:gd name="adj" fmla="val 6857"/>
            </a:avLst>
          </a:prstGeom>
          <a:solidFill>
            <a:srgbClr val="F4F4F4"/>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Efectiva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solo formación teórica — casos de estudio reales, visitas a proyectos con programas maduros, intercambio con empresas líderes en constructabilidad.</a:t>
            </a:r>
            <a:endParaRPr lang="en-US" sz="1100" dirty="0"/>
          </a:p>
        </p:txBody>
      </p:sp>
      <p:sp>
        <p:nvSpPr>
          <p:cNvPr id="12" name="Shape 10"/>
          <p:cNvSpPr/>
          <p:nvPr/>
        </p:nvSpPr>
        <p:spPr>
          <a:xfrm>
            <a:off x="365760" y="3227832"/>
            <a:ext cx="4206240" cy="1600200"/>
          </a:xfrm>
          <a:prstGeom prst="roundRect">
            <a:avLst>
              <a:gd name="adj" fmla="val 6857"/>
            </a:avLst>
          </a:prstGeom>
          <a:solidFill>
            <a:srgbClr val="F4F4F4"/>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Sistemas de Reconocimiento</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y recompensar las contribuciones al programa. El proyecto Fjardaál implementó reconocimientos periódicos para miembros del equipo que contribuyeron al éxito del programa.</a:t>
            </a:r>
            <a:endParaRPr lang="en-US" sz="1100" dirty="0"/>
          </a:p>
        </p:txBody>
      </p:sp>
      <p:sp>
        <p:nvSpPr>
          <p:cNvPr id="15" name="Shape 13"/>
          <p:cNvSpPr/>
          <p:nvPr/>
        </p:nvSpPr>
        <p:spPr>
          <a:xfrm>
            <a:off x="4754880" y="3227832"/>
            <a:ext cx="4206240" cy="1600200"/>
          </a:xfrm>
          <a:prstGeom prst="roundRect">
            <a:avLst>
              <a:gd name="adj" fmla="val 6857"/>
            </a:avLst>
          </a:prstGeom>
          <a:solidFill>
            <a:srgbClr val="F4F4F4"/>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Comunicación Continua</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Mantener al equipo informado sobre los beneficios del programa. Publicar los ahorros logrados. Celebrar los éxitos para mantener el momentum.</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78</a:t>
            </a:r>
            <a:endParaRPr lang="en-US" sz="900" dirty="0"/>
          </a:p>
        </p:txBody>
      </p:sp>
      <p:pic xmlns:p="http://schemas.openxmlformats.org/presentationml/2006/main" xmlns:a="http://schemas.openxmlformats.org/drawingml/2006/main" xmlns:r="http://schemas.openxmlformats.org/officeDocument/2006/relationships">
        <p:nvPicPr>
          <p:cNvPr id="8078" name="SlideIcon8078"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Procura Estratégica y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F4F4F4"/>
          </a:solidFill>
          <a:ln w="12700">
            <a:solidFill>
              <a:srgbClr val="FF9500"/>
            </a:solidFill>
            <a:prstDash val="solid"/>
          </a:ln>
        </p:spPr>
      </p:sp>
      <p:sp>
        <p:nvSpPr>
          <p:cNvPr id="7" name="Shape 5"/>
          <p:cNvSpPr/>
          <p:nvPr/>
        </p:nvSpPr>
        <p:spPr>
          <a:xfrm>
            <a:off x="365760" y="1298448"/>
            <a:ext cx="73152" cy="859536"/>
          </a:xfrm>
          <a:prstGeom prst="rect">
            <a:avLst/>
          </a:prstGeom>
          <a:solidFill>
            <a:srgbClr val="FF9500"/>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Identificación de Long-Lead Items</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equipos de largo plazo de entrega (HFUs, transformadores, turbinas, reactores) deben identificarse en la fase conceptual. Su lead time define la ruta crítica de la ingeniería.</a:t>
            </a:r>
            <a:endParaRPr lang="en-US" sz="1100" dirty="0"/>
          </a:p>
        </p:txBody>
      </p:sp>
      <p:sp>
        <p:nvSpPr>
          <p:cNvPr id="10" name="Shape 8"/>
          <p:cNvSpPr/>
          <p:nvPr/>
        </p:nvSpPr>
        <p:spPr>
          <a:xfrm>
            <a:off x="365760" y="2267712"/>
            <a:ext cx="8412480" cy="859536"/>
          </a:xfrm>
          <a:prstGeom prst="roundRect">
            <a:avLst>
              <a:gd name="adj" fmla="val 10638"/>
            </a:avLst>
          </a:prstGeom>
          <a:solidFill>
            <a:srgbClr val="F4F4F4"/>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Participación de Proveedores en Diseño</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Involucrar a proveedores estratégicos en las revisiones de constructabilidad. Aportarán conocimiento sobre fabricación, transporte e instalación que el equipo de diseño no tiene.</a:t>
            </a:r>
            <a:endParaRPr lang="en-US" sz="1100" dirty="0"/>
          </a:p>
        </p:txBody>
      </p:sp>
      <p:sp>
        <p:nvSpPr>
          <p:cNvPr id="14" name="Shape 12"/>
          <p:cNvSpPr/>
          <p:nvPr/>
        </p:nvSpPr>
        <p:spPr>
          <a:xfrm>
            <a:off x="365760" y="3236976"/>
            <a:ext cx="8412480" cy="859536"/>
          </a:xfrm>
          <a:prstGeom prst="roundRect">
            <a:avLst>
              <a:gd name="adj" fmla="val 10638"/>
            </a:avLst>
          </a:prstGeom>
          <a:solidFill>
            <a:srgbClr val="F4F4F4"/>
          </a:solidFill>
          <a:ln w="12700">
            <a:solidFill>
              <a:srgbClr val="30D158"/>
            </a:solidFill>
            <a:prstDash val="solid"/>
          </a:ln>
        </p:spPr>
      </p:sp>
      <p:sp>
        <p:nvSpPr>
          <p:cNvPr id="15" name="Shape 13"/>
          <p:cNvSpPr/>
          <p:nvPr/>
        </p:nvSpPr>
        <p:spPr>
          <a:xfrm>
            <a:off x="365760" y="3236976"/>
            <a:ext cx="73152" cy="859536"/>
          </a:xfrm>
          <a:prstGeom prst="rect">
            <a:avLst/>
          </a:prstGeom>
          <a:solidFill>
            <a:srgbClr val="30D158"/>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Paquetes de Ingeniería Alineados con Procura</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paquetes de ingeniería para licitar deben estar alineados con los paquetes de construcción. La misma zona geográfica y temporal de campo debe ser un paquete de procura cohesivo.</a:t>
            </a:r>
            <a:endParaRPr lang="en-US" sz="1100" dirty="0"/>
          </a:p>
        </p:txBody>
      </p:sp>
      <p:sp>
        <p:nvSpPr>
          <p:cNvPr id="18" name="Shape 16"/>
          <p:cNvSpPr/>
          <p:nvPr/>
        </p:nvSpPr>
        <p:spPr>
          <a:xfrm>
            <a:off x="365760" y="4206240"/>
            <a:ext cx="8412480" cy="859536"/>
          </a:xfrm>
          <a:prstGeom prst="roundRect">
            <a:avLst>
              <a:gd name="adj" fmla="val 10638"/>
            </a:avLst>
          </a:prstGeom>
          <a:solidFill>
            <a:srgbClr val="F4F4F4"/>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Requisiciones con Criterios de Constructabilidad</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solicitudes de cotización deben incluir criterios de constructabilidad: dimensiones máximas de transporte, puntos de izaje, secuencia de instalación, interface de conexión.</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79</a:t>
            </a:r>
            <a:endParaRPr lang="en-US" sz="900" dirty="0"/>
          </a:p>
        </p:txBody>
      </p:sp>
      <p:pic xmlns:p="http://schemas.openxmlformats.org/presentationml/2006/main" xmlns:a="http://schemas.openxmlformats.org/drawingml/2006/main" xmlns:r="http://schemas.openxmlformats.org/officeDocument/2006/relationships">
        <p:nvPicPr>
          <p:cNvPr id="8079" name="SlideIcon8079"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Revisiones Formales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F4F4F4"/>
          </a:solidFill>
          <a:ln w="12700">
            <a:solidFill>
              <a:srgbClr val="0A84FF"/>
            </a:solidFill>
            <a:prstDash val="solid"/>
          </a:ln>
        </p:spPr>
      </p:sp>
      <p:sp>
        <p:nvSpPr>
          <p:cNvPr id="7" name="Shape 5"/>
          <p:cNvSpPr/>
          <p:nvPr/>
        </p:nvSpPr>
        <p:spPr>
          <a:xfrm>
            <a:off x="365760" y="1298448"/>
            <a:ext cx="73152" cy="859536"/>
          </a:xfrm>
          <a:prstGeom prst="rect">
            <a:avLst/>
          </a:prstGeom>
          <a:solidFill>
            <a:srgbClr val="0A84FF"/>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¿Qué es una Revisión de Constructabilidad?</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Una evaluación sistemática del diseño por parte de expertos con experiencia de campo. NO es solo "que construcción revise los planos" — es un proceso estructurado con metodología formal.</a:t>
            </a:r>
            <a:endParaRPr lang="en-US" sz="1100" dirty="0"/>
          </a:p>
        </p:txBody>
      </p:sp>
      <p:sp>
        <p:nvSpPr>
          <p:cNvPr id="10" name="Shape 8"/>
          <p:cNvSpPr/>
          <p:nvPr/>
        </p:nvSpPr>
        <p:spPr>
          <a:xfrm>
            <a:off x="365760" y="2267712"/>
            <a:ext cx="8412480" cy="859536"/>
          </a:xfrm>
          <a:prstGeom prst="roundRect">
            <a:avLst>
              <a:gd name="adj" fmla="val 10638"/>
            </a:avLst>
          </a:prstGeom>
          <a:solidFill>
            <a:srgbClr val="F4F4F4"/>
          </a:solidFill>
          <a:ln w="12700">
            <a:solidFill>
              <a:srgbClr val="30D158"/>
            </a:solidFill>
            <a:prstDash val="solid"/>
          </a:ln>
        </p:spPr>
      </p:sp>
      <p:sp>
        <p:nvSpPr>
          <p:cNvPr id="11" name="Shape 9"/>
          <p:cNvSpPr/>
          <p:nvPr/>
        </p:nvSpPr>
        <p:spPr>
          <a:xfrm>
            <a:off x="365760" y="2267712"/>
            <a:ext cx="73152" cy="859536"/>
          </a:xfrm>
          <a:prstGeom prst="rect">
            <a:avLst/>
          </a:prstGeom>
          <a:solidFill>
            <a:srgbClr val="30D158"/>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Cuándo Realizarlas</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30%, 60% y 90% de avance del diseño básico. En cada entrega de documentos clave de diseño detallado. Como parte del "30-60-90% review" del proyecto.</a:t>
            </a:r>
            <a:endParaRPr lang="en-US" sz="1100" dirty="0"/>
          </a:p>
        </p:txBody>
      </p:sp>
      <p:sp>
        <p:nvSpPr>
          <p:cNvPr id="14" name="Shape 12"/>
          <p:cNvSpPr/>
          <p:nvPr/>
        </p:nvSpPr>
        <p:spPr>
          <a:xfrm>
            <a:off x="365760" y="3236976"/>
            <a:ext cx="8412480" cy="859536"/>
          </a:xfrm>
          <a:prstGeom prst="roundRect">
            <a:avLst>
              <a:gd name="adj" fmla="val 10638"/>
            </a:avLst>
          </a:prstGeom>
          <a:solidFill>
            <a:srgbClr val="F4F4F4"/>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Quién las Realiza</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Gerente de Constructabilidad + campeones por especialidad + constructores con experiencia en el tipo de proyecto. Opcionalmente: consultor externo para perspectiva independiente.</a:t>
            </a:r>
            <a:endParaRPr lang="en-US" sz="1100" dirty="0"/>
          </a:p>
        </p:txBody>
      </p:sp>
      <p:sp>
        <p:nvSpPr>
          <p:cNvPr id="18" name="Shape 16"/>
          <p:cNvSpPr/>
          <p:nvPr/>
        </p:nvSpPr>
        <p:spPr>
          <a:xfrm>
            <a:off x="365760" y="4206240"/>
            <a:ext cx="8412480" cy="859536"/>
          </a:xfrm>
          <a:prstGeom prst="roundRect">
            <a:avLst>
              <a:gd name="adj" fmla="val 10638"/>
            </a:avLst>
          </a:prstGeom>
          <a:solidFill>
            <a:srgbClr val="F4F4F4"/>
          </a:solidFill>
          <a:ln w="12700">
            <a:solidFill>
              <a:srgbClr val="FF453A"/>
            </a:solidFill>
            <a:prstDash val="solid"/>
          </a:ln>
        </p:spPr>
      </p:sp>
      <p:sp>
        <p:nvSpPr>
          <p:cNvPr id="19" name="Shape 17"/>
          <p:cNvSpPr/>
          <p:nvPr/>
        </p:nvSpPr>
        <p:spPr>
          <a:xfrm>
            <a:off x="365760" y="4206240"/>
            <a:ext cx="73152" cy="859536"/>
          </a:xfrm>
          <a:prstGeom prst="rect">
            <a:avLst/>
          </a:prstGeom>
          <a:solidFill>
            <a:srgbClr val="FF453A"/>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Entregables de la Revisión</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Lista de comentarios de constructabilidad con número de concepto CII aplicable, descripción del problema, solución propuesta, responsable y fecha de respuesta requerida.</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80</a:t>
            </a:r>
            <a:endParaRPr lang="en-US" sz="900" dirty="0"/>
          </a:p>
        </p:txBody>
      </p:sp>
      <p:pic xmlns:p="http://schemas.openxmlformats.org/presentationml/2006/main" xmlns:a="http://schemas.openxmlformats.org/drawingml/2006/main" xmlns:r="http://schemas.openxmlformats.org/officeDocument/2006/relationships">
        <p:nvPicPr>
          <p:cNvPr id="8080" name="SlideIcon8080" descr="icon"/>
          <p:cNvPicPr>
            <a:picLocks noChangeAspect="1"/>
          </p:cNvPicPr>
          <p:nvPr/>
        </p:nvPicPr>
        <p:blipFill>
          <a:blip r:embed="rId9001"/>
          <a:stretch>
            <a:fillRect/>
          </a:stretch>
        </p:blipFill>
        <p:spPr>
          <a:xfrm>
            <a:off x="73152" y="118872"/>
            <a:ext cx="347472" cy="347472"/>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Gestión de Riesgos del Proyecto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F4F4F4"/>
          </a:solidFill>
          <a:ln w="12700">
            <a:solidFill>
              <a:srgbClr val="FF453A"/>
            </a:solidFill>
            <a:prstDash val="solid"/>
          </a:ln>
        </p:spPr>
      </p:sp>
      <p:sp>
        <p:nvSpPr>
          <p:cNvPr id="7" name="Shape 5"/>
          <p:cNvSpPr/>
          <p:nvPr/>
        </p:nvSpPr>
        <p:spPr>
          <a:xfrm>
            <a:off x="365760" y="1298448"/>
            <a:ext cx="73152" cy="859536"/>
          </a:xfrm>
          <a:prstGeom prst="rect">
            <a:avLst/>
          </a:prstGeom>
          <a:solidFill>
            <a:srgbClr val="FF453A"/>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Riesgos de Constructabilidad</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tempranamente los riesgos que afectan la ejecutabilidad del proyecto: suelos contaminados, interferencias con operaciones existentes, escasez de mano de obra especializada, restricciones de acceso.</a:t>
            </a:r>
            <a:endParaRPr lang="en-US" sz="1100" dirty="0"/>
          </a:p>
        </p:txBody>
      </p:sp>
      <p:sp>
        <p:nvSpPr>
          <p:cNvPr id="10" name="Shape 8"/>
          <p:cNvSpPr/>
          <p:nvPr/>
        </p:nvSpPr>
        <p:spPr>
          <a:xfrm>
            <a:off x="365760" y="2267712"/>
            <a:ext cx="8412480" cy="859536"/>
          </a:xfrm>
          <a:prstGeom prst="roundRect">
            <a:avLst>
              <a:gd name="adj" fmla="val 10638"/>
            </a:avLst>
          </a:prstGeom>
          <a:solidFill>
            <a:srgbClr val="F4F4F4"/>
          </a:solidFill>
          <a:ln w="12700">
            <a:solidFill>
              <a:srgbClr val="FF9500"/>
            </a:solidFill>
            <a:prstDash val="solid"/>
          </a:ln>
        </p:spPr>
      </p:sp>
      <p:sp>
        <p:nvSpPr>
          <p:cNvPr id="11" name="Shape 9"/>
          <p:cNvSpPr/>
          <p:nvPr/>
        </p:nvSpPr>
        <p:spPr>
          <a:xfrm>
            <a:off x="365760" y="2267712"/>
            <a:ext cx="73152" cy="859536"/>
          </a:xfrm>
          <a:prstGeom prst="rect">
            <a:avLst/>
          </a:prstGeom>
          <a:solidFill>
            <a:srgbClr val="FF9500"/>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Mitigation a través del Diseño</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Muchos riesgos de construcción pueden mitigarse a través de decisiones de diseño tempranas. El riesgo de trabajo en campo restringido se mitiga con más pre-ensamble en taller.</a:t>
            </a:r>
            <a:endParaRPr lang="en-US" sz="1100" dirty="0"/>
          </a:p>
        </p:txBody>
      </p:sp>
      <p:sp>
        <p:nvSpPr>
          <p:cNvPr id="14" name="Shape 12"/>
          <p:cNvSpPr/>
          <p:nvPr/>
        </p:nvSpPr>
        <p:spPr>
          <a:xfrm>
            <a:off x="365760" y="3236976"/>
            <a:ext cx="8412480" cy="859536"/>
          </a:xfrm>
          <a:prstGeom prst="roundRect">
            <a:avLst>
              <a:gd name="adj" fmla="val 10638"/>
            </a:avLst>
          </a:prstGeom>
          <a:solidFill>
            <a:srgbClr val="F4F4F4"/>
          </a:solidFill>
          <a:ln w="12700">
            <a:solidFill>
              <a:srgbClr val="FFD60A"/>
            </a:solidFill>
            <a:prstDash val="solid"/>
          </a:ln>
        </p:spPr>
      </p:sp>
      <p:sp>
        <p:nvSpPr>
          <p:cNvPr id="15" name="Shape 13"/>
          <p:cNvSpPr/>
          <p:nvPr/>
        </p:nvSpPr>
        <p:spPr>
          <a:xfrm>
            <a:off x="365760" y="3236976"/>
            <a:ext cx="73152" cy="859536"/>
          </a:xfrm>
          <a:prstGeom prst="rect">
            <a:avLst/>
          </a:prstGeom>
          <a:solidFill>
            <a:srgbClr val="FFD60A"/>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Cuantificación de Riesgos</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análisis de constructabilidad debe cuantificar el costo potencial de los riesgos identificados. Esto permite tomar decisiones informadas sobre las inversiones en mitigación.</a:t>
            </a:r>
            <a:endParaRPr lang="en-US" sz="1100" dirty="0"/>
          </a:p>
        </p:txBody>
      </p:sp>
      <p:sp>
        <p:nvSpPr>
          <p:cNvPr id="18" name="Shape 16"/>
          <p:cNvSpPr/>
          <p:nvPr/>
        </p:nvSpPr>
        <p:spPr>
          <a:xfrm>
            <a:off x="365760" y="4206240"/>
            <a:ext cx="8412480" cy="859536"/>
          </a:xfrm>
          <a:prstGeom prst="roundRect">
            <a:avLst>
              <a:gd name="adj" fmla="val 10638"/>
            </a:avLst>
          </a:prstGeom>
          <a:solidFill>
            <a:srgbClr val="F4F4F4"/>
          </a:solidFill>
          <a:ln w="12700">
            <a:solidFill>
              <a:srgbClr val="30D158"/>
            </a:solidFill>
            <a:prstDash val="solid"/>
          </a:ln>
        </p:spPr>
      </p:sp>
      <p:sp>
        <p:nvSpPr>
          <p:cNvPr id="19" name="Shape 17"/>
          <p:cNvSpPr/>
          <p:nvPr/>
        </p:nvSpPr>
        <p:spPr>
          <a:xfrm>
            <a:off x="365760" y="4206240"/>
            <a:ext cx="73152" cy="859536"/>
          </a:xfrm>
          <a:prstGeom prst="rect">
            <a:avLst/>
          </a:prstGeom>
          <a:solidFill>
            <a:srgbClr val="30D158"/>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Contingencias Inteligentes</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contingencias del presupuesto deben ser proporcionales a los riesgos de constructabilidad identificados. Un análisis cuantitativo de riesgos respaldado por constructabilidad.</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81</a:t>
            </a:r>
            <a:endParaRPr lang="en-US" sz="900" dirty="0"/>
          </a:p>
        </p:txBody>
      </p:sp>
      <p:pic xmlns:p="http://schemas.openxmlformats.org/presentationml/2006/main" xmlns:a="http://schemas.openxmlformats.org/drawingml/2006/main" xmlns:r="http://schemas.openxmlformats.org/officeDocument/2006/relationships">
        <p:nvPicPr>
          <p:cNvPr id="8081" name="SlideIcon8081"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Taller de Planificación de Constructabilidad — Agenda y Metodología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F4F4F4"/>
          </a:solidFill>
          <a:ln w="12700">
            <a:solidFill>
              <a:srgbClr val="30D158"/>
            </a:solidFill>
            <a:prstDash val="solid"/>
          </a:ln>
        </p:spPr>
      </p:sp>
      <p:sp>
        <p:nvSpPr>
          <p:cNvPr id="7" name="Shape 5"/>
          <p:cNvSpPr/>
          <p:nvPr/>
        </p:nvSpPr>
        <p:spPr>
          <a:xfrm>
            <a:off x="365760" y="1298448"/>
            <a:ext cx="73152" cy="859536"/>
          </a:xfrm>
          <a:prstGeom prst="rect">
            <a:avLst/>
          </a:prstGeom>
          <a:solidFill>
            <a:srgbClr val="30D158"/>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 del Taller</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los 17 conceptos CII y determinar cuáles son aplicables al proyecto. Asignar responsables. Establecer el plan de aplicación. Generar buy-in del equipo.</a:t>
            </a:r>
            <a:endParaRPr lang="en-US" sz="1100" dirty="0"/>
          </a:p>
        </p:txBody>
      </p:sp>
      <p:sp>
        <p:nvSpPr>
          <p:cNvPr id="10" name="Shape 8"/>
          <p:cNvSpPr/>
          <p:nvPr/>
        </p:nvSpPr>
        <p:spPr>
          <a:xfrm>
            <a:off x="365760" y="2267712"/>
            <a:ext cx="8412480" cy="859536"/>
          </a:xfrm>
          <a:prstGeom prst="roundRect">
            <a:avLst>
              <a:gd name="adj" fmla="val 10638"/>
            </a:avLst>
          </a:prstGeom>
          <a:solidFill>
            <a:srgbClr val="F4F4F4"/>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Participantes Requeridos</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Director del Proyecto, Gerente de Constructabilidad, Jefes de Disciplina de Ingeniería, Gerente de Procura, Superintendente General, Gerentes de Subcontratistas clave.</a:t>
            </a:r>
            <a:endParaRPr lang="en-US" sz="1100" dirty="0"/>
          </a:p>
        </p:txBody>
      </p:sp>
      <p:sp>
        <p:nvSpPr>
          <p:cNvPr id="14" name="Shape 12"/>
          <p:cNvSpPr/>
          <p:nvPr/>
        </p:nvSpPr>
        <p:spPr>
          <a:xfrm>
            <a:off x="365760" y="3236976"/>
            <a:ext cx="8412480" cy="859536"/>
          </a:xfrm>
          <a:prstGeom prst="roundRect">
            <a:avLst>
              <a:gd name="adj" fmla="val 10638"/>
            </a:avLst>
          </a:prstGeom>
          <a:solidFill>
            <a:srgbClr val="F4F4F4"/>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Dinámica del Taller</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concepto: ¿Qué significa para ESTE proyecto? ¿Cuándo debería aplicarse? ¿Quién lo liderará? ¿Qué entregable producirá? Documentar acuerdos en tiempo real.</a:t>
            </a:r>
            <a:endParaRPr lang="en-US" sz="1100" dirty="0"/>
          </a:p>
        </p:txBody>
      </p:sp>
      <p:sp>
        <p:nvSpPr>
          <p:cNvPr id="18" name="Shape 16"/>
          <p:cNvSpPr/>
          <p:nvPr/>
        </p:nvSpPr>
        <p:spPr>
          <a:xfrm>
            <a:off x="365760" y="4206240"/>
            <a:ext cx="8412480" cy="859536"/>
          </a:xfrm>
          <a:prstGeom prst="roundRect">
            <a:avLst>
              <a:gd name="adj" fmla="val 10638"/>
            </a:avLst>
          </a:prstGeom>
          <a:solidFill>
            <a:srgbClr val="F4F4F4"/>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Seguimiento Post-Taller</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Aplicación de Conceptos formalizado, Log de Ideas iniciado, primera reunión de seguimiento agendada para 30 días. Resultados integrados al PEP.</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82</a:t>
            </a:r>
            <a:endParaRPr lang="en-US" sz="900" dirty="0"/>
          </a:p>
        </p:txBody>
      </p:sp>
      <p:pic xmlns:p="http://schemas.openxmlformats.org/presentationml/2006/main" xmlns:a="http://schemas.openxmlformats.org/drawingml/2006/main" xmlns:r="http://schemas.openxmlformats.org/officeDocument/2006/relationships">
        <p:nvPicPr>
          <p:cNvPr id="8082" name="SlideIcon8082"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Cómo Medir el Éxito del Programa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integrado para evaluar el programa a nivel corporativo y de proyecto:</a:t>
            </a:r>
            <a:endParaRPr lang="en-US" sz="1200" dirty="0"/>
          </a:p>
        </p:txBody>
      </p:sp>
      <p:sp>
        <p:nvSpPr>
          <p:cNvPr id="6" name="Shape 4"/>
          <p:cNvSpPr/>
          <p:nvPr/>
        </p:nvSpPr>
        <p:spPr>
          <a:xfrm>
            <a:off x="365760" y="1298448"/>
            <a:ext cx="8412480" cy="1188720"/>
          </a:xfrm>
          <a:prstGeom prst="roundRect">
            <a:avLst>
              <a:gd name="adj" fmla="val 7692"/>
            </a:avLst>
          </a:prstGeom>
          <a:solidFill>
            <a:srgbClr val="F4F4F4"/>
          </a:solidFill>
          <a:ln w="12700">
            <a:solidFill>
              <a:srgbClr val="EBEBEB"/>
            </a:solidFill>
            <a:prstDash val="solid"/>
          </a:ln>
        </p:spPr>
      </p:sp>
      <p:sp>
        <p:nvSpPr>
          <p:cNvPr id="7" name="Shape 5"/>
          <p:cNvSpPr/>
          <p:nvPr/>
        </p:nvSpPr>
        <p:spPr>
          <a:xfrm>
            <a:off x="365760" y="1298448"/>
            <a:ext cx="8412480" cy="347472"/>
          </a:xfrm>
          <a:prstGeom prst="roundRect">
            <a:avLst>
              <a:gd name="adj" fmla="val 26316"/>
            </a:avLst>
          </a:prstGeom>
          <a:solidFill>
            <a:srgbClr val="0A84FF"/>
          </a:solidFill>
          <a:ln/>
        </p:spPr>
      </p:sp>
      <p:sp>
        <p:nvSpPr>
          <p:cNvPr id="8" name="Shape 6"/>
          <p:cNvSpPr/>
          <p:nvPr/>
        </p:nvSpPr>
        <p:spPr>
          <a:xfrm>
            <a:off x="365760" y="1481328"/>
            <a:ext cx="8412480" cy="164592"/>
          </a:xfrm>
          <a:prstGeom prst="rect">
            <a:avLst/>
          </a:prstGeom>
          <a:solidFill>
            <a:srgbClr val="0A84FF"/>
          </a:solidFill>
          <a:ln/>
        </p:spPr>
      </p:sp>
      <p:sp>
        <p:nvSpPr>
          <p:cNvPr id="9" name="Text 7"/>
          <p:cNvSpPr txBox="1"/>
          <p:nvPr/>
        </p:nvSpPr>
        <p:spPr>
          <a:xfrm>
            <a:off x="530352" y="1335024"/>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PROCESO</a:t>
            </a:r>
            <a:endParaRPr lang="en-US" sz="1300" dirty="0"/>
          </a:p>
        </p:txBody>
      </p:sp>
      <p:sp>
        <p:nvSpPr>
          <p:cNvPr id="10" name="Text 8"/>
          <p:cNvSpPr txBox="1"/>
          <p:nvPr/>
        </p:nvSpPr>
        <p:spPr>
          <a:xfrm>
            <a:off x="530352" y="170078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de constructabilidad generadas por millón de dólares de TIC</a:t>
            </a:r>
            <a:endParaRPr lang="en-US" sz="1050" dirty="0"/>
          </a:p>
        </p:txBody>
      </p:sp>
      <p:sp>
        <p:nvSpPr>
          <p:cNvPr id="11" name="Text 9"/>
          <p:cNvSpPr txBox="1"/>
          <p:nvPr/>
        </p:nvSpPr>
        <p:spPr>
          <a:xfrm>
            <a:off x="4736592" y="170078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aprobadas que se implementaron efectivamente</a:t>
            </a:r>
            <a:endParaRPr lang="en-US" sz="1050" dirty="0"/>
          </a:p>
        </p:txBody>
      </p:sp>
      <p:sp>
        <p:nvSpPr>
          <p:cNvPr id="12" name="Text 10"/>
          <p:cNvSpPr txBox="1"/>
          <p:nvPr/>
        </p:nvSpPr>
        <p:spPr>
          <a:xfrm>
            <a:off x="530352" y="2048256"/>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Horas del programa de constructabilidad vs. horas totales del proyecto</a:t>
            </a:r>
            <a:endParaRPr lang="en-US" sz="1050" dirty="0"/>
          </a:p>
        </p:txBody>
      </p:sp>
      <p:sp>
        <p:nvSpPr>
          <p:cNvPr id="13" name="Text 11"/>
          <p:cNvSpPr txBox="1"/>
          <p:nvPr/>
        </p:nvSpPr>
        <p:spPr>
          <a:xfrm>
            <a:off x="4736592" y="2048256"/>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revisiones de constructabilidad realizadas por fase del proyecto</a:t>
            </a:r>
            <a:endParaRPr lang="en-US" sz="1050" dirty="0"/>
          </a:p>
        </p:txBody>
      </p:sp>
      <p:sp>
        <p:nvSpPr>
          <p:cNvPr id="14" name="Shape 12"/>
          <p:cNvSpPr/>
          <p:nvPr/>
        </p:nvSpPr>
        <p:spPr>
          <a:xfrm>
            <a:off x="365760" y="2596896"/>
            <a:ext cx="8412480" cy="1188720"/>
          </a:xfrm>
          <a:prstGeom prst="roundRect">
            <a:avLst>
              <a:gd name="adj" fmla="val 7692"/>
            </a:avLst>
          </a:prstGeom>
          <a:solidFill>
            <a:srgbClr val="F4F4F4"/>
          </a:solidFill>
          <a:ln w="12700">
            <a:solidFill>
              <a:srgbClr val="EBEBEB"/>
            </a:solidFill>
            <a:prstDash val="solid"/>
          </a:ln>
        </p:spPr>
      </p:sp>
      <p:sp>
        <p:nvSpPr>
          <p:cNvPr id="15" name="Shape 13"/>
          <p:cNvSpPr/>
          <p:nvPr/>
        </p:nvSpPr>
        <p:spPr>
          <a:xfrm>
            <a:off x="365760" y="2596896"/>
            <a:ext cx="8412480" cy="347472"/>
          </a:xfrm>
          <a:prstGeom prst="roundRect">
            <a:avLst>
              <a:gd name="adj" fmla="val 26316"/>
            </a:avLst>
          </a:prstGeom>
          <a:solidFill>
            <a:srgbClr val="30D158"/>
          </a:solidFill>
          <a:ln/>
        </p:spPr>
      </p:sp>
      <p:sp>
        <p:nvSpPr>
          <p:cNvPr id="16" name="Shape 14"/>
          <p:cNvSpPr/>
          <p:nvPr/>
        </p:nvSpPr>
        <p:spPr>
          <a:xfrm>
            <a:off x="365760" y="2779776"/>
            <a:ext cx="8412480" cy="164592"/>
          </a:xfrm>
          <a:prstGeom prst="rect">
            <a:avLst/>
          </a:prstGeom>
          <a:solidFill>
            <a:srgbClr val="30D158"/>
          </a:solidFill>
          <a:ln/>
        </p:spPr>
      </p:sp>
      <p:sp>
        <p:nvSpPr>
          <p:cNvPr id="17" name="Text 15"/>
          <p:cNvSpPr txBox="1"/>
          <p:nvPr/>
        </p:nvSpPr>
        <p:spPr>
          <a:xfrm>
            <a:off x="530352" y="2633472"/>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RESULTADO</a:t>
            </a:r>
            <a:endParaRPr lang="en-US" sz="1300" dirty="0"/>
          </a:p>
        </p:txBody>
      </p:sp>
      <p:sp>
        <p:nvSpPr>
          <p:cNvPr id="18" name="Text 16"/>
          <p:cNvSpPr txBox="1"/>
          <p:nvPr/>
        </p:nvSpPr>
        <p:spPr>
          <a:xfrm>
            <a:off x="530352" y="299923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costo TIC atribuible a constructabilidad (%)</a:t>
            </a:r>
            <a:endParaRPr lang="en-US" sz="1050" dirty="0"/>
          </a:p>
        </p:txBody>
      </p:sp>
      <p:sp>
        <p:nvSpPr>
          <p:cNvPr id="19" name="Text 17"/>
          <p:cNvSpPr txBox="1"/>
          <p:nvPr/>
        </p:nvSpPr>
        <p:spPr>
          <a:xfrm>
            <a:off x="4736592" y="299923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cronograma atribuible a constructabilidad (%)</a:t>
            </a:r>
            <a:endParaRPr lang="en-US" sz="1050" dirty="0"/>
          </a:p>
        </p:txBody>
      </p:sp>
      <p:sp>
        <p:nvSpPr>
          <p:cNvPr id="20" name="Text 18"/>
          <p:cNvSpPr txBox="1"/>
          <p:nvPr/>
        </p:nvSpPr>
        <p:spPr>
          <a:xfrm>
            <a:off x="530352" y="334670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Ratio Beneficio/Costo acumulado del programa</a:t>
            </a:r>
            <a:endParaRPr lang="en-US" sz="1050" dirty="0"/>
          </a:p>
        </p:txBody>
      </p:sp>
      <p:sp>
        <p:nvSpPr>
          <p:cNvPr id="21" name="Text 19"/>
          <p:cNvSpPr txBox="1"/>
          <p:nvPr/>
        </p:nvSpPr>
        <p:spPr>
          <a:xfrm>
            <a:off x="4736592" y="334670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retrabajo vs. proyectos sin programa formal</a:t>
            </a:r>
            <a:endParaRPr lang="en-US" sz="1050" dirty="0"/>
          </a:p>
        </p:txBody>
      </p:sp>
      <p:sp>
        <p:nvSpPr>
          <p:cNvPr id="22" name="Shape 20"/>
          <p:cNvSpPr/>
          <p:nvPr/>
        </p:nvSpPr>
        <p:spPr>
          <a:xfrm>
            <a:off x="365760" y="3895344"/>
            <a:ext cx="8412480" cy="1188720"/>
          </a:xfrm>
          <a:prstGeom prst="roundRect">
            <a:avLst>
              <a:gd name="adj" fmla="val 7692"/>
            </a:avLst>
          </a:prstGeom>
          <a:solidFill>
            <a:srgbClr val="F4F4F4"/>
          </a:solidFill>
          <a:ln w="12700">
            <a:solidFill>
              <a:srgbClr val="EBEBEB"/>
            </a:solidFill>
            <a:prstDash val="solid"/>
          </a:ln>
        </p:spPr>
      </p:sp>
      <p:sp>
        <p:nvSpPr>
          <p:cNvPr id="23" name="Shape 21"/>
          <p:cNvSpPr/>
          <p:nvPr/>
        </p:nvSpPr>
        <p:spPr>
          <a:xfrm>
            <a:off x="365760" y="3895344"/>
            <a:ext cx="8412480" cy="347472"/>
          </a:xfrm>
          <a:prstGeom prst="roundRect">
            <a:avLst>
              <a:gd name="adj" fmla="val 26316"/>
            </a:avLst>
          </a:prstGeom>
          <a:solidFill>
            <a:srgbClr val="FF9500"/>
          </a:solidFill>
          <a:ln/>
        </p:spPr>
      </p:sp>
      <p:sp>
        <p:nvSpPr>
          <p:cNvPr id="24" name="Shape 22"/>
          <p:cNvSpPr/>
          <p:nvPr/>
        </p:nvSpPr>
        <p:spPr>
          <a:xfrm>
            <a:off x="365760" y="4078224"/>
            <a:ext cx="8412480" cy="164592"/>
          </a:xfrm>
          <a:prstGeom prst="rect">
            <a:avLst/>
          </a:prstGeom>
          <a:solidFill>
            <a:srgbClr val="FF9500"/>
          </a:solidFill>
          <a:ln/>
        </p:spPr>
      </p:sp>
      <p:sp>
        <p:nvSpPr>
          <p:cNvPr id="25" name="Text 23"/>
          <p:cNvSpPr txBox="1"/>
          <p:nvPr/>
        </p:nvSpPr>
        <p:spPr>
          <a:xfrm>
            <a:off x="530352" y="3931920"/>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APRENDIZAJE</a:t>
            </a:r>
            <a:endParaRPr lang="en-US" sz="1300" dirty="0"/>
          </a:p>
        </p:txBody>
      </p:sp>
      <p:sp>
        <p:nvSpPr>
          <p:cNvPr id="26" name="Text 24"/>
          <p:cNvSpPr txBox="1"/>
          <p:nvPr/>
        </p:nvSpPr>
        <p:spPr>
          <a:xfrm>
            <a:off x="530352" y="4297680"/>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aprendidas capturadas en la LLDB</a:t>
            </a:r>
            <a:endParaRPr lang="en-US" sz="1050" dirty="0"/>
          </a:p>
        </p:txBody>
      </p:sp>
      <p:sp>
        <p:nvSpPr>
          <p:cNvPr id="27" name="Text 25"/>
          <p:cNvSpPr txBox="1"/>
          <p:nvPr/>
        </p:nvSpPr>
        <p:spPr>
          <a:xfrm>
            <a:off x="4736592" y="4297680"/>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de proyectos anteriores aplicadas en este proyecto</a:t>
            </a:r>
            <a:endParaRPr lang="en-US" sz="1050" dirty="0"/>
          </a:p>
        </p:txBody>
      </p:sp>
      <p:sp>
        <p:nvSpPr>
          <p:cNvPr id="28" name="Text 26"/>
          <p:cNvSpPr txBox="1"/>
          <p:nvPr/>
        </p:nvSpPr>
        <p:spPr>
          <a:xfrm>
            <a:off x="530352" y="464515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Índice de madurez del programa (1-5) al inicio, mitad y cierre</a:t>
            </a:r>
            <a:endParaRPr lang="en-US" sz="1050" dirty="0"/>
          </a:p>
        </p:txBody>
      </p:sp>
      <p:sp>
        <p:nvSpPr>
          <p:cNvPr id="29" name="Text 27"/>
          <p:cNvSpPr txBox="1"/>
          <p:nvPr/>
        </p:nvSpPr>
        <p:spPr>
          <a:xfrm>
            <a:off x="4736592" y="464515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Evaluación de competencias del equipo de constructabilidad</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83</a:t>
            </a:r>
            <a:endParaRPr lang="en-US" sz="900" dirty="0"/>
          </a:p>
        </p:txBody>
      </p:sp>
      <p:pic xmlns:p="http://schemas.openxmlformats.org/presentationml/2006/main" xmlns:a="http://schemas.openxmlformats.org/drawingml/2006/main" xmlns:r="http://schemas.openxmlformats.org/officeDocument/2006/relationships">
        <p:nvPicPr>
          <p:cNvPr id="8083" name="SlideIcon8083"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Diagnóstico de Constructabilidad en la Empresa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Herramienta de diagnóstico para evaluar el estado actual de la constructabilidad en su organización (basada en investigación CII):</a:t>
            </a:r>
            <a:endParaRPr lang="en-US" sz="1300" dirty="0"/>
          </a:p>
        </p:txBody>
      </p:sp>
      <p:sp>
        <p:nvSpPr>
          <p:cNvPr id="6" name="Shape 4"/>
          <p:cNvSpPr/>
          <p:nvPr/>
        </p:nvSpPr>
        <p:spPr>
          <a:xfrm>
            <a:off x="365760" y="1325880"/>
            <a:ext cx="4206240" cy="1783080"/>
          </a:xfrm>
          <a:prstGeom prst="roundRect">
            <a:avLst>
              <a:gd name="adj" fmla="val 6154"/>
            </a:avLst>
          </a:prstGeom>
          <a:solidFill>
            <a:srgbClr val="F4F4F4"/>
          </a:solidFill>
          <a:ln w="12700">
            <a:solidFill>
              <a:srgbClr val="AF52DE"/>
            </a:solidFill>
            <a:prstDash val="solid"/>
          </a:ln>
        </p:spPr>
      </p:sp>
      <p:sp>
        <p:nvSpPr>
          <p:cNvPr id="7" name="Text 5"/>
          <p:cNvSpPr txBox="1"/>
          <p:nvPr/>
        </p:nvSpPr>
        <p:spPr>
          <a:xfrm>
            <a:off x="502920" y="1417320"/>
            <a:ext cx="393192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Compromiso y Liderazgo</a:t>
            </a:r>
            <a:endParaRPr lang="en-US" sz="1200" dirty="0"/>
          </a:p>
        </p:txBody>
      </p:sp>
      <p:sp>
        <p:nvSpPr>
          <p:cNvPr id="8" name="Text 6"/>
          <p:cNvSpPr txBox="1"/>
          <p:nvPr/>
        </p:nvSpPr>
        <p:spPr>
          <a:xfrm>
            <a:off x="502920" y="182880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alta dirección menciona explícitamente la constructabilidad en su comunicación de objetivos?</a:t>
            </a:r>
            <a:endParaRPr lang="en-US" sz="1000" dirty="0"/>
          </a:p>
        </p:txBody>
      </p:sp>
      <p:sp>
        <p:nvSpPr>
          <p:cNvPr id="9" name="Text 7"/>
          <p:cNvSpPr txBox="1"/>
          <p:nvPr/>
        </p:nvSpPr>
        <p:spPr>
          <a:xfrm>
            <a:off x="502920" y="221284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 Gerente de Constructabilidad designado con recursos asignados?</a:t>
            </a:r>
            <a:endParaRPr lang="en-US" sz="1000" dirty="0"/>
          </a:p>
        </p:txBody>
      </p:sp>
      <p:sp>
        <p:nvSpPr>
          <p:cNvPr id="10" name="Text 8"/>
          <p:cNvSpPr txBox="1"/>
          <p:nvPr/>
        </p:nvSpPr>
        <p:spPr>
          <a:xfrm>
            <a:off x="502920" y="259689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PEP de todos los proyectos incluye un plan de constructabilidad?</a:t>
            </a:r>
            <a:endParaRPr lang="en-US" sz="1000" dirty="0"/>
          </a:p>
        </p:txBody>
      </p:sp>
      <p:sp>
        <p:nvSpPr>
          <p:cNvPr id="11" name="Shape 9"/>
          <p:cNvSpPr/>
          <p:nvPr/>
        </p:nvSpPr>
        <p:spPr>
          <a:xfrm>
            <a:off x="4754880" y="1325880"/>
            <a:ext cx="4206240" cy="1783080"/>
          </a:xfrm>
          <a:prstGeom prst="roundRect">
            <a:avLst>
              <a:gd name="adj" fmla="val 6154"/>
            </a:avLst>
          </a:prstGeom>
          <a:solidFill>
            <a:srgbClr val="F4F4F4"/>
          </a:solidFill>
          <a:ln w="12700">
            <a:solidFill>
              <a:srgbClr val="0A84FF"/>
            </a:solidFill>
            <a:prstDash val="solid"/>
          </a:ln>
        </p:spPr>
      </p:sp>
      <p:sp>
        <p:nvSpPr>
          <p:cNvPr id="12" name="Text 10"/>
          <p:cNvSpPr txBox="1"/>
          <p:nvPr/>
        </p:nvSpPr>
        <p:spPr>
          <a:xfrm>
            <a:off x="4892040" y="1417320"/>
            <a:ext cx="393192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Capacidades del Equipo</a:t>
            </a:r>
            <a:endParaRPr lang="en-US" sz="1200" dirty="0"/>
          </a:p>
        </p:txBody>
      </p:sp>
      <p:sp>
        <p:nvSpPr>
          <p:cNvPr id="13" name="Text 11"/>
          <p:cNvSpPr txBox="1"/>
          <p:nvPr/>
        </p:nvSpPr>
        <p:spPr>
          <a:xfrm>
            <a:off x="4892040" y="182880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equipo de diseño tiene experiencia de campo real o acceso a personal con ella?</a:t>
            </a:r>
            <a:endParaRPr lang="en-US" sz="1000" dirty="0"/>
          </a:p>
        </p:txBody>
      </p:sp>
      <p:sp>
        <p:nvSpPr>
          <p:cNvPr id="14" name="Text 12"/>
          <p:cNvSpPr txBox="1"/>
          <p:nvPr/>
        </p:nvSpPr>
        <p:spPr>
          <a:xfrm>
            <a:off x="4892040" y="221284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¿Existen "campeones de constructabilidad" por especialidad técnica?</a:t>
            </a:r>
            <a:endParaRPr lang="en-US" sz="1000" dirty="0"/>
          </a:p>
        </p:txBody>
      </p:sp>
      <p:sp>
        <p:nvSpPr>
          <p:cNvPr id="15" name="Text 13"/>
          <p:cNvSpPr txBox="1"/>
          <p:nvPr/>
        </p:nvSpPr>
        <p:spPr>
          <a:xfrm>
            <a:off x="4892040" y="259689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¿Los ingenieros reciben capacitación formal en los conceptos CII?</a:t>
            </a:r>
            <a:endParaRPr lang="en-US" sz="1000" dirty="0"/>
          </a:p>
        </p:txBody>
      </p:sp>
      <p:sp>
        <p:nvSpPr>
          <p:cNvPr id="16" name="Shape 14"/>
          <p:cNvSpPr/>
          <p:nvPr/>
        </p:nvSpPr>
        <p:spPr>
          <a:xfrm>
            <a:off x="365760" y="3246120"/>
            <a:ext cx="4206240" cy="1783080"/>
          </a:xfrm>
          <a:prstGeom prst="roundRect">
            <a:avLst>
              <a:gd name="adj" fmla="val 6154"/>
            </a:avLst>
          </a:prstGeom>
          <a:solidFill>
            <a:srgbClr val="F4F4F4"/>
          </a:solidFill>
          <a:ln w="12700">
            <a:solidFill>
              <a:srgbClr val="30D158"/>
            </a:solidFill>
            <a:prstDash val="solid"/>
          </a:ln>
        </p:spPr>
      </p:sp>
      <p:sp>
        <p:nvSpPr>
          <p:cNvPr id="17" name="Text 15"/>
          <p:cNvSpPr txBox="1"/>
          <p:nvPr/>
        </p:nvSpPr>
        <p:spPr>
          <a:xfrm>
            <a:off x="502920" y="3337560"/>
            <a:ext cx="393192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Herramientas y Procesos</a:t>
            </a:r>
            <a:endParaRPr lang="en-US" sz="1200" dirty="0"/>
          </a:p>
        </p:txBody>
      </p:sp>
      <p:sp>
        <p:nvSpPr>
          <p:cNvPr id="18" name="Text 16"/>
          <p:cNvSpPr txBox="1"/>
          <p:nvPr/>
        </p:nvSpPr>
        <p:spPr>
          <a:xfrm>
            <a:off x="502920" y="374904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una Base de Datos de Lecciones Aprendidas activa y usada?</a:t>
            </a:r>
            <a:endParaRPr lang="en-US" sz="1000" dirty="0"/>
          </a:p>
        </p:txBody>
      </p:sp>
      <p:sp>
        <p:nvSpPr>
          <p:cNvPr id="19" name="Text 17"/>
          <p:cNvSpPr txBox="1"/>
          <p:nvPr/>
        </p:nvSpPr>
        <p:spPr>
          <a:xfrm>
            <a:off x="502920" y="413308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realizan talleres de constructabilidad formales por proyecto?</a:t>
            </a:r>
            <a:endParaRPr lang="en-US" sz="1000" dirty="0"/>
          </a:p>
        </p:txBody>
      </p:sp>
      <p:sp>
        <p:nvSpPr>
          <p:cNvPr id="20" name="Text 18"/>
          <p:cNvSpPr txBox="1"/>
          <p:nvPr/>
        </p:nvSpPr>
        <p:spPr>
          <a:xfrm>
            <a:off x="502920" y="451713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usan las herramientas CII (log de ideas, reporte trimestral, matrices de conceptos)?</a:t>
            </a:r>
            <a:endParaRPr lang="en-US" sz="1000" dirty="0"/>
          </a:p>
        </p:txBody>
      </p:sp>
      <p:sp>
        <p:nvSpPr>
          <p:cNvPr id="21" name="Shape 19"/>
          <p:cNvSpPr/>
          <p:nvPr/>
        </p:nvSpPr>
        <p:spPr>
          <a:xfrm>
            <a:off x="4754880" y="3246120"/>
            <a:ext cx="4206240" cy="1783080"/>
          </a:xfrm>
          <a:prstGeom prst="roundRect">
            <a:avLst>
              <a:gd name="adj" fmla="val 6154"/>
            </a:avLst>
          </a:prstGeom>
          <a:solidFill>
            <a:srgbClr val="F4F4F4"/>
          </a:solidFill>
          <a:ln w="12700">
            <a:solidFill>
              <a:srgbClr val="FF9500"/>
            </a:solidFill>
            <a:prstDash val="solid"/>
          </a:ln>
        </p:spPr>
      </p:sp>
      <p:sp>
        <p:nvSpPr>
          <p:cNvPr id="22" name="Text 20"/>
          <p:cNvSpPr txBox="1"/>
          <p:nvPr/>
        </p:nvSpPr>
        <p:spPr>
          <a:xfrm>
            <a:off x="4892040" y="3337560"/>
            <a:ext cx="393192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Métricas y Resultados</a:t>
            </a:r>
            <a:endParaRPr lang="en-US" sz="1200" dirty="0"/>
          </a:p>
        </p:txBody>
      </p:sp>
      <p:sp>
        <p:nvSpPr>
          <p:cNvPr id="23" name="Text 21"/>
          <p:cNvSpPr txBox="1"/>
          <p:nvPr/>
        </p:nvSpPr>
        <p:spPr>
          <a:xfrm>
            <a:off x="4892040" y="374904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mide y reporta el ahorro generado por el programa?</a:t>
            </a:r>
            <a:endParaRPr lang="en-US" sz="1000" dirty="0"/>
          </a:p>
        </p:txBody>
      </p:sp>
      <p:sp>
        <p:nvSpPr>
          <p:cNvPr id="24" name="Text 22"/>
          <p:cNvSpPr txBox="1"/>
          <p:nvPr/>
        </p:nvSpPr>
        <p:spPr>
          <a:xfrm>
            <a:off x="4892040" y="413308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calcula el ratio B/C del programa por proyecto?</a:t>
            </a:r>
            <a:endParaRPr lang="en-US" sz="1000" dirty="0"/>
          </a:p>
        </p:txBody>
      </p:sp>
      <p:sp>
        <p:nvSpPr>
          <p:cNvPr id="25" name="Text 23"/>
          <p:cNvSpPr txBox="1"/>
          <p:nvPr/>
        </p:nvSpPr>
        <p:spPr>
          <a:xfrm>
            <a:off x="4892040" y="451713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¿Hay evidencia de mejora continua entre proyectos?</a:t>
            </a:r>
            <a:endParaRPr lang="en-US" sz="10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84</a:t>
            </a:r>
            <a:endParaRPr lang="en-US" sz="900" dirty="0"/>
          </a:p>
        </p:txBody>
      </p:sp>
      <p:pic xmlns:p="http://schemas.openxmlformats.org/presentationml/2006/main" xmlns:a="http://schemas.openxmlformats.org/drawingml/2006/main" xmlns:r="http://schemas.openxmlformats.org/officeDocument/2006/relationships">
        <p:nvPicPr>
          <p:cNvPr id="8084" name="SlideIcon8084"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el Propietario — El Rol Central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El CII identifica al PROPIETARIO como el actor clave para implementar constructabilidad. Sin el liderazgo del propietario, el programa no puede tener el alcance ni el impacto necesarios.</a:t>
            </a:r>
            <a:endParaRPr lang="en-US" sz="1250" dirty="0"/>
          </a:p>
        </p:txBody>
      </p:sp>
      <p:sp>
        <p:nvSpPr>
          <p:cNvPr id="6" name="Shape 4"/>
          <p:cNvSpPr/>
          <p:nvPr/>
        </p:nvSpPr>
        <p:spPr>
          <a:xfrm>
            <a:off x="365760" y="1444752"/>
            <a:ext cx="4206240" cy="1600200"/>
          </a:xfrm>
          <a:prstGeom prst="roundRect">
            <a:avLst>
              <a:gd name="adj" fmla="val 6857"/>
            </a:avLst>
          </a:prstGeom>
          <a:solidFill>
            <a:srgbClr val="F4F4F4"/>
          </a:solidFill>
          <a:ln w="12700">
            <a:solidFill>
              <a:srgbClr val="0A84FF"/>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¿Por qué el Propietario?</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propietario tiene autoridad sobre TODO el proyecto — diseño, procura y construcción. Puede requerir constructabilidad en contratos. Los contratistas no pueden hacer esto por sí solos.</a:t>
            </a:r>
            <a:endParaRPr lang="en-US" sz="1100" dirty="0"/>
          </a:p>
        </p:txBody>
      </p:sp>
      <p:sp>
        <p:nvSpPr>
          <p:cNvPr id="9" name="Shape 7"/>
          <p:cNvSpPr/>
          <p:nvPr/>
        </p:nvSpPr>
        <p:spPr>
          <a:xfrm>
            <a:off x="4754880" y="1444752"/>
            <a:ext cx="4206240" cy="1600200"/>
          </a:xfrm>
          <a:prstGeom prst="roundRect">
            <a:avLst>
              <a:gd name="adj" fmla="val 6857"/>
            </a:avLst>
          </a:prstGeom>
          <a:solidFill>
            <a:srgbClr val="F4F4F4"/>
          </a:solidFill>
          <a:ln w="12700">
            <a:solidFill>
              <a:srgbClr val="30D158"/>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Rol del Propietario en Diseño</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Requerir que el diseñador integre input constructivo. Facilitar el acceso de constructores al equipo de diseño. Financiar el programa de constructabilidad.</a:t>
            </a:r>
            <a:endParaRPr lang="en-US" sz="1100" dirty="0"/>
          </a:p>
        </p:txBody>
      </p:sp>
      <p:sp>
        <p:nvSpPr>
          <p:cNvPr id="12" name="Shape 10"/>
          <p:cNvSpPr/>
          <p:nvPr/>
        </p:nvSpPr>
        <p:spPr>
          <a:xfrm>
            <a:off x="365760" y="3163824"/>
            <a:ext cx="4206240" cy="1600200"/>
          </a:xfrm>
          <a:prstGeom prst="roundRect">
            <a:avLst>
              <a:gd name="adj" fmla="val 6857"/>
            </a:avLst>
          </a:prstGeom>
          <a:solidFill>
            <a:srgbClr val="F4F4F4"/>
          </a:solidFill>
          <a:ln w="12700">
            <a:solidFill>
              <a:srgbClr val="FF9500"/>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Rol del Propietario en Contratos</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Incluir cláusulas contractuales de constructabilidad. Requerir Gerente de Constructabilidad en los contratos. Implementar sistemas de gain-sharing para incentivos.</a:t>
            </a:r>
            <a:endParaRPr lang="en-US" sz="1100" dirty="0"/>
          </a:p>
        </p:txBody>
      </p:sp>
      <p:sp>
        <p:nvSpPr>
          <p:cNvPr id="15" name="Shape 13"/>
          <p:cNvSpPr/>
          <p:nvPr/>
        </p:nvSpPr>
        <p:spPr>
          <a:xfrm>
            <a:off x="4754880" y="3163824"/>
            <a:ext cx="4206240" cy="1600200"/>
          </a:xfrm>
          <a:prstGeom prst="roundRect">
            <a:avLst>
              <a:gd name="adj" fmla="val 6857"/>
            </a:avLst>
          </a:prstGeom>
          <a:solidFill>
            <a:srgbClr val="F4F4F4"/>
          </a:solidFill>
          <a:ln w="12700">
            <a:solidFill>
              <a:srgbClr val="AF52DE"/>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Rol del Propietario en Campo</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Monitorear la implementación del plan de constructabilidad. Revisar el log de ideas mensualmente. Validar los ahorros reportados. Propagar las lecciones aprendidas.</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85</a:t>
            </a:r>
            <a:endParaRPr lang="en-US" sz="900" dirty="0"/>
          </a:p>
        </p:txBody>
      </p:sp>
      <p:pic xmlns:p="http://schemas.openxmlformats.org/presentationml/2006/main" xmlns:a="http://schemas.openxmlformats.org/drawingml/2006/main" xmlns:r="http://schemas.openxmlformats.org/officeDocument/2006/relationships">
        <p:nvPicPr>
          <p:cNvPr id="8085" name="SlideIcon8085"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"Revisión de Diseño" — La Trampa Común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confusión más común en la industria: creer que la constructabilidad es sinónimo de la revisión de documentos de diseño por parte del constructor. Este es solo un componente menor.</a:t>
            </a:r>
            <a:endParaRPr lang="en-US" sz="1250" dirty="0"/>
          </a:p>
        </p:txBody>
      </p:sp>
      <p:sp>
        <p:nvSpPr>
          <p:cNvPr id="6" name="Shape 4"/>
          <p:cNvSpPr/>
          <p:nvPr/>
        </p:nvSpPr>
        <p:spPr>
          <a:xfrm>
            <a:off x="365760" y="1444752"/>
            <a:ext cx="4206240" cy="1600200"/>
          </a:xfrm>
          <a:prstGeom prst="roundRect">
            <a:avLst>
              <a:gd name="adj" fmla="val 6857"/>
            </a:avLst>
          </a:prstGeom>
          <a:solidFill>
            <a:srgbClr val="F4F4F4"/>
          </a:solidFill>
          <a:ln w="12700">
            <a:solidFill>
              <a:srgbClr val="FF453A"/>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La "Revisión" como Componente Parcial</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revisión de documentos es importante, pero llega tarde en la curva de influencia de costos. Para ese momento, muchas decisiones fundamentales ya están tomadas.</a:t>
            </a:r>
            <a:endParaRPr lang="en-US" sz="1100" dirty="0"/>
          </a:p>
        </p:txBody>
      </p:sp>
      <p:sp>
        <p:nvSpPr>
          <p:cNvPr id="9" name="Shape 7"/>
          <p:cNvSpPr/>
          <p:nvPr/>
        </p:nvSpPr>
        <p:spPr>
          <a:xfrm>
            <a:off x="4754880" y="1444752"/>
            <a:ext cx="4206240" cy="1600200"/>
          </a:xfrm>
          <a:prstGeom prst="roundRect">
            <a:avLst>
              <a:gd name="adj" fmla="val 6857"/>
            </a:avLst>
          </a:prstGeom>
          <a:solidFill>
            <a:srgbClr val="F4F4F4"/>
          </a:solidFill>
          <a:ln w="12700">
            <a:solidFill>
              <a:srgbClr val="FF9500"/>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Lo Que NO es Constructabilidad</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es solo determinar métodos de construcción más eficientes después de la movilización. No es solo asignar personal de construcción a la oficina de diseño.</a:t>
            </a:r>
            <a:endParaRPr lang="en-US" sz="1100" dirty="0"/>
          </a:p>
        </p:txBody>
      </p:sp>
      <p:sp>
        <p:nvSpPr>
          <p:cNvPr id="12" name="Shape 10"/>
          <p:cNvSpPr/>
          <p:nvPr/>
        </p:nvSpPr>
        <p:spPr>
          <a:xfrm>
            <a:off x="365760" y="3163824"/>
            <a:ext cx="4206240" cy="1600200"/>
          </a:xfrm>
          <a:prstGeom prst="roundRect">
            <a:avLst>
              <a:gd name="adj" fmla="val 6857"/>
            </a:avLst>
          </a:prstGeom>
          <a:solidFill>
            <a:srgbClr val="F4F4F4"/>
          </a:solidFill>
          <a:ln w="12700">
            <a:solidFill>
              <a:srgbClr val="30D158"/>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Lo Que SÍ es Constructabilidad</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integración efectiva y oportuna de input constructivo en PLANIFICACIÓN y DISEÑO DESDE EL INICIO. Pensamiento proactivo sobre cómo se construirá antes de diseñarlo.</a:t>
            </a:r>
            <a:endParaRPr lang="en-US" sz="1100" dirty="0"/>
          </a:p>
        </p:txBody>
      </p:sp>
      <p:sp>
        <p:nvSpPr>
          <p:cNvPr id="15" name="Shape 13"/>
          <p:cNvSpPr/>
          <p:nvPr/>
        </p:nvSpPr>
        <p:spPr>
          <a:xfrm>
            <a:off x="4754880" y="3163824"/>
            <a:ext cx="4206240" cy="1600200"/>
          </a:xfrm>
          <a:prstGeom prst="roundRect">
            <a:avLst>
              <a:gd name="adj" fmla="val 6857"/>
            </a:avLst>
          </a:prstGeom>
          <a:solidFill>
            <a:srgbClr val="F4F4F4"/>
          </a:solidFill>
          <a:ln w="12700">
            <a:solidFill>
              <a:srgbClr val="0A84FF"/>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La Diferencia Crítica</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Proactivo vs. Reactivo. La constructabilidad real anticipa. La revisión tardía reacciona. El costo del cambio es 100x más barato en planificación que en campo.</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86</a:t>
            </a:r>
            <a:endParaRPr lang="en-US" sz="900" dirty="0"/>
          </a:p>
        </p:txBody>
      </p:sp>
      <p:pic xmlns:p="http://schemas.openxmlformats.org/presentationml/2006/main" xmlns:a="http://schemas.openxmlformats.org/drawingml/2006/main" xmlns:r="http://schemas.openxmlformats.org/officeDocument/2006/relationships">
        <p:nvPicPr>
          <p:cNvPr id="8086" name="SlideIcon8086"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10 Mandamientos de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4206240" cy="749808"/>
          </a:xfrm>
          <a:prstGeom prst="roundRect">
            <a:avLst>
              <a:gd name="adj" fmla="val 12195"/>
            </a:avLst>
          </a:prstGeom>
          <a:solidFill>
            <a:srgbClr val="F4F4F4"/>
          </a:solidFill>
          <a:ln w="12700">
            <a:solidFill>
              <a:srgbClr val="EBEBEB"/>
            </a:solidFill>
            <a:prstDash val="solid"/>
          </a:ln>
        </p:spPr>
      </p:sp>
      <p:sp>
        <p:nvSpPr>
          <p:cNvPr id="6" name="Shape 4"/>
          <p:cNvSpPr/>
          <p:nvPr/>
        </p:nvSpPr>
        <p:spPr>
          <a:xfrm>
            <a:off x="457200" y="1042416"/>
            <a:ext cx="402336" cy="402336"/>
          </a:xfrm>
          <a:prstGeom prst="ellipse">
            <a:avLst/>
          </a:prstGeom>
          <a:solidFill>
            <a:srgbClr val="FFD60A"/>
          </a:solidFill>
          <a:ln/>
        </p:spPr>
      </p:sp>
      <p:sp>
        <p:nvSpPr>
          <p:cNvPr id="7" name="Text 5"/>
          <p:cNvSpPr txBox="1"/>
          <p:nvPr/>
        </p:nvSpPr>
        <p:spPr>
          <a:xfrm>
            <a:off x="457200" y="1042416"/>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a:t>
            </a:r>
            <a:endParaRPr lang="en-US" sz="1300" dirty="0"/>
          </a:p>
        </p:txBody>
      </p:sp>
      <p:sp>
        <p:nvSpPr>
          <p:cNvPr id="8" name="Text 6"/>
          <p:cNvSpPr txBox="1"/>
          <p:nvPr/>
        </p:nvSpPr>
        <p:spPr>
          <a:xfrm>
            <a:off x="978408" y="1042416"/>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constructabilidad empieza en la FACTIBILIDAD, no en el diseño de detalle.</a:t>
            </a:r>
            <a:endParaRPr lang="en-US" sz="1150" dirty="0"/>
          </a:p>
        </p:txBody>
      </p:sp>
      <p:sp>
        <p:nvSpPr>
          <p:cNvPr id="9" name="Shape 7"/>
          <p:cNvSpPr/>
          <p:nvPr/>
        </p:nvSpPr>
        <p:spPr>
          <a:xfrm>
            <a:off x="4754880" y="960120"/>
            <a:ext cx="4206240" cy="749808"/>
          </a:xfrm>
          <a:prstGeom prst="roundRect">
            <a:avLst>
              <a:gd name="adj" fmla="val 12195"/>
            </a:avLst>
          </a:prstGeom>
          <a:solidFill>
            <a:srgbClr val="F4F4F4"/>
          </a:solidFill>
          <a:ln w="12700">
            <a:solidFill>
              <a:srgbClr val="EBEBEB"/>
            </a:solidFill>
            <a:prstDash val="solid"/>
          </a:ln>
        </p:spPr>
      </p:sp>
      <p:sp>
        <p:nvSpPr>
          <p:cNvPr id="10" name="Shape 8"/>
          <p:cNvSpPr/>
          <p:nvPr/>
        </p:nvSpPr>
        <p:spPr>
          <a:xfrm>
            <a:off x="4846320" y="1042416"/>
            <a:ext cx="402336" cy="402336"/>
          </a:xfrm>
          <a:prstGeom prst="ellipse">
            <a:avLst/>
          </a:prstGeom>
          <a:solidFill>
            <a:srgbClr val="FF9500"/>
          </a:solidFill>
          <a:ln/>
        </p:spPr>
      </p:sp>
      <p:sp>
        <p:nvSpPr>
          <p:cNvPr id="11" name="Text 9"/>
          <p:cNvSpPr txBox="1"/>
          <p:nvPr/>
        </p:nvSpPr>
        <p:spPr>
          <a:xfrm>
            <a:off x="4846320" y="1042416"/>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2</a:t>
            </a:r>
            <a:endParaRPr lang="en-US" sz="1300" dirty="0"/>
          </a:p>
        </p:txBody>
      </p:sp>
      <p:sp>
        <p:nvSpPr>
          <p:cNvPr id="12" name="Text 10"/>
          <p:cNvSpPr txBox="1"/>
          <p:nvPr/>
        </p:nvSpPr>
        <p:spPr>
          <a:xfrm>
            <a:off x="5367528" y="1042416"/>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PROPIETARIO lidera — sin su compromiso, no hay programa real.</a:t>
            </a:r>
            <a:endParaRPr lang="en-US" sz="1150" dirty="0"/>
          </a:p>
        </p:txBody>
      </p:sp>
      <p:sp>
        <p:nvSpPr>
          <p:cNvPr id="13" name="Shape 11"/>
          <p:cNvSpPr/>
          <p:nvPr/>
        </p:nvSpPr>
        <p:spPr>
          <a:xfrm>
            <a:off x="365760" y="1801368"/>
            <a:ext cx="4206240" cy="749808"/>
          </a:xfrm>
          <a:prstGeom prst="roundRect">
            <a:avLst>
              <a:gd name="adj" fmla="val 12195"/>
            </a:avLst>
          </a:prstGeom>
          <a:solidFill>
            <a:srgbClr val="F4F4F4"/>
          </a:solidFill>
          <a:ln w="12700">
            <a:solidFill>
              <a:srgbClr val="EBEBEB"/>
            </a:solidFill>
            <a:prstDash val="solid"/>
          </a:ln>
        </p:spPr>
      </p:sp>
      <p:sp>
        <p:nvSpPr>
          <p:cNvPr id="14" name="Shape 12"/>
          <p:cNvSpPr/>
          <p:nvPr/>
        </p:nvSpPr>
        <p:spPr>
          <a:xfrm>
            <a:off x="457200" y="1883664"/>
            <a:ext cx="402336" cy="402336"/>
          </a:xfrm>
          <a:prstGeom prst="ellipse">
            <a:avLst/>
          </a:prstGeom>
          <a:solidFill>
            <a:srgbClr val="30D158"/>
          </a:solidFill>
          <a:ln/>
        </p:spPr>
      </p:sp>
      <p:sp>
        <p:nvSpPr>
          <p:cNvPr id="15" name="Text 13"/>
          <p:cNvSpPr txBox="1"/>
          <p:nvPr/>
        </p:nvSpPr>
        <p:spPr>
          <a:xfrm>
            <a:off x="457200" y="1883664"/>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3</a:t>
            </a:r>
            <a:endParaRPr lang="en-US" sz="1300" dirty="0"/>
          </a:p>
        </p:txBody>
      </p:sp>
      <p:sp>
        <p:nvSpPr>
          <p:cNvPr id="16" name="Text 14"/>
          <p:cNvSpPr txBox="1"/>
          <p:nvPr/>
        </p:nvSpPr>
        <p:spPr>
          <a:xfrm>
            <a:off x="978408" y="1883664"/>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inversión en constructabilidad tiene retorno de 10:1 — no es un gasto, es una inversión.</a:t>
            </a:r>
            <a:endParaRPr lang="en-US" sz="1150" dirty="0"/>
          </a:p>
        </p:txBody>
      </p:sp>
      <p:sp>
        <p:nvSpPr>
          <p:cNvPr id="17" name="Shape 15"/>
          <p:cNvSpPr/>
          <p:nvPr/>
        </p:nvSpPr>
        <p:spPr>
          <a:xfrm>
            <a:off x="4754880" y="1801368"/>
            <a:ext cx="4206240" cy="749808"/>
          </a:xfrm>
          <a:prstGeom prst="roundRect">
            <a:avLst>
              <a:gd name="adj" fmla="val 12195"/>
            </a:avLst>
          </a:prstGeom>
          <a:solidFill>
            <a:srgbClr val="F4F4F4"/>
          </a:solidFill>
          <a:ln w="12700">
            <a:solidFill>
              <a:srgbClr val="EBEBEB"/>
            </a:solidFill>
            <a:prstDash val="solid"/>
          </a:ln>
        </p:spPr>
      </p:sp>
      <p:sp>
        <p:nvSpPr>
          <p:cNvPr id="18" name="Shape 16"/>
          <p:cNvSpPr/>
          <p:nvPr/>
        </p:nvSpPr>
        <p:spPr>
          <a:xfrm>
            <a:off x="4846320" y="1883664"/>
            <a:ext cx="402336" cy="402336"/>
          </a:xfrm>
          <a:prstGeom prst="ellipse">
            <a:avLst/>
          </a:prstGeom>
          <a:solidFill>
            <a:srgbClr val="0A84FF"/>
          </a:solidFill>
          <a:ln/>
        </p:spPr>
      </p:sp>
      <p:sp>
        <p:nvSpPr>
          <p:cNvPr id="19" name="Text 17"/>
          <p:cNvSpPr txBox="1"/>
          <p:nvPr/>
        </p:nvSpPr>
        <p:spPr>
          <a:xfrm>
            <a:off x="4846320" y="1883664"/>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a:t>
            </a:r>
            <a:endParaRPr lang="en-US" sz="1300" dirty="0"/>
          </a:p>
        </p:txBody>
      </p:sp>
      <p:sp>
        <p:nvSpPr>
          <p:cNvPr id="20" name="Text 18"/>
          <p:cNvSpPr txBox="1"/>
          <p:nvPr/>
        </p:nvSpPr>
        <p:spPr>
          <a:xfrm>
            <a:off x="5367528" y="1883664"/>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diseñador DEBE escuchar al constructor — su resistencia es la barrera #1.</a:t>
            </a:r>
            <a:endParaRPr lang="en-US" sz="1150" dirty="0"/>
          </a:p>
        </p:txBody>
      </p:sp>
      <p:sp>
        <p:nvSpPr>
          <p:cNvPr id="21" name="Shape 19"/>
          <p:cNvSpPr/>
          <p:nvPr/>
        </p:nvSpPr>
        <p:spPr>
          <a:xfrm>
            <a:off x="365760" y="2642616"/>
            <a:ext cx="4206240" cy="749808"/>
          </a:xfrm>
          <a:prstGeom prst="roundRect">
            <a:avLst>
              <a:gd name="adj" fmla="val 12195"/>
            </a:avLst>
          </a:prstGeom>
          <a:solidFill>
            <a:srgbClr val="F4F4F4"/>
          </a:solidFill>
          <a:ln w="12700">
            <a:solidFill>
              <a:srgbClr val="EBEBEB"/>
            </a:solidFill>
            <a:prstDash val="solid"/>
          </a:ln>
        </p:spPr>
      </p:sp>
      <p:sp>
        <p:nvSpPr>
          <p:cNvPr id="22" name="Shape 20"/>
          <p:cNvSpPr/>
          <p:nvPr/>
        </p:nvSpPr>
        <p:spPr>
          <a:xfrm>
            <a:off x="457200" y="2724912"/>
            <a:ext cx="402336" cy="402336"/>
          </a:xfrm>
          <a:prstGeom prst="ellipse">
            <a:avLst/>
          </a:prstGeom>
          <a:solidFill>
            <a:srgbClr val="AF52DE"/>
          </a:solidFill>
          <a:ln/>
        </p:spPr>
      </p:sp>
      <p:sp>
        <p:nvSpPr>
          <p:cNvPr id="23" name="Text 2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5</a:t>
            </a:r>
            <a:endParaRPr lang="en-US" sz="1300" dirty="0"/>
          </a:p>
        </p:txBody>
      </p:sp>
      <p:sp>
        <p:nvSpPr>
          <p:cNvPr id="24" name="Text 22"/>
          <p:cNvSpPr txBox="1"/>
          <p:nvPr/>
        </p:nvSpPr>
        <p:spPr>
          <a:xfrm>
            <a:off x="978408" y="2724912"/>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Estandariza lo que puedas — la variación innecesaria cuesta dinero y tiempo.</a:t>
            </a:r>
            <a:endParaRPr lang="en-US" sz="1150" dirty="0"/>
          </a:p>
        </p:txBody>
      </p:sp>
      <p:sp>
        <p:nvSpPr>
          <p:cNvPr id="25" name="Shape 23"/>
          <p:cNvSpPr/>
          <p:nvPr/>
        </p:nvSpPr>
        <p:spPr>
          <a:xfrm>
            <a:off x="4754880" y="2642616"/>
            <a:ext cx="4206240" cy="749808"/>
          </a:xfrm>
          <a:prstGeom prst="roundRect">
            <a:avLst>
              <a:gd name="adj" fmla="val 12195"/>
            </a:avLst>
          </a:prstGeom>
          <a:solidFill>
            <a:srgbClr val="F4F4F4"/>
          </a:solidFill>
          <a:ln w="12700">
            <a:solidFill>
              <a:srgbClr val="EBEBEB"/>
            </a:solidFill>
            <a:prstDash val="solid"/>
          </a:ln>
        </p:spPr>
      </p:sp>
      <p:sp>
        <p:nvSpPr>
          <p:cNvPr id="26" name="Shape 24"/>
          <p:cNvSpPr/>
          <p:nvPr/>
        </p:nvSpPr>
        <p:spPr>
          <a:xfrm>
            <a:off x="4846320" y="2724912"/>
            <a:ext cx="402336" cy="402336"/>
          </a:xfrm>
          <a:prstGeom prst="ellipse">
            <a:avLst/>
          </a:prstGeom>
          <a:solidFill>
            <a:srgbClr val="FF453A"/>
          </a:solidFill>
          <a:ln/>
        </p:spPr>
      </p:sp>
      <p:sp>
        <p:nvSpPr>
          <p:cNvPr id="27" name="Text 25"/>
          <p:cNvSpPr txBox="1"/>
          <p:nvPr/>
        </p:nvSpPr>
        <p:spPr>
          <a:xfrm>
            <a:off x="4846320" y="2724912"/>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6</a:t>
            </a:r>
            <a:endParaRPr lang="en-US" sz="1300" dirty="0"/>
          </a:p>
        </p:txBody>
      </p:sp>
      <p:sp>
        <p:nvSpPr>
          <p:cNvPr id="28" name="Text 26"/>
          <p:cNvSpPr txBox="1"/>
          <p:nvPr/>
        </p:nvSpPr>
        <p:spPr>
          <a:xfrm>
            <a:off x="5367528" y="2724912"/>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Piensa en el izaje ANTES de diseñar — los izajes pesados son ruta crítica.</a:t>
            </a:r>
            <a:endParaRPr lang="en-US" sz="1150" dirty="0"/>
          </a:p>
        </p:txBody>
      </p:sp>
      <p:sp>
        <p:nvSpPr>
          <p:cNvPr id="29" name="Shape 27"/>
          <p:cNvSpPr/>
          <p:nvPr/>
        </p:nvSpPr>
        <p:spPr>
          <a:xfrm>
            <a:off x="365760" y="3483864"/>
            <a:ext cx="4206240" cy="749808"/>
          </a:xfrm>
          <a:prstGeom prst="roundRect">
            <a:avLst>
              <a:gd name="adj" fmla="val 12195"/>
            </a:avLst>
          </a:prstGeom>
          <a:solidFill>
            <a:srgbClr val="F4F4F4"/>
          </a:solidFill>
          <a:ln w="12700">
            <a:solidFill>
              <a:srgbClr val="EBEBEB"/>
            </a:solidFill>
            <a:prstDash val="solid"/>
          </a:ln>
        </p:spPr>
      </p:sp>
      <p:sp>
        <p:nvSpPr>
          <p:cNvPr id="30" name="Shape 28"/>
          <p:cNvSpPr/>
          <p:nvPr/>
        </p:nvSpPr>
        <p:spPr>
          <a:xfrm>
            <a:off x="457200" y="3566160"/>
            <a:ext cx="402336" cy="402336"/>
          </a:xfrm>
          <a:prstGeom prst="ellipse">
            <a:avLst/>
          </a:prstGeom>
          <a:solidFill>
            <a:srgbClr val="64D2FF"/>
          </a:solidFill>
          <a:ln/>
        </p:spPr>
      </p:sp>
      <p:sp>
        <p:nvSpPr>
          <p:cNvPr id="31" name="Text 29"/>
          <p:cNvSpPr txBox="1"/>
          <p:nvPr/>
        </p:nvSpPr>
        <p:spPr>
          <a:xfrm>
            <a:off x="457200" y="3566160"/>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7</a:t>
            </a:r>
            <a:endParaRPr lang="en-US" sz="1300" dirty="0"/>
          </a:p>
        </p:txBody>
      </p:sp>
      <p:sp>
        <p:nvSpPr>
          <p:cNvPr id="32" name="Text 30"/>
          <p:cNvSpPr txBox="1"/>
          <p:nvPr/>
        </p:nvSpPr>
        <p:spPr>
          <a:xfrm>
            <a:off x="978408" y="3566160"/>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Modulariza cuando el sitio sea adverso, la mano de obra escasa o el cronograma apretado.</a:t>
            </a:r>
            <a:endParaRPr lang="en-US" sz="1150" dirty="0"/>
          </a:p>
        </p:txBody>
      </p:sp>
      <p:sp>
        <p:nvSpPr>
          <p:cNvPr id="33" name="Shape 31"/>
          <p:cNvSpPr/>
          <p:nvPr/>
        </p:nvSpPr>
        <p:spPr>
          <a:xfrm>
            <a:off x="4754880" y="3483864"/>
            <a:ext cx="4206240" cy="749808"/>
          </a:xfrm>
          <a:prstGeom prst="roundRect">
            <a:avLst>
              <a:gd name="adj" fmla="val 12195"/>
            </a:avLst>
          </a:prstGeom>
          <a:solidFill>
            <a:srgbClr val="F4F4F4"/>
          </a:solidFill>
          <a:ln w="12700">
            <a:solidFill>
              <a:srgbClr val="EBEBEB"/>
            </a:solidFill>
            <a:prstDash val="solid"/>
          </a:ln>
        </p:spPr>
      </p:sp>
      <p:sp>
        <p:nvSpPr>
          <p:cNvPr id="34" name="Shape 32"/>
          <p:cNvSpPr/>
          <p:nvPr/>
        </p:nvSpPr>
        <p:spPr>
          <a:xfrm>
            <a:off x="4846320" y="3566160"/>
            <a:ext cx="402336" cy="402336"/>
          </a:xfrm>
          <a:prstGeom prst="ellipse">
            <a:avLst/>
          </a:prstGeom>
          <a:solidFill>
            <a:srgbClr val="FF9500"/>
          </a:solidFill>
          <a:ln/>
        </p:spPr>
      </p:sp>
      <p:sp>
        <p:nvSpPr>
          <p:cNvPr id="35" name="Text 33"/>
          <p:cNvSpPr txBox="1"/>
          <p:nvPr/>
        </p:nvSpPr>
        <p:spPr>
          <a:xfrm>
            <a:off x="4846320" y="3566160"/>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8</a:t>
            </a:r>
            <a:endParaRPr lang="en-US" sz="1300" dirty="0"/>
          </a:p>
        </p:txBody>
      </p:sp>
      <p:sp>
        <p:nvSpPr>
          <p:cNvPr id="36" name="Text 34"/>
          <p:cNvSpPr txBox="1"/>
          <p:nvPr/>
        </p:nvSpPr>
        <p:spPr>
          <a:xfrm>
            <a:off x="5367528" y="3566160"/>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cronograma del CAMPO define el cronograma de DISEÑO, no al revés.</a:t>
            </a:r>
            <a:endParaRPr lang="en-US" sz="1150" dirty="0"/>
          </a:p>
        </p:txBody>
      </p:sp>
      <p:sp>
        <p:nvSpPr>
          <p:cNvPr id="37" name="Shape 35"/>
          <p:cNvSpPr/>
          <p:nvPr/>
        </p:nvSpPr>
        <p:spPr>
          <a:xfrm>
            <a:off x="365760" y="4325112"/>
            <a:ext cx="4206240" cy="749808"/>
          </a:xfrm>
          <a:prstGeom prst="roundRect">
            <a:avLst>
              <a:gd name="adj" fmla="val 12195"/>
            </a:avLst>
          </a:prstGeom>
          <a:solidFill>
            <a:srgbClr val="F4F4F4"/>
          </a:solidFill>
          <a:ln w="12700">
            <a:solidFill>
              <a:srgbClr val="EBEBEB"/>
            </a:solidFill>
            <a:prstDash val="solid"/>
          </a:ln>
        </p:spPr>
      </p:sp>
      <p:sp>
        <p:nvSpPr>
          <p:cNvPr id="38" name="Shape 36"/>
          <p:cNvSpPr/>
          <p:nvPr/>
        </p:nvSpPr>
        <p:spPr>
          <a:xfrm>
            <a:off x="457200" y="4407408"/>
            <a:ext cx="402336" cy="402336"/>
          </a:xfrm>
          <a:prstGeom prst="ellipse">
            <a:avLst/>
          </a:prstGeom>
          <a:solidFill>
            <a:srgbClr val="30D158"/>
          </a:solidFill>
          <a:ln/>
        </p:spPr>
      </p:sp>
      <p:sp>
        <p:nvSpPr>
          <p:cNvPr id="39" name="Text 37"/>
          <p:cNvSpPr txBox="1"/>
          <p:nvPr/>
        </p:nvSpPr>
        <p:spPr>
          <a:xfrm>
            <a:off x="457200" y="4407408"/>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9</a:t>
            </a:r>
            <a:endParaRPr lang="en-US" sz="1300" dirty="0"/>
          </a:p>
        </p:txBody>
      </p:sp>
      <p:sp>
        <p:nvSpPr>
          <p:cNvPr id="40" name="Text 38"/>
          <p:cNvSpPr txBox="1"/>
          <p:nvPr/>
        </p:nvSpPr>
        <p:spPr>
          <a:xfrm>
            <a:off x="978408" y="4407408"/>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Captura las lecciones aprendidas — sin ellas, repites errores y reinventas ruedas.</a:t>
            </a:r>
            <a:endParaRPr lang="en-US" sz="1150" dirty="0"/>
          </a:p>
        </p:txBody>
      </p:sp>
      <p:sp>
        <p:nvSpPr>
          <p:cNvPr id="41" name="Shape 39"/>
          <p:cNvSpPr/>
          <p:nvPr/>
        </p:nvSpPr>
        <p:spPr>
          <a:xfrm>
            <a:off x="4754880" y="4325112"/>
            <a:ext cx="4206240" cy="749808"/>
          </a:xfrm>
          <a:prstGeom prst="roundRect">
            <a:avLst>
              <a:gd name="adj" fmla="val 12195"/>
            </a:avLst>
          </a:prstGeom>
          <a:solidFill>
            <a:srgbClr val="F4F4F4"/>
          </a:solidFill>
          <a:ln w="12700">
            <a:solidFill>
              <a:srgbClr val="EBEBEB"/>
            </a:solidFill>
            <a:prstDash val="solid"/>
          </a:ln>
        </p:spPr>
      </p:sp>
      <p:sp>
        <p:nvSpPr>
          <p:cNvPr id="42" name="Shape 40"/>
          <p:cNvSpPr/>
          <p:nvPr/>
        </p:nvSpPr>
        <p:spPr>
          <a:xfrm>
            <a:off x="4846320" y="4407408"/>
            <a:ext cx="402336" cy="402336"/>
          </a:xfrm>
          <a:prstGeom prst="ellipse">
            <a:avLst/>
          </a:prstGeom>
          <a:solidFill>
            <a:srgbClr val="0A84FF"/>
          </a:solidFill>
          <a:ln/>
        </p:spPr>
      </p:sp>
      <p:sp>
        <p:nvSpPr>
          <p:cNvPr id="43" name="Text 41"/>
          <p:cNvSpPr txBox="1"/>
          <p:nvPr/>
        </p:nvSpPr>
        <p:spPr>
          <a:xfrm>
            <a:off x="4846320" y="4407408"/>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10</a:t>
            </a:r>
            <a:endParaRPr lang="en-US" sz="1300" dirty="0"/>
          </a:p>
        </p:txBody>
      </p:sp>
      <p:sp>
        <p:nvSpPr>
          <p:cNvPr id="44" name="Text 42"/>
          <p:cNvSpPr txBox="1"/>
          <p:nvPr/>
        </p:nvSpPr>
        <p:spPr>
          <a:xfrm>
            <a:off x="5367528" y="4407408"/>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Mide el programa — lo que no se mide, no se mejora.</a:t>
            </a:r>
            <a:endParaRPr lang="en-US" sz="1150" dirty="0"/>
          </a:p>
        </p:txBody>
      </p:sp>
      <p:sp>
        <p:nvSpPr>
          <p:cNvPr id="45" name="Text 4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87</a:t>
            </a:r>
            <a:endParaRPr lang="en-US" sz="900" dirty="0"/>
          </a:p>
        </p:txBody>
      </p:sp>
      <p:pic xmlns:p="http://schemas.openxmlformats.org/presentationml/2006/main" xmlns:a="http://schemas.openxmlformats.org/drawingml/2006/main" xmlns:r="http://schemas.openxmlformats.org/officeDocument/2006/relationships">
        <p:nvPicPr>
          <p:cNvPr id="8087" name="SlideIcon8087"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Beneficios de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Evidencia consolidada de los beneficios documentados por el CII y la industria:</a:t>
            </a:r>
            <a:endParaRPr lang="en-US" sz="1200" dirty="0"/>
          </a:p>
        </p:txBody>
      </p:sp>
      <p:sp>
        <p:nvSpPr>
          <p:cNvPr id="6" name="Shape 4"/>
          <p:cNvSpPr/>
          <p:nvPr/>
        </p:nvSpPr>
        <p:spPr>
          <a:xfrm>
            <a:off x="274320" y="1298448"/>
            <a:ext cx="1920240" cy="1755648"/>
          </a:xfrm>
          <a:prstGeom prst="roundRect">
            <a:avLst>
              <a:gd name="adj" fmla="val 6250"/>
            </a:avLst>
          </a:prstGeom>
          <a:solidFill>
            <a:srgbClr val="F4F4F4"/>
          </a:solidFill>
          <a:ln w="25400">
            <a:solidFill>
              <a:srgbClr val="30D158"/>
            </a:solidFill>
            <a:prstDash val="solid"/>
          </a:ln>
        </p:spPr>
      </p:sp>
      <p:sp>
        <p:nvSpPr>
          <p:cNvPr id="7" name="Text 5"/>
          <p:cNvSpPr txBox="1"/>
          <p:nvPr/>
        </p:nvSpPr>
        <p:spPr>
          <a:xfrm>
            <a:off x="274320" y="1463040"/>
            <a:ext cx="1920240" cy="965606"/>
          </a:xfrm>
          <a:prstGeom prst="rect">
            <a:avLst/>
          </a:prstGeom>
          <a:noFill/>
          <a:ln/>
        </p:spPr>
        <p:txBody>
          <a:bodyPr wrap="square" lIns="0" tIns="0" rIns="0" bIns="0" rtlCol="0" anchor="ctr"/>
          <a:lstStyle/>
          <a:p>
            <a:pPr algn="ctr" indent="0" marL="0">
              <a:buNone/>
            </a:pPr>
            <a:r>
              <a:rPr lang="en-US" sz="3200" b="1" dirty="0">
                <a:solidFill>
                  <a:srgbClr val="30D158"/>
                </a:solidFill>
                <a:latin typeface="Atkinson Hyperlegible" pitchFamily="34" charset="0"/>
                <a:ea typeface="Atkinson Hyperlegible" pitchFamily="34" charset="-122"/>
                <a:cs typeface="Atkinson Hyperlegible" pitchFamily="34" charset="-120"/>
              </a:rPr>
              <a:t>6-23%</a:t>
            </a:r>
            <a:endParaRPr lang="en-US" sz="3200" dirty="0"/>
          </a:p>
        </p:txBody>
      </p:sp>
      <p:sp>
        <p:nvSpPr>
          <p:cNvPr id="8" name="Text 6"/>
          <p:cNvSpPr txBox="1"/>
          <p:nvPr/>
        </p:nvSpPr>
        <p:spPr>
          <a:xfrm>
            <a:off x="3657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total</a:t>
            </a:r>
            <a:endParaRPr lang="en-US" sz="1200" dirty="0"/>
          </a:p>
        </p:txBody>
      </p:sp>
      <p:sp>
        <p:nvSpPr>
          <p:cNvPr id="9" name="Shape 7"/>
          <p:cNvSpPr/>
          <p:nvPr/>
        </p:nvSpPr>
        <p:spPr>
          <a:xfrm>
            <a:off x="2331720" y="1298448"/>
            <a:ext cx="1920240" cy="1755648"/>
          </a:xfrm>
          <a:prstGeom prst="roundRect">
            <a:avLst>
              <a:gd name="adj" fmla="val 6250"/>
            </a:avLst>
          </a:prstGeom>
          <a:solidFill>
            <a:srgbClr val="F4F4F4"/>
          </a:solidFill>
          <a:ln w="25400">
            <a:solidFill>
              <a:srgbClr val="0A84FF"/>
            </a:solidFill>
            <a:prstDash val="solid"/>
          </a:ln>
        </p:spPr>
      </p:sp>
      <p:sp>
        <p:nvSpPr>
          <p:cNvPr id="10" name="Text 8"/>
          <p:cNvSpPr txBox="1"/>
          <p:nvPr/>
        </p:nvSpPr>
        <p:spPr>
          <a:xfrm>
            <a:off x="2331720" y="1463040"/>
            <a:ext cx="1920240" cy="965606"/>
          </a:xfrm>
          <a:prstGeom prst="rect">
            <a:avLst/>
          </a:prstGeom>
          <a:noFill/>
          <a:ln/>
        </p:spPr>
        <p:txBody>
          <a:bodyPr wrap="square" lIns="0" tIns="0" rIns="0" bIns="0" rtlCol="0" anchor="ctr"/>
          <a:lstStyle/>
          <a:p>
            <a:pPr algn="ctr" indent="0" marL="0">
              <a:buNone/>
            </a:pPr>
            <a:r>
              <a:rPr lang="en-US" sz="3200" b="1" dirty="0">
                <a:solidFill>
                  <a:srgbClr val="0A84FF"/>
                </a:solidFill>
                <a:latin typeface="Atkinson Hyperlegible" pitchFamily="34" charset="0"/>
                <a:ea typeface="Atkinson Hyperlegible" pitchFamily="34" charset="-122"/>
                <a:cs typeface="Atkinson Hyperlegible" pitchFamily="34" charset="-120"/>
              </a:rPr>
              <a:t>7.5%</a:t>
            </a:r>
            <a:endParaRPr lang="en-US" sz="3200" dirty="0"/>
          </a:p>
        </p:txBody>
      </p:sp>
      <p:sp>
        <p:nvSpPr>
          <p:cNvPr id="11" name="Text 9"/>
          <p:cNvSpPr txBox="1"/>
          <p:nvPr/>
        </p:nvSpPr>
        <p:spPr>
          <a:xfrm>
            <a:off x="24231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duración</a:t>
            </a:r>
            <a:endParaRPr lang="en-US" sz="1200" dirty="0"/>
          </a:p>
        </p:txBody>
      </p:sp>
      <p:sp>
        <p:nvSpPr>
          <p:cNvPr id="12" name="Shape 10"/>
          <p:cNvSpPr/>
          <p:nvPr/>
        </p:nvSpPr>
        <p:spPr>
          <a:xfrm>
            <a:off x="4389120" y="1298448"/>
            <a:ext cx="1920240" cy="1755648"/>
          </a:xfrm>
          <a:prstGeom prst="roundRect">
            <a:avLst>
              <a:gd name="adj" fmla="val 6250"/>
            </a:avLst>
          </a:prstGeom>
          <a:solidFill>
            <a:srgbClr val="F4F4F4"/>
          </a:solidFill>
          <a:ln w="25400">
            <a:solidFill>
              <a:srgbClr val="FF9500"/>
            </a:solidFill>
            <a:prstDash val="solid"/>
          </a:ln>
        </p:spPr>
      </p:sp>
      <p:sp>
        <p:nvSpPr>
          <p:cNvPr id="13" name="Text 11"/>
          <p:cNvSpPr txBox="1"/>
          <p:nvPr/>
        </p:nvSpPr>
        <p:spPr>
          <a:xfrm>
            <a:off x="4389120" y="1463040"/>
            <a:ext cx="1920240" cy="965606"/>
          </a:xfrm>
          <a:prstGeom prst="rect">
            <a:avLst/>
          </a:prstGeom>
          <a:noFill/>
          <a:ln/>
        </p:spPr>
        <p:txBody>
          <a:bodyPr wrap="square" lIns="0" tIns="0" rIns="0" bIns="0" rtlCol="0" anchor="ctr"/>
          <a:lstStyle/>
          <a:p>
            <a:pPr algn="ctr" indent="0" marL="0">
              <a:buNone/>
            </a:pPr>
            <a:r>
              <a:rPr lang="en-US" sz="3200" b="1" dirty="0">
                <a:solidFill>
                  <a:srgbClr val="FF9500"/>
                </a:solidFill>
                <a:latin typeface="Atkinson Hyperlegible" pitchFamily="34" charset="0"/>
                <a:ea typeface="Atkinson Hyperlegible" pitchFamily="34" charset="-122"/>
                <a:cs typeface="Atkinson Hyperlegible" pitchFamily="34" charset="-120"/>
              </a:rPr>
              <a:t>10:1</a:t>
            </a:r>
            <a:endParaRPr lang="en-US" sz="3200" dirty="0"/>
          </a:p>
        </p:txBody>
      </p:sp>
      <p:sp>
        <p:nvSpPr>
          <p:cNvPr id="14" name="Text 12"/>
          <p:cNvSpPr txBox="1"/>
          <p:nvPr/>
        </p:nvSpPr>
        <p:spPr>
          <a:xfrm>
            <a:off x="44805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beneficio/costo</a:t>
            </a:r>
            <a:endParaRPr lang="en-US" sz="1200" dirty="0"/>
          </a:p>
        </p:txBody>
      </p:sp>
      <p:sp>
        <p:nvSpPr>
          <p:cNvPr id="15" name="Shape 13"/>
          <p:cNvSpPr/>
          <p:nvPr/>
        </p:nvSpPr>
        <p:spPr>
          <a:xfrm>
            <a:off x="6446520" y="1298448"/>
            <a:ext cx="1920240" cy="1755648"/>
          </a:xfrm>
          <a:prstGeom prst="roundRect">
            <a:avLst>
              <a:gd name="adj" fmla="val 6250"/>
            </a:avLst>
          </a:prstGeom>
          <a:solidFill>
            <a:srgbClr val="F4F4F4"/>
          </a:solidFill>
          <a:ln w="25400">
            <a:solidFill>
              <a:srgbClr val="AF52DE"/>
            </a:solidFill>
            <a:prstDash val="solid"/>
          </a:ln>
        </p:spPr>
      </p:sp>
      <p:sp>
        <p:nvSpPr>
          <p:cNvPr id="16" name="Text 14"/>
          <p:cNvSpPr txBox="1"/>
          <p:nvPr/>
        </p:nvSpPr>
        <p:spPr>
          <a:xfrm>
            <a:off x="6446520" y="1463040"/>
            <a:ext cx="1920240" cy="965606"/>
          </a:xfrm>
          <a:prstGeom prst="rect">
            <a:avLst/>
          </a:prstGeom>
          <a:noFill/>
          <a:ln/>
        </p:spPr>
        <p:txBody>
          <a:bodyPr wrap="square" lIns="0" tIns="0" rIns="0" bIns="0" rtlCol="0" anchor="ctr"/>
          <a:lstStyle/>
          <a:p>
            <a:pPr algn="ctr" indent="0" marL="0">
              <a:buNone/>
            </a:pPr>
            <a:r>
              <a:rPr lang="en-US" sz="3200" b="1" dirty="0">
                <a:solidFill>
                  <a:srgbClr val="AF52DE"/>
                </a:solidFill>
                <a:latin typeface="Atkinson Hyperlegible" pitchFamily="34" charset="0"/>
                <a:ea typeface="Atkinson Hyperlegible" pitchFamily="34" charset="-122"/>
                <a:cs typeface="Atkinson Hyperlegible" pitchFamily="34" charset="-120"/>
              </a:rPr>
              <a:t>&lt;2%</a:t>
            </a:r>
            <a:endParaRPr lang="en-US" sz="3200" dirty="0"/>
          </a:p>
        </p:txBody>
      </p:sp>
      <p:sp>
        <p:nvSpPr>
          <p:cNvPr id="17" name="Text 15"/>
          <p:cNvSpPr txBox="1"/>
          <p:nvPr/>
        </p:nvSpPr>
        <p:spPr>
          <a:xfrm>
            <a:off x="65379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retrabajo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proyectos maduros</a:t>
            </a:r>
            <a:endParaRPr lang="en-US" sz="1200" dirty="0"/>
          </a:p>
        </p:txBody>
      </p:sp>
      <p:sp>
        <p:nvSpPr>
          <p:cNvPr id="18" name="Shape 16"/>
          <p:cNvSpPr/>
          <p:nvPr/>
        </p:nvSpPr>
        <p:spPr>
          <a:xfrm>
            <a:off x="274320" y="3154680"/>
            <a:ext cx="4251960" cy="896112"/>
          </a:xfrm>
          <a:prstGeom prst="roundRect">
            <a:avLst>
              <a:gd name="adj" fmla="val 10204"/>
            </a:avLst>
          </a:prstGeom>
          <a:solidFill>
            <a:srgbClr val="F4F4F4"/>
          </a:solidFill>
          <a:ln w="12700">
            <a:solidFill>
              <a:srgbClr val="30D158"/>
            </a:solidFill>
            <a:prstDash val="solid"/>
          </a:ln>
        </p:spPr>
      </p:sp>
      <p:sp>
        <p:nvSpPr>
          <p:cNvPr id="19" name="Text 17"/>
          <p:cNvSpPr txBox="1"/>
          <p:nvPr/>
        </p:nvSpPr>
        <p:spPr>
          <a:xfrm>
            <a:off x="457200" y="3227832"/>
            <a:ext cx="39319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Beneficios en Costo</a:t>
            </a:r>
            <a:endParaRPr lang="en-US" sz="1300" dirty="0"/>
          </a:p>
        </p:txBody>
      </p:sp>
      <p:sp>
        <p:nvSpPr>
          <p:cNvPr id="20" name="Text 18"/>
          <p:cNvSpPr txBox="1"/>
          <p:nvPr/>
        </p:nvSpPr>
        <p:spPr>
          <a:xfrm>
            <a:off x="457200" y="352044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4.3% reducción promedio en TIC (CII). Casos extremos: hasta 23% de reducción. ROI de 10:1 a 15:1 sobre la inversión en el programa.</a:t>
            </a:r>
            <a:endParaRPr lang="en-US" sz="1050" dirty="0"/>
          </a:p>
        </p:txBody>
      </p:sp>
      <p:sp>
        <p:nvSpPr>
          <p:cNvPr id="21" name="Shape 19"/>
          <p:cNvSpPr/>
          <p:nvPr/>
        </p:nvSpPr>
        <p:spPr>
          <a:xfrm>
            <a:off x="4709160" y="3154680"/>
            <a:ext cx="4251960" cy="896112"/>
          </a:xfrm>
          <a:prstGeom prst="roundRect">
            <a:avLst>
              <a:gd name="adj" fmla="val 10204"/>
            </a:avLst>
          </a:prstGeom>
          <a:solidFill>
            <a:srgbClr val="F4F4F4"/>
          </a:solidFill>
          <a:ln w="12700">
            <a:solidFill>
              <a:srgbClr val="0A84FF"/>
            </a:solidFill>
            <a:prstDash val="solid"/>
          </a:ln>
        </p:spPr>
      </p:sp>
      <p:sp>
        <p:nvSpPr>
          <p:cNvPr id="22" name="Text 20"/>
          <p:cNvSpPr txBox="1"/>
          <p:nvPr/>
        </p:nvSpPr>
        <p:spPr>
          <a:xfrm>
            <a:off x="4892040" y="3227832"/>
            <a:ext cx="39319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Beneficios en Cronograma</a:t>
            </a:r>
            <a:endParaRPr lang="en-US" sz="1300" dirty="0"/>
          </a:p>
        </p:txBody>
      </p:sp>
      <p:sp>
        <p:nvSpPr>
          <p:cNvPr id="23" name="Text 21"/>
          <p:cNvSpPr txBox="1"/>
          <p:nvPr/>
        </p:nvSpPr>
        <p:spPr>
          <a:xfrm>
            <a:off x="4892040" y="352044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7.5% reducción promedio en duración total. Arranque de planta anticipado genera flujo de caja temprano para el propietario.</a:t>
            </a:r>
            <a:endParaRPr lang="en-US" sz="1050" dirty="0"/>
          </a:p>
        </p:txBody>
      </p:sp>
      <p:sp>
        <p:nvSpPr>
          <p:cNvPr id="24" name="Shape 22"/>
          <p:cNvSpPr/>
          <p:nvPr/>
        </p:nvSpPr>
        <p:spPr>
          <a:xfrm>
            <a:off x="274320" y="4160520"/>
            <a:ext cx="4251960" cy="896112"/>
          </a:xfrm>
          <a:prstGeom prst="roundRect">
            <a:avLst>
              <a:gd name="adj" fmla="val 10204"/>
            </a:avLst>
          </a:prstGeom>
          <a:solidFill>
            <a:srgbClr val="F4F4F4"/>
          </a:solidFill>
          <a:ln w="12700">
            <a:solidFill>
              <a:srgbClr val="FF9500"/>
            </a:solidFill>
            <a:prstDash val="solid"/>
          </a:ln>
        </p:spPr>
      </p:sp>
      <p:sp>
        <p:nvSpPr>
          <p:cNvPr id="25" name="Text 23"/>
          <p:cNvSpPr txBox="1"/>
          <p:nvPr/>
        </p:nvSpPr>
        <p:spPr>
          <a:xfrm>
            <a:off x="457200" y="4233672"/>
            <a:ext cx="39319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Beneficios en Calidad</a:t>
            </a:r>
            <a:endParaRPr lang="en-US" sz="1300" dirty="0"/>
          </a:p>
        </p:txBody>
      </p:sp>
      <p:sp>
        <p:nvSpPr>
          <p:cNvPr id="26" name="Text 24"/>
          <p:cNvSpPr txBox="1"/>
          <p:nvPr/>
        </p:nvSpPr>
        <p:spPr>
          <a:xfrm>
            <a:off x="457200" y="452628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Diseño más construible produce menos errores en campo. Menos retrabajo (meta: &lt;2%). Mayor satisfacción del equipo de campo.</a:t>
            </a:r>
            <a:endParaRPr lang="en-US" sz="1050" dirty="0"/>
          </a:p>
        </p:txBody>
      </p:sp>
      <p:sp>
        <p:nvSpPr>
          <p:cNvPr id="27" name="Shape 25"/>
          <p:cNvSpPr/>
          <p:nvPr/>
        </p:nvSpPr>
        <p:spPr>
          <a:xfrm>
            <a:off x="4709160" y="4160520"/>
            <a:ext cx="4251960" cy="896112"/>
          </a:xfrm>
          <a:prstGeom prst="roundRect">
            <a:avLst>
              <a:gd name="adj" fmla="val 10204"/>
            </a:avLst>
          </a:prstGeom>
          <a:solidFill>
            <a:srgbClr val="F4F4F4"/>
          </a:solidFill>
          <a:ln w="12700">
            <a:solidFill>
              <a:srgbClr val="FF453A"/>
            </a:solidFill>
            <a:prstDash val="solid"/>
          </a:ln>
        </p:spPr>
      </p:sp>
      <p:sp>
        <p:nvSpPr>
          <p:cNvPr id="28" name="Text 26"/>
          <p:cNvSpPr txBox="1"/>
          <p:nvPr/>
        </p:nvSpPr>
        <p:spPr>
          <a:xfrm>
            <a:off x="4892040" y="4233672"/>
            <a:ext cx="393192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Beneficios en Seguridad</a:t>
            </a:r>
            <a:endParaRPr lang="en-US" sz="1300" dirty="0"/>
          </a:p>
        </p:txBody>
      </p:sp>
      <p:sp>
        <p:nvSpPr>
          <p:cNvPr id="29" name="Text 27"/>
          <p:cNvSpPr txBox="1"/>
          <p:nvPr/>
        </p:nvSpPr>
        <p:spPr>
          <a:xfrm>
            <a:off x="4892040" y="452628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Safety by Design reduce exposición a riesgos en campo. Caso Corpus Christi: 0 accidentes en 1.6MM horas-hombre.</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88</a:t>
            </a:r>
            <a:endParaRPr lang="en-US" sz="900" dirty="0"/>
          </a:p>
        </p:txBody>
      </p:sp>
      <p:pic xmlns:p="http://schemas.openxmlformats.org/presentationml/2006/main" xmlns:a="http://schemas.openxmlformats.org/drawingml/2006/main" xmlns:r="http://schemas.openxmlformats.org/officeDocument/2006/relationships">
        <p:nvPicPr>
          <p:cNvPr id="8088" name="SlideIcon8088"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Conclusiones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658368"/>
          </a:xfrm>
          <a:prstGeom prst="roundRect">
            <a:avLst>
              <a:gd name="adj" fmla="val 13889"/>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94360"/>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constructabilidad bien implementada es una de las herramientas más poderosas que los propietarios pueden utilizar en sus proyectos." — CII Publication 3-1</a:t>
            </a:r>
            <a:endParaRPr lang="en-US" sz="1300" dirty="0"/>
          </a:p>
        </p:txBody>
      </p:sp>
      <p:sp>
        <p:nvSpPr>
          <p:cNvPr id="7" name="Shape 5"/>
          <p:cNvSpPr/>
          <p:nvPr/>
        </p:nvSpPr>
        <p:spPr>
          <a:xfrm>
            <a:off x="365760" y="1691640"/>
            <a:ext cx="8412480" cy="621792"/>
          </a:xfrm>
          <a:prstGeom prst="roundRect">
            <a:avLst>
              <a:gd name="adj" fmla="val 14706"/>
            </a:avLst>
          </a:prstGeom>
          <a:solidFill>
            <a:srgbClr val="F4F4F4"/>
          </a:solidFill>
          <a:ln w="12700">
            <a:solidFill>
              <a:srgbClr val="EBEBEB"/>
            </a:solidFill>
            <a:prstDash val="solid"/>
          </a:ln>
        </p:spPr>
      </p:sp>
      <p:sp>
        <p:nvSpPr>
          <p:cNvPr id="8" name="Shape 6"/>
          <p:cNvSpPr/>
          <p:nvPr/>
        </p:nvSpPr>
        <p:spPr>
          <a:xfrm>
            <a:off x="365760" y="1691640"/>
            <a:ext cx="73152" cy="621792"/>
          </a:xfrm>
          <a:prstGeom prst="rect">
            <a:avLst/>
          </a:prstGeom>
          <a:solidFill>
            <a:srgbClr val="0A84FF"/>
          </a:solidFill>
          <a:ln/>
        </p:spPr>
      </p:sp>
      <p:sp>
        <p:nvSpPr>
          <p:cNvPr id="9" name="Text 7"/>
          <p:cNvSpPr txBox="1"/>
          <p:nvPr/>
        </p:nvSpPr>
        <p:spPr>
          <a:xfrm>
            <a:off x="566928" y="1755648"/>
            <a:ext cx="2743200" cy="25603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La oportunidad es mayor en las fases tempranas</a:t>
            </a:r>
            <a:endParaRPr lang="en-US" sz="1250" dirty="0"/>
          </a:p>
        </p:txBody>
      </p:sp>
      <p:sp>
        <p:nvSpPr>
          <p:cNvPr id="10" name="Text 8"/>
          <p:cNvSpPr txBox="1"/>
          <p:nvPr/>
        </p:nvSpPr>
        <p:spPr>
          <a:xfrm>
            <a:off x="3401568" y="1755648"/>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conceptual y el diseño básico son las fases donde el impacto de la constructabilidad es máximo y el costo del cambio mínimo. Actuar tarde reduce exponencialmente los beneficios.</a:t>
            </a:r>
            <a:endParaRPr lang="en-US" sz="1100" dirty="0"/>
          </a:p>
        </p:txBody>
      </p:sp>
      <p:sp>
        <p:nvSpPr>
          <p:cNvPr id="11" name="Shape 9"/>
          <p:cNvSpPr/>
          <p:nvPr/>
        </p:nvSpPr>
        <p:spPr>
          <a:xfrm>
            <a:off x="365760" y="2386584"/>
            <a:ext cx="8412480" cy="621792"/>
          </a:xfrm>
          <a:prstGeom prst="roundRect">
            <a:avLst>
              <a:gd name="adj" fmla="val 14706"/>
            </a:avLst>
          </a:prstGeom>
          <a:solidFill>
            <a:srgbClr val="F4F4F4"/>
          </a:solidFill>
          <a:ln w="12700">
            <a:solidFill>
              <a:srgbClr val="EBEBEB"/>
            </a:solidFill>
            <a:prstDash val="solid"/>
          </a:ln>
        </p:spPr>
      </p:sp>
      <p:sp>
        <p:nvSpPr>
          <p:cNvPr id="12" name="Shape 10"/>
          <p:cNvSpPr/>
          <p:nvPr/>
        </p:nvSpPr>
        <p:spPr>
          <a:xfrm>
            <a:off x="365760" y="2386584"/>
            <a:ext cx="73152" cy="621792"/>
          </a:xfrm>
          <a:prstGeom prst="rect">
            <a:avLst/>
          </a:prstGeom>
          <a:solidFill>
            <a:srgbClr val="30D158"/>
          </a:solidFill>
          <a:ln/>
        </p:spPr>
      </p:sp>
      <p:sp>
        <p:nvSpPr>
          <p:cNvPr id="13" name="Text 11"/>
          <p:cNvSpPr txBox="1"/>
          <p:nvPr/>
        </p:nvSpPr>
        <p:spPr>
          <a:xfrm>
            <a:off x="566928" y="2450592"/>
            <a:ext cx="2743200" cy="25603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Requiere compromiso organizacional</a:t>
            </a:r>
            <a:endParaRPr lang="en-US" sz="1250" dirty="0"/>
          </a:p>
        </p:txBody>
      </p:sp>
      <p:sp>
        <p:nvSpPr>
          <p:cNvPr id="14" name="Text 12"/>
          <p:cNvSpPr txBox="1"/>
          <p:nvPr/>
        </p:nvSpPr>
        <p:spPr>
          <a:xfrm>
            <a:off x="3401568" y="2450592"/>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un compromiso formal de la alta dirección, recursos asignados y un Gerente de Constructabilidad designado, el programa no puede generar beneficios sistémicos. Es un cambio cultural.</a:t>
            </a:r>
            <a:endParaRPr lang="en-US" sz="1100" dirty="0"/>
          </a:p>
        </p:txBody>
      </p:sp>
      <p:sp>
        <p:nvSpPr>
          <p:cNvPr id="15" name="Shape 13"/>
          <p:cNvSpPr/>
          <p:nvPr/>
        </p:nvSpPr>
        <p:spPr>
          <a:xfrm>
            <a:off x="365760" y="3081528"/>
            <a:ext cx="8412480" cy="621792"/>
          </a:xfrm>
          <a:prstGeom prst="roundRect">
            <a:avLst>
              <a:gd name="adj" fmla="val 14706"/>
            </a:avLst>
          </a:prstGeom>
          <a:solidFill>
            <a:srgbClr val="F4F4F4"/>
          </a:solidFill>
          <a:ln w="12700">
            <a:solidFill>
              <a:srgbClr val="EBEBEB"/>
            </a:solidFill>
            <a:prstDash val="solid"/>
          </a:ln>
        </p:spPr>
      </p:sp>
      <p:sp>
        <p:nvSpPr>
          <p:cNvPr id="16" name="Shape 14"/>
          <p:cNvSpPr/>
          <p:nvPr/>
        </p:nvSpPr>
        <p:spPr>
          <a:xfrm>
            <a:off x="365760" y="3081528"/>
            <a:ext cx="73152" cy="621792"/>
          </a:xfrm>
          <a:prstGeom prst="rect">
            <a:avLst/>
          </a:prstGeom>
          <a:solidFill>
            <a:srgbClr val="FF9500"/>
          </a:solidFill>
          <a:ln/>
        </p:spPr>
      </p:sp>
      <p:sp>
        <p:nvSpPr>
          <p:cNvPr id="17" name="Text 15"/>
          <p:cNvSpPr txBox="1"/>
          <p:nvPr/>
        </p:nvSpPr>
        <p:spPr>
          <a:xfrm>
            <a:off x="566928" y="3145536"/>
            <a:ext cx="2743200" cy="25603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Los 17 conceptos son guías, no reglas</a:t>
            </a:r>
            <a:endParaRPr lang="en-US" sz="1250" dirty="0"/>
          </a:p>
        </p:txBody>
      </p:sp>
      <p:sp>
        <p:nvSpPr>
          <p:cNvPr id="18" name="Text 16"/>
          <p:cNvSpPr txBox="1"/>
          <p:nvPr/>
        </p:nvSpPr>
        <p:spPr>
          <a:xfrm>
            <a:off x="3401568" y="3145536"/>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es distinto. Los 17 conceptos CII son un marco de referencia para pensar constructabilidad, no una receta. La clave es aplicar los más relevantes para el contexto específico.</a:t>
            </a:r>
            <a:endParaRPr lang="en-US" sz="1100" dirty="0"/>
          </a:p>
        </p:txBody>
      </p:sp>
      <p:sp>
        <p:nvSpPr>
          <p:cNvPr id="19" name="Shape 17"/>
          <p:cNvSpPr/>
          <p:nvPr/>
        </p:nvSpPr>
        <p:spPr>
          <a:xfrm>
            <a:off x="365760" y="3776472"/>
            <a:ext cx="8412480" cy="621792"/>
          </a:xfrm>
          <a:prstGeom prst="roundRect">
            <a:avLst>
              <a:gd name="adj" fmla="val 14706"/>
            </a:avLst>
          </a:prstGeom>
          <a:solidFill>
            <a:srgbClr val="F4F4F4"/>
          </a:solidFill>
          <a:ln w="12700">
            <a:solidFill>
              <a:srgbClr val="EBEBEB"/>
            </a:solidFill>
            <a:prstDash val="solid"/>
          </a:ln>
        </p:spPr>
      </p:sp>
      <p:sp>
        <p:nvSpPr>
          <p:cNvPr id="20" name="Shape 18"/>
          <p:cNvSpPr/>
          <p:nvPr/>
        </p:nvSpPr>
        <p:spPr>
          <a:xfrm>
            <a:off x="365760" y="3776472"/>
            <a:ext cx="73152" cy="621792"/>
          </a:xfrm>
          <a:prstGeom prst="rect">
            <a:avLst/>
          </a:prstGeom>
          <a:solidFill>
            <a:srgbClr val="AF52DE"/>
          </a:solidFill>
          <a:ln/>
        </p:spPr>
      </p:sp>
      <p:sp>
        <p:nvSpPr>
          <p:cNvPr id="21" name="Text 19"/>
          <p:cNvSpPr txBox="1"/>
          <p:nvPr/>
        </p:nvSpPr>
        <p:spPr>
          <a:xfrm>
            <a:off x="566928" y="3840480"/>
            <a:ext cx="2743200" cy="25603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El retorno está documentado y es consistente</a:t>
            </a:r>
            <a:endParaRPr lang="en-US" sz="1250" dirty="0"/>
          </a:p>
        </p:txBody>
      </p:sp>
      <p:sp>
        <p:nvSpPr>
          <p:cNvPr id="22" name="Text 20"/>
          <p:cNvSpPr txBox="1"/>
          <p:nvPr/>
        </p:nvSpPr>
        <p:spPr>
          <a:xfrm>
            <a:off x="3401568" y="3840480"/>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evidencia CII de 40 años muestra retornos consistentes: 10:1 en promedio. La pregunta no es si funciona — es cómo implementarlo efectivamente en nuestra organización.</a:t>
            </a:r>
            <a:endParaRPr lang="en-US" sz="1100" dirty="0"/>
          </a:p>
        </p:txBody>
      </p:sp>
      <p:sp>
        <p:nvSpPr>
          <p:cNvPr id="23" name="Shape 21"/>
          <p:cNvSpPr/>
          <p:nvPr/>
        </p:nvSpPr>
        <p:spPr>
          <a:xfrm>
            <a:off x="365760" y="4471416"/>
            <a:ext cx="8412480" cy="621792"/>
          </a:xfrm>
          <a:prstGeom prst="roundRect">
            <a:avLst>
              <a:gd name="adj" fmla="val 14706"/>
            </a:avLst>
          </a:prstGeom>
          <a:solidFill>
            <a:srgbClr val="F4F4F4"/>
          </a:solidFill>
          <a:ln w="12700">
            <a:solidFill>
              <a:srgbClr val="EBEBEB"/>
            </a:solidFill>
            <a:prstDash val="solid"/>
          </a:ln>
        </p:spPr>
      </p:sp>
      <p:sp>
        <p:nvSpPr>
          <p:cNvPr id="24" name="Shape 22"/>
          <p:cNvSpPr/>
          <p:nvPr/>
        </p:nvSpPr>
        <p:spPr>
          <a:xfrm>
            <a:off x="365760" y="4471416"/>
            <a:ext cx="73152" cy="621792"/>
          </a:xfrm>
          <a:prstGeom prst="rect">
            <a:avLst/>
          </a:prstGeom>
          <a:solidFill>
            <a:srgbClr val="FFD60A"/>
          </a:solidFill>
          <a:ln/>
        </p:spPr>
      </p:sp>
      <p:sp>
        <p:nvSpPr>
          <p:cNvPr id="25" name="Text 23"/>
          <p:cNvSpPr txBox="1"/>
          <p:nvPr/>
        </p:nvSpPr>
        <p:spPr>
          <a:xfrm>
            <a:off x="566928" y="4535424"/>
            <a:ext cx="2743200" cy="25603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Las lecciones aprendidas son el activo más valioso</a:t>
            </a:r>
            <a:endParaRPr lang="en-US" sz="1250" dirty="0"/>
          </a:p>
        </p:txBody>
      </p:sp>
      <p:sp>
        <p:nvSpPr>
          <p:cNvPr id="26" name="Text 24"/>
          <p:cNvSpPr txBox="1"/>
          <p:nvPr/>
        </p:nvSpPr>
        <p:spPr>
          <a:xfrm>
            <a:off x="3401568" y="4535424"/>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verdadero poder del programa está en la Base de Datos de Lecciones Aprendidas. Cada proyecto mejora el siguiente. Sin ella, el conocimiento se pierde con la rotación del personal.</a:t>
            </a:r>
            <a:endParaRPr lang="en-US" sz="11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89</a:t>
            </a:r>
            <a:endParaRPr lang="en-US" sz="900" dirty="0"/>
          </a:p>
        </p:txBody>
      </p:sp>
      <p:pic xmlns:p="http://schemas.openxmlformats.org/presentationml/2006/main" xmlns:a="http://schemas.openxmlformats.org/drawingml/2006/main" xmlns:r="http://schemas.openxmlformats.org/officeDocument/2006/relationships">
        <p:nvPicPr>
          <p:cNvPr id="8089" name="SlideIcon8089"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Recomendaciones para Iniciar el Programa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Pasos concretos para iniciar un programa de constructabilidad en su organización:</a:t>
            </a:r>
            <a:endParaRPr lang="en-US" sz="1200" dirty="0"/>
          </a:p>
        </p:txBody>
      </p:sp>
      <p:sp>
        <p:nvSpPr>
          <p:cNvPr id="6" name="Shape 4"/>
          <p:cNvSpPr/>
          <p:nvPr/>
        </p:nvSpPr>
        <p:spPr>
          <a:xfrm>
            <a:off x="365760" y="1298448"/>
            <a:ext cx="8412480" cy="1188720"/>
          </a:xfrm>
          <a:prstGeom prst="roundRect">
            <a:avLst>
              <a:gd name="adj" fmla="val 7692"/>
            </a:avLst>
          </a:prstGeom>
          <a:solidFill>
            <a:srgbClr val="F4F4F4"/>
          </a:solidFill>
          <a:ln w="12700">
            <a:solidFill>
              <a:srgbClr val="EBEBEB"/>
            </a:solidFill>
            <a:prstDash val="solid"/>
          </a:ln>
        </p:spPr>
      </p:sp>
      <p:sp>
        <p:nvSpPr>
          <p:cNvPr id="7" name="Shape 5"/>
          <p:cNvSpPr/>
          <p:nvPr/>
        </p:nvSpPr>
        <p:spPr>
          <a:xfrm>
            <a:off x="365760" y="1298448"/>
            <a:ext cx="2286000" cy="1188720"/>
          </a:xfrm>
          <a:prstGeom prst="roundRect">
            <a:avLst>
              <a:gd name="adj" fmla="val 7692"/>
            </a:avLst>
          </a:prstGeom>
          <a:solidFill>
            <a:srgbClr val="30D158"/>
          </a:solidFill>
          <a:ln/>
        </p:spPr>
      </p:sp>
      <p:sp>
        <p:nvSpPr>
          <p:cNvPr id="8" name="Shape 6"/>
          <p:cNvSpPr/>
          <p:nvPr/>
        </p:nvSpPr>
        <p:spPr>
          <a:xfrm>
            <a:off x="2377440" y="1298448"/>
            <a:ext cx="274320" cy="1188720"/>
          </a:xfrm>
          <a:prstGeom prst="rect">
            <a:avLst/>
          </a:prstGeom>
          <a:solidFill>
            <a:srgbClr val="30D158"/>
          </a:solidFill>
          <a:ln/>
        </p:spPr>
      </p:sp>
      <p:sp>
        <p:nvSpPr>
          <p:cNvPr id="9" name="Text 7"/>
          <p:cNvSpPr txBox="1"/>
          <p:nvPr/>
        </p:nvSpPr>
        <p:spPr>
          <a:xfrm>
            <a:off x="502920" y="1435608"/>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INMEDIATO (0-3 meses)</a:t>
            </a:r>
            <a:endParaRPr lang="en-US" sz="1300" dirty="0"/>
          </a:p>
        </p:txBody>
      </p:sp>
      <p:sp>
        <p:nvSpPr>
          <p:cNvPr id="10" name="Text 8"/>
          <p:cNvSpPr txBox="1"/>
          <p:nvPr/>
        </p:nvSpPr>
        <p:spPr>
          <a:xfrm>
            <a:off x="2743200" y="1371600"/>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Leer la CII Publication 3-1 (Constructability: A Primer) con el equipo de liderazgo</a:t>
            </a:r>
            <a:endParaRPr lang="en-US" sz="1050" dirty="0"/>
          </a:p>
        </p:txBody>
      </p:sp>
      <p:sp>
        <p:nvSpPr>
          <p:cNvPr id="11" name="Text 9"/>
          <p:cNvSpPr txBox="1"/>
          <p:nvPr/>
        </p:nvSpPr>
        <p:spPr>
          <a:xfrm>
            <a:off x="2743200" y="162763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Revisar los casos de estudio de SP 34-1 con datos de retorno (10:1)</a:t>
            </a:r>
            <a:endParaRPr lang="en-US" sz="1050" dirty="0"/>
          </a:p>
        </p:txBody>
      </p:sp>
      <p:sp>
        <p:nvSpPr>
          <p:cNvPr id="12" name="Text 10"/>
          <p:cNvSpPr txBox="1"/>
          <p:nvPr/>
        </p:nvSpPr>
        <p:spPr>
          <a:xfrm>
            <a:off x="2743200" y="1883664"/>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Designar un Campeón de Constructabilidad provisional</a:t>
            </a:r>
            <a:endParaRPr lang="en-US" sz="1050" dirty="0"/>
          </a:p>
        </p:txBody>
      </p:sp>
      <p:sp>
        <p:nvSpPr>
          <p:cNvPr id="13" name="Text 11"/>
          <p:cNvSpPr txBox="1"/>
          <p:nvPr/>
        </p:nvSpPr>
        <p:spPr>
          <a:xfrm>
            <a:off x="2743200" y="2139696"/>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el nivel de madurez actual usando la Matriz de Evaluación (Tool 3)</a:t>
            </a:r>
            <a:endParaRPr lang="en-US" sz="1050" dirty="0"/>
          </a:p>
        </p:txBody>
      </p:sp>
      <p:sp>
        <p:nvSpPr>
          <p:cNvPr id="14" name="Shape 12"/>
          <p:cNvSpPr/>
          <p:nvPr/>
        </p:nvSpPr>
        <p:spPr>
          <a:xfrm>
            <a:off x="365760" y="2596896"/>
            <a:ext cx="8412480" cy="1188720"/>
          </a:xfrm>
          <a:prstGeom prst="roundRect">
            <a:avLst>
              <a:gd name="adj" fmla="val 7692"/>
            </a:avLst>
          </a:prstGeom>
          <a:solidFill>
            <a:srgbClr val="F4F4F4"/>
          </a:solidFill>
          <a:ln w="12700">
            <a:solidFill>
              <a:srgbClr val="EBEBEB"/>
            </a:solidFill>
            <a:prstDash val="solid"/>
          </a:ln>
        </p:spPr>
      </p:sp>
      <p:sp>
        <p:nvSpPr>
          <p:cNvPr id="15" name="Shape 13"/>
          <p:cNvSpPr/>
          <p:nvPr/>
        </p:nvSpPr>
        <p:spPr>
          <a:xfrm>
            <a:off x="365760" y="2596896"/>
            <a:ext cx="2286000" cy="1188720"/>
          </a:xfrm>
          <a:prstGeom prst="roundRect">
            <a:avLst>
              <a:gd name="adj" fmla="val 7692"/>
            </a:avLst>
          </a:prstGeom>
          <a:solidFill>
            <a:srgbClr val="0A84FF"/>
          </a:solidFill>
          <a:ln/>
        </p:spPr>
      </p:sp>
      <p:sp>
        <p:nvSpPr>
          <p:cNvPr id="16" name="Shape 14"/>
          <p:cNvSpPr/>
          <p:nvPr/>
        </p:nvSpPr>
        <p:spPr>
          <a:xfrm>
            <a:off x="2377440" y="2596896"/>
            <a:ext cx="274320" cy="1188720"/>
          </a:xfrm>
          <a:prstGeom prst="rect">
            <a:avLst/>
          </a:prstGeom>
          <a:solidFill>
            <a:srgbClr val="0A84FF"/>
          </a:solidFill>
          <a:ln/>
        </p:spPr>
      </p:sp>
      <p:sp>
        <p:nvSpPr>
          <p:cNvPr id="17" name="Text 15"/>
          <p:cNvSpPr txBox="1"/>
          <p:nvPr/>
        </p:nvSpPr>
        <p:spPr>
          <a:xfrm>
            <a:off x="502920" y="2734056"/>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CORTO PLAZO (3-12 meses)</a:t>
            </a:r>
            <a:endParaRPr lang="en-US" sz="1300" dirty="0"/>
          </a:p>
        </p:txBody>
      </p:sp>
      <p:sp>
        <p:nvSpPr>
          <p:cNvPr id="18" name="Text 16"/>
          <p:cNvSpPr txBox="1"/>
          <p:nvPr/>
        </p:nvSpPr>
        <p:spPr>
          <a:xfrm>
            <a:off x="2743200" y="2670048"/>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Diseñar e implementar el programa corporativo formal</a:t>
            </a:r>
            <a:endParaRPr lang="en-US" sz="1050" dirty="0"/>
          </a:p>
        </p:txBody>
      </p:sp>
      <p:sp>
        <p:nvSpPr>
          <p:cNvPr id="19" name="Text 17"/>
          <p:cNvSpPr txBox="1"/>
          <p:nvPr/>
        </p:nvSpPr>
        <p:spPr>
          <a:xfrm>
            <a:off x="2743200" y="2926080"/>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política de implementación y la estructura organizacional</a:t>
            </a:r>
            <a:endParaRPr lang="en-US" sz="1050" dirty="0"/>
          </a:p>
        </p:txBody>
      </p:sp>
      <p:sp>
        <p:nvSpPr>
          <p:cNvPr id="20" name="Text 18"/>
          <p:cNvSpPr txBox="1"/>
          <p:nvPr/>
        </p:nvSpPr>
        <p:spPr>
          <a:xfrm>
            <a:off x="2743200" y="318211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Capacitar al equipo en los 17 conceptos CII</a:t>
            </a:r>
            <a:endParaRPr lang="en-US" sz="1050" dirty="0"/>
          </a:p>
        </p:txBody>
      </p:sp>
      <p:sp>
        <p:nvSpPr>
          <p:cNvPr id="21" name="Text 19"/>
          <p:cNvSpPr txBox="1"/>
          <p:nvPr/>
        </p:nvSpPr>
        <p:spPr>
          <a:xfrm>
            <a:off x="2743200" y="3438144"/>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Iniciar la Base de Datos de Lecciones Aprendidas en el próximo proyecto</a:t>
            </a:r>
            <a:endParaRPr lang="en-US" sz="1050" dirty="0"/>
          </a:p>
        </p:txBody>
      </p:sp>
      <p:sp>
        <p:nvSpPr>
          <p:cNvPr id="22" name="Shape 20"/>
          <p:cNvSpPr/>
          <p:nvPr/>
        </p:nvSpPr>
        <p:spPr>
          <a:xfrm>
            <a:off x="365760" y="3895344"/>
            <a:ext cx="8412480" cy="1188720"/>
          </a:xfrm>
          <a:prstGeom prst="roundRect">
            <a:avLst>
              <a:gd name="adj" fmla="val 7692"/>
            </a:avLst>
          </a:prstGeom>
          <a:solidFill>
            <a:srgbClr val="F4F4F4"/>
          </a:solidFill>
          <a:ln w="12700">
            <a:solidFill>
              <a:srgbClr val="EBEBEB"/>
            </a:solidFill>
            <a:prstDash val="solid"/>
          </a:ln>
        </p:spPr>
      </p:sp>
      <p:sp>
        <p:nvSpPr>
          <p:cNvPr id="23" name="Shape 21"/>
          <p:cNvSpPr/>
          <p:nvPr/>
        </p:nvSpPr>
        <p:spPr>
          <a:xfrm>
            <a:off x="365760" y="3895344"/>
            <a:ext cx="2286000" cy="1188720"/>
          </a:xfrm>
          <a:prstGeom prst="roundRect">
            <a:avLst>
              <a:gd name="adj" fmla="val 7692"/>
            </a:avLst>
          </a:prstGeom>
          <a:solidFill>
            <a:srgbClr val="FF9500"/>
          </a:solidFill>
          <a:ln/>
        </p:spPr>
      </p:sp>
      <p:sp>
        <p:nvSpPr>
          <p:cNvPr id="24" name="Shape 22"/>
          <p:cNvSpPr/>
          <p:nvPr/>
        </p:nvSpPr>
        <p:spPr>
          <a:xfrm>
            <a:off x="2377440" y="3895344"/>
            <a:ext cx="274320" cy="1188720"/>
          </a:xfrm>
          <a:prstGeom prst="rect">
            <a:avLst/>
          </a:prstGeom>
          <a:solidFill>
            <a:srgbClr val="FF9500"/>
          </a:solidFill>
          <a:ln/>
        </p:spPr>
      </p:sp>
      <p:sp>
        <p:nvSpPr>
          <p:cNvPr id="25" name="Text 23"/>
          <p:cNvSpPr txBox="1"/>
          <p:nvPr/>
        </p:nvSpPr>
        <p:spPr>
          <a:xfrm>
            <a:off x="502920" y="4032504"/>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MEDIANO PLAZO (1-3 años)</a:t>
            </a:r>
            <a:endParaRPr lang="en-US" sz="1300" dirty="0"/>
          </a:p>
        </p:txBody>
      </p:sp>
      <p:sp>
        <p:nvSpPr>
          <p:cNvPr id="26" name="Text 24"/>
          <p:cNvSpPr txBox="1"/>
          <p:nvPr/>
        </p:nvSpPr>
        <p:spPr>
          <a:xfrm>
            <a:off x="2743200" y="3968496"/>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Implementar el programa en todos los proyectos de capital</a:t>
            </a:r>
            <a:endParaRPr lang="en-US" sz="1050" dirty="0"/>
          </a:p>
        </p:txBody>
      </p:sp>
      <p:sp>
        <p:nvSpPr>
          <p:cNvPr id="27" name="Text 25"/>
          <p:cNvSpPr txBox="1"/>
          <p:nvPr/>
        </p:nvSpPr>
        <p:spPr>
          <a:xfrm>
            <a:off x="2743200" y="4224528"/>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Medir y reportar los beneficios del programa sistemáticamente</a:t>
            </a:r>
            <a:endParaRPr lang="en-US" sz="1050" dirty="0"/>
          </a:p>
        </p:txBody>
      </p:sp>
      <p:sp>
        <p:nvSpPr>
          <p:cNvPr id="28" name="Text 26"/>
          <p:cNvSpPr txBox="1"/>
          <p:nvPr/>
        </p:nvSpPr>
        <p:spPr>
          <a:xfrm>
            <a:off x="2743200" y="4480560"/>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LLDB con lecciones de múltiples proyectos</a:t>
            </a:r>
            <a:endParaRPr lang="en-US" sz="1050" dirty="0"/>
          </a:p>
        </p:txBody>
      </p:sp>
      <p:sp>
        <p:nvSpPr>
          <p:cNvPr id="29" name="Text 27"/>
          <p:cNvSpPr txBox="1"/>
          <p:nvPr/>
        </p:nvSpPr>
        <p:spPr>
          <a:xfrm>
            <a:off x="2743200" y="473659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y buscar reconocimiento como programa maduro (Nivel 4-5)</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90</a:t>
            </a:r>
            <a:endParaRPr lang="en-US" sz="900" dirty="0"/>
          </a:p>
        </p:txBody>
      </p:sp>
      <p:pic xmlns:p="http://schemas.openxmlformats.org/presentationml/2006/main" xmlns:a="http://schemas.openxmlformats.org/drawingml/2006/main" xmlns:r="http://schemas.openxmlformats.org/officeDocument/2006/relationships">
        <p:nvPicPr>
          <p:cNvPr id="8090" name="SlideIcon8090"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con Restricciones de Sitio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FF9500"/>
            </a:solidFill>
            <a:prstDash val="solid"/>
          </a:ln>
        </p:spPr>
      </p:sp>
      <p:sp>
        <p:nvSpPr>
          <p:cNvPr id="7" name="Shape 5"/>
          <p:cNvSpPr/>
          <p:nvPr/>
        </p:nvSpPr>
        <p:spPr>
          <a:xfrm>
            <a:off x="365760" y="1261872"/>
            <a:ext cx="4206240" cy="420624"/>
          </a:xfrm>
          <a:prstGeom prst="roundRect">
            <a:avLst>
              <a:gd name="adj" fmla="val 26087"/>
            </a:avLst>
          </a:prstGeom>
          <a:solidFill>
            <a:srgbClr val="FF9500"/>
          </a:solidFill>
          <a:ln/>
        </p:spPr>
      </p:sp>
      <p:sp>
        <p:nvSpPr>
          <p:cNvPr id="8" name="Shape 6"/>
          <p:cNvSpPr/>
          <p:nvPr/>
        </p:nvSpPr>
        <p:spPr>
          <a:xfrm>
            <a:off x="365760" y="1481328"/>
            <a:ext cx="4206240" cy="201168"/>
          </a:xfrm>
          <a:prstGeom prst="rect">
            <a:avLst/>
          </a:prstGeom>
          <a:solidFill>
            <a:srgbClr val="FF9500"/>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Urbanos Congestionados</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en sitios urbanos requiere análisis especial: acceso restringido para equipos, sin espacio de acopio, operaciones de terceros adyacentes, restricciones de horario y ruido.</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FF453A"/>
            </a:solidFill>
            <a:prstDash val="solid"/>
          </a:ln>
        </p:spPr>
      </p:sp>
      <p:sp>
        <p:nvSpPr>
          <p:cNvPr id="12" name="Shape 10"/>
          <p:cNvSpPr/>
          <p:nvPr/>
        </p:nvSpPr>
        <p:spPr>
          <a:xfrm>
            <a:off x="4754880" y="1261872"/>
            <a:ext cx="4206240" cy="420624"/>
          </a:xfrm>
          <a:prstGeom prst="roundRect">
            <a:avLst>
              <a:gd name="adj" fmla="val 26087"/>
            </a:avLst>
          </a:prstGeom>
          <a:solidFill>
            <a:srgbClr val="FF453A"/>
          </a:solidFill>
          <a:ln/>
        </p:spPr>
      </p:sp>
      <p:sp>
        <p:nvSpPr>
          <p:cNvPr id="13" name="Shape 11"/>
          <p:cNvSpPr/>
          <p:nvPr/>
        </p:nvSpPr>
        <p:spPr>
          <a:xfrm>
            <a:off x="4754880" y="1481328"/>
            <a:ext cx="4206240" cy="201168"/>
          </a:xfrm>
          <a:prstGeom prst="rect">
            <a:avLst/>
          </a:prstGeom>
          <a:solidFill>
            <a:srgbClr val="FF453A"/>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en Sitio Operativo (Brownfield)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proyecto se ejecuta mientras la planta sigue operando. Máxima complejidad de constructabilidad. Permisos de trabajo, aislamientos, HAZOPs, planes de interfaz.</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D60A"/>
            </a:solidFill>
            <a:prstDash val="solid"/>
          </a:ln>
        </p:spPr>
      </p:sp>
      <p:sp>
        <p:nvSpPr>
          <p:cNvPr id="17" name="Shape 15"/>
          <p:cNvSpPr/>
          <p:nvPr/>
        </p:nvSpPr>
        <p:spPr>
          <a:xfrm>
            <a:off x="365760" y="3044952"/>
            <a:ext cx="4206240" cy="420624"/>
          </a:xfrm>
          <a:prstGeom prst="roundRect">
            <a:avLst>
              <a:gd name="adj" fmla="val 26087"/>
            </a:avLst>
          </a:prstGeom>
          <a:solidFill>
            <a:srgbClr val="FFD60A"/>
          </a:solidFill>
          <a:ln/>
        </p:spPr>
      </p:sp>
      <p:sp>
        <p:nvSpPr>
          <p:cNvPr id="18" name="Shape 16"/>
          <p:cNvSpPr/>
          <p:nvPr/>
        </p:nvSpPr>
        <p:spPr>
          <a:xfrm>
            <a:off x="365760" y="3264408"/>
            <a:ext cx="4206240" cy="201168"/>
          </a:xfrm>
          <a:prstGeom prst="rect">
            <a:avLst/>
          </a:prstGeom>
          <a:solidFill>
            <a:srgbClr val="FFD60A"/>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con Contaminación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debe considerar protocolos de manejo de suelos contaminados. Impacto en productividad, costo adicional de disposición, cronograma impactado.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0A84FF"/>
            </a:solidFill>
            <a:prstDash val="solid"/>
          </a:ln>
        </p:spPr>
      </p:sp>
      <p:sp>
        <p:nvSpPr>
          <p:cNvPr id="22" name="Shape 20"/>
          <p:cNvSpPr/>
          <p:nvPr/>
        </p:nvSpPr>
        <p:spPr>
          <a:xfrm>
            <a:off x="4754880" y="3044952"/>
            <a:ext cx="4206240" cy="420624"/>
          </a:xfrm>
          <a:prstGeom prst="roundRect">
            <a:avLst>
              <a:gd name="adj" fmla="val 26087"/>
            </a:avLst>
          </a:prstGeom>
          <a:solidFill>
            <a:srgbClr val="0A84FF"/>
          </a:solidFill>
          <a:ln/>
        </p:spPr>
      </p:sp>
      <p:sp>
        <p:nvSpPr>
          <p:cNvPr id="23" name="Shape 21"/>
          <p:cNvSpPr/>
          <p:nvPr/>
        </p:nvSpPr>
        <p:spPr>
          <a:xfrm>
            <a:off x="4754880" y="3264408"/>
            <a:ext cx="4206240" cy="201168"/>
          </a:xfrm>
          <a:prstGeom prst="rect">
            <a:avLst/>
          </a:prstGeom>
          <a:solidFill>
            <a:srgbClr val="0A84FF"/>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Remotos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Transporte de personal y materiales domina el costo. Modularización maximizada. Prefabricación total cuando sea posible. Autosuficiencia del campamento.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91</a:t>
            </a:r>
            <a:endParaRPr lang="en-US" sz="900" dirty="0"/>
          </a:p>
        </p:txBody>
      </p:sp>
      <p:pic xmlns:p="http://schemas.openxmlformats.org/presentationml/2006/main" xmlns:a="http://schemas.openxmlformats.org/drawingml/2006/main" xmlns:r="http://schemas.openxmlformats.org/officeDocument/2006/relationships">
        <p:nvPicPr>
          <p:cNvPr id="8091" name="SlideIcon8091"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para Megaproyectos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AF52DE"/>
            </a:solidFill>
            <a:prstDash val="solid"/>
          </a:ln>
        </p:spPr>
      </p:sp>
      <p:sp>
        <p:nvSpPr>
          <p:cNvPr id="7" name="Shape 5"/>
          <p:cNvSpPr/>
          <p:nvPr/>
        </p:nvSpPr>
        <p:spPr>
          <a:xfrm>
            <a:off x="365760" y="1261872"/>
            <a:ext cx="4206240" cy="420624"/>
          </a:xfrm>
          <a:prstGeom prst="roundRect">
            <a:avLst>
              <a:gd name="adj" fmla="val 26087"/>
            </a:avLst>
          </a:prstGeom>
          <a:solidFill>
            <a:srgbClr val="AF52DE"/>
          </a:solidFill>
          <a:ln/>
        </p:spPr>
      </p:sp>
      <p:sp>
        <p:nvSpPr>
          <p:cNvPr id="8" name="Shape 6"/>
          <p:cNvSpPr/>
          <p:nvPr/>
        </p:nvSpPr>
        <p:spPr>
          <a:xfrm>
            <a:off x="365760" y="1481328"/>
            <a:ext cx="4206240" cy="201168"/>
          </a:xfrm>
          <a:prstGeom prst="rect">
            <a:avLst/>
          </a:prstGeom>
          <a:solidFill>
            <a:srgbClr val="AF52DE"/>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Escala y Complejidad Única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(&gt;$1B) tienen una constructabilidad de mayor complejidad. La interfaz entre múltiples contratistas se convierte en la principal fuente de problemas constructivos.</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Gestión de Interfaces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Planes de interfaz entre contratistas. Definición clara de "battery limits". Coordinación de cronogramas de diferentes frentes de trabajo. Arbitraje de conflictos de acceso.</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Logística de Gran Escala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de miles de trabajadores. Sistema de buses, comedores, alojamiento. Logística de materiales a escala industrial. Plan maestro de tráfico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Programa de Constructabilidad Corporativo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requieren un programa de constructabilidad formal con Gerente de Constructabilidad dedicado, múltiples campeones y reportes a la dirección de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92</a:t>
            </a:r>
            <a:endParaRPr lang="en-US" sz="900" dirty="0"/>
          </a:p>
        </p:txBody>
      </p:sp>
      <p:pic xmlns:p="http://schemas.openxmlformats.org/presentationml/2006/main" xmlns:a="http://schemas.openxmlformats.org/drawingml/2006/main" xmlns:r="http://schemas.openxmlformats.org/officeDocument/2006/relationships">
        <p:nvPicPr>
          <p:cNvPr id="8092" name="SlideIcon8092"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 Proyectos Verdes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Sinergia Natural</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y la sostenibilidad comparten el objetivo de optimizar el uso de recursos. Un proyecto bien construible genera menos desperdicios y consume menos energía durante la construcción.</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Reducción de Desperdicios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programa de constructabilidad debe incluir indicadores de minimización de desperdicios de construcción. El proyecto Fjardaál estableció un nuevo estándar de minimización de residuos.</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Fuera del Sitio</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prefabricación y modularización en taller genera menos desperdicio que el trabajo en campo, mayor control de calidad y menor impacto ambiental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FFD60A"/>
            </a:solidFill>
            <a:prstDash val="solid"/>
          </a:ln>
        </p:spPr>
      </p:sp>
      <p:sp>
        <p:nvSpPr>
          <p:cNvPr id="22" name="Shape 20"/>
          <p:cNvSpPr/>
          <p:nvPr/>
        </p:nvSpPr>
        <p:spPr>
          <a:xfrm>
            <a:off x="4754880" y="3044952"/>
            <a:ext cx="4206240" cy="420624"/>
          </a:xfrm>
          <a:prstGeom prst="roundRect">
            <a:avLst>
              <a:gd name="adj" fmla="val 26087"/>
            </a:avLst>
          </a:prstGeom>
          <a:solidFill>
            <a:srgbClr val="FFD60A"/>
          </a:solidFill>
          <a:ln/>
        </p:spPr>
      </p:sp>
      <p:sp>
        <p:nvSpPr>
          <p:cNvPr id="23" name="Shape 21"/>
          <p:cNvSpPr/>
          <p:nvPr/>
        </p:nvSpPr>
        <p:spPr>
          <a:xfrm>
            <a:off x="4754880" y="3264408"/>
            <a:ext cx="4206240" cy="201168"/>
          </a:xfrm>
          <a:prstGeom prst="rect">
            <a:avLst/>
          </a:prstGeom>
          <a:solidFill>
            <a:srgbClr val="FFD60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Materiales Sostenibles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de materiales (Concepto II-2) debe considerar la huella ambiental del proceso de fabricación e instalación, no solo el costo inicial.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93</a:t>
            </a:r>
            <a:endParaRPr lang="en-US" sz="900" dirty="0"/>
          </a:p>
        </p:txBody>
      </p:sp>
      <p:pic xmlns:p="http://schemas.openxmlformats.org/presentationml/2006/main" xmlns:a="http://schemas.openxmlformats.org/drawingml/2006/main" xmlns:r="http://schemas.openxmlformats.org/officeDocument/2006/relationships">
        <p:nvPicPr>
          <p:cNvPr id="8093" name="SlideIcon8093"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Futuro de la Constructabilidad — Tendencias Emergentes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64D2FF"/>
            </a:solidFill>
            <a:prstDash val="solid"/>
          </a:ln>
        </p:spPr>
      </p:sp>
      <p:sp>
        <p:nvSpPr>
          <p:cNvPr id="7" name="Shape 5"/>
          <p:cNvSpPr/>
          <p:nvPr/>
        </p:nvSpPr>
        <p:spPr>
          <a:xfrm>
            <a:off x="365760" y="1261872"/>
            <a:ext cx="4206240" cy="420624"/>
          </a:xfrm>
          <a:prstGeom prst="roundRect">
            <a:avLst>
              <a:gd name="adj" fmla="val 26087"/>
            </a:avLst>
          </a:prstGeom>
          <a:solidFill>
            <a:srgbClr val="64D2FF"/>
          </a:solidFill>
          <a:ln/>
        </p:spPr>
      </p:sp>
      <p:sp>
        <p:nvSpPr>
          <p:cNvPr id="8" name="Shape 6"/>
          <p:cNvSpPr/>
          <p:nvPr/>
        </p:nvSpPr>
        <p:spPr>
          <a:xfrm>
            <a:off x="365760" y="1481328"/>
            <a:ext cx="4206240" cy="201168"/>
          </a:xfrm>
          <a:prstGeom prst="rect">
            <a:avLst/>
          </a:prstGeom>
          <a:solidFill>
            <a:srgbClr val="64D2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 Digital (DfMA)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Design for Manufacture and Assembly (DfMA) con soporte de BIM. La integración del modelo digital con el proceso de fabricación permite prefabricación de alta precisión a menor costo.</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Inteligencia Artificial en Constructabilidad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aplicada a la detección automática de problemas de constructabilidad en modelos BIM. Sistemas que aprenden de la base de datos de lecciones aprendidas de la empresa.</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Impresión 3D en Construcción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impresión 3D de componentes estructurales y no estructurales cambiará la constructabilidad de ciertos tipos de proyectos. Eliminación de encofrados, reducción de labor.</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Robótica en Campo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Robots para soldadura, colocación de ladrillos, instalación de paneles. La constructabilidad del futuro incorporará la accesibilidad y operación de robots en el análisis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94</a:t>
            </a:r>
            <a:endParaRPr lang="en-US" sz="900" dirty="0"/>
          </a:p>
        </p:txBody>
      </p:sp>
      <p:pic xmlns:p="http://schemas.openxmlformats.org/presentationml/2006/main" xmlns:a="http://schemas.openxmlformats.org/drawingml/2006/main" xmlns:r="http://schemas.openxmlformats.org/officeDocument/2006/relationships">
        <p:nvPicPr>
          <p:cNvPr id="8094" name="SlideIcon8094"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Final: ¿Está su Empresa Lista para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FFD60A"/>
            </a:solidFill>
            <a:prstDash val="solid"/>
          </a:ln>
        </p:spPr>
      </p:sp>
      <p:sp>
        <p:nvSpPr>
          <p:cNvPr id="7" name="Shape 5"/>
          <p:cNvSpPr/>
          <p:nvPr/>
        </p:nvSpPr>
        <p:spPr>
          <a:xfrm>
            <a:off x="365760" y="1261872"/>
            <a:ext cx="4206240" cy="420624"/>
          </a:xfrm>
          <a:prstGeom prst="roundRect">
            <a:avLst>
              <a:gd name="adj" fmla="val 26087"/>
            </a:avLst>
          </a:prstGeom>
          <a:solidFill>
            <a:srgbClr val="FFD60A"/>
          </a:solidFill>
          <a:ln/>
        </p:spPr>
      </p:sp>
      <p:sp>
        <p:nvSpPr>
          <p:cNvPr id="8" name="Shape 6"/>
          <p:cNvSpPr/>
          <p:nvPr/>
        </p:nvSpPr>
        <p:spPr>
          <a:xfrm>
            <a:off x="365760" y="1481328"/>
            <a:ext cx="4206240" cy="201168"/>
          </a:xfrm>
          <a:prstGeom prst="rect">
            <a:avLst/>
          </a:prstGeom>
          <a:solidFill>
            <a:srgbClr val="FFD60A"/>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Comprensión</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equipo directivo entiende la diferencia entre constructabilidad y revisión de diseño? ¿Conocen los datos CII sobre retorno de la inversión? Primer paso: educación del liderazgo.</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FF9500"/>
            </a:solidFill>
            <a:prstDash val="solid"/>
          </a:ln>
        </p:spPr>
      </p:sp>
      <p:sp>
        <p:nvSpPr>
          <p:cNvPr id="12" name="Shape 10"/>
          <p:cNvSpPr/>
          <p:nvPr/>
        </p:nvSpPr>
        <p:spPr>
          <a:xfrm>
            <a:off x="4754880" y="1261872"/>
            <a:ext cx="4206240" cy="420624"/>
          </a:xfrm>
          <a:prstGeom prst="roundRect">
            <a:avLst>
              <a:gd name="adj" fmla="val 26087"/>
            </a:avLst>
          </a:prstGeom>
          <a:solidFill>
            <a:srgbClr val="FF9500"/>
          </a:solidFill>
          <a:ln/>
        </p:spPr>
      </p:sp>
      <p:sp>
        <p:nvSpPr>
          <p:cNvPr id="13" name="Shape 11"/>
          <p:cNvSpPr/>
          <p:nvPr/>
        </p:nvSpPr>
        <p:spPr>
          <a:xfrm>
            <a:off x="4754880" y="1481328"/>
            <a:ext cx="4206240" cy="201168"/>
          </a:xfrm>
          <a:prstGeom prst="rect">
            <a:avLst/>
          </a:prstGeom>
          <a:solidFill>
            <a:srgbClr val="FF9500"/>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Compromiso</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¿Hay voluntad de asignar recursos al programa? ¿Existe un campeón con autoridad real? ¿La dirección está dispuesta a cambiar contratos para incluir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0A84FF"/>
            </a:solidFill>
            <a:prstDash val="solid"/>
          </a:ln>
        </p:spPr>
      </p:sp>
      <p:sp>
        <p:nvSpPr>
          <p:cNvPr id="17" name="Shape 15"/>
          <p:cNvSpPr/>
          <p:nvPr/>
        </p:nvSpPr>
        <p:spPr>
          <a:xfrm>
            <a:off x="365760" y="3044952"/>
            <a:ext cx="4206240" cy="420624"/>
          </a:xfrm>
          <a:prstGeom prst="roundRect">
            <a:avLst>
              <a:gd name="adj" fmla="val 26087"/>
            </a:avLst>
          </a:prstGeom>
          <a:solidFill>
            <a:srgbClr val="0A84FF"/>
          </a:solidFill>
          <a:ln/>
        </p:spPr>
      </p:sp>
      <p:sp>
        <p:nvSpPr>
          <p:cNvPr id="18" name="Shape 16"/>
          <p:cNvSpPr/>
          <p:nvPr/>
        </p:nvSpPr>
        <p:spPr>
          <a:xfrm>
            <a:off x="365760" y="3264408"/>
            <a:ext cx="4206240" cy="201168"/>
          </a:xfrm>
          <a:prstGeom prst="rect">
            <a:avLst/>
          </a:prstGeom>
          <a:solidFill>
            <a:srgbClr val="0A84FF"/>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Capacidad</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¿Tienen personal con experiencia dual E+C? ¿Existe una LLDB aunque sea básica? ¿Los diseñadores tienen acceso a constructores durante el diseño?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30D158"/>
            </a:solidFill>
            <a:prstDash val="solid"/>
          </a:ln>
        </p:spPr>
      </p:sp>
      <p:sp>
        <p:nvSpPr>
          <p:cNvPr id="22" name="Shape 20"/>
          <p:cNvSpPr/>
          <p:nvPr/>
        </p:nvSpPr>
        <p:spPr>
          <a:xfrm>
            <a:off x="4754880" y="3044952"/>
            <a:ext cx="4206240" cy="420624"/>
          </a:xfrm>
          <a:prstGeom prst="roundRect">
            <a:avLst>
              <a:gd name="adj" fmla="val 26087"/>
            </a:avLst>
          </a:prstGeom>
          <a:solidFill>
            <a:srgbClr val="30D158"/>
          </a:solidFill>
          <a:ln/>
        </p:spPr>
      </p:sp>
      <p:sp>
        <p:nvSpPr>
          <p:cNvPr id="23" name="Shape 21"/>
          <p:cNvSpPr/>
          <p:nvPr/>
        </p:nvSpPr>
        <p:spPr>
          <a:xfrm>
            <a:off x="4754880" y="3264408"/>
            <a:ext cx="4206240" cy="201168"/>
          </a:xfrm>
          <a:prstGeom prst="rect">
            <a:avLst/>
          </a:prstGeom>
          <a:solidFill>
            <a:srgbClr val="30D158"/>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Integración</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PEP incluye constructabilidad? ¿Los cronogramas se construyen desde el campo hacia atrás? ¿La procura considera las necesidades de campo antes que las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95</a:t>
            </a:r>
            <a:endParaRPr lang="en-US" sz="900" dirty="0"/>
          </a:p>
        </p:txBody>
      </p:sp>
      <p:pic xmlns:p="http://schemas.openxmlformats.org/presentationml/2006/main" xmlns:a="http://schemas.openxmlformats.org/drawingml/2006/main" xmlns:r="http://schemas.openxmlformats.org/officeDocument/2006/relationships">
        <p:nvPicPr>
          <p:cNvPr id="8095" name="SlideIcon8095" descr="icon"/>
          <p:cNvPicPr>
            <a:picLocks noChangeAspect="1"/>
          </p:cNvPicPr>
          <p:nvPr/>
        </p:nvPicPr>
        <p:blipFill>
          <a:blip r:embed="rId9012"/>
          <a:stretch>
            <a:fillRect/>
          </a:stretch>
        </p:blipFill>
        <p:spPr>
          <a:xfrm>
            <a:off x="73152" y="118872"/>
            <a:ext cx="347472" cy="347472"/>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Las Publicaciones CII que Todo Director de Proyecto Debe Conocer</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A Primer (3-1)</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documento introductorio. Para ejecutivos y directores. 15 páginas que resumen el concepto y presentan 7 mini-casos con beneficios cuantificados. Lectura obligatoria.</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Implementation Guide (SP 34-1)</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guía completa. 19 herramientas, hoja de ruta, 4 casos de estudio detallados. Para el Gerente de Proyecto y el Gerente de Constructabilidad. La biblia del programa.</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Concepts File (3-3)</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Descripción detallada de los 14 conceptos originales. Base conceptual para la capacitación del equipo.</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SD-4, SD-5, SD-25, SD-34</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4 Source Documents de la Constructability Task Force (1984-1987). Investigación original que fundamenta todos los conceptos. Para especialistas que quieren profundizar.</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96</a:t>
            </a:r>
            <a:endParaRPr lang="en-US" sz="900" dirty="0"/>
          </a:p>
        </p:txBody>
      </p:sp>
      <p:pic xmlns:p="http://schemas.openxmlformats.org/presentationml/2006/main" xmlns:a="http://schemas.openxmlformats.org/drawingml/2006/main" xmlns:r="http://schemas.openxmlformats.org/officeDocument/2006/relationships">
        <p:nvPicPr>
          <p:cNvPr id="8096" name="SlideIcon8096"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Recursos Adicionales para Profundizar en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CII Website (construction-institute.org)</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Biblioteca completa de publicaciones CII. Membresía para propietarios, diseñadores y constructores. Acceso a herramientas, talleres y benchmarking.</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Universidad de Texas at Austin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de capacitación en Constructabilidad con Dr. James T. O'Connor. Curso CIV 1278: Pre-Project Planning &amp; Constructability Analysis.</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Diagnóstico Empresarial CII</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Construction Industry Institute ofrece diagnósticos de madurez de constructabilidad para organizaciones miembro. Benchmark contra la industria.</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FF453A"/>
            </a:solidFill>
            <a:prstDash val="solid"/>
          </a:ln>
        </p:spPr>
      </p:sp>
      <p:sp>
        <p:nvSpPr>
          <p:cNvPr id="22" name="Shape 20"/>
          <p:cNvSpPr/>
          <p:nvPr/>
        </p:nvSpPr>
        <p:spPr>
          <a:xfrm>
            <a:off x="4754880" y="3044952"/>
            <a:ext cx="4206240" cy="420624"/>
          </a:xfrm>
          <a:prstGeom prst="roundRect">
            <a:avLst>
              <a:gd name="adj" fmla="val 26087"/>
            </a:avLst>
          </a:prstGeom>
          <a:solidFill>
            <a:srgbClr val="FF453A"/>
          </a:solidFill>
          <a:ln/>
        </p:spPr>
      </p:sp>
      <p:sp>
        <p:nvSpPr>
          <p:cNvPr id="23" name="Shape 21"/>
          <p:cNvSpPr/>
          <p:nvPr/>
        </p:nvSpPr>
        <p:spPr>
          <a:xfrm>
            <a:off x="4754880" y="3264408"/>
            <a:ext cx="4206240" cy="201168"/>
          </a:xfrm>
          <a:prstGeom prst="rect">
            <a:avLst/>
          </a:prstGeom>
          <a:solidFill>
            <a:srgbClr val="FF453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Lean Construction Institute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LCI complementa la constructabilidad con herramientas Lean (Last Planner, Big Room, Target Value Design). La intersección entre ambas filosofías es altamente productiva.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97</a:t>
            </a:r>
            <a:endParaRPr lang="en-US" sz="900" dirty="0"/>
          </a:p>
        </p:txBody>
      </p:sp>
      <p:pic xmlns:p="http://schemas.openxmlformats.org/presentationml/2006/main" xmlns:a="http://schemas.openxmlformats.org/drawingml/2006/main" xmlns:r="http://schemas.openxmlformats.org/officeDocument/2006/relationships">
        <p:nvPicPr>
          <p:cNvPr id="8097" name="SlideIcon8097"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1</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 — CII</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PEP (Project Execution Plan)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Documento maestro del proyecto que formaliza objetivos, estrategias, organización y planes de implementación de todas las áreas clave, incluyendo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PPMOF (Prefab/Pre-assembly/Modularization/Off-site Fabrication)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Familia de técnicas que trasladan trabajo del sitio de construcción a talleres controlados para mejorar eficiencia, calidad y seguridad.</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TIC (Total Installed Cost)</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Costo total instalado del proyecto: incluye ingeniería, procura, construcción, comisionamiento y los costos indirectos del propietario.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98</a:t>
            </a:r>
            <a:endParaRPr lang="en-US" sz="900" dirty="0"/>
          </a:p>
        </p:txBody>
      </p:sp>
      <p:pic xmlns:p="http://schemas.openxmlformats.org/presentationml/2006/main" xmlns:a="http://schemas.openxmlformats.org/drawingml/2006/main" xmlns:r="http://schemas.openxmlformats.org/officeDocument/2006/relationships">
        <p:nvPicPr>
          <p:cNvPr id="8098" name="SlideIcon8098"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2</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Fast-Track</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Estrategia de proyecto donde la construcción se inicia antes de completar el diseño. Requiere constructabilidad avanzada para gestionar el traslape entre fases.</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Path of Construction (Camino de Construcción)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óptima de actividades de construcción que maximiza la productividad, minimiza interferencias y respeta las restricciones de sitio y clima.</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Gain-Share</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Mecanismo contractual donde los ahorros generados (incluyendo los de constructabilidad) se comparten entre el propietario y el contratista según una fórmula acordada.</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IWP (Installation Work Package)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Paquete de trabajo de instalación: unidad básica de planificación de campo que incluye planos, materiales, herramientas, secuencia y criterios de calidad para una cuadrilla.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99</a:t>
            </a:r>
            <a:endParaRPr lang="en-US" sz="900" dirty="0"/>
          </a:p>
        </p:txBody>
      </p:sp>
      <p:pic xmlns:p="http://schemas.openxmlformats.org/presentationml/2006/main" xmlns:a="http://schemas.openxmlformats.org/drawingml/2006/main" xmlns:r="http://schemas.openxmlformats.org/officeDocument/2006/relationships">
        <p:nvPicPr>
          <p:cNvPr id="8099" name="SlideIcon8099"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Indicadores de Madurez de la Constructabilidad — Cuadro de Mando</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F4F4F4"/>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Madurez Programa (1-5)</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Evaluado con la Matriz de 15 parámetros CII. Meta de primer año: pasar de Nivel 1-2 a Nivel 3. Meta a 3 años: Nivel 4 o superior.</a:t>
            </a:r>
            <a:endParaRPr lang="en-US" sz="1100" dirty="0"/>
          </a:p>
        </p:txBody>
      </p:sp>
      <p:sp>
        <p:nvSpPr>
          <p:cNvPr id="11" name="Shape 9"/>
          <p:cNvSpPr/>
          <p:nvPr/>
        </p:nvSpPr>
        <p:spPr>
          <a:xfrm>
            <a:off x="4754880" y="1261872"/>
            <a:ext cx="4206240" cy="1645920"/>
          </a:xfrm>
          <a:prstGeom prst="roundRect">
            <a:avLst>
              <a:gd name="adj" fmla="val 6667"/>
            </a:avLst>
          </a:prstGeom>
          <a:solidFill>
            <a:srgbClr val="F4F4F4"/>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Ideas/Millón de Dólares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≥5 ideas por millón de dólares de TIC. Proyectos maduros generan 10-15 ideas/M$. Indicador de cultura de constructabilidad del equipo.</a:t>
            </a:r>
            <a:endParaRPr lang="en-US" sz="1100" dirty="0"/>
          </a:p>
        </p:txBody>
      </p:sp>
      <p:sp>
        <p:nvSpPr>
          <p:cNvPr id="16" name="Shape 14"/>
          <p:cNvSpPr/>
          <p:nvPr/>
        </p:nvSpPr>
        <p:spPr>
          <a:xfrm>
            <a:off x="365760" y="3044952"/>
            <a:ext cx="4206240" cy="1645920"/>
          </a:xfrm>
          <a:prstGeom prst="roundRect">
            <a:avLst>
              <a:gd name="adj" fmla="val 6667"/>
            </a:avLst>
          </a:prstGeom>
          <a:solidFill>
            <a:srgbClr val="F4F4F4"/>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B/C Ratio del Programa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≥10:1. Calcular al cierre de cada fase y al cierre del proyecto. Comparar contra el promedio histórico de proyectos de la empresa.</a:t>
            </a:r>
            <a:endParaRPr lang="en-US" sz="1100" dirty="0"/>
          </a:p>
        </p:txBody>
      </p:sp>
      <p:sp>
        <p:nvSpPr>
          <p:cNvPr id="21" name="Shape 19"/>
          <p:cNvSpPr/>
          <p:nvPr/>
        </p:nvSpPr>
        <p:spPr>
          <a:xfrm>
            <a:off x="4754880" y="3044952"/>
            <a:ext cx="4206240" cy="1645920"/>
          </a:xfrm>
          <a:prstGeom prst="roundRect">
            <a:avLst>
              <a:gd name="adj" fmla="val 6667"/>
            </a:avLst>
          </a:prstGeom>
          <a:solidFill>
            <a:srgbClr val="F4F4F4"/>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 Retrabajo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&lt;2% del costo directo. El retrabajo es el indicador más directo de falla en constructabilidad. Proyectos sin programa: 10-15% de retrabajo.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100</a:t>
            </a:r>
            <a:endParaRPr lang="en-US" sz="900" dirty="0"/>
          </a:p>
        </p:txBody>
      </p:sp>
      <p:pic xmlns:p="http://schemas.openxmlformats.org/presentationml/2006/main" xmlns:a="http://schemas.openxmlformats.org/drawingml/2006/main" xmlns:r="http://schemas.openxmlformats.org/officeDocument/2006/relationships">
        <p:nvPicPr>
          <p:cNvPr id="8100" name="SlideIcon8100"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914400"/>
          </a:xfrm>
          <a:prstGeom prst="rect">
            <a:avLst/>
          </a:prstGeom>
          <a:noFill/>
          <a:ln/>
        </p:spPr>
        <p:txBody>
          <a:bodyPr wrap="square" lIns="0" tIns="0" rIns="0" bIns="0" rtlCol="0" anchor="ctr"/>
          <a:lstStyle/>
          <a:p>
            <a:pPr algn="ctr" indent="0" marL="0">
              <a:buNone/>
            </a:pPr>
            <a:r>
              <a:rPr lang="en-US" sz="32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3200" dirty="0"/>
          </a:p>
        </p:txBody>
      </p:sp>
      <p:sp>
        <p:nvSpPr>
          <p:cNvPr id="5" name="Text 3"/>
          <p:cNvSpPr txBox="1"/>
          <p:nvPr/>
        </p:nvSpPr>
        <p:spPr>
          <a:xfrm>
            <a:off x="502920" y="1572768"/>
            <a:ext cx="8138160" cy="475488"/>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Camino hacia Proyectos más Eficientes</a:t>
            </a:r>
            <a:endParaRPr lang="en-US" sz="2200" dirty="0"/>
          </a:p>
        </p:txBody>
      </p:sp>
      <p:sp>
        <p:nvSpPr>
          <p:cNvPr id="6" name="Shape 4"/>
          <p:cNvSpPr/>
          <p:nvPr/>
        </p:nvSpPr>
        <p:spPr>
          <a:xfrm>
            <a:off x="2286000" y="2148840"/>
            <a:ext cx="4572000" cy="36576"/>
          </a:xfrm>
          <a:prstGeom prst="rect">
            <a:avLst/>
          </a:prstGeom>
          <a:solidFill>
            <a:srgbClr val="EBEBEB"/>
          </a:solidFill>
          <a:ln/>
        </p:spPr>
      </p:sp>
      <p:sp>
        <p:nvSpPr>
          <p:cNvPr id="7" name="Text 5"/>
          <p:cNvSpPr txBox="1"/>
          <p:nvPr/>
        </p:nvSpPr>
        <p:spPr>
          <a:xfrm>
            <a:off x="731520" y="2286000"/>
            <a:ext cx="7680960" cy="914400"/>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"Constructabilidad significa mejores proyectos — menores costos, mejor productividad, terminaciones anticipadas e inicios de operación más tempranos."</a:t>
            </a:r>
            <a:endParaRPr lang="en-US" sz="1200" dirty="0"/>
          </a:p>
        </p:txBody>
      </p:sp>
      <p:sp>
        <p:nvSpPr>
          <p:cNvPr id="8" name="Text 6"/>
          <p:cNvSpPr txBox="1"/>
          <p:nvPr/>
        </p:nvSpPr>
        <p:spPr>
          <a:xfrm>
            <a:off x="731520" y="3218688"/>
            <a:ext cx="7680960" cy="256032"/>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Publication 3-1, 1986</a:t>
            </a:r>
            <a:endParaRPr lang="en-US" sz="1200" dirty="0"/>
          </a:p>
        </p:txBody>
      </p:sp>
      <p:sp>
        <p:nvSpPr>
          <p:cNvPr id="9" name="Text 7"/>
          <p:cNvSpPr txBox="1"/>
          <p:nvPr/>
        </p:nvSpPr>
        <p:spPr>
          <a:xfrm>
            <a:off x="731520" y="3749040"/>
            <a:ext cx="7680960" cy="256032"/>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10" name="Text 8"/>
          <p:cNvSpPr txBox="1"/>
          <p:nvPr/>
        </p:nvSpPr>
        <p:spPr>
          <a:xfrm>
            <a:off x="731520" y="4023360"/>
            <a:ext cx="7680960" cy="256032"/>
          </a:xfrm>
          <a:prstGeom prst="rect">
            <a:avLst/>
          </a:prstGeom>
          <a:noFill/>
          <a:ln/>
        </p:spPr>
        <p:txBody>
          <a:bodyPr wrap="square" lIns="0" tIns="0" rIns="0" bIns="0" rtlCol="0" anchor="ctr"/>
          <a:lstStyle/>
          <a:p>
            <a:pPr algn="ctr" indent="0" marL="0">
              <a:buNone/>
            </a:pPr>
            <a:r>
              <a:rPr lang="en-US" sz="1100" dirty="0">
                <a:solidFill>
                  <a:srgbClr val="EBEBEB"/>
                </a:solidFill>
                <a:latin typeface="Atkinson Hyperlegible" pitchFamily="34" charset="0"/>
                <a:ea typeface="Atkinson Hyperlegible" pitchFamily="34" charset="-122"/>
                <a:cs typeface="Atkinson Hyperlegible" pitchFamily="34" charset="-120"/>
              </a:rPr>
              <a:t>SP 34-1  ·  Publication 3-1  ·  SD-4  ·  SD-5  ·  SD-25  ·  SD-34</a:t>
            </a:r>
            <a:endParaRPr lang="en-US" sz="11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101</a:t>
            </a:r>
            <a:endParaRPr lang="en-US" sz="900" dirty="0"/>
          </a:p>
        </p:txBody>
      </p:sp>
      <p:pic xmlns:p="http://schemas.openxmlformats.org/presentationml/2006/main" xmlns:a="http://schemas.openxmlformats.org/drawingml/2006/main" xmlns:r="http://schemas.openxmlformats.org/officeDocument/2006/relationships">
        <p:nvPicPr>
          <p:cNvPr id="8101" name="SlideIcon8101"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Descripción Detallada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868680"/>
          </a:xfrm>
          <a:prstGeom prst="roundRect">
            <a:avLst>
              <a:gd name="adj" fmla="val 8421"/>
            </a:avLst>
          </a:prstGeom>
          <a:solidFill>
            <a:srgbClr val="F4F4F4"/>
          </a:solidFill>
          <a:ln w="12700">
            <a:solidFill>
              <a:srgbClr val="EBEBEB"/>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T-1</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Revisión Temprana de Constructabilidad</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Evalúa el proyecto en etapa conceptual antes de comprometer el 15% del costo total</a:t>
            </a:r>
            <a:endParaRPr lang="en-US" sz="1100" dirty="0"/>
          </a:p>
        </p:txBody>
      </p:sp>
      <p:sp>
        <p:nvSpPr>
          <p:cNvPr id="9" name="Shape 7"/>
          <p:cNvSpPr/>
          <p:nvPr/>
        </p:nvSpPr>
        <p:spPr>
          <a:xfrm>
            <a:off x="365760" y="1920240"/>
            <a:ext cx="8412480" cy="868680"/>
          </a:xfrm>
          <a:prstGeom prst="roundRect">
            <a:avLst>
              <a:gd name="adj" fmla="val 8421"/>
            </a:avLst>
          </a:prstGeom>
          <a:solidFill>
            <a:srgbClr val="F4F4F4"/>
          </a:solidFill>
          <a:ln w="12700">
            <a:solidFill>
              <a:srgbClr val="EBEBEB"/>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T-2</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Equipo Constructabilidad Multidisciplinario</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Integra CM, PM, ingenieros, constructores desde el inicio</a:t>
            </a:r>
            <a:endParaRPr lang="en-US" sz="1100" dirty="0"/>
          </a:p>
        </p:txBody>
      </p:sp>
      <p:sp>
        <p:nvSpPr>
          <p:cNvPr id="13" name="Shape 11"/>
          <p:cNvSpPr/>
          <p:nvPr/>
        </p:nvSpPr>
        <p:spPr>
          <a:xfrm>
            <a:off x="365760" y="2880360"/>
            <a:ext cx="8412480" cy="868680"/>
          </a:xfrm>
          <a:prstGeom prst="roundRect">
            <a:avLst>
              <a:gd name="adj" fmla="val 8421"/>
            </a:avLst>
          </a:prstGeom>
          <a:solidFill>
            <a:srgbClr val="F4F4F4"/>
          </a:solidFill>
          <a:ln w="12700">
            <a:solidFill>
              <a:srgbClr val="EBEBEB"/>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T-3</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Simplificación del Diseño</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Reduce complejidad sin afectar función: menos juntas, interfaces, piezas</a:t>
            </a:r>
            <a:endParaRPr lang="en-US" sz="1100" dirty="0"/>
          </a:p>
        </p:txBody>
      </p:sp>
      <p:sp>
        <p:nvSpPr>
          <p:cNvPr id="17" name="Shape 15"/>
          <p:cNvSpPr/>
          <p:nvPr/>
        </p:nvSpPr>
        <p:spPr>
          <a:xfrm>
            <a:off x="365760" y="3840480"/>
            <a:ext cx="8412480" cy="868680"/>
          </a:xfrm>
          <a:prstGeom prst="roundRect">
            <a:avLst>
              <a:gd name="adj" fmla="val 8421"/>
            </a:avLst>
          </a:prstGeom>
          <a:solidFill>
            <a:srgbClr val="F4F4F4"/>
          </a:solidFill>
          <a:ln w="12700">
            <a:solidFill>
              <a:srgbClr val="EBEBEB"/>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T-4</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Estandarización de Componentes</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Reutiliza soluciones probadas; reduce curva de aprendizaje en campo</a:t>
            </a:r>
            <a:endParaRPr lang="en-US" sz="1100" dirty="0"/>
          </a:p>
        </p:txBody>
      </p:sp>
      <p:sp>
        <p:nvSpPr>
          <p:cNvPr id="21" name="Shape 19"/>
          <p:cNvSpPr/>
          <p:nvPr/>
        </p:nvSpPr>
        <p:spPr>
          <a:xfrm>
            <a:off x="365760" y="4800600"/>
            <a:ext cx="8412480" cy="868680"/>
          </a:xfrm>
          <a:prstGeom prst="roundRect">
            <a:avLst>
              <a:gd name="adj" fmla="val 8421"/>
            </a:avLst>
          </a:prstGeom>
          <a:solidFill>
            <a:srgbClr val="F4F4F4"/>
          </a:solidFill>
          <a:ln w="12700">
            <a:solidFill>
              <a:srgbClr val="EBEBEB"/>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T-5</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Modularización / Pre-ensamble</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Traslada trabajo del campo a taller controlado; hasta 40% reducción horas-campo</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102</a:t>
            </a:r>
            <a:endParaRPr lang="en-US" sz="900" dirty="0"/>
          </a:p>
        </p:txBody>
      </p:sp>
      <p:pic xmlns:p="http://schemas.openxmlformats.org/presentationml/2006/main" xmlns:a="http://schemas.openxmlformats.org/drawingml/2006/main" xmlns:r="http://schemas.openxmlformats.org/officeDocument/2006/relationships">
        <p:nvPicPr>
          <p:cNvPr id="8102" name="SlideIcon8102"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T-6 a T-10</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868680"/>
          </a:xfrm>
          <a:prstGeom prst="roundRect">
            <a:avLst>
              <a:gd name="adj" fmla="val 8421"/>
            </a:avLst>
          </a:prstGeom>
          <a:solidFill>
            <a:srgbClr val="F4F4F4"/>
          </a:solidFill>
          <a:ln w="12700">
            <a:solidFill>
              <a:srgbClr val="EBEBEB"/>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T-6</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en Diseño</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 rutas de acceso para construcción, mantenimiento y retiro de equipos</a:t>
            </a:r>
            <a:endParaRPr lang="en-US" sz="1100" dirty="0"/>
          </a:p>
        </p:txBody>
      </p:sp>
      <p:sp>
        <p:nvSpPr>
          <p:cNvPr id="9" name="Shape 7"/>
          <p:cNvSpPr/>
          <p:nvPr/>
        </p:nvSpPr>
        <p:spPr>
          <a:xfrm>
            <a:off x="365760" y="1920240"/>
            <a:ext cx="8412480" cy="868680"/>
          </a:xfrm>
          <a:prstGeom prst="roundRect">
            <a:avLst>
              <a:gd name="adj" fmla="val 8421"/>
            </a:avLst>
          </a:prstGeom>
          <a:solidFill>
            <a:srgbClr val="F4F4F4"/>
          </a:solidFill>
          <a:ln w="12700">
            <a:solidFill>
              <a:srgbClr val="EBEBEB"/>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T-7</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Secuenciación Constructiva</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Define la lógica de construcción desde diseño; evita conflictos de interferencias</a:t>
            </a:r>
            <a:endParaRPr lang="en-US" sz="1100" dirty="0"/>
          </a:p>
        </p:txBody>
      </p:sp>
      <p:sp>
        <p:nvSpPr>
          <p:cNvPr id="13" name="Shape 11"/>
          <p:cNvSpPr/>
          <p:nvPr/>
        </p:nvSpPr>
        <p:spPr>
          <a:xfrm>
            <a:off x="365760" y="2880360"/>
            <a:ext cx="8412480" cy="868680"/>
          </a:xfrm>
          <a:prstGeom prst="roundRect">
            <a:avLst>
              <a:gd name="adj" fmla="val 8421"/>
            </a:avLst>
          </a:prstGeom>
          <a:solidFill>
            <a:srgbClr val="F4F4F4"/>
          </a:solidFill>
          <a:ln w="12700">
            <a:solidFill>
              <a:srgbClr val="EBEBEB"/>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T-8</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Diseño para Condiciones Climáticas</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Considera clima local; techos provisionales, orientación, estaciones lluviosas</a:t>
            </a:r>
            <a:endParaRPr lang="en-US" sz="1100" dirty="0"/>
          </a:p>
        </p:txBody>
      </p:sp>
      <p:sp>
        <p:nvSpPr>
          <p:cNvPr id="17" name="Shape 15"/>
          <p:cNvSpPr/>
          <p:nvPr/>
        </p:nvSpPr>
        <p:spPr>
          <a:xfrm>
            <a:off x="365760" y="3840480"/>
            <a:ext cx="8412480" cy="868680"/>
          </a:xfrm>
          <a:prstGeom prst="roundRect">
            <a:avLst>
              <a:gd name="adj" fmla="val 8421"/>
            </a:avLst>
          </a:prstGeom>
          <a:solidFill>
            <a:srgbClr val="F4F4F4"/>
          </a:solidFill>
          <a:ln w="12700">
            <a:solidFill>
              <a:srgbClr val="EBEBEB"/>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T-9</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Interfaz Diseño-Campo Temprana</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 al superintendente de campo en revisiones de diseño</a:t>
            </a:r>
            <a:endParaRPr lang="en-US" sz="1100" dirty="0"/>
          </a:p>
        </p:txBody>
      </p:sp>
      <p:sp>
        <p:nvSpPr>
          <p:cNvPr id="21" name="Shape 19"/>
          <p:cNvSpPr/>
          <p:nvPr/>
        </p:nvSpPr>
        <p:spPr>
          <a:xfrm>
            <a:off x="365760" y="4800600"/>
            <a:ext cx="8412480" cy="868680"/>
          </a:xfrm>
          <a:prstGeom prst="roundRect">
            <a:avLst>
              <a:gd name="adj" fmla="val 8421"/>
            </a:avLst>
          </a:prstGeom>
          <a:solidFill>
            <a:srgbClr val="F4F4F4"/>
          </a:solidFill>
          <a:ln w="12700">
            <a:solidFill>
              <a:srgbClr val="EBEBEB"/>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T-10</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Revisión de Especificaciones</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Elimina requisitos innecesariamente restrictivos que aumentan costo sin valor</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103</a:t>
            </a:r>
            <a:endParaRPr lang="en-US" sz="900" dirty="0"/>
          </a:p>
        </p:txBody>
      </p:sp>
      <p:pic xmlns:p="http://schemas.openxmlformats.org/presentationml/2006/main" xmlns:a="http://schemas.openxmlformats.org/drawingml/2006/main" xmlns:r="http://schemas.openxmlformats.org/officeDocument/2006/relationships">
        <p:nvPicPr>
          <p:cNvPr id="8103" name="SlideIcon8103"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T-11 a T-19 (Resumen)</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Las 9 herramientas restantes cubren procura, operaciones de campo y medición del programa:</a:t>
            </a:r>
            <a:endParaRPr lang="en-US" sz="1300" dirty="0"/>
          </a:p>
        </p:txBody>
      </p:sp>
      <p:sp>
        <p:nvSpPr>
          <p:cNvPr id="6" name="Shape 4"/>
          <p:cNvSpPr/>
          <p:nvPr/>
        </p:nvSpPr>
        <p:spPr>
          <a:xfrm>
            <a:off x="365760" y="1298448"/>
            <a:ext cx="4114800" cy="749808"/>
          </a:xfrm>
          <a:prstGeom prst="roundRect">
            <a:avLst>
              <a:gd name="adj" fmla="val 8537"/>
            </a:avLst>
          </a:prstGeom>
          <a:solidFill>
            <a:srgbClr val="F4F4F4"/>
          </a:solidFill>
          <a:ln w="12700">
            <a:solidFill>
              <a:srgbClr val="EBEBEB"/>
            </a:solidFill>
            <a:prstDash val="solid"/>
          </a:ln>
        </p:spPr>
      </p:sp>
      <p:sp>
        <p:nvSpPr>
          <p:cNvPr id="7" name="Text 5"/>
          <p:cNvSpPr txBox="1"/>
          <p:nvPr/>
        </p:nvSpPr>
        <p:spPr>
          <a:xfrm>
            <a:off x="47548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T-11</a:t>
            </a:r>
            <a:endParaRPr lang="en-US" sz="1200" dirty="0"/>
          </a:p>
        </p:txBody>
      </p:sp>
      <p:sp>
        <p:nvSpPr>
          <p:cNvPr id="8" name="Text 6"/>
          <p:cNvSpPr txBox="1"/>
          <p:nvPr/>
        </p:nvSpPr>
        <p:spPr>
          <a:xfrm>
            <a:off x="1005840" y="1353312"/>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Procura Constructabilidad</a:t>
            </a:r>
            <a:endParaRPr lang="en-US" sz="1100" dirty="0"/>
          </a:p>
        </p:txBody>
      </p:sp>
      <p:sp>
        <p:nvSpPr>
          <p:cNvPr id="9" name="Text 7"/>
          <p:cNvSpPr txBox="1"/>
          <p:nvPr/>
        </p:nvSpPr>
        <p:spPr>
          <a:xfrm>
            <a:off x="475488" y="1682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Lotes de compra alineados con secuencia constructiva</a:t>
            </a:r>
            <a:endParaRPr lang="en-US" sz="1000" dirty="0"/>
          </a:p>
        </p:txBody>
      </p:sp>
      <p:sp>
        <p:nvSpPr>
          <p:cNvPr id="10" name="Shape 8"/>
          <p:cNvSpPr/>
          <p:nvPr/>
        </p:nvSpPr>
        <p:spPr>
          <a:xfrm>
            <a:off x="365760" y="2139696"/>
            <a:ext cx="4114800" cy="749808"/>
          </a:xfrm>
          <a:prstGeom prst="roundRect">
            <a:avLst>
              <a:gd name="adj" fmla="val 8537"/>
            </a:avLst>
          </a:prstGeom>
          <a:solidFill>
            <a:srgbClr val="F4F4F4"/>
          </a:solidFill>
          <a:ln w="12700">
            <a:solidFill>
              <a:srgbClr val="EBEBEB"/>
            </a:solidFill>
            <a:prstDash val="solid"/>
          </a:ln>
        </p:spPr>
      </p:sp>
      <p:sp>
        <p:nvSpPr>
          <p:cNvPr id="11" name="Text 9"/>
          <p:cNvSpPr txBox="1"/>
          <p:nvPr/>
        </p:nvSpPr>
        <p:spPr>
          <a:xfrm>
            <a:off x="47548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T-12</a:t>
            </a:r>
            <a:endParaRPr lang="en-US" sz="1200" dirty="0"/>
          </a:p>
        </p:txBody>
      </p:sp>
      <p:sp>
        <p:nvSpPr>
          <p:cNvPr id="12" name="Text 10"/>
          <p:cNvSpPr txBox="1"/>
          <p:nvPr/>
        </p:nvSpPr>
        <p:spPr>
          <a:xfrm>
            <a:off x="1005840" y="2194560"/>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Empaque de Trabajo de Ingeniería (EWP)</a:t>
            </a:r>
            <a:endParaRPr lang="en-US" sz="1100" dirty="0"/>
          </a:p>
        </p:txBody>
      </p:sp>
      <p:sp>
        <p:nvSpPr>
          <p:cNvPr id="13" name="Text 11"/>
          <p:cNvSpPr txBox="1"/>
          <p:nvPr/>
        </p:nvSpPr>
        <p:spPr>
          <a:xfrm>
            <a:off x="475488" y="252374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Paquetes de diseño que alimentan AWP directamente</a:t>
            </a:r>
            <a:endParaRPr lang="en-US" sz="1000" dirty="0"/>
          </a:p>
        </p:txBody>
      </p:sp>
      <p:sp>
        <p:nvSpPr>
          <p:cNvPr id="14" name="Shape 12"/>
          <p:cNvSpPr/>
          <p:nvPr/>
        </p:nvSpPr>
        <p:spPr>
          <a:xfrm>
            <a:off x="365760" y="2980944"/>
            <a:ext cx="4114800" cy="749808"/>
          </a:xfrm>
          <a:prstGeom prst="roundRect">
            <a:avLst>
              <a:gd name="adj" fmla="val 8537"/>
            </a:avLst>
          </a:prstGeom>
          <a:solidFill>
            <a:srgbClr val="F4F4F4"/>
          </a:solidFill>
          <a:ln w="12700">
            <a:solidFill>
              <a:srgbClr val="EBEBEB"/>
            </a:solidFill>
            <a:prstDash val="solid"/>
          </a:ln>
        </p:spPr>
      </p:sp>
      <p:sp>
        <p:nvSpPr>
          <p:cNvPr id="15" name="Text 13"/>
          <p:cNvSpPr txBox="1"/>
          <p:nvPr/>
        </p:nvSpPr>
        <p:spPr>
          <a:xfrm>
            <a:off x="47548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T-13</a:t>
            </a:r>
            <a:endParaRPr lang="en-US" sz="1200" dirty="0"/>
          </a:p>
        </p:txBody>
      </p:sp>
      <p:sp>
        <p:nvSpPr>
          <p:cNvPr id="16" name="Text 14"/>
          <p:cNvSpPr txBox="1"/>
          <p:nvPr/>
        </p:nvSpPr>
        <p:spPr>
          <a:xfrm>
            <a:off x="1005840" y="3035808"/>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Zonas de Construcción Delimitadas</a:t>
            </a:r>
            <a:endParaRPr lang="en-US" sz="1100" dirty="0"/>
          </a:p>
        </p:txBody>
      </p:sp>
      <p:sp>
        <p:nvSpPr>
          <p:cNvPr id="17" name="Text 15"/>
          <p:cNvSpPr txBox="1"/>
          <p:nvPr/>
        </p:nvSpPr>
        <p:spPr>
          <a:xfrm>
            <a:off x="475488" y="336499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Divide el sitio en zonas manejables para asignación de cuadrillas</a:t>
            </a:r>
            <a:endParaRPr lang="en-US" sz="1000" dirty="0"/>
          </a:p>
        </p:txBody>
      </p:sp>
      <p:sp>
        <p:nvSpPr>
          <p:cNvPr id="18" name="Shape 16"/>
          <p:cNvSpPr/>
          <p:nvPr/>
        </p:nvSpPr>
        <p:spPr>
          <a:xfrm>
            <a:off x="365760" y="3822192"/>
            <a:ext cx="4114800" cy="749808"/>
          </a:xfrm>
          <a:prstGeom prst="roundRect">
            <a:avLst>
              <a:gd name="adj" fmla="val 8537"/>
            </a:avLst>
          </a:prstGeom>
          <a:solidFill>
            <a:srgbClr val="F4F4F4"/>
          </a:solidFill>
          <a:ln w="12700">
            <a:solidFill>
              <a:srgbClr val="EBEBEB"/>
            </a:solidFill>
            <a:prstDash val="solid"/>
          </a:ln>
        </p:spPr>
      </p:sp>
      <p:sp>
        <p:nvSpPr>
          <p:cNvPr id="19" name="Text 17"/>
          <p:cNvSpPr txBox="1"/>
          <p:nvPr/>
        </p:nvSpPr>
        <p:spPr>
          <a:xfrm>
            <a:off x="47548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T-14</a:t>
            </a:r>
            <a:endParaRPr lang="en-US" sz="1200" dirty="0"/>
          </a:p>
        </p:txBody>
      </p:sp>
      <p:sp>
        <p:nvSpPr>
          <p:cNvPr id="20" name="Text 18"/>
          <p:cNvSpPr txBox="1"/>
          <p:nvPr/>
        </p:nvSpPr>
        <p:spPr>
          <a:xfrm>
            <a:off x="1005840" y="3877056"/>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Manejo de Materiales en Sitio</a:t>
            </a:r>
            <a:endParaRPr lang="en-US" sz="1100" dirty="0"/>
          </a:p>
        </p:txBody>
      </p:sp>
      <p:sp>
        <p:nvSpPr>
          <p:cNvPr id="21" name="Text 19"/>
          <p:cNvSpPr txBox="1"/>
          <p:nvPr/>
        </p:nvSpPr>
        <p:spPr>
          <a:xfrm>
            <a:off x="475488" y="420624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Reduce doble manejo; define áreas de almacenamiento</a:t>
            </a:r>
            <a:endParaRPr lang="en-US" sz="1000" dirty="0"/>
          </a:p>
        </p:txBody>
      </p:sp>
      <p:sp>
        <p:nvSpPr>
          <p:cNvPr id="22" name="Shape 20"/>
          <p:cNvSpPr/>
          <p:nvPr/>
        </p:nvSpPr>
        <p:spPr>
          <a:xfrm>
            <a:off x="365760" y="4663440"/>
            <a:ext cx="4114800" cy="749808"/>
          </a:xfrm>
          <a:prstGeom prst="roundRect">
            <a:avLst>
              <a:gd name="adj" fmla="val 8537"/>
            </a:avLst>
          </a:prstGeom>
          <a:solidFill>
            <a:srgbClr val="F4F4F4"/>
          </a:solidFill>
          <a:ln w="12700">
            <a:solidFill>
              <a:srgbClr val="EBEBEB"/>
            </a:solidFill>
            <a:prstDash val="solid"/>
          </a:ln>
        </p:spPr>
      </p:sp>
      <p:sp>
        <p:nvSpPr>
          <p:cNvPr id="23" name="Text 21"/>
          <p:cNvSpPr txBox="1"/>
          <p:nvPr/>
        </p:nvSpPr>
        <p:spPr>
          <a:xfrm>
            <a:off x="475488" y="4736592"/>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T-15</a:t>
            </a:r>
            <a:endParaRPr lang="en-US" sz="1200" dirty="0"/>
          </a:p>
        </p:txBody>
      </p:sp>
      <p:sp>
        <p:nvSpPr>
          <p:cNvPr id="24" name="Text 22"/>
          <p:cNvSpPr txBox="1"/>
          <p:nvPr/>
        </p:nvSpPr>
        <p:spPr>
          <a:xfrm>
            <a:off x="1005840" y="4718304"/>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Revisiones de Constructabilidad de Diseño</a:t>
            </a:r>
            <a:endParaRPr lang="en-US" sz="1100" dirty="0"/>
          </a:p>
        </p:txBody>
      </p:sp>
      <p:sp>
        <p:nvSpPr>
          <p:cNvPr id="25" name="Text 23"/>
          <p:cNvSpPr txBox="1"/>
          <p:nvPr/>
        </p:nvSpPr>
        <p:spPr>
          <a:xfrm>
            <a:off x="475488" y="50474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Checkpoints formales en 30%, 60%, 90% de diseño</a:t>
            </a:r>
            <a:endParaRPr lang="en-US" sz="1000" dirty="0"/>
          </a:p>
        </p:txBody>
      </p:sp>
      <p:sp>
        <p:nvSpPr>
          <p:cNvPr id="26" name="Shape 24"/>
          <p:cNvSpPr/>
          <p:nvPr/>
        </p:nvSpPr>
        <p:spPr>
          <a:xfrm>
            <a:off x="4663440" y="1298448"/>
            <a:ext cx="4114800" cy="749808"/>
          </a:xfrm>
          <a:prstGeom prst="roundRect">
            <a:avLst>
              <a:gd name="adj" fmla="val 8537"/>
            </a:avLst>
          </a:prstGeom>
          <a:solidFill>
            <a:srgbClr val="F4F4F4"/>
          </a:solidFill>
          <a:ln w="12700">
            <a:solidFill>
              <a:srgbClr val="EBEBEB"/>
            </a:solidFill>
            <a:prstDash val="solid"/>
          </a:ln>
        </p:spPr>
      </p:sp>
      <p:sp>
        <p:nvSpPr>
          <p:cNvPr id="27" name="Text 25"/>
          <p:cNvSpPr txBox="1"/>
          <p:nvPr/>
        </p:nvSpPr>
        <p:spPr>
          <a:xfrm>
            <a:off x="477316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T-16</a:t>
            </a:r>
            <a:endParaRPr lang="en-US" sz="1200" dirty="0"/>
          </a:p>
        </p:txBody>
      </p:sp>
      <p:sp>
        <p:nvSpPr>
          <p:cNvPr id="28" name="Text 26"/>
          <p:cNvSpPr txBox="1"/>
          <p:nvPr/>
        </p:nvSpPr>
        <p:spPr>
          <a:xfrm>
            <a:off x="5303520" y="1353312"/>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Métricas del Programa Constructabilidad</a:t>
            </a:r>
            <a:endParaRPr lang="en-US" sz="1100" dirty="0"/>
          </a:p>
        </p:txBody>
      </p:sp>
      <p:sp>
        <p:nvSpPr>
          <p:cNvPr id="29" name="Text 27"/>
          <p:cNvSpPr txBox="1"/>
          <p:nvPr/>
        </p:nvSpPr>
        <p:spPr>
          <a:xfrm>
            <a:off x="4773168" y="1682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KPIs: # revisiones, # ideas implementadas, ahorro documentado</a:t>
            </a:r>
            <a:endParaRPr lang="en-US" sz="1000" dirty="0"/>
          </a:p>
        </p:txBody>
      </p:sp>
      <p:sp>
        <p:nvSpPr>
          <p:cNvPr id="30" name="Shape 28"/>
          <p:cNvSpPr/>
          <p:nvPr/>
        </p:nvSpPr>
        <p:spPr>
          <a:xfrm>
            <a:off x="4663440" y="2139696"/>
            <a:ext cx="4114800" cy="749808"/>
          </a:xfrm>
          <a:prstGeom prst="roundRect">
            <a:avLst>
              <a:gd name="adj" fmla="val 8537"/>
            </a:avLst>
          </a:prstGeom>
          <a:solidFill>
            <a:srgbClr val="F4F4F4"/>
          </a:solidFill>
          <a:ln w="12700">
            <a:solidFill>
              <a:srgbClr val="EBEBEB"/>
            </a:solidFill>
            <a:prstDash val="solid"/>
          </a:ln>
        </p:spPr>
      </p:sp>
      <p:sp>
        <p:nvSpPr>
          <p:cNvPr id="31" name="Text 29"/>
          <p:cNvSpPr txBox="1"/>
          <p:nvPr/>
        </p:nvSpPr>
        <p:spPr>
          <a:xfrm>
            <a:off x="477316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T-17</a:t>
            </a:r>
            <a:endParaRPr lang="en-US" sz="1200" dirty="0"/>
          </a:p>
        </p:txBody>
      </p:sp>
      <p:sp>
        <p:nvSpPr>
          <p:cNvPr id="32" name="Text 30"/>
          <p:cNvSpPr txBox="1"/>
          <p:nvPr/>
        </p:nvSpPr>
        <p:spPr>
          <a:xfrm>
            <a:off x="5303520" y="2194560"/>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Lecciones Aprendidas Constructabilidad</a:t>
            </a:r>
            <a:endParaRPr lang="en-US" sz="1100" dirty="0"/>
          </a:p>
        </p:txBody>
      </p:sp>
      <p:sp>
        <p:nvSpPr>
          <p:cNvPr id="33" name="Text 31"/>
          <p:cNvSpPr txBox="1"/>
          <p:nvPr/>
        </p:nvSpPr>
        <p:spPr>
          <a:xfrm>
            <a:off x="4773168" y="252374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Base de datos de oportunidades y soluciones probadas</a:t>
            </a:r>
            <a:endParaRPr lang="en-US" sz="1000" dirty="0"/>
          </a:p>
        </p:txBody>
      </p:sp>
      <p:sp>
        <p:nvSpPr>
          <p:cNvPr id="34" name="Shape 32"/>
          <p:cNvSpPr/>
          <p:nvPr/>
        </p:nvSpPr>
        <p:spPr>
          <a:xfrm>
            <a:off x="4663440" y="2980944"/>
            <a:ext cx="4114800" cy="749808"/>
          </a:xfrm>
          <a:prstGeom prst="roundRect">
            <a:avLst>
              <a:gd name="adj" fmla="val 8537"/>
            </a:avLst>
          </a:prstGeom>
          <a:solidFill>
            <a:srgbClr val="F4F4F4"/>
          </a:solidFill>
          <a:ln w="12700">
            <a:solidFill>
              <a:srgbClr val="EBEBEB"/>
            </a:solidFill>
            <a:prstDash val="solid"/>
          </a:ln>
        </p:spPr>
      </p:sp>
      <p:sp>
        <p:nvSpPr>
          <p:cNvPr id="35" name="Text 33"/>
          <p:cNvSpPr txBox="1"/>
          <p:nvPr/>
        </p:nvSpPr>
        <p:spPr>
          <a:xfrm>
            <a:off x="477316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T-18</a:t>
            </a:r>
            <a:endParaRPr lang="en-US" sz="1200" dirty="0"/>
          </a:p>
        </p:txBody>
      </p:sp>
      <p:sp>
        <p:nvSpPr>
          <p:cNvPr id="36" name="Text 34"/>
          <p:cNvSpPr txBox="1"/>
          <p:nvPr/>
        </p:nvSpPr>
        <p:spPr>
          <a:xfrm>
            <a:off x="5303520" y="3035808"/>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Constructabilidad en Contratos EPC</a:t>
            </a:r>
            <a:endParaRPr lang="en-US" sz="1100" dirty="0"/>
          </a:p>
        </p:txBody>
      </p:sp>
      <p:sp>
        <p:nvSpPr>
          <p:cNvPr id="37" name="Text 35"/>
          <p:cNvSpPr txBox="1"/>
          <p:nvPr/>
        </p:nvSpPr>
        <p:spPr>
          <a:xfrm>
            <a:off x="4773168" y="336499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Cláusulas que exigen plan constructabilidad al contratista EPC</a:t>
            </a:r>
            <a:endParaRPr lang="en-US" sz="1000" dirty="0"/>
          </a:p>
        </p:txBody>
      </p:sp>
      <p:sp>
        <p:nvSpPr>
          <p:cNvPr id="38" name="Shape 36"/>
          <p:cNvSpPr/>
          <p:nvPr/>
        </p:nvSpPr>
        <p:spPr>
          <a:xfrm>
            <a:off x="4663440" y="3822192"/>
            <a:ext cx="4114800" cy="749808"/>
          </a:xfrm>
          <a:prstGeom prst="roundRect">
            <a:avLst>
              <a:gd name="adj" fmla="val 8537"/>
            </a:avLst>
          </a:prstGeom>
          <a:solidFill>
            <a:srgbClr val="F4F4F4"/>
          </a:solidFill>
          <a:ln w="12700">
            <a:solidFill>
              <a:srgbClr val="EBEBEB"/>
            </a:solidFill>
            <a:prstDash val="solid"/>
          </a:ln>
        </p:spPr>
      </p:sp>
      <p:sp>
        <p:nvSpPr>
          <p:cNvPr id="39" name="Text 37"/>
          <p:cNvSpPr txBox="1"/>
          <p:nvPr/>
        </p:nvSpPr>
        <p:spPr>
          <a:xfrm>
            <a:off x="477316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T-19</a:t>
            </a:r>
            <a:endParaRPr lang="en-US" sz="1200" dirty="0"/>
          </a:p>
        </p:txBody>
      </p:sp>
      <p:sp>
        <p:nvSpPr>
          <p:cNvPr id="40" name="Text 38"/>
          <p:cNvSpPr txBox="1"/>
          <p:nvPr/>
        </p:nvSpPr>
        <p:spPr>
          <a:xfrm>
            <a:off x="5303520" y="3877056"/>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Evaluación Post-Proyecto</a:t>
            </a:r>
            <a:endParaRPr lang="en-US" sz="1100" dirty="0"/>
          </a:p>
        </p:txBody>
      </p:sp>
      <p:sp>
        <p:nvSpPr>
          <p:cNvPr id="41" name="Text 39"/>
          <p:cNvSpPr txBox="1"/>
          <p:nvPr/>
        </p:nvSpPr>
        <p:spPr>
          <a:xfrm>
            <a:off x="4773168" y="420624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Mide beneficios reales vs. proyectados; alimenta futuros proyectos</a:t>
            </a:r>
            <a:endParaRPr lang="en-US" sz="100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104</a:t>
            </a:r>
            <a:endParaRPr lang="en-US" sz="900" dirty="0"/>
          </a:p>
        </p:txBody>
      </p:sp>
      <p:pic xmlns:p="http://schemas.openxmlformats.org/presentationml/2006/main" xmlns:a="http://schemas.openxmlformats.org/drawingml/2006/main" xmlns:r="http://schemas.openxmlformats.org/officeDocument/2006/relationships">
        <p:nvPicPr>
          <p:cNvPr id="8104" name="SlideIcon8104"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Cuantificación del ROI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provee metodología de medición basada en datos reales de 50+ proyectos:</a:t>
            </a:r>
            <a:endParaRPr lang="en-US" sz="1300" dirty="0"/>
          </a:p>
        </p:txBody>
      </p:sp>
      <p:sp>
        <p:nvSpPr>
          <p:cNvPr id="6" name="Shape 4"/>
          <p:cNvSpPr/>
          <p:nvPr/>
        </p:nvSpPr>
        <p:spPr>
          <a:xfrm>
            <a:off x="1371600" y="1298448"/>
            <a:ext cx="6400800" cy="1005840"/>
          </a:xfrm>
          <a:prstGeom prst="roundRect">
            <a:avLst>
              <a:gd name="adj" fmla="val 10909"/>
            </a:avLst>
          </a:prstGeom>
          <a:solidFill>
            <a:srgbClr val="F4F4F4"/>
          </a:solidFill>
          <a:ln w="25400">
            <a:solidFill>
              <a:srgbClr val="30D158"/>
            </a:solidFill>
            <a:prstDash val="solid"/>
          </a:ln>
        </p:spPr>
      </p:sp>
      <p:sp>
        <p:nvSpPr>
          <p:cNvPr id="7" name="Text 5"/>
          <p:cNvSpPr txBox="1"/>
          <p:nvPr/>
        </p:nvSpPr>
        <p:spPr>
          <a:xfrm>
            <a:off x="1554480" y="1444752"/>
            <a:ext cx="6035040" cy="685800"/>
          </a:xfrm>
          <a:prstGeom prst="rect">
            <a:avLst/>
          </a:prstGeom>
          <a:noFill/>
          <a:ln/>
        </p:spPr>
        <p:txBody>
          <a:bodyPr wrap="square" lIns="0" tIns="0" rIns="0" bIns="0" rtlCol="0" anchor="ctr"/>
          <a:lstStyle/>
          <a:p>
            <a:pPr algn="ct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ROI Constructabilidad = (Ahorro Total - Costo del Programa) / Costo del Programa × 100</a:t>
            </a:r>
            <a:endParaRPr lang="en-US" sz="1200" dirty="0"/>
          </a:p>
        </p:txBody>
      </p:sp>
      <p:sp>
        <p:nvSpPr>
          <p:cNvPr id="8" name="Shape 6"/>
          <p:cNvSpPr/>
          <p:nvPr/>
        </p:nvSpPr>
        <p:spPr>
          <a:xfrm>
            <a:off x="365760" y="2487168"/>
            <a:ext cx="4114800" cy="1051560"/>
          </a:xfrm>
          <a:prstGeom prst="roundRect">
            <a:avLst>
              <a:gd name="adj" fmla="val 8696"/>
            </a:avLst>
          </a:prstGeom>
          <a:solidFill>
            <a:srgbClr val="F4F4F4"/>
          </a:solidFill>
          <a:ln w="12700">
            <a:solidFill>
              <a:srgbClr val="EBEBEB"/>
            </a:solidFill>
            <a:prstDash val="solid"/>
          </a:ln>
        </p:spPr>
      </p:sp>
      <p:sp>
        <p:nvSpPr>
          <p:cNvPr id="9" name="Text 7"/>
          <p:cNvSpPr txBox="1"/>
          <p:nvPr/>
        </p:nvSpPr>
        <p:spPr>
          <a:xfrm>
            <a:off x="54864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del programa</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(equipo + reuniones + tools)</a:t>
            </a:r>
            <a:endParaRPr lang="en-US" sz="1200" dirty="0"/>
          </a:p>
        </p:txBody>
      </p:sp>
      <p:sp>
        <p:nvSpPr>
          <p:cNvPr id="10" name="Text 8"/>
          <p:cNvSpPr txBox="1"/>
          <p:nvPr/>
        </p:nvSpPr>
        <p:spPr>
          <a:xfrm>
            <a:off x="54864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0.2 - 0.5%</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1" name="Shape 9"/>
          <p:cNvSpPr/>
          <p:nvPr/>
        </p:nvSpPr>
        <p:spPr>
          <a:xfrm>
            <a:off x="4754880" y="2487168"/>
            <a:ext cx="4114800" cy="1051560"/>
          </a:xfrm>
          <a:prstGeom prst="roundRect">
            <a:avLst>
              <a:gd name="adj" fmla="val 8696"/>
            </a:avLst>
          </a:prstGeom>
          <a:solidFill>
            <a:srgbClr val="F4F4F4"/>
          </a:solidFill>
          <a:ln w="12700">
            <a:solidFill>
              <a:srgbClr val="EBEBEB"/>
            </a:solidFill>
            <a:prstDash val="solid"/>
          </a:ln>
        </p:spPr>
      </p:sp>
      <p:sp>
        <p:nvSpPr>
          <p:cNvPr id="12" name="Text 10"/>
          <p:cNvSpPr txBox="1"/>
          <p:nvPr/>
        </p:nvSpPr>
        <p:spPr>
          <a:xfrm>
            <a:off x="493776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Ahorro típico documentado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promedio 50+ proyectos)</a:t>
            </a:r>
            <a:endParaRPr lang="en-US" sz="1200" dirty="0"/>
          </a:p>
        </p:txBody>
      </p:sp>
      <p:sp>
        <p:nvSpPr>
          <p:cNvPr id="13" name="Text 11"/>
          <p:cNvSpPr txBox="1"/>
          <p:nvPr/>
        </p:nvSpPr>
        <p:spPr>
          <a:xfrm>
            <a:off x="493776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3 - 8%</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4" name="Shape 12"/>
          <p:cNvSpPr/>
          <p:nvPr/>
        </p:nvSpPr>
        <p:spPr>
          <a:xfrm>
            <a:off x="365760" y="3721608"/>
            <a:ext cx="4114800" cy="1051560"/>
          </a:xfrm>
          <a:prstGeom prst="roundRect">
            <a:avLst>
              <a:gd name="adj" fmla="val 8696"/>
            </a:avLst>
          </a:prstGeom>
          <a:solidFill>
            <a:srgbClr val="F4F4F4"/>
          </a:solidFill>
          <a:ln w="12700">
            <a:solidFill>
              <a:srgbClr val="EBEBEB"/>
            </a:solidFill>
            <a:prstDash val="solid"/>
          </a:ln>
        </p:spPr>
      </p:sp>
      <p:sp>
        <p:nvSpPr>
          <p:cNvPr id="15" name="Text 13"/>
          <p:cNvSpPr txBox="1"/>
          <p:nvPr/>
        </p:nvSpPr>
        <p:spPr>
          <a:xfrm>
            <a:off x="54864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 beneficio/costo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(ROI)</a:t>
            </a:r>
            <a:endParaRPr lang="en-US" sz="1200" dirty="0"/>
          </a:p>
        </p:txBody>
      </p:sp>
      <p:sp>
        <p:nvSpPr>
          <p:cNvPr id="16" name="Text 14"/>
          <p:cNvSpPr txBox="1"/>
          <p:nvPr/>
        </p:nvSpPr>
        <p:spPr>
          <a:xfrm>
            <a:off x="54864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10:1 a 40:1</a:t>
            </a:r>
            <a:endParaRPr lang="en-US" sz="1200" dirty="0"/>
          </a:p>
        </p:txBody>
      </p:sp>
      <p:sp>
        <p:nvSpPr>
          <p:cNvPr id="17" name="Shape 15"/>
          <p:cNvSpPr/>
          <p:nvPr/>
        </p:nvSpPr>
        <p:spPr>
          <a:xfrm>
            <a:off x="4754880" y="3721608"/>
            <a:ext cx="4114800" cy="1051560"/>
          </a:xfrm>
          <a:prstGeom prst="roundRect">
            <a:avLst>
              <a:gd name="adj" fmla="val 8696"/>
            </a:avLst>
          </a:prstGeom>
          <a:solidFill>
            <a:srgbClr val="F4F4F4"/>
          </a:solidFill>
          <a:ln w="12700">
            <a:solidFill>
              <a:srgbClr val="EBEBEB"/>
            </a:solidFill>
            <a:prstDash val="solid"/>
          </a:ln>
        </p:spPr>
      </p:sp>
      <p:sp>
        <p:nvSpPr>
          <p:cNvPr id="18" name="Text 16"/>
          <p:cNvSpPr txBox="1"/>
          <p:nvPr/>
        </p:nvSpPr>
        <p:spPr>
          <a:xfrm>
            <a:off x="493776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de duración</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típica</a:t>
            </a:r>
            <a:endParaRPr lang="en-US" sz="1200" dirty="0"/>
          </a:p>
        </p:txBody>
      </p:sp>
      <p:sp>
        <p:nvSpPr>
          <p:cNvPr id="19" name="Text 17"/>
          <p:cNvSpPr txBox="1"/>
          <p:nvPr/>
        </p:nvSpPr>
        <p:spPr>
          <a:xfrm>
            <a:off x="493776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5 - 10%</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cronograma</a:t>
            </a:r>
            <a:endParaRPr lang="en-US" sz="12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105</a:t>
            </a:r>
            <a:endParaRPr lang="en-US" sz="900" dirty="0"/>
          </a:p>
        </p:txBody>
      </p:sp>
      <p:pic xmlns:p="http://schemas.openxmlformats.org/presentationml/2006/main" xmlns:a="http://schemas.openxmlformats.org/drawingml/2006/main" xmlns:r="http://schemas.openxmlformats.org/officeDocument/2006/relationships">
        <p:nvPicPr>
          <p:cNvPr id="8105" name="SlideIcon8105"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Contratos EPC / EPCM</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En contratos EPC, la constructabilidad es responsabilidad compartida entre owner y contratista principal:</a:t>
            </a:r>
            <a:endParaRPr lang="en-US" sz="1300" dirty="0"/>
          </a:p>
        </p:txBody>
      </p:sp>
      <p:sp>
        <p:nvSpPr>
          <p:cNvPr id="6" name="Shape 4"/>
          <p:cNvSpPr/>
          <p:nvPr/>
        </p:nvSpPr>
        <p:spPr>
          <a:xfrm>
            <a:off x="365760" y="1298448"/>
            <a:ext cx="8412480" cy="1051560"/>
          </a:xfrm>
          <a:prstGeom prst="roundRect">
            <a:avLst>
              <a:gd name="adj" fmla="val 8696"/>
            </a:avLst>
          </a:prstGeom>
          <a:solidFill>
            <a:srgbClr val="F4F4F4"/>
          </a:solidFill>
          <a:ln w="25400">
            <a:solidFill>
              <a:srgbClr val="FFD60A"/>
            </a:solidFill>
            <a:prstDash val="solid"/>
          </a:ln>
        </p:spPr>
      </p:sp>
      <p:sp>
        <p:nvSpPr>
          <p:cNvPr id="7" name="Text 5"/>
          <p:cNvSpPr txBox="1"/>
          <p:nvPr/>
        </p:nvSpPr>
        <p:spPr>
          <a:xfrm>
            <a:off x="548640" y="1408176"/>
            <a:ext cx="182880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Licitación / FEL</a:t>
            </a:r>
            <a:endParaRPr lang="en-US" sz="1300" dirty="0"/>
          </a:p>
        </p:txBody>
      </p:sp>
      <p:sp>
        <p:nvSpPr>
          <p:cNvPr id="8" name="Text 6"/>
          <p:cNvSpPr txBox="1"/>
          <p:nvPr/>
        </p:nvSpPr>
        <p:spPr>
          <a:xfrm>
            <a:off x="2468880" y="137160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Owner incluye requerimientos de constructabilidad en los documentos de licitación</a:t>
            </a:r>
            <a:endParaRPr lang="en-US" sz="1100" dirty="0"/>
          </a:p>
        </p:txBody>
      </p:sp>
      <p:sp>
        <p:nvSpPr>
          <p:cNvPr id="9" name="Text 7"/>
          <p:cNvSpPr txBox="1"/>
          <p:nvPr/>
        </p:nvSpPr>
        <p:spPr>
          <a:xfrm>
            <a:off x="2468880" y="167335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Contratistas EPC proponen su plan constructabilidad como parte de la oferta técnica</a:t>
            </a:r>
            <a:endParaRPr lang="en-US" sz="1100" dirty="0"/>
          </a:p>
        </p:txBody>
      </p:sp>
      <p:sp>
        <p:nvSpPr>
          <p:cNvPr id="10" name="Text 8"/>
          <p:cNvSpPr txBox="1"/>
          <p:nvPr/>
        </p:nvSpPr>
        <p:spPr>
          <a:xfrm>
            <a:off x="2468880" y="197510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Evaluación de propuestas incluye criterio de madurez constructabilidad</a:t>
            </a:r>
            <a:endParaRPr lang="en-US" sz="1100" dirty="0"/>
          </a:p>
        </p:txBody>
      </p:sp>
      <p:sp>
        <p:nvSpPr>
          <p:cNvPr id="11" name="Shape 9"/>
          <p:cNvSpPr/>
          <p:nvPr/>
        </p:nvSpPr>
        <p:spPr>
          <a:xfrm>
            <a:off x="365760" y="2487168"/>
            <a:ext cx="8412480" cy="1051560"/>
          </a:xfrm>
          <a:prstGeom prst="roundRect">
            <a:avLst>
              <a:gd name="adj" fmla="val 8696"/>
            </a:avLst>
          </a:prstGeom>
          <a:solidFill>
            <a:srgbClr val="F4F4F4"/>
          </a:solidFill>
          <a:ln w="25400">
            <a:solidFill>
              <a:srgbClr val="0A84FF"/>
            </a:solidFill>
            <a:prstDash val="solid"/>
          </a:ln>
        </p:spPr>
      </p:sp>
      <p:sp>
        <p:nvSpPr>
          <p:cNvPr id="12" name="Text 10"/>
          <p:cNvSpPr txBox="1"/>
          <p:nvPr/>
        </p:nvSpPr>
        <p:spPr>
          <a:xfrm>
            <a:off x="548640" y="2596896"/>
            <a:ext cx="182880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Ingeniería Básica (FEED)</a:t>
            </a:r>
            <a:endParaRPr lang="en-US" sz="1300" dirty="0"/>
          </a:p>
        </p:txBody>
      </p:sp>
      <p:sp>
        <p:nvSpPr>
          <p:cNvPr id="13" name="Text 11"/>
          <p:cNvSpPr txBox="1"/>
          <p:nvPr/>
        </p:nvSpPr>
        <p:spPr>
          <a:xfrm>
            <a:off x="2468880" y="256032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Equipo constructabilidad del contratista inicia revisiones en IFC inicial</a:t>
            </a:r>
            <a:endParaRPr lang="en-US" sz="1100" dirty="0"/>
          </a:p>
        </p:txBody>
      </p:sp>
      <p:sp>
        <p:nvSpPr>
          <p:cNvPr id="14" name="Text 12"/>
          <p:cNvSpPr txBox="1"/>
          <p:nvPr/>
        </p:nvSpPr>
        <p:spPr>
          <a:xfrm>
            <a:off x="2468880" y="286207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Estudios de modularización y pre-ensamble se definen en FEED</a:t>
            </a:r>
            <a:endParaRPr lang="en-US" sz="1100" dirty="0"/>
          </a:p>
        </p:txBody>
      </p:sp>
      <p:sp>
        <p:nvSpPr>
          <p:cNvPr id="15" name="Text 13"/>
          <p:cNvSpPr txBox="1"/>
          <p:nvPr/>
        </p:nvSpPr>
        <p:spPr>
          <a:xfrm>
            <a:off x="2468880" y="316382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 establecen zonas de construcción y acceso temprano</a:t>
            </a:r>
            <a:endParaRPr lang="en-US" sz="1100" dirty="0"/>
          </a:p>
        </p:txBody>
      </p:sp>
      <p:sp>
        <p:nvSpPr>
          <p:cNvPr id="16" name="Shape 14"/>
          <p:cNvSpPr/>
          <p:nvPr/>
        </p:nvSpPr>
        <p:spPr>
          <a:xfrm>
            <a:off x="365760" y="3675888"/>
            <a:ext cx="8412480" cy="1051560"/>
          </a:xfrm>
          <a:prstGeom prst="roundRect">
            <a:avLst>
              <a:gd name="adj" fmla="val 8696"/>
            </a:avLst>
          </a:prstGeom>
          <a:solidFill>
            <a:srgbClr val="F4F4F4"/>
          </a:solidFill>
          <a:ln w="25400">
            <a:solidFill>
              <a:srgbClr val="30D158"/>
            </a:solidFill>
            <a:prstDash val="solid"/>
          </a:ln>
        </p:spPr>
      </p:sp>
      <p:sp>
        <p:nvSpPr>
          <p:cNvPr id="17" name="Text 15"/>
          <p:cNvSpPr txBox="1"/>
          <p:nvPr/>
        </p:nvSpPr>
        <p:spPr>
          <a:xfrm>
            <a:off x="548640" y="3785616"/>
            <a:ext cx="182880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Ingeniería Detalle</a:t>
            </a:r>
            <a:endParaRPr lang="en-US" sz="1300" dirty="0"/>
          </a:p>
        </p:txBody>
      </p:sp>
      <p:sp>
        <p:nvSpPr>
          <p:cNvPr id="18" name="Text 16"/>
          <p:cNvSpPr txBox="1"/>
          <p:nvPr/>
        </p:nvSpPr>
        <p:spPr>
          <a:xfrm>
            <a:off x="2468880" y="374904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formales T-15 en 30%, 60%, 90%</a:t>
            </a:r>
            <a:endParaRPr lang="en-US" sz="1100" dirty="0"/>
          </a:p>
        </p:txBody>
      </p:sp>
      <p:sp>
        <p:nvSpPr>
          <p:cNvPr id="19" name="Text 17"/>
          <p:cNvSpPr txBox="1"/>
          <p:nvPr/>
        </p:nvSpPr>
        <p:spPr>
          <a:xfrm>
            <a:off x="2468880" y="405079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AWP integrados con constructabilidad</a:t>
            </a:r>
            <a:endParaRPr lang="en-US" sz="1100" dirty="0"/>
          </a:p>
        </p:txBody>
      </p:sp>
      <p:sp>
        <p:nvSpPr>
          <p:cNvPr id="20" name="Text 18"/>
          <p:cNvSpPr txBox="1"/>
          <p:nvPr/>
        </p:nvSpPr>
        <p:spPr>
          <a:xfrm>
            <a:off x="2468880" y="435254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Especificaciones revisadas para eliminar restricciones innecesarias</a:t>
            </a:r>
            <a:endParaRPr lang="en-US" sz="1100" dirty="0"/>
          </a:p>
        </p:txBody>
      </p:sp>
      <p:sp>
        <p:nvSpPr>
          <p:cNvPr id="21" name="Shape 19"/>
          <p:cNvSpPr/>
          <p:nvPr/>
        </p:nvSpPr>
        <p:spPr>
          <a:xfrm>
            <a:off x="365760" y="4864608"/>
            <a:ext cx="8412480" cy="1051560"/>
          </a:xfrm>
          <a:prstGeom prst="roundRect">
            <a:avLst>
              <a:gd name="adj" fmla="val 8696"/>
            </a:avLst>
          </a:prstGeom>
          <a:solidFill>
            <a:srgbClr val="F4F4F4"/>
          </a:solidFill>
          <a:ln w="25400">
            <a:solidFill>
              <a:srgbClr val="FF9500"/>
            </a:solidFill>
            <a:prstDash val="solid"/>
          </a:ln>
        </p:spPr>
      </p:sp>
      <p:sp>
        <p:nvSpPr>
          <p:cNvPr id="22" name="Text 20"/>
          <p:cNvSpPr txBox="1"/>
          <p:nvPr/>
        </p:nvSpPr>
        <p:spPr>
          <a:xfrm>
            <a:off x="548640" y="4974336"/>
            <a:ext cx="182880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300" dirty="0"/>
          </a:p>
        </p:txBody>
      </p:sp>
      <p:sp>
        <p:nvSpPr>
          <p:cNvPr id="23" name="Text 21"/>
          <p:cNvSpPr txBox="1"/>
          <p:nvPr/>
        </p:nvSpPr>
        <p:spPr>
          <a:xfrm>
            <a:off x="2468880" y="493776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Implementación de AWP basada en constructabilidad</a:t>
            </a:r>
            <a:endParaRPr lang="en-US" sz="1100" dirty="0"/>
          </a:p>
        </p:txBody>
      </p:sp>
      <p:sp>
        <p:nvSpPr>
          <p:cNvPr id="24" name="Text 22"/>
          <p:cNvSpPr txBox="1"/>
          <p:nvPr/>
        </p:nvSpPr>
        <p:spPr>
          <a:xfrm>
            <a:off x="2468880" y="523951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alineada con IWP derivados de diseño constructible</a:t>
            </a:r>
            <a:endParaRPr lang="en-US" sz="1100" dirty="0"/>
          </a:p>
        </p:txBody>
      </p:sp>
      <p:sp>
        <p:nvSpPr>
          <p:cNvPr id="25" name="Text 23"/>
          <p:cNvSpPr txBox="1"/>
          <p:nvPr/>
        </p:nvSpPr>
        <p:spPr>
          <a:xfrm>
            <a:off x="2468880" y="554126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Métricas T-16 de seguimiento mensual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106</a:t>
            </a:r>
            <a:endParaRPr lang="en-US" sz="900" dirty="0"/>
          </a:p>
        </p:txBody>
      </p:sp>
      <p:pic xmlns:p="http://schemas.openxmlformats.org/presentationml/2006/main" xmlns:a="http://schemas.openxmlformats.org/drawingml/2006/main" xmlns:r="http://schemas.openxmlformats.org/officeDocument/2006/relationships">
        <p:nvPicPr>
          <p:cNvPr id="8106" name="SlideIcon8106"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Advanced Work Packaging (AWP) y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AWP es la metodología de ejecución que implementa los principios de constructabilidad en campo:</a:t>
            </a:r>
            <a:endParaRPr lang="en-US" sz="1300" dirty="0"/>
          </a:p>
        </p:txBody>
      </p:sp>
      <p:sp>
        <p:nvSpPr>
          <p:cNvPr id="6" name="Shape 4"/>
          <p:cNvSpPr/>
          <p:nvPr/>
        </p:nvSpPr>
        <p:spPr>
          <a:xfrm>
            <a:off x="365760" y="1298448"/>
            <a:ext cx="3840480" cy="4023360"/>
          </a:xfrm>
          <a:prstGeom prst="roundRect">
            <a:avLst>
              <a:gd name="adj" fmla="val 2857"/>
            </a:avLst>
          </a:prstGeom>
          <a:solidFill>
            <a:srgbClr val="F4F4F4"/>
          </a:solidFill>
          <a:ln w="25400">
            <a:solidFill>
              <a:srgbClr val="AF52DE"/>
            </a:solidFill>
            <a:prstDash val="solid"/>
          </a:ln>
        </p:spPr>
      </p:sp>
      <p:sp>
        <p:nvSpPr>
          <p:cNvPr id="7" name="Text 5"/>
          <p:cNvSpPr txBox="1"/>
          <p:nvPr/>
        </p:nvSpPr>
        <p:spPr>
          <a:xfrm>
            <a:off x="548640" y="1417320"/>
            <a:ext cx="3474720" cy="594360"/>
          </a:xfrm>
          <a:prstGeom prst="rect">
            <a:avLst/>
          </a:prstGeom>
          <a:noFill/>
          <a:ln/>
        </p:spPr>
        <p:txBody>
          <a:bodyPr wrap="square" lIns="0" tIns="0" rIns="0" bIns="0" rtlCol="0" anchor="ctr"/>
          <a:lstStyle/>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CONSTRUCTABILIDAD</a:t>
            </a:r>
            <a:endParaRPr lang="en-US" sz="1500" dirty="0"/>
          </a:p>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(Principios y Diseño)</a:t>
            </a:r>
            <a:endParaRPr lang="en-US" sz="1500" dirty="0"/>
          </a:p>
        </p:txBody>
      </p:sp>
      <p:sp>
        <p:nvSpPr>
          <p:cNvPr id="8" name="Text 6"/>
          <p:cNvSpPr txBox="1"/>
          <p:nvPr/>
        </p:nvSpPr>
        <p:spPr>
          <a:xfrm>
            <a:off x="548640" y="210312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lógica de construcción definida desde diseño</a:t>
            </a:r>
            <a:endParaRPr lang="en-US" sz="1100" dirty="0"/>
          </a:p>
        </p:txBody>
      </p:sp>
      <p:sp>
        <p:nvSpPr>
          <p:cNvPr id="9" name="Text 7"/>
          <p:cNvSpPr txBox="1"/>
          <p:nvPr/>
        </p:nvSpPr>
        <p:spPr>
          <a:xfrm>
            <a:off x="548640" y="265176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Zonas de trabajo delimitadas en planos</a:t>
            </a:r>
            <a:endParaRPr lang="en-US" sz="1100" dirty="0"/>
          </a:p>
        </p:txBody>
      </p:sp>
      <p:sp>
        <p:nvSpPr>
          <p:cNvPr id="10" name="Text 8"/>
          <p:cNvSpPr txBox="1"/>
          <p:nvPr/>
        </p:nvSpPr>
        <p:spPr>
          <a:xfrm>
            <a:off x="548640" y="320040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planificada para fabricación en taller</a:t>
            </a:r>
            <a:endParaRPr lang="en-US" sz="1100" dirty="0"/>
          </a:p>
        </p:txBody>
      </p:sp>
      <p:sp>
        <p:nvSpPr>
          <p:cNvPr id="11" name="Text 9"/>
          <p:cNvSpPr txBox="1"/>
          <p:nvPr/>
        </p:nvSpPr>
        <p:spPr>
          <a:xfrm>
            <a:off x="548640" y="374904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y grúas considerados en diseño</a:t>
            </a:r>
            <a:endParaRPr lang="en-US" sz="1100" dirty="0"/>
          </a:p>
        </p:txBody>
      </p:sp>
      <p:sp>
        <p:nvSpPr>
          <p:cNvPr id="12" name="Text 10"/>
          <p:cNvSpPr txBox="1"/>
          <p:nvPr/>
        </p:nvSpPr>
        <p:spPr>
          <a:xfrm>
            <a:off x="548640" y="429768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IWPs derivados del modelo de diseño</a:t>
            </a:r>
            <a:endParaRPr lang="en-US" sz="1100" dirty="0"/>
          </a:p>
        </p:txBody>
      </p:sp>
      <p:sp>
        <p:nvSpPr>
          <p:cNvPr id="13" name="Shape 11"/>
          <p:cNvSpPr/>
          <p:nvPr/>
        </p:nvSpPr>
        <p:spPr>
          <a:xfrm>
            <a:off x="4937760" y="1298448"/>
            <a:ext cx="3840480" cy="4023360"/>
          </a:xfrm>
          <a:prstGeom prst="roundRect">
            <a:avLst>
              <a:gd name="adj" fmla="val 2857"/>
            </a:avLst>
          </a:prstGeom>
          <a:solidFill>
            <a:srgbClr val="F4F4F4"/>
          </a:solidFill>
          <a:ln w="25400">
            <a:solidFill>
              <a:srgbClr val="0A84FF"/>
            </a:solidFill>
            <a:prstDash val="solid"/>
          </a:ln>
        </p:spPr>
      </p:sp>
      <p:sp>
        <p:nvSpPr>
          <p:cNvPr id="14" name="Text 12"/>
          <p:cNvSpPr txBox="1"/>
          <p:nvPr/>
        </p:nvSpPr>
        <p:spPr>
          <a:xfrm>
            <a:off x="5120640" y="1417320"/>
            <a:ext cx="3474720" cy="594360"/>
          </a:xfrm>
          <a:prstGeom prst="rect">
            <a:avLst/>
          </a:prstGeom>
          <a:noFill/>
          <a:ln/>
        </p:spPr>
        <p:txBody>
          <a:bodyPr wrap="square" lIns="0" tIns="0" rIns="0" bIns="0" rtlCol="0" anchor="ctr"/>
          <a:lstStyle/>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AWP</a:t>
            </a:r>
            <a:endParaRPr lang="en-US" sz="1500" dirty="0"/>
          </a:p>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(Ejecución en Campo)</a:t>
            </a:r>
            <a:endParaRPr lang="en-US" sz="1500" dirty="0"/>
          </a:p>
        </p:txBody>
      </p:sp>
      <p:sp>
        <p:nvSpPr>
          <p:cNvPr id="15" name="Text 13"/>
          <p:cNvSpPr txBox="1"/>
          <p:nvPr/>
        </p:nvSpPr>
        <p:spPr>
          <a:xfrm>
            <a:off x="5120640" y="210312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CWP → IWP (jerarquía de paquetes)</a:t>
            </a:r>
            <a:endParaRPr lang="en-US" sz="1100" dirty="0"/>
          </a:p>
        </p:txBody>
      </p:sp>
      <p:sp>
        <p:nvSpPr>
          <p:cNvPr id="16" name="Text 14"/>
          <p:cNvSpPr txBox="1"/>
          <p:nvPr/>
        </p:nvSpPr>
        <p:spPr>
          <a:xfrm>
            <a:off x="5120640" y="265176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Paquete de trabajo instalable (IWP) = unidad de planificación</a:t>
            </a:r>
            <a:endParaRPr lang="en-US" sz="1100" dirty="0"/>
          </a:p>
        </p:txBody>
      </p:sp>
      <p:sp>
        <p:nvSpPr>
          <p:cNvPr id="17" name="Text 15"/>
          <p:cNvSpPr txBox="1"/>
          <p:nvPr/>
        </p:nvSpPr>
        <p:spPr>
          <a:xfrm>
            <a:off x="5120640" y="320040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Constraint management antes de liberar IWP</a:t>
            </a:r>
            <a:endParaRPr lang="en-US" sz="1100" dirty="0"/>
          </a:p>
        </p:txBody>
      </p:sp>
      <p:sp>
        <p:nvSpPr>
          <p:cNvPr id="18" name="Text 16"/>
          <p:cNvSpPr txBox="1"/>
          <p:nvPr/>
        </p:nvSpPr>
        <p:spPr>
          <a:xfrm>
            <a:off x="5120640" y="374904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asignación diaria de cuadrillas por IWP</a:t>
            </a:r>
            <a:endParaRPr lang="en-US" sz="1100" dirty="0"/>
          </a:p>
        </p:txBody>
      </p:sp>
      <p:sp>
        <p:nvSpPr>
          <p:cNvPr id="19" name="Text 17"/>
          <p:cNvSpPr txBox="1"/>
          <p:nvPr/>
        </p:nvSpPr>
        <p:spPr>
          <a:xfrm>
            <a:off x="5120640" y="429768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Medición de progreso por IWP completados</a:t>
            </a:r>
            <a:endParaRPr lang="en-US" sz="1100" dirty="0"/>
          </a:p>
        </p:txBody>
      </p:sp>
      <p:sp>
        <p:nvSpPr>
          <p:cNvPr id="20" name="Shape 18"/>
          <p:cNvSpPr/>
          <p:nvPr/>
        </p:nvSpPr>
        <p:spPr>
          <a:xfrm>
            <a:off x="4251960" y="3200400"/>
            <a:ext cx="640080" cy="54864"/>
          </a:xfrm>
          <a:prstGeom prst="rect">
            <a:avLst/>
          </a:prstGeom>
          <a:solidFill>
            <a:srgbClr val="30D158"/>
          </a:solidFill>
          <a:ln/>
        </p:spPr>
      </p:sp>
      <p:sp>
        <p:nvSpPr>
          <p:cNvPr id="21" name="Text 19"/>
          <p:cNvSpPr txBox="1"/>
          <p:nvPr/>
        </p:nvSpPr>
        <p:spPr>
          <a:xfrm>
            <a:off x="4224528" y="3035808"/>
            <a:ext cx="694944" cy="347472"/>
          </a:xfrm>
          <a:prstGeom prst="rect">
            <a:avLst/>
          </a:prstGeom>
          <a:noFill/>
          <a:ln/>
        </p:spPr>
        <p:txBody>
          <a:bodyPr wrap="square" lIns="0" tIns="0" rIns="0" bIns="0" rtlCol="0" anchor="ctr"/>
          <a:lstStyle/>
          <a:p>
            <a:pPr algn="ctr" indent="0" marL="0">
              <a:buNone/>
            </a:pPr>
            <a:r>
              <a:rPr lang="en-US" sz="2200" b="1" dirty="0">
                <a:solidFill>
                  <a:srgbClr val="30D158"/>
                </a:solidFill>
                <a:latin typeface="Atkinson Hyperlegible" pitchFamily="34" charset="0"/>
                <a:ea typeface="Atkinson Hyperlegible" pitchFamily="34" charset="-122"/>
                <a:cs typeface="Atkinson Hyperlegible" pitchFamily="34" charset="-120"/>
              </a:rPr>
              <a:t>↔</a:t>
            </a:r>
            <a:endParaRPr lang="en-US" sz="22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107</a:t>
            </a:r>
            <a:endParaRPr lang="en-US" sz="900" dirty="0"/>
          </a:p>
        </p:txBody>
      </p:sp>
      <p:pic xmlns:p="http://schemas.openxmlformats.org/presentationml/2006/main" xmlns:a="http://schemas.openxmlformats.org/drawingml/2006/main" xmlns:r="http://schemas.openxmlformats.org/officeDocument/2006/relationships">
        <p:nvPicPr>
          <p:cNvPr id="8107" name="SlideIcon8107"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Infraestructura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principios CII aplican directamente a carreteras, puentes, túneles, presas y ferrocarriles:</a:t>
            </a:r>
            <a:endParaRPr lang="en-US" sz="1300" dirty="0"/>
          </a:p>
        </p:txBody>
      </p:sp>
      <p:sp>
        <p:nvSpPr>
          <p:cNvPr id="6" name="Shape 4"/>
          <p:cNvSpPr/>
          <p:nvPr/>
        </p:nvSpPr>
        <p:spPr>
          <a:xfrm>
            <a:off x="365760" y="1298448"/>
            <a:ext cx="8412480" cy="1417320"/>
          </a:xfrm>
          <a:prstGeom prst="roundRect">
            <a:avLst>
              <a:gd name="adj" fmla="val 6452"/>
            </a:avLst>
          </a:prstGeom>
          <a:solidFill>
            <a:srgbClr val="F4F4F4"/>
          </a:solidFill>
          <a:ln w="25400">
            <a:solidFill>
              <a:srgbClr val="0A84FF"/>
            </a:solidFill>
            <a:prstDash val="solid"/>
          </a:ln>
        </p:spPr>
      </p:sp>
      <p:sp>
        <p:nvSpPr>
          <p:cNvPr id="7" name="Text 5"/>
          <p:cNvSpPr txBox="1"/>
          <p:nvPr/>
        </p:nvSpPr>
        <p:spPr>
          <a:xfrm>
            <a:off x="594360" y="1408176"/>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Carreteras y Autopistas</a:t>
            </a:r>
            <a:endParaRPr lang="en-US" sz="1500" dirty="0"/>
          </a:p>
        </p:txBody>
      </p:sp>
      <p:sp>
        <p:nvSpPr>
          <p:cNvPr id="8" name="Text 6"/>
          <p:cNvSpPr txBox="1"/>
          <p:nvPr/>
        </p:nvSpPr>
        <p:spPr>
          <a:xfrm>
            <a:off x="594360" y="180136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Traslapes de subbase/base/pavimento optimizados</a:t>
            </a:r>
            <a:endParaRPr lang="en-US" sz="1100" dirty="0"/>
          </a:p>
        </p:txBody>
      </p:sp>
      <p:sp>
        <p:nvSpPr>
          <p:cNvPr id="9" name="Text 7"/>
          <p:cNvSpPr txBox="1"/>
          <p:nvPr/>
        </p:nvSpPr>
        <p:spPr>
          <a:xfrm>
            <a:off x="4800600" y="180136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Alineamiento que minimiza movimiento de tierras neto</a:t>
            </a:r>
            <a:endParaRPr lang="en-US" sz="1100" dirty="0"/>
          </a:p>
        </p:txBody>
      </p:sp>
      <p:sp>
        <p:nvSpPr>
          <p:cNvPr id="10" name="Text 8"/>
          <p:cNvSpPr txBox="1"/>
          <p:nvPr/>
        </p:nvSpPr>
        <p:spPr>
          <a:xfrm>
            <a:off x="594360" y="218541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Prefabricación de alcantarillas y muros de contención</a:t>
            </a:r>
            <a:endParaRPr lang="en-US" sz="1100" dirty="0"/>
          </a:p>
        </p:txBody>
      </p:sp>
      <p:sp>
        <p:nvSpPr>
          <p:cNvPr id="11" name="Text 9"/>
          <p:cNvSpPr txBox="1"/>
          <p:nvPr/>
        </p:nvSpPr>
        <p:spPr>
          <a:xfrm>
            <a:off x="4800600" y="218541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Método constructivo considerado desde diseño geométrico</a:t>
            </a:r>
            <a:endParaRPr lang="en-US" sz="1100" dirty="0"/>
          </a:p>
        </p:txBody>
      </p:sp>
      <p:sp>
        <p:nvSpPr>
          <p:cNvPr id="12" name="Shape 10"/>
          <p:cNvSpPr/>
          <p:nvPr/>
        </p:nvSpPr>
        <p:spPr>
          <a:xfrm>
            <a:off x="365760" y="2852928"/>
            <a:ext cx="8412480" cy="1417320"/>
          </a:xfrm>
          <a:prstGeom prst="roundRect">
            <a:avLst>
              <a:gd name="adj" fmla="val 6452"/>
            </a:avLst>
          </a:prstGeom>
          <a:solidFill>
            <a:srgbClr val="F4F4F4"/>
          </a:solidFill>
          <a:ln w="25400">
            <a:solidFill>
              <a:srgbClr val="30D158"/>
            </a:solidFill>
            <a:prstDash val="solid"/>
          </a:ln>
        </p:spPr>
      </p:sp>
      <p:sp>
        <p:nvSpPr>
          <p:cNvPr id="13" name="Text 11"/>
          <p:cNvSpPr txBox="1"/>
          <p:nvPr/>
        </p:nvSpPr>
        <p:spPr>
          <a:xfrm>
            <a:off x="594360" y="2962656"/>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Puentes y Viaductos</a:t>
            </a:r>
            <a:endParaRPr lang="en-US" sz="1500" dirty="0"/>
          </a:p>
        </p:txBody>
      </p:sp>
      <p:sp>
        <p:nvSpPr>
          <p:cNvPr id="14" name="Text 12"/>
          <p:cNvSpPr txBox="1"/>
          <p:nvPr/>
        </p:nvSpPr>
        <p:spPr>
          <a:xfrm>
            <a:off x="594360" y="335584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Dovelas prefabricadas vs. concreto in situ: análisis constructabilidad</a:t>
            </a:r>
            <a:endParaRPr lang="en-US" sz="1100" dirty="0"/>
          </a:p>
        </p:txBody>
      </p:sp>
      <p:sp>
        <p:nvSpPr>
          <p:cNvPr id="15" name="Text 13"/>
          <p:cNvSpPr txBox="1"/>
          <p:nvPr/>
        </p:nvSpPr>
        <p:spPr>
          <a:xfrm>
            <a:off x="4800600" y="335584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izado y colocación de vigas definida en diseño</a:t>
            </a:r>
            <a:endParaRPr lang="en-US" sz="1100" dirty="0"/>
          </a:p>
        </p:txBody>
      </p:sp>
      <p:sp>
        <p:nvSpPr>
          <p:cNvPr id="16" name="Text 14"/>
          <p:cNvSpPr txBox="1"/>
          <p:nvPr/>
        </p:nvSpPr>
        <p:spPr>
          <a:xfrm>
            <a:off x="594360" y="373989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de equipos de montaje planificado</a:t>
            </a:r>
            <a:endParaRPr lang="en-US" sz="1100" dirty="0"/>
          </a:p>
        </p:txBody>
      </p:sp>
      <p:sp>
        <p:nvSpPr>
          <p:cNvPr id="17" name="Text 15"/>
          <p:cNvSpPr txBox="1"/>
          <p:nvPr/>
        </p:nvSpPr>
        <p:spPr>
          <a:xfrm>
            <a:off x="4800600" y="373989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Interferencia con tráfico existente resuelta en diseño</a:t>
            </a:r>
            <a:endParaRPr lang="en-US" sz="1100" dirty="0"/>
          </a:p>
        </p:txBody>
      </p:sp>
      <p:sp>
        <p:nvSpPr>
          <p:cNvPr id="18" name="Shape 16"/>
          <p:cNvSpPr/>
          <p:nvPr/>
        </p:nvSpPr>
        <p:spPr>
          <a:xfrm>
            <a:off x="365760" y="4407408"/>
            <a:ext cx="8412480" cy="1417320"/>
          </a:xfrm>
          <a:prstGeom prst="roundRect">
            <a:avLst>
              <a:gd name="adj" fmla="val 6452"/>
            </a:avLst>
          </a:prstGeom>
          <a:solidFill>
            <a:srgbClr val="F4F4F4"/>
          </a:solidFill>
          <a:ln w="25400">
            <a:solidFill>
              <a:srgbClr val="FF9500"/>
            </a:solidFill>
            <a:prstDash val="solid"/>
          </a:ln>
        </p:spPr>
      </p:sp>
      <p:sp>
        <p:nvSpPr>
          <p:cNvPr id="19" name="Text 17"/>
          <p:cNvSpPr txBox="1"/>
          <p:nvPr/>
        </p:nvSpPr>
        <p:spPr>
          <a:xfrm>
            <a:off x="594360" y="4517136"/>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Túneles</a:t>
            </a:r>
            <a:endParaRPr lang="en-US" sz="1500" dirty="0"/>
          </a:p>
        </p:txBody>
      </p:sp>
      <p:sp>
        <p:nvSpPr>
          <p:cNvPr id="20" name="Text 18"/>
          <p:cNvSpPr txBox="1"/>
          <p:nvPr/>
        </p:nvSpPr>
        <p:spPr>
          <a:xfrm>
            <a:off x="594360" y="491032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Método de excavación (NATM, TBM, cut-and-cover) define diseño</a:t>
            </a:r>
            <a:endParaRPr lang="en-US" sz="1100" dirty="0"/>
          </a:p>
        </p:txBody>
      </p:sp>
      <p:sp>
        <p:nvSpPr>
          <p:cNvPr id="21" name="Text 19"/>
          <p:cNvSpPr txBox="1"/>
          <p:nvPr/>
        </p:nvSpPr>
        <p:spPr>
          <a:xfrm>
            <a:off x="4800600" y="491032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Logística de extracción de material considerada</a:t>
            </a:r>
            <a:endParaRPr lang="en-US" sz="1100" dirty="0"/>
          </a:p>
        </p:txBody>
      </p:sp>
      <p:sp>
        <p:nvSpPr>
          <p:cNvPr id="22" name="Text 20"/>
          <p:cNvSpPr txBox="1"/>
          <p:nvPr/>
        </p:nvSpPr>
        <p:spPr>
          <a:xfrm>
            <a:off x="594360" y="529437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Ventilación provisional integrada con definitiva</a:t>
            </a:r>
            <a:endParaRPr lang="en-US" sz="1100" dirty="0"/>
          </a:p>
        </p:txBody>
      </p:sp>
      <p:sp>
        <p:nvSpPr>
          <p:cNvPr id="23" name="Text 21"/>
          <p:cNvSpPr txBox="1"/>
          <p:nvPr/>
        </p:nvSpPr>
        <p:spPr>
          <a:xfrm>
            <a:off x="4800600" y="529437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Segmentos de revestimiento estandarizados para velocidad</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108</a:t>
            </a:r>
            <a:endParaRPr lang="en-US" sz="900" dirty="0"/>
          </a:p>
        </p:txBody>
      </p:sp>
      <p:pic xmlns:p="http://schemas.openxmlformats.org/presentationml/2006/main" xmlns:a="http://schemas.openxmlformats.org/drawingml/2006/main" xmlns:r="http://schemas.openxmlformats.org/officeDocument/2006/relationships">
        <p:nvPicPr>
          <p:cNvPr id="8108" name="SlideIcon8108"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Plantas Industriales y Process</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1600200"/>
          </a:xfrm>
          <a:prstGeom prst="roundRect">
            <a:avLst>
              <a:gd name="adj" fmla="val 5714"/>
            </a:avLst>
          </a:prstGeom>
          <a:solidFill>
            <a:srgbClr val="F4F4F4"/>
          </a:solidFill>
          <a:ln w="25400">
            <a:solidFill>
              <a:srgbClr val="0A84FF"/>
            </a:solidFill>
            <a:prstDash val="solid"/>
          </a:ln>
        </p:spPr>
      </p:sp>
      <p:sp>
        <p:nvSpPr>
          <p:cNvPr id="6" name="Text 4"/>
          <p:cNvSpPr txBox="1"/>
          <p:nvPr/>
        </p:nvSpPr>
        <p:spPr>
          <a:xfrm>
            <a:off x="594360" y="1069848"/>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Oil &amp; Gas / Petroquímica</a:t>
            </a:r>
            <a:endParaRPr lang="en-US" sz="1500" dirty="0"/>
          </a:p>
        </p:txBody>
      </p:sp>
      <p:sp>
        <p:nvSpPr>
          <p:cNvPr id="7" name="Text 5"/>
          <p:cNvSpPr txBox="1"/>
          <p:nvPr/>
        </p:nvSpPr>
        <p:spPr>
          <a:xfrm>
            <a:off x="594360" y="14630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offshore/onshore (topside modules, compressor skids)</a:t>
            </a:r>
            <a:endParaRPr lang="en-US" sz="1100" dirty="0"/>
          </a:p>
        </p:txBody>
      </p:sp>
      <p:sp>
        <p:nvSpPr>
          <p:cNvPr id="8" name="Text 6"/>
          <p:cNvSpPr txBox="1"/>
          <p:nvPr/>
        </p:nvSpPr>
        <p:spPr>
          <a:xfrm>
            <a:off x="4800600" y="14630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montaje de estructuras metálicas pesadas</a:t>
            </a:r>
            <a:endParaRPr lang="en-US" sz="1100" dirty="0"/>
          </a:p>
        </p:txBody>
      </p:sp>
      <p:sp>
        <p:nvSpPr>
          <p:cNvPr id="9" name="Text 7"/>
          <p:cNvSpPr txBox="1"/>
          <p:nvPr/>
        </p:nvSpPr>
        <p:spPr>
          <a:xfrm>
            <a:off x="594360" y="19202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Gestión de hot work y safety en ambientes ATEX</a:t>
            </a:r>
            <a:endParaRPr lang="en-US" sz="1100" dirty="0"/>
          </a:p>
        </p:txBody>
      </p:sp>
      <p:sp>
        <p:nvSpPr>
          <p:cNvPr id="10" name="Text 8"/>
          <p:cNvSpPr txBox="1"/>
          <p:nvPr/>
        </p:nvSpPr>
        <p:spPr>
          <a:xfrm>
            <a:off x="4800600" y="19202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Tie-ins planificados para minimizar paradas de planta</a:t>
            </a:r>
            <a:endParaRPr lang="en-US" sz="1100" dirty="0"/>
          </a:p>
        </p:txBody>
      </p:sp>
      <p:sp>
        <p:nvSpPr>
          <p:cNvPr id="11" name="Shape 9"/>
          <p:cNvSpPr/>
          <p:nvPr/>
        </p:nvSpPr>
        <p:spPr>
          <a:xfrm>
            <a:off x="365760" y="2697480"/>
            <a:ext cx="8412480" cy="1600200"/>
          </a:xfrm>
          <a:prstGeom prst="roundRect">
            <a:avLst>
              <a:gd name="adj" fmla="val 5714"/>
            </a:avLst>
          </a:prstGeom>
          <a:solidFill>
            <a:srgbClr val="F4F4F4"/>
          </a:solidFill>
          <a:ln w="25400">
            <a:solidFill>
              <a:srgbClr val="FF9500"/>
            </a:solidFill>
            <a:prstDash val="solid"/>
          </a:ln>
        </p:spPr>
      </p:sp>
      <p:sp>
        <p:nvSpPr>
          <p:cNvPr id="12" name="Text 10"/>
          <p:cNvSpPr txBox="1"/>
          <p:nvPr/>
        </p:nvSpPr>
        <p:spPr>
          <a:xfrm>
            <a:off x="594360" y="2807208"/>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Minería y Procesamiento</a:t>
            </a:r>
            <a:endParaRPr lang="en-US" sz="1500" dirty="0"/>
          </a:p>
        </p:txBody>
      </p:sp>
      <p:sp>
        <p:nvSpPr>
          <p:cNvPr id="13" name="Text 11"/>
          <p:cNvSpPr txBox="1"/>
          <p:nvPr/>
        </p:nvSpPr>
        <p:spPr>
          <a:xfrm>
            <a:off x="594360" y="32004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remoto: equipos de gran porte, logística de transporte</a:t>
            </a:r>
            <a:endParaRPr lang="en-US" sz="1100" dirty="0"/>
          </a:p>
        </p:txBody>
      </p:sp>
      <p:sp>
        <p:nvSpPr>
          <p:cNvPr id="14" name="Text 12"/>
          <p:cNvSpPr txBox="1"/>
          <p:nvPr/>
        </p:nvSpPr>
        <p:spPr>
          <a:xfrm>
            <a:off x="4800600" y="32004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Fundaciones de molinos y equipos críticos: secuencia detallada</a:t>
            </a:r>
            <a:endParaRPr lang="en-US" sz="1100" dirty="0"/>
          </a:p>
        </p:txBody>
      </p:sp>
      <p:sp>
        <p:nvSpPr>
          <p:cNvPr id="15" name="Text 13"/>
          <p:cNvSpPr txBox="1"/>
          <p:nvPr/>
        </p:nvSpPr>
        <p:spPr>
          <a:xfrm>
            <a:off x="594360" y="36576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Conveyors y estructuras metálicas en terrenos difíciles</a:t>
            </a:r>
            <a:endParaRPr lang="en-US" sz="1100" dirty="0"/>
          </a:p>
        </p:txBody>
      </p:sp>
      <p:sp>
        <p:nvSpPr>
          <p:cNvPr id="16" name="Text 14"/>
          <p:cNvSpPr txBox="1"/>
          <p:nvPr/>
        </p:nvSpPr>
        <p:spPr>
          <a:xfrm>
            <a:off x="4800600" y="36576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Pre-ensamble de subestaciones eléctricas en taller</a:t>
            </a:r>
            <a:endParaRPr lang="en-US" sz="1100" dirty="0"/>
          </a:p>
        </p:txBody>
      </p:sp>
      <p:sp>
        <p:nvSpPr>
          <p:cNvPr id="17" name="Shape 15"/>
          <p:cNvSpPr/>
          <p:nvPr/>
        </p:nvSpPr>
        <p:spPr>
          <a:xfrm>
            <a:off x="365760" y="4434840"/>
            <a:ext cx="8412480" cy="1600200"/>
          </a:xfrm>
          <a:prstGeom prst="roundRect">
            <a:avLst>
              <a:gd name="adj" fmla="val 5714"/>
            </a:avLst>
          </a:prstGeom>
          <a:solidFill>
            <a:srgbClr val="F4F4F4"/>
          </a:solidFill>
          <a:ln w="25400">
            <a:solidFill>
              <a:srgbClr val="30D158"/>
            </a:solidFill>
            <a:prstDash val="solid"/>
          </a:ln>
        </p:spPr>
      </p:sp>
      <p:sp>
        <p:nvSpPr>
          <p:cNvPr id="18" name="Text 16"/>
          <p:cNvSpPr txBox="1"/>
          <p:nvPr/>
        </p:nvSpPr>
        <p:spPr>
          <a:xfrm>
            <a:off x="594360" y="4544568"/>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Energía (Plantas Power)</a:t>
            </a:r>
            <a:endParaRPr lang="en-US" sz="1500" dirty="0"/>
          </a:p>
        </p:txBody>
      </p:sp>
      <p:sp>
        <p:nvSpPr>
          <p:cNvPr id="19" name="Text 17"/>
          <p:cNvSpPr txBox="1"/>
          <p:nvPr/>
        </p:nvSpPr>
        <p:spPr>
          <a:xfrm>
            <a:off x="594360" y="49377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montaje de turbinas y generadores</a:t>
            </a:r>
            <a:endParaRPr lang="en-US" sz="1100" dirty="0"/>
          </a:p>
        </p:txBody>
      </p:sp>
      <p:sp>
        <p:nvSpPr>
          <p:cNvPr id="20" name="Text 18"/>
          <p:cNvSpPr txBox="1"/>
          <p:nvPr/>
        </p:nvSpPr>
        <p:spPr>
          <a:xfrm>
            <a:off x="4800600" y="49377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Sistemas de enfriamiento: obra civil + mecánica integradas</a:t>
            </a:r>
            <a:endParaRPr lang="en-US" sz="1100" dirty="0"/>
          </a:p>
        </p:txBody>
      </p:sp>
      <p:sp>
        <p:nvSpPr>
          <p:cNvPr id="21" name="Text 19"/>
          <p:cNvSpPr txBox="1"/>
          <p:nvPr/>
        </p:nvSpPr>
        <p:spPr>
          <a:xfrm>
            <a:off x="594360" y="53949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Tendido de cable de alta tensión planificado desde diseño</a:t>
            </a:r>
            <a:endParaRPr lang="en-US" sz="1100" dirty="0"/>
          </a:p>
        </p:txBody>
      </p:sp>
      <p:sp>
        <p:nvSpPr>
          <p:cNvPr id="22" name="Text 20"/>
          <p:cNvSpPr txBox="1"/>
          <p:nvPr/>
        </p:nvSpPr>
        <p:spPr>
          <a:xfrm>
            <a:off x="4800600" y="53949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Comisionamiento por fases considerado en diseño de sistemas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109</a:t>
            </a:r>
            <a:endParaRPr lang="en-US" sz="900" dirty="0"/>
          </a:p>
        </p:txBody>
      </p:sp>
      <p:pic xmlns:p="http://schemas.openxmlformats.org/presentationml/2006/main" xmlns:a="http://schemas.openxmlformats.org/drawingml/2006/main" xmlns:r="http://schemas.openxmlformats.org/officeDocument/2006/relationships">
        <p:nvPicPr>
          <p:cNvPr id="8109" name="SlideIcon8109"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Conocimiento: Base de Datos LLDB</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Lessons Learned Database (LLDB) es el corazón del aprendizaje organizacional en constructabilidad:</a:t>
            </a:r>
            <a:endParaRPr lang="en-US" sz="1300" dirty="0"/>
          </a:p>
        </p:txBody>
      </p:sp>
      <p:sp>
        <p:nvSpPr>
          <p:cNvPr id="6" name="Shape 4"/>
          <p:cNvSpPr/>
          <p:nvPr/>
        </p:nvSpPr>
        <p:spPr>
          <a:xfrm>
            <a:off x="365760" y="1298448"/>
            <a:ext cx="2651760" cy="1508760"/>
          </a:xfrm>
          <a:prstGeom prst="roundRect">
            <a:avLst>
              <a:gd name="adj" fmla="val 6061"/>
            </a:avLst>
          </a:prstGeom>
          <a:solidFill>
            <a:srgbClr val="F4F4F4"/>
          </a:solidFill>
          <a:ln w="25400">
            <a:solidFill>
              <a:srgbClr val="0A84FF"/>
            </a:solidFill>
            <a:prstDash val="solid"/>
          </a:ln>
        </p:spPr>
      </p:sp>
      <p:sp>
        <p:nvSpPr>
          <p:cNvPr id="7" name="Text 5"/>
          <p:cNvSpPr txBox="1"/>
          <p:nvPr/>
        </p:nvSpPr>
        <p:spPr>
          <a:xfrm>
            <a:off x="502920" y="1408176"/>
            <a:ext cx="502920" cy="384048"/>
          </a:xfrm>
          <a:prstGeom prst="rect">
            <a:avLst/>
          </a:prstGeom>
          <a:noFill/>
          <a:ln/>
        </p:spPr>
        <p:txBody>
          <a:bodyPr wrap="square" lIns="0" tIns="0" rIns="0" bIns="0" rtlCol="0" anchor="ctr"/>
          <a:lstStyle/>
          <a:p>
            <a:pPr indent="0" marL="0">
              <a:buNone/>
            </a:pPr>
            <a:r>
              <a:rPr lang="en-US" sz="2000" b="1" dirty="0">
                <a:solidFill>
                  <a:srgbClr val="0A84FF"/>
                </a:solidFill>
                <a:latin typeface="Atkinson Hyperlegible" pitchFamily="34" charset="0"/>
                <a:ea typeface="Atkinson Hyperlegible" pitchFamily="34" charset="-122"/>
                <a:cs typeface="Atkinson Hyperlegible" pitchFamily="34" charset="-120"/>
              </a:rPr>
              <a:t>01</a:t>
            </a:r>
            <a:endParaRPr lang="en-US" sz="2000" dirty="0"/>
          </a:p>
        </p:txBody>
      </p:sp>
      <p:sp>
        <p:nvSpPr>
          <p:cNvPr id="8" name="Text 6"/>
          <p:cNvSpPr txBox="1"/>
          <p:nvPr/>
        </p:nvSpPr>
        <p:spPr>
          <a:xfrm>
            <a:off x="105156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Captura</a:t>
            </a:r>
            <a:endParaRPr lang="en-US" sz="1200" dirty="0"/>
          </a:p>
        </p:txBody>
      </p:sp>
      <p:sp>
        <p:nvSpPr>
          <p:cNvPr id="9" name="Text 7"/>
          <p:cNvSpPr txBox="1"/>
          <p:nvPr/>
        </p:nvSpPr>
        <p:spPr>
          <a:xfrm>
            <a:off x="50292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y observaciones de constructabilidad se registran en campo y diseño mediante formularios estándar</a:t>
            </a:r>
            <a:endParaRPr lang="en-US" sz="1000" dirty="0"/>
          </a:p>
        </p:txBody>
      </p:sp>
      <p:sp>
        <p:nvSpPr>
          <p:cNvPr id="10" name="Shape 8"/>
          <p:cNvSpPr/>
          <p:nvPr/>
        </p:nvSpPr>
        <p:spPr>
          <a:xfrm>
            <a:off x="3246120" y="1298448"/>
            <a:ext cx="2651760" cy="1508760"/>
          </a:xfrm>
          <a:prstGeom prst="roundRect">
            <a:avLst>
              <a:gd name="adj" fmla="val 6061"/>
            </a:avLst>
          </a:prstGeom>
          <a:solidFill>
            <a:srgbClr val="F4F4F4"/>
          </a:solidFill>
          <a:ln w="25400">
            <a:solidFill>
              <a:srgbClr val="30D158"/>
            </a:solidFill>
            <a:prstDash val="solid"/>
          </a:ln>
        </p:spPr>
      </p:sp>
      <p:sp>
        <p:nvSpPr>
          <p:cNvPr id="11" name="Text 9"/>
          <p:cNvSpPr txBox="1"/>
          <p:nvPr/>
        </p:nvSpPr>
        <p:spPr>
          <a:xfrm>
            <a:off x="3383280" y="1408176"/>
            <a:ext cx="502920" cy="384048"/>
          </a:xfrm>
          <a:prstGeom prst="rect">
            <a:avLst/>
          </a:prstGeom>
          <a:noFill/>
          <a:ln/>
        </p:spPr>
        <p:txBody>
          <a:bodyPr wrap="square" lIns="0" tIns="0" rIns="0" bIns="0" rtlCol="0" anchor="ctr"/>
          <a:lstStyle/>
          <a:p>
            <a:pPr indent="0" marL="0">
              <a:buNone/>
            </a:pPr>
            <a:r>
              <a:rPr lang="en-US" sz="2000" b="1" dirty="0">
                <a:solidFill>
                  <a:srgbClr val="30D158"/>
                </a:solidFill>
                <a:latin typeface="Atkinson Hyperlegible" pitchFamily="34" charset="0"/>
                <a:ea typeface="Atkinson Hyperlegible" pitchFamily="34" charset="-122"/>
                <a:cs typeface="Atkinson Hyperlegible" pitchFamily="34" charset="-120"/>
              </a:rPr>
              <a:t>02</a:t>
            </a:r>
            <a:endParaRPr lang="en-US" sz="2000" dirty="0"/>
          </a:p>
        </p:txBody>
      </p:sp>
      <p:sp>
        <p:nvSpPr>
          <p:cNvPr id="12" name="Text 10"/>
          <p:cNvSpPr txBox="1"/>
          <p:nvPr/>
        </p:nvSpPr>
        <p:spPr>
          <a:xfrm>
            <a:off x="393192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Clasificación</a:t>
            </a:r>
            <a:endParaRPr lang="en-US" sz="1200" dirty="0"/>
          </a:p>
        </p:txBody>
      </p:sp>
      <p:sp>
        <p:nvSpPr>
          <p:cNvPr id="13" name="Text 11"/>
          <p:cNvSpPr txBox="1"/>
          <p:nvPr/>
        </p:nvSpPr>
        <p:spPr>
          <a:xfrm>
            <a:off x="338328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Cada lección se categoriza por fase (I/II/III), concepto CII, tipo de proyecto y sector industrial</a:t>
            </a:r>
            <a:endParaRPr lang="en-US" sz="1000" dirty="0"/>
          </a:p>
        </p:txBody>
      </p:sp>
      <p:sp>
        <p:nvSpPr>
          <p:cNvPr id="14" name="Shape 12"/>
          <p:cNvSpPr/>
          <p:nvPr/>
        </p:nvSpPr>
        <p:spPr>
          <a:xfrm>
            <a:off x="6126480" y="1298448"/>
            <a:ext cx="2651760" cy="1508760"/>
          </a:xfrm>
          <a:prstGeom prst="roundRect">
            <a:avLst>
              <a:gd name="adj" fmla="val 6061"/>
            </a:avLst>
          </a:prstGeom>
          <a:solidFill>
            <a:srgbClr val="F4F4F4"/>
          </a:solidFill>
          <a:ln w="25400">
            <a:solidFill>
              <a:srgbClr val="FF9500"/>
            </a:solidFill>
            <a:prstDash val="solid"/>
          </a:ln>
        </p:spPr>
      </p:sp>
      <p:sp>
        <p:nvSpPr>
          <p:cNvPr id="15" name="Text 13"/>
          <p:cNvSpPr txBox="1"/>
          <p:nvPr/>
        </p:nvSpPr>
        <p:spPr>
          <a:xfrm>
            <a:off x="6263640" y="1408176"/>
            <a:ext cx="502920" cy="384048"/>
          </a:xfrm>
          <a:prstGeom prst="rect">
            <a:avLst/>
          </a:prstGeom>
          <a:noFill/>
          <a:ln/>
        </p:spPr>
        <p:txBody>
          <a:bodyPr wrap="square" lIns="0" tIns="0" rIns="0" bIns="0" rtlCol="0" anchor="ctr"/>
          <a:lstStyle/>
          <a:p>
            <a:pPr indent="0" marL="0">
              <a:buNone/>
            </a:pPr>
            <a:r>
              <a:rPr lang="en-US" sz="2000" b="1" dirty="0">
                <a:solidFill>
                  <a:srgbClr val="FF9500"/>
                </a:solidFill>
                <a:latin typeface="Atkinson Hyperlegible" pitchFamily="34" charset="0"/>
                <a:ea typeface="Atkinson Hyperlegible" pitchFamily="34" charset="-122"/>
                <a:cs typeface="Atkinson Hyperlegible" pitchFamily="34" charset="-120"/>
              </a:rPr>
              <a:t>03</a:t>
            </a:r>
            <a:endParaRPr lang="en-US" sz="2000" dirty="0"/>
          </a:p>
        </p:txBody>
      </p:sp>
      <p:sp>
        <p:nvSpPr>
          <p:cNvPr id="16" name="Text 14"/>
          <p:cNvSpPr txBox="1"/>
          <p:nvPr/>
        </p:nvSpPr>
        <p:spPr>
          <a:xfrm>
            <a:off x="681228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Validación</a:t>
            </a:r>
            <a:endParaRPr lang="en-US" sz="1200" dirty="0"/>
          </a:p>
        </p:txBody>
      </p:sp>
      <p:sp>
        <p:nvSpPr>
          <p:cNvPr id="17" name="Text 15"/>
          <p:cNvSpPr txBox="1"/>
          <p:nvPr/>
        </p:nvSpPr>
        <p:spPr>
          <a:xfrm>
            <a:off x="626364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equipo constructabilidad revisa, valida y cuantifica el ahorro/beneficio de cada lección</a:t>
            </a:r>
            <a:endParaRPr lang="en-US" sz="1000" dirty="0"/>
          </a:p>
        </p:txBody>
      </p:sp>
      <p:sp>
        <p:nvSpPr>
          <p:cNvPr id="18" name="Shape 16"/>
          <p:cNvSpPr/>
          <p:nvPr/>
        </p:nvSpPr>
        <p:spPr>
          <a:xfrm>
            <a:off x="365760" y="2990088"/>
            <a:ext cx="2651760" cy="1508760"/>
          </a:xfrm>
          <a:prstGeom prst="roundRect">
            <a:avLst>
              <a:gd name="adj" fmla="val 6061"/>
            </a:avLst>
          </a:prstGeom>
          <a:solidFill>
            <a:srgbClr val="F4F4F4"/>
          </a:solidFill>
          <a:ln w="25400">
            <a:solidFill>
              <a:srgbClr val="FFD60A"/>
            </a:solidFill>
            <a:prstDash val="solid"/>
          </a:ln>
        </p:spPr>
      </p:sp>
      <p:sp>
        <p:nvSpPr>
          <p:cNvPr id="19" name="Text 17"/>
          <p:cNvSpPr txBox="1"/>
          <p:nvPr/>
        </p:nvSpPr>
        <p:spPr>
          <a:xfrm>
            <a:off x="502920" y="3099816"/>
            <a:ext cx="502920" cy="384048"/>
          </a:xfrm>
          <a:prstGeom prst="rect">
            <a:avLst/>
          </a:prstGeom>
          <a:noFill/>
          <a:ln/>
        </p:spPr>
        <p:txBody>
          <a:bodyPr wrap="square" lIns="0" tIns="0" rIns="0" bIns="0" rtlCol="0" anchor="ctr"/>
          <a:lstStyle/>
          <a:p>
            <a:pPr indent="0" marL="0">
              <a:buNone/>
            </a:pPr>
            <a:r>
              <a:rPr lang="en-US" sz="2000" b="1" dirty="0">
                <a:solidFill>
                  <a:srgbClr val="FFD60A"/>
                </a:solidFill>
                <a:latin typeface="Atkinson Hyperlegible" pitchFamily="34" charset="0"/>
                <a:ea typeface="Atkinson Hyperlegible" pitchFamily="34" charset="-122"/>
                <a:cs typeface="Atkinson Hyperlegible" pitchFamily="34" charset="-120"/>
              </a:rPr>
              <a:t>04</a:t>
            </a:r>
            <a:endParaRPr lang="en-US" sz="2000" dirty="0"/>
          </a:p>
        </p:txBody>
      </p:sp>
      <p:sp>
        <p:nvSpPr>
          <p:cNvPr id="20" name="Text 18"/>
          <p:cNvSpPr txBox="1"/>
          <p:nvPr/>
        </p:nvSpPr>
        <p:spPr>
          <a:xfrm>
            <a:off x="105156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Diseminación</a:t>
            </a:r>
            <a:endParaRPr lang="en-US" sz="1200" dirty="0"/>
          </a:p>
        </p:txBody>
      </p:sp>
      <p:sp>
        <p:nvSpPr>
          <p:cNvPr id="21" name="Text 19"/>
          <p:cNvSpPr txBox="1"/>
          <p:nvPr/>
        </p:nvSpPr>
        <p:spPr>
          <a:xfrm>
            <a:off x="50292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Lecciones aprobadas se comparten en talleres, boletines técnicos y plataformas digitales internas</a:t>
            </a:r>
            <a:endParaRPr lang="en-US" sz="1000" dirty="0"/>
          </a:p>
        </p:txBody>
      </p:sp>
      <p:sp>
        <p:nvSpPr>
          <p:cNvPr id="22" name="Shape 20"/>
          <p:cNvSpPr/>
          <p:nvPr/>
        </p:nvSpPr>
        <p:spPr>
          <a:xfrm>
            <a:off x="3246120" y="2990088"/>
            <a:ext cx="2651760" cy="1508760"/>
          </a:xfrm>
          <a:prstGeom prst="roundRect">
            <a:avLst>
              <a:gd name="adj" fmla="val 6061"/>
            </a:avLst>
          </a:prstGeom>
          <a:solidFill>
            <a:srgbClr val="F4F4F4"/>
          </a:solidFill>
          <a:ln w="25400">
            <a:solidFill>
              <a:srgbClr val="AF52DE"/>
            </a:solidFill>
            <a:prstDash val="solid"/>
          </a:ln>
        </p:spPr>
      </p:sp>
      <p:sp>
        <p:nvSpPr>
          <p:cNvPr id="23" name="Text 21"/>
          <p:cNvSpPr txBox="1"/>
          <p:nvPr/>
        </p:nvSpPr>
        <p:spPr>
          <a:xfrm>
            <a:off x="3383280" y="3099816"/>
            <a:ext cx="502920" cy="384048"/>
          </a:xfrm>
          <a:prstGeom prst="rect">
            <a:avLst/>
          </a:prstGeom>
          <a:noFill/>
          <a:ln/>
        </p:spPr>
        <p:txBody>
          <a:bodyPr wrap="square" lIns="0" tIns="0" rIns="0" bIns="0" rtlCol="0" anchor="ctr"/>
          <a:lstStyle/>
          <a:p>
            <a:pPr indent="0" marL="0">
              <a:buNone/>
            </a:pPr>
            <a:r>
              <a:rPr lang="en-US" sz="2000" b="1" dirty="0">
                <a:solidFill>
                  <a:srgbClr val="AF52DE"/>
                </a:solidFill>
                <a:latin typeface="Atkinson Hyperlegible" pitchFamily="34" charset="0"/>
                <a:ea typeface="Atkinson Hyperlegible" pitchFamily="34" charset="-122"/>
                <a:cs typeface="Atkinson Hyperlegible" pitchFamily="34" charset="-120"/>
              </a:rPr>
              <a:t>05</a:t>
            </a:r>
            <a:endParaRPr lang="en-US" sz="2000" dirty="0"/>
          </a:p>
        </p:txBody>
      </p:sp>
      <p:sp>
        <p:nvSpPr>
          <p:cNvPr id="24" name="Text 22"/>
          <p:cNvSpPr txBox="1"/>
          <p:nvPr/>
        </p:nvSpPr>
        <p:spPr>
          <a:xfrm>
            <a:off x="393192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Aplicación</a:t>
            </a:r>
            <a:endParaRPr lang="en-US" sz="1200" dirty="0"/>
          </a:p>
        </p:txBody>
      </p:sp>
      <p:sp>
        <p:nvSpPr>
          <p:cNvPr id="25" name="Text 23"/>
          <p:cNvSpPr txBox="1"/>
          <p:nvPr/>
        </p:nvSpPr>
        <p:spPr>
          <a:xfrm>
            <a:off x="338328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 proyectos nuevos, el equipo consulta LLDB durante revisiones de constructabilidad y FEL</a:t>
            </a:r>
            <a:endParaRPr lang="en-US" sz="1000" dirty="0"/>
          </a:p>
        </p:txBody>
      </p:sp>
      <p:sp>
        <p:nvSpPr>
          <p:cNvPr id="26" name="Shape 24"/>
          <p:cNvSpPr/>
          <p:nvPr/>
        </p:nvSpPr>
        <p:spPr>
          <a:xfrm>
            <a:off x="6126480" y="2990088"/>
            <a:ext cx="2651760" cy="1508760"/>
          </a:xfrm>
          <a:prstGeom prst="roundRect">
            <a:avLst>
              <a:gd name="adj" fmla="val 6061"/>
            </a:avLst>
          </a:prstGeom>
          <a:solidFill>
            <a:srgbClr val="F4F4F4"/>
          </a:solidFill>
          <a:ln w="25400">
            <a:solidFill>
              <a:srgbClr val="FF453A"/>
            </a:solidFill>
            <a:prstDash val="solid"/>
          </a:ln>
        </p:spPr>
      </p:sp>
      <p:sp>
        <p:nvSpPr>
          <p:cNvPr id="27" name="Text 25"/>
          <p:cNvSpPr txBox="1"/>
          <p:nvPr/>
        </p:nvSpPr>
        <p:spPr>
          <a:xfrm>
            <a:off x="6263640" y="3099816"/>
            <a:ext cx="502920" cy="384048"/>
          </a:xfrm>
          <a:prstGeom prst="rect">
            <a:avLst/>
          </a:prstGeom>
          <a:noFill/>
          <a:ln/>
        </p:spPr>
        <p:txBody>
          <a:bodyPr wrap="square" lIns="0" tIns="0" rIns="0" bIns="0" rtlCol="0" anchor="ctr"/>
          <a:lstStyle/>
          <a:p>
            <a:pPr indent="0" marL="0">
              <a:buNone/>
            </a:pPr>
            <a:r>
              <a:rPr lang="en-US" sz="2000" b="1" dirty="0">
                <a:solidFill>
                  <a:srgbClr val="FF453A"/>
                </a:solidFill>
                <a:latin typeface="Atkinson Hyperlegible" pitchFamily="34" charset="0"/>
                <a:ea typeface="Atkinson Hyperlegible" pitchFamily="34" charset="-122"/>
                <a:cs typeface="Atkinson Hyperlegible" pitchFamily="34" charset="-120"/>
              </a:rPr>
              <a:t>06</a:t>
            </a:r>
            <a:endParaRPr lang="en-US" sz="2000" dirty="0"/>
          </a:p>
        </p:txBody>
      </p:sp>
      <p:sp>
        <p:nvSpPr>
          <p:cNvPr id="28" name="Text 26"/>
          <p:cNvSpPr txBox="1"/>
          <p:nvPr/>
        </p:nvSpPr>
        <p:spPr>
          <a:xfrm>
            <a:off x="681228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Medición</a:t>
            </a:r>
            <a:endParaRPr lang="en-US" sz="1200" dirty="0"/>
          </a:p>
        </p:txBody>
      </p:sp>
      <p:sp>
        <p:nvSpPr>
          <p:cNvPr id="29" name="Text 27"/>
          <p:cNvSpPr txBox="1"/>
          <p:nvPr/>
        </p:nvSpPr>
        <p:spPr>
          <a:xfrm>
            <a:off x="626364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 la tasa de reutilización y el ahorro acumulado para justificar el programa</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110</a:t>
            </a:r>
            <a:endParaRPr lang="en-US" sz="900" dirty="0"/>
          </a:p>
        </p:txBody>
      </p:sp>
      <p:pic xmlns:p="http://schemas.openxmlformats.org/presentationml/2006/main" xmlns:a="http://schemas.openxmlformats.org/drawingml/2006/main" xmlns:r="http://schemas.openxmlformats.org/officeDocument/2006/relationships">
        <p:nvPicPr>
          <p:cNvPr id="8110" name="SlideIcon8110" descr="icon"/>
          <p:cNvPicPr>
            <a:picLocks noChangeAspect="1"/>
          </p:cNvPicPr>
          <p:nvPr/>
        </p:nvPicPr>
        <p:blipFill>
          <a:blip r:embed="rId9007"/>
          <a:stretch>
            <a:fillRect/>
          </a:stretch>
        </p:blipFill>
        <p:spPr>
          <a:xfrm>
            <a:off x="73152" y="118872"/>
            <a:ext cx="347472" cy="347472"/>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Factores Críticos de Éxito del Programa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identifica 8 factores que determinan si un programa de constructabilidad prospera o fracasa:</a:t>
            </a:r>
            <a:endParaRPr lang="en-US" sz="1300" dirty="0"/>
          </a:p>
        </p:txBody>
      </p:sp>
      <p:sp>
        <p:nvSpPr>
          <p:cNvPr id="6" name="Shape 4"/>
          <p:cNvSpPr/>
          <p:nvPr/>
        </p:nvSpPr>
        <p:spPr>
          <a:xfrm>
            <a:off x="365760" y="1298448"/>
            <a:ext cx="4160520" cy="1051560"/>
          </a:xfrm>
          <a:prstGeom prst="roundRect">
            <a:avLst>
              <a:gd name="adj" fmla="val 6957"/>
            </a:avLst>
          </a:prstGeom>
          <a:solidFill>
            <a:srgbClr val="F4F4F4"/>
          </a:solidFill>
          <a:ln w="12700">
            <a:solidFill>
              <a:srgbClr val="FF453A"/>
            </a:solidFill>
            <a:prstDash val="solid"/>
          </a:ln>
        </p:spPr>
      </p:sp>
      <p:sp>
        <p:nvSpPr>
          <p:cNvPr id="7" name="Text 5"/>
          <p:cNvSpPr txBox="1"/>
          <p:nvPr/>
        </p:nvSpPr>
        <p:spPr>
          <a:xfrm>
            <a:off x="502920" y="1408176"/>
            <a:ext cx="41148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1</a:t>
            </a:r>
            <a:endParaRPr lang="en-US" sz="1500" dirty="0"/>
          </a:p>
        </p:txBody>
      </p:sp>
      <p:sp>
        <p:nvSpPr>
          <p:cNvPr id="8" name="Text 6"/>
          <p:cNvSpPr txBox="1"/>
          <p:nvPr/>
        </p:nvSpPr>
        <p:spPr>
          <a:xfrm>
            <a:off x="960120" y="138988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Patrocinio Ejecutivo</a:t>
            </a:r>
            <a:endParaRPr lang="en-US" sz="1300" dirty="0"/>
          </a:p>
        </p:txBody>
      </p:sp>
      <p:sp>
        <p:nvSpPr>
          <p:cNvPr id="9" name="Text 7"/>
          <p:cNvSpPr txBox="1"/>
          <p:nvPr/>
        </p:nvSpPr>
        <p:spPr>
          <a:xfrm>
            <a:off x="502920" y="175564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CEO / Project Director debe creer, defender y financiar activamente el programa. Sin esto, todo esfuerzo es frágil.</a:t>
            </a:r>
            <a:endParaRPr lang="en-US" sz="1050" dirty="0"/>
          </a:p>
        </p:txBody>
      </p:sp>
      <p:sp>
        <p:nvSpPr>
          <p:cNvPr id="10" name="Shape 8"/>
          <p:cNvSpPr/>
          <p:nvPr/>
        </p:nvSpPr>
        <p:spPr>
          <a:xfrm>
            <a:off x="4754880" y="1298448"/>
            <a:ext cx="4160520" cy="1051560"/>
          </a:xfrm>
          <a:prstGeom prst="roundRect">
            <a:avLst>
              <a:gd name="adj" fmla="val 6957"/>
            </a:avLst>
          </a:prstGeom>
          <a:solidFill>
            <a:srgbClr val="F4F4F4"/>
          </a:solidFill>
          <a:ln w="12700">
            <a:solidFill>
              <a:srgbClr val="FF9500"/>
            </a:solidFill>
            <a:prstDash val="solid"/>
          </a:ln>
        </p:spPr>
      </p:sp>
      <p:sp>
        <p:nvSpPr>
          <p:cNvPr id="11" name="Text 9"/>
          <p:cNvSpPr txBox="1"/>
          <p:nvPr/>
        </p:nvSpPr>
        <p:spPr>
          <a:xfrm>
            <a:off x="4892040" y="1408176"/>
            <a:ext cx="41148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2</a:t>
            </a:r>
            <a:endParaRPr lang="en-US" sz="1500" dirty="0"/>
          </a:p>
        </p:txBody>
      </p:sp>
      <p:sp>
        <p:nvSpPr>
          <p:cNvPr id="12" name="Text 10"/>
          <p:cNvSpPr txBox="1"/>
          <p:nvPr/>
        </p:nvSpPr>
        <p:spPr>
          <a:xfrm>
            <a:off x="5349240" y="138988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Integración desde FEL-1</a:t>
            </a:r>
            <a:endParaRPr lang="en-US" sz="1300" dirty="0"/>
          </a:p>
        </p:txBody>
      </p:sp>
      <p:sp>
        <p:nvSpPr>
          <p:cNvPr id="13" name="Text 11"/>
          <p:cNvSpPr txBox="1"/>
          <p:nvPr/>
        </p:nvSpPr>
        <p:spPr>
          <a:xfrm>
            <a:off x="4892040" y="175564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Constructabilidad en etapa de factibilidad captura el mayor potencial de ahorro (curva de influencia de costos).</a:t>
            </a:r>
            <a:endParaRPr lang="en-US" sz="1050" dirty="0"/>
          </a:p>
        </p:txBody>
      </p:sp>
      <p:sp>
        <p:nvSpPr>
          <p:cNvPr id="14" name="Shape 12"/>
          <p:cNvSpPr/>
          <p:nvPr/>
        </p:nvSpPr>
        <p:spPr>
          <a:xfrm>
            <a:off x="365760" y="2487168"/>
            <a:ext cx="4160520" cy="1051560"/>
          </a:xfrm>
          <a:prstGeom prst="roundRect">
            <a:avLst>
              <a:gd name="adj" fmla="val 6957"/>
            </a:avLst>
          </a:prstGeom>
          <a:solidFill>
            <a:srgbClr val="F4F4F4"/>
          </a:solidFill>
          <a:ln w="12700">
            <a:solidFill>
              <a:srgbClr val="FFD60A"/>
            </a:solidFill>
            <a:prstDash val="solid"/>
          </a:ln>
        </p:spPr>
      </p:sp>
      <p:sp>
        <p:nvSpPr>
          <p:cNvPr id="15" name="Text 13"/>
          <p:cNvSpPr txBox="1"/>
          <p:nvPr/>
        </p:nvSpPr>
        <p:spPr>
          <a:xfrm>
            <a:off x="502920" y="2596896"/>
            <a:ext cx="41148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3</a:t>
            </a:r>
            <a:endParaRPr lang="en-US" sz="1500" dirty="0"/>
          </a:p>
        </p:txBody>
      </p:sp>
      <p:sp>
        <p:nvSpPr>
          <p:cNvPr id="16" name="Text 14"/>
          <p:cNvSpPr txBox="1"/>
          <p:nvPr/>
        </p:nvSpPr>
        <p:spPr>
          <a:xfrm>
            <a:off x="960120" y="257860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Recursos Dedicados</a:t>
            </a:r>
            <a:endParaRPr lang="en-US" sz="1300" dirty="0"/>
          </a:p>
        </p:txBody>
      </p:sp>
      <p:sp>
        <p:nvSpPr>
          <p:cNvPr id="17" name="Text 15"/>
          <p:cNvSpPr txBox="1"/>
          <p:nvPr/>
        </p:nvSpPr>
        <p:spPr>
          <a:xfrm>
            <a:off x="502920" y="294436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Un Construction Manager de tiempo completo asignado al equipo de ingeniería, no solo disponible cuando se le llama.</a:t>
            </a:r>
            <a:endParaRPr lang="en-US" sz="1050" dirty="0"/>
          </a:p>
        </p:txBody>
      </p:sp>
      <p:sp>
        <p:nvSpPr>
          <p:cNvPr id="18" name="Shape 16"/>
          <p:cNvSpPr/>
          <p:nvPr/>
        </p:nvSpPr>
        <p:spPr>
          <a:xfrm>
            <a:off x="4754880" y="2487168"/>
            <a:ext cx="4160520" cy="1051560"/>
          </a:xfrm>
          <a:prstGeom prst="roundRect">
            <a:avLst>
              <a:gd name="adj" fmla="val 6957"/>
            </a:avLst>
          </a:prstGeom>
          <a:solidFill>
            <a:srgbClr val="F4F4F4"/>
          </a:solidFill>
          <a:ln w="12700">
            <a:solidFill>
              <a:srgbClr val="30D158"/>
            </a:solidFill>
            <a:prstDash val="solid"/>
          </a:ln>
        </p:spPr>
      </p:sp>
      <p:sp>
        <p:nvSpPr>
          <p:cNvPr id="19" name="Text 17"/>
          <p:cNvSpPr txBox="1"/>
          <p:nvPr/>
        </p:nvSpPr>
        <p:spPr>
          <a:xfrm>
            <a:off x="4892040" y="2596896"/>
            <a:ext cx="41148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4</a:t>
            </a:r>
            <a:endParaRPr lang="en-US" sz="1500" dirty="0"/>
          </a:p>
        </p:txBody>
      </p:sp>
      <p:sp>
        <p:nvSpPr>
          <p:cNvPr id="20" name="Text 18"/>
          <p:cNvSpPr txBox="1"/>
          <p:nvPr/>
        </p:nvSpPr>
        <p:spPr>
          <a:xfrm>
            <a:off x="5349240" y="257860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Proceso Formal Documentado</a:t>
            </a:r>
            <a:endParaRPr lang="en-US" sz="1300" dirty="0"/>
          </a:p>
        </p:txBody>
      </p:sp>
      <p:sp>
        <p:nvSpPr>
          <p:cNvPr id="21" name="Text 19"/>
          <p:cNvSpPr txBox="1"/>
          <p:nvPr/>
        </p:nvSpPr>
        <p:spPr>
          <a:xfrm>
            <a:off x="4892040" y="294436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Procedimientos, checklists y criterios de revisión escritos, no solo reuniones informales.</a:t>
            </a:r>
            <a:endParaRPr lang="en-US" sz="1050" dirty="0"/>
          </a:p>
        </p:txBody>
      </p:sp>
      <p:sp>
        <p:nvSpPr>
          <p:cNvPr id="22" name="Shape 20"/>
          <p:cNvSpPr/>
          <p:nvPr/>
        </p:nvSpPr>
        <p:spPr>
          <a:xfrm>
            <a:off x="365760" y="3675888"/>
            <a:ext cx="4160520" cy="1051560"/>
          </a:xfrm>
          <a:prstGeom prst="roundRect">
            <a:avLst>
              <a:gd name="adj" fmla="val 6957"/>
            </a:avLst>
          </a:prstGeom>
          <a:solidFill>
            <a:srgbClr val="F4F4F4"/>
          </a:solidFill>
          <a:ln w="12700">
            <a:solidFill>
              <a:srgbClr val="0A84FF"/>
            </a:solidFill>
            <a:prstDash val="solid"/>
          </a:ln>
        </p:spPr>
      </p:sp>
      <p:sp>
        <p:nvSpPr>
          <p:cNvPr id="23" name="Text 21"/>
          <p:cNvSpPr txBox="1"/>
          <p:nvPr/>
        </p:nvSpPr>
        <p:spPr>
          <a:xfrm>
            <a:off x="502920" y="3785616"/>
            <a:ext cx="41148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5</a:t>
            </a:r>
            <a:endParaRPr lang="en-US" sz="1500" dirty="0"/>
          </a:p>
        </p:txBody>
      </p:sp>
      <p:sp>
        <p:nvSpPr>
          <p:cNvPr id="24" name="Text 22"/>
          <p:cNvSpPr txBox="1"/>
          <p:nvPr/>
        </p:nvSpPr>
        <p:spPr>
          <a:xfrm>
            <a:off x="960120" y="376732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Métricas y Reporte</a:t>
            </a:r>
            <a:endParaRPr lang="en-US" sz="1300" dirty="0"/>
          </a:p>
        </p:txBody>
      </p:sp>
      <p:sp>
        <p:nvSpPr>
          <p:cNvPr id="25" name="Text 23"/>
          <p:cNvSpPr txBox="1"/>
          <p:nvPr/>
        </p:nvSpPr>
        <p:spPr>
          <a:xfrm>
            <a:off x="502920" y="413308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KPIs del programa reportados mensualmente con beneficios cuantificados para mantener la justificación.</a:t>
            </a:r>
            <a:endParaRPr lang="en-US" sz="1050" dirty="0"/>
          </a:p>
        </p:txBody>
      </p:sp>
      <p:sp>
        <p:nvSpPr>
          <p:cNvPr id="26" name="Shape 24"/>
          <p:cNvSpPr/>
          <p:nvPr/>
        </p:nvSpPr>
        <p:spPr>
          <a:xfrm>
            <a:off x="4754880" y="3675888"/>
            <a:ext cx="4160520" cy="1051560"/>
          </a:xfrm>
          <a:prstGeom prst="roundRect">
            <a:avLst>
              <a:gd name="adj" fmla="val 6957"/>
            </a:avLst>
          </a:prstGeom>
          <a:solidFill>
            <a:srgbClr val="F4F4F4"/>
          </a:solidFill>
          <a:ln w="12700">
            <a:solidFill>
              <a:srgbClr val="64D2FF"/>
            </a:solidFill>
            <a:prstDash val="solid"/>
          </a:ln>
        </p:spPr>
      </p:sp>
      <p:sp>
        <p:nvSpPr>
          <p:cNvPr id="27" name="Text 25"/>
          <p:cNvSpPr txBox="1"/>
          <p:nvPr/>
        </p:nvSpPr>
        <p:spPr>
          <a:xfrm>
            <a:off x="4892040" y="3785616"/>
            <a:ext cx="41148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6</a:t>
            </a:r>
            <a:endParaRPr lang="en-US" sz="1500" dirty="0"/>
          </a:p>
        </p:txBody>
      </p:sp>
      <p:sp>
        <p:nvSpPr>
          <p:cNvPr id="28" name="Text 26"/>
          <p:cNvSpPr txBox="1"/>
          <p:nvPr/>
        </p:nvSpPr>
        <p:spPr>
          <a:xfrm>
            <a:off x="5349240" y="376732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Base de Lecciones Aprendidas</a:t>
            </a:r>
            <a:endParaRPr lang="en-US" sz="1300" dirty="0"/>
          </a:p>
        </p:txBody>
      </p:sp>
      <p:sp>
        <p:nvSpPr>
          <p:cNvPr id="29" name="Text 27"/>
          <p:cNvSpPr txBox="1"/>
          <p:nvPr/>
        </p:nvSpPr>
        <p:spPr>
          <a:xfrm>
            <a:off x="4892040" y="413308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LLDB activa, accesible y actualizada; tasa de reutilización medida por proyecto.</a:t>
            </a:r>
            <a:endParaRPr lang="en-US" sz="1050" dirty="0"/>
          </a:p>
        </p:txBody>
      </p:sp>
      <p:sp>
        <p:nvSpPr>
          <p:cNvPr id="30" name="Shape 28"/>
          <p:cNvSpPr/>
          <p:nvPr/>
        </p:nvSpPr>
        <p:spPr>
          <a:xfrm>
            <a:off x="365760" y="4864608"/>
            <a:ext cx="4160520" cy="1051560"/>
          </a:xfrm>
          <a:prstGeom prst="roundRect">
            <a:avLst>
              <a:gd name="adj" fmla="val 6957"/>
            </a:avLst>
          </a:prstGeom>
          <a:solidFill>
            <a:srgbClr val="F4F4F4"/>
          </a:solidFill>
          <a:ln w="12700">
            <a:solidFill>
              <a:srgbClr val="AF52DE"/>
            </a:solidFill>
            <a:prstDash val="solid"/>
          </a:ln>
        </p:spPr>
      </p:sp>
      <p:sp>
        <p:nvSpPr>
          <p:cNvPr id="31" name="Text 29"/>
          <p:cNvSpPr txBox="1"/>
          <p:nvPr/>
        </p:nvSpPr>
        <p:spPr>
          <a:xfrm>
            <a:off x="502920" y="4974336"/>
            <a:ext cx="41148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7</a:t>
            </a:r>
            <a:endParaRPr lang="en-US" sz="1500" dirty="0"/>
          </a:p>
        </p:txBody>
      </p:sp>
      <p:sp>
        <p:nvSpPr>
          <p:cNvPr id="32" name="Text 30"/>
          <p:cNvSpPr txBox="1"/>
          <p:nvPr/>
        </p:nvSpPr>
        <p:spPr>
          <a:xfrm>
            <a:off x="960120" y="495604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Capacitación Continua</a:t>
            </a:r>
            <a:endParaRPr lang="en-US" sz="1300" dirty="0"/>
          </a:p>
        </p:txBody>
      </p:sp>
      <p:sp>
        <p:nvSpPr>
          <p:cNvPr id="33" name="Text 31"/>
          <p:cNvSpPr txBox="1"/>
          <p:nvPr/>
        </p:nvSpPr>
        <p:spPr>
          <a:xfrm>
            <a:off x="502920" y="532180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Talleres anuales de constructabilidad para nuevos integrantes de equipos de proyecto.</a:t>
            </a:r>
            <a:endParaRPr lang="en-US" sz="1050" dirty="0"/>
          </a:p>
        </p:txBody>
      </p:sp>
      <p:sp>
        <p:nvSpPr>
          <p:cNvPr id="34" name="Shape 32"/>
          <p:cNvSpPr/>
          <p:nvPr/>
        </p:nvSpPr>
        <p:spPr>
          <a:xfrm>
            <a:off x="4754880" y="4864608"/>
            <a:ext cx="4160520" cy="1051560"/>
          </a:xfrm>
          <a:prstGeom prst="roundRect">
            <a:avLst>
              <a:gd name="adj" fmla="val 6957"/>
            </a:avLst>
          </a:prstGeom>
          <a:solidFill>
            <a:srgbClr val="F4F4F4"/>
          </a:solidFill>
          <a:ln w="12700">
            <a:solidFill>
              <a:srgbClr val="55577A"/>
            </a:solidFill>
            <a:prstDash val="solid"/>
          </a:ln>
        </p:spPr>
      </p:sp>
      <p:sp>
        <p:nvSpPr>
          <p:cNvPr id="35" name="Text 33"/>
          <p:cNvSpPr txBox="1"/>
          <p:nvPr/>
        </p:nvSpPr>
        <p:spPr>
          <a:xfrm>
            <a:off x="4892040" y="4974336"/>
            <a:ext cx="41148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8</a:t>
            </a:r>
            <a:endParaRPr lang="en-US" sz="1500" dirty="0"/>
          </a:p>
        </p:txBody>
      </p:sp>
      <p:sp>
        <p:nvSpPr>
          <p:cNvPr id="36" name="Text 34"/>
          <p:cNvSpPr txBox="1"/>
          <p:nvPr/>
        </p:nvSpPr>
        <p:spPr>
          <a:xfrm>
            <a:off x="5349240" y="495604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Aplicación en Contratos</a:t>
            </a:r>
            <a:endParaRPr lang="en-US" sz="1300" dirty="0"/>
          </a:p>
        </p:txBody>
      </p:sp>
      <p:sp>
        <p:nvSpPr>
          <p:cNvPr id="37" name="Text 35"/>
          <p:cNvSpPr txBox="1"/>
          <p:nvPr/>
        </p:nvSpPr>
        <p:spPr>
          <a:xfrm>
            <a:off x="4892040" y="532180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Cláusulas contractuales que exigen plan constructabilidad a contratistas EPC/EPCm.</a:t>
            </a:r>
            <a:endParaRPr lang="en-US" sz="105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111</a:t>
            </a:r>
            <a:endParaRPr lang="en-US" sz="900" dirty="0"/>
          </a:p>
        </p:txBody>
      </p:sp>
      <p:pic xmlns:p="http://schemas.openxmlformats.org/presentationml/2006/main" xmlns:a="http://schemas.openxmlformats.org/drawingml/2006/main" xmlns:r="http://schemas.openxmlformats.org/officeDocument/2006/relationships">
        <p:nvPicPr>
          <p:cNvPr id="8111" name="SlideIcon8111"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Errores Comunes en Programas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documenta los errores más frecuentes que sabotean los programas, y sus contramedidas:</a:t>
            </a:r>
            <a:endParaRPr lang="en-US" sz="1300" dirty="0"/>
          </a:p>
        </p:txBody>
      </p:sp>
      <p:sp>
        <p:nvSpPr>
          <p:cNvPr id="6" name="Shape 4"/>
          <p:cNvSpPr/>
          <p:nvPr/>
        </p:nvSpPr>
        <p:spPr>
          <a:xfrm>
            <a:off x="365760" y="1298448"/>
            <a:ext cx="8412480" cy="841248"/>
          </a:xfrm>
          <a:prstGeom prst="roundRect">
            <a:avLst>
              <a:gd name="adj" fmla="val 8696"/>
            </a:avLst>
          </a:prstGeom>
          <a:solidFill>
            <a:srgbClr val="F4F4F4"/>
          </a:solidFill>
          <a:ln w="12700">
            <a:solidFill>
              <a:srgbClr val="EBEBEB"/>
            </a:solidFill>
            <a:prstDash val="solid"/>
          </a:ln>
        </p:spPr>
      </p:sp>
      <p:sp>
        <p:nvSpPr>
          <p:cNvPr id="7" name="Text 5"/>
          <p:cNvSpPr txBox="1"/>
          <p:nvPr/>
        </p:nvSpPr>
        <p:spPr>
          <a:xfrm>
            <a:off x="548640" y="137160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Iniciativa tardía</a:t>
            </a:r>
            <a:endParaRPr lang="en-US" sz="1200" dirty="0"/>
          </a:p>
        </p:txBody>
      </p:sp>
      <p:sp>
        <p:nvSpPr>
          <p:cNvPr id="8" name="Text 6"/>
          <p:cNvSpPr txBox="1"/>
          <p:nvPr/>
        </p:nvSpPr>
        <p:spPr>
          <a:xfrm>
            <a:off x="2514600" y="135331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Incorporar constructabilidad en diseño detalle (&gt;30%) en lugar de desde FEED o antes</a:t>
            </a:r>
            <a:endParaRPr lang="en-US" sz="1050" dirty="0"/>
          </a:p>
        </p:txBody>
      </p:sp>
      <p:sp>
        <p:nvSpPr>
          <p:cNvPr id="9" name="Text 7"/>
          <p:cNvSpPr txBox="1"/>
          <p:nvPr/>
        </p:nvSpPr>
        <p:spPr>
          <a:xfrm>
            <a:off x="5532120" y="135331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Agendar primer taller de constructabilidad durante FEL-2, antes de IFR de ingeniería básica</a:t>
            </a:r>
            <a:endParaRPr lang="en-US" sz="1050" dirty="0"/>
          </a:p>
        </p:txBody>
      </p:sp>
      <p:sp>
        <p:nvSpPr>
          <p:cNvPr id="10" name="Shape 8"/>
          <p:cNvSpPr/>
          <p:nvPr/>
        </p:nvSpPr>
        <p:spPr>
          <a:xfrm>
            <a:off x="2423160" y="1353312"/>
            <a:ext cx="18288" cy="713232"/>
          </a:xfrm>
          <a:prstGeom prst="rect">
            <a:avLst/>
          </a:prstGeom>
          <a:solidFill>
            <a:srgbClr val="EBEBEB"/>
          </a:solidFill>
          <a:ln/>
        </p:spPr>
      </p:sp>
      <p:sp>
        <p:nvSpPr>
          <p:cNvPr id="11" name="Shape 9"/>
          <p:cNvSpPr/>
          <p:nvPr/>
        </p:nvSpPr>
        <p:spPr>
          <a:xfrm>
            <a:off x="5440680" y="1353312"/>
            <a:ext cx="18288" cy="713232"/>
          </a:xfrm>
          <a:prstGeom prst="rect">
            <a:avLst/>
          </a:prstGeom>
          <a:solidFill>
            <a:srgbClr val="EBEBEB"/>
          </a:solidFill>
          <a:ln/>
        </p:spPr>
      </p:sp>
      <p:sp>
        <p:nvSpPr>
          <p:cNvPr id="12" name="Shape 10"/>
          <p:cNvSpPr/>
          <p:nvPr/>
        </p:nvSpPr>
        <p:spPr>
          <a:xfrm>
            <a:off x="365760" y="2258568"/>
            <a:ext cx="8412480" cy="841248"/>
          </a:xfrm>
          <a:prstGeom prst="roundRect">
            <a:avLst>
              <a:gd name="adj" fmla="val 8696"/>
            </a:avLst>
          </a:prstGeom>
          <a:solidFill>
            <a:srgbClr val="F4F4F4"/>
          </a:solidFill>
          <a:ln w="12700">
            <a:solidFill>
              <a:srgbClr val="EBEBEB"/>
            </a:solidFill>
            <a:prstDash val="solid"/>
          </a:ln>
        </p:spPr>
      </p:sp>
      <p:sp>
        <p:nvSpPr>
          <p:cNvPr id="13" name="Text 11"/>
          <p:cNvSpPr txBox="1"/>
          <p:nvPr/>
        </p:nvSpPr>
        <p:spPr>
          <a:xfrm>
            <a:off x="548640" y="233172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CM sin autoridad</a:t>
            </a:r>
            <a:endParaRPr lang="en-US" sz="1200" dirty="0"/>
          </a:p>
        </p:txBody>
      </p:sp>
      <p:sp>
        <p:nvSpPr>
          <p:cNvPr id="14" name="Text 12"/>
          <p:cNvSpPr txBox="1"/>
          <p:nvPr/>
        </p:nvSpPr>
        <p:spPr>
          <a:xfrm>
            <a:off x="2514600" y="231343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CM de constructabilidad es consultor opcional sin poder de decisión en el equipo</a:t>
            </a:r>
            <a:endParaRPr lang="en-US" sz="1050" dirty="0"/>
          </a:p>
        </p:txBody>
      </p:sp>
      <p:sp>
        <p:nvSpPr>
          <p:cNvPr id="15" name="Text 13"/>
          <p:cNvSpPr txBox="1"/>
          <p:nvPr/>
        </p:nvSpPr>
        <p:spPr>
          <a:xfrm>
            <a:off x="5532120" y="231343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CM de constructabilidad tiene voto en revisiones de diseño y acceso directo al PM</a:t>
            </a:r>
            <a:endParaRPr lang="en-US" sz="1050" dirty="0"/>
          </a:p>
        </p:txBody>
      </p:sp>
      <p:sp>
        <p:nvSpPr>
          <p:cNvPr id="16" name="Shape 14"/>
          <p:cNvSpPr/>
          <p:nvPr/>
        </p:nvSpPr>
        <p:spPr>
          <a:xfrm>
            <a:off x="2423160" y="2313432"/>
            <a:ext cx="18288" cy="713232"/>
          </a:xfrm>
          <a:prstGeom prst="rect">
            <a:avLst/>
          </a:prstGeom>
          <a:solidFill>
            <a:srgbClr val="EBEBEB"/>
          </a:solidFill>
          <a:ln/>
        </p:spPr>
      </p:sp>
      <p:sp>
        <p:nvSpPr>
          <p:cNvPr id="17" name="Shape 15"/>
          <p:cNvSpPr/>
          <p:nvPr/>
        </p:nvSpPr>
        <p:spPr>
          <a:xfrm>
            <a:off x="5440680" y="2313432"/>
            <a:ext cx="18288" cy="713232"/>
          </a:xfrm>
          <a:prstGeom prst="rect">
            <a:avLst/>
          </a:prstGeom>
          <a:solidFill>
            <a:srgbClr val="EBEBEB"/>
          </a:solidFill>
          <a:ln/>
        </p:spPr>
      </p:sp>
      <p:sp>
        <p:nvSpPr>
          <p:cNvPr id="18" name="Shape 16"/>
          <p:cNvSpPr/>
          <p:nvPr/>
        </p:nvSpPr>
        <p:spPr>
          <a:xfrm>
            <a:off x="365760" y="3218688"/>
            <a:ext cx="8412480" cy="841248"/>
          </a:xfrm>
          <a:prstGeom prst="roundRect">
            <a:avLst>
              <a:gd name="adj" fmla="val 8696"/>
            </a:avLst>
          </a:prstGeom>
          <a:solidFill>
            <a:srgbClr val="F4F4F4"/>
          </a:solidFill>
          <a:ln w="12700">
            <a:solidFill>
              <a:srgbClr val="EBEBEB"/>
            </a:solidFill>
            <a:prstDash val="solid"/>
          </a:ln>
        </p:spPr>
      </p:sp>
      <p:sp>
        <p:nvSpPr>
          <p:cNvPr id="19" name="Text 17"/>
          <p:cNvSpPr txBox="1"/>
          <p:nvPr/>
        </p:nvSpPr>
        <p:spPr>
          <a:xfrm>
            <a:off x="548640" y="329184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Sin métricas</a:t>
            </a:r>
            <a:endParaRPr lang="en-US" sz="1200" dirty="0"/>
          </a:p>
        </p:txBody>
      </p:sp>
      <p:sp>
        <p:nvSpPr>
          <p:cNvPr id="20" name="Text 18"/>
          <p:cNvSpPr txBox="1"/>
          <p:nvPr/>
        </p:nvSpPr>
        <p:spPr>
          <a:xfrm>
            <a:off x="2514600" y="327355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No se mide cuántas ideas se generan, implementan ni cuánto ahorran; el programa muere en austeridad</a:t>
            </a:r>
            <a:endParaRPr lang="en-US" sz="1050" dirty="0"/>
          </a:p>
        </p:txBody>
      </p:sp>
      <p:sp>
        <p:nvSpPr>
          <p:cNvPr id="21" name="Text 19"/>
          <p:cNvSpPr txBox="1"/>
          <p:nvPr/>
        </p:nvSpPr>
        <p:spPr>
          <a:xfrm>
            <a:off x="5532120" y="327355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KPI mensual: # ideas → implementadas → $ ahorrados; reportado al sponsor ejecutivo</a:t>
            </a:r>
            <a:endParaRPr lang="en-US" sz="1050" dirty="0"/>
          </a:p>
        </p:txBody>
      </p:sp>
      <p:sp>
        <p:nvSpPr>
          <p:cNvPr id="22" name="Shape 20"/>
          <p:cNvSpPr/>
          <p:nvPr/>
        </p:nvSpPr>
        <p:spPr>
          <a:xfrm>
            <a:off x="2423160" y="3273552"/>
            <a:ext cx="18288" cy="713232"/>
          </a:xfrm>
          <a:prstGeom prst="rect">
            <a:avLst/>
          </a:prstGeom>
          <a:solidFill>
            <a:srgbClr val="EBEBEB"/>
          </a:solidFill>
          <a:ln/>
        </p:spPr>
      </p:sp>
      <p:sp>
        <p:nvSpPr>
          <p:cNvPr id="23" name="Shape 21"/>
          <p:cNvSpPr/>
          <p:nvPr/>
        </p:nvSpPr>
        <p:spPr>
          <a:xfrm>
            <a:off x="5440680" y="3273552"/>
            <a:ext cx="18288" cy="713232"/>
          </a:xfrm>
          <a:prstGeom prst="rect">
            <a:avLst/>
          </a:prstGeom>
          <a:solidFill>
            <a:srgbClr val="EBEBEB"/>
          </a:solidFill>
          <a:ln/>
        </p:spPr>
      </p:sp>
      <p:sp>
        <p:nvSpPr>
          <p:cNvPr id="24" name="Shape 22"/>
          <p:cNvSpPr/>
          <p:nvPr/>
        </p:nvSpPr>
        <p:spPr>
          <a:xfrm>
            <a:off x="365760" y="4178808"/>
            <a:ext cx="8412480" cy="841248"/>
          </a:xfrm>
          <a:prstGeom prst="roundRect">
            <a:avLst>
              <a:gd name="adj" fmla="val 8696"/>
            </a:avLst>
          </a:prstGeom>
          <a:solidFill>
            <a:srgbClr val="F4F4F4"/>
          </a:solidFill>
          <a:ln w="12700">
            <a:solidFill>
              <a:srgbClr val="EBEBEB"/>
            </a:solidFill>
            <a:prstDash val="solid"/>
          </a:ln>
        </p:spPr>
      </p:sp>
      <p:sp>
        <p:nvSpPr>
          <p:cNvPr id="25" name="Text 23"/>
          <p:cNvSpPr txBox="1"/>
          <p:nvPr/>
        </p:nvSpPr>
        <p:spPr>
          <a:xfrm>
            <a:off x="548640" y="425196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Silos de información</a:t>
            </a:r>
            <a:endParaRPr lang="en-US" sz="1200" dirty="0"/>
          </a:p>
        </p:txBody>
      </p:sp>
      <p:sp>
        <p:nvSpPr>
          <p:cNvPr id="26" name="Text 24"/>
          <p:cNvSpPr txBox="1"/>
          <p:nvPr/>
        </p:nvSpPr>
        <p:spPr>
          <a:xfrm>
            <a:off x="2514600" y="423367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Ingeniería y construcción no comparten modelos, planos actualizados ni información a tiempo</a:t>
            </a:r>
            <a:endParaRPr lang="en-US" sz="1050" dirty="0"/>
          </a:p>
        </p:txBody>
      </p:sp>
      <p:sp>
        <p:nvSpPr>
          <p:cNvPr id="27" name="Text 25"/>
          <p:cNvSpPr txBox="1"/>
          <p:nvPr/>
        </p:nvSpPr>
        <p:spPr>
          <a:xfrm>
            <a:off x="5532120" y="423367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BIM 3D/4D compartido con constructores desde ingeniería básica; modelo único de referencia</a:t>
            </a:r>
            <a:endParaRPr lang="en-US" sz="1050" dirty="0"/>
          </a:p>
        </p:txBody>
      </p:sp>
      <p:sp>
        <p:nvSpPr>
          <p:cNvPr id="28" name="Shape 26"/>
          <p:cNvSpPr/>
          <p:nvPr/>
        </p:nvSpPr>
        <p:spPr>
          <a:xfrm>
            <a:off x="2423160" y="4233672"/>
            <a:ext cx="18288" cy="713232"/>
          </a:xfrm>
          <a:prstGeom prst="rect">
            <a:avLst/>
          </a:prstGeom>
          <a:solidFill>
            <a:srgbClr val="EBEBEB"/>
          </a:solidFill>
          <a:ln/>
        </p:spPr>
      </p:sp>
      <p:sp>
        <p:nvSpPr>
          <p:cNvPr id="29" name="Shape 27"/>
          <p:cNvSpPr/>
          <p:nvPr/>
        </p:nvSpPr>
        <p:spPr>
          <a:xfrm>
            <a:off x="5440680" y="4233672"/>
            <a:ext cx="18288" cy="713232"/>
          </a:xfrm>
          <a:prstGeom prst="rect">
            <a:avLst/>
          </a:prstGeom>
          <a:solidFill>
            <a:srgbClr val="EBEBEB"/>
          </a:solidFill>
          <a:ln/>
        </p:spPr>
      </p:sp>
      <p:sp>
        <p:nvSpPr>
          <p:cNvPr id="30" name="Shape 28"/>
          <p:cNvSpPr/>
          <p:nvPr/>
        </p:nvSpPr>
        <p:spPr>
          <a:xfrm>
            <a:off x="365760" y="5138928"/>
            <a:ext cx="8412480" cy="841248"/>
          </a:xfrm>
          <a:prstGeom prst="roundRect">
            <a:avLst>
              <a:gd name="adj" fmla="val 8696"/>
            </a:avLst>
          </a:prstGeom>
          <a:solidFill>
            <a:srgbClr val="F4F4F4"/>
          </a:solidFill>
          <a:ln w="12700">
            <a:solidFill>
              <a:srgbClr val="EBEBEB"/>
            </a:solidFill>
            <a:prstDash val="solid"/>
          </a:ln>
        </p:spPr>
      </p:sp>
      <p:sp>
        <p:nvSpPr>
          <p:cNvPr id="31" name="Text 29"/>
          <p:cNvSpPr txBox="1"/>
          <p:nvPr/>
        </p:nvSpPr>
        <p:spPr>
          <a:xfrm>
            <a:off x="548640" y="521208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Capacitación única</a:t>
            </a:r>
            <a:endParaRPr lang="en-US" sz="1200" dirty="0"/>
          </a:p>
        </p:txBody>
      </p:sp>
      <p:sp>
        <p:nvSpPr>
          <p:cNvPr id="32" name="Text 30"/>
          <p:cNvSpPr txBox="1"/>
          <p:nvPr/>
        </p:nvSpPr>
        <p:spPr>
          <a:xfrm>
            <a:off x="2514600" y="519379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Un solo taller inicial y luego el equipo cambia sin transferir conocimiento</a:t>
            </a:r>
            <a:endParaRPr lang="en-US" sz="1050" dirty="0"/>
          </a:p>
        </p:txBody>
      </p:sp>
      <p:sp>
        <p:nvSpPr>
          <p:cNvPr id="33" name="Text 31"/>
          <p:cNvSpPr txBox="1"/>
          <p:nvPr/>
        </p:nvSpPr>
        <p:spPr>
          <a:xfrm>
            <a:off x="5532120" y="519379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Programa de inducción de constructabilidad para cada nuevo miembro del equipo de proyecto</a:t>
            </a:r>
            <a:endParaRPr lang="en-US" sz="1050" dirty="0"/>
          </a:p>
        </p:txBody>
      </p:sp>
      <p:sp>
        <p:nvSpPr>
          <p:cNvPr id="34" name="Shape 32"/>
          <p:cNvSpPr/>
          <p:nvPr/>
        </p:nvSpPr>
        <p:spPr>
          <a:xfrm>
            <a:off x="2423160" y="5193792"/>
            <a:ext cx="18288" cy="713232"/>
          </a:xfrm>
          <a:prstGeom prst="rect">
            <a:avLst/>
          </a:prstGeom>
          <a:solidFill>
            <a:srgbClr val="EBEBEB"/>
          </a:solidFill>
          <a:ln/>
        </p:spPr>
      </p:sp>
      <p:sp>
        <p:nvSpPr>
          <p:cNvPr id="35" name="Shape 33"/>
          <p:cNvSpPr/>
          <p:nvPr/>
        </p:nvSpPr>
        <p:spPr>
          <a:xfrm>
            <a:off x="5440680" y="5193792"/>
            <a:ext cx="18288" cy="713232"/>
          </a:xfrm>
          <a:prstGeom prst="rect">
            <a:avLst/>
          </a:prstGeom>
          <a:solidFill>
            <a:srgbClr val="EBEBEB"/>
          </a:solidFill>
          <a:ln/>
        </p:spPr>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112</a:t>
            </a:r>
            <a:endParaRPr lang="en-US" sz="900" dirty="0"/>
          </a:p>
        </p:txBody>
      </p:sp>
      <p:pic xmlns:p="http://schemas.openxmlformats.org/presentationml/2006/main" xmlns:a="http://schemas.openxmlformats.org/drawingml/2006/main" xmlns:r="http://schemas.openxmlformats.org/officeDocument/2006/relationships">
        <p:nvPicPr>
          <p:cNvPr id="8112" name="SlideIcon8112"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Sinergia Natural</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diseño constructible es también más sostenible: menos desperdicios, menos energía, menos tiempo:</a:t>
            </a:r>
            <a:endParaRPr lang="en-US" sz="1300" dirty="0"/>
          </a:p>
        </p:txBody>
      </p:sp>
      <p:sp>
        <p:nvSpPr>
          <p:cNvPr id="6" name="Shape 4"/>
          <p:cNvSpPr/>
          <p:nvPr/>
        </p:nvSpPr>
        <p:spPr>
          <a:xfrm>
            <a:off x="365760" y="1298448"/>
            <a:ext cx="2697480" cy="3977640"/>
          </a:xfrm>
          <a:prstGeom prst="roundRect">
            <a:avLst>
              <a:gd name="adj" fmla="val 4068"/>
            </a:avLst>
          </a:prstGeom>
          <a:solidFill>
            <a:srgbClr val="F4F4F4"/>
          </a:solidFill>
          <a:ln w="25400">
            <a:solidFill>
              <a:srgbClr val="30D158"/>
            </a:solidFill>
            <a:prstDash val="solid"/>
          </a:ln>
        </p:spPr>
      </p:sp>
      <p:sp>
        <p:nvSpPr>
          <p:cNvPr id="7" name="Text 5"/>
          <p:cNvSpPr txBox="1"/>
          <p:nvPr/>
        </p:nvSpPr>
        <p:spPr>
          <a:xfrm>
            <a:off x="365760" y="1417320"/>
            <a:ext cx="2697480" cy="502920"/>
          </a:xfrm>
          <a:prstGeom prst="rect">
            <a:avLst/>
          </a:prstGeom>
          <a:noFill/>
          <a:ln/>
        </p:spPr>
        <p:txBody>
          <a:bodyPr wrap="square" lIns="0" tIns="0" rIns="0" bIns="0" rtlCol="0" anchor="ctr"/>
          <a:lstStyle/>
          <a:p>
            <a:pPr algn="ctr" indent="0" marL="0">
              <a:buNone/>
            </a:pPr>
            <a:r>
              <a:rPr lang="en-US" sz="2600" dirty="0">
                <a:solidFill>
                  <a:srgbClr val="30D158"/>
                </a:solidFill>
                <a:latin typeface="Atkinson Hyperlegible" pitchFamily="34" charset="0"/>
                <a:ea typeface="Atkinson Hyperlegible" pitchFamily="34" charset="-122"/>
                <a:cs typeface="Atkinson Hyperlegible" pitchFamily="34" charset="-120"/>
              </a:rPr>
              <a:t>♻</a:t>
            </a:r>
            <a:endParaRPr lang="en-US" sz="2600" dirty="0"/>
          </a:p>
        </p:txBody>
      </p:sp>
      <p:sp>
        <p:nvSpPr>
          <p:cNvPr id="8" name="Text 6"/>
          <p:cNvSpPr txBox="1"/>
          <p:nvPr/>
        </p:nvSpPr>
        <p:spPr>
          <a:xfrm>
            <a:off x="502920" y="1965960"/>
            <a:ext cx="2423160" cy="502920"/>
          </a:xfrm>
          <a:prstGeom prst="rect">
            <a:avLst/>
          </a:prstGeom>
          <a:noFill/>
          <a:ln/>
        </p:spPr>
        <p:txBody>
          <a:bodyPr wrap="square" lIns="0" tIns="0" rIns="0" bIns="0" rtlCol="0" anchor="ctr"/>
          <a:lstStyle/>
          <a:p>
            <a:pPr algn="ct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Reducción de Desperdicios</a:t>
            </a:r>
            <a:endParaRPr lang="en-US" sz="1300" dirty="0"/>
          </a:p>
        </p:txBody>
      </p:sp>
      <p:sp>
        <p:nvSpPr>
          <p:cNvPr id="9" name="Text 7"/>
          <p:cNvSpPr txBox="1"/>
          <p:nvPr/>
        </p:nvSpPr>
        <p:spPr>
          <a:xfrm>
            <a:off x="50292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Prefabricación → reduce scrap en campo 60-80%</a:t>
            </a:r>
            <a:endParaRPr lang="en-US" sz="1050" dirty="0"/>
          </a:p>
        </p:txBody>
      </p:sp>
      <p:sp>
        <p:nvSpPr>
          <p:cNvPr id="10" name="Text 8"/>
          <p:cNvSpPr txBox="1"/>
          <p:nvPr/>
        </p:nvSpPr>
        <p:spPr>
          <a:xfrm>
            <a:off x="50292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Estandarización → menos material sobrante</a:t>
            </a:r>
            <a:endParaRPr lang="en-US" sz="1050" dirty="0"/>
          </a:p>
        </p:txBody>
      </p:sp>
      <p:sp>
        <p:nvSpPr>
          <p:cNvPr id="11" name="Text 9"/>
          <p:cNvSpPr txBox="1"/>
          <p:nvPr/>
        </p:nvSpPr>
        <p:spPr>
          <a:xfrm>
            <a:off x="50292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trabajo precisos → menos over-ordering</a:t>
            </a:r>
            <a:endParaRPr lang="en-US" sz="1050" dirty="0"/>
          </a:p>
        </p:txBody>
      </p:sp>
      <p:sp>
        <p:nvSpPr>
          <p:cNvPr id="12" name="Text 10"/>
          <p:cNvSpPr txBox="1"/>
          <p:nvPr/>
        </p:nvSpPr>
        <p:spPr>
          <a:xfrm>
            <a:off x="50292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re-trabajo → menos material desperdiciado</a:t>
            </a:r>
            <a:endParaRPr lang="en-US" sz="1050" dirty="0"/>
          </a:p>
        </p:txBody>
      </p:sp>
      <p:sp>
        <p:nvSpPr>
          <p:cNvPr id="13" name="Shape 11"/>
          <p:cNvSpPr/>
          <p:nvPr/>
        </p:nvSpPr>
        <p:spPr>
          <a:xfrm>
            <a:off x="3246120" y="1298448"/>
            <a:ext cx="2697480" cy="3977640"/>
          </a:xfrm>
          <a:prstGeom prst="roundRect">
            <a:avLst>
              <a:gd name="adj" fmla="val 4068"/>
            </a:avLst>
          </a:prstGeom>
          <a:solidFill>
            <a:srgbClr val="F4F4F4"/>
          </a:solidFill>
          <a:ln w="25400">
            <a:solidFill>
              <a:srgbClr val="0A84FF"/>
            </a:solidFill>
            <a:prstDash val="solid"/>
          </a:ln>
        </p:spPr>
      </p:sp>
      <p:sp>
        <p:nvSpPr>
          <p:cNvPr id="14" name="Text 12"/>
          <p:cNvSpPr txBox="1"/>
          <p:nvPr/>
        </p:nvSpPr>
        <p:spPr>
          <a:xfrm>
            <a:off x="3246120" y="1417320"/>
            <a:ext cx="2697480" cy="502920"/>
          </a:xfrm>
          <a:prstGeom prst="rect">
            <a:avLst/>
          </a:prstGeom>
          <a:noFill/>
          <a:ln/>
        </p:spPr>
        <p:txBody>
          <a:bodyPr wrap="square" lIns="0" tIns="0" rIns="0" bIns="0" rtlCol="0" anchor="ctr"/>
          <a:lstStyle/>
          <a:p>
            <a:pPr algn="ctr" indent="0" marL="0">
              <a:buNone/>
            </a:pPr>
            <a:r>
              <a:rPr lang="en-US" sz="2600" dirty="0">
                <a:solidFill>
                  <a:srgbClr val="0A84FF"/>
                </a:solidFill>
                <a:latin typeface="Atkinson Hyperlegible" pitchFamily="34" charset="0"/>
                <a:ea typeface="Atkinson Hyperlegible" pitchFamily="34" charset="-122"/>
                <a:cs typeface="Atkinson Hyperlegible" pitchFamily="34" charset="-120"/>
              </a:rPr>
              <a:t>⚡</a:t>
            </a:r>
            <a:endParaRPr lang="en-US" sz="2600" dirty="0"/>
          </a:p>
        </p:txBody>
      </p:sp>
      <p:sp>
        <p:nvSpPr>
          <p:cNvPr id="15" name="Text 13"/>
          <p:cNvSpPr txBox="1"/>
          <p:nvPr/>
        </p:nvSpPr>
        <p:spPr>
          <a:xfrm>
            <a:off x="3383280" y="1965960"/>
            <a:ext cx="2423160" cy="50292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Eficiencia Energética</a:t>
            </a:r>
            <a:endParaRPr lang="en-US" sz="1300" dirty="0"/>
          </a:p>
        </p:txBody>
      </p:sp>
      <p:sp>
        <p:nvSpPr>
          <p:cNvPr id="16" name="Text 14"/>
          <p:cNvSpPr txBox="1"/>
          <p:nvPr/>
        </p:nvSpPr>
        <p:spPr>
          <a:xfrm>
            <a:off x="338328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horas-hombre = menos energía consumida</a:t>
            </a:r>
            <a:endParaRPr lang="en-US" sz="1050" dirty="0"/>
          </a:p>
        </p:txBody>
      </p:sp>
      <p:sp>
        <p:nvSpPr>
          <p:cNvPr id="17" name="Text 15"/>
          <p:cNvSpPr txBox="1"/>
          <p:nvPr/>
        </p:nvSpPr>
        <p:spPr>
          <a:xfrm>
            <a:off x="338328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Menor duración = menos equipos y maquinaria activos</a:t>
            </a:r>
            <a:endParaRPr lang="en-US" sz="1050" dirty="0"/>
          </a:p>
        </p:txBody>
      </p:sp>
      <p:sp>
        <p:nvSpPr>
          <p:cNvPr id="18" name="Text 16"/>
          <p:cNvSpPr txBox="1"/>
          <p:nvPr/>
        </p:nvSpPr>
        <p:spPr>
          <a:xfrm>
            <a:off x="338328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eficiente = menor huella de carbono</a:t>
            </a:r>
            <a:endParaRPr lang="en-US" sz="1050" dirty="0"/>
          </a:p>
        </p:txBody>
      </p:sp>
      <p:sp>
        <p:nvSpPr>
          <p:cNvPr id="19" name="Text 17"/>
          <p:cNvSpPr txBox="1"/>
          <p:nvPr/>
        </p:nvSpPr>
        <p:spPr>
          <a:xfrm>
            <a:off x="338328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Modular = fabricación en talleres con energía renovable</a:t>
            </a:r>
            <a:endParaRPr lang="en-US" sz="1050" dirty="0"/>
          </a:p>
        </p:txBody>
      </p:sp>
      <p:sp>
        <p:nvSpPr>
          <p:cNvPr id="20" name="Shape 18"/>
          <p:cNvSpPr/>
          <p:nvPr/>
        </p:nvSpPr>
        <p:spPr>
          <a:xfrm>
            <a:off x="6126480" y="1298448"/>
            <a:ext cx="2697480" cy="3977640"/>
          </a:xfrm>
          <a:prstGeom prst="roundRect">
            <a:avLst>
              <a:gd name="adj" fmla="val 4068"/>
            </a:avLst>
          </a:prstGeom>
          <a:solidFill>
            <a:srgbClr val="F4F4F4"/>
          </a:solidFill>
          <a:ln w="25400">
            <a:solidFill>
              <a:srgbClr val="FF9500"/>
            </a:solidFill>
            <a:prstDash val="solid"/>
          </a:ln>
        </p:spPr>
      </p:sp>
      <p:sp>
        <p:nvSpPr>
          <p:cNvPr id="21" name="Text 19"/>
          <p:cNvSpPr txBox="1"/>
          <p:nvPr/>
        </p:nvSpPr>
        <p:spPr>
          <a:xfrm>
            <a:off x="6126480" y="1417320"/>
            <a:ext cx="2697480" cy="502920"/>
          </a:xfrm>
          <a:prstGeom prst="rect">
            <a:avLst/>
          </a:prstGeom>
          <a:noFill/>
          <a:ln/>
        </p:spPr>
        <p:txBody>
          <a:bodyPr wrap="square" lIns="0" tIns="0" rIns="0" bIns="0" rtlCol="0" anchor="ctr"/>
          <a:lstStyle/>
          <a:p>
            <a:pPr algn="ctr" indent="0" marL="0">
              <a:buNone/>
            </a:pPr>
            <a:r>
              <a:rPr lang="en-US" sz="2600" dirty="0">
                <a:solidFill>
                  <a:srgbClr val="FF9500"/>
                </a:solidFill>
                <a:latin typeface="Atkinson Hyperlegible" pitchFamily="34" charset="0"/>
                <a:ea typeface="Atkinson Hyperlegible" pitchFamily="34" charset="-122"/>
                <a:cs typeface="Atkinson Hyperlegible" pitchFamily="34" charset="-120"/>
              </a:rPr>
              <a:t>🛡</a:t>
            </a:r>
            <a:endParaRPr lang="en-US" sz="2600" dirty="0"/>
          </a:p>
        </p:txBody>
      </p:sp>
      <p:sp>
        <p:nvSpPr>
          <p:cNvPr id="22" name="Text 20"/>
          <p:cNvSpPr txBox="1"/>
          <p:nvPr/>
        </p:nvSpPr>
        <p:spPr>
          <a:xfrm>
            <a:off x="6263640" y="1965960"/>
            <a:ext cx="2423160" cy="502920"/>
          </a:xfrm>
          <a:prstGeom prst="rect">
            <a:avLst/>
          </a:prstGeom>
          <a:noFill/>
          <a:ln/>
        </p:spPr>
        <p:txBody>
          <a:bodyPr wrap="square" lIns="0" tIns="0" rIns="0" bIns="0" rtlCol="0" anchor="ctr"/>
          <a:lstStyle/>
          <a:p>
            <a:pPr algn="ct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 Segura</a:t>
            </a:r>
            <a:endParaRPr lang="en-US" sz="1300" dirty="0"/>
          </a:p>
        </p:txBody>
      </p:sp>
      <p:sp>
        <p:nvSpPr>
          <p:cNvPr id="23" name="Text 21"/>
          <p:cNvSpPr txBox="1"/>
          <p:nvPr/>
        </p:nvSpPr>
        <p:spPr>
          <a:xfrm>
            <a:off x="626364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Diseño para seguridad reduce incidentes en campo</a:t>
            </a:r>
            <a:endParaRPr lang="en-US" sz="1050" dirty="0"/>
          </a:p>
        </p:txBody>
      </p:sp>
      <p:sp>
        <p:nvSpPr>
          <p:cNvPr id="24" name="Text 22"/>
          <p:cNvSpPr txBox="1"/>
          <p:nvPr/>
        </p:nvSpPr>
        <p:spPr>
          <a:xfrm>
            <a:off x="626364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Trabajo en altura minimizado con pre-ensamble</a:t>
            </a:r>
            <a:endParaRPr lang="en-US" sz="1050" dirty="0"/>
          </a:p>
        </p:txBody>
      </p:sp>
      <p:sp>
        <p:nvSpPr>
          <p:cNvPr id="25" name="Text 23"/>
          <p:cNvSpPr txBox="1"/>
          <p:nvPr/>
        </p:nvSpPr>
        <p:spPr>
          <a:xfrm>
            <a:off x="626364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Accesos planificados evitan maniobras improvisadas</a:t>
            </a:r>
            <a:endParaRPr lang="en-US" sz="1050" dirty="0"/>
          </a:p>
        </p:txBody>
      </p:sp>
      <p:sp>
        <p:nvSpPr>
          <p:cNvPr id="26" name="Text 24"/>
          <p:cNvSpPr txBox="1"/>
          <p:nvPr/>
        </p:nvSpPr>
        <p:spPr>
          <a:xfrm>
            <a:off x="626364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tiempo en campo = menos exposición al riesgo</a:t>
            </a:r>
            <a:endParaRPr lang="en-US" sz="105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113</a:t>
            </a:r>
            <a:endParaRPr lang="en-US" sz="900" dirty="0"/>
          </a:p>
        </p:txBody>
      </p:sp>
      <p:pic xmlns:p="http://schemas.openxmlformats.org/presentationml/2006/main" xmlns:a="http://schemas.openxmlformats.org/drawingml/2006/main" xmlns:r="http://schemas.openxmlformats.org/officeDocument/2006/relationships">
        <p:nvPicPr>
          <p:cNvPr id="8113" name="SlideIcon8113"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Modelo de Madurez del Programa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define 5 niveles de madurez para evaluar y mejorar progresivamente el programa:</a:t>
            </a:r>
            <a:endParaRPr lang="en-US" sz="1300" dirty="0"/>
          </a:p>
        </p:txBody>
      </p:sp>
      <p:sp>
        <p:nvSpPr>
          <p:cNvPr id="6" name="Shape 4"/>
          <p:cNvSpPr/>
          <p:nvPr/>
        </p:nvSpPr>
        <p:spPr>
          <a:xfrm>
            <a:off x="365760" y="1298448"/>
            <a:ext cx="8412480" cy="804672"/>
          </a:xfrm>
          <a:prstGeom prst="roundRect">
            <a:avLst>
              <a:gd name="adj" fmla="val 7955"/>
            </a:avLst>
          </a:prstGeom>
          <a:solidFill>
            <a:srgbClr val="F4F4F4"/>
          </a:solidFill>
          <a:ln w="12700">
            <a:solidFill>
              <a:srgbClr val="FF453A"/>
            </a:solidFill>
            <a:prstDash val="solid"/>
          </a:ln>
        </p:spPr>
      </p:sp>
      <p:sp>
        <p:nvSpPr>
          <p:cNvPr id="7" name="Shape 5"/>
          <p:cNvSpPr/>
          <p:nvPr/>
        </p:nvSpPr>
        <p:spPr>
          <a:xfrm>
            <a:off x="365760" y="2048256"/>
            <a:ext cx="1097280" cy="54864"/>
          </a:xfrm>
          <a:prstGeom prst="rect">
            <a:avLst/>
          </a:prstGeom>
          <a:solidFill>
            <a:srgbClr val="FF453A"/>
          </a:solidFill>
          <a:ln/>
        </p:spPr>
      </p:sp>
      <p:sp>
        <p:nvSpPr>
          <p:cNvPr id="8" name="Text 6"/>
          <p:cNvSpPr txBox="1"/>
          <p:nvPr/>
        </p:nvSpPr>
        <p:spPr>
          <a:xfrm>
            <a:off x="548640" y="1408176"/>
            <a:ext cx="77724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Nivel 1</a:t>
            </a:r>
            <a:endParaRPr lang="en-US" sz="1200" dirty="0"/>
          </a:p>
        </p:txBody>
      </p:sp>
      <p:sp>
        <p:nvSpPr>
          <p:cNvPr id="9" name="Text 7"/>
          <p:cNvSpPr txBox="1"/>
          <p:nvPr/>
        </p:nvSpPr>
        <p:spPr>
          <a:xfrm>
            <a:off x="1371600" y="1389888"/>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Inicial / Ad-hoc</a:t>
            </a:r>
            <a:endParaRPr lang="en-US" sz="1300" dirty="0"/>
          </a:p>
        </p:txBody>
      </p:sp>
      <p:sp>
        <p:nvSpPr>
          <p:cNvPr id="10" name="Text 8"/>
          <p:cNvSpPr txBox="1"/>
          <p:nvPr/>
        </p:nvSpPr>
        <p:spPr>
          <a:xfrm>
            <a:off x="3474720" y="1389888"/>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proceso formal. Constructabilidad ocurre por casualidad o iniciativa personal. No hay métricas ni documentación sistemática.</a:t>
            </a:r>
            <a:endParaRPr lang="en-US" sz="1100" dirty="0"/>
          </a:p>
        </p:txBody>
      </p:sp>
      <p:sp>
        <p:nvSpPr>
          <p:cNvPr id="11" name="Shape 9"/>
          <p:cNvSpPr/>
          <p:nvPr/>
        </p:nvSpPr>
        <p:spPr>
          <a:xfrm>
            <a:off x="365760" y="2231136"/>
            <a:ext cx="8412480" cy="804672"/>
          </a:xfrm>
          <a:prstGeom prst="roundRect">
            <a:avLst>
              <a:gd name="adj" fmla="val 7955"/>
            </a:avLst>
          </a:prstGeom>
          <a:solidFill>
            <a:srgbClr val="F4F4F4"/>
          </a:solidFill>
          <a:ln w="12700">
            <a:solidFill>
              <a:srgbClr val="FF9500"/>
            </a:solidFill>
            <a:prstDash val="solid"/>
          </a:ln>
        </p:spPr>
      </p:sp>
      <p:sp>
        <p:nvSpPr>
          <p:cNvPr id="12" name="Shape 10"/>
          <p:cNvSpPr/>
          <p:nvPr/>
        </p:nvSpPr>
        <p:spPr>
          <a:xfrm>
            <a:off x="365760" y="2980944"/>
            <a:ext cx="2468880" cy="54864"/>
          </a:xfrm>
          <a:prstGeom prst="rect">
            <a:avLst/>
          </a:prstGeom>
          <a:solidFill>
            <a:srgbClr val="FF9500"/>
          </a:solidFill>
          <a:ln/>
        </p:spPr>
      </p:sp>
      <p:sp>
        <p:nvSpPr>
          <p:cNvPr id="13" name="Text 11"/>
          <p:cNvSpPr txBox="1"/>
          <p:nvPr/>
        </p:nvSpPr>
        <p:spPr>
          <a:xfrm>
            <a:off x="548640" y="2340864"/>
            <a:ext cx="777240" cy="29260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Nivel 2</a:t>
            </a:r>
            <a:endParaRPr lang="en-US" sz="1200" dirty="0"/>
          </a:p>
        </p:txBody>
      </p:sp>
      <p:sp>
        <p:nvSpPr>
          <p:cNvPr id="14" name="Text 12"/>
          <p:cNvSpPr txBox="1"/>
          <p:nvPr/>
        </p:nvSpPr>
        <p:spPr>
          <a:xfrm>
            <a:off x="1371600" y="2322576"/>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Repetible</a:t>
            </a:r>
            <a:endParaRPr lang="en-US" sz="1300" dirty="0"/>
          </a:p>
        </p:txBody>
      </p:sp>
      <p:sp>
        <p:nvSpPr>
          <p:cNvPr id="15" name="Text 13"/>
          <p:cNvSpPr txBox="1"/>
          <p:nvPr/>
        </p:nvSpPr>
        <p:spPr>
          <a:xfrm>
            <a:off x="3474720" y="2322576"/>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Proceso básico documentado. Se realizan revisiones formales pero no en todos los proyectos. LLDB incipiente.</a:t>
            </a:r>
            <a:endParaRPr lang="en-US" sz="1100" dirty="0"/>
          </a:p>
        </p:txBody>
      </p:sp>
      <p:sp>
        <p:nvSpPr>
          <p:cNvPr id="16" name="Shape 14"/>
          <p:cNvSpPr/>
          <p:nvPr/>
        </p:nvSpPr>
        <p:spPr>
          <a:xfrm>
            <a:off x="365760" y="3163824"/>
            <a:ext cx="8412480" cy="804672"/>
          </a:xfrm>
          <a:prstGeom prst="roundRect">
            <a:avLst>
              <a:gd name="adj" fmla="val 7955"/>
            </a:avLst>
          </a:prstGeom>
          <a:solidFill>
            <a:srgbClr val="F4F4F4"/>
          </a:solidFill>
          <a:ln w="12700">
            <a:solidFill>
              <a:srgbClr val="FFD60A"/>
            </a:solidFill>
            <a:prstDash val="solid"/>
          </a:ln>
        </p:spPr>
      </p:sp>
      <p:sp>
        <p:nvSpPr>
          <p:cNvPr id="17" name="Shape 15"/>
          <p:cNvSpPr/>
          <p:nvPr/>
        </p:nvSpPr>
        <p:spPr>
          <a:xfrm>
            <a:off x="365760" y="3913632"/>
            <a:ext cx="3840480" cy="54864"/>
          </a:xfrm>
          <a:prstGeom prst="rect">
            <a:avLst/>
          </a:prstGeom>
          <a:solidFill>
            <a:srgbClr val="FFD60A"/>
          </a:solidFill>
          <a:ln/>
        </p:spPr>
      </p:sp>
      <p:sp>
        <p:nvSpPr>
          <p:cNvPr id="18" name="Text 16"/>
          <p:cNvSpPr txBox="1"/>
          <p:nvPr/>
        </p:nvSpPr>
        <p:spPr>
          <a:xfrm>
            <a:off x="548640" y="3273552"/>
            <a:ext cx="777240" cy="292608"/>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Nivel 3</a:t>
            </a:r>
            <a:endParaRPr lang="en-US" sz="1200" dirty="0"/>
          </a:p>
        </p:txBody>
      </p:sp>
      <p:sp>
        <p:nvSpPr>
          <p:cNvPr id="19" name="Text 17"/>
          <p:cNvSpPr txBox="1"/>
          <p:nvPr/>
        </p:nvSpPr>
        <p:spPr>
          <a:xfrm>
            <a:off x="1371600" y="3255264"/>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Definido</a:t>
            </a:r>
            <a:endParaRPr lang="en-US" sz="1300" dirty="0"/>
          </a:p>
        </p:txBody>
      </p:sp>
      <p:sp>
        <p:nvSpPr>
          <p:cNvPr id="20" name="Text 18"/>
          <p:cNvSpPr txBox="1"/>
          <p:nvPr/>
        </p:nvSpPr>
        <p:spPr>
          <a:xfrm>
            <a:off x="3474720" y="3255264"/>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Proceso estándar aplicado en todos los proyectos mayores. CM de constructabilidad asignado. LLDB activa con historial.</a:t>
            </a:r>
            <a:endParaRPr lang="en-US" sz="1100" dirty="0"/>
          </a:p>
        </p:txBody>
      </p:sp>
      <p:sp>
        <p:nvSpPr>
          <p:cNvPr id="21" name="Shape 19"/>
          <p:cNvSpPr/>
          <p:nvPr/>
        </p:nvSpPr>
        <p:spPr>
          <a:xfrm>
            <a:off x="365760" y="4096512"/>
            <a:ext cx="8412480" cy="804672"/>
          </a:xfrm>
          <a:prstGeom prst="roundRect">
            <a:avLst>
              <a:gd name="adj" fmla="val 7955"/>
            </a:avLst>
          </a:prstGeom>
          <a:solidFill>
            <a:srgbClr val="F4F4F4"/>
          </a:solidFill>
          <a:ln w="12700">
            <a:solidFill>
              <a:srgbClr val="30D158"/>
            </a:solidFill>
            <a:prstDash val="solid"/>
          </a:ln>
        </p:spPr>
      </p:sp>
      <p:sp>
        <p:nvSpPr>
          <p:cNvPr id="22" name="Shape 20"/>
          <p:cNvSpPr/>
          <p:nvPr/>
        </p:nvSpPr>
        <p:spPr>
          <a:xfrm>
            <a:off x="365760" y="4846320"/>
            <a:ext cx="5212080" cy="54864"/>
          </a:xfrm>
          <a:prstGeom prst="rect">
            <a:avLst/>
          </a:prstGeom>
          <a:solidFill>
            <a:srgbClr val="30D158"/>
          </a:solidFill>
          <a:ln/>
        </p:spPr>
      </p:sp>
      <p:sp>
        <p:nvSpPr>
          <p:cNvPr id="23" name="Text 21"/>
          <p:cNvSpPr txBox="1"/>
          <p:nvPr/>
        </p:nvSpPr>
        <p:spPr>
          <a:xfrm>
            <a:off x="548640" y="4206240"/>
            <a:ext cx="7772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Nivel 4</a:t>
            </a:r>
            <a:endParaRPr lang="en-US" sz="1200" dirty="0"/>
          </a:p>
        </p:txBody>
      </p:sp>
      <p:sp>
        <p:nvSpPr>
          <p:cNvPr id="24" name="Text 22"/>
          <p:cNvSpPr txBox="1"/>
          <p:nvPr/>
        </p:nvSpPr>
        <p:spPr>
          <a:xfrm>
            <a:off x="1371600" y="4187952"/>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Gestionado</a:t>
            </a:r>
            <a:endParaRPr lang="en-US" sz="1300" dirty="0"/>
          </a:p>
        </p:txBody>
      </p:sp>
      <p:sp>
        <p:nvSpPr>
          <p:cNvPr id="25" name="Text 23"/>
          <p:cNvSpPr txBox="1"/>
          <p:nvPr/>
        </p:nvSpPr>
        <p:spPr>
          <a:xfrm>
            <a:off x="3474720" y="4187952"/>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KPIs medidos mensualmente. Beneficios cuantificados por proyecto. Capacitación formal. Cláusulas contractuales estándar.</a:t>
            </a:r>
            <a:endParaRPr lang="en-US" sz="1100" dirty="0"/>
          </a:p>
        </p:txBody>
      </p:sp>
      <p:sp>
        <p:nvSpPr>
          <p:cNvPr id="26" name="Shape 24"/>
          <p:cNvSpPr/>
          <p:nvPr/>
        </p:nvSpPr>
        <p:spPr>
          <a:xfrm>
            <a:off x="365760" y="5029200"/>
            <a:ext cx="8412480" cy="804672"/>
          </a:xfrm>
          <a:prstGeom prst="roundRect">
            <a:avLst>
              <a:gd name="adj" fmla="val 7955"/>
            </a:avLst>
          </a:prstGeom>
          <a:solidFill>
            <a:srgbClr val="F4F4F4"/>
          </a:solidFill>
          <a:ln w="12700">
            <a:solidFill>
              <a:srgbClr val="0A84FF"/>
            </a:solidFill>
            <a:prstDash val="solid"/>
          </a:ln>
        </p:spPr>
      </p:sp>
      <p:sp>
        <p:nvSpPr>
          <p:cNvPr id="27" name="Shape 25"/>
          <p:cNvSpPr/>
          <p:nvPr/>
        </p:nvSpPr>
        <p:spPr>
          <a:xfrm>
            <a:off x="365760" y="5779008"/>
            <a:ext cx="6583680" cy="54864"/>
          </a:xfrm>
          <a:prstGeom prst="rect">
            <a:avLst/>
          </a:prstGeom>
          <a:solidFill>
            <a:srgbClr val="0A84FF"/>
          </a:solidFill>
          <a:ln/>
        </p:spPr>
      </p:sp>
      <p:sp>
        <p:nvSpPr>
          <p:cNvPr id="28" name="Text 26"/>
          <p:cNvSpPr txBox="1"/>
          <p:nvPr/>
        </p:nvSpPr>
        <p:spPr>
          <a:xfrm>
            <a:off x="548640" y="5138928"/>
            <a:ext cx="77724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Nivel 5</a:t>
            </a:r>
            <a:endParaRPr lang="en-US" sz="1200" dirty="0"/>
          </a:p>
        </p:txBody>
      </p:sp>
      <p:sp>
        <p:nvSpPr>
          <p:cNvPr id="29" name="Text 27"/>
          <p:cNvSpPr txBox="1"/>
          <p:nvPr/>
        </p:nvSpPr>
        <p:spPr>
          <a:xfrm>
            <a:off x="1371600" y="5120640"/>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Optimizando</a:t>
            </a:r>
            <a:endParaRPr lang="en-US" sz="1300" dirty="0"/>
          </a:p>
        </p:txBody>
      </p:sp>
      <p:sp>
        <p:nvSpPr>
          <p:cNvPr id="30" name="Text 28"/>
          <p:cNvSpPr txBox="1"/>
          <p:nvPr/>
        </p:nvSpPr>
        <p:spPr>
          <a:xfrm>
            <a:off x="3474720" y="5120640"/>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Mejora continua basada en datos. Benchmarking con industria. Integración total con BIM/AWP/WFP. Innovación sistemática.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114</a:t>
            </a:r>
            <a:endParaRPr lang="en-US" sz="900" dirty="0"/>
          </a:p>
        </p:txBody>
      </p:sp>
      <p:pic xmlns:p="http://schemas.openxmlformats.org/presentationml/2006/main" xmlns:a="http://schemas.openxmlformats.org/drawingml/2006/main" xmlns:r="http://schemas.openxmlformats.org/officeDocument/2006/relationships">
        <p:nvPicPr>
          <p:cNvPr id="8114" name="SlideIcon8114"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Digital: BIM, Digital Twin e IA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transformación digital amplifica el alcance y velocidad de los principios de constructabilidad CII:</a:t>
            </a:r>
            <a:endParaRPr lang="en-US" sz="1300" dirty="0"/>
          </a:p>
        </p:txBody>
      </p:sp>
      <p:sp>
        <p:nvSpPr>
          <p:cNvPr id="6" name="Shape 4"/>
          <p:cNvSpPr/>
          <p:nvPr/>
        </p:nvSpPr>
        <p:spPr>
          <a:xfrm>
            <a:off x="365760" y="1298448"/>
            <a:ext cx="4160520" cy="2176272"/>
          </a:xfrm>
          <a:prstGeom prst="roundRect">
            <a:avLst>
              <a:gd name="adj" fmla="val 4202"/>
            </a:avLst>
          </a:prstGeom>
          <a:solidFill>
            <a:srgbClr val="F4F4F4"/>
          </a:solidFill>
          <a:ln w="25400">
            <a:solidFill>
              <a:srgbClr val="0A84FF"/>
            </a:solidFill>
            <a:prstDash val="solid"/>
          </a:ln>
        </p:spPr>
      </p:sp>
      <p:sp>
        <p:nvSpPr>
          <p:cNvPr id="7" name="Text 5"/>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BIM 3D/4D/5D</a:t>
            </a:r>
            <a:endParaRPr lang="en-US" sz="1500" dirty="0"/>
          </a:p>
        </p:txBody>
      </p:sp>
      <p:sp>
        <p:nvSpPr>
          <p:cNvPr id="8" name="Text 6"/>
          <p:cNvSpPr txBox="1"/>
          <p:nvPr/>
        </p:nvSpPr>
        <p:spPr>
          <a:xfrm>
            <a:off x="548640" y="184708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3D: detección de interferencias 100x más rápido que en 2D</a:t>
            </a:r>
            <a:endParaRPr lang="en-US" sz="1100" dirty="0"/>
          </a:p>
        </p:txBody>
      </p:sp>
      <p:sp>
        <p:nvSpPr>
          <p:cNvPr id="9" name="Text 7"/>
          <p:cNvSpPr txBox="1"/>
          <p:nvPr/>
        </p:nvSpPr>
        <p:spPr>
          <a:xfrm>
            <a:off x="548640" y="224942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4D: simulación de secuencia constructiva visualizada</a:t>
            </a:r>
            <a:endParaRPr lang="en-US" sz="1100" dirty="0"/>
          </a:p>
        </p:txBody>
      </p:sp>
      <p:sp>
        <p:nvSpPr>
          <p:cNvPr id="10" name="Text 8"/>
          <p:cNvSpPr txBox="1"/>
          <p:nvPr/>
        </p:nvSpPr>
        <p:spPr>
          <a:xfrm>
            <a:off x="548640" y="265176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5D: integración de costos y cronograma con el modelo</a:t>
            </a:r>
            <a:endParaRPr lang="en-US" sz="1100" dirty="0"/>
          </a:p>
        </p:txBody>
      </p:sp>
      <p:sp>
        <p:nvSpPr>
          <p:cNvPr id="11" name="Text 9"/>
          <p:cNvSpPr txBox="1"/>
          <p:nvPr/>
        </p:nvSpPr>
        <p:spPr>
          <a:xfrm>
            <a:off x="548640" y="305409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de constructabilidad directamente en el modelo</a:t>
            </a:r>
            <a:endParaRPr lang="en-US" sz="1100" dirty="0"/>
          </a:p>
        </p:txBody>
      </p:sp>
      <p:sp>
        <p:nvSpPr>
          <p:cNvPr id="12" name="Shape 10"/>
          <p:cNvSpPr/>
          <p:nvPr/>
        </p:nvSpPr>
        <p:spPr>
          <a:xfrm>
            <a:off x="4754880" y="1298448"/>
            <a:ext cx="4160520" cy="2176272"/>
          </a:xfrm>
          <a:prstGeom prst="roundRect">
            <a:avLst>
              <a:gd name="adj" fmla="val 4202"/>
            </a:avLst>
          </a:prstGeom>
          <a:solidFill>
            <a:srgbClr val="F4F4F4"/>
          </a:solidFill>
          <a:ln w="25400">
            <a:solidFill>
              <a:srgbClr val="30D158"/>
            </a:solidFill>
            <a:prstDash val="solid"/>
          </a:ln>
        </p:spPr>
      </p:sp>
      <p:sp>
        <p:nvSpPr>
          <p:cNvPr id="13" name="Text 11"/>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Digital Twin</a:t>
            </a:r>
            <a:endParaRPr lang="en-US" sz="1500" dirty="0"/>
          </a:p>
        </p:txBody>
      </p:sp>
      <p:sp>
        <p:nvSpPr>
          <p:cNvPr id="14" name="Text 12"/>
          <p:cNvSpPr txBox="1"/>
          <p:nvPr/>
        </p:nvSpPr>
        <p:spPr>
          <a:xfrm>
            <a:off x="4937760" y="184708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Gemelo digital del proyecto desde diseño hasta operación</a:t>
            </a:r>
            <a:endParaRPr lang="en-US" sz="1100" dirty="0"/>
          </a:p>
        </p:txBody>
      </p:sp>
      <p:sp>
        <p:nvSpPr>
          <p:cNvPr id="15" name="Text 13"/>
          <p:cNvSpPr txBox="1"/>
          <p:nvPr/>
        </p:nvSpPr>
        <p:spPr>
          <a:xfrm>
            <a:off x="4937760" y="224942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Simulación de constructibilidad en entorno virtual antes de campo</a:t>
            </a:r>
            <a:endParaRPr lang="en-US" sz="1100" dirty="0"/>
          </a:p>
        </p:txBody>
      </p:sp>
      <p:sp>
        <p:nvSpPr>
          <p:cNvPr id="16" name="Text 14"/>
          <p:cNvSpPr txBox="1"/>
          <p:nvPr/>
        </p:nvSpPr>
        <p:spPr>
          <a:xfrm>
            <a:off x="4937760" y="265176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Actualización en tiempo real con datos de campo IoT</a:t>
            </a:r>
            <a:endParaRPr lang="en-US" sz="1100" dirty="0"/>
          </a:p>
        </p:txBody>
      </p:sp>
      <p:sp>
        <p:nvSpPr>
          <p:cNvPr id="17" name="Text 15"/>
          <p:cNvSpPr txBox="1"/>
          <p:nvPr/>
        </p:nvSpPr>
        <p:spPr>
          <a:xfrm>
            <a:off x="4937760" y="305409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Identificación temprana de conflictos constructivos</a:t>
            </a:r>
            <a:endParaRPr lang="en-US" sz="1100" dirty="0"/>
          </a:p>
        </p:txBody>
      </p:sp>
      <p:sp>
        <p:nvSpPr>
          <p:cNvPr id="18" name="Shape 16"/>
          <p:cNvSpPr/>
          <p:nvPr/>
        </p:nvSpPr>
        <p:spPr>
          <a:xfrm>
            <a:off x="365760" y="3675888"/>
            <a:ext cx="4160520" cy="2176272"/>
          </a:xfrm>
          <a:prstGeom prst="roundRect">
            <a:avLst>
              <a:gd name="adj" fmla="val 4202"/>
            </a:avLst>
          </a:prstGeom>
          <a:solidFill>
            <a:srgbClr val="F4F4F4"/>
          </a:solidFill>
          <a:ln w="25400">
            <a:solidFill>
              <a:srgbClr val="AF52DE"/>
            </a:solidFill>
            <a:prstDash val="solid"/>
          </a:ln>
        </p:spPr>
      </p:sp>
      <p:sp>
        <p:nvSpPr>
          <p:cNvPr id="19" name="Text 17"/>
          <p:cNvSpPr txBox="1"/>
          <p:nvPr/>
        </p:nvSpPr>
        <p:spPr>
          <a:xfrm>
            <a:off x="548640" y="3785616"/>
            <a:ext cx="379476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Inteligencia Artificial</a:t>
            </a:r>
            <a:endParaRPr lang="en-US" sz="1500" dirty="0"/>
          </a:p>
        </p:txBody>
      </p:sp>
      <p:sp>
        <p:nvSpPr>
          <p:cNvPr id="20" name="Text 18"/>
          <p:cNvSpPr txBox="1"/>
          <p:nvPr/>
        </p:nvSpPr>
        <p:spPr>
          <a:xfrm>
            <a:off x="548640" y="422452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ML para predecir problemas de constructabilidad en nuevos proyectos</a:t>
            </a:r>
            <a:endParaRPr lang="en-US" sz="1100" dirty="0"/>
          </a:p>
        </p:txBody>
      </p:sp>
      <p:sp>
        <p:nvSpPr>
          <p:cNvPr id="21" name="Text 19"/>
          <p:cNvSpPr txBox="1"/>
          <p:nvPr/>
        </p:nvSpPr>
        <p:spPr>
          <a:xfrm>
            <a:off x="548640" y="462686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NLP para extraer lecciones aprendidas automáticamente</a:t>
            </a:r>
            <a:endParaRPr lang="en-US" sz="1100" dirty="0"/>
          </a:p>
        </p:txBody>
      </p:sp>
      <p:sp>
        <p:nvSpPr>
          <p:cNvPr id="22" name="Text 20"/>
          <p:cNvSpPr txBox="1"/>
          <p:nvPr/>
        </p:nvSpPr>
        <p:spPr>
          <a:xfrm>
            <a:off x="548640" y="502920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Optimización automática de secuencias constructivas</a:t>
            </a:r>
            <a:endParaRPr lang="en-US" sz="1100" dirty="0"/>
          </a:p>
        </p:txBody>
      </p:sp>
      <p:sp>
        <p:nvSpPr>
          <p:cNvPr id="23" name="Text 21"/>
          <p:cNvSpPr txBox="1"/>
          <p:nvPr/>
        </p:nvSpPr>
        <p:spPr>
          <a:xfrm>
            <a:off x="548640" y="543153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Detección de patrones de diseño no-constructible</a:t>
            </a:r>
            <a:endParaRPr lang="en-US" sz="1100" dirty="0"/>
          </a:p>
        </p:txBody>
      </p:sp>
      <p:sp>
        <p:nvSpPr>
          <p:cNvPr id="24" name="Shape 22"/>
          <p:cNvSpPr/>
          <p:nvPr/>
        </p:nvSpPr>
        <p:spPr>
          <a:xfrm>
            <a:off x="4754880" y="3675888"/>
            <a:ext cx="4160520" cy="2176272"/>
          </a:xfrm>
          <a:prstGeom prst="roundRect">
            <a:avLst>
              <a:gd name="adj" fmla="val 4202"/>
            </a:avLst>
          </a:prstGeom>
          <a:solidFill>
            <a:srgbClr val="F4F4F4"/>
          </a:solidFill>
          <a:ln w="25400">
            <a:solidFill>
              <a:srgbClr val="FF9500"/>
            </a:solidFill>
            <a:prstDash val="solid"/>
          </a:ln>
        </p:spPr>
      </p:sp>
      <p:sp>
        <p:nvSpPr>
          <p:cNvPr id="25" name="Text 23"/>
          <p:cNvSpPr txBox="1"/>
          <p:nvPr/>
        </p:nvSpPr>
        <p:spPr>
          <a:xfrm>
            <a:off x="4937760" y="3785616"/>
            <a:ext cx="379476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Realidad Aumentada / VR</a:t>
            </a:r>
            <a:endParaRPr lang="en-US" sz="1500" dirty="0"/>
          </a:p>
        </p:txBody>
      </p:sp>
      <p:sp>
        <p:nvSpPr>
          <p:cNvPr id="26" name="Text 24"/>
          <p:cNvSpPr txBox="1"/>
          <p:nvPr/>
        </p:nvSpPr>
        <p:spPr>
          <a:xfrm>
            <a:off x="4937760" y="422452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Walkthroughs virtuales de constructabilidad con el equipo</a:t>
            </a:r>
            <a:endParaRPr lang="en-US" sz="1100" dirty="0"/>
          </a:p>
        </p:txBody>
      </p:sp>
      <p:sp>
        <p:nvSpPr>
          <p:cNvPr id="27" name="Text 25"/>
          <p:cNvSpPr txBox="1"/>
          <p:nvPr/>
        </p:nvSpPr>
        <p:spPr>
          <a:xfrm>
            <a:off x="4937760" y="462686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Operarios en campo con AR para instrucciones de IWP</a:t>
            </a:r>
            <a:endParaRPr lang="en-US" sz="1100" dirty="0"/>
          </a:p>
        </p:txBody>
      </p:sp>
      <p:sp>
        <p:nvSpPr>
          <p:cNvPr id="28" name="Text 26"/>
          <p:cNvSpPr txBox="1"/>
          <p:nvPr/>
        </p:nvSpPr>
        <p:spPr>
          <a:xfrm>
            <a:off x="4937760" y="502920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de seguridad en entorno virtual antes de campo</a:t>
            </a:r>
            <a:endParaRPr lang="en-US" sz="1100" dirty="0"/>
          </a:p>
        </p:txBody>
      </p:sp>
      <p:sp>
        <p:nvSpPr>
          <p:cNvPr id="29" name="Text 27"/>
          <p:cNvSpPr txBox="1"/>
          <p:nvPr/>
        </p:nvSpPr>
        <p:spPr>
          <a:xfrm>
            <a:off x="4937760" y="543153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Entrenamiento de constructabilidad en simulador inmersivo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115</a:t>
            </a:r>
            <a:endParaRPr lang="en-US" sz="900" dirty="0"/>
          </a:p>
        </p:txBody>
      </p:sp>
      <p:pic xmlns:p="http://schemas.openxmlformats.org/presentationml/2006/main" xmlns:a="http://schemas.openxmlformats.org/drawingml/2006/main" xmlns:r="http://schemas.openxmlformats.org/officeDocument/2006/relationships">
        <p:nvPicPr>
          <p:cNvPr id="8115" name="SlideIcon8115"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KPIs Avanzados del Programa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Sistema completo de indicadores para medir el impacto real del programa en cada proyecto:</a:t>
            </a:r>
            <a:endParaRPr lang="en-US" sz="1300" dirty="0"/>
          </a:p>
        </p:txBody>
      </p:sp>
      <p:sp>
        <p:nvSpPr>
          <p:cNvPr id="6" name="Shape 4"/>
          <p:cNvSpPr/>
          <p:nvPr/>
        </p:nvSpPr>
        <p:spPr>
          <a:xfrm>
            <a:off x="365760" y="1298448"/>
            <a:ext cx="8412480" cy="347472"/>
          </a:xfrm>
          <a:prstGeom prst="rect">
            <a:avLst/>
          </a:prstGeom>
          <a:solidFill>
            <a:srgbClr val="EBEBEB"/>
          </a:solidFill>
          <a:ln/>
        </p:spPr>
      </p:sp>
      <p:sp>
        <p:nvSpPr>
          <p:cNvPr id="7" name="Text 5"/>
          <p:cNvSpPr txBox="1"/>
          <p:nvPr/>
        </p:nvSpPr>
        <p:spPr>
          <a:xfrm>
            <a:off x="502920" y="1344168"/>
            <a:ext cx="141732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KPI</a:t>
            </a:r>
            <a:endParaRPr lang="en-US" sz="1200" dirty="0"/>
          </a:p>
        </p:txBody>
      </p:sp>
      <p:sp>
        <p:nvSpPr>
          <p:cNvPr id="8" name="Text 6"/>
          <p:cNvSpPr txBox="1"/>
          <p:nvPr/>
        </p:nvSpPr>
        <p:spPr>
          <a:xfrm>
            <a:off x="2011680" y="1344168"/>
            <a:ext cx="3840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Fórmula / Definición</a:t>
            </a:r>
            <a:endParaRPr lang="en-US" sz="1200" dirty="0"/>
          </a:p>
        </p:txBody>
      </p:sp>
      <p:sp>
        <p:nvSpPr>
          <p:cNvPr id="9" name="Text 7"/>
          <p:cNvSpPr txBox="1"/>
          <p:nvPr/>
        </p:nvSpPr>
        <p:spPr>
          <a:xfrm>
            <a:off x="5943600" y="1344168"/>
            <a:ext cx="10972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Unidad</a:t>
            </a:r>
            <a:endParaRPr lang="en-US" sz="1200" dirty="0"/>
          </a:p>
        </p:txBody>
      </p:sp>
      <p:sp>
        <p:nvSpPr>
          <p:cNvPr id="10" name="Text 8"/>
          <p:cNvSpPr txBox="1"/>
          <p:nvPr/>
        </p:nvSpPr>
        <p:spPr>
          <a:xfrm>
            <a:off x="7132320" y="1344168"/>
            <a:ext cx="1554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Benchmark CII</a:t>
            </a:r>
            <a:endParaRPr lang="en-US" sz="1200" dirty="0"/>
          </a:p>
        </p:txBody>
      </p:sp>
      <p:sp>
        <p:nvSpPr>
          <p:cNvPr id="11" name="Shape 9"/>
          <p:cNvSpPr/>
          <p:nvPr/>
        </p:nvSpPr>
        <p:spPr>
          <a:xfrm>
            <a:off x="365760" y="1719072"/>
            <a:ext cx="8412480" cy="438912"/>
          </a:xfrm>
          <a:prstGeom prst="rect">
            <a:avLst/>
          </a:prstGeom>
          <a:solidFill>
            <a:srgbClr val="F4F4F4"/>
          </a:solidFill>
          <a:ln/>
        </p:spPr>
      </p:sp>
      <p:sp>
        <p:nvSpPr>
          <p:cNvPr id="12" name="Text 10"/>
          <p:cNvSpPr txBox="1"/>
          <p:nvPr/>
        </p:nvSpPr>
        <p:spPr>
          <a:xfrm>
            <a:off x="502920" y="180136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Tasa de Ideas</a:t>
            </a:r>
            <a:endParaRPr lang="en-US" sz="1100" dirty="0"/>
          </a:p>
        </p:txBody>
      </p:sp>
      <p:sp>
        <p:nvSpPr>
          <p:cNvPr id="13" name="Text 11"/>
          <p:cNvSpPr txBox="1"/>
          <p:nvPr/>
        </p:nvSpPr>
        <p:spPr>
          <a:xfrm>
            <a:off x="2011680" y="180136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Ideas implementadas / # Ideas generadas × 100</a:t>
            </a:r>
            <a:endParaRPr lang="en-US" sz="1000" dirty="0"/>
          </a:p>
        </p:txBody>
      </p:sp>
      <p:sp>
        <p:nvSpPr>
          <p:cNvPr id="14" name="Text 12"/>
          <p:cNvSpPr txBox="1"/>
          <p:nvPr/>
        </p:nvSpPr>
        <p:spPr>
          <a:xfrm>
            <a:off x="5943600" y="180136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15" name="Text 13"/>
          <p:cNvSpPr txBox="1"/>
          <p:nvPr/>
        </p:nvSpPr>
        <p:spPr>
          <a:xfrm>
            <a:off x="7132320" y="18013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60%</a:t>
            </a:r>
            <a:endParaRPr lang="en-US" sz="1100" dirty="0"/>
          </a:p>
        </p:txBody>
      </p:sp>
      <p:sp>
        <p:nvSpPr>
          <p:cNvPr id="16" name="Shape 14"/>
          <p:cNvSpPr/>
          <p:nvPr/>
        </p:nvSpPr>
        <p:spPr>
          <a:xfrm>
            <a:off x="365760" y="2221992"/>
            <a:ext cx="8412480" cy="438912"/>
          </a:xfrm>
          <a:prstGeom prst="rect">
            <a:avLst/>
          </a:prstGeom>
          <a:solidFill>
            <a:srgbClr val="EBEBEB"/>
          </a:solidFill>
          <a:ln/>
        </p:spPr>
      </p:sp>
      <p:sp>
        <p:nvSpPr>
          <p:cNvPr id="17" name="Text 15"/>
          <p:cNvSpPr txBox="1"/>
          <p:nvPr/>
        </p:nvSpPr>
        <p:spPr>
          <a:xfrm>
            <a:off x="502920" y="230428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por Idea</a:t>
            </a:r>
            <a:endParaRPr lang="en-US" sz="1100" dirty="0"/>
          </a:p>
        </p:txBody>
      </p:sp>
      <p:sp>
        <p:nvSpPr>
          <p:cNvPr id="18" name="Text 16"/>
          <p:cNvSpPr txBox="1"/>
          <p:nvPr/>
        </p:nvSpPr>
        <p:spPr>
          <a:xfrm>
            <a:off x="2011680" y="23042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Ahorro total ($) / Ideas implementadas</a:t>
            </a:r>
            <a:endParaRPr lang="en-US" sz="1000" dirty="0"/>
          </a:p>
        </p:txBody>
      </p:sp>
      <p:sp>
        <p:nvSpPr>
          <p:cNvPr id="19" name="Text 17"/>
          <p:cNvSpPr txBox="1"/>
          <p:nvPr/>
        </p:nvSpPr>
        <p:spPr>
          <a:xfrm>
            <a:off x="5943600" y="230428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$/idea</a:t>
            </a:r>
            <a:endParaRPr lang="en-US" sz="1100" dirty="0"/>
          </a:p>
        </p:txBody>
      </p:sp>
      <p:sp>
        <p:nvSpPr>
          <p:cNvPr id="20" name="Text 18"/>
          <p:cNvSpPr txBox="1"/>
          <p:nvPr/>
        </p:nvSpPr>
        <p:spPr>
          <a:xfrm>
            <a:off x="7132320" y="23042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Var.</a:t>
            </a:r>
            <a:endParaRPr lang="en-US" sz="1100" dirty="0"/>
          </a:p>
        </p:txBody>
      </p:sp>
      <p:sp>
        <p:nvSpPr>
          <p:cNvPr id="21" name="Shape 19"/>
          <p:cNvSpPr/>
          <p:nvPr/>
        </p:nvSpPr>
        <p:spPr>
          <a:xfrm>
            <a:off x="365760" y="2724912"/>
            <a:ext cx="8412480" cy="438912"/>
          </a:xfrm>
          <a:prstGeom prst="rect">
            <a:avLst/>
          </a:prstGeom>
          <a:solidFill>
            <a:srgbClr val="F4F4F4"/>
          </a:solidFill>
          <a:ln/>
        </p:spPr>
      </p:sp>
      <p:sp>
        <p:nvSpPr>
          <p:cNvPr id="22" name="Text 20"/>
          <p:cNvSpPr txBox="1"/>
          <p:nvPr/>
        </p:nvSpPr>
        <p:spPr>
          <a:xfrm>
            <a:off x="502920" y="280720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ROI Programa</a:t>
            </a:r>
            <a:endParaRPr lang="en-US" sz="1100" dirty="0"/>
          </a:p>
        </p:txBody>
      </p:sp>
      <p:sp>
        <p:nvSpPr>
          <p:cNvPr id="23" name="Text 21"/>
          <p:cNvSpPr txBox="1"/>
          <p:nvPr/>
        </p:nvSpPr>
        <p:spPr>
          <a:xfrm>
            <a:off x="2011680" y="280720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(Ahorro - Costo programa) / Costo programa × 100</a:t>
            </a:r>
            <a:endParaRPr lang="en-US" sz="1000" dirty="0"/>
          </a:p>
        </p:txBody>
      </p:sp>
      <p:sp>
        <p:nvSpPr>
          <p:cNvPr id="24" name="Text 22"/>
          <p:cNvSpPr txBox="1"/>
          <p:nvPr/>
        </p:nvSpPr>
        <p:spPr>
          <a:xfrm>
            <a:off x="5943600" y="280720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25" name="Text 23"/>
          <p:cNvSpPr txBox="1"/>
          <p:nvPr/>
        </p:nvSpPr>
        <p:spPr>
          <a:xfrm>
            <a:off x="7132320" y="28072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1,000%</a:t>
            </a:r>
            <a:endParaRPr lang="en-US" sz="1100" dirty="0"/>
          </a:p>
        </p:txBody>
      </p:sp>
      <p:sp>
        <p:nvSpPr>
          <p:cNvPr id="26" name="Shape 24"/>
          <p:cNvSpPr/>
          <p:nvPr/>
        </p:nvSpPr>
        <p:spPr>
          <a:xfrm>
            <a:off x="365760" y="3227832"/>
            <a:ext cx="8412480" cy="438912"/>
          </a:xfrm>
          <a:prstGeom prst="rect">
            <a:avLst/>
          </a:prstGeom>
          <a:solidFill>
            <a:srgbClr val="EBEBEB"/>
          </a:solidFill>
          <a:ln/>
        </p:spPr>
      </p:sp>
      <p:sp>
        <p:nvSpPr>
          <p:cNvPr id="27" name="Text 25"/>
          <p:cNvSpPr txBox="1"/>
          <p:nvPr/>
        </p:nvSpPr>
        <p:spPr>
          <a:xfrm>
            <a:off x="502920" y="331012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Cobertura Fases</a:t>
            </a:r>
            <a:endParaRPr lang="en-US" sz="1100" dirty="0"/>
          </a:p>
        </p:txBody>
      </p:sp>
      <p:sp>
        <p:nvSpPr>
          <p:cNvPr id="28" name="Text 26"/>
          <p:cNvSpPr txBox="1"/>
          <p:nvPr/>
        </p:nvSpPr>
        <p:spPr>
          <a:xfrm>
            <a:off x="2011680" y="331012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Proyectos con constructabilidad FEL-2 / Total proyectos</a:t>
            </a:r>
            <a:endParaRPr lang="en-US" sz="1000" dirty="0"/>
          </a:p>
        </p:txBody>
      </p:sp>
      <p:sp>
        <p:nvSpPr>
          <p:cNvPr id="29" name="Text 27"/>
          <p:cNvSpPr txBox="1"/>
          <p:nvPr/>
        </p:nvSpPr>
        <p:spPr>
          <a:xfrm>
            <a:off x="5943600" y="331012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30" name="Text 28"/>
          <p:cNvSpPr txBox="1"/>
          <p:nvPr/>
        </p:nvSpPr>
        <p:spPr>
          <a:xfrm>
            <a:off x="7132320" y="331012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80%</a:t>
            </a:r>
            <a:endParaRPr lang="en-US" sz="1100" dirty="0"/>
          </a:p>
        </p:txBody>
      </p:sp>
      <p:sp>
        <p:nvSpPr>
          <p:cNvPr id="31" name="Shape 29"/>
          <p:cNvSpPr/>
          <p:nvPr/>
        </p:nvSpPr>
        <p:spPr>
          <a:xfrm>
            <a:off x="365760" y="3730752"/>
            <a:ext cx="8412480" cy="438912"/>
          </a:xfrm>
          <a:prstGeom prst="rect">
            <a:avLst/>
          </a:prstGeom>
          <a:solidFill>
            <a:srgbClr val="F4F4F4"/>
          </a:solidFill>
          <a:ln/>
        </p:spPr>
      </p:sp>
      <p:sp>
        <p:nvSpPr>
          <p:cNvPr id="32" name="Text 30"/>
          <p:cNvSpPr txBox="1"/>
          <p:nvPr/>
        </p:nvSpPr>
        <p:spPr>
          <a:xfrm>
            <a:off x="502920" y="381304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Velocidad Revisión</a:t>
            </a:r>
            <a:endParaRPr lang="en-US" sz="1100" dirty="0"/>
          </a:p>
        </p:txBody>
      </p:sp>
      <p:sp>
        <p:nvSpPr>
          <p:cNvPr id="33" name="Text 31"/>
          <p:cNvSpPr txBox="1"/>
          <p:nvPr/>
        </p:nvSpPr>
        <p:spPr>
          <a:xfrm>
            <a:off x="2011680" y="38130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Días promedio desde solicitud a revisión completada</a:t>
            </a:r>
            <a:endParaRPr lang="en-US" sz="1000" dirty="0"/>
          </a:p>
        </p:txBody>
      </p:sp>
      <p:sp>
        <p:nvSpPr>
          <p:cNvPr id="34" name="Text 32"/>
          <p:cNvSpPr txBox="1"/>
          <p:nvPr/>
        </p:nvSpPr>
        <p:spPr>
          <a:xfrm>
            <a:off x="5943600" y="381304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días</a:t>
            </a:r>
            <a:endParaRPr lang="en-US" sz="1100" dirty="0"/>
          </a:p>
        </p:txBody>
      </p:sp>
      <p:sp>
        <p:nvSpPr>
          <p:cNvPr id="35" name="Text 33"/>
          <p:cNvSpPr txBox="1"/>
          <p:nvPr/>
        </p:nvSpPr>
        <p:spPr>
          <a:xfrm>
            <a:off x="7132320" y="381304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&lt; 5 días</a:t>
            </a:r>
            <a:endParaRPr lang="en-US" sz="1100" dirty="0"/>
          </a:p>
        </p:txBody>
      </p:sp>
      <p:sp>
        <p:nvSpPr>
          <p:cNvPr id="36" name="Shape 34"/>
          <p:cNvSpPr/>
          <p:nvPr/>
        </p:nvSpPr>
        <p:spPr>
          <a:xfrm>
            <a:off x="365760" y="4233672"/>
            <a:ext cx="8412480" cy="438912"/>
          </a:xfrm>
          <a:prstGeom prst="rect">
            <a:avLst/>
          </a:prstGeom>
          <a:solidFill>
            <a:srgbClr val="EBEBEB"/>
          </a:solidFill>
          <a:ln/>
        </p:spPr>
      </p:sp>
      <p:sp>
        <p:nvSpPr>
          <p:cNvPr id="37" name="Text 35"/>
          <p:cNvSpPr txBox="1"/>
          <p:nvPr/>
        </p:nvSpPr>
        <p:spPr>
          <a:xfrm>
            <a:off x="502920" y="431596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Satisfacción Equipo</a:t>
            </a:r>
            <a:endParaRPr lang="en-US" sz="1100" dirty="0"/>
          </a:p>
        </p:txBody>
      </p:sp>
      <p:sp>
        <p:nvSpPr>
          <p:cNvPr id="38" name="Text 36"/>
          <p:cNvSpPr txBox="1"/>
          <p:nvPr/>
        </p:nvSpPr>
        <p:spPr>
          <a:xfrm>
            <a:off x="2011680" y="431596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NPS del programa entre PMs e ingenieros de proyecto</a:t>
            </a:r>
            <a:endParaRPr lang="en-US" sz="1000" dirty="0"/>
          </a:p>
        </p:txBody>
      </p:sp>
      <p:sp>
        <p:nvSpPr>
          <p:cNvPr id="39" name="Text 37"/>
          <p:cNvSpPr txBox="1"/>
          <p:nvPr/>
        </p:nvSpPr>
        <p:spPr>
          <a:xfrm>
            <a:off x="5943600" y="431596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NPS</a:t>
            </a:r>
            <a:endParaRPr lang="en-US" sz="1100" dirty="0"/>
          </a:p>
        </p:txBody>
      </p:sp>
      <p:sp>
        <p:nvSpPr>
          <p:cNvPr id="40" name="Text 38"/>
          <p:cNvSpPr txBox="1"/>
          <p:nvPr/>
        </p:nvSpPr>
        <p:spPr>
          <a:xfrm>
            <a:off x="7132320" y="43159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30</a:t>
            </a:r>
            <a:endParaRPr lang="en-US" sz="1100" dirty="0"/>
          </a:p>
        </p:txBody>
      </p:sp>
      <p:sp>
        <p:nvSpPr>
          <p:cNvPr id="41" name="Shape 39"/>
          <p:cNvSpPr/>
          <p:nvPr/>
        </p:nvSpPr>
        <p:spPr>
          <a:xfrm>
            <a:off x="365760" y="4736592"/>
            <a:ext cx="8412480" cy="438912"/>
          </a:xfrm>
          <a:prstGeom prst="rect">
            <a:avLst/>
          </a:prstGeom>
          <a:solidFill>
            <a:srgbClr val="F4F4F4"/>
          </a:solidFill>
          <a:ln/>
        </p:spPr>
      </p:sp>
      <p:sp>
        <p:nvSpPr>
          <p:cNvPr id="42" name="Text 40"/>
          <p:cNvSpPr txBox="1"/>
          <p:nvPr/>
        </p:nvSpPr>
        <p:spPr>
          <a:xfrm>
            <a:off x="502920" y="481888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Reutilización LLDB</a:t>
            </a:r>
            <a:endParaRPr lang="en-US" sz="1100" dirty="0"/>
          </a:p>
        </p:txBody>
      </p:sp>
      <p:sp>
        <p:nvSpPr>
          <p:cNvPr id="43" name="Text 41"/>
          <p:cNvSpPr txBox="1"/>
          <p:nvPr/>
        </p:nvSpPr>
        <p:spPr>
          <a:xfrm>
            <a:off x="2011680" y="48188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de LLDB usadas / Total ideas revisadas × 100</a:t>
            </a:r>
            <a:endParaRPr lang="en-US" sz="1000" dirty="0"/>
          </a:p>
        </p:txBody>
      </p:sp>
      <p:sp>
        <p:nvSpPr>
          <p:cNvPr id="44" name="Text 42"/>
          <p:cNvSpPr txBox="1"/>
          <p:nvPr/>
        </p:nvSpPr>
        <p:spPr>
          <a:xfrm>
            <a:off x="5943600" y="481888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45" name="Text 43"/>
          <p:cNvSpPr txBox="1"/>
          <p:nvPr/>
        </p:nvSpPr>
        <p:spPr>
          <a:xfrm>
            <a:off x="7132320" y="48188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40%</a:t>
            </a:r>
            <a:endParaRPr lang="en-US" sz="1100" dirty="0"/>
          </a:p>
        </p:txBody>
      </p:sp>
      <p:sp>
        <p:nvSpPr>
          <p:cNvPr id="46" name="Shape 44"/>
          <p:cNvSpPr/>
          <p:nvPr/>
        </p:nvSpPr>
        <p:spPr>
          <a:xfrm>
            <a:off x="365760" y="5239512"/>
            <a:ext cx="8412480" cy="438912"/>
          </a:xfrm>
          <a:prstGeom prst="rect">
            <a:avLst/>
          </a:prstGeom>
          <a:solidFill>
            <a:srgbClr val="EBEBEB"/>
          </a:solidFill>
          <a:ln/>
        </p:spPr>
      </p:sp>
      <p:sp>
        <p:nvSpPr>
          <p:cNvPr id="47" name="Text 45"/>
          <p:cNvSpPr txBox="1"/>
          <p:nvPr/>
        </p:nvSpPr>
        <p:spPr>
          <a:xfrm>
            <a:off x="502920" y="532180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CPI Proyectos</a:t>
            </a:r>
            <a:endParaRPr lang="en-US" sz="1100" dirty="0"/>
          </a:p>
        </p:txBody>
      </p:sp>
      <p:sp>
        <p:nvSpPr>
          <p:cNvPr id="48" name="Text 46"/>
          <p:cNvSpPr txBox="1"/>
          <p:nvPr/>
        </p:nvSpPr>
        <p:spPr>
          <a:xfrm>
            <a:off x="2011680" y="532180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Cost Performance Index de proyectos con vs. sin prog.</a:t>
            </a:r>
            <a:endParaRPr lang="en-US" sz="1000" dirty="0"/>
          </a:p>
        </p:txBody>
      </p:sp>
      <p:sp>
        <p:nvSpPr>
          <p:cNvPr id="49" name="Text 47"/>
          <p:cNvSpPr txBox="1"/>
          <p:nvPr/>
        </p:nvSpPr>
        <p:spPr>
          <a:xfrm>
            <a:off x="5943600" y="532180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ratio</a:t>
            </a:r>
            <a:endParaRPr lang="en-US" sz="1100" dirty="0"/>
          </a:p>
        </p:txBody>
      </p:sp>
      <p:sp>
        <p:nvSpPr>
          <p:cNvPr id="50" name="Text 48"/>
          <p:cNvSpPr txBox="1"/>
          <p:nvPr/>
        </p:nvSpPr>
        <p:spPr>
          <a:xfrm>
            <a:off x="7132320" y="53218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1.05</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116</a:t>
            </a:r>
            <a:endParaRPr lang="en-US" sz="900" dirty="0"/>
          </a:p>
        </p:txBody>
      </p:sp>
      <p:pic xmlns:p="http://schemas.openxmlformats.org/presentationml/2006/main" xmlns:a="http://schemas.openxmlformats.org/drawingml/2006/main" xmlns:r="http://schemas.openxmlformats.org/officeDocument/2006/relationships">
        <p:nvPicPr>
          <p:cNvPr id="8116" name="SlideIcon8116"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 de Acción: Primeros 90 Días del Programa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Hoja de ruta práctica para establecer un programa de constructabilidad desde cero:</a:t>
            </a:r>
            <a:endParaRPr lang="en-US" sz="1300" dirty="0"/>
          </a:p>
        </p:txBody>
      </p:sp>
      <p:sp>
        <p:nvSpPr>
          <p:cNvPr id="6" name="Shape 4"/>
          <p:cNvSpPr/>
          <p:nvPr/>
        </p:nvSpPr>
        <p:spPr>
          <a:xfrm>
            <a:off x="365760" y="1298448"/>
            <a:ext cx="8412480" cy="1508760"/>
          </a:xfrm>
          <a:prstGeom prst="roundRect">
            <a:avLst>
              <a:gd name="adj" fmla="val 6061"/>
            </a:avLst>
          </a:prstGeom>
          <a:solidFill>
            <a:srgbClr val="F4F4F4"/>
          </a:solidFill>
          <a:ln w="25400">
            <a:solidFill>
              <a:srgbClr val="FF453A"/>
            </a:solidFill>
            <a:prstDash val="solid"/>
          </a:ln>
        </p:spPr>
      </p:sp>
      <p:sp>
        <p:nvSpPr>
          <p:cNvPr id="7" name="Text 5"/>
          <p:cNvSpPr txBox="1"/>
          <p:nvPr/>
        </p:nvSpPr>
        <p:spPr>
          <a:xfrm>
            <a:off x="548640" y="1408176"/>
            <a:ext cx="13716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Días 1-30</a:t>
            </a:r>
            <a:endParaRPr lang="en-US" sz="1200" dirty="0"/>
          </a:p>
        </p:txBody>
      </p:sp>
      <p:sp>
        <p:nvSpPr>
          <p:cNvPr id="8" name="Text 6"/>
          <p:cNvSpPr txBox="1"/>
          <p:nvPr/>
        </p:nvSpPr>
        <p:spPr>
          <a:xfrm>
            <a:off x="2011680" y="1408176"/>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Diagnóstico del estado actual: entrevistas a PMs, CMs e ingenieros</a:t>
            </a:r>
            <a:endParaRPr lang="en-US" sz="1050" dirty="0"/>
          </a:p>
        </p:txBody>
      </p:sp>
      <p:sp>
        <p:nvSpPr>
          <p:cNvPr id="9" name="Text 7"/>
          <p:cNvSpPr txBox="1"/>
          <p:nvPr/>
        </p:nvSpPr>
        <p:spPr>
          <a:xfrm>
            <a:off x="5349240" y="1408176"/>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Análisis de 3-5 proyectos recientes: identificar pérdidas no-constructibles</a:t>
            </a:r>
            <a:endParaRPr lang="en-US" sz="1050" dirty="0"/>
          </a:p>
        </p:txBody>
      </p:sp>
      <p:sp>
        <p:nvSpPr>
          <p:cNvPr id="10" name="Text 8"/>
          <p:cNvSpPr txBox="1"/>
          <p:nvPr/>
        </p:nvSpPr>
        <p:spPr>
          <a:xfrm>
            <a:off x="2011680" y="206654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Definir campeón del programa (Construction Champion) con autoridad real</a:t>
            </a:r>
            <a:endParaRPr lang="en-US" sz="1050" dirty="0"/>
          </a:p>
        </p:txBody>
      </p:sp>
      <p:sp>
        <p:nvSpPr>
          <p:cNvPr id="11" name="Text 9"/>
          <p:cNvSpPr txBox="1"/>
          <p:nvPr/>
        </p:nvSpPr>
        <p:spPr>
          <a:xfrm>
            <a:off x="5349240" y="206654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Propuesta al CEO: caso de negocio con ROI esperado basado en datos propios</a:t>
            </a:r>
            <a:endParaRPr lang="en-US" sz="1050" dirty="0"/>
          </a:p>
        </p:txBody>
      </p:sp>
      <p:sp>
        <p:nvSpPr>
          <p:cNvPr id="12" name="Shape 10"/>
          <p:cNvSpPr/>
          <p:nvPr/>
        </p:nvSpPr>
        <p:spPr>
          <a:xfrm>
            <a:off x="365760" y="2962656"/>
            <a:ext cx="8412480" cy="1508760"/>
          </a:xfrm>
          <a:prstGeom prst="roundRect">
            <a:avLst>
              <a:gd name="adj" fmla="val 6061"/>
            </a:avLst>
          </a:prstGeom>
          <a:solidFill>
            <a:srgbClr val="F4F4F4"/>
          </a:solidFill>
          <a:ln w="25400">
            <a:solidFill>
              <a:srgbClr val="FF9500"/>
            </a:solidFill>
            <a:prstDash val="solid"/>
          </a:ln>
        </p:spPr>
      </p:sp>
      <p:sp>
        <p:nvSpPr>
          <p:cNvPr id="13" name="Text 11"/>
          <p:cNvSpPr txBox="1"/>
          <p:nvPr/>
        </p:nvSpPr>
        <p:spPr>
          <a:xfrm>
            <a:off x="548640" y="3072384"/>
            <a:ext cx="137160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Días 31-60</a:t>
            </a:r>
            <a:endParaRPr lang="en-US" sz="1200" dirty="0"/>
          </a:p>
        </p:txBody>
      </p:sp>
      <p:sp>
        <p:nvSpPr>
          <p:cNvPr id="14" name="Text 12"/>
          <p:cNvSpPr txBox="1"/>
          <p:nvPr/>
        </p:nvSpPr>
        <p:spPr>
          <a:xfrm>
            <a:off x="2011680" y="307238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Redactar procedimiento del programa (estándar corporativo)</a:t>
            </a:r>
            <a:endParaRPr lang="en-US" sz="1050" dirty="0"/>
          </a:p>
        </p:txBody>
      </p:sp>
      <p:sp>
        <p:nvSpPr>
          <p:cNvPr id="15" name="Text 13"/>
          <p:cNvSpPr txBox="1"/>
          <p:nvPr/>
        </p:nvSpPr>
        <p:spPr>
          <a:xfrm>
            <a:off x="5349240" y="307238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checklist de revisión de constructabilidad por fase</a:t>
            </a:r>
            <a:endParaRPr lang="en-US" sz="1050" dirty="0"/>
          </a:p>
        </p:txBody>
      </p:sp>
      <p:sp>
        <p:nvSpPr>
          <p:cNvPr id="16" name="Text 14"/>
          <p:cNvSpPr txBox="1"/>
          <p:nvPr/>
        </p:nvSpPr>
        <p:spPr>
          <a:xfrm>
            <a:off x="2011680" y="373075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Seleccionar proyecto piloto: ideal mid-size, en FEED, con CM receptivo</a:t>
            </a:r>
            <a:endParaRPr lang="en-US" sz="1050" dirty="0"/>
          </a:p>
        </p:txBody>
      </p:sp>
      <p:sp>
        <p:nvSpPr>
          <p:cNvPr id="17" name="Text 15"/>
          <p:cNvSpPr txBox="1"/>
          <p:nvPr/>
        </p:nvSpPr>
        <p:spPr>
          <a:xfrm>
            <a:off x="5349240" y="373075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Capacitación inicial del equipo piloto (taller 8 horas, basado en CII)</a:t>
            </a:r>
            <a:endParaRPr lang="en-US" sz="1050" dirty="0"/>
          </a:p>
        </p:txBody>
      </p:sp>
      <p:sp>
        <p:nvSpPr>
          <p:cNvPr id="18" name="Shape 16"/>
          <p:cNvSpPr/>
          <p:nvPr/>
        </p:nvSpPr>
        <p:spPr>
          <a:xfrm>
            <a:off x="365760" y="4626864"/>
            <a:ext cx="8412480" cy="1508760"/>
          </a:xfrm>
          <a:prstGeom prst="roundRect">
            <a:avLst>
              <a:gd name="adj" fmla="val 6061"/>
            </a:avLst>
          </a:prstGeom>
          <a:solidFill>
            <a:srgbClr val="F4F4F4"/>
          </a:solidFill>
          <a:ln w="25400">
            <a:solidFill>
              <a:srgbClr val="30D158"/>
            </a:solidFill>
            <a:prstDash val="solid"/>
          </a:ln>
        </p:spPr>
      </p:sp>
      <p:sp>
        <p:nvSpPr>
          <p:cNvPr id="19" name="Text 17"/>
          <p:cNvSpPr txBox="1"/>
          <p:nvPr/>
        </p:nvSpPr>
        <p:spPr>
          <a:xfrm>
            <a:off x="548640" y="4736592"/>
            <a:ext cx="137160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Días 61-90</a:t>
            </a:r>
            <a:endParaRPr lang="en-US" sz="1200" dirty="0"/>
          </a:p>
        </p:txBody>
      </p:sp>
      <p:sp>
        <p:nvSpPr>
          <p:cNvPr id="20" name="Text 18"/>
          <p:cNvSpPr txBox="1"/>
          <p:nvPr/>
        </p:nvSpPr>
        <p:spPr>
          <a:xfrm>
            <a:off x="2011680" y="473659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Primera revisión formal de constructabilidad en proyecto piloto</a:t>
            </a:r>
            <a:endParaRPr lang="en-US" sz="1050" dirty="0"/>
          </a:p>
        </p:txBody>
      </p:sp>
      <p:sp>
        <p:nvSpPr>
          <p:cNvPr id="21" name="Text 19"/>
          <p:cNvSpPr txBox="1"/>
          <p:nvPr/>
        </p:nvSpPr>
        <p:spPr>
          <a:xfrm>
            <a:off x="5349240" y="473659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Documentar 10-15 primeras lecciones aprendidas en LLDB</a:t>
            </a:r>
            <a:endParaRPr lang="en-US" sz="1050" dirty="0"/>
          </a:p>
        </p:txBody>
      </p:sp>
      <p:sp>
        <p:nvSpPr>
          <p:cNvPr id="22" name="Text 20"/>
          <p:cNvSpPr txBox="1"/>
          <p:nvPr/>
        </p:nvSpPr>
        <p:spPr>
          <a:xfrm>
            <a:off x="2011680" y="5394960"/>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Reporte de avance al sponsor ejecutivo con primeros beneficios identificados</a:t>
            </a:r>
            <a:endParaRPr lang="en-US" sz="1050" dirty="0"/>
          </a:p>
        </p:txBody>
      </p:sp>
      <p:sp>
        <p:nvSpPr>
          <p:cNvPr id="23" name="Text 21"/>
          <p:cNvSpPr txBox="1"/>
          <p:nvPr/>
        </p:nvSpPr>
        <p:spPr>
          <a:xfrm>
            <a:off x="5349240" y="5394960"/>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 del programa para siguiente año: proyectos, recursos, métricas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117</a:t>
            </a:r>
            <a:endParaRPr lang="en-US" sz="900" dirty="0"/>
          </a:p>
        </p:txBody>
      </p:sp>
      <p:pic xmlns:p="http://schemas.openxmlformats.org/presentationml/2006/main" xmlns:a="http://schemas.openxmlformats.org/drawingml/2006/main" xmlns:r="http://schemas.openxmlformats.org/officeDocument/2006/relationships">
        <p:nvPicPr>
          <p:cNvPr id="8117" name="SlideIcon8117"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Construcción vs. Constructabilidad: La Diferencia Clave</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14400"/>
            <a:ext cx="8412480" cy="713232"/>
          </a:xfrm>
          <a:prstGeom prst="roundRect">
            <a:avLst>
              <a:gd name="adj" fmla="val 12821"/>
            </a:avLst>
          </a:prstGeom>
          <a:solidFill>
            <a:srgbClr val="F4F4F4"/>
          </a:solidFill>
          <a:ln w="25400">
            <a:solidFill>
              <a:srgbClr val="FF9500"/>
            </a:solidFill>
            <a:prstDash val="solid"/>
          </a:ln>
        </p:spPr>
      </p:sp>
      <p:sp>
        <p:nvSpPr>
          <p:cNvPr id="6" name="Text 4"/>
          <p:cNvSpPr txBox="1"/>
          <p:nvPr/>
        </p:nvSpPr>
        <p:spPr>
          <a:xfrm>
            <a:off x="594360" y="1024128"/>
            <a:ext cx="7955280" cy="502920"/>
          </a:xfrm>
          <a:prstGeom prst="rect">
            <a:avLst/>
          </a:prstGeom>
          <a:noFill/>
          <a:ln/>
        </p:spPr>
        <p:txBody>
          <a:bodyPr wrap="square" lIns="0" tIns="0" rIns="0" bIns="0" rtlCol="0" anchor="ctr"/>
          <a:lstStyle/>
          <a:p>
            <a:pPr algn="ctr" indent="0" marL="0">
              <a:buNone/>
            </a:pPr>
            <a:r>
              <a:rPr lang="en-US" sz="1500" b="1" i="1" dirty="0">
                <a:solidFill>
                  <a:srgbClr val="FF9500"/>
                </a:solidFill>
                <a:latin typeface="Atkinson Hyperlegible" pitchFamily="34" charset="0"/>
                <a:ea typeface="Atkinson Hyperlegible" pitchFamily="34" charset="-122"/>
                <a:cs typeface="Atkinson Hyperlegible" pitchFamily="34" charset="-120"/>
              </a:rPr>
              <a:t>"Construcción es hacer. Constructabilidad es pensar antes de hacer."</a:t>
            </a:r>
            <a:endParaRPr lang="en-US" sz="1500" dirty="0"/>
          </a:p>
        </p:txBody>
      </p:sp>
      <p:sp>
        <p:nvSpPr>
          <p:cNvPr id="7" name="Shape 5"/>
          <p:cNvSpPr/>
          <p:nvPr/>
        </p:nvSpPr>
        <p:spPr>
          <a:xfrm>
            <a:off x="365760" y="1755648"/>
            <a:ext cx="8412480" cy="475488"/>
          </a:xfrm>
          <a:prstGeom prst="rect">
            <a:avLst/>
          </a:prstGeom>
          <a:solidFill>
            <a:srgbClr val="EBEBEB"/>
          </a:solidFill>
          <a:ln/>
        </p:spPr>
      </p:sp>
      <p:sp>
        <p:nvSpPr>
          <p:cNvPr id="8" name="Text 6"/>
          <p:cNvSpPr txBox="1"/>
          <p:nvPr/>
        </p:nvSpPr>
        <p:spPr>
          <a:xfrm>
            <a:off x="502920" y="1847088"/>
            <a:ext cx="256032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Dimensión</a:t>
            </a:r>
            <a:endParaRPr lang="en-US" sz="1100" dirty="0"/>
          </a:p>
        </p:txBody>
      </p:sp>
      <p:sp>
        <p:nvSpPr>
          <p:cNvPr id="9" name="Text 7"/>
          <p:cNvSpPr txBox="1"/>
          <p:nvPr/>
        </p:nvSpPr>
        <p:spPr>
          <a:xfrm>
            <a:off x="3154680" y="1847088"/>
            <a:ext cx="2743200" cy="292608"/>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100" dirty="0"/>
          </a:p>
        </p:txBody>
      </p:sp>
      <p:sp>
        <p:nvSpPr>
          <p:cNvPr id="10" name="Text 8"/>
          <p:cNvSpPr txBox="1"/>
          <p:nvPr/>
        </p:nvSpPr>
        <p:spPr>
          <a:xfrm>
            <a:off x="5989320" y="1847088"/>
            <a:ext cx="2651760" cy="29260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Constructabilidad</a:t>
            </a:r>
            <a:endParaRPr lang="en-US" sz="1100" dirty="0"/>
          </a:p>
        </p:txBody>
      </p:sp>
      <p:sp>
        <p:nvSpPr>
          <p:cNvPr id="11" name="Shape 9"/>
          <p:cNvSpPr/>
          <p:nvPr/>
        </p:nvSpPr>
        <p:spPr>
          <a:xfrm>
            <a:off x="365760" y="2286000"/>
            <a:ext cx="8412480" cy="475488"/>
          </a:xfrm>
          <a:prstGeom prst="rect">
            <a:avLst/>
          </a:prstGeom>
          <a:solidFill>
            <a:srgbClr val="EBEBEB"/>
          </a:solidFill>
          <a:ln/>
        </p:spPr>
      </p:sp>
      <p:sp>
        <p:nvSpPr>
          <p:cNvPr id="12" name="Text 10"/>
          <p:cNvSpPr txBox="1"/>
          <p:nvPr/>
        </p:nvSpPr>
        <p:spPr>
          <a:xfrm>
            <a:off x="502920" y="2377440"/>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¿Cuándo?</a:t>
            </a:r>
            <a:endParaRPr lang="en-US" sz="1100" dirty="0"/>
          </a:p>
        </p:txBody>
      </p:sp>
      <p:sp>
        <p:nvSpPr>
          <p:cNvPr id="13" name="Text 11"/>
          <p:cNvSpPr txBox="1"/>
          <p:nvPr/>
        </p:nvSpPr>
        <p:spPr>
          <a:xfrm>
            <a:off x="3154680" y="2377440"/>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Etapa de ejecución en campo</a:t>
            </a:r>
            <a:endParaRPr lang="en-US" sz="1100" dirty="0"/>
          </a:p>
        </p:txBody>
      </p:sp>
      <p:sp>
        <p:nvSpPr>
          <p:cNvPr id="14" name="Text 12"/>
          <p:cNvSpPr txBox="1"/>
          <p:nvPr/>
        </p:nvSpPr>
        <p:spPr>
          <a:xfrm>
            <a:off x="5989320" y="237744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factibilidad hasta campo</a:t>
            </a:r>
            <a:endParaRPr lang="en-US" sz="1100" dirty="0"/>
          </a:p>
        </p:txBody>
      </p:sp>
      <p:sp>
        <p:nvSpPr>
          <p:cNvPr id="15" name="Shape 13"/>
          <p:cNvSpPr/>
          <p:nvPr/>
        </p:nvSpPr>
        <p:spPr>
          <a:xfrm>
            <a:off x="3090672" y="2286000"/>
            <a:ext cx="18288" cy="475488"/>
          </a:xfrm>
          <a:prstGeom prst="rect">
            <a:avLst/>
          </a:prstGeom>
          <a:solidFill>
            <a:srgbClr val="F4F4F4"/>
          </a:solidFill>
          <a:ln/>
        </p:spPr>
      </p:sp>
      <p:sp>
        <p:nvSpPr>
          <p:cNvPr id="16" name="Shape 14"/>
          <p:cNvSpPr/>
          <p:nvPr/>
        </p:nvSpPr>
        <p:spPr>
          <a:xfrm>
            <a:off x="5925312" y="2286000"/>
            <a:ext cx="18288" cy="475488"/>
          </a:xfrm>
          <a:prstGeom prst="rect">
            <a:avLst/>
          </a:prstGeom>
          <a:solidFill>
            <a:srgbClr val="F4F4F4"/>
          </a:solidFill>
          <a:ln/>
        </p:spPr>
      </p:sp>
      <p:sp>
        <p:nvSpPr>
          <p:cNvPr id="17" name="Shape 15"/>
          <p:cNvSpPr/>
          <p:nvPr/>
        </p:nvSpPr>
        <p:spPr>
          <a:xfrm>
            <a:off x="365760" y="2816352"/>
            <a:ext cx="8412480" cy="475488"/>
          </a:xfrm>
          <a:prstGeom prst="rect">
            <a:avLst/>
          </a:prstGeom>
          <a:solidFill>
            <a:srgbClr val="F4F4F4"/>
          </a:solidFill>
          <a:ln/>
        </p:spPr>
      </p:sp>
      <p:sp>
        <p:nvSpPr>
          <p:cNvPr id="18" name="Text 16"/>
          <p:cNvSpPr txBox="1"/>
          <p:nvPr/>
        </p:nvSpPr>
        <p:spPr>
          <a:xfrm>
            <a:off x="502920" y="2907792"/>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¿Quién?</a:t>
            </a:r>
            <a:endParaRPr lang="en-US" sz="1100" dirty="0"/>
          </a:p>
        </p:txBody>
      </p:sp>
      <p:sp>
        <p:nvSpPr>
          <p:cNvPr id="19" name="Text 17"/>
          <p:cNvSpPr txBox="1"/>
          <p:nvPr/>
        </p:nvSpPr>
        <p:spPr>
          <a:xfrm>
            <a:off x="3154680" y="2907792"/>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Constructores y supervisores</a:t>
            </a:r>
            <a:endParaRPr lang="en-US" sz="1100" dirty="0"/>
          </a:p>
        </p:txBody>
      </p:sp>
      <p:sp>
        <p:nvSpPr>
          <p:cNvPr id="20" name="Text 18"/>
          <p:cNvSpPr txBox="1"/>
          <p:nvPr/>
        </p:nvSpPr>
        <p:spPr>
          <a:xfrm>
            <a:off x="5989320" y="290779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Equipo integrado (ingeniería + campo)</a:t>
            </a:r>
            <a:endParaRPr lang="en-US" sz="1100" dirty="0"/>
          </a:p>
        </p:txBody>
      </p:sp>
      <p:sp>
        <p:nvSpPr>
          <p:cNvPr id="21" name="Shape 19"/>
          <p:cNvSpPr/>
          <p:nvPr/>
        </p:nvSpPr>
        <p:spPr>
          <a:xfrm>
            <a:off x="3090672" y="2816352"/>
            <a:ext cx="18288" cy="475488"/>
          </a:xfrm>
          <a:prstGeom prst="rect">
            <a:avLst/>
          </a:prstGeom>
          <a:solidFill>
            <a:srgbClr val="F4F4F4"/>
          </a:solidFill>
          <a:ln/>
        </p:spPr>
      </p:sp>
      <p:sp>
        <p:nvSpPr>
          <p:cNvPr id="22" name="Shape 20"/>
          <p:cNvSpPr/>
          <p:nvPr/>
        </p:nvSpPr>
        <p:spPr>
          <a:xfrm>
            <a:off x="5925312" y="2816352"/>
            <a:ext cx="18288" cy="475488"/>
          </a:xfrm>
          <a:prstGeom prst="rect">
            <a:avLst/>
          </a:prstGeom>
          <a:solidFill>
            <a:srgbClr val="F4F4F4"/>
          </a:solidFill>
          <a:ln/>
        </p:spPr>
      </p:sp>
      <p:sp>
        <p:nvSpPr>
          <p:cNvPr id="23" name="Shape 21"/>
          <p:cNvSpPr/>
          <p:nvPr/>
        </p:nvSpPr>
        <p:spPr>
          <a:xfrm>
            <a:off x="365760" y="3346704"/>
            <a:ext cx="8412480" cy="475488"/>
          </a:xfrm>
          <a:prstGeom prst="rect">
            <a:avLst/>
          </a:prstGeom>
          <a:solidFill>
            <a:srgbClr val="EBEBEB"/>
          </a:solidFill>
          <a:ln/>
        </p:spPr>
      </p:sp>
      <p:sp>
        <p:nvSpPr>
          <p:cNvPr id="24" name="Text 22"/>
          <p:cNvSpPr txBox="1"/>
          <p:nvPr/>
        </p:nvSpPr>
        <p:spPr>
          <a:xfrm>
            <a:off x="502920" y="3438144"/>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¿Qué problema resuelve?</a:t>
            </a:r>
            <a:endParaRPr lang="en-US" sz="1100" dirty="0"/>
          </a:p>
        </p:txBody>
      </p:sp>
      <p:sp>
        <p:nvSpPr>
          <p:cNvPr id="25" name="Text 23"/>
          <p:cNvSpPr txBox="1"/>
          <p:nvPr/>
        </p:nvSpPr>
        <p:spPr>
          <a:xfrm>
            <a:off x="3154680" y="3438144"/>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lo que se diseñó</a:t>
            </a:r>
            <a:endParaRPr lang="en-US" sz="1100" dirty="0"/>
          </a:p>
        </p:txBody>
      </p:sp>
      <p:sp>
        <p:nvSpPr>
          <p:cNvPr id="26" name="Text 24"/>
          <p:cNvSpPr txBox="1"/>
          <p:nvPr/>
        </p:nvSpPr>
        <p:spPr>
          <a:xfrm>
            <a:off x="5989320" y="3438144"/>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Hacer que lo diseñado sea ejecutable</a:t>
            </a:r>
            <a:endParaRPr lang="en-US" sz="1100" dirty="0"/>
          </a:p>
        </p:txBody>
      </p:sp>
      <p:sp>
        <p:nvSpPr>
          <p:cNvPr id="27" name="Shape 25"/>
          <p:cNvSpPr/>
          <p:nvPr/>
        </p:nvSpPr>
        <p:spPr>
          <a:xfrm>
            <a:off x="3090672" y="3346704"/>
            <a:ext cx="18288" cy="475488"/>
          </a:xfrm>
          <a:prstGeom prst="rect">
            <a:avLst/>
          </a:prstGeom>
          <a:solidFill>
            <a:srgbClr val="F4F4F4"/>
          </a:solidFill>
          <a:ln/>
        </p:spPr>
      </p:sp>
      <p:sp>
        <p:nvSpPr>
          <p:cNvPr id="28" name="Shape 26"/>
          <p:cNvSpPr/>
          <p:nvPr/>
        </p:nvSpPr>
        <p:spPr>
          <a:xfrm>
            <a:off x="5925312" y="3346704"/>
            <a:ext cx="18288" cy="475488"/>
          </a:xfrm>
          <a:prstGeom prst="rect">
            <a:avLst/>
          </a:prstGeom>
          <a:solidFill>
            <a:srgbClr val="F4F4F4"/>
          </a:solidFill>
          <a:ln/>
        </p:spPr>
      </p:sp>
      <p:sp>
        <p:nvSpPr>
          <p:cNvPr id="29" name="Shape 27"/>
          <p:cNvSpPr/>
          <p:nvPr/>
        </p:nvSpPr>
        <p:spPr>
          <a:xfrm>
            <a:off x="365760" y="3877056"/>
            <a:ext cx="8412480" cy="475488"/>
          </a:xfrm>
          <a:prstGeom prst="rect">
            <a:avLst/>
          </a:prstGeom>
          <a:solidFill>
            <a:srgbClr val="F4F4F4"/>
          </a:solidFill>
          <a:ln/>
        </p:spPr>
      </p:sp>
      <p:sp>
        <p:nvSpPr>
          <p:cNvPr id="30" name="Text 28"/>
          <p:cNvSpPr txBox="1"/>
          <p:nvPr/>
        </p:nvSpPr>
        <p:spPr>
          <a:xfrm>
            <a:off x="502920" y="3968496"/>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¿Cuándo ve el diseño?</a:t>
            </a:r>
            <a:endParaRPr lang="en-US" sz="1100" dirty="0"/>
          </a:p>
        </p:txBody>
      </p:sp>
      <p:sp>
        <p:nvSpPr>
          <p:cNvPr id="31" name="Text 29"/>
          <p:cNvSpPr txBox="1"/>
          <p:nvPr/>
        </p:nvSpPr>
        <p:spPr>
          <a:xfrm>
            <a:off x="3154680" y="3968496"/>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Cuando llega al campo (tarde)</a:t>
            </a:r>
            <a:endParaRPr lang="en-US" sz="1100" dirty="0"/>
          </a:p>
        </p:txBody>
      </p:sp>
      <p:sp>
        <p:nvSpPr>
          <p:cNvPr id="32" name="Text 30"/>
          <p:cNvSpPr txBox="1"/>
          <p:nvPr/>
        </p:nvSpPr>
        <p:spPr>
          <a:xfrm>
            <a:off x="5989320" y="3968496"/>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que se genera (temprano)</a:t>
            </a:r>
            <a:endParaRPr lang="en-US" sz="1100" dirty="0"/>
          </a:p>
        </p:txBody>
      </p:sp>
      <p:sp>
        <p:nvSpPr>
          <p:cNvPr id="33" name="Shape 31"/>
          <p:cNvSpPr/>
          <p:nvPr/>
        </p:nvSpPr>
        <p:spPr>
          <a:xfrm>
            <a:off x="3090672" y="3877056"/>
            <a:ext cx="18288" cy="475488"/>
          </a:xfrm>
          <a:prstGeom prst="rect">
            <a:avLst/>
          </a:prstGeom>
          <a:solidFill>
            <a:srgbClr val="F4F4F4"/>
          </a:solidFill>
          <a:ln/>
        </p:spPr>
      </p:sp>
      <p:sp>
        <p:nvSpPr>
          <p:cNvPr id="34" name="Shape 32"/>
          <p:cNvSpPr/>
          <p:nvPr/>
        </p:nvSpPr>
        <p:spPr>
          <a:xfrm>
            <a:off x="5925312" y="3877056"/>
            <a:ext cx="18288" cy="475488"/>
          </a:xfrm>
          <a:prstGeom prst="rect">
            <a:avLst/>
          </a:prstGeom>
          <a:solidFill>
            <a:srgbClr val="F4F4F4"/>
          </a:solidFill>
          <a:ln/>
        </p:spPr>
      </p:sp>
      <p:sp>
        <p:nvSpPr>
          <p:cNvPr id="35" name="Shape 33"/>
          <p:cNvSpPr/>
          <p:nvPr/>
        </p:nvSpPr>
        <p:spPr>
          <a:xfrm>
            <a:off x="365760" y="4407408"/>
            <a:ext cx="8412480" cy="475488"/>
          </a:xfrm>
          <a:prstGeom prst="rect">
            <a:avLst/>
          </a:prstGeom>
          <a:solidFill>
            <a:srgbClr val="EBEBEB"/>
          </a:solidFill>
          <a:ln/>
        </p:spPr>
      </p:sp>
      <p:sp>
        <p:nvSpPr>
          <p:cNvPr id="36" name="Text 34"/>
          <p:cNvSpPr txBox="1"/>
          <p:nvPr/>
        </p:nvSpPr>
        <p:spPr>
          <a:xfrm>
            <a:off x="502920" y="4498848"/>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¿Impacto en costo?</a:t>
            </a:r>
            <a:endParaRPr lang="en-US" sz="1100" dirty="0"/>
          </a:p>
        </p:txBody>
      </p:sp>
      <p:sp>
        <p:nvSpPr>
          <p:cNvPr id="37" name="Text 35"/>
          <p:cNvSpPr txBox="1"/>
          <p:nvPr/>
        </p:nvSpPr>
        <p:spPr>
          <a:xfrm>
            <a:off x="3154680" y="4498848"/>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Construir al costo del diseño dado</a:t>
            </a:r>
            <a:endParaRPr lang="en-US" sz="1100" dirty="0"/>
          </a:p>
        </p:txBody>
      </p:sp>
      <p:sp>
        <p:nvSpPr>
          <p:cNvPr id="38" name="Text 36"/>
          <p:cNvSpPr txBox="1"/>
          <p:nvPr/>
        </p:nvSpPr>
        <p:spPr>
          <a:xfrm>
            <a:off x="5989320" y="4498848"/>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Reducir el costo total del proyecto</a:t>
            </a:r>
            <a:endParaRPr lang="en-US" sz="1100" dirty="0"/>
          </a:p>
        </p:txBody>
      </p:sp>
      <p:sp>
        <p:nvSpPr>
          <p:cNvPr id="39" name="Shape 37"/>
          <p:cNvSpPr/>
          <p:nvPr/>
        </p:nvSpPr>
        <p:spPr>
          <a:xfrm>
            <a:off x="3090672" y="4407408"/>
            <a:ext cx="18288" cy="475488"/>
          </a:xfrm>
          <a:prstGeom prst="rect">
            <a:avLst/>
          </a:prstGeom>
          <a:solidFill>
            <a:srgbClr val="F4F4F4"/>
          </a:solidFill>
          <a:ln/>
        </p:spPr>
      </p:sp>
      <p:sp>
        <p:nvSpPr>
          <p:cNvPr id="40" name="Shape 38"/>
          <p:cNvSpPr/>
          <p:nvPr/>
        </p:nvSpPr>
        <p:spPr>
          <a:xfrm>
            <a:off x="5925312" y="4407408"/>
            <a:ext cx="18288" cy="475488"/>
          </a:xfrm>
          <a:prstGeom prst="rect">
            <a:avLst/>
          </a:prstGeom>
          <a:solidFill>
            <a:srgbClr val="F4F4F4"/>
          </a:solidFill>
          <a:ln/>
        </p:spPr>
      </p:sp>
      <p:sp>
        <p:nvSpPr>
          <p:cNvPr id="41" name="Shape 39"/>
          <p:cNvSpPr/>
          <p:nvPr/>
        </p:nvSpPr>
        <p:spPr>
          <a:xfrm>
            <a:off x="365760" y="4937760"/>
            <a:ext cx="8412480" cy="475488"/>
          </a:xfrm>
          <a:prstGeom prst="rect">
            <a:avLst/>
          </a:prstGeom>
          <a:solidFill>
            <a:srgbClr val="F4F4F4"/>
          </a:solidFill>
          <a:ln/>
        </p:spPr>
      </p:sp>
      <p:sp>
        <p:nvSpPr>
          <p:cNvPr id="42" name="Text 40"/>
          <p:cNvSpPr txBox="1"/>
          <p:nvPr/>
        </p:nvSpPr>
        <p:spPr>
          <a:xfrm>
            <a:off x="502920" y="5029200"/>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¿Herramienta principal?</a:t>
            </a:r>
            <a:endParaRPr lang="en-US" sz="1100" dirty="0"/>
          </a:p>
        </p:txBody>
      </p:sp>
      <p:sp>
        <p:nvSpPr>
          <p:cNvPr id="43" name="Text 41"/>
          <p:cNvSpPr txBox="1"/>
          <p:nvPr/>
        </p:nvSpPr>
        <p:spPr>
          <a:xfrm>
            <a:off x="3154680" y="5029200"/>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Programación y recursos</a:t>
            </a:r>
            <a:endParaRPr lang="en-US" sz="1100" dirty="0"/>
          </a:p>
        </p:txBody>
      </p:sp>
      <p:sp>
        <p:nvSpPr>
          <p:cNvPr id="44" name="Text 42"/>
          <p:cNvSpPr txBox="1"/>
          <p:nvPr/>
        </p:nvSpPr>
        <p:spPr>
          <a:xfrm>
            <a:off x="5989320" y="502920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Revisiones tempranas + BIM + LLDB</a:t>
            </a:r>
            <a:endParaRPr lang="en-US" sz="1100" dirty="0"/>
          </a:p>
        </p:txBody>
      </p:sp>
      <p:sp>
        <p:nvSpPr>
          <p:cNvPr id="45" name="Shape 43"/>
          <p:cNvSpPr/>
          <p:nvPr/>
        </p:nvSpPr>
        <p:spPr>
          <a:xfrm>
            <a:off x="3090672" y="4937760"/>
            <a:ext cx="18288" cy="475488"/>
          </a:xfrm>
          <a:prstGeom prst="rect">
            <a:avLst/>
          </a:prstGeom>
          <a:solidFill>
            <a:srgbClr val="F4F4F4"/>
          </a:solidFill>
          <a:ln/>
        </p:spPr>
      </p:sp>
      <p:sp>
        <p:nvSpPr>
          <p:cNvPr id="46" name="Shape 44"/>
          <p:cNvSpPr/>
          <p:nvPr/>
        </p:nvSpPr>
        <p:spPr>
          <a:xfrm>
            <a:off x="5925312" y="4937760"/>
            <a:ext cx="18288" cy="475488"/>
          </a:xfrm>
          <a:prstGeom prst="rect">
            <a:avLst/>
          </a:prstGeom>
          <a:solidFill>
            <a:srgbClr val="F4F4F4"/>
          </a:solidFill>
          <a:ln/>
        </p:spPr>
      </p:sp>
      <p:sp>
        <p:nvSpPr>
          <p:cNvPr id="47" name="Shape 45"/>
          <p:cNvSpPr/>
          <p:nvPr/>
        </p:nvSpPr>
        <p:spPr>
          <a:xfrm>
            <a:off x="365760" y="5468112"/>
            <a:ext cx="8412480" cy="475488"/>
          </a:xfrm>
          <a:prstGeom prst="rect">
            <a:avLst/>
          </a:prstGeom>
          <a:solidFill>
            <a:srgbClr val="EBEBEB"/>
          </a:solidFill>
          <a:ln/>
        </p:spPr>
      </p:sp>
      <p:sp>
        <p:nvSpPr>
          <p:cNvPr id="48" name="Text 46"/>
          <p:cNvSpPr txBox="1"/>
          <p:nvPr/>
        </p:nvSpPr>
        <p:spPr>
          <a:xfrm>
            <a:off x="502920" y="5559552"/>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Resultado si falla</a:t>
            </a:r>
            <a:endParaRPr lang="en-US" sz="1100" dirty="0"/>
          </a:p>
        </p:txBody>
      </p:sp>
      <p:sp>
        <p:nvSpPr>
          <p:cNvPr id="49" name="Text 47"/>
          <p:cNvSpPr txBox="1"/>
          <p:nvPr/>
        </p:nvSpPr>
        <p:spPr>
          <a:xfrm>
            <a:off x="3154680" y="5559552"/>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Re-trabajo caro y tardío</a:t>
            </a:r>
            <a:endParaRPr lang="en-US" sz="1100" dirty="0"/>
          </a:p>
        </p:txBody>
      </p:sp>
      <p:sp>
        <p:nvSpPr>
          <p:cNvPr id="50" name="Text 48"/>
          <p:cNvSpPr txBox="1"/>
          <p:nvPr/>
        </p:nvSpPr>
        <p:spPr>
          <a:xfrm>
            <a:off x="5989320" y="555955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Costos evitados proactivamente</a:t>
            </a:r>
            <a:endParaRPr lang="en-US" sz="1100" dirty="0"/>
          </a:p>
        </p:txBody>
      </p:sp>
      <p:sp>
        <p:nvSpPr>
          <p:cNvPr id="51" name="Shape 49"/>
          <p:cNvSpPr/>
          <p:nvPr/>
        </p:nvSpPr>
        <p:spPr>
          <a:xfrm>
            <a:off x="3090672" y="5468112"/>
            <a:ext cx="18288" cy="475488"/>
          </a:xfrm>
          <a:prstGeom prst="rect">
            <a:avLst/>
          </a:prstGeom>
          <a:solidFill>
            <a:srgbClr val="F4F4F4"/>
          </a:solidFill>
          <a:ln/>
        </p:spPr>
      </p:sp>
      <p:sp>
        <p:nvSpPr>
          <p:cNvPr id="52" name="Shape 50"/>
          <p:cNvSpPr/>
          <p:nvPr/>
        </p:nvSpPr>
        <p:spPr>
          <a:xfrm>
            <a:off x="5925312" y="5468112"/>
            <a:ext cx="18288" cy="475488"/>
          </a:xfrm>
          <a:prstGeom prst="rect">
            <a:avLst/>
          </a:prstGeom>
          <a:solidFill>
            <a:srgbClr val="F4F4F4"/>
          </a:solidFill>
          <a:ln/>
        </p:spPr>
      </p:sp>
      <p:sp>
        <p:nvSpPr>
          <p:cNvPr id="53" name="Text 5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118</a:t>
            </a:r>
            <a:endParaRPr lang="en-US" sz="900" dirty="0"/>
          </a:p>
        </p:txBody>
      </p:sp>
      <p:pic xmlns:p="http://schemas.openxmlformats.org/presentationml/2006/main" xmlns:a="http://schemas.openxmlformats.org/drawingml/2006/main" xmlns:r="http://schemas.openxmlformats.org/officeDocument/2006/relationships">
        <p:nvPicPr>
          <p:cNvPr id="8118" name="SlideIcon8118"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Construyendo una Cultura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mayor barrera no es técnica — es cultural. CII SP 34-1 aborda el cambio cultural explícitamente:</a:t>
            </a:r>
            <a:endParaRPr lang="en-US" sz="1300" dirty="0"/>
          </a:p>
        </p:txBody>
      </p:sp>
      <p:sp>
        <p:nvSpPr>
          <p:cNvPr id="6" name="Shape 4"/>
          <p:cNvSpPr/>
          <p:nvPr/>
        </p:nvSpPr>
        <p:spPr>
          <a:xfrm>
            <a:off x="365760" y="1298448"/>
            <a:ext cx="4160520" cy="1444752"/>
          </a:xfrm>
          <a:prstGeom prst="roundRect">
            <a:avLst>
              <a:gd name="adj" fmla="val 6329"/>
            </a:avLst>
          </a:prstGeom>
          <a:solidFill>
            <a:srgbClr val="F4F4F4"/>
          </a:solidFill>
          <a:ln w="25400">
            <a:solidFill>
              <a:srgbClr val="0A84FF"/>
            </a:solidFill>
            <a:prstDash val="solid"/>
          </a:ln>
        </p:spPr>
      </p:sp>
      <p:sp>
        <p:nvSpPr>
          <p:cNvPr id="7" name="Shape 5"/>
          <p:cNvSpPr/>
          <p:nvPr/>
        </p:nvSpPr>
        <p:spPr>
          <a:xfrm>
            <a:off x="365760" y="2688336"/>
            <a:ext cx="4160520" cy="54864"/>
          </a:xfrm>
          <a:prstGeom prst="rect">
            <a:avLst/>
          </a:prstGeom>
          <a:solidFill>
            <a:srgbClr val="0A84FF"/>
          </a:solidFill>
          <a:ln/>
        </p:spPr>
      </p:sp>
      <p:sp>
        <p:nvSpPr>
          <p:cNvPr id="8" name="Text 6"/>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Lenguaje Común</a:t>
            </a:r>
            <a:endParaRPr lang="en-US" sz="1200" dirty="0"/>
          </a:p>
        </p:txBody>
      </p:sp>
      <p:sp>
        <p:nvSpPr>
          <p:cNvPr id="9" name="Text 7"/>
          <p:cNvSpPr txBox="1"/>
          <p:nvPr/>
        </p:nvSpPr>
        <p:spPr>
          <a:xfrm>
            <a:off x="548640" y="18013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hablan de "constructabilidad" con la misma definición. Los 17 conceptos CII son el vocabulario estándar del equipo.</a:t>
            </a:r>
            <a:endParaRPr lang="en-US" sz="1100" dirty="0"/>
          </a:p>
        </p:txBody>
      </p:sp>
      <p:sp>
        <p:nvSpPr>
          <p:cNvPr id="10" name="Shape 8"/>
          <p:cNvSpPr/>
          <p:nvPr/>
        </p:nvSpPr>
        <p:spPr>
          <a:xfrm>
            <a:off x="4754880" y="1298448"/>
            <a:ext cx="4160520" cy="1444752"/>
          </a:xfrm>
          <a:prstGeom prst="roundRect">
            <a:avLst>
              <a:gd name="adj" fmla="val 6329"/>
            </a:avLst>
          </a:prstGeom>
          <a:solidFill>
            <a:srgbClr val="F4F4F4"/>
          </a:solidFill>
          <a:ln w="25400">
            <a:solidFill>
              <a:srgbClr val="30D158"/>
            </a:solidFill>
            <a:prstDash val="solid"/>
          </a:ln>
        </p:spPr>
      </p:sp>
      <p:sp>
        <p:nvSpPr>
          <p:cNvPr id="11" name="Shape 9"/>
          <p:cNvSpPr/>
          <p:nvPr/>
        </p:nvSpPr>
        <p:spPr>
          <a:xfrm>
            <a:off x="4754880" y="2688336"/>
            <a:ext cx="4160520" cy="54864"/>
          </a:xfrm>
          <a:prstGeom prst="rect">
            <a:avLst/>
          </a:prstGeom>
          <a:solidFill>
            <a:srgbClr val="30D158"/>
          </a:solidFill>
          <a:ln/>
        </p:spPr>
      </p:sp>
      <p:sp>
        <p:nvSpPr>
          <p:cNvPr id="12" name="Text 10"/>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Curiosidad Constructiva</a:t>
            </a:r>
            <a:endParaRPr lang="en-US" sz="1200" dirty="0"/>
          </a:p>
        </p:txBody>
      </p:sp>
      <p:sp>
        <p:nvSpPr>
          <p:cNvPr id="13" name="Text 11"/>
          <p:cNvSpPr txBox="1"/>
          <p:nvPr/>
        </p:nvSpPr>
        <p:spPr>
          <a:xfrm>
            <a:off x="4937760" y="18013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"¿Cómo se va a construir esto?" es la pregunta que todo ingeniero de diseño se hace a sí mismo antes de emitir cualquier plano.</a:t>
            </a:r>
            <a:endParaRPr lang="en-US" sz="1100" dirty="0"/>
          </a:p>
        </p:txBody>
      </p:sp>
      <p:sp>
        <p:nvSpPr>
          <p:cNvPr id="14" name="Shape 12"/>
          <p:cNvSpPr/>
          <p:nvPr/>
        </p:nvSpPr>
        <p:spPr>
          <a:xfrm>
            <a:off x="365760" y="2898648"/>
            <a:ext cx="4160520" cy="1444752"/>
          </a:xfrm>
          <a:prstGeom prst="roundRect">
            <a:avLst>
              <a:gd name="adj" fmla="val 6329"/>
            </a:avLst>
          </a:prstGeom>
          <a:solidFill>
            <a:srgbClr val="F4F4F4"/>
          </a:solidFill>
          <a:ln w="25400">
            <a:solidFill>
              <a:srgbClr val="FF9500"/>
            </a:solidFill>
            <a:prstDash val="solid"/>
          </a:ln>
        </p:spPr>
      </p:sp>
      <p:sp>
        <p:nvSpPr>
          <p:cNvPr id="15" name="Shape 13"/>
          <p:cNvSpPr/>
          <p:nvPr/>
        </p:nvSpPr>
        <p:spPr>
          <a:xfrm>
            <a:off x="365760" y="4288536"/>
            <a:ext cx="4160520" cy="54864"/>
          </a:xfrm>
          <a:prstGeom prst="rect">
            <a:avLst/>
          </a:prstGeom>
          <a:solidFill>
            <a:srgbClr val="FF9500"/>
          </a:solidFill>
          <a:ln/>
        </p:spPr>
      </p:sp>
      <p:sp>
        <p:nvSpPr>
          <p:cNvPr id="16" name="Text 14"/>
          <p:cNvSpPr txBox="1"/>
          <p:nvPr/>
        </p:nvSpPr>
        <p:spPr>
          <a:xfrm>
            <a:off x="548640" y="3008376"/>
            <a:ext cx="379476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Respeto al Conocimiento de Campo</a:t>
            </a:r>
            <a:endParaRPr lang="en-US" sz="1200" dirty="0"/>
          </a:p>
        </p:txBody>
      </p:sp>
      <p:sp>
        <p:nvSpPr>
          <p:cNvPr id="17" name="Text 15"/>
          <p:cNvSpPr txBox="1"/>
          <p:nvPr/>
        </p:nvSpPr>
        <p:spPr>
          <a:xfrm>
            <a:off x="548640" y="34015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experiencia del constructor se valora tanto como el análisis del ingeniero. No hay jerarquía en las revisiones de constructabilidad.</a:t>
            </a:r>
            <a:endParaRPr lang="en-US" sz="1100" dirty="0"/>
          </a:p>
        </p:txBody>
      </p:sp>
      <p:sp>
        <p:nvSpPr>
          <p:cNvPr id="18" name="Shape 16"/>
          <p:cNvSpPr/>
          <p:nvPr/>
        </p:nvSpPr>
        <p:spPr>
          <a:xfrm>
            <a:off x="4754880" y="2898648"/>
            <a:ext cx="4160520" cy="1444752"/>
          </a:xfrm>
          <a:prstGeom prst="roundRect">
            <a:avLst>
              <a:gd name="adj" fmla="val 6329"/>
            </a:avLst>
          </a:prstGeom>
          <a:solidFill>
            <a:srgbClr val="F4F4F4"/>
          </a:solidFill>
          <a:ln w="25400">
            <a:solidFill>
              <a:srgbClr val="FFD60A"/>
            </a:solidFill>
            <a:prstDash val="solid"/>
          </a:ln>
        </p:spPr>
      </p:sp>
      <p:sp>
        <p:nvSpPr>
          <p:cNvPr id="19" name="Shape 17"/>
          <p:cNvSpPr/>
          <p:nvPr/>
        </p:nvSpPr>
        <p:spPr>
          <a:xfrm>
            <a:off x="4754880" y="4288536"/>
            <a:ext cx="4160520" cy="54864"/>
          </a:xfrm>
          <a:prstGeom prst="rect">
            <a:avLst/>
          </a:prstGeom>
          <a:solidFill>
            <a:srgbClr val="FFD60A"/>
          </a:solidFill>
          <a:ln/>
        </p:spPr>
      </p:sp>
      <p:sp>
        <p:nvSpPr>
          <p:cNvPr id="20" name="Text 18"/>
          <p:cNvSpPr txBox="1"/>
          <p:nvPr/>
        </p:nvSpPr>
        <p:spPr>
          <a:xfrm>
            <a:off x="4937760" y="3008376"/>
            <a:ext cx="379476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Reconocimiento de Ideas</a:t>
            </a:r>
            <a:endParaRPr lang="en-US" sz="1200" dirty="0"/>
          </a:p>
        </p:txBody>
      </p:sp>
      <p:sp>
        <p:nvSpPr>
          <p:cNvPr id="21" name="Text 19"/>
          <p:cNvSpPr txBox="1"/>
          <p:nvPr/>
        </p:nvSpPr>
        <p:spPr>
          <a:xfrm>
            <a:off x="4937760" y="34015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ideas implementadas de constructabilidad se celebran y atribuyen. El aportador ve su lección en la LLDB con su nombre.</a:t>
            </a:r>
            <a:endParaRPr lang="en-US" sz="1100" dirty="0"/>
          </a:p>
        </p:txBody>
      </p:sp>
      <p:sp>
        <p:nvSpPr>
          <p:cNvPr id="22" name="Shape 20"/>
          <p:cNvSpPr/>
          <p:nvPr/>
        </p:nvSpPr>
        <p:spPr>
          <a:xfrm>
            <a:off x="365760" y="4498848"/>
            <a:ext cx="4160520" cy="1444752"/>
          </a:xfrm>
          <a:prstGeom prst="roundRect">
            <a:avLst>
              <a:gd name="adj" fmla="val 6329"/>
            </a:avLst>
          </a:prstGeom>
          <a:solidFill>
            <a:srgbClr val="F4F4F4"/>
          </a:solidFill>
          <a:ln w="25400">
            <a:solidFill>
              <a:srgbClr val="AF52DE"/>
            </a:solidFill>
            <a:prstDash val="solid"/>
          </a:ln>
        </p:spPr>
      </p:sp>
      <p:sp>
        <p:nvSpPr>
          <p:cNvPr id="23" name="Shape 21"/>
          <p:cNvSpPr/>
          <p:nvPr/>
        </p:nvSpPr>
        <p:spPr>
          <a:xfrm>
            <a:off x="365760" y="5888736"/>
            <a:ext cx="4160520" cy="54864"/>
          </a:xfrm>
          <a:prstGeom prst="rect">
            <a:avLst/>
          </a:prstGeom>
          <a:solidFill>
            <a:srgbClr val="AF52DE"/>
          </a:solidFill>
          <a:ln/>
        </p:spPr>
      </p:sp>
      <p:sp>
        <p:nvSpPr>
          <p:cNvPr id="24" name="Text 22"/>
          <p:cNvSpPr txBox="1"/>
          <p:nvPr/>
        </p:nvSpPr>
        <p:spPr>
          <a:xfrm>
            <a:off x="548640" y="4608576"/>
            <a:ext cx="379476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Tolerancia al Error Temprano</a:t>
            </a:r>
            <a:endParaRPr lang="en-US" sz="1200" dirty="0"/>
          </a:p>
        </p:txBody>
      </p:sp>
      <p:sp>
        <p:nvSpPr>
          <p:cNvPr id="25" name="Text 23"/>
          <p:cNvSpPr txBox="1"/>
          <p:nvPr/>
        </p:nvSpPr>
        <p:spPr>
          <a:xfrm>
            <a:off x="548640" y="50017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Equivocarse en papel (en revisión de constructabilidad) es bueno. Equivocarse en campo es caro. Se celebra el "error evitado".</a:t>
            </a:r>
            <a:endParaRPr lang="en-US" sz="1100" dirty="0"/>
          </a:p>
        </p:txBody>
      </p:sp>
      <p:sp>
        <p:nvSpPr>
          <p:cNvPr id="26" name="Shape 24"/>
          <p:cNvSpPr/>
          <p:nvPr/>
        </p:nvSpPr>
        <p:spPr>
          <a:xfrm>
            <a:off x="4754880" y="4498848"/>
            <a:ext cx="4160520" cy="1444752"/>
          </a:xfrm>
          <a:prstGeom prst="roundRect">
            <a:avLst>
              <a:gd name="adj" fmla="val 6329"/>
            </a:avLst>
          </a:prstGeom>
          <a:solidFill>
            <a:srgbClr val="F4F4F4"/>
          </a:solidFill>
          <a:ln w="25400">
            <a:solidFill>
              <a:srgbClr val="FF453A"/>
            </a:solidFill>
            <a:prstDash val="solid"/>
          </a:ln>
        </p:spPr>
      </p:sp>
      <p:sp>
        <p:nvSpPr>
          <p:cNvPr id="27" name="Shape 25"/>
          <p:cNvSpPr/>
          <p:nvPr/>
        </p:nvSpPr>
        <p:spPr>
          <a:xfrm>
            <a:off x="4754880" y="5888736"/>
            <a:ext cx="4160520" cy="54864"/>
          </a:xfrm>
          <a:prstGeom prst="rect">
            <a:avLst/>
          </a:prstGeom>
          <a:solidFill>
            <a:srgbClr val="FF453A"/>
          </a:solidFill>
          <a:ln/>
        </p:spPr>
      </p:sp>
      <p:sp>
        <p:nvSpPr>
          <p:cNvPr id="28" name="Text 26"/>
          <p:cNvSpPr txBox="1"/>
          <p:nvPr/>
        </p:nvSpPr>
        <p:spPr>
          <a:xfrm>
            <a:off x="4937760" y="4608576"/>
            <a:ext cx="379476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Aprendizaje Continuo</a:t>
            </a:r>
            <a:endParaRPr lang="en-US" sz="1200" dirty="0"/>
          </a:p>
        </p:txBody>
      </p:sp>
      <p:sp>
        <p:nvSpPr>
          <p:cNvPr id="29" name="Text 27"/>
          <p:cNvSpPr txBox="1"/>
          <p:nvPr/>
        </p:nvSpPr>
        <p:spPr>
          <a:xfrm>
            <a:off x="4937760" y="50017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termina con un Post-Project Constructability Review. Lo aprendido entra a LLDB antes de que el equipo se disuelva.</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119</a:t>
            </a:r>
            <a:endParaRPr lang="en-US" sz="900" dirty="0"/>
          </a:p>
        </p:txBody>
      </p:sp>
      <p:pic xmlns:p="http://schemas.openxmlformats.org/presentationml/2006/main" xmlns:a="http://schemas.openxmlformats.org/drawingml/2006/main" xmlns:r="http://schemas.openxmlformats.org/officeDocument/2006/relationships">
        <p:nvPicPr>
          <p:cNvPr id="8119" name="SlideIcon8119"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Checklist Ejecutivo: 20 Preguntas de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PM debe poder responder SÍ a estas 20 preguntas para confirmar que el proyecto es constructible:</a:t>
            </a:r>
            <a:endParaRPr lang="en-US" sz="1300" dirty="0"/>
          </a:p>
        </p:txBody>
      </p:sp>
      <p:sp>
        <p:nvSpPr>
          <p:cNvPr id="6" name="Shape 4"/>
          <p:cNvSpPr/>
          <p:nvPr/>
        </p:nvSpPr>
        <p:spPr>
          <a:xfrm>
            <a:off x="365760" y="1298448"/>
            <a:ext cx="347472" cy="347472"/>
          </a:xfrm>
          <a:prstGeom prst="roundRect">
            <a:avLst>
              <a:gd name="adj" fmla="val 13158"/>
            </a:avLst>
          </a:prstGeom>
          <a:solidFill>
            <a:srgbClr val="EBEBEB"/>
          </a:solidFill>
          <a:ln w="12700">
            <a:solidFill>
              <a:srgbClr val="EBEBEB"/>
            </a:solidFill>
            <a:prstDash val="solid"/>
          </a:ln>
        </p:spPr>
      </p:sp>
      <p:sp>
        <p:nvSpPr>
          <p:cNvPr id="7" name="Text 5"/>
          <p:cNvSpPr txBox="1"/>
          <p:nvPr/>
        </p:nvSpPr>
        <p:spPr>
          <a:xfrm>
            <a:off x="42062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a:t>
            </a:r>
            <a:endParaRPr lang="en-US" sz="1100" dirty="0"/>
          </a:p>
        </p:txBody>
      </p:sp>
      <p:sp>
        <p:nvSpPr>
          <p:cNvPr id="8" name="Text 6"/>
          <p:cNvSpPr txBox="1"/>
          <p:nvPr/>
        </p:nvSpPr>
        <p:spPr>
          <a:xfrm>
            <a:off x="777240" y="135331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realizó una revisión de constructabilidad en FEL-2 o antes?</a:t>
            </a:r>
            <a:endParaRPr lang="en-US" sz="1000" dirty="0"/>
          </a:p>
        </p:txBody>
      </p:sp>
      <p:sp>
        <p:nvSpPr>
          <p:cNvPr id="9" name="Shape 7"/>
          <p:cNvSpPr/>
          <p:nvPr/>
        </p:nvSpPr>
        <p:spPr>
          <a:xfrm>
            <a:off x="365760" y="1792224"/>
            <a:ext cx="347472" cy="347472"/>
          </a:xfrm>
          <a:prstGeom prst="roundRect">
            <a:avLst>
              <a:gd name="adj" fmla="val 13158"/>
            </a:avLst>
          </a:prstGeom>
          <a:solidFill>
            <a:srgbClr val="EBEBEB"/>
          </a:solidFill>
          <a:ln w="12700">
            <a:solidFill>
              <a:srgbClr val="EBEBEB"/>
            </a:solidFill>
            <a:prstDash val="solid"/>
          </a:ln>
        </p:spPr>
      </p:sp>
      <p:sp>
        <p:nvSpPr>
          <p:cNvPr id="10" name="Text 8"/>
          <p:cNvSpPr txBox="1"/>
          <p:nvPr/>
        </p:nvSpPr>
        <p:spPr>
          <a:xfrm>
            <a:off x="42062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a:t>
            </a:r>
            <a:endParaRPr lang="en-US" sz="1100" dirty="0"/>
          </a:p>
        </p:txBody>
      </p:sp>
      <p:sp>
        <p:nvSpPr>
          <p:cNvPr id="11" name="Text 9"/>
          <p:cNvSpPr txBox="1"/>
          <p:nvPr/>
        </p:nvSpPr>
        <p:spPr>
          <a:xfrm>
            <a:off x="777240" y="184708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CM de constructabilidad tiene voto en las revisiones de diseño?</a:t>
            </a:r>
            <a:endParaRPr lang="en-US" sz="1000" dirty="0"/>
          </a:p>
        </p:txBody>
      </p:sp>
      <p:sp>
        <p:nvSpPr>
          <p:cNvPr id="12" name="Shape 10"/>
          <p:cNvSpPr/>
          <p:nvPr/>
        </p:nvSpPr>
        <p:spPr>
          <a:xfrm>
            <a:off x="365760" y="2286000"/>
            <a:ext cx="347472" cy="347472"/>
          </a:xfrm>
          <a:prstGeom prst="roundRect">
            <a:avLst>
              <a:gd name="adj" fmla="val 13158"/>
            </a:avLst>
          </a:prstGeom>
          <a:solidFill>
            <a:srgbClr val="EBEBEB"/>
          </a:solidFill>
          <a:ln w="12700">
            <a:solidFill>
              <a:srgbClr val="EBEBEB"/>
            </a:solidFill>
            <a:prstDash val="solid"/>
          </a:ln>
        </p:spPr>
      </p:sp>
      <p:sp>
        <p:nvSpPr>
          <p:cNvPr id="13" name="Text 11"/>
          <p:cNvSpPr txBox="1"/>
          <p:nvPr/>
        </p:nvSpPr>
        <p:spPr>
          <a:xfrm>
            <a:off x="42062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3</a:t>
            </a:r>
            <a:endParaRPr lang="en-US" sz="1100" dirty="0"/>
          </a:p>
        </p:txBody>
      </p:sp>
      <p:sp>
        <p:nvSpPr>
          <p:cNvPr id="14" name="Text 12"/>
          <p:cNvSpPr txBox="1"/>
          <p:nvPr/>
        </p:nvSpPr>
        <p:spPr>
          <a:xfrm>
            <a:off x="777240" y="234086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¿Existe un plan documentado de constructabilidad aprobado por el PM?</a:t>
            </a:r>
            <a:endParaRPr lang="en-US" sz="1000" dirty="0"/>
          </a:p>
        </p:txBody>
      </p:sp>
      <p:sp>
        <p:nvSpPr>
          <p:cNvPr id="15" name="Shape 13"/>
          <p:cNvSpPr/>
          <p:nvPr/>
        </p:nvSpPr>
        <p:spPr>
          <a:xfrm>
            <a:off x="365760" y="2779776"/>
            <a:ext cx="347472" cy="347472"/>
          </a:xfrm>
          <a:prstGeom prst="roundRect">
            <a:avLst>
              <a:gd name="adj" fmla="val 13158"/>
            </a:avLst>
          </a:prstGeom>
          <a:solidFill>
            <a:srgbClr val="EBEBEB"/>
          </a:solidFill>
          <a:ln w="12700">
            <a:solidFill>
              <a:srgbClr val="EBEBEB"/>
            </a:solidFill>
            <a:prstDash val="solid"/>
          </a:ln>
        </p:spPr>
      </p:sp>
      <p:sp>
        <p:nvSpPr>
          <p:cNvPr id="16" name="Text 14"/>
          <p:cNvSpPr txBox="1"/>
          <p:nvPr/>
        </p:nvSpPr>
        <p:spPr>
          <a:xfrm>
            <a:off x="42062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4</a:t>
            </a:r>
            <a:endParaRPr lang="en-US" sz="1100" dirty="0"/>
          </a:p>
        </p:txBody>
      </p:sp>
      <p:sp>
        <p:nvSpPr>
          <p:cNvPr id="17" name="Text 15"/>
          <p:cNvSpPr txBox="1"/>
          <p:nvPr/>
        </p:nvSpPr>
        <p:spPr>
          <a:xfrm>
            <a:off x="777240" y="283464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diseño considera la secuencia de construcción lógica?</a:t>
            </a:r>
            <a:endParaRPr lang="en-US" sz="1000" dirty="0"/>
          </a:p>
        </p:txBody>
      </p:sp>
      <p:sp>
        <p:nvSpPr>
          <p:cNvPr id="18" name="Shape 16"/>
          <p:cNvSpPr/>
          <p:nvPr/>
        </p:nvSpPr>
        <p:spPr>
          <a:xfrm>
            <a:off x="365760" y="3273552"/>
            <a:ext cx="347472" cy="347472"/>
          </a:xfrm>
          <a:prstGeom prst="roundRect">
            <a:avLst>
              <a:gd name="adj" fmla="val 13158"/>
            </a:avLst>
          </a:prstGeom>
          <a:solidFill>
            <a:srgbClr val="EBEBEB"/>
          </a:solidFill>
          <a:ln w="12700">
            <a:solidFill>
              <a:srgbClr val="EBEBEB"/>
            </a:solidFill>
            <a:prstDash val="solid"/>
          </a:ln>
        </p:spPr>
      </p:sp>
      <p:sp>
        <p:nvSpPr>
          <p:cNvPr id="19" name="Text 17"/>
          <p:cNvSpPr txBox="1"/>
          <p:nvPr/>
        </p:nvSpPr>
        <p:spPr>
          <a:xfrm>
            <a:off x="42062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5</a:t>
            </a:r>
            <a:endParaRPr lang="en-US" sz="1100" dirty="0"/>
          </a:p>
        </p:txBody>
      </p:sp>
      <p:sp>
        <p:nvSpPr>
          <p:cNvPr id="20" name="Text 18"/>
          <p:cNvSpPr txBox="1"/>
          <p:nvPr/>
        </p:nvSpPr>
        <p:spPr>
          <a:xfrm>
            <a:off x="777240" y="332841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han identificado oportunidades de modularización / pre-ensamble?</a:t>
            </a:r>
            <a:endParaRPr lang="en-US" sz="1000" dirty="0"/>
          </a:p>
        </p:txBody>
      </p:sp>
      <p:sp>
        <p:nvSpPr>
          <p:cNvPr id="21" name="Shape 19"/>
          <p:cNvSpPr/>
          <p:nvPr/>
        </p:nvSpPr>
        <p:spPr>
          <a:xfrm>
            <a:off x="365760" y="3767328"/>
            <a:ext cx="347472" cy="347472"/>
          </a:xfrm>
          <a:prstGeom prst="roundRect">
            <a:avLst>
              <a:gd name="adj" fmla="val 13158"/>
            </a:avLst>
          </a:prstGeom>
          <a:solidFill>
            <a:srgbClr val="EBEBEB"/>
          </a:solidFill>
          <a:ln w="12700">
            <a:solidFill>
              <a:srgbClr val="EBEBEB"/>
            </a:solidFill>
            <a:prstDash val="solid"/>
          </a:ln>
        </p:spPr>
      </p:sp>
      <p:sp>
        <p:nvSpPr>
          <p:cNvPr id="22" name="Text 20"/>
          <p:cNvSpPr txBox="1"/>
          <p:nvPr/>
        </p:nvSpPr>
        <p:spPr>
          <a:xfrm>
            <a:off x="42062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6</a:t>
            </a:r>
            <a:endParaRPr lang="en-US" sz="1100" dirty="0"/>
          </a:p>
        </p:txBody>
      </p:sp>
      <p:sp>
        <p:nvSpPr>
          <p:cNvPr id="23" name="Text 21"/>
          <p:cNvSpPr txBox="1"/>
          <p:nvPr/>
        </p:nvSpPr>
        <p:spPr>
          <a:xfrm>
            <a:off x="777240" y="382219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accesos de construcción y grúas están definidos en el diseño?</a:t>
            </a:r>
            <a:endParaRPr lang="en-US" sz="1000" dirty="0"/>
          </a:p>
        </p:txBody>
      </p:sp>
      <p:sp>
        <p:nvSpPr>
          <p:cNvPr id="24" name="Shape 22"/>
          <p:cNvSpPr/>
          <p:nvPr/>
        </p:nvSpPr>
        <p:spPr>
          <a:xfrm>
            <a:off x="365760" y="4261104"/>
            <a:ext cx="347472" cy="347472"/>
          </a:xfrm>
          <a:prstGeom prst="roundRect">
            <a:avLst>
              <a:gd name="adj" fmla="val 13158"/>
            </a:avLst>
          </a:prstGeom>
          <a:solidFill>
            <a:srgbClr val="EBEBEB"/>
          </a:solidFill>
          <a:ln w="12700">
            <a:solidFill>
              <a:srgbClr val="EBEBEB"/>
            </a:solidFill>
            <a:prstDash val="solid"/>
          </a:ln>
        </p:spPr>
      </p:sp>
      <p:sp>
        <p:nvSpPr>
          <p:cNvPr id="25" name="Text 23"/>
          <p:cNvSpPr txBox="1"/>
          <p:nvPr/>
        </p:nvSpPr>
        <p:spPr>
          <a:xfrm>
            <a:off x="42062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7</a:t>
            </a:r>
            <a:endParaRPr lang="en-US" sz="1100" dirty="0"/>
          </a:p>
        </p:txBody>
      </p:sp>
      <p:sp>
        <p:nvSpPr>
          <p:cNvPr id="26" name="Text 24"/>
          <p:cNvSpPr txBox="1"/>
          <p:nvPr/>
        </p:nvSpPr>
        <p:spPr>
          <a:xfrm>
            <a:off x="777240" y="431596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¿Las especificaciones se han revisado para eliminar restricciones innecesarias?</a:t>
            </a:r>
            <a:endParaRPr lang="en-US" sz="1000" dirty="0"/>
          </a:p>
        </p:txBody>
      </p:sp>
      <p:sp>
        <p:nvSpPr>
          <p:cNvPr id="27" name="Shape 25"/>
          <p:cNvSpPr/>
          <p:nvPr/>
        </p:nvSpPr>
        <p:spPr>
          <a:xfrm>
            <a:off x="365760" y="4754880"/>
            <a:ext cx="347472" cy="347472"/>
          </a:xfrm>
          <a:prstGeom prst="roundRect">
            <a:avLst>
              <a:gd name="adj" fmla="val 13158"/>
            </a:avLst>
          </a:prstGeom>
          <a:solidFill>
            <a:srgbClr val="EBEBEB"/>
          </a:solidFill>
          <a:ln w="12700">
            <a:solidFill>
              <a:srgbClr val="EBEBEB"/>
            </a:solidFill>
            <a:prstDash val="solid"/>
          </a:ln>
        </p:spPr>
      </p:sp>
      <p:sp>
        <p:nvSpPr>
          <p:cNvPr id="28" name="Text 26"/>
          <p:cNvSpPr txBox="1"/>
          <p:nvPr/>
        </p:nvSpPr>
        <p:spPr>
          <a:xfrm>
            <a:off x="42062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8</a:t>
            </a:r>
            <a:endParaRPr lang="en-US" sz="1100" dirty="0"/>
          </a:p>
        </p:txBody>
      </p:sp>
      <p:sp>
        <p:nvSpPr>
          <p:cNvPr id="29" name="Text 27"/>
          <p:cNvSpPr txBox="1"/>
          <p:nvPr/>
        </p:nvSpPr>
        <p:spPr>
          <a:xfrm>
            <a:off x="777240" y="480974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procura está alineado con la secuencia constructiva?</a:t>
            </a:r>
            <a:endParaRPr lang="en-US" sz="1000" dirty="0"/>
          </a:p>
        </p:txBody>
      </p:sp>
      <p:sp>
        <p:nvSpPr>
          <p:cNvPr id="30" name="Shape 28"/>
          <p:cNvSpPr/>
          <p:nvPr/>
        </p:nvSpPr>
        <p:spPr>
          <a:xfrm>
            <a:off x="365760" y="5248656"/>
            <a:ext cx="347472" cy="347472"/>
          </a:xfrm>
          <a:prstGeom prst="roundRect">
            <a:avLst>
              <a:gd name="adj" fmla="val 13158"/>
            </a:avLst>
          </a:prstGeom>
          <a:solidFill>
            <a:srgbClr val="EBEBEB"/>
          </a:solidFill>
          <a:ln w="12700">
            <a:solidFill>
              <a:srgbClr val="EBEBEB"/>
            </a:solidFill>
            <a:prstDash val="solid"/>
          </a:ln>
        </p:spPr>
      </p:sp>
      <p:sp>
        <p:nvSpPr>
          <p:cNvPr id="31" name="Text 29"/>
          <p:cNvSpPr txBox="1"/>
          <p:nvPr/>
        </p:nvSpPr>
        <p:spPr>
          <a:xfrm>
            <a:off x="42062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9</a:t>
            </a:r>
            <a:endParaRPr lang="en-US" sz="1100" dirty="0"/>
          </a:p>
        </p:txBody>
      </p:sp>
      <p:sp>
        <p:nvSpPr>
          <p:cNvPr id="32" name="Text 30"/>
          <p:cNvSpPr txBox="1"/>
          <p:nvPr/>
        </p:nvSpPr>
        <p:spPr>
          <a:xfrm>
            <a:off x="777240" y="530352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usa BIM 3D para detección de interferencias constructivas?</a:t>
            </a:r>
            <a:endParaRPr lang="en-US" sz="1000" dirty="0"/>
          </a:p>
        </p:txBody>
      </p:sp>
      <p:sp>
        <p:nvSpPr>
          <p:cNvPr id="33" name="Shape 31"/>
          <p:cNvSpPr/>
          <p:nvPr/>
        </p:nvSpPr>
        <p:spPr>
          <a:xfrm>
            <a:off x="365760" y="5742432"/>
            <a:ext cx="347472" cy="347472"/>
          </a:xfrm>
          <a:prstGeom prst="roundRect">
            <a:avLst>
              <a:gd name="adj" fmla="val 13158"/>
            </a:avLst>
          </a:prstGeom>
          <a:solidFill>
            <a:srgbClr val="EBEBEB"/>
          </a:solidFill>
          <a:ln w="12700">
            <a:solidFill>
              <a:srgbClr val="EBEBEB"/>
            </a:solidFill>
            <a:prstDash val="solid"/>
          </a:ln>
        </p:spPr>
      </p:sp>
      <p:sp>
        <p:nvSpPr>
          <p:cNvPr id="34" name="Text 32"/>
          <p:cNvSpPr txBox="1"/>
          <p:nvPr/>
        </p:nvSpPr>
        <p:spPr>
          <a:xfrm>
            <a:off x="42062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10</a:t>
            </a:r>
            <a:endParaRPr lang="en-US" sz="1100" dirty="0"/>
          </a:p>
        </p:txBody>
      </p:sp>
      <p:sp>
        <p:nvSpPr>
          <p:cNvPr id="35" name="Text 33"/>
          <p:cNvSpPr txBox="1"/>
          <p:nvPr/>
        </p:nvSpPr>
        <p:spPr>
          <a:xfrm>
            <a:off x="777240" y="579729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programa (cronograma) refleja la lógica constructiva real?</a:t>
            </a:r>
            <a:endParaRPr lang="en-US" sz="1000" dirty="0"/>
          </a:p>
        </p:txBody>
      </p:sp>
      <p:sp>
        <p:nvSpPr>
          <p:cNvPr id="36" name="Shape 34"/>
          <p:cNvSpPr/>
          <p:nvPr/>
        </p:nvSpPr>
        <p:spPr>
          <a:xfrm>
            <a:off x="4754880" y="1298448"/>
            <a:ext cx="347472" cy="347472"/>
          </a:xfrm>
          <a:prstGeom prst="roundRect">
            <a:avLst>
              <a:gd name="adj" fmla="val 13158"/>
            </a:avLst>
          </a:prstGeom>
          <a:solidFill>
            <a:srgbClr val="EBEBEB"/>
          </a:solidFill>
          <a:ln w="12700">
            <a:solidFill>
              <a:srgbClr val="EBEBEB"/>
            </a:solidFill>
            <a:prstDash val="solid"/>
          </a:ln>
        </p:spPr>
      </p:sp>
      <p:sp>
        <p:nvSpPr>
          <p:cNvPr id="37" name="Text 35"/>
          <p:cNvSpPr txBox="1"/>
          <p:nvPr/>
        </p:nvSpPr>
        <p:spPr>
          <a:xfrm>
            <a:off x="480974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11</a:t>
            </a:r>
            <a:endParaRPr lang="en-US" sz="1100" dirty="0"/>
          </a:p>
        </p:txBody>
      </p:sp>
      <p:sp>
        <p:nvSpPr>
          <p:cNvPr id="38" name="Text 36"/>
          <p:cNvSpPr txBox="1"/>
          <p:nvPr/>
        </p:nvSpPr>
        <p:spPr>
          <a:xfrm>
            <a:off x="5166360" y="135331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¿Existe una LLDB con lecciones de proyectos similares consultada?</a:t>
            </a:r>
            <a:endParaRPr lang="en-US" sz="1000" dirty="0"/>
          </a:p>
        </p:txBody>
      </p:sp>
      <p:sp>
        <p:nvSpPr>
          <p:cNvPr id="39" name="Shape 37"/>
          <p:cNvSpPr/>
          <p:nvPr/>
        </p:nvSpPr>
        <p:spPr>
          <a:xfrm>
            <a:off x="4754880" y="1792224"/>
            <a:ext cx="347472" cy="347472"/>
          </a:xfrm>
          <a:prstGeom prst="roundRect">
            <a:avLst>
              <a:gd name="adj" fmla="val 13158"/>
            </a:avLst>
          </a:prstGeom>
          <a:solidFill>
            <a:srgbClr val="EBEBEB"/>
          </a:solidFill>
          <a:ln w="12700">
            <a:solidFill>
              <a:srgbClr val="EBEBEB"/>
            </a:solidFill>
            <a:prstDash val="solid"/>
          </a:ln>
        </p:spPr>
      </p:sp>
      <p:sp>
        <p:nvSpPr>
          <p:cNvPr id="40" name="Text 38"/>
          <p:cNvSpPr txBox="1"/>
          <p:nvPr/>
        </p:nvSpPr>
        <p:spPr>
          <a:xfrm>
            <a:off x="480974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12</a:t>
            </a:r>
            <a:endParaRPr lang="en-US" sz="1100" dirty="0"/>
          </a:p>
        </p:txBody>
      </p:sp>
      <p:sp>
        <p:nvSpPr>
          <p:cNvPr id="41" name="Text 39"/>
          <p:cNvSpPr txBox="1"/>
          <p:nvPr/>
        </p:nvSpPr>
        <p:spPr>
          <a:xfrm>
            <a:off x="5166360" y="184708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subcontratistas conocen y cumplen los requisitos de constructabilidad?</a:t>
            </a:r>
            <a:endParaRPr lang="en-US" sz="1000" dirty="0"/>
          </a:p>
        </p:txBody>
      </p:sp>
      <p:sp>
        <p:nvSpPr>
          <p:cNvPr id="42" name="Shape 40"/>
          <p:cNvSpPr/>
          <p:nvPr/>
        </p:nvSpPr>
        <p:spPr>
          <a:xfrm>
            <a:off x="4754880" y="2286000"/>
            <a:ext cx="347472" cy="347472"/>
          </a:xfrm>
          <a:prstGeom prst="roundRect">
            <a:avLst>
              <a:gd name="adj" fmla="val 13158"/>
            </a:avLst>
          </a:prstGeom>
          <a:solidFill>
            <a:srgbClr val="EBEBEB"/>
          </a:solidFill>
          <a:ln w="12700">
            <a:solidFill>
              <a:srgbClr val="EBEBEB"/>
            </a:solidFill>
            <a:prstDash val="solid"/>
          </a:ln>
        </p:spPr>
      </p:sp>
      <p:sp>
        <p:nvSpPr>
          <p:cNvPr id="43" name="Text 41"/>
          <p:cNvSpPr txBox="1"/>
          <p:nvPr/>
        </p:nvSpPr>
        <p:spPr>
          <a:xfrm>
            <a:off x="480974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13</a:t>
            </a:r>
            <a:endParaRPr lang="en-US" sz="1100" dirty="0"/>
          </a:p>
        </p:txBody>
      </p:sp>
      <p:sp>
        <p:nvSpPr>
          <p:cNvPr id="44" name="Text 42"/>
          <p:cNvSpPr txBox="1"/>
          <p:nvPr/>
        </p:nvSpPr>
        <p:spPr>
          <a:xfrm>
            <a:off x="5166360" y="234086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han realizado talleres de constructabilidad con el equipo de campo?</a:t>
            </a:r>
            <a:endParaRPr lang="en-US" sz="1000" dirty="0"/>
          </a:p>
        </p:txBody>
      </p:sp>
      <p:sp>
        <p:nvSpPr>
          <p:cNvPr id="45" name="Shape 43"/>
          <p:cNvSpPr/>
          <p:nvPr/>
        </p:nvSpPr>
        <p:spPr>
          <a:xfrm>
            <a:off x="4754880" y="2779776"/>
            <a:ext cx="347472" cy="347472"/>
          </a:xfrm>
          <a:prstGeom prst="roundRect">
            <a:avLst>
              <a:gd name="adj" fmla="val 13158"/>
            </a:avLst>
          </a:prstGeom>
          <a:solidFill>
            <a:srgbClr val="EBEBEB"/>
          </a:solidFill>
          <a:ln w="12700">
            <a:solidFill>
              <a:srgbClr val="EBEBEB"/>
            </a:solidFill>
            <a:prstDash val="solid"/>
          </a:ln>
        </p:spPr>
      </p:sp>
      <p:sp>
        <p:nvSpPr>
          <p:cNvPr id="46" name="Text 44"/>
          <p:cNvSpPr txBox="1"/>
          <p:nvPr/>
        </p:nvSpPr>
        <p:spPr>
          <a:xfrm>
            <a:off x="480974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14</a:t>
            </a:r>
            <a:endParaRPr lang="en-US" sz="1100" dirty="0"/>
          </a:p>
        </p:txBody>
      </p:sp>
      <p:sp>
        <p:nvSpPr>
          <p:cNvPr id="47" name="Text 45"/>
          <p:cNvSpPr txBox="1"/>
          <p:nvPr/>
        </p:nvSpPr>
        <p:spPr>
          <a:xfrm>
            <a:off x="5166360" y="283464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workface planning está integrado con constructabilidad?</a:t>
            </a:r>
            <a:endParaRPr lang="en-US" sz="1000" dirty="0"/>
          </a:p>
        </p:txBody>
      </p:sp>
      <p:sp>
        <p:nvSpPr>
          <p:cNvPr id="48" name="Shape 46"/>
          <p:cNvSpPr/>
          <p:nvPr/>
        </p:nvSpPr>
        <p:spPr>
          <a:xfrm>
            <a:off x="4754880" y="3273552"/>
            <a:ext cx="347472" cy="347472"/>
          </a:xfrm>
          <a:prstGeom prst="roundRect">
            <a:avLst>
              <a:gd name="adj" fmla="val 13158"/>
            </a:avLst>
          </a:prstGeom>
          <a:solidFill>
            <a:srgbClr val="EBEBEB"/>
          </a:solidFill>
          <a:ln w="12700">
            <a:solidFill>
              <a:srgbClr val="EBEBEB"/>
            </a:solidFill>
            <a:prstDash val="solid"/>
          </a:ln>
        </p:spPr>
      </p:sp>
      <p:sp>
        <p:nvSpPr>
          <p:cNvPr id="49" name="Text 47"/>
          <p:cNvSpPr txBox="1"/>
          <p:nvPr/>
        </p:nvSpPr>
        <p:spPr>
          <a:xfrm>
            <a:off x="480974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15</a:t>
            </a:r>
            <a:endParaRPr lang="en-US" sz="1100" dirty="0"/>
          </a:p>
        </p:txBody>
      </p:sp>
      <p:sp>
        <p:nvSpPr>
          <p:cNvPr id="50" name="Text 48"/>
          <p:cNvSpPr txBox="1"/>
          <p:nvPr/>
        </p:nvSpPr>
        <p:spPr>
          <a:xfrm>
            <a:off x="5166360" y="332841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miden KPIs del programa mensualmente y se reportan al PM?</a:t>
            </a:r>
            <a:endParaRPr lang="en-US" sz="1000" dirty="0"/>
          </a:p>
        </p:txBody>
      </p:sp>
      <p:sp>
        <p:nvSpPr>
          <p:cNvPr id="51" name="Shape 49"/>
          <p:cNvSpPr/>
          <p:nvPr/>
        </p:nvSpPr>
        <p:spPr>
          <a:xfrm>
            <a:off x="4754880" y="3767328"/>
            <a:ext cx="347472" cy="347472"/>
          </a:xfrm>
          <a:prstGeom prst="roundRect">
            <a:avLst>
              <a:gd name="adj" fmla="val 13158"/>
            </a:avLst>
          </a:prstGeom>
          <a:solidFill>
            <a:srgbClr val="EBEBEB"/>
          </a:solidFill>
          <a:ln w="12700">
            <a:solidFill>
              <a:srgbClr val="EBEBEB"/>
            </a:solidFill>
            <a:prstDash val="solid"/>
          </a:ln>
        </p:spPr>
      </p:sp>
      <p:sp>
        <p:nvSpPr>
          <p:cNvPr id="52" name="Text 50"/>
          <p:cNvSpPr txBox="1"/>
          <p:nvPr/>
        </p:nvSpPr>
        <p:spPr>
          <a:xfrm>
            <a:off x="480974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16</a:t>
            </a:r>
            <a:endParaRPr lang="en-US" sz="1100" dirty="0"/>
          </a:p>
        </p:txBody>
      </p:sp>
      <p:sp>
        <p:nvSpPr>
          <p:cNvPr id="53" name="Text 51"/>
          <p:cNvSpPr txBox="1"/>
          <p:nvPr/>
        </p:nvSpPr>
        <p:spPr>
          <a:xfrm>
            <a:off x="5166360" y="382219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contrato EPC incluye cláusulas de constructabilidad?</a:t>
            </a:r>
            <a:endParaRPr lang="en-US" sz="1000" dirty="0"/>
          </a:p>
        </p:txBody>
      </p:sp>
      <p:sp>
        <p:nvSpPr>
          <p:cNvPr id="54" name="Shape 52"/>
          <p:cNvSpPr/>
          <p:nvPr/>
        </p:nvSpPr>
        <p:spPr>
          <a:xfrm>
            <a:off x="4754880" y="4261104"/>
            <a:ext cx="347472" cy="347472"/>
          </a:xfrm>
          <a:prstGeom prst="roundRect">
            <a:avLst>
              <a:gd name="adj" fmla="val 13158"/>
            </a:avLst>
          </a:prstGeom>
          <a:solidFill>
            <a:srgbClr val="EBEBEB"/>
          </a:solidFill>
          <a:ln w="12700">
            <a:solidFill>
              <a:srgbClr val="EBEBEB"/>
            </a:solidFill>
            <a:prstDash val="solid"/>
          </a:ln>
        </p:spPr>
      </p:sp>
      <p:sp>
        <p:nvSpPr>
          <p:cNvPr id="55" name="Text 53"/>
          <p:cNvSpPr txBox="1"/>
          <p:nvPr/>
        </p:nvSpPr>
        <p:spPr>
          <a:xfrm>
            <a:off x="480974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17</a:t>
            </a:r>
            <a:endParaRPr lang="en-US" sz="1100" dirty="0"/>
          </a:p>
        </p:txBody>
      </p:sp>
      <p:sp>
        <p:nvSpPr>
          <p:cNvPr id="56" name="Text 54"/>
          <p:cNvSpPr txBox="1"/>
          <p:nvPr/>
        </p:nvSpPr>
        <p:spPr>
          <a:xfrm>
            <a:off x="5166360" y="431596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¿Las revisiones formales en 30%-60%-90% de diseño están programadas?</a:t>
            </a:r>
            <a:endParaRPr lang="en-US" sz="1000" dirty="0"/>
          </a:p>
        </p:txBody>
      </p:sp>
      <p:sp>
        <p:nvSpPr>
          <p:cNvPr id="57" name="Shape 55"/>
          <p:cNvSpPr/>
          <p:nvPr/>
        </p:nvSpPr>
        <p:spPr>
          <a:xfrm>
            <a:off x="4754880" y="4754880"/>
            <a:ext cx="347472" cy="347472"/>
          </a:xfrm>
          <a:prstGeom prst="roundRect">
            <a:avLst>
              <a:gd name="adj" fmla="val 13158"/>
            </a:avLst>
          </a:prstGeom>
          <a:solidFill>
            <a:srgbClr val="EBEBEB"/>
          </a:solidFill>
          <a:ln w="12700">
            <a:solidFill>
              <a:srgbClr val="EBEBEB"/>
            </a:solidFill>
            <a:prstDash val="solid"/>
          </a:ln>
        </p:spPr>
      </p:sp>
      <p:sp>
        <p:nvSpPr>
          <p:cNvPr id="58" name="Text 56"/>
          <p:cNvSpPr txBox="1"/>
          <p:nvPr/>
        </p:nvSpPr>
        <p:spPr>
          <a:xfrm>
            <a:off x="480974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18</a:t>
            </a:r>
            <a:endParaRPr lang="en-US" sz="1100" dirty="0"/>
          </a:p>
        </p:txBody>
      </p:sp>
      <p:sp>
        <p:nvSpPr>
          <p:cNvPr id="59" name="Text 57"/>
          <p:cNvSpPr txBox="1"/>
          <p:nvPr/>
        </p:nvSpPr>
        <p:spPr>
          <a:xfrm>
            <a:off x="5166360" y="480974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comisionamiento fue considerado en el diseño de sistemas?</a:t>
            </a:r>
            <a:endParaRPr lang="en-US" sz="1000" dirty="0"/>
          </a:p>
        </p:txBody>
      </p:sp>
      <p:sp>
        <p:nvSpPr>
          <p:cNvPr id="60" name="Shape 58"/>
          <p:cNvSpPr/>
          <p:nvPr/>
        </p:nvSpPr>
        <p:spPr>
          <a:xfrm>
            <a:off x="4754880" y="5248656"/>
            <a:ext cx="347472" cy="347472"/>
          </a:xfrm>
          <a:prstGeom prst="roundRect">
            <a:avLst>
              <a:gd name="adj" fmla="val 13158"/>
            </a:avLst>
          </a:prstGeom>
          <a:solidFill>
            <a:srgbClr val="EBEBEB"/>
          </a:solidFill>
          <a:ln w="12700">
            <a:solidFill>
              <a:srgbClr val="EBEBEB"/>
            </a:solidFill>
            <a:prstDash val="solid"/>
          </a:ln>
        </p:spPr>
      </p:sp>
      <p:sp>
        <p:nvSpPr>
          <p:cNvPr id="61" name="Text 59"/>
          <p:cNvSpPr txBox="1"/>
          <p:nvPr/>
        </p:nvSpPr>
        <p:spPr>
          <a:xfrm>
            <a:off x="480974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19</a:t>
            </a:r>
            <a:endParaRPr lang="en-US" sz="1100" dirty="0"/>
          </a:p>
        </p:txBody>
      </p:sp>
      <p:sp>
        <p:nvSpPr>
          <p:cNvPr id="62" name="Text 60"/>
          <p:cNvSpPr txBox="1"/>
          <p:nvPr/>
        </p:nvSpPr>
        <p:spPr>
          <a:xfrm>
            <a:off x="5166360" y="530352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 seguridad durante la construcción fue revisada en diseño?</a:t>
            </a:r>
            <a:endParaRPr lang="en-US" sz="1000" dirty="0"/>
          </a:p>
        </p:txBody>
      </p:sp>
      <p:sp>
        <p:nvSpPr>
          <p:cNvPr id="63" name="Shape 61"/>
          <p:cNvSpPr/>
          <p:nvPr/>
        </p:nvSpPr>
        <p:spPr>
          <a:xfrm>
            <a:off x="4754880" y="5742432"/>
            <a:ext cx="347472" cy="347472"/>
          </a:xfrm>
          <a:prstGeom prst="roundRect">
            <a:avLst>
              <a:gd name="adj" fmla="val 13158"/>
            </a:avLst>
          </a:prstGeom>
          <a:solidFill>
            <a:srgbClr val="EBEBEB"/>
          </a:solidFill>
          <a:ln w="12700">
            <a:solidFill>
              <a:srgbClr val="EBEBEB"/>
            </a:solidFill>
            <a:prstDash val="solid"/>
          </a:ln>
        </p:spPr>
      </p:sp>
      <p:sp>
        <p:nvSpPr>
          <p:cNvPr id="64" name="Text 62"/>
          <p:cNvSpPr txBox="1"/>
          <p:nvPr/>
        </p:nvSpPr>
        <p:spPr>
          <a:xfrm>
            <a:off x="480974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20</a:t>
            </a:r>
            <a:endParaRPr lang="en-US" sz="1100" dirty="0"/>
          </a:p>
        </p:txBody>
      </p:sp>
      <p:sp>
        <p:nvSpPr>
          <p:cNvPr id="65" name="Text 63"/>
          <p:cNvSpPr txBox="1"/>
          <p:nvPr/>
        </p:nvSpPr>
        <p:spPr>
          <a:xfrm>
            <a:off x="5166360" y="579729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¿Hay un plan de post-project review de constructabilidad al final?</a:t>
            </a:r>
            <a:endParaRPr lang="en-US" sz="1000" dirty="0"/>
          </a:p>
        </p:txBody>
      </p:sp>
      <p:sp>
        <p:nvSpPr>
          <p:cNvPr id="66" name="Text 6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120</a:t>
            </a:r>
            <a:endParaRPr lang="en-US" sz="900" dirty="0"/>
          </a:p>
        </p:txBody>
      </p:sp>
      <p:pic xmlns:p="http://schemas.openxmlformats.org/presentationml/2006/main" xmlns:a="http://schemas.openxmlformats.org/drawingml/2006/main" xmlns:r="http://schemas.openxmlformats.org/officeDocument/2006/relationships">
        <p:nvPicPr>
          <p:cNvPr id="8120" name="SlideIcon8120"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CII: Síntesis Visual Completa</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Referencia rápida de los 17 conceptos organizados por fase del proyecto:</a:t>
            </a:r>
            <a:endParaRPr lang="en-US" sz="1200" dirty="0"/>
          </a:p>
        </p:txBody>
      </p:sp>
      <p:sp>
        <p:nvSpPr>
          <p:cNvPr id="6" name="Shape 4"/>
          <p:cNvSpPr/>
          <p:nvPr/>
        </p:nvSpPr>
        <p:spPr>
          <a:xfrm>
            <a:off x="365760" y="1261872"/>
            <a:ext cx="2606040" cy="347472"/>
          </a:xfrm>
          <a:prstGeom prst="roundRect">
            <a:avLst>
              <a:gd name="adj" fmla="val 15789"/>
            </a:avLst>
          </a:prstGeom>
          <a:solidFill>
            <a:srgbClr val="30D158"/>
          </a:solidFill>
          <a:ln/>
        </p:spPr>
      </p:sp>
      <p:sp>
        <p:nvSpPr>
          <p:cNvPr id="7" name="Text 5"/>
          <p:cNvSpPr txBox="1"/>
          <p:nvPr/>
        </p:nvSpPr>
        <p:spPr>
          <a:xfrm>
            <a:off x="45720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 Planificación Conceptual (I-1 a I-7)</a:t>
            </a:r>
            <a:endParaRPr lang="en-US" sz="900" dirty="0"/>
          </a:p>
        </p:txBody>
      </p:sp>
      <p:sp>
        <p:nvSpPr>
          <p:cNvPr id="8" name="Shape 6"/>
          <p:cNvSpPr/>
          <p:nvPr/>
        </p:nvSpPr>
        <p:spPr>
          <a:xfrm>
            <a:off x="3063240" y="1261872"/>
            <a:ext cx="2606040" cy="347472"/>
          </a:xfrm>
          <a:prstGeom prst="roundRect">
            <a:avLst>
              <a:gd name="adj" fmla="val 15789"/>
            </a:avLst>
          </a:prstGeom>
          <a:solidFill>
            <a:srgbClr val="FF9500"/>
          </a:solidFill>
          <a:ln/>
        </p:spPr>
      </p:sp>
      <p:sp>
        <p:nvSpPr>
          <p:cNvPr id="9" name="Text 7"/>
          <p:cNvSpPr txBox="1"/>
          <p:nvPr/>
        </p:nvSpPr>
        <p:spPr>
          <a:xfrm>
            <a:off x="315468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II: Diseño y Procura (II-1 a II-8)</a:t>
            </a:r>
            <a:endParaRPr lang="en-US" sz="900" dirty="0"/>
          </a:p>
        </p:txBody>
      </p:sp>
      <p:sp>
        <p:nvSpPr>
          <p:cNvPr id="10" name="Shape 8"/>
          <p:cNvSpPr/>
          <p:nvPr/>
        </p:nvSpPr>
        <p:spPr>
          <a:xfrm>
            <a:off x="5760720" y="1261872"/>
            <a:ext cx="2606040" cy="347472"/>
          </a:xfrm>
          <a:prstGeom prst="roundRect">
            <a:avLst>
              <a:gd name="adj" fmla="val 15789"/>
            </a:avLst>
          </a:prstGeom>
          <a:solidFill>
            <a:srgbClr val="FF453A"/>
          </a:solidFill>
          <a:ln/>
        </p:spPr>
      </p:sp>
      <p:sp>
        <p:nvSpPr>
          <p:cNvPr id="11" name="Text 9"/>
          <p:cNvSpPr txBox="1"/>
          <p:nvPr/>
        </p:nvSpPr>
        <p:spPr>
          <a:xfrm>
            <a:off x="585216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III: Campo (III-1)</a:t>
            </a:r>
            <a:endParaRPr lang="en-US" sz="900" dirty="0"/>
          </a:p>
        </p:txBody>
      </p:sp>
      <p:sp>
        <p:nvSpPr>
          <p:cNvPr id="12" name="Shape 10"/>
          <p:cNvSpPr/>
          <p:nvPr/>
        </p:nvSpPr>
        <p:spPr>
          <a:xfrm>
            <a:off x="365760" y="1700784"/>
            <a:ext cx="2103120" cy="914400"/>
          </a:xfrm>
          <a:prstGeom prst="roundRect">
            <a:avLst>
              <a:gd name="adj" fmla="val 7000"/>
            </a:avLst>
          </a:prstGeom>
          <a:solidFill>
            <a:srgbClr val="F4F4F4"/>
          </a:solidFill>
          <a:ln w="12700">
            <a:solidFill>
              <a:srgbClr val="30D158"/>
            </a:solidFill>
            <a:prstDash val="solid"/>
          </a:ln>
        </p:spPr>
      </p:sp>
      <p:sp>
        <p:nvSpPr>
          <p:cNvPr id="13" name="Text 11"/>
          <p:cNvSpPr txBox="1"/>
          <p:nvPr/>
        </p:nvSpPr>
        <p:spPr>
          <a:xfrm>
            <a:off x="47548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I-1</a:t>
            </a:r>
            <a:endParaRPr lang="en-US" sz="1200" dirty="0"/>
          </a:p>
        </p:txBody>
      </p:sp>
      <p:sp>
        <p:nvSpPr>
          <p:cNvPr id="14" name="Text 12"/>
          <p:cNvSpPr txBox="1"/>
          <p:nvPr/>
        </p:nvSpPr>
        <p:spPr>
          <a:xfrm>
            <a:off x="47548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Objetivos Corporativos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en Constructabilidad</a:t>
            </a:r>
            <a:endParaRPr lang="en-US" sz="950" dirty="0"/>
          </a:p>
        </p:txBody>
      </p:sp>
      <p:sp>
        <p:nvSpPr>
          <p:cNvPr id="15" name="Shape 13"/>
          <p:cNvSpPr/>
          <p:nvPr/>
        </p:nvSpPr>
        <p:spPr>
          <a:xfrm>
            <a:off x="365760" y="2752344"/>
            <a:ext cx="2103120" cy="914400"/>
          </a:xfrm>
          <a:prstGeom prst="roundRect">
            <a:avLst>
              <a:gd name="adj" fmla="val 7000"/>
            </a:avLst>
          </a:prstGeom>
          <a:solidFill>
            <a:srgbClr val="F4F4F4"/>
          </a:solidFill>
          <a:ln w="12700">
            <a:solidFill>
              <a:srgbClr val="30D158"/>
            </a:solidFill>
            <a:prstDash val="solid"/>
          </a:ln>
        </p:spPr>
      </p:sp>
      <p:sp>
        <p:nvSpPr>
          <p:cNvPr id="16" name="Text 14"/>
          <p:cNvSpPr txBox="1"/>
          <p:nvPr/>
        </p:nvSpPr>
        <p:spPr>
          <a:xfrm>
            <a:off x="47548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I-2</a:t>
            </a:r>
            <a:endParaRPr lang="en-US" sz="1200" dirty="0"/>
          </a:p>
        </p:txBody>
      </p:sp>
      <p:sp>
        <p:nvSpPr>
          <p:cNvPr id="17" name="Text 15"/>
          <p:cNvSpPr txBox="1"/>
          <p:nvPr/>
        </p:nvSpPr>
        <p:spPr>
          <a:xfrm>
            <a:off x="47548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Integración Temprana del</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Equipo Constructabilidad</a:t>
            </a:r>
            <a:endParaRPr lang="en-US" sz="950" dirty="0"/>
          </a:p>
        </p:txBody>
      </p:sp>
      <p:sp>
        <p:nvSpPr>
          <p:cNvPr id="18" name="Shape 16"/>
          <p:cNvSpPr/>
          <p:nvPr/>
        </p:nvSpPr>
        <p:spPr>
          <a:xfrm>
            <a:off x="365760" y="3803904"/>
            <a:ext cx="2103120" cy="914400"/>
          </a:xfrm>
          <a:prstGeom prst="roundRect">
            <a:avLst>
              <a:gd name="adj" fmla="val 7000"/>
            </a:avLst>
          </a:prstGeom>
          <a:solidFill>
            <a:srgbClr val="F4F4F4"/>
          </a:solidFill>
          <a:ln w="12700">
            <a:solidFill>
              <a:srgbClr val="30D158"/>
            </a:solidFill>
            <a:prstDash val="solid"/>
          </a:ln>
        </p:spPr>
      </p:sp>
      <p:sp>
        <p:nvSpPr>
          <p:cNvPr id="19" name="Text 17"/>
          <p:cNvSpPr txBox="1"/>
          <p:nvPr/>
        </p:nvSpPr>
        <p:spPr>
          <a:xfrm>
            <a:off x="47548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20" name="Text 18"/>
          <p:cNvSpPr txBox="1"/>
          <p:nvPr/>
        </p:nvSpPr>
        <p:spPr>
          <a:xfrm>
            <a:off x="47548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Planificación Avanzada</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Proyecto</a:t>
            </a:r>
            <a:endParaRPr lang="en-US" sz="950" dirty="0"/>
          </a:p>
        </p:txBody>
      </p:sp>
      <p:sp>
        <p:nvSpPr>
          <p:cNvPr id="21" name="Shape 19"/>
          <p:cNvSpPr/>
          <p:nvPr/>
        </p:nvSpPr>
        <p:spPr>
          <a:xfrm>
            <a:off x="365760" y="4855464"/>
            <a:ext cx="2103120" cy="914400"/>
          </a:xfrm>
          <a:prstGeom prst="roundRect">
            <a:avLst>
              <a:gd name="adj" fmla="val 7000"/>
            </a:avLst>
          </a:prstGeom>
          <a:solidFill>
            <a:srgbClr val="F4F4F4"/>
          </a:solidFill>
          <a:ln w="12700">
            <a:solidFill>
              <a:srgbClr val="30D158"/>
            </a:solidFill>
            <a:prstDash val="solid"/>
          </a:ln>
        </p:spPr>
      </p:sp>
      <p:sp>
        <p:nvSpPr>
          <p:cNvPr id="22" name="Text 20"/>
          <p:cNvSpPr txBox="1"/>
          <p:nvPr/>
        </p:nvSpPr>
        <p:spPr>
          <a:xfrm>
            <a:off x="475488" y="492861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I-4</a:t>
            </a:r>
            <a:endParaRPr lang="en-US" sz="1200" dirty="0"/>
          </a:p>
        </p:txBody>
      </p:sp>
      <p:sp>
        <p:nvSpPr>
          <p:cNvPr id="23" name="Text 21"/>
          <p:cNvSpPr txBox="1"/>
          <p:nvPr/>
        </p:nvSpPr>
        <p:spPr>
          <a:xfrm>
            <a:off x="47548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Experiencia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Contratistas Clave</a:t>
            </a:r>
            <a:endParaRPr lang="en-US" sz="950" dirty="0"/>
          </a:p>
        </p:txBody>
      </p:sp>
      <p:sp>
        <p:nvSpPr>
          <p:cNvPr id="24" name="Shape 22"/>
          <p:cNvSpPr/>
          <p:nvPr/>
        </p:nvSpPr>
        <p:spPr>
          <a:xfrm>
            <a:off x="2606040" y="1700784"/>
            <a:ext cx="2103120" cy="914400"/>
          </a:xfrm>
          <a:prstGeom prst="roundRect">
            <a:avLst>
              <a:gd name="adj" fmla="val 7000"/>
            </a:avLst>
          </a:prstGeom>
          <a:solidFill>
            <a:srgbClr val="F4F4F4"/>
          </a:solidFill>
          <a:ln w="12700">
            <a:solidFill>
              <a:srgbClr val="30D158"/>
            </a:solidFill>
            <a:prstDash val="solid"/>
          </a:ln>
        </p:spPr>
      </p:sp>
      <p:sp>
        <p:nvSpPr>
          <p:cNvPr id="25" name="Text 23"/>
          <p:cNvSpPr txBox="1"/>
          <p:nvPr/>
        </p:nvSpPr>
        <p:spPr>
          <a:xfrm>
            <a:off x="271576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I-5</a:t>
            </a:r>
            <a:endParaRPr lang="en-US" sz="1200" dirty="0"/>
          </a:p>
        </p:txBody>
      </p:sp>
      <p:sp>
        <p:nvSpPr>
          <p:cNvPr id="26" name="Text 24"/>
          <p:cNvSpPr txBox="1"/>
          <p:nvPr/>
        </p:nvSpPr>
        <p:spPr>
          <a:xfrm>
            <a:off x="271576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Factibilidad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Configuración del Proyecto</a:t>
            </a:r>
            <a:endParaRPr lang="en-US" sz="950" dirty="0"/>
          </a:p>
        </p:txBody>
      </p:sp>
      <p:sp>
        <p:nvSpPr>
          <p:cNvPr id="27" name="Shape 25"/>
          <p:cNvSpPr/>
          <p:nvPr/>
        </p:nvSpPr>
        <p:spPr>
          <a:xfrm>
            <a:off x="2606040" y="2752344"/>
            <a:ext cx="2103120" cy="914400"/>
          </a:xfrm>
          <a:prstGeom prst="roundRect">
            <a:avLst>
              <a:gd name="adj" fmla="val 7000"/>
            </a:avLst>
          </a:prstGeom>
          <a:solidFill>
            <a:srgbClr val="F4F4F4"/>
          </a:solidFill>
          <a:ln w="12700">
            <a:solidFill>
              <a:srgbClr val="30D158"/>
            </a:solidFill>
            <a:prstDash val="solid"/>
          </a:ln>
        </p:spPr>
      </p:sp>
      <p:sp>
        <p:nvSpPr>
          <p:cNvPr id="28" name="Text 26"/>
          <p:cNvSpPr txBox="1"/>
          <p:nvPr/>
        </p:nvSpPr>
        <p:spPr>
          <a:xfrm>
            <a:off x="271576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I-6</a:t>
            </a:r>
            <a:endParaRPr lang="en-US" sz="1200" dirty="0"/>
          </a:p>
        </p:txBody>
      </p:sp>
      <p:sp>
        <p:nvSpPr>
          <p:cNvPr id="29" name="Text 27"/>
          <p:cNvSpPr txBox="1"/>
          <p:nvPr/>
        </p:nvSpPr>
        <p:spPr>
          <a:xfrm>
            <a:off x="271576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Factibilidad de Métodos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y Secuencias</a:t>
            </a:r>
            <a:endParaRPr lang="en-US" sz="950" dirty="0"/>
          </a:p>
        </p:txBody>
      </p:sp>
      <p:sp>
        <p:nvSpPr>
          <p:cNvPr id="30" name="Shape 28"/>
          <p:cNvSpPr/>
          <p:nvPr/>
        </p:nvSpPr>
        <p:spPr>
          <a:xfrm>
            <a:off x="2606040" y="3803904"/>
            <a:ext cx="2103120" cy="914400"/>
          </a:xfrm>
          <a:prstGeom prst="roundRect">
            <a:avLst>
              <a:gd name="adj" fmla="val 7000"/>
            </a:avLst>
          </a:prstGeom>
          <a:solidFill>
            <a:srgbClr val="F4F4F4"/>
          </a:solidFill>
          <a:ln w="12700">
            <a:solidFill>
              <a:srgbClr val="30D158"/>
            </a:solidFill>
            <a:prstDash val="solid"/>
          </a:ln>
        </p:spPr>
      </p:sp>
      <p:sp>
        <p:nvSpPr>
          <p:cNvPr id="31" name="Text 29"/>
          <p:cNvSpPr txBox="1"/>
          <p:nvPr/>
        </p:nvSpPr>
        <p:spPr>
          <a:xfrm>
            <a:off x="271576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I-7</a:t>
            </a:r>
            <a:endParaRPr lang="en-US" sz="1200" dirty="0"/>
          </a:p>
        </p:txBody>
      </p:sp>
      <p:sp>
        <p:nvSpPr>
          <p:cNvPr id="32" name="Text 30"/>
          <p:cNvSpPr txBox="1"/>
          <p:nvPr/>
        </p:nvSpPr>
        <p:spPr>
          <a:xfrm>
            <a:off x="271576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Planificación y Comunicación</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 Tecnología de Información</a:t>
            </a:r>
            <a:endParaRPr lang="en-US" sz="950" dirty="0"/>
          </a:p>
        </p:txBody>
      </p:sp>
      <p:sp>
        <p:nvSpPr>
          <p:cNvPr id="33" name="Shape 31"/>
          <p:cNvSpPr/>
          <p:nvPr/>
        </p:nvSpPr>
        <p:spPr>
          <a:xfrm>
            <a:off x="2606040" y="4855464"/>
            <a:ext cx="2103120" cy="914400"/>
          </a:xfrm>
          <a:prstGeom prst="roundRect">
            <a:avLst>
              <a:gd name="adj" fmla="val 7000"/>
            </a:avLst>
          </a:prstGeom>
          <a:solidFill>
            <a:srgbClr val="F4F4F4"/>
          </a:solidFill>
          <a:ln w="12700">
            <a:solidFill>
              <a:srgbClr val="FF9500"/>
            </a:solidFill>
            <a:prstDash val="solid"/>
          </a:ln>
        </p:spPr>
      </p:sp>
      <p:sp>
        <p:nvSpPr>
          <p:cNvPr id="34" name="Text 32"/>
          <p:cNvSpPr txBox="1"/>
          <p:nvPr/>
        </p:nvSpPr>
        <p:spPr>
          <a:xfrm>
            <a:off x="271576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II-1</a:t>
            </a:r>
            <a:endParaRPr lang="en-US" sz="1200" dirty="0"/>
          </a:p>
        </p:txBody>
      </p:sp>
      <p:sp>
        <p:nvSpPr>
          <p:cNvPr id="35" name="Text 33"/>
          <p:cNvSpPr txBox="1"/>
          <p:nvPr/>
        </p:nvSpPr>
        <p:spPr>
          <a:xfrm>
            <a:off x="271576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Programación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Ingeniería Basada en Constr.</a:t>
            </a:r>
            <a:endParaRPr lang="en-US" sz="950" dirty="0"/>
          </a:p>
        </p:txBody>
      </p:sp>
      <p:sp>
        <p:nvSpPr>
          <p:cNvPr id="36" name="Shape 34"/>
          <p:cNvSpPr/>
          <p:nvPr/>
        </p:nvSpPr>
        <p:spPr>
          <a:xfrm>
            <a:off x="4846320" y="1700784"/>
            <a:ext cx="2103120" cy="914400"/>
          </a:xfrm>
          <a:prstGeom prst="roundRect">
            <a:avLst>
              <a:gd name="adj" fmla="val 7000"/>
            </a:avLst>
          </a:prstGeom>
          <a:solidFill>
            <a:srgbClr val="F4F4F4"/>
          </a:solidFill>
          <a:ln w="12700">
            <a:solidFill>
              <a:srgbClr val="FF9500"/>
            </a:solidFill>
            <a:prstDash val="solid"/>
          </a:ln>
        </p:spPr>
      </p:sp>
      <p:sp>
        <p:nvSpPr>
          <p:cNvPr id="37" name="Text 35"/>
          <p:cNvSpPr txBox="1"/>
          <p:nvPr/>
        </p:nvSpPr>
        <p:spPr>
          <a:xfrm>
            <a:off x="495604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II-2</a:t>
            </a:r>
            <a:endParaRPr lang="en-US" sz="1200" dirty="0"/>
          </a:p>
        </p:txBody>
      </p:sp>
      <p:sp>
        <p:nvSpPr>
          <p:cNvPr id="38" name="Text 36"/>
          <p:cNvSpPr txBox="1"/>
          <p:nvPr/>
        </p:nvSpPr>
        <p:spPr>
          <a:xfrm>
            <a:off x="495604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Innovación y Simplif.</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Diseño</a:t>
            </a:r>
            <a:endParaRPr lang="en-US" sz="950" dirty="0"/>
          </a:p>
        </p:txBody>
      </p:sp>
      <p:sp>
        <p:nvSpPr>
          <p:cNvPr id="39" name="Shape 37"/>
          <p:cNvSpPr/>
          <p:nvPr/>
        </p:nvSpPr>
        <p:spPr>
          <a:xfrm>
            <a:off x="4846320" y="2752344"/>
            <a:ext cx="2103120" cy="914400"/>
          </a:xfrm>
          <a:prstGeom prst="roundRect">
            <a:avLst>
              <a:gd name="adj" fmla="val 7000"/>
            </a:avLst>
          </a:prstGeom>
          <a:solidFill>
            <a:srgbClr val="F4F4F4"/>
          </a:solidFill>
          <a:ln w="12700">
            <a:solidFill>
              <a:srgbClr val="FF9500"/>
            </a:solidFill>
            <a:prstDash val="solid"/>
          </a:ln>
        </p:spPr>
      </p:sp>
      <p:sp>
        <p:nvSpPr>
          <p:cNvPr id="40" name="Text 38"/>
          <p:cNvSpPr txBox="1"/>
          <p:nvPr/>
        </p:nvSpPr>
        <p:spPr>
          <a:xfrm>
            <a:off x="495604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II-3</a:t>
            </a:r>
            <a:endParaRPr lang="en-US" sz="1200" dirty="0"/>
          </a:p>
        </p:txBody>
      </p:sp>
      <p:sp>
        <p:nvSpPr>
          <p:cNvPr id="41" name="Text 39"/>
          <p:cNvSpPr txBox="1"/>
          <p:nvPr/>
        </p:nvSpPr>
        <p:spPr>
          <a:xfrm>
            <a:off x="495604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Estandarización</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 Elementos</a:t>
            </a:r>
            <a:endParaRPr lang="en-US" sz="950" dirty="0"/>
          </a:p>
        </p:txBody>
      </p:sp>
      <p:sp>
        <p:nvSpPr>
          <p:cNvPr id="42" name="Shape 40"/>
          <p:cNvSpPr/>
          <p:nvPr/>
        </p:nvSpPr>
        <p:spPr>
          <a:xfrm>
            <a:off x="4846320" y="3803904"/>
            <a:ext cx="2103120" cy="914400"/>
          </a:xfrm>
          <a:prstGeom prst="roundRect">
            <a:avLst>
              <a:gd name="adj" fmla="val 7000"/>
            </a:avLst>
          </a:prstGeom>
          <a:solidFill>
            <a:srgbClr val="F4F4F4"/>
          </a:solidFill>
          <a:ln w="12700">
            <a:solidFill>
              <a:srgbClr val="FF9500"/>
            </a:solidFill>
            <a:prstDash val="solid"/>
          </a:ln>
        </p:spPr>
      </p:sp>
      <p:sp>
        <p:nvSpPr>
          <p:cNvPr id="43" name="Text 41"/>
          <p:cNvSpPr txBox="1"/>
          <p:nvPr/>
        </p:nvSpPr>
        <p:spPr>
          <a:xfrm>
            <a:off x="495604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II-4</a:t>
            </a:r>
            <a:endParaRPr lang="en-US" sz="1200" dirty="0"/>
          </a:p>
        </p:txBody>
      </p:sp>
      <p:sp>
        <p:nvSpPr>
          <p:cNvPr id="44" name="Text 42"/>
          <p:cNvSpPr txBox="1"/>
          <p:nvPr/>
        </p:nvSpPr>
        <p:spPr>
          <a:xfrm>
            <a:off x="495604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Pre-ensamble,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Modularización, Pre-fab</a:t>
            </a:r>
            <a:endParaRPr lang="en-US" sz="950" dirty="0"/>
          </a:p>
        </p:txBody>
      </p:sp>
      <p:sp>
        <p:nvSpPr>
          <p:cNvPr id="45" name="Shape 43"/>
          <p:cNvSpPr/>
          <p:nvPr/>
        </p:nvSpPr>
        <p:spPr>
          <a:xfrm>
            <a:off x="4846320" y="4855464"/>
            <a:ext cx="2103120" cy="914400"/>
          </a:xfrm>
          <a:prstGeom prst="roundRect">
            <a:avLst>
              <a:gd name="adj" fmla="val 7000"/>
            </a:avLst>
          </a:prstGeom>
          <a:solidFill>
            <a:srgbClr val="F4F4F4"/>
          </a:solidFill>
          <a:ln w="12700">
            <a:solidFill>
              <a:srgbClr val="FF9500"/>
            </a:solidFill>
            <a:prstDash val="solid"/>
          </a:ln>
        </p:spPr>
      </p:sp>
      <p:sp>
        <p:nvSpPr>
          <p:cNvPr id="46" name="Text 44"/>
          <p:cNvSpPr txBox="1"/>
          <p:nvPr/>
        </p:nvSpPr>
        <p:spPr>
          <a:xfrm>
            <a:off x="495604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II-5</a:t>
            </a:r>
            <a:endParaRPr lang="en-US" sz="1200" dirty="0"/>
          </a:p>
        </p:txBody>
      </p:sp>
      <p:sp>
        <p:nvSpPr>
          <p:cNvPr id="47" name="Text 45"/>
          <p:cNvSpPr txBox="1"/>
          <p:nvPr/>
        </p:nvSpPr>
        <p:spPr>
          <a:xfrm>
            <a:off x="495604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Condiciones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y Restricciones del Sitio</a:t>
            </a:r>
            <a:endParaRPr lang="en-US" sz="950" dirty="0"/>
          </a:p>
        </p:txBody>
      </p:sp>
      <p:sp>
        <p:nvSpPr>
          <p:cNvPr id="48" name="Shape 46"/>
          <p:cNvSpPr/>
          <p:nvPr/>
        </p:nvSpPr>
        <p:spPr>
          <a:xfrm>
            <a:off x="7086600" y="1700784"/>
            <a:ext cx="2103120" cy="914400"/>
          </a:xfrm>
          <a:prstGeom prst="roundRect">
            <a:avLst>
              <a:gd name="adj" fmla="val 7000"/>
            </a:avLst>
          </a:prstGeom>
          <a:solidFill>
            <a:srgbClr val="F4F4F4"/>
          </a:solidFill>
          <a:ln w="12700">
            <a:solidFill>
              <a:srgbClr val="FF9500"/>
            </a:solidFill>
            <a:prstDash val="solid"/>
          </a:ln>
        </p:spPr>
      </p:sp>
      <p:sp>
        <p:nvSpPr>
          <p:cNvPr id="49" name="Text 47"/>
          <p:cNvSpPr txBox="1"/>
          <p:nvPr/>
        </p:nvSpPr>
        <p:spPr>
          <a:xfrm>
            <a:off x="719632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II-6</a:t>
            </a:r>
            <a:endParaRPr lang="en-US" sz="1200" dirty="0"/>
          </a:p>
        </p:txBody>
      </p:sp>
      <p:sp>
        <p:nvSpPr>
          <p:cNvPr id="50" name="Text 48"/>
          <p:cNvSpPr txBox="1"/>
          <p:nvPr/>
        </p:nvSpPr>
        <p:spPr>
          <a:xfrm>
            <a:off x="719632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Acceso,</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Espacio y Tolerancias</a:t>
            </a:r>
            <a:endParaRPr lang="en-US" sz="950" dirty="0"/>
          </a:p>
        </p:txBody>
      </p:sp>
      <p:sp>
        <p:nvSpPr>
          <p:cNvPr id="51" name="Shape 49"/>
          <p:cNvSpPr/>
          <p:nvPr/>
        </p:nvSpPr>
        <p:spPr>
          <a:xfrm>
            <a:off x="7086600" y="2752344"/>
            <a:ext cx="2103120" cy="914400"/>
          </a:xfrm>
          <a:prstGeom prst="roundRect">
            <a:avLst>
              <a:gd name="adj" fmla="val 7000"/>
            </a:avLst>
          </a:prstGeom>
          <a:solidFill>
            <a:srgbClr val="F4F4F4"/>
          </a:solidFill>
          <a:ln w="12700">
            <a:solidFill>
              <a:srgbClr val="FF9500"/>
            </a:solidFill>
            <a:prstDash val="solid"/>
          </a:ln>
        </p:spPr>
      </p:sp>
      <p:sp>
        <p:nvSpPr>
          <p:cNvPr id="52" name="Text 50"/>
          <p:cNvSpPr txBox="1"/>
          <p:nvPr/>
        </p:nvSpPr>
        <p:spPr>
          <a:xfrm>
            <a:off x="719632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II-7</a:t>
            </a:r>
            <a:endParaRPr lang="en-US" sz="1200" dirty="0"/>
          </a:p>
        </p:txBody>
      </p:sp>
      <p:sp>
        <p:nvSpPr>
          <p:cNvPr id="53" name="Text 51"/>
          <p:cNvSpPr txBox="1"/>
          <p:nvPr/>
        </p:nvSpPr>
        <p:spPr>
          <a:xfrm>
            <a:off x="719632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Constructabilidad</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en Climas Adversos</a:t>
            </a:r>
            <a:endParaRPr lang="en-US" sz="950" dirty="0"/>
          </a:p>
        </p:txBody>
      </p:sp>
      <p:sp>
        <p:nvSpPr>
          <p:cNvPr id="54" name="Shape 52"/>
          <p:cNvSpPr/>
          <p:nvPr/>
        </p:nvSpPr>
        <p:spPr>
          <a:xfrm>
            <a:off x="7086600" y="3803904"/>
            <a:ext cx="2103120" cy="914400"/>
          </a:xfrm>
          <a:prstGeom prst="roundRect">
            <a:avLst>
              <a:gd name="adj" fmla="val 7000"/>
            </a:avLst>
          </a:prstGeom>
          <a:solidFill>
            <a:srgbClr val="F4F4F4"/>
          </a:solidFill>
          <a:ln w="12700">
            <a:solidFill>
              <a:srgbClr val="FF9500"/>
            </a:solidFill>
            <a:prstDash val="solid"/>
          </a:ln>
        </p:spPr>
      </p:sp>
      <p:sp>
        <p:nvSpPr>
          <p:cNvPr id="55" name="Text 53"/>
          <p:cNvSpPr txBox="1"/>
          <p:nvPr/>
        </p:nvSpPr>
        <p:spPr>
          <a:xfrm>
            <a:off x="719632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II-8</a:t>
            </a:r>
            <a:endParaRPr lang="en-US" sz="1200" dirty="0"/>
          </a:p>
        </p:txBody>
      </p:sp>
      <p:sp>
        <p:nvSpPr>
          <p:cNvPr id="56" name="Text 54"/>
          <p:cNvSpPr txBox="1"/>
          <p:nvPr/>
        </p:nvSpPr>
        <p:spPr>
          <a:xfrm>
            <a:off x="719632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Estrategia de Procura</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Influenciada por Constr.</a:t>
            </a:r>
            <a:endParaRPr lang="en-US" sz="950" dirty="0"/>
          </a:p>
        </p:txBody>
      </p:sp>
      <p:sp>
        <p:nvSpPr>
          <p:cNvPr id="57" name="Shape 55"/>
          <p:cNvSpPr/>
          <p:nvPr/>
        </p:nvSpPr>
        <p:spPr>
          <a:xfrm>
            <a:off x="7086600" y="4855464"/>
            <a:ext cx="2103120" cy="914400"/>
          </a:xfrm>
          <a:prstGeom prst="roundRect">
            <a:avLst>
              <a:gd name="adj" fmla="val 7000"/>
            </a:avLst>
          </a:prstGeom>
          <a:solidFill>
            <a:srgbClr val="F4F4F4"/>
          </a:solidFill>
          <a:ln w="12700">
            <a:solidFill>
              <a:srgbClr val="FF453A"/>
            </a:solidFill>
            <a:prstDash val="solid"/>
          </a:ln>
        </p:spPr>
      </p:sp>
      <p:sp>
        <p:nvSpPr>
          <p:cNvPr id="58" name="Text 56"/>
          <p:cNvSpPr txBox="1"/>
          <p:nvPr/>
        </p:nvSpPr>
        <p:spPr>
          <a:xfrm>
            <a:off x="7196328" y="492861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59" name="Text 57"/>
          <p:cNvSpPr txBox="1"/>
          <p:nvPr/>
        </p:nvSpPr>
        <p:spPr>
          <a:xfrm>
            <a:off x="719632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Innovadoras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Proceso de Campo</a:t>
            </a:r>
            <a:endParaRPr lang="en-US" sz="950" dirty="0"/>
          </a:p>
        </p:txBody>
      </p:sp>
      <p:sp>
        <p:nvSpPr>
          <p:cNvPr id="60" name="Shape 58"/>
          <p:cNvSpPr/>
          <p:nvPr/>
        </p:nvSpPr>
        <p:spPr>
          <a:xfrm>
            <a:off x="6675120" y="1700784"/>
            <a:ext cx="2103120" cy="914400"/>
          </a:xfrm>
          <a:prstGeom prst="roundRect">
            <a:avLst>
              <a:gd name="adj" fmla="val 7000"/>
            </a:avLst>
          </a:prstGeom>
          <a:solidFill>
            <a:srgbClr val="F4F4F4"/>
          </a:solidFill>
          <a:ln w="25400">
            <a:solidFill>
              <a:srgbClr val="FF453A"/>
            </a:solidFill>
            <a:prstDash val="solid"/>
          </a:ln>
        </p:spPr>
      </p:sp>
      <p:sp>
        <p:nvSpPr>
          <p:cNvPr id="61" name="Text 59"/>
          <p:cNvSpPr txBox="1"/>
          <p:nvPr/>
        </p:nvSpPr>
        <p:spPr>
          <a:xfrm>
            <a:off x="6784848" y="177393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62" name="Text 60"/>
          <p:cNvSpPr txBox="1"/>
          <p:nvPr/>
        </p:nvSpPr>
        <p:spPr>
          <a:xfrm>
            <a:off x="678484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Innovadoras del Proceso de Campo</a:t>
            </a:r>
            <a:endParaRPr lang="en-US" sz="950" dirty="0"/>
          </a:p>
        </p:txBody>
      </p:sp>
      <p:sp>
        <p:nvSpPr>
          <p:cNvPr id="63" name="Text 6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121</a:t>
            </a:r>
            <a:endParaRPr lang="en-US" sz="900" dirty="0"/>
          </a:p>
        </p:txBody>
      </p:sp>
      <p:pic xmlns:p="http://schemas.openxmlformats.org/presentationml/2006/main" xmlns:a="http://schemas.openxmlformats.org/drawingml/2006/main" xmlns:r="http://schemas.openxmlformats.org/officeDocument/2006/relationships">
        <p:nvPicPr>
          <p:cNvPr id="8121" name="SlideIcon8121"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Evolución Histórica de la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constructabilidad formal nació de la necesidad de reducir el enorme desperdicio de los proyectos de los 70s:</a:t>
            </a:r>
            <a:endParaRPr lang="en-US" sz="1300" dirty="0"/>
          </a:p>
        </p:txBody>
      </p:sp>
      <p:sp>
        <p:nvSpPr>
          <p:cNvPr id="6" name="Shape 4"/>
          <p:cNvSpPr/>
          <p:nvPr/>
        </p:nvSpPr>
        <p:spPr>
          <a:xfrm>
            <a:off x="365760" y="1517904"/>
            <a:ext cx="8412480" cy="18288"/>
          </a:xfrm>
          <a:prstGeom prst="rect">
            <a:avLst/>
          </a:prstGeom>
          <a:solidFill>
            <a:srgbClr val="EBEBEB"/>
          </a:solidFill>
          <a:ln/>
        </p:spPr>
      </p:sp>
      <p:sp>
        <p:nvSpPr>
          <p:cNvPr id="7" name="Shape 5"/>
          <p:cNvSpPr/>
          <p:nvPr/>
        </p:nvSpPr>
        <p:spPr>
          <a:xfrm>
            <a:off x="365760" y="1389888"/>
            <a:ext cx="777240" cy="347472"/>
          </a:xfrm>
          <a:prstGeom prst="roundRect">
            <a:avLst>
              <a:gd name="adj" fmla="val 13158"/>
            </a:avLst>
          </a:prstGeom>
          <a:solidFill>
            <a:srgbClr val="55577A"/>
          </a:solidFill>
          <a:ln/>
        </p:spPr>
      </p:sp>
      <p:sp>
        <p:nvSpPr>
          <p:cNvPr id="8" name="Text 6"/>
          <p:cNvSpPr txBox="1"/>
          <p:nvPr/>
        </p:nvSpPr>
        <p:spPr>
          <a:xfrm>
            <a:off x="384048" y="1417320"/>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1969</a:t>
            </a:r>
            <a:endParaRPr lang="en-US" sz="1100" dirty="0"/>
          </a:p>
        </p:txBody>
      </p:sp>
      <p:sp>
        <p:nvSpPr>
          <p:cNvPr id="9" name="Text 7"/>
          <p:cNvSpPr txBox="1"/>
          <p:nvPr/>
        </p:nvSpPr>
        <p:spPr>
          <a:xfrm>
            <a:off x="1261872" y="1417320"/>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 Army Corps of Engineers publica primeros estudios de "buildability" como concepto técnico formal</a:t>
            </a:r>
            <a:endParaRPr lang="en-US" sz="1100" dirty="0"/>
          </a:p>
        </p:txBody>
      </p:sp>
      <p:sp>
        <p:nvSpPr>
          <p:cNvPr id="10" name="Shape 8"/>
          <p:cNvSpPr/>
          <p:nvPr/>
        </p:nvSpPr>
        <p:spPr>
          <a:xfrm>
            <a:off x="365760" y="2139696"/>
            <a:ext cx="8412480" cy="18288"/>
          </a:xfrm>
          <a:prstGeom prst="rect">
            <a:avLst/>
          </a:prstGeom>
          <a:solidFill>
            <a:srgbClr val="EBEBEB"/>
          </a:solidFill>
          <a:ln/>
        </p:spPr>
      </p:sp>
      <p:sp>
        <p:nvSpPr>
          <p:cNvPr id="11" name="Shape 9"/>
          <p:cNvSpPr/>
          <p:nvPr/>
        </p:nvSpPr>
        <p:spPr>
          <a:xfrm>
            <a:off x="365760" y="2011680"/>
            <a:ext cx="777240" cy="347472"/>
          </a:xfrm>
          <a:prstGeom prst="roundRect">
            <a:avLst>
              <a:gd name="adj" fmla="val 13158"/>
            </a:avLst>
          </a:prstGeom>
          <a:solidFill>
            <a:srgbClr val="64D2FF"/>
          </a:solidFill>
          <a:ln/>
        </p:spPr>
      </p:sp>
      <p:sp>
        <p:nvSpPr>
          <p:cNvPr id="12" name="Text 10"/>
          <p:cNvSpPr txBox="1"/>
          <p:nvPr/>
        </p:nvSpPr>
        <p:spPr>
          <a:xfrm>
            <a:off x="384048" y="2039112"/>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1979</a:t>
            </a:r>
            <a:endParaRPr lang="en-US" sz="1100" dirty="0"/>
          </a:p>
        </p:txBody>
      </p:sp>
      <p:sp>
        <p:nvSpPr>
          <p:cNvPr id="13" name="Text 11"/>
          <p:cNvSpPr txBox="1"/>
          <p:nvPr/>
        </p:nvSpPr>
        <p:spPr>
          <a:xfrm>
            <a:off x="1261872" y="2039112"/>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CIRIA (UK) publica "Buildability: an assessment" — primera guía práctica sobre constructabilidad en Europa</a:t>
            </a:r>
            <a:endParaRPr lang="en-US" sz="1100" dirty="0"/>
          </a:p>
        </p:txBody>
      </p:sp>
      <p:sp>
        <p:nvSpPr>
          <p:cNvPr id="14" name="Shape 12"/>
          <p:cNvSpPr/>
          <p:nvPr/>
        </p:nvSpPr>
        <p:spPr>
          <a:xfrm>
            <a:off x="365760" y="2761488"/>
            <a:ext cx="8412480" cy="18288"/>
          </a:xfrm>
          <a:prstGeom prst="rect">
            <a:avLst/>
          </a:prstGeom>
          <a:solidFill>
            <a:srgbClr val="EBEBEB"/>
          </a:solidFill>
          <a:ln/>
        </p:spPr>
      </p:sp>
      <p:sp>
        <p:nvSpPr>
          <p:cNvPr id="15" name="Shape 13"/>
          <p:cNvSpPr/>
          <p:nvPr/>
        </p:nvSpPr>
        <p:spPr>
          <a:xfrm>
            <a:off x="365760" y="2633472"/>
            <a:ext cx="777240" cy="347472"/>
          </a:xfrm>
          <a:prstGeom prst="roundRect">
            <a:avLst>
              <a:gd name="adj" fmla="val 13158"/>
            </a:avLst>
          </a:prstGeom>
          <a:solidFill>
            <a:srgbClr val="0A84FF"/>
          </a:solidFill>
          <a:ln/>
        </p:spPr>
      </p:sp>
      <p:sp>
        <p:nvSpPr>
          <p:cNvPr id="16" name="Text 14"/>
          <p:cNvSpPr txBox="1"/>
          <p:nvPr/>
        </p:nvSpPr>
        <p:spPr>
          <a:xfrm>
            <a:off x="384048" y="2660904"/>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1983</a:t>
            </a:r>
            <a:endParaRPr lang="en-US" sz="1100" dirty="0"/>
          </a:p>
        </p:txBody>
      </p:sp>
      <p:sp>
        <p:nvSpPr>
          <p:cNvPr id="17" name="Text 15"/>
          <p:cNvSpPr txBox="1"/>
          <p:nvPr/>
        </p:nvSpPr>
        <p:spPr>
          <a:xfrm>
            <a:off x="1261872" y="2660904"/>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se funda en la Universidad de Texas en Austin con el mandato de mejorar los proyectos de capital</a:t>
            </a:r>
            <a:endParaRPr lang="en-US" sz="1100" dirty="0"/>
          </a:p>
        </p:txBody>
      </p:sp>
      <p:sp>
        <p:nvSpPr>
          <p:cNvPr id="18" name="Shape 16"/>
          <p:cNvSpPr/>
          <p:nvPr/>
        </p:nvSpPr>
        <p:spPr>
          <a:xfrm>
            <a:off x="365760" y="3383280"/>
            <a:ext cx="8412480" cy="18288"/>
          </a:xfrm>
          <a:prstGeom prst="rect">
            <a:avLst/>
          </a:prstGeom>
          <a:solidFill>
            <a:srgbClr val="EBEBEB"/>
          </a:solidFill>
          <a:ln/>
        </p:spPr>
      </p:sp>
      <p:sp>
        <p:nvSpPr>
          <p:cNvPr id="19" name="Shape 17"/>
          <p:cNvSpPr/>
          <p:nvPr/>
        </p:nvSpPr>
        <p:spPr>
          <a:xfrm>
            <a:off x="365760" y="3255264"/>
            <a:ext cx="777240" cy="347472"/>
          </a:xfrm>
          <a:prstGeom prst="roundRect">
            <a:avLst>
              <a:gd name="adj" fmla="val 13158"/>
            </a:avLst>
          </a:prstGeom>
          <a:solidFill>
            <a:srgbClr val="30D158"/>
          </a:solidFill>
          <a:ln/>
        </p:spPr>
      </p:sp>
      <p:sp>
        <p:nvSpPr>
          <p:cNvPr id="20" name="Text 18"/>
          <p:cNvSpPr txBox="1"/>
          <p:nvPr/>
        </p:nvSpPr>
        <p:spPr>
          <a:xfrm>
            <a:off x="384048" y="3282696"/>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1986</a:t>
            </a:r>
            <a:endParaRPr lang="en-US" sz="1100" dirty="0"/>
          </a:p>
        </p:txBody>
      </p:sp>
      <p:sp>
        <p:nvSpPr>
          <p:cNvPr id="21" name="Text 19"/>
          <p:cNvSpPr txBox="1"/>
          <p:nvPr/>
        </p:nvSpPr>
        <p:spPr>
          <a:xfrm>
            <a:off x="1261872" y="3282696"/>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publica la definición canónica de Constructabilidad en Publication 3-1 (CII Primer)</a:t>
            </a:r>
            <a:endParaRPr lang="en-US" sz="1100" dirty="0"/>
          </a:p>
        </p:txBody>
      </p:sp>
      <p:sp>
        <p:nvSpPr>
          <p:cNvPr id="22" name="Shape 20"/>
          <p:cNvSpPr/>
          <p:nvPr/>
        </p:nvSpPr>
        <p:spPr>
          <a:xfrm>
            <a:off x="365760" y="4005072"/>
            <a:ext cx="8412480" cy="18288"/>
          </a:xfrm>
          <a:prstGeom prst="rect">
            <a:avLst/>
          </a:prstGeom>
          <a:solidFill>
            <a:srgbClr val="EBEBEB"/>
          </a:solidFill>
          <a:ln/>
        </p:spPr>
      </p:sp>
      <p:sp>
        <p:nvSpPr>
          <p:cNvPr id="23" name="Shape 21"/>
          <p:cNvSpPr/>
          <p:nvPr/>
        </p:nvSpPr>
        <p:spPr>
          <a:xfrm>
            <a:off x="365760" y="3877056"/>
            <a:ext cx="777240" cy="347472"/>
          </a:xfrm>
          <a:prstGeom prst="roundRect">
            <a:avLst>
              <a:gd name="adj" fmla="val 13158"/>
            </a:avLst>
          </a:prstGeom>
          <a:solidFill>
            <a:srgbClr val="FF9500"/>
          </a:solidFill>
          <a:ln/>
        </p:spPr>
      </p:sp>
      <p:sp>
        <p:nvSpPr>
          <p:cNvPr id="24" name="Text 22"/>
          <p:cNvSpPr txBox="1"/>
          <p:nvPr/>
        </p:nvSpPr>
        <p:spPr>
          <a:xfrm>
            <a:off x="384048" y="3904488"/>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1993</a:t>
            </a:r>
            <a:endParaRPr lang="en-US" sz="1100" dirty="0"/>
          </a:p>
        </p:txBody>
      </p:sp>
      <p:sp>
        <p:nvSpPr>
          <p:cNvPr id="25" name="Text 23"/>
          <p:cNvSpPr txBox="1"/>
          <p:nvPr/>
        </p:nvSpPr>
        <p:spPr>
          <a:xfrm>
            <a:off x="1261872" y="3904488"/>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lanza SP 34-1 — la guía de implementación más completa jamás publicada (19 herramientas)</a:t>
            </a:r>
            <a:endParaRPr lang="en-US" sz="1100" dirty="0"/>
          </a:p>
        </p:txBody>
      </p:sp>
      <p:sp>
        <p:nvSpPr>
          <p:cNvPr id="26" name="Shape 24"/>
          <p:cNvSpPr/>
          <p:nvPr/>
        </p:nvSpPr>
        <p:spPr>
          <a:xfrm>
            <a:off x="365760" y="4626864"/>
            <a:ext cx="8412480" cy="18288"/>
          </a:xfrm>
          <a:prstGeom prst="rect">
            <a:avLst/>
          </a:prstGeom>
          <a:solidFill>
            <a:srgbClr val="EBEBEB"/>
          </a:solidFill>
          <a:ln/>
        </p:spPr>
      </p:sp>
      <p:sp>
        <p:nvSpPr>
          <p:cNvPr id="27" name="Shape 25"/>
          <p:cNvSpPr/>
          <p:nvPr/>
        </p:nvSpPr>
        <p:spPr>
          <a:xfrm>
            <a:off x="365760" y="4498848"/>
            <a:ext cx="777240" cy="347472"/>
          </a:xfrm>
          <a:prstGeom prst="roundRect">
            <a:avLst>
              <a:gd name="adj" fmla="val 13158"/>
            </a:avLst>
          </a:prstGeom>
          <a:solidFill>
            <a:srgbClr val="FFD60A"/>
          </a:solidFill>
          <a:ln/>
        </p:spPr>
      </p:sp>
      <p:sp>
        <p:nvSpPr>
          <p:cNvPr id="28" name="Text 26"/>
          <p:cNvSpPr txBox="1"/>
          <p:nvPr/>
        </p:nvSpPr>
        <p:spPr>
          <a:xfrm>
            <a:off x="384048" y="4526280"/>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2000s</a:t>
            </a:r>
            <a:endParaRPr lang="en-US" sz="1100" dirty="0"/>
          </a:p>
        </p:txBody>
      </p:sp>
      <p:sp>
        <p:nvSpPr>
          <p:cNvPr id="29" name="Text 27"/>
          <p:cNvSpPr txBox="1"/>
          <p:nvPr/>
        </p:nvSpPr>
        <p:spPr>
          <a:xfrm>
            <a:off x="1261872" y="4526280"/>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Integración de constructabilidad con BIM: los modelos 3D permiten revisiones visuales constructivas</a:t>
            </a:r>
            <a:endParaRPr lang="en-US" sz="1100" dirty="0"/>
          </a:p>
        </p:txBody>
      </p:sp>
      <p:sp>
        <p:nvSpPr>
          <p:cNvPr id="30" name="Shape 28"/>
          <p:cNvSpPr/>
          <p:nvPr/>
        </p:nvSpPr>
        <p:spPr>
          <a:xfrm>
            <a:off x="365760" y="5248656"/>
            <a:ext cx="8412480" cy="18288"/>
          </a:xfrm>
          <a:prstGeom prst="rect">
            <a:avLst/>
          </a:prstGeom>
          <a:solidFill>
            <a:srgbClr val="EBEBEB"/>
          </a:solidFill>
          <a:ln/>
        </p:spPr>
      </p:sp>
      <p:sp>
        <p:nvSpPr>
          <p:cNvPr id="31" name="Shape 29"/>
          <p:cNvSpPr/>
          <p:nvPr/>
        </p:nvSpPr>
        <p:spPr>
          <a:xfrm>
            <a:off x="365760" y="5120640"/>
            <a:ext cx="777240" cy="347472"/>
          </a:xfrm>
          <a:prstGeom prst="roundRect">
            <a:avLst>
              <a:gd name="adj" fmla="val 13158"/>
            </a:avLst>
          </a:prstGeom>
          <a:solidFill>
            <a:srgbClr val="AF52DE"/>
          </a:solidFill>
          <a:ln/>
        </p:spPr>
      </p:sp>
      <p:sp>
        <p:nvSpPr>
          <p:cNvPr id="32" name="Text 30"/>
          <p:cNvSpPr txBox="1"/>
          <p:nvPr/>
        </p:nvSpPr>
        <p:spPr>
          <a:xfrm>
            <a:off x="384048" y="5148072"/>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2010s</a:t>
            </a:r>
            <a:endParaRPr lang="en-US" sz="1100" dirty="0"/>
          </a:p>
        </p:txBody>
      </p:sp>
      <p:sp>
        <p:nvSpPr>
          <p:cNvPr id="33" name="Text 31"/>
          <p:cNvSpPr txBox="1"/>
          <p:nvPr/>
        </p:nvSpPr>
        <p:spPr>
          <a:xfrm>
            <a:off x="1261872" y="5148072"/>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AWP emerge como metodología de ejecución: implementa constructabilidad sistemáticamente en campo</a:t>
            </a:r>
            <a:endParaRPr lang="en-US" sz="1100" dirty="0"/>
          </a:p>
        </p:txBody>
      </p:sp>
      <p:sp>
        <p:nvSpPr>
          <p:cNvPr id="34" name="Shape 32"/>
          <p:cNvSpPr/>
          <p:nvPr/>
        </p:nvSpPr>
        <p:spPr>
          <a:xfrm>
            <a:off x="365760" y="5870448"/>
            <a:ext cx="8412480" cy="18288"/>
          </a:xfrm>
          <a:prstGeom prst="rect">
            <a:avLst/>
          </a:prstGeom>
          <a:solidFill>
            <a:srgbClr val="EBEBEB"/>
          </a:solidFill>
          <a:ln/>
        </p:spPr>
      </p:sp>
      <p:sp>
        <p:nvSpPr>
          <p:cNvPr id="35" name="Shape 33"/>
          <p:cNvSpPr/>
          <p:nvPr/>
        </p:nvSpPr>
        <p:spPr>
          <a:xfrm>
            <a:off x="365760" y="5742432"/>
            <a:ext cx="777240" cy="347472"/>
          </a:xfrm>
          <a:prstGeom prst="roundRect">
            <a:avLst>
              <a:gd name="adj" fmla="val 13158"/>
            </a:avLst>
          </a:prstGeom>
          <a:solidFill>
            <a:srgbClr val="FF453A"/>
          </a:solidFill>
          <a:ln/>
        </p:spPr>
      </p:sp>
      <p:sp>
        <p:nvSpPr>
          <p:cNvPr id="36" name="Text 34"/>
          <p:cNvSpPr txBox="1"/>
          <p:nvPr/>
        </p:nvSpPr>
        <p:spPr>
          <a:xfrm>
            <a:off x="384048" y="5769864"/>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2020s</a:t>
            </a:r>
            <a:endParaRPr lang="en-US" sz="1100" dirty="0"/>
          </a:p>
        </p:txBody>
      </p:sp>
      <p:sp>
        <p:nvSpPr>
          <p:cNvPr id="37" name="Text 35"/>
          <p:cNvSpPr txBox="1"/>
          <p:nvPr/>
        </p:nvSpPr>
        <p:spPr>
          <a:xfrm>
            <a:off x="1261872" y="5769864"/>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Digital Twin y AR transforman constructabilidad: simulaciones en tiempo real y ML predictivo</a:t>
            </a:r>
            <a:endParaRPr lang="en-US" sz="11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122</a:t>
            </a:r>
            <a:endParaRPr lang="en-US" sz="900" dirty="0"/>
          </a:p>
        </p:txBody>
      </p:sp>
      <p:pic xmlns:p="http://schemas.openxmlformats.org/presentationml/2006/main" xmlns:a="http://schemas.openxmlformats.org/drawingml/2006/main" xmlns:r="http://schemas.openxmlformats.org/officeDocument/2006/relationships">
        <p:nvPicPr>
          <p:cNvPr id="8122" name="SlideIcon8122"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Preguntas Frecuentes sobre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Shape 3"/>
          <p:cNvSpPr/>
          <p:nvPr/>
        </p:nvSpPr>
        <p:spPr>
          <a:xfrm>
            <a:off x="365760" y="960120"/>
            <a:ext cx="8412480" cy="987552"/>
          </a:xfrm>
          <a:prstGeom prst="roundRect">
            <a:avLst>
              <a:gd name="adj" fmla="val 7407"/>
            </a:avLst>
          </a:prstGeom>
          <a:solidFill>
            <a:srgbClr val="F4F4F4"/>
          </a:solidFill>
          <a:ln w="12700">
            <a:solidFill>
              <a:srgbClr val="EBEBEB"/>
            </a:solidFill>
            <a:prstDash val="solid"/>
          </a:ln>
        </p:spPr>
      </p:sp>
      <p:sp>
        <p:nvSpPr>
          <p:cNvPr id="6" name="Text 4"/>
          <p:cNvSpPr txBox="1"/>
          <p:nvPr/>
        </p:nvSpPr>
        <p:spPr>
          <a:xfrm>
            <a:off x="548640" y="1033272"/>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¿Cuál es la diferencia entre constructabilidad y Value Engineering?</a:t>
            </a:r>
            <a:endParaRPr lang="en-US" sz="1200" dirty="0"/>
          </a:p>
        </p:txBody>
      </p:sp>
      <p:sp>
        <p:nvSpPr>
          <p:cNvPr id="7" name="Text 5"/>
          <p:cNvSpPr txBox="1"/>
          <p:nvPr/>
        </p:nvSpPr>
        <p:spPr>
          <a:xfrm>
            <a:off x="548640" y="1399032"/>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VE elimina costo sin perder función — puede aplicarse a cualquier etapa. Constructabilidad optimiza cómo se ejecuta el proyecto. Son complementarias, pero constructabilidad influye más en el costo total al actuar antes.</a:t>
            </a:r>
            <a:endParaRPr lang="en-US" sz="1100" dirty="0"/>
          </a:p>
        </p:txBody>
      </p:sp>
      <p:sp>
        <p:nvSpPr>
          <p:cNvPr id="8" name="Shape 6"/>
          <p:cNvSpPr/>
          <p:nvPr/>
        </p:nvSpPr>
        <p:spPr>
          <a:xfrm>
            <a:off x="365760" y="2075688"/>
            <a:ext cx="8412480" cy="987552"/>
          </a:xfrm>
          <a:prstGeom prst="roundRect">
            <a:avLst>
              <a:gd name="adj" fmla="val 7407"/>
            </a:avLst>
          </a:prstGeom>
          <a:solidFill>
            <a:srgbClr val="F4F4F4"/>
          </a:solidFill>
          <a:ln w="12700">
            <a:solidFill>
              <a:srgbClr val="EBEBEB"/>
            </a:solidFill>
            <a:prstDash val="solid"/>
          </a:ln>
        </p:spPr>
      </p:sp>
      <p:sp>
        <p:nvSpPr>
          <p:cNvPr id="9" name="Text 7"/>
          <p:cNvSpPr txBox="1"/>
          <p:nvPr/>
        </p:nvSpPr>
        <p:spPr>
          <a:xfrm>
            <a:off x="548640" y="2148840"/>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¿Cuánto cuesta implementar un programa de constructabilidad?</a:t>
            </a:r>
            <a:endParaRPr lang="en-US" sz="1200" dirty="0"/>
          </a:p>
        </p:txBody>
      </p:sp>
      <p:sp>
        <p:nvSpPr>
          <p:cNvPr id="10" name="Text 8"/>
          <p:cNvSpPr txBox="1"/>
          <p:nvPr/>
        </p:nvSpPr>
        <p:spPr>
          <a:xfrm>
            <a:off x="548640" y="2514600"/>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Típicamente 0.2 a 0.5% del costo total del proyecto. Con un ROI documentado por CII de 10:1 a 40:1, es una de las inversiones de mayor retorno disponibles en gestión de proyectos.</a:t>
            </a:r>
            <a:endParaRPr lang="en-US" sz="1100" dirty="0"/>
          </a:p>
        </p:txBody>
      </p:sp>
      <p:sp>
        <p:nvSpPr>
          <p:cNvPr id="11" name="Shape 9"/>
          <p:cNvSpPr/>
          <p:nvPr/>
        </p:nvSpPr>
        <p:spPr>
          <a:xfrm>
            <a:off x="365760" y="3191256"/>
            <a:ext cx="8412480" cy="987552"/>
          </a:xfrm>
          <a:prstGeom prst="roundRect">
            <a:avLst>
              <a:gd name="adj" fmla="val 7407"/>
            </a:avLst>
          </a:prstGeom>
          <a:solidFill>
            <a:srgbClr val="F4F4F4"/>
          </a:solidFill>
          <a:ln w="12700">
            <a:solidFill>
              <a:srgbClr val="EBEBEB"/>
            </a:solidFill>
            <a:prstDash val="solid"/>
          </a:ln>
        </p:spPr>
      </p:sp>
      <p:sp>
        <p:nvSpPr>
          <p:cNvPr id="12" name="Text 10"/>
          <p:cNvSpPr txBox="1"/>
          <p:nvPr/>
        </p:nvSpPr>
        <p:spPr>
          <a:xfrm>
            <a:off x="548640" y="3264408"/>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¿Aplica constructabilidad a proyectos pequeños?</a:t>
            </a:r>
            <a:endParaRPr lang="en-US" sz="1200" dirty="0"/>
          </a:p>
        </p:txBody>
      </p:sp>
      <p:sp>
        <p:nvSpPr>
          <p:cNvPr id="13" name="Text 11"/>
          <p:cNvSpPr txBox="1"/>
          <p:nvPr/>
        </p:nvSpPr>
        <p:spPr>
          <a:xfrm>
            <a:off x="548640" y="3630168"/>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Sí, aunque con herramientas simplificadas. CII documenta constructabilidad para proyectos desde $5M. Para proyectos menores, checklists y una revisión informal por CM experimentado capturan el 80% del valor.</a:t>
            </a:r>
            <a:endParaRPr lang="en-US" sz="1100" dirty="0"/>
          </a:p>
        </p:txBody>
      </p:sp>
      <p:sp>
        <p:nvSpPr>
          <p:cNvPr id="14" name="Shape 12"/>
          <p:cNvSpPr/>
          <p:nvPr/>
        </p:nvSpPr>
        <p:spPr>
          <a:xfrm>
            <a:off x="365760" y="4306824"/>
            <a:ext cx="8412480" cy="987552"/>
          </a:xfrm>
          <a:prstGeom prst="roundRect">
            <a:avLst>
              <a:gd name="adj" fmla="val 7407"/>
            </a:avLst>
          </a:prstGeom>
          <a:solidFill>
            <a:srgbClr val="F4F4F4"/>
          </a:solidFill>
          <a:ln w="12700">
            <a:solidFill>
              <a:srgbClr val="EBEBEB"/>
            </a:solidFill>
            <a:prstDash val="solid"/>
          </a:ln>
        </p:spPr>
      </p:sp>
      <p:sp>
        <p:nvSpPr>
          <p:cNvPr id="15" name="Text 13"/>
          <p:cNvSpPr txBox="1"/>
          <p:nvPr/>
        </p:nvSpPr>
        <p:spPr>
          <a:xfrm>
            <a:off x="548640" y="4379976"/>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¿Qué pasa si el contratista de construcción no es conocido en diseño?</a:t>
            </a:r>
            <a:endParaRPr lang="en-US" sz="1200" dirty="0"/>
          </a:p>
        </p:txBody>
      </p:sp>
      <p:sp>
        <p:nvSpPr>
          <p:cNvPr id="16" name="Text 14"/>
          <p:cNvSpPr txBox="1"/>
          <p:nvPr/>
        </p:nvSpPr>
        <p:spPr>
          <a:xfrm>
            <a:off x="548640" y="4745736"/>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Se puede contratar a un Independent Construction Reviewer o usar el historial de LLDB corporativa. CII también ofrece benchmarks de constructabilidad por tipo de proyecto para el Owner.</a:t>
            </a:r>
            <a:endParaRPr lang="en-US" sz="1100" dirty="0"/>
          </a:p>
        </p:txBody>
      </p:sp>
      <p:sp>
        <p:nvSpPr>
          <p:cNvPr id="17" name="Shape 15"/>
          <p:cNvSpPr/>
          <p:nvPr/>
        </p:nvSpPr>
        <p:spPr>
          <a:xfrm>
            <a:off x="365760" y="5422392"/>
            <a:ext cx="8412480" cy="987552"/>
          </a:xfrm>
          <a:prstGeom prst="roundRect">
            <a:avLst>
              <a:gd name="adj" fmla="val 7407"/>
            </a:avLst>
          </a:prstGeom>
          <a:solidFill>
            <a:srgbClr val="F4F4F4"/>
          </a:solidFill>
          <a:ln w="12700">
            <a:solidFill>
              <a:srgbClr val="EBEBEB"/>
            </a:solidFill>
            <a:prstDash val="solid"/>
          </a:ln>
        </p:spPr>
      </p:sp>
      <p:sp>
        <p:nvSpPr>
          <p:cNvPr id="18" name="Text 16"/>
          <p:cNvSpPr txBox="1"/>
          <p:nvPr/>
        </p:nvSpPr>
        <p:spPr>
          <a:xfrm>
            <a:off x="548640" y="5495544"/>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¿Cómo medir si una revisión de constructabilidad fue exitosa?</a:t>
            </a:r>
            <a:endParaRPr lang="en-US" sz="1200" dirty="0"/>
          </a:p>
        </p:txBody>
      </p:sp>
      <p:sp>
        <p:nvSpPr>
          <p:cNvPr id="19" name="Text 17"/>
          <p:cNvSpPr txBox="1"/>
          <p:nvPr/>
        </p:nvSpPr>
        <p:spPr>
          <a:xfrm>
            <a:off x="548640" y="5861304"/>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Por número de ideas generadas, porcentaje implementadas, ahorro documentado, y tiempo de revisión. Una revisión que genera 0 ideas probablemente fue poco profunda.</a:t>
            </a:r>
            <a:endParaRPr lang="en-US" sz="11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123</a:t>
            </a:r>
            <a:endParaRPr lang="en-US" sz="900" dirty="0"/>
          </a:p>
        </p:txBody>
      </p:sp>
      <p:pic xmlns:p="http://schemas.openxmlformats.org/presentationml/2006/main" xmlns:a="http://schemas.openxmlformats.org/drawingml/2006/main" xmlns:r="http://schemas.openxmlformats.org/officeDocument/2006/relationships">
        <p:nvPicPr>
          <p:cNvPr id="8123" name="SlideIcon8123"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Benchmarking: Promedio Industria vs. Mejores Prácticas CII</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datos de CII muestran la brecha entre proyectos típicos y proyectos con constructabilidad madura:</a:t>
            </a:r>
            <a:endParaRPr lang="en-US" sz="1300" dirty="0"/>
          </a:p>
        </p:txBody>
      </p:sp>
      <p:sp>
        <p:nvSpPr>
          <p:cNvPr id="6" name="Shape 4"/>
          <p:cNvSpPr/>
          <p:nvPr/>
        </p:nvSpPr>
        <p:spPr>
          <a:xfrm>
            <a:off x="365760" y="1298448"/>
            <a:ext cx="8412480" cy="502920"/>
          </a:xfrm>
          <a:prstGeom prst="rect">
            <a:avLst/>
          </a:prstGeom>
          <a:solidFill>
            <a:srgbClr val="EBEBEB"/>
          </a:solidFill>
          <a:ln/>
        </p:spPr>
      </p:sp>
      <p:sp>
        <p:nvSpPr>
          <p:cNvPr id="7" name="Text 5"/>
          <p:cNvSpPr txBox="1"/>
          <p:nvPr/>
        </p:nvSpPr>
        <p:spPr>
          <a:xfrm>
            <a:off x="502920" y="1408176"/>
            <a:ext cx="201168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Indicador</a:t>
            </a:r>
            <a:endParaRPr lang="en-US" sz="1100" dirty="0"/>
          </a:p>
        </p:txBody>
      </p:sp>
      <p:sp>
        <p:nvSpPr>
          <p:cNvPr id="8" name="Text 6"/>
          <p:cNvSpPr txBox="1"/>
          <p:nvPr/>
        </p:nvSpPr>
        <p:spPr>
          <a:xfrm>
            <a:off x="2606040" y="1408176"/>
            <a:ext cx="219456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Promedio Industria</a:t>
            </a:r>
            <a:endParaRPr lang="en-US" sz="1100" dirty="0"/>
          </a:p>
        </p:txBody>
      </p:sp>
      <p:sp>
        <p:nvSpPr>
          <p:cNvPr id="9" name="Text 7"/>
          <p:cNvSpPr txBox="1"/>
          <p:nvPr/>
        </p:nvSpPr>
        <p:spPr>
          <a:xfrm>
            <a:off x="4892040" y="1408176"/>
            <a:ext cx="228600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Con Constructabilidad CII</a:t>
            </a:r>
            <a:endParaRPr lang="en-US" sz="1100" dirty="0"/>
          </a:p>
        </p:txBody>
      </p:sp>
      <p:sp>
        <p:nvSpPr>
          <p:cNvPr id="10" name="Text 8"/>
          <p:cNvSpPr txBox="1"/>
          <p:nvPr/>
        </p:nvSpPr>
        <p:spPr>
          <a:xfrm>
            <a:off x="7269480" y="1408176"/>
            <a:ext cx="1371600" cy="292608"/>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Mejora</a:t>
            </a:r>
            <a:endParaRPr lang="en-US" sz="1100" dirty="0"/>
          </a:p>
        </p:txBody>
      </p:sp>
      <p:sp>
        <p:nvSpPr>
          <p:cNvPr id="11" name="Shape 9"/>
          <p:cNvSpPr/>
          <p:nvPr/>
        </p:nvSpPr>
        <p:spPr>
          <a:xfrm>
            <a:off x="365760" y="1865376"/>
            <a:ext cx="8412480" cy="502920"/>
          </a:xfrm>
          <a:prstGeom prst="rect">
            <a:avLst/>
          </a:prstGeom>
          <a:solidFill>
            <a:srgbClr val="EBEBEB"/>
          </a:solidFill>
          <a:ln/>
        </p:spPr>
      </p:sp>
      <p:sp>
        <p:nvSpPr>
          <p:cNvPr id="12" name="Text 10"/>
          <p:cNvSpPr txBox="1"/>
          <p:nvPr/>
        </p:nvSpPr>
        <p:spPr>
          <a:xfrm>
            <a:off x="502920" y="1975104"/>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Desviación de Costo</a:t>
            </a:r>
            <a:endParaRPr lang="en-US" sz="1100" dirty="0"/>
          </a:p>
        </p:txBody>
      </p:sp>
      <p:sp>
        <p:nvSpPr>
          <p:cNvPr id="13" name="Text 11"/>
          <p:cNvSpPr txBox="1"/>
          <p:nvPr/>
        </p:nvSpPr>
        <p:spPr>
          <a:xfrm>
            <a:off x="2606040" y="197510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+20 a +35%</a:t>
            </a:r>
            <a:endParaRPr lang="en-US" sz="1100" dirty="0"/>
          </a:p>
        </p:txBody>
      </p:sp>
      <p:sp>
        <p:nvSpPr>
          <p:cNvPr id="14" name="Text 12"/>
          <p:cNvSpPr txBox="1"/>
          <p:nvPr/>
        </p:nvSpPr>
        <p:spPr>
          <a:xfrm>
            <a:off x="4892040" y="197510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+10%</a:t>
            </a:r>
            <a:endParaRPr lang="en-US" sz="1100" dirty="0"/>
          </a:p>
        </p:txBody>
      </p:sp>
      <p:sp>
        <p:nvSpPr>
          <p:cNvPr id="15" name="Text 13"/>
          <p:cNvSpPr txBox="1"/>
          <p:nvPr/>
        </p:nvSpPr>
        <p:spPr>
          <a:xfrm>
            <a:off x="7269480" y="197510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16" name="Shape 14"/>
          <p:cNvSpPr/>
          <p:nvPr/>
        </p:nvSpPr>
        <p:spPr>
          <a:xfrm>
            <a:off x="365760" y="2432304"/>
            <a:ext cx="8412480" cy="502920"/>
          </a:xfrm>
          <a:prstGeom prst="rect">
            <a:avLst/>
          </a:prstGeom>
          <a:solidFill>
            <a:srgbClr val="F4F4F4"/>
          </a:solidFill>
          <a:ln/>
        </p:spPr>
      </p:sp>
      <p:sp>
        <p:nvSpPr>
          <p:cNvPr id="17" name="Text 15"/>
          <p:cNvSpPr txBox="1"/>
          <p:nvPr/>
        </p:nvSpPr>
        <p:spPr>
          <a:xfrm>
            <a:off x="502920" y="2542032"/>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Desviación de Plazo</a:t>
            </a:r>
            <a:endParaRPr lang="en-US" sz="1100" dirty="0"/>
          </a:p>
        </p:txBody>
      </p:sp>
      <p:sp>
        <p:nvSpPr>
          <p:cNvPr id="18" name="Text 16"/>
          <p:cNvSpPr txBox="1"/>
          <p:nvPr/>
        </p:nvSpPr>
        <p:spPr>
          <a:xfrm>
            <a:off x="2606040" y="254203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+30 a +50%</a:t>
            </a:r>
            <a:endParaRPr lang="en-US" sz="1100" dirty="0"/>
          </a:p>
        </p:txBody>
      </p:sp>
      <p:sp>
        <p:nvSpPr>
          <p:cNvPr id="19" name="Text 17"/>
          <p:cNvSpPr txBox="1"/>
          <p:nvPr/>
        </p:nvSpPr>
        <p:spPr>
          <a:xfrm>
            <a:off x="4892040" y="254203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+15%</a:t>
            </a:r>
            <a:endParaRPr lang="en-US" sz="1100" dirty="0"/>
          </a:p>
        </p:txBody>
      </p:sp>
      <p:sp>
        <p:nvSpPr>
          <p:cNvPr id="20" name="Text 18"/>
          <p:cNvSpPr txBox="1"/>
          <p:nvPr/>
        </p:nvSpPr>
        <p:spPr>
          <a:xfrm>
            <a:off x="7269480" y="254203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21" name="Shape 19"/>
          <p:cNvSpPr/>
          <p:nvPr/>
        </p:nvSpPr>
        <p:spPr>
          <a:xfrm>
            <a:off x="365760" y="2999232"/>
            <a:ext cx="8412480" cy="502920"/>
          </a:xfrm>
          <a:prstGeom prst="rect">
            <a:avLst/>
          </a:prstGeom>
          <a:solidFill>
            <a:srgbClr val="EBEBEB"/>
          </a:solidFill>
          <a:ln/>
        </p:spPr>
      </p:sp>
      <p:sp>
        <p:nvSpPr>
          <p:cNvPr id="22" name="Text 20"/>
          <p:cNvSpPr txBox="1"/>
          <p:nvPr/>
        </p:nvSpPr>
        <p:spPr>
          <a:xfrm>
            <a:off x="502920" y="3108960"/>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Re-trabajo (%)</a:t>
            </a:r>
            <a:endParaRPr lang="en-US" sz="1100" dirty="0"/>
          </a:p>
        </p:txBody>
      </p:sp>
      <p:sp>
        <p:nvSpPr>
          <p:cNvPr id="23" name="Text 21"/>
          <p:cNvSpPr txBox="1"/>
          <p:nvPr/>
        </p:nvSpPr>
        <p:spPr>
          <a:xfrm>
            <a:off x="2606040" y="310896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5 - 15% de horas</a:t>
            </a:r>
            <a:endParaRPr lang="en-US" sz="1100" dirty="0"/>
          </a:p>
        </p:txBody>
      </p:sp>
      <p:sp>
        <p:nvSpPr>
          <p:cNvPr id="24" name="Text 22"/>
          <p:cNvSpPr txBox="1"/>
          <p:nvPr/>
        </p:nvSpPr>
        <p:spPr>
          <a:xfrm>
            <a:off x="4892040" y="310896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&lt; 3% de horas</a:t>
            </a:r>
            <a:endParaRPr lang="en-US" sz="1100" dirty="0"/>
          </a:p>
        </p:txBody>
      </p:sp>
      <p:sp>
        <p:nvSpPr>
          <p:cNvPr id="25" name="Text 23"/>
          <p:cNvSpPr txBox="1"/>
          <p:nvPr/>
        </p:nvSpPr>
        <p:spPr>
          <a:xfrm>
            <a:off x="7269480" y="310896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3-5x</a:t>
            </a:r>
            <a:endParaRPr lang="en-US" sz="1100" dirty="0"/>
          </a:p>
        </p:txBody>
      </p:sp>
      <p:sp>
        <p:nvSpPr>
          <p:cNvPr id="26" name="Shape 24"/>
          <p:cNvSpPr/>
          <p:nvPr/>
        </p:nvSpPr>
        <p:spPr>
          <a:xfrm>
            <a:off x="365760" y="3566160"/>
            <a:ext cx="8412480" cy="502920"/>
          </a:xfrm>
          <a:prstGeom prst="rect">
            <a:avLst/>
          </a:prstGeom>
          <a:solidFill>
            <a:srgbClr val="F4F4F4"/>
          </a:solidFill>
          <a:ln/>
        </p:spPr>
      </p:sp>
      <p:sp>
        <p:nvSpPr>
          <p:cNvPr id="27" name="Text 25"/>
          <p:cNvSpPr txBox="1"/>
          <p:nvPr/>
        </p:nvSpPr>
        <p:spPr>
          <a:xfrm>
            <a:off x="502920" y="3675888"/>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CPI (Cost Perf. Index)</a:t>
            </a:r>
            <a:endParaRPr lang="en-US" sz="1100" dirty="0"/>
          </a:p>
        </p:txBody>
      </p:sp>
      <p:sp>
        <p:nvSpPr>
          <p:cNvPr id="28" name="Text 26"/>
          <p:cNvSpPr txBox="1"/>
          <p:nvPr/>
        </p:nvSpPr>
        <p:spPr>
          <a:xfrm>
            <a:off x="2606040" y="3675888"/>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0.78 - 0.92</a:t>
            </a:r>
            <a:endParaRPr lang="en-US" sz="1100" dirty="0"/>
          </a:p>
        </p:txBody>
      </p:sp>
      <p:sp>
        <p:nvSpPr>
          <p:cNvPr id="29" name="Text 27"/>
          <p:cNvSpPr txBox="1"/>
          <p:nvPr/>
        </p:nvSpPr>
        <p:spPr>
          <a:xfrm>
            <a:off x="4892040" y="3675888"/>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0.95 - 1.05</a:t>
            </a:r>
            <a:endParaRPr lang="en-US" sz="1100" dirty="0"/>
          </a:p>
        </p:txBody>
      </p:sp>
      <p:sp>
        <p:nvSpPr>
          <p:cNvPr id="30" name="Text 28"/>
          <p:cNvSpPr txBox="1"/>
          <p:nvPr/>
        </p:nvSpPr>
        <p:spPr>
          <a:xfrm>
            <a:off x="7269480" y="3675888"/>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a:t>
            </a:r>
            <a:endParaRPr lang="en-US" sz="1100" dirty="0"/>
          </a:p>
        </p:txBody>
      </p:sp>
      <p:sp>
        <p:nvSpPr>
          <p:cNvPr id="31" name="Shape 29"/>
          <p:cNvSpPr/>
          <p:nvPr/>
        </p:nvSpPr>
        <p:spPr>
          <a:xfrm>
            <a:off x="365760" y="4133088"/>
            <a:ext cx="8412480" cy="502920"/>
          </a:xfrm>
          <a:prstGeom prst="rect">
            <a:avLst/>
          </a:prstGeom>
          <a:solidFill>
            <a:srgbClr val="EBEBEB"/>
          </a:solidFill>
          <a:ln/>
        </p:spPr>
      </p:sp>
      <p:sp>
        <p:nvSpPr>
          <p:cNvPr id="32" name="Text 30"/>
          <p:cNvSpPr txBox="1"/>
          <p:nvPr/>
        </p:nvSpPr>
        <p:spPr>
          <a:xfrm>
            <a:off x="502920" y="4242816"/>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SPI (Schedule Perf. Index)</a:t>
            </a:r>
            <a:endParaRPr lang="en-US" sz="1100" dirty="0"/>
          </a:p>
        </p:txBody>
      </p:sp>
      <p:sp>
        <p:nvSpPr>
          <p:cNvPr id="33" name="Text 31"/>
          <p:cNvSpPr txBox="1"/>
          <p:nvPr/>
        </p:nvSpPr>
        <p:spPr>
          <a:xfrm>
            <a:off x="2606040" y="4242816"/>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0.72 - 0.88</a:t>
            </a:r>
            <a:endParaRPr lang="en-US" sz="1100" dirty="0"/>
          </a:p>
        </p:txBody>
      </p:sp>
      <p:sp>
        <p:nvSpPr>
          <p:cNvPr id="34" name="Text 32"/>
          <p:cNvSpPr txBox="1"/>
          <p:nvPr/>
        </p:nvSpPr>
        <p:spPr>
          <a:xfrm>
            <a:off x="4892040" y="4242816"/>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0.92 - 1.02</a:t>
            </a:r>
            <a:endParaRPr lang="en-US" sz="1100" dirty="0"/>
          </a:p>
        </p:txBody>
      </p:sp>
      <p:sp>
        <p:nvSpPr>
          <p:cNvPr id="35" name="Text 33"/>
          <p:cNvSpPr txBox="1"/>
          <p:nvPr/>
        </p:nvSpPr>
        <p:spPr>
          <a:xfrm>
            <a:off x="7269480" y="4242816"/>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+25%</a:t>
            </a:r>
            <a:endParaRPr lang="en-US" sz="1100" dirty="0"/>
          </a:p>
        </p:txBody>
      </p:sp>
      <p:sp>
        <p:nvSpPr>
          <p:cNvPr id="36" name="Shape 34"/>
          <p:cNvSpPr/>
          <p:nvPr/>
        </p:nvSpPr>
        <p:spPr>
          <a:xfrm>
            <a:off x="365760" y="4700016"/>
            <a:ext cx="8412480" cy="502920"/>
          </a:xfrm>
          <a:prstGeom prst="rect">
            <a:avLst/>
          </a:prstGeom>
          <a:solidFill>
            <a:srgbClr val="F4F4F4"/>
          </a:solidFill>
          <a:ln/>
        </p:spPr>
      </p:sp>
      <p:sp>
        <p:nvSpPr>
          <p:cNvPr id="37" name="Text 35"/>
          <p:cNvSpPr txBox="1"/>
          <p:nvPr/>
        </p:nvSpPr>
        <p:spPr>
          <a:xfrm>
            <a:off x="502920" y="4809744"/>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Horas-hombre por unidad</a:t>
            </a:r>
            <a:endParaRPr lang="en-US" sz="1100" dirty="0"/>
          </a:p>
        </p:txBody>
      </p:sp>
      <p:sp>
        <p:nvSpPr>
          <p:cNvPr id="38" name="Text 36"/>
          <p:cNvSpPr txBox="1"/>
          <p:nvPr/>
        </p:nvSpPr>
        <p:spPr>
          <a:xfrm>
            <a:off x="2606040" y="480974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39" name="Text 37"/>
          <p:cNvSpPr txBox="1"/>
          <p:nvPr/>
        </p:nvSpPr>
        <p:spPr>
          <a:xfrm>
            <a:off x="4892040" y="480974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0.75 - 0.88</a:t>
            </a:r>
            <a:endParaRPr lang="en-US" sz="1100" dirty="0"/>
          </a:p>
        </p:txBody>
      </p:sp>
      <p:sp>
        <p:nvSpPr>
          <p:cNvPr id="40" name="Text 38"/>
          <p:cNvSpPr txBox="1"/>
          <p:nvPr/>
        </p:nvSpPr>
        <p:spPr>
          <a:xfrm>
            <a:off x="7269480" y="480974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-15 a 25%</a:t>
            </a:r>
            <a:endParaRPr lang="en-US" sz="1100" dirty="0"/>
          </a:p>
        </p:txBody>
      </p:sp>
      <p:sp>
        <p:nvSpPr>
          <p:cNvPr id="41" name="Shape 39"/>
          <p:cNvSpPr/>
          <p:nvPr/>
        </p:nvSpPr>
        <p:spPr>
          <a:xfrm>
            <a:off x="365760" y="5266944"/>
            <a:ext cx="8412480" cy="502920"/>
          </a:xfrm>
          <a:prstGeom prst="rect">
            <a:avLst/>
          </a:prstGeom>
          <a:solidFill>
            <a:srgbClr val="EBEBEB"/>
          </a:solidFill>
          <a:ln/>
        </p:spPr>
      </p:sp>
      <p:sp>
        <p:nvSpPr>
          <p:cNvPr id="42" name="Text 40"/>
          <p:cNvSpPr txBox="1"/>
          <p:nvPr/>
        </p:nvSpPr>
        <p:spPr>
          <a:xfrm>
            <a:off x="502920" y="5376672"/>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Incidentes (TRIR)</a:t>
            </a:r>
            <a:endParaRPr lang="en-US" sz="1100" dirty="0"/>
          </a:p>
        </p:txBody>
      </p:sp>
      <p:sp>
        <p:nvSpPr>
          <p:cNvPr id="43" name="Text 41"/>
          <p:cNvSpPr txBox="1"/>
          <p:nvPr/>
        </p:nvSpPr>
        <p:spPr>
          <a:xfrm>
            <a:off x="2606040" y="537667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44" name="Text 42"/>
          <p:cNvSpPr txBox="1"/>
          <p:nvPr/>
        </p:nvSpPr>
        <p:spPr>
          <a:xfrm>
            <a:off x="4892040" y="537667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0.6 - 0.8</a:t>
            </a:r>
            <a:endParaRPr lang="en-US" sz="1100" dirty="0"/>
          </a:p>
        </p:txBody>
      </p:sp>
      <p:sp>
        <p:nvSpPr>
          <p:cNvPr id="45" name="Text 43"/>
          <p:cNvSpPr txBox="1"/>
          <p:nvPr/>
        </p:nvSpPr>
        <p:spPr>
          <a:xfrm>
            <a:off x="7269480" y="537667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a 40%</a:t>
            </a:r>
            <a:endParaRPr lang="en-US" sz="1100" dirty="0"/>
          </a:p>
        </p:txBody>
      </p:sp>
      <p:sp>
        <p:nvSpPr>
          <p:cNvPr id="46" name="Shape 44"/>
          <p:cNvSpPr/>
          <p:nvPr/>
        </p:nvSpPr>
        <p:spPr>
          <a:xfrm>
            <a:off x="365760" y="5833872"/>
            <a:ext cx="8412480" cy="502920"/>
          </a:xfrm>
          <a:prstGeom prst="rect">
            <a:avLst/>
          </a:prstGeom>
          <a:solidFill>
            <a:srgbClr val="F4F4F4"/>
          </a:solidFill>
          <a:ln/>
        </p:spPr>
      </p:sp>
      <p:sp>
        <p:nvSpPr>
          <p:cNvPr id="47" name="Text 45"/>
          <p:cNvSpPr txBox="1"/>
          <p:nvPr/>
        </p:nvSpPr>
        <p:spPr>
          <a:xfrm>
            <a:off x="502920" y="5943600"/>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Satisfacción del Cliente</a:t>
            </a:r>
            <a:endParaRPr lang="en-US" sz="1100" dirty="0"/>
          </a:p>
        </p:txBody>
      </p:sp>
      <p:sp>
        <p:nvSpPr>
          <p:cNvPr id="48" name="Text 46"/>
          <p:cNvSpPr txBox="1"/>
          <p:nvPr/>
        </p:nvSpPr>
        <p:spPr>
          <a:xfrm>
            <a:off x="2606040" y="594360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65 - 75 NPS</a:t>
            </a:r>
            <a:endParaRPr lang="en-US" sz="1100" dirty="0"/>
          </a:p>
        </p:txBody>
      </p:sp>
      <p:sp>
        <p:nvSpPr>
          <p:cNvPr id="49" name="Text 47"/>
          <p:cNvSpPr txBox="1"/>
          <p:nvPr/>
        </p:nvSpPr>
        <p:spPr>
          <a:xfrm>
            <a:off x="4892040" y="594360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80 - 92 NPS</a:t>
            </a:r>
            <a:endParaRPr lang="en-US" sz="1100" dirty="0"/>
          </a:p>
        </p:txBody>
      </p:sp>
      <p:sp>
        <p:nvSpPr>
          <p:cNvPr id="50" name="Text 48"/>
          <p:cNvSpPr txBox="1"/>
          <p:nvPr/>
        </p:nvSpPr>
        <p:spPr>
          <a:xfrm>
            <a:off x="7269480" y="594360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pts</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124</a:t>
            </a:r>
            <a:endParaRPr lang="en-US" sz="900" dirty="0"/>
          </a:p>
        </p:txBody>
      </p:sp>
      <p:pic xmlns:p="http://schemas.openxmlformats.org/presentationml/2006/main" xmlns:a="http://schemas.openxmlformats.org/drawingml/2006/main" xmlns:r="http://schemas.openxmlformats.org/officeDocument/2006/relationships">
        <p:nvPicPr>
          <p:cNvPr id="8124" name="SlideIcon8124"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Formación y Certificaciones en Constructabilidad</a:t>
            </a:r>
            <a:endParaRPr lang="en-US" sz="2200" dirty="0"/>
          </a:p>
        </p:txBody>
      </p:sp>
      <p:sp>
        <p:nvSpPr>
          <p:cNvPr id="4" name="Shape 2"/>
          <p:cNvSpPr/>
          <p:nvPr/>
        </p:nvSpPr>
        <p:spPr>
          <a:xfrm>
            <a:off x="457200" y="804672"/>
            <a:ext cx="8229600" cy="18288"/>
          </a:xfrm>
          <a:prstGeom prst="rect">
            <a:avLst/>
          </a:prstGeom>
          <a:solidFill>
            <a:srgbClr val="EBEBEB"/>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conocimiento formal de constructabilidad se adquiere a través de CII, universidades y programas corporativos:</a:t>
            </a:r>
            <a:endParaRPr lang="en-US" sz="1300" dirty="0"/>
          </a:p>
        </p:txBody>
      </p:sp>
      <p:sp>
        <p:nvSpPr>
          <p:cNvPr id="6" name="Shape 4"/>
          <p:cNvSpPr/>
          <p:nvPr/>
        </p:nvSpPr>
        <p:spPr>
          <a:xfrm>
            <a:off x="365760" y="1298448"/>
            <a:ext cx="8412480" cy="1481328"/>
          </a:xfrm>
          <a:prstGeom prst="roundRect">
            <a:avLst>
              <a:gd name="adj" fmla="val 6173"/>
            </a:avLst>
          </a:prstGeom>
          <a:solidFill>
            <a:srgbClr val="F4F4F4"/>
          </a:solidFill>
          <a:ln w="25400">
            <a:solidFill>
              <a:srgbClr val="FF9500"/>
            </a:solidFill>
            <a:prstDash val="solid"/>
          </a:ln>
        </p:spPr>
      </p:sp>
      <p:sp>
        <p:nvSpPr>
          <p:cNvPr id="7" name="Text 5"/>
          <p:cNvSpPr txBox="1"/>
          <p:nvPr/>
        </p:nvSpPr>
        <p:spPr>
          <a:xfrm>
            <a:off x="594360" y="1408176"/>
            <a:ext cx="795528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CII (Construction Industry Institute)</a:t>
            </a:r>
            <a:endParaRPr lang="en-US" sz="1500" dirty="0"/>
          </a:p>
        </p:txBody>
      </p:sp>
      <p:sp>
        <p:nvSpPr>
          <p:cNvPr id="8" name="Text 6"/>
          <p:cNvSpPr txBox="1"/>
          <p:nvPr/>
        </p:nvSpPr>
        <p:spPr>
          <a:xfrm>
            <a:off x="594360" y="1810512"/>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Best Practices Training: cursos online de 4-8 horas por práctica</a:t>
            </a:r>
            <a:endParaRPr lang="en-US" sz="1100" dirty="0"/>
          </a:p>
        </p:txBody>
      </p:sp>
      <p:sp>
        <p:nvSpPr>
          <p:cNvPr id="9" name="Text 7"/>
          <p:cNvSpPr txBox="1"/>
          <p:nvPr/>
        </p:nvSpPr>
        <p:spPr>
          <a:xfrm>
            <a:off x="4846320" y="1810512"/>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Annual CII Conference: talleres de constructabilidad con líderes globales</a:t>
            </a:r>
            <a:endParaRPr lang="en-US" sz="1100" dirty="0"/>
          </a:p>
        </p:txBody>
      </p:sp>
      <p:sp>
        <p:nvSpPr>
          <p:cNvPr id="10" name="Text 8"/>
          <p:cNvSpPr txBox="1"/>
          <p:nvPr/>
        </p:nvSpPr>
        <p:spPr>
          <a:xfrm>
            <a:off x="594360" y="224942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Research Teams: participación en investigación sobre constructabilidad</a:t>
            </a:r>
            <a:endParaRPr lang="en-US" sz="1100" dirty="0"/>
          </a:p>
        </p:txBody>
      </p:sp>
      <p:sp>
        <p:nvSpPr>
          <p:cNvPr id="11" name="Text 9"/>
          <p:cNvSpPr txBox="1"/>
          <p:nvPr/>
        </p:nvSpPr>
        <p:spPr>
          <a:xfrm>
            <a:off x="4846320" y="224942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Benchmarking &amp; Metrics: herramienta comparativa para programas</a:t>
            </a:r>
            <a:endParaRPr lang="en-US" sz="1100" dirty="0"/>
          </a:p>
        </p:txBody>
      </p:sp>
      <p:sp>
        <p:nvSpPr>
          <p:cNvPr id="12" name="Shape 10"/>
          <p:cNvSpPr/>
          <p:nvPr/>
        </p:nvSpPr>
        <p:spPr>
          <a:xfrm>
            <a:off x="365760" y="2926080"/>
            <a:ext cx="8412480" cy="1481328"/>
          </a:xfrm>
          <a:prstGeom prst="roundRect">
            <a:avLst>
              <a:gd name="adj" fmla="val 6173"/>
            </a:avLst>
          </a:prstGeom>
          <a:solidFill>
            <a:srgbClr val="F4F4F4"/>
          </a:solidFill>
          <a:ln w="25400">
            <a:solidFill>
              <a:srgbClr val="0A84FF"/>
            </a:solidFill>
            <a:prstDash val="solid"/>
          </a:ln>
        </p:spPr>
      </p:sp>
      <p:sp>
        <p:nvSpPr>
          <p:cNvPr id="13" name="Text 11"/>
          <p:cNvSpPr txBox="1"/>
          <p:nvPr/>
        </p:nvSpPr>
        <p:spPr>
          <a:xfrm>
            <a:off x="594360" y="3035808"/>
            <a:ext cx="795528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AACE International</a:t>
            </a:r>
            <a:endParaRPr lang="en-US" sz="1500" dirty="0"/>
          </a:p>
        </p:txBody>
      </p:sp>
      <p:sp>
        <p:nvSpPr>
          <p:cNvPr id="14" name="Text 12"/>
          <p:cNvSpPr txBox="1"/>
          <p:nvPr/>
        </p:nvSpPr>
        <p:spPr>
          <a:xfrm>
            <a:off x="594360" y="343814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Certified Construction Project Manager (CCPM): incluye módulo de constructabilidad</a:t>
            </a:r>
            <a:endParaRPr lang="en-US" sz="1100" dirty="0"/>
          </a:p>
        </p:txBody>
      </p:sp>
      <p:sp>
        <p:nvSpPr>
          <p:cNvPr id="15" name="Text 13"/>
          <p:cNvSpPr txBox="1"/>
          <p:nvPr/>
        </p:nvSpPr>
        <p:spPr>
          <a:xfrm>
            <a:off x="4846320" y="343814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Total Cost Management Framework: sección de constructabilidad en FEED</a:t>
            </a:r>
            <a:endParaRPr lang="en-US" sz="1100" dirty="0"/>
          </a:p>
        </p:txBody>
      </p:sp>
      <p:sp>
        <p:nvSpPr>
          <p:cNvPr id="16" name="Text 14"/>
          <p:cNvSpPr txBox="1"/>
          <p:nvPr/>
        </p:nvSpPr>
        <p:spPr>
          <a:xfrm>
            <a:off x="594360" y="387705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Recommended Practices: RP 57R-09 "Integrated Project Planning &amp; Control"</a:t>
            </a:r>
            <a:endParaRPr lang="en-US" sz="1100" dirty="0"/>
          </a:p>
        </p:txBody>
      </p:sp>
      <p:sp>
        <p:nvSpPr>
          <p:cNvPr id="17" name="Text 15"/>
          <p:cNvSpPr txBox="1"/>
          <p:nvPr/>
        </p:nvSpPr>
        <p:spPr>
          <a:xfrm>
            <a:off x="4846320" y="387705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Talleres técnicos de estimación y constructabilidad en proyectos capital</a:t>
            </a:r>
            <a:endParaRPr lang="en-US" sz="1100" dirty="0"/>
          </a:p>
        </p:txBody>
      </p:sp>
      <p:sp>
        <p:nvSpPr>
          <p:cNvPr id="18" name="Shape 16"/>
          <p:cNvSpPr/>
          <p:nvPr/>
        </p:nvSpPr>
        <p:spPr>
          <a:xfrm>
            <a:off x="365760" y="4553712"/>
            <a:ext cx="8412480" cy="1481328"/>
          </a:xfrm>
          <a:prstGeom prst="roundRect">
            <a:avLst>
              <a:gd name="adj" fmla="val 6173"/>
            </a:avLst>
          </a:prstGeom>
          <a:solidFill>
            <a:srgbClr val="F4F4F4"/>
          </a:solidFill>
          <a:ln w="25400">
            <a:solidFill>
              <a:srgbClr val="30D158"/>
            </a:solidFill>
            <a:prstDash val="solid"/>
          </a:ln>
        </p:spPr>
      </p:sp>
      <p:sp>
        <p:nvSpPr>
          <p:cNvPr id="19" name="Text 17"/>
          <p:cNvSpPr txBox="1"/>
          <p:nvPr/>
        </p:nvSpPr>
        <p:spPr>
          <a:xfrm>
            <a:off x="594360" y="4663440"/>
            <a:ext cx="795528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PMI / Universidades</a:t>
            </a:r>
            <a:endParaRPr lang="en-US" sz="1500" dirty="0"/>
          </a:p>
        </p:txBody>
      </p:sp>
      <p:sp>
        <p:nvSpPr>
          <p:cNvPr id="20" name="Text 18"/>
          <p:cNvSpPr txBox="1"/>
          <p:nvPr/>
        </p:nvSpPr>
        <p:spPr>
          <a:xfrm>
            <a:off x="594360" y="506577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PMI-CP (Capital Projects): new credential with constructability module</a:t>
            </a:r>
            <a:endParaRPr lang="en-US" sz="1100" dirty="0"/>
          </a:p>
        </p:txBody>
      </p:sp>
      <p:sp>
        <p:nvSpPr>
          <p:cNvPr id="21" name="Text 19"/>
          <p:cNvSpPr txBox="1"/>
          <p:nvPr/>
        </p:nvSpPr>
        <p:spPr>
          <a:xfrm>
            <a:off x="4846320" y="506577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UT Austin: cursos de posgrado en Project Management con énfasis CII</a:t>
            </a:r>
            <a:endParaRPr lang="en-US" sz="1100" dirty="0"/>
          </a:p>
        </p:txBody>
      </p:sp>
      <p:sp>
        <p:nvSpPr>
          <p:cNvPr id="22" name="Text 20"/>
          <p:cNvSpPr txBox="1"/>
          <p:nvPr/>
        </p:nvSpPr>
        <p:spPr>
          <a:xfrm>
            <a:off x="594360" y="5504688"/>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Universidad de Calgary: formación en AWP/WFP (sinergia constructabilidad)</a:t>
            </a:r>
            <a:endParaRPr lang="en-US" sz="1100" dirty="0"/>
          </a:p>
        </p:txBody>
      </p:sp>
      <p:sp>
        <p:nvSpPr>
          <p:cNvPr id="23" name="Text 21"/>
          <p:cNvSpPr txBox="1"/>
          <p:nvPr/>
        </p:nvSpPr>
        <p:spPr>
          <a:xfrm>
            <a:off x="4846320" y="5504688"/>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Programas corporativos in-house basados en publicaciones CII</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125</a:t>
            </a:r>
            <a:endParaRPr lang="en-US" sz="900" dirty="0"/>
          </a:p>
        </p:txBody>
      </p:sp>
      <p:pic xmlns:p="http://schemas.openxmlformats.org/presentationml/2006/main" xmlns:a="http://schemas.openxmlformats.org/drawingml/2006/main" xmlns:r="http://schemas.openxmlformats.org/officeDocument/2006/relationships">
        <p:nvPicPr>
          <p:cNvPr id="8125" name="SlideIcon8125"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DDE3F0"/>
          </a:solidFill>
          <a:ln/>
        </p:spPr>
      </p:sp>
      <p:sp>
        <p:nvSpPr>
          <p:cNvPr id="3" name="Shape 1"/>
          <p:cNvSpPr/>
          <p:nvPr/>
        </p:nvSpPr>
        <p:spPr>
          <a:xfrm>
            <a:off x="0" y="0"/>
            <a:ext cx="2286000" cy="54864"/>
          </a:xfrm>
          <a:prstGeom prst="rect">
            <a:avLst/>
          </a:prstGeom>
          <a:solidFill>
            <a:srgbClr val="0A84FF"/>
          </a:solidFill>
          <a:ln/>
        </p:spPr>
      </p:sp>
      <p:sp>
        <p:nvSpPr>
          <p:cNvPr id="4" name="Shape 2"/>
          <p:cNvSpPr/>
          <p:nvPr/>
        </p:nvSpPr>
        <p:spPr>
          <a:xfrm>
            <a:off x="2286000" y="0"/>
            <a:ext cx="2286000" cy="54864"/>
          </a:xfrm>
          <a:prstGeom prst="rect">
            <a:avLst/>
          </a:prstGeom>
          <a:solidFill>
            <a:srgbClr val="30D158"/>
          </a:solidFill>
          <a:ln/>
        </p:spPr>
      </p:sp>
      <p:sp>
        <p:nvSpPr>
          <p:cNvPr id="5" name="Shape 3"/>
          <p:cNvSpPr/>
          <p:nvPr/>
        </p:nvSpPr>
        <p:spPr>
          <a:xfrm>
            <a:off x="4572000" y="0"/>
            <a:ext cx="2286000" cy="54864"/>
          </a:xfrm>
          <a:prstGeom prst="rect">
            <a:avLst/>
          </a:prstGeom>
          <a:solidFill>
            <a:srgbClr val="FF9500"/>
          </a:solidFill>
          <a:ln/>
        </p:spPr>
      </p:sp>
      <p:sp>
        <p:nvSpPr>
          <p:cNvPr id="6" name="Shape 4"/>
          <p:cNvSpPr/>
          <p:nvPr/>
        </p:nvSpPr>
        <p:spPr>
          <a:xfrm>
            <a:off x="6858000" y="0"/>
            <a:ext cx="2286000" cy="54864"/>
          </a:xfrm>
          <a:prstGeom prst="rect">
            <a:avLst/>
          </a:prstGeom>
          <a:solidFill>
            <a:srgbClr val="AF52DE"/>
          </a:solidFill>
          <a:ln/>
        </p:spPr>
      </p:sp>
      <p:sp>
        <p:nvSpPr>
          <p:cNvPr id="7" name="Text 5"/>
          <p:cNvSpPr txBox="1"/>
          <p:nvPr/>
        </p:nvSpPr>
        <p:spPr>
          <a:xfrm>
            <a:off x="457200" y="1097280"/>
            <a:ext cx="8229600" cy="914400"/>
          </a:xfrm>
          <a:prstGeom prst="rect">
            <a:avLst/>
          </a:prstGeom>
          <a:noFill/>
          <a:ln/>
        </p:spPr>
        <p:txBody>
          <a:bodyPr wrap="square" lIns="0" tIns="0" rIns="0" bIns="0" rtlCol="0" anchor="ctr"/>
          <a:lstStyle/>
          <a:p>
            <a:pPr algn="ctr" indent="0" marL="0">
              <a:buNone/>
            </a:pPr>
            <a:r>
              <a:rPr lang="en-US" sz="28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2800" dirty="0"/>
          </a:p>
        </p:txBody>
      </p:sp>
      <p:sp>
        <p:nvSpPr>
          <p:cNvPr id="8" name="Text 6"/>
          <p:cNvSpPr txBox="1"/>
          <p:nvPr/>
        </p:nvSpPr>
        <p:spPr>
          <a:xfrm>
            <a:off x="502920" y="2057400"/>
            <a:ext cx="8138160" cy="502920"/>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Compromiso de Construir Mejor</a:t>
            </a:r>
            <a:endParaRPr lang="en-US" sz="2200" dirty="0"/>
          </a:p>
        </p:txBody>
      </p:sp>
      <p:sp>
        <p:nvSpPr>
          <p:cNvPr id="9" name="Shape 7"/>
          <p:cNvSpPr/>
          <p:nvPr/>
        </p:nvSpPr>
        <p:spPr>
          <a:xfrm>
            <a:off x="2286000" y="2651760"/>
            <a:ext cx="4572000" cy="36576"/>
          </a:xfrm>
          <a:prstGeom prst="rect">
            <a:avLst/>
          </a:prstGeom>
          <a:solidFill>
            <a:srgbClr val="EBEBEB"/>
          </a:solidFill>
          <a:ln/>
        </p:spPr>
      </p:sp>
      <p:sp>
        <p:nvSpPr>
          <p:cNvPr id="10" name="Text 8"/>
          <p:cNvSpPr txBox="1"/>
          <p:nvPr/>
        </p:nvSpPr>
        <p:spPr>
          <a:xfrm>
            <a:off x="731520" y="2788920"/>
            <a:ext cx="7680960" cy="1005840"/>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"La constructabilidad no es una técnica especial ni una habilidad mística — es simplemente sentido común aplicado de manera sistemática desde el inicio del proyecto."</a:t>
            </a:r>
            <a:endParaRPr lang="en-US" sz="1200" dirty="0"/>
          </a:p>
        </p:txBody>
      </p:sp>
      <p:sp>
        <p:nvSpPr>
          <p:cNvPr id="11" name="Text 9"/>
          <p:cNvSpPr txBox="1"/>
          <p:nvPr/>
        </p:nvSpPr>
        <p:spPr>
          <a:xfrm>
            <a:off x="731520" y="3822192"/>
            <a:ext cx="7680960" cy="274320"/>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Construction Industry Institute</a:t>
            </a:r>
            <a:endParaRPr lang="en-US" sz="1200" dirty="0"/>
          </a:p>
        </p:txBody>
      </p:sp>
      <p:sp>
        <p:nvSpPr>
          <p:cNvPr id="12" name="Shape 10"/>
          <p:cNvSpPr/>
          <p:nvPr/>
        </p:nvSpPr>
        <p:spPr>
          <a:xfrm>
            <a:off x="1828800" y="4251960"/>
            <a:ext cx="5486400" cy="777240"/>
          </a:xfrm>
          <a:prstGeom prst="roundRect">
            <a:avLst>
              <a:gd name="adj" fmla="val 14118"/>
            </a:avLst>
          </a:prstGeom>
          <a:solidFill>
            <a:srgbClr val="0A84FF"/>
          </a:solidFill>
          <a:ln/>
        </p:spPr>
      </p:sp>
      <p:sp>
        <p:nvSpPr>
          <p:cNvPr id="13" name="Text 11"/>
          <p:cNvSpPr txBox="1"/>
          <p:nvPr/>
        </p:nvSpPr>
        <p:spPr>
          <a:xfrm>
            <a:off x="1965960" y="4361688"/>
            <a:ext cx="5212080" cy="566928"/>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Aplicar los 17 Conceptos CII desde el próximo FEL</a:t>
            </a:r>
            <a:endParaRPr lang="en-US" sz="1200" dirty="0"/>
          </a:p>
        </p:txBody>
      </p:sp>
      <p:sp>
        <p:nvSpPr>
          <p:cNvPr id="14" name="Text 12"/>
          <p:cNvSpPr txBox="1"/>
          <p:nvPr/>
        </p:nvSpPr>
        <p:spPr>
          <a:xfrm>
            <a:off x="731520" y="5230368"/>
            <a:ext cx="7680960" cy="256032"/>
          </a:xfrm>
          <a:prstGeom prst="rect">
            <a:avLst/>
          </a:prstGeom>
          <a:noFill/>
          <a:ln/>
        </p:spPr>
        <p:txBody>
          <a:bodyPr wrap="square" lIns="0" tIns="0" rIns="0" bIns="0" rtlCol="0" anchor="ctr"/>
          <a:lstStyle/>
          <a:p>
            <a:pPr algn="ctr" indent="0" marL="0">
              <a:buNone/>
            </a:pPr>
            <a:r>
              <a:rPr lang="en-US" sz="1100" dirty="0">
                <a:solidFill>
                  <a:srgbClr val="EBEBEB"/>
                </a:solidFill>
                <a:latin typeface="Atkinson Hyperlegible" pitchFamily="34" charset="0"/>
                <a:ea typeface="Atkinson Hyperlegible" pitchFamily="34" charset="-122"/>
                <a:cs typeface="Atkinson Hyperlegible" pitchFamily="34" charset="-120"/>
              </a:rPr>
              <a:t>CII SP 34-1  ·  Publication 3-1  ·  SD-4  ·  SD-5  ·  SD-25  ·  SD-34</a:t>
            </a:r>
            <a:endParaRPr lang="en-US" sz="1100" dirty="0"/>
          </a:p>
        </p:txBody>
      </p:sp>
      <p:sp>
        <p:nvSpPr>
          <p:cNvPr id="15" name="Text 1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126</a:t>
            </a:r>
            <a:endParaRPr lang="en-US" sz="900" dirty="0"/>
          </a:p>
        </p:txBody>
      </p:sp>
      <p:pic xmlns:p="http://schemas.openxmlformats.org/presentationml/2006/main" xmlns:a="http://schemas.openxmlformats.org/drawingml/2006/main" xmlns:r="http://schemas.openxmlformats.org/officeDocument/2006/relationships">
        <p:nvPicPr>
          <p:cNvPr id="8126" name="SlideIcon8126" descr="icon"/>
          <p:cNvPicPr>
            <a:picLocks noChangeAspect="1"/>
          </p:cNvPicPr>
          <p:nvPr/>
        </p:nvPicPr>
        <p:blipFill>
          <a:blip r:embed="rId9003"/>
          <a:stretch>
            <a:fillRect/>
          </a:stretch>
        </p:blipFill>
        <p:spPr>
          <a:xfrm>
            <a:off x="73152" y="118872"/>
            <a:ext cx="347472" cy="3474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126</Slides>
  <Notes>126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126</vt:i4>
      </vt:variant>
    </vt:vector>
  </HeadingPairs>
  <TitlesOfParts>
    <vt:vector size="1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2026-10-01T00:31:52Z</dcterms:created>
  <dcterms:modified xsi:type="dcterms:W3CDTF">2026-10-01T00:31:52Z</dcterms:modified>
</cp:coreProperties>
</file>