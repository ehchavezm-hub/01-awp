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8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9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0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6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7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8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9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20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charts/chart21.xml" ContentType="application/vnd.openxmlformats-officedocument.drawingml.chart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charts/chart22.xml" ContentType="application/vnd.openxmlformats-officedocument.drawingml.chart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</p:sldIdLst>
  <p:notesMasterIdLst>
    <p:notesMasterId r:id="rId1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notesMaster" Target="notesMasters/notesMaster1.xml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Constructabilidad</c:v>
                </c:pt>
              </c:strCache>
            </c:strRef>
          </c:tx>
          <c:spPr>
            <a:solidFill>
              <a:srgbClr val="FF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Sobrecosto promedio</c:v>
                  </c:pt>
                  <c:pt idx="1">
                    <c:v>Retrabajos</c:v>
                  </c:pt>
                  <c:pt idx="2">
                    <c:v>Sobreplazo</c:v>
                  </c:pt>
                  <c:pt idx="3">
                    <c:v>Cambios campo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35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Constructabilidad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Sobrecosto promedio</c:v>
                  </c:pt>
                  <c:pt idx="1">
                    <c:v>Retrabajos</c:v>
                  </c:pt>
                  <c:pt idx="2">
                    <c:v>Sobreplazo</c:v>
                  </c:pt>
                  <c:pt idx="3">
                    <c:v>Cambios campo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5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Influencia en Costo (%)</c:v>
                </c:pt>
              </c:strCache>
            </c:strRef>
          </c:tx>
          <c:spPr>
            <a:solidFill>
              <a:srgbClr val="FF9500"/>
            </a:solidFill>
            <a:ln w="25400" cap="flat">
              <a:solidFill>
                <a:srgbClr val="FF95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500"/>
              </a:solidFill>
              <a:ln w="9525" cap="flat">
                <a:solidFill>
                  <a:srgbClr val="FF9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Conceptual</c:v>
                  </c:pt>
                  <c:pt idx="1">
                    <c:v>Planif. Básica</c:v>
                  </c:pt>
                  <c:pt idx="2">
                    <c:v>Ingeniería
Detalle</c:v>
                  </c:pt>
                  <c:pt idx="3">
                    <c:v>Adquisiciones</c:v>
                  </c:pt>
                  <c:pt idx="4">
                    <c:v>Construcción</c:v>
                  </c:pt>
                  <c:pt idx="5">
                    <c:v>Operación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72</c:v>
                </c:pt>
                <c:pt idx="2">
                  <c:v>45</c:v>
                </c:pt>
                <c:pt idx="3">
                  <c:v>28</c:v>
                </c:pt>
                <c:pt idx="4">
                  <c:v>12</c:v>
                </c:pt>
                <c:pt idx="5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Costo Acumulado (%)</c:v>
                </c:pt>
              </c:strCache>
            </c:strRef>
          </c:tx>
          <c:spPr>
            <a:solidFill>
              <a:srgbClr val="0A84FF"/>
            </a:solidFill>
            <a:ln w="25400" cap="flat">
              <a:solidFill>
                <a:srgbClr val="0A8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84FF"/>
              </a:solidFill>
              <a:ln w="9525" cap="flat">
                <a:solidFill>
                  <a:srgbClr val="0A8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Conceptual</c:v>
                  </c:pt>
                  <c:pt idx="1">
                    <c:v>Planif. Básica</c:v>
                  </c:pt>
                  <c:pt idx="2">
                    <c:v>Ingeniería
Detalle</c:v>
                  </c:pt>
                  <c:pt idx="3">
                    <c:v>Adquisiciones</c:v>
                  </c:pt>
                  <c:pt idx="4">
                    <c:v>Construcción</c:v>
                  </c:pt>
                  <c:pt idx="5">
                    <c:v>Operación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20</c:v>
                </c:pt>
                <c:pt idx="3">
                  <c:v>40</c:v>
                </c:pt>
                <c:pt idx="4">
                  <c:v>92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Proyecto Típico Sin Constructabilidad</c:v>
                </c:pt>
              </c:strCache>
            </c:strRef>
          </c:tx>
          <c:spPr>
            <a:solidFill>
              <a:srgbClr val="FF453A"/>
            </a:solidFill>
            <a:ln w="25400" cap="flat">
              <a:solidFill>
                <a:srgbClr val="FF453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453A"/>
              </a:solidFill>
              <a:ln w="9525" cap="flat">
                <a:solidFill>
                  <a:srgbClr val="FF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Costo</c:v>
                  </c:pt>
                  <c:pt idx="1">
                    <c:v>Plazo</c:v>
                  </c:pt>
                  <c:pt idx="2">
                    <c:v>Calidad</c:v>
                  </c:pt>
                  <c:pt idx="3">
                    <c:v>Seguridad</c:v>
                  </c:pt>
                  <c:pt idx="4">
                    <c:v>Sostenibilidad</c:v>
                  </c:pt>
                  <c:pt idx="5">
                    <c:v>Satisfacción Cliente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50</c:v>
                </c:pt>
                <c:pt idx="2">
                  <c:v>55</c:v>
                </c:pt>
                <c:pt idx="3">
                  <c:v>60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Proyecto Con Constructabilidad CII</c:v>
                </c:pt>
              </c:strCache>
            </c:strRef>
          </c:tx>
          <c:spPr>
            <a:solidFill>
              <a:srgbClr val="30D158"/>
            </a:solidFill>
            <a:ln w="25400" cap="flat">
              <a:solidFill>
                <a:srgbClr val="30D15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0D158"/>
              </a:solidFill>
              <a:ln w="9525" cap="flat">
                <a:solidFill>
                  <a:srgbClr val="30D1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Costo</c:v>
                  </c:pt>
                  <c:pt idx="1">
                    <c:v>Plazo</c:v>
                  </c:pt>
                  <c:pt idx="2">
                    <c:v>Calidad</c:v>
                  </c:pt>
                  <c:pt idx="3">
                    <c:v>Seguridad</c:v>
                  </c:pt>
                  <c:pt idx="4">
                    <c:v>Sostenibilidad</c:v>
                  </c:pt>
                  <c:pt idx="5">
                    <c:v>Satisfacción Cliente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</c:v>
                </c:pt>
                <c:pt idx="1">
                  <c:v>82</c:v>
                </c:pt>
                <c:pt idx="2">
                  <c:v>88</c:v>
                </c:pt>
                <c:pt idx="3">
                  <c:v>90</c:v>
                </c:pt>
                <c:pt idx="4">
                  <c:v>78</c:v>
                </c:pt>
                <c:pt idx="5">
                  <c:v>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Complejidad</c:v>
                </c:pt>
              </c:strCache>
            </c:strRef>
          </c:tx>
          <c:spPr>
            <a:solidFill>
              <a:srgbClr val="FF9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Diseño
Original</c:v>
                  </c:pt>
                  <c:pt idx="1">
                    <c:v>Simplificado
Nivel 1</c:v>
                  </c:pt>
                  <c:pt idx="2">
                    <c:v>Simplificado
Nivel 2</c:v>
                  </c:pt>
                  <c:pt idx="3">
                    <c:v>Estandarizado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78</c:v>
                </c:pt>
                <c:pt idx="2">
                  <c:v>58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Costo Constructivo Relativo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Diseño
Original</c:v>
                  </c:pt>
                  <c:pt idx="1">
                    <c:v>Simplificado
Nivel 1</c:v>
                  </c:pt>
                  <c:pt idx="2">
                    <c:v>Simplificado
Nivel 2</c:v>
                  </c:pt>
                  <c:pt idx="3">
                    <c:v>Estandarizado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82</c:v>
                </c:pt>
                <c:pt idx="2">
                  <c:v>67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Beneficios Estandarización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C8FA"/>
              </a:solidFill>
              <a:effectLst/>
            </c:spPr>
          </c:dPt>
          <c:dPt>
            <c:idx val="1"/>
            <c:bubble3D val="0"/>
            <c:spPr>
              <a:solidFill>
                <a:srgbClr val="0A84FF"/>
              </a:solidFill>
              <a:effectLst/>
            </c:spPr>
          </c:dPt>
          <c:dPt>
            <c:idx val="2"/>
            <c:bubble3D val="0"/>
            <c:spPr>
              <a:solidFill>
                <a:srgbClr val="30D158"/>
              </a:solidFill>
              <a:effectLst/>
            </c:spPr>
          </c:dPt>
          <c:dPt>
            <c:idx val="3"/>
            <c:bubble3D val="0"/>
            <c:spPr>
              <a:solidFill>
                <a:srgbClr val="FF9500"/>
              </a:solidFill>
              <a:effectLst/>
            </c:spPr>
          </c:dPt>
          <c:dPt>
            <c:idx val="4"/>
            <c:bubble3D val="0"/>
            <c:spPr>
              <a:solidFill>
                <a:srgbClr val="3A3A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Reducción Horas</c:v>
                </c:pt>
                <c:pt idx="1">
                  <c:v>Menos Errores</c:v>
                </c:pt>
                <c:pt idx="2">
                  <c:v>Curva Aprendizaje</c:v>
                </c:pt>
                <c:pt idx="3">
                  <c:v>Compras Mejor Precio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22</c:v>
                </c:pt>
                <c:pt idx="2">
                  <c:v>18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 Planificada (Sin C-14)</c:v>
                </c:pt>
              </c:strCache>
            </c:strRef>
          </c:tx>
          <c:spPr>
            <a:solidFill>
              <a:srgbClr val="FF453A"/>
            </a:solidFill>
            <a:ln w="25400" cap="flat">
              <a:solidFill>
                <a:srgbClr val="FF45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453A"/>
              </a:solidFill>
              <a:ln w="9525" cap="flat">
                <a:solidFill>
                  <a:srgbClr val="FF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Mes1</c:v>
                  </c:pt>
                  <c:pt idx="1">
                    <c:v>Mes2</c:v>
                  </c:pt>
                  <c:pt idx="2">
                    <c:v>Mes3</c:v>
                  </c:pt>
                  <c:pt idx="3">
                    <c:v>Mes4</c:v>
                  </c:pt>
                  <c:pt idx="4">
                    <c:v>Mes5</c:v>
                  </c:pt>
                  <c:pt idx="5">
                    <c:v>Mes6</c:v>
                  </c:pt>
                  <c:pt idx="6">
                    <c:v>Mes7</c:v>
                  </c:pt>
                  <c:pt idx="7">
                    <c:v>Mes8</c:v>
                  </c:pt>
                  <c:pt idx="8">
                    <c:v>Mes9</c:v>
                  </c:pt>
                  <c:pt idx="9">
                    <c:v>Mes10</c:v>
                  </c:pt>
                  <c:pt idx="10">
                    <c:v>Mes11</c:v>
                  </c:pt>
                  <c:pt idx="11">
                    <c:v>Mes12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120</c:v>
                </c:pt>
                <c:pt idx="2">
                  <c:v>280</c:v>
                </c:pt>
                <c:pt idx="3">
                  <c:v>450</c:v>
                </c:pt>
                <c:pt idx="4">
                  <c:v>520</c:v>
                </c:pt>
                <c:pt idx="5">
                  <c:v>580</c:v>
                </c:pt>
                <c:pt idx="6">
                  <c:v>590</c:v>
                </c:pt>
                <c:pt idx="7">
                  <c:v>570</c:v>
                </c:pt>
                <c:pt idx="8">
                  <c:v>420</c:v>
                </c:pt>
                <c:pt idx="9">
                  <c:v>250</c:v>
                </c:pt>
                <c:pt idx="10">
                  <c:v>100</c:v>
                </c:pt>
                <c:pt idx="11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 Optimizada (Con C-14)</c:v>
                </c:pt>
              </c:strCache>
            </c:strRef>
          </c:tx>
          <c:spPr>
            <a:solidFill>
              <a:srgbClr val="FFD60A"/>
            </a:solidFill>
            <a:ln w="25400" cap="flat">
              <a:solidFill>
                <a:srgbClr val="FFD6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D60A"/>
              </a:solidFill>
              <a:ln w="9525" cap="flat">
                <a:solidFill>
                  <a:srgbClr val="FFD6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Mes1</c:v>
                  </c:pt>
                  <c:pt idx="1">
                    <c:v>Mes2</c:v>
                  </c:pt>
                  <c:pt idx="2">
                    <c:v>Mes3</c:v>
                  </c:pt>
                  <c:pt idx="3">
                    <c:v>Mes4</c:v>
                  </c:pt>
                  <c:pt idx="4">
                    <c:v>Mes5</c:v>
                  </c:pt>
                  <c:pt idx="5">
                    <c:v>Mes6</c:v>
                  </c:pt>
                  <c:pt idx="6">
                    <c:v>Mes7</c:v>
                  </c:pt>
                  <c:pt idx="7">
                    <c:v>Mes8</c:v>
                  </c:pt>
                  <c:pt idx="8">
                    <c:v>Mes9</c:v>
                  </c:pt>
                  <c:pt idx="9">
                    <c:v>Mes10</c:v>
                  </c:pt>
                  <c:pt idx="10">
                    <c:v>Mes11</c:v>
                  </c:pt>
                  <c:pt idx="11">
                    <c:v>Mes12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</c:v>
                </c:pt>
                <c:pt idx="1">
                  <c:v>180</c:v>
                </c:pt>
                <c:pt idx="2">
                  <c:v>310</c:v>
                </c:pt>
                <c:pt idx="3">
                  <c:v>400</c:v>
                </c:pt>
                <c:pt idx="4">
                  <c:v>420</c:v>
                </c:pt>
                <c:pt idx="5">
                  <c:v>430</c:v>
                </c:pt>
                <c:pt idx="6">
                  <c:v>410</c:v>
                </c:pt>
                <c:pt idx="7">
                  <c:v>380</c:v>
                </c:pt>
                <c:pt idx="8">
                  <c:v>320</c:v>
                </c:pt>
                <c:pt idx="9">
                  <c:v>220</c:v>
                </c:pt>
                <c:pt idx="10">
                  <c:v>130</c:v>
                </c:pt>
                <c:pt idx="11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Aplicación Promedio (%)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C-1 Integración</c:v>
                  </c:pt>
                  <c:pt idx="1">
                    <c:v>C-2 Programas</c:v>
                  </c:pt>
                  <c:pt idx="2">
                    <c:v>C-3 Prefactib.</c:v>
                  </c:pt>
                  <c:pt idx="3">
                    <c:v>C-4 Métodos Alt.</c:v>
                  </c:pt>
                  <c:pt idx="4">
                    <c:v>C-5 Innovación</c:v>
                  </c:pt>
                  <c:pt idx="5">
                    <c:v>C-6 Lotes</c:v>
                  </c:pt>
                  <c:pt idx="6">
                    <c:v>C-7 Revisión</c:v>
                  </c:pt>
                  <c:pt idx="7">
                    <c:v>C-8 Simplicidad</c:v>
                  </c:pt>
                  <c:pt idx="8">
                    <c:v>C-9 Estándar</c:v>
                  </c:pt>
                  <c:pt idx="9">
                    <c:v>C-10 Prefab.</c:v>
                  </c:pt>
                  <c:pt idx="10">
                    <c:v>C-11 Acceso</c:v>
                  </c:pt>
                  <c:pt idx="11">
                    <c:v>C-12 Specs</c:v>
                  </c:pt>
                  <c:pt idx="12">
                    <c:v>C-13 Montaje</c:v>
                  </c:pt>
                  <c:pt idx="13">
                    <c:v>C-14 Cronograma</c:v>
                  </c:pt>
                  <c:pt idx="14">
                    <c:v>C-15 RRHH</c:v>
                  </c:pt>
                  <c:pt idx="15">
                    <c:v>C-16 InnovCampo</c:v>
                  </c:pt>
                  <c:pt idx="16">
                    <c:v>C-17 Retro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78</c:v>
                </c:pt>
                <c:pt idx="1">
                  <c:v>65</c:v>
                </c:pt>
                <c:pt idx="2">
                  <c:v>72</c:v>
                </c:pt>
                <c:pt idx="3">
                  <c:v>58</c:v>
                </c:pt>
                <c:pt idx="4">
                  <c:v>45</c:v>
                </c:pt>
                <c:pt idx="5">
                  <c:v>52</c:v>
                </c:pt>
                <c:pt idx="6">
                  <c:v>80</c:v>
                </c:pt>
                <c:pt idx="7">
                  <c:v>70</c:v>
                </c:pt>
                <c:pt idx="8">
                  <c:v>62</c:v>
                </c:pt>
                <c:pt idx="9">
                  <c:v>55</c:v>
                </c:pt>
                <c:pt idx="10">
                  <c:v>75</c:v>
                </c:pt>
                <c:pt idx="11">
                  <c:v>68</c:v>
                </c:pt>
                <c:pt idx="12">
                  <c:v>60</c:v>
                </c:pt>
                <c:pt idx="13">
                  <c:v>82</c:v>
                </c:pt>
                <c:pt idx="14">
                  <c:v>70</c:v>
                </c:pt>
                <c:pt idx="15">
                  <c:v>48</c:v>
                </c:pt>
                <c:pt idx="16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Fase II Diseño</c:v>
                </c:pt>
              </c:strCache>
            </c:strRef>
          </c:tx>
          <c:spPr>
            <a:solidFill>
              <a:srgbClr val="0A84FF"/>
            </a:solidFill>
            <a:ln w="25400" cap="flat">
              <a:solidFill>
                <a:srgbClr val="0A84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A84FF"/>
              </a:solidFill>
              <a:ln w="9525" cap="flat">
                <a:solidFill>
                  <a:srgbClr val="0A84FF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Fase III Campo</c:v>
                </c:pt>
              </c:strCache>
            </c:strRef>
          </c:tx>
          <c:spPr>
            <a:solidFill>
              <a:srgbClr val="30D158"/>
            </a:solidFill>
            <a:ln w="25400" cap="flat">
              <a:solidFill>
                <a:srgbClr val="30D158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30D158"/>
              </a:solidFill>
              <a:ln w="9525" cap="flat">
                <a:solidFill>
                  <a:srgbClr val="30D158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[object Object]</c:v>
                </c:pt>
                <c:pt idx="1">
                  <c:v>[object Object]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Constructabilidad (ratio)</c:v>
                </c:pt>
              </c:strCache>
            </c:strRef>
          </c:tx>
          <c:spPr>
            <a:solidFill>
              <a:srgbClr val="FFD6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C1C1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Industrial
Petroquímico</c:v>
                  </c:pt>
                  <c:pt idx="1">
                    <c:v>Power
&amp; Energy</c:v>
                  </c:pt>
                  <c:pt idx="2">
                    <c:v>Infraestructura
Civil</c:v>
                  </c:pt>
                  <c:pt idx="3">
                    <c:v>Building
Comercial</c:v>
                  </c:pt>
                  <c:pt idx="4">
                    <c:v>Mining
&amp; Minerals</c:v>
                  </c:pt>
                  <c:pt idx="5">
                    <c:v>Promedio
CII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</c:v>
                </c:pt>
                <c:pt idx="1">
                  <c:v>6.5</c:v>
                </c:pt>
                <c:pt idx="2">
                  <c:v>5.8</c:v>
                </c:pt>
                <c:pt idx="3">
                  <c:v>4.1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C1C1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Industria Promedio</c:v>
                </c:pt>
              </c:strCache>
            </c:strRef>
          </c:tx>
          <c:spPr>
            <a:solidFill>
              <a:srgbClr val="FF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Costo Final
vs. Estimado (%)</c:v>
                  </c:pt>
                  <c:pt idx="1">
                    <c:v>Plazo Final
vs. Planificado (%)</c:v>
                  </c:pt>
                  <c:pt idx="2">
                    <c:v>Retrabajo
(% del Costo)</c:v>
                  </c:pt>
                  <c:pt idx="3">
                    <c:v>Cambios
de Campo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</c:v>
                </c:pt>
                <c:pt idx="1">
                  <c:v>122</c:v>
                </c:pt>
                <c:pt idx="2">
                  <c:v>9.2</c:v>
                </c:pt>
                <c:pt idx="3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Proyectos CII Top Quartile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Costo Final
vs. Estimado (%)</c:v>
                  </c:pt>
                  <c:pt idx="1">
                    <c:v>Plazo Final
vs. Planificado (%)</c:v>
                  </c:pt>
                  <c:pt idx="2">
                    <c:v>Retrabajo
(% del Costo)</c:v>
                  </c:pt>
                  <c:pt idx="3">
                    <c:v>Cambios
de Campo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102</c:v>
                </c:pt>
                <c:pt idx="1">
                  <c:v>104</c:v>
                </c:pt>
                <c:pt idx="2">
                  <c:v>2.8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Inversión Requerida</c:v>
                </c:pt>
              </c:strCache>
            </c:strRef>
          </c:tx>
          <c:spPr>
            <a:solidFill>
              <a:srgbClr val="FF9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
constructor</c:v>
                  </c:pt>
                  <c:pt idx="1">
                    <c:v>Capacitación
equipo</c:v>
                  </c:pt>
                  <c:pt idx="2">
                    <c:v>Herramientas
y software</c:v>
                  </c:pt>
                  <c:pt idx="3">
                    <c:v>Tiempo reuniones
revisión</c:v>
                  </c:pt>
                  <c:pt idx="4">
                    <c:v>Total Inversión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Beneficio Obtenido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
constructor</c:v>
                  </c:pt>
                  <c:pt idx="1">
                    <c:v>Capacitación
equipo</c:v>
                  </c:pt>
                  <c:pt idx="2">
                    <c:v>Herramientas
y software</c:v>
                  </c:pt>
                  <c:pt idx="3">
                    <c:v>Tiempo reuniones
revisión</c:v>
                  </c:pt>
                  <c:pt idx="4">
                    <c:v>Total Inversión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2.8</c:v>
                </c:pt>
                <c:pt idx="1">
                  <c:v>1.5</c:v>
                </c:pt>
                <c:pt idx="2">
                  <c:v>2</c:v>
                </c:pt>
                <c:pt idx="3">
                  <c:v>2.2</c:v>
                </c:pt>
                <c:pt idx="4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Productividad Acumulada Sin Constructabilidad</c:v>
                </c:pt>
              </c:strCache>
            </c:strRef>
          </c:tx>
          <c:spPr>
            <a:solidFill>
              <a:srgbClr val="FF453A"/>
            </a:solidFill>
            <a:ln w="25400" cap="flat">
              <a:solidFill>
                <a:srgbClr val="FF45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53A"/>
              </a:solidFill>
              <a:ln w="9525" cap="flat">
                <a:solidFill>
                  <a:srgbClr val="FF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  <c:pt idx="6">
                    <c:v>Mes 7</c:v>
                  </c:pt>
                  <c:pt idx="7">
                    <c:v>Mes 8</c:v>
                  </c:pt>
                  <c:pt idx="8">
                    <c:v>Mes 9</c:v>
                  </c:pt>
                  <c:pt idx="9">
                    <c:v>Mes 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</c:v>
                </c:pt>
                <c:pt idx="1">
                  <c:v>62</c:v>
                </c:pt>
                <c:pt idx="2">
                  <c:v>58</c:v>
                </c:pt>
                <c:pt idx="3">
                  <c:v>65</c:v>
                </c:pt>
                <c:pt idx="4">
                  <c:v>68</c:v>
                </c:pt>
                <c:pt idx="5">
                  <c:v>72</c:v>
                </c:pt>
                <c:pt idx="6">
                  <c:v>70</c:v>
                </c:pt>
                <c:pt idx="7">
                  <c:v>75</c:v>
                </c:pt>
                <c:pt idx="8">
                  <c:v>72</c:v>
                </c:pt>
                <c:pt idx="9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Productividad Con Constructabilidad CII</c:v>
                </c:pt>
              </c:strCache>
            </c:strRef>
          </c:tx>
          <c:spPr>
            <a:solidFill>
              <a:srgbClr val="5AC8FA"/>
            </a:solidFill>
            <a:ln w="25400" cap="flat">
              <a:solidFill>
                <a:srgbClr val="5AC8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C8FA"/>
              </a:solidFill>
              <a:ln w="9525" cap="flat">
                <a:solidFill>
                  <a:srgbClr val="5AC8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  <c:pt idx="6">
                    <c:v>Mes 7</c:v>
                  </c:pt>
                  <c:pt idx="7">
                    <c:v>Mes 8</c:v>
                  </c:pt>
                  <c:pt idx="8">
                    <c:v>Mes 9</c:v>
                  </c:pt>
                  <c:pt idx="9">
                    <c:v>Mes 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65</c:v>
                </c:pt>
                <c:pt idx="1">
                  <c:v>75</c:v>
                </c:pt>
                <c:pt idx="2">
                  <c:v>80</c:v>
                </c:pt>
                <c:pt idx="3">
                  <c:v>84</c:v>
                </c:pt>
                <c:pt idx="4">
                  <c:v>88</c:v>
                </c:pt>
                <c:pt idx="5">
                  <c:v>90</c:v>
                </c:pt>
                <c:pt idx="6">
                  <c:v>92</c:v>
                </c:pt>
                <c:pt idx="7">
                  <c:v>93</c:v>
                </c:pt>
                <c:pt idx="8">
                  <c:v>94</c:v>
                </c:pt>
                <c:pt idx="9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Incidentes por 200K HH — Sin Constructabilidad</c:v>
                </c:pt>
              </c:strCache>
            </c:strRef>
          </c:tx>
          <c:spPr>
            <a:solidFill>
              <a:srgbClr val="FF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TRIR</c:v>
                  </c:pt>
                  <c:pt idx="1">
                    <c:v>LTIR</c:v>
                  </c:pt>
                  <c:pt idx="2">
                    <c:v>Casi-accidentes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0.9</c:v>
                </c:pt>
                <c:pt idx="2">
                  <c:v>12.5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Incidentes por 200K HH — Con Constructabilidad</c:v>
                </c:pt>
              </c:strCache>
            </c:strRef>
          </c:tx>
          <c:spPr>
            <a:solidFill>
              <a:srgbClr val="30D1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TRIR</c:v>
                  </c:pt>
                  <c:pt idx="1">
                    <c:v>LTIR</c:v>
                  </c:pt>
                  <c:pt idx="2">
                    <c:v>Casi-accidentes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</c:v>
                </c:pt>
                <c:pt idx="1">
                  <c:v>0.3</c:v>
                </c:pt>
                <c:pt idx="2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Constructabilidad (%TIC)</c:v>
                </c:pt>
              </c:strCache>
            </c:strRef>
          </c:tx>
          <c:spPr>
            <a:solidFill>
              <a:srgbClr val="FF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Diseño
Incompleto</c:v>
                  </c:pt>
                  <c:pt idx="1">
                    <c:v>Coord.
Deficiente</c:v>
                  </c:pt>
                  <c:pt idx="2">
                    <c:v>Especif.
Ambiguas</c:v>
                  </c:pt>
                  <c:pt idx="3">
                    <c:v>Cambios
Cliente</c:v>
                  </c:pt>
                  <c:pt idx="4">
                    <c:v>Errores
Campo</c:v>
                  </c:pt>
                  <c:pt idx="5">
                    <c:v>Otros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2.8</c:v>
                </c:pt>
                <c:pt idx="2">
                  <c:v>1.5</c:v>
                </c:pt>
                <c:pt idx="3">
                  <c:v>2</c:v>
                </c:pt>
                <c:pt idx="4">
                  <c:v>1.8</c:v>
                </c:pt>
                <c:pt idx="5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Constructabilidad (%TIC)</c:v>
                </c:pt>
              </c:strCache>
            </c:strRef>
          </c:tx>
          <c:spPr>
            <a:solidFill>
              <a:srgbClr val="FF9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Diseño
Incompleto</c:v>
                  </c:pt>
                  <c:pt idx="1">
                    <c:v>Coord.
Deficiente</c:v>
                  </c:pt>
                  <c:pt idx="2">
                    <c:v>Especif.
Ambiguas</c:v>
                  </c:pt>
                  <c:pt idx="3">
                    <c:v>Cambios
Cliente</c:v>
                  </c:pt>
                  <c:pt idx="4">
                    <c:v>Errores
Campo</c:v>
                  </c:pt>
                  <c:pt idx="5">
                    <c:v>Otros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</c:v>
                </c:pt>
                <c:pt idx="1">
                  <c:v>0.5</c:v>
                </c:pt>
                <c:pt idx="2">
                  <c:v>0.3</c:v>
                </c:pt>
                <c:pt idx="3">
                  <c:v>1.2</c:v>
                </c:pt>
                <c:pt idx="4">
                  <c:v>0.4</c:v>
                </c:pt>
                <c:pt idx="5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del Costo (Estructura RC)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F52DE"/>
              </a:solidFill>
              <a:effectLst/>
            </c:spPr>
          </c:dPt>
          <c:dPt>
            <c:idx val="1"/>
            <c:bubble3D val="0"/>
            <c:spPr>
              <a:solidFill>
                <a:srgbClr val="0A84FF"/>
              </a:solidFill>
              <a:effectLst/>
            </c:spPr>
          </c:dPt>
          <c:dPt>
            <c:idx val="2"/>
            <c:bubble3D val="0"/>
            <c:spPr>
              <a:solidFill>
                <a:srgbClr val="30D158"/>
              </a:solidFill>
              <a:effectLst/>
            </c:spPr>
          </c:dPt>
          <c:dPt>
            <c:idx val="3"/>
            <c:bubble3D val="0"/>
            <c:spPr>
              <a:solidFill>
                <a:srgbClr val="FF9500"/>
              </a:solidFill>
              <a:effectLst/>
            </c:spPr>
          </c:dPt>
          <c:dPt>
            <c:idx val="4"/>
            <c:bubble3D val="0"/>
            <c:spPr>
              <a:solidFill>
                <a:srgbClr val="3A3A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C1C1E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C1C1E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C1C1E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C1C1E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C1C1E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Encofrado</c:v>
                </c:pt>
                <c:pt idx="1">
                  <c:v>Concreto</c:v>
                </c:pt>
                <c:pt idx="2">
                  <c:v>Acero</c:v>
                </c:pt>
                <c:pt idx="3">
                  <c:v>Mano Obra Otros</c:v>
                </c:pt>
                <c:pt idx="4">
                  <c:v>Equipos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 por Unidad (Estandarizado)</c:v>
                </c:pt>
              </c:strCache>
            </c:strRef>
          </c:tx>
          <c:spPr>
            <a:solidFill>
              <a:srgbClr val="5AC8FA"/>
            </a:solidFill>
            <a:ln w="25400" cap="flat">
              <a:solidFill>
                <a:srgbClr val="5AC8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AC8FA"/>
              </a:solidFill>
              <a:ln w="9525" cap="flat">
                <a:solidFill>
                  <a:srgbClr val="5AC8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1ª</c:v>
                  </c:pt>
                  <c:pt idx="1">
                    <c:v>5ª</c:v>
                  </c:pt>
                  <c:pt idx="2">
                    <c:v>10ª</c:v>
                  </c:pt>
                  <c:pt idx="3">
                    <c:v>20ª</c:v>
                  </c:pt>
                  <c:pt idx="4">
                    <c:v>50ª</c:v>
                  </c:pt>
                  <c:pt idx="5">
                    <c:v>100ª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78</c:v>
                </c:pt>
                <c:pt idx="2">
                  <c:v>65</c:v>
                </c:pt>
                <c:pt idx="3">
                  <c:v>55</c:v>
                </c:pt>
                <c:pt idx="4">
                  <c:v>45</c:v>
                </c:pt>
                <c:pt idx="5">
                  <c:v>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Horas por Unidad (No Estandarizado)</c:v>
                </c:pt>
              </c:strCache>
            </c:strRef>
          </c:tx>
          <c:spPr>
            <a:solidFill>
              <a:srgbClr val="FF453A"/>
            </a:solidFill>
            <a:ln w="25400" cap="flat">
              <a:solidFill>
                <a:srgbClr val="FF45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53A"/>
              </a:solidFill>
              <a:ln w="9525" cap="flat">
                <a:solidFill>
                  <a:srgbClr val="FF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1ª</c:v>
                  </c:pt>
                  <c:pt idx="1">
                    <c:v>5ª</c:v>
                  </c:pt>
                  <c:pt idx="2">
                    <c:v>10ª</c:v>
                  </c:pt>
                  <c:pt idx="3">
                    <c:v>20ª</c:v>
                  </c:pt>
                  <c:pt idx="4">
                    <c:v>50ª</c:v>
                  </c:pt>
                  <c:pt idx="5">
                    <c:v>100ª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92</c:v>
                </c:pt>
                <c:pt idx="3">
                  <c:v>90</c:v>
                </c:pt>
                <c:pt idx="4">
                  <c:v>88</c:v>
                </c:pt>
                <c:pt idx="5">
                  <c:v>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Reducción de Plazo (%)</c:v>
                </c:pt>
              </c:strCache>
            </c:strRef>
          </c:tx>
          <c:spPr>
            <a:solidFill>
              <a:srgbClr val="FFD6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O&amp;G Offshore</c:v>
                  </c:pt>
                  <c:pt idx="1">
                    <c:v>O&amp;G Onshore</c:v>
                  </c:pt>
                  <c:pt idx="2">
                    <c:v>Power Plant</c:v>
                  </c:pt>
                  <c:pt idx="3">
                    <c:v>Mining</c:v>
                  </c:pt>
                  <c:pt idx="4">
                    <c:v>Infrastructure</c:v>
                  </c:pt>
                  <c:pt idx="5">
                    <c:v>Commercial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14</c:v>
                </c:pt>
                <c:pt idx="2">
                  <c:v>12</c:v>
                </c:pt>
                <c:pt idx="3">
                  <c:v>16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Organizaciones en Cada Nivel (%)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Nivel 1
Inicial</c:v>
                  </c:pt>
                  <c:pt idx="1">
                    <c:v>Nivel 2
Repetible</c:v>
                  </c:pt>
                  <c:pt idx="2">
                    <c:v>Nivel 3
Definido</c:v>
                  </c:pt>
                  <c:pt idx="3">
                    <c:v>Nivel 4
Gestionado</c:v>
                  </c:pt>
                  <c:pt idx="4">
                    <c:v>Nivel 5
Optimizado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35</c:v>
                </c:pt>
                <c:pt idx="2">
                  <c:v>22</c:v>
                </c:pt>
                <c:pt idx="3">
                  <c:v>13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Madurez FEL</c:v>
                </c:pt>
              </c:strCache>
            </c:strRef>
          </c:tx>
          <c:spPr>
            <a:solidFill>
              <a:srgbClr val="0A8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FEL-1
(Evaluación)</c:v>
                  </c:pt>
                  <c:pt idx="1">
                    <c:v>FEL-2
(Selección)</c:v>
                  </c:pt>
                  <c:pt idx="2">
                    <c:v>FEL-3
(Definición)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65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Impacto en Predictibilidad del Costo (±%)</c:v>
                </c:pt>
              </c:strCache>
            </c:strRef>
          </c:tx>
          <c:spPr>
            <a:solidFill>
              <a:srgbClr val="FF9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FEL-1
(Evaluación)</c:v>
                  </c:pt>
                  <c:pt idx="1">
                    <c:v>FEL-2
(Selección)</c:v>
                  </c:pt>
                  <c:pt idx="2">
                    <c:v>FEL-3
(Definición)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15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Nivel 1 - Inicial</c:v>
                </c:pt>
              </c:strCache>
            </c:strRef>
          </c:tx>
          <c:spPr>
            <a:solidFill>
              <a:srgbClr val="FF453A"/>
            </a:solidFill>
            <a:ln w="25400" cap="flat">
              <a:solidFill>
                <a:srgbClr val="FF453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453A"/>
              </a:solidFill>
              <a:ln w="9525" cap="flat">
                <a:solidFill>
                  <a:srgbClr val="FF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Liderazgo</c:v>
                  </c:pt>
                  <c:pt idx="1">
                    <c:v>Procesos</c:v>
                  </c:pt>
                  <c:pt idx="2">
                    <c:v>Personal</c:v>
                  </c:pt>
                  <c:pt idx="3">
                    <c:v>Herramientas</c:v>
                  </c:pt>
                  <c:pt idx="4">
                    <c:v>Resultados</c:v>
                  </c:pt>
                  <c:pt idx="5">
                    <c:v>Conocimiento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10</c:v>
                </c:pt>
                <c:pt idx="2">
                  <c:v>20</c:v>
                </c:pt>
                <c:pt idx="3">
                  <c:v>10</c:v>
                </c:pt>
                <c:pt idx="4">
                  <c:v>15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Nivel 3 - Definido</c:v>
                </c:pt>
              </c:strCache>
            </c:strRef>
          </c:tx>
          <c:spPr>
            <a:solidFill>
              <a:srgbClr val="FF9500"/>
            </a:solidFill>
            <a:ln w="25400" cap="flat">
              <a:solidFill>
                <a:srgbClr val="FF950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9500"/>
              </a:solidFill>
              <a:ln w="9525" cap="flat">
                <a:solidFill>
                  <a:srgbClr val="FF9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Liderazgo</c:v>
                  </c:pt>
                  <c:pt idx="1">
                    <c:v>Procesos</c:v>
                  </c:pt>
                  <c:pt idx="2">
                    <c:v>Personal</c:v>
                  </c:pt>
                  <c:pt idx="3">
                    <c:v>Herramientas</c:v>
                  </c:pt>
                  <c:pt idx="4">
                    <c:v>Resultados</c:v>
                  </c:pt>
                  <c:pt idx="5">
                    <c:v>Conocimiento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65</c:v>
                </c:pt>
                <c:pt idx="2">
                  <c:v>55</c:v>
                </c:pt>
                <c:pt idx="3">
                  <c:v>60</c:v>
                </c:pt>
                <c:pt idx="4">
                  <c:v>58</c:v>
                </c:pt>
                <c:pt idx="5">
                  <c:v>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Nivel 5 - Optimizado</c:v>
                </c:pt>
              </c:strCache>
            </c:strRef>
          </c:tx>
          <c:spPr>
            <a:solidFill>
              <a:srgbClr val="30D158"/>
            </a:solidFill>
            <a:ln w="25400" cap="flat">
              <a:solidFill>
                <a:srgbClr val="30D15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0D158"/>
              </a:solidFill>
              <a:ln w="9525" cap="flat">
                <a:solidFill>
                  <a:srgbClr val="30D1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Liderazgo</c:v>
                  </c:pt>
                  <c:pt idx="1">
                    <c:v>Procesos</c:v>
                  </c:pt>
                  <c:pt idx="2">
                    <c:v>Personal</c:v>
                  </c:pt>
                  <c:pt idx="3">
                    <c:v>Herramientas</c:v>
                  </c:pt>
                  <c:pt idx="4">
                    <c:v>Resultados</c:v>
                  </c:pt>
                  <c:pt idx="5">
                    <c:v>Conocimiento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95</c:v>
                </c:pt>
                <c:pt idx="1">
                  <c:v>95</c:v>
                </c:pt>
                <c:pt idx="2">
                  <c:v>90</c:v>
                </c:pt>
                <c:pt idx="3">
                  <c:v>92</c:v>
                </c:pt>
                <c:pt idx="4">
                  <c:v>95</c:v>
                </c:pt>
                <c:pt idx="5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Antes de Constructabilidad</c:v>
                </c:pt>
              </c:strCache>
            </c:strRef>
          </c:tx>
          <c:spPr>
            <a:solidFill>
              <a:srgbClr val="FF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Costo Final
vs. Estimado</c:v>
                  </c:pt>
                  <c:pt idx="1">
                    <c:v>Plazo Final
vs. Plan</c:v>
                  </c:pt>
                  <c:pt idx="2">
                    <c:v>Retrabajo
(% TIC)</c:v>
                  </c:pt>
                  <c:pt idx="3">
                    <c:v>NCRs
Total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</c:v>
                </c:pt>
                <c:pt idx="1">
                  <c:v>118</c:v>
                </c:pt>
                <c:pt idx="2">
                  <c:v>8.2</c:v>
                </c:pt>
                <c:pt idx="3">
                  <c:v>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Constructabilidad CII</c:v>
                </c:pt>
              </c:strCache>
            </c:strRef>
          </c:tx>
          <c:spPr>
            <a:solidFill>
              <a:srgbClr val="5AC8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Costo Final
vs. Estimado</c:v>
                  </c:pt>
                  <c:pt idx="1">
                    <c:v>Plazo Final
vs. Plan</c:v>
                  </c:pt>
                  <c:pt idx="2">
                    <c:v>Retrabajo
(% TIC)</c:v>
                  </c:pt>
                  <c:pt idx="3">
                    <c:v>NCRs
Total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</c:v>
                </c:pt>
                <c:pt idx="1">
                  <c:v>98</c:v>
                </c:pt>
                <c:pt idx="2">
                  <c:v>2.4</c:v>
                </c:pt>
                <c:pt idx="3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8E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Situación Actual</c:v>
                </c:pt>
              </c:strCache>
            </c:strRef>
          </c:tx>
          <c:spPr>
            <a:solidFill>
              <a:srgbClr val="FF453A"/>
            </a:solidFill>
            <a:ln w="25400" cap="flat">
              <a:solidFill>
                <a:srgbClr val="FF453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453A"/>
              </a:solidFill>
              <a:ln w="9525" cap="flat">
                <a:solidFill>
                  <a:srgbClr val="FF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Liderazgo</c:v>
                  </c:pt>
                  <c:pt idx="1">
                    <c:v>Procesos SP 34-1</c:v>
                  </c:pt>
                  <c:pt idx="2">
                    <c:v>Capacitación</c:v>
                  </c:pt>
                  <c:pt idx="3">
                    <c:v>Tecnología BIM</c:v>
                  </c:pt>
                  <c:pt idx="4">
                    <c:v>Medición KPIs</c:v>
                  </c:pt>
                  <c:pt idx="5">
                    <c:v>Cultura Org.</c:v>
                  </c:pt>
                  <c:pt idx="6">
                    <c:v>Gestión Conocimiento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35</c:v>
                </c:pt>
                <c:pt idx="2">
                  <c:v>40</c:v>
                </c:pt>
                <c:pt idx="3">
                  <c:v>55</c:v>
                </c:pt>
                <c:pt idx="4">
                  <c:v>30</c:v>
                </c:pt>
                <c:pt idx="5">
                  <c:v>40</c:v>
                </c:pt>
                <c:pt idx="6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Objetivo Año 1</c:v>
                </c:pt>
              </c:strCache>
            </c:strRef>
          </c:tx>
          <c:spPr>
            <a:solidFill>
              <a:srgbClr val="FF9500"/>
            </a:solidFill>
            <a:ln w="25400" cap="flat">
              <a:solidFill>
                <a:srgbClr val="FF950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9500"/>
              </a:solidFill>
              <a:ln w="9525" cap="flat">
                <a:solidFill>
                  <a:srgbClr val="FF95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Liderazgo</c:v>
                  </c:pt>
                  <c:pt idx="1">
                    <c:v>Procesos SP 34-1</c:v>
                  </c:pt>
                  <c:pt idx="2">
                    <c:v>Capacitación</c:v>
                  </c:pt>
                  <c:pt idx="3">
                    <c:v>Tecnología BIM</c:v>
                  </c:pt>
                  <c:pt idx="4">
                    <c:v>Medición KPIs</c:v>
                  </c:pt>
                  <c:pt idx="5">
                    <c:v>Cultura Org.</c:v>
                  </c:pt>
                  <c:pt idx="6">
                    <c:v>Gestión Conocimiento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70</c:v>
                </c:pt>
                <c:pt idx="1">
                  <c:v>65</c:v>
                </c:pt>
                <c:pt idx="2">
                  <c:v>75</c:v>
                </c:pt>
                <c:pt idx="3">
                  <c:v>70</c:v>
                </c:pt>
                <c:pt idx="4">
                  <c:v>60</c:v>
                </c:pt>
                <c:pt idx="5">
                  <c:v>65</c:v>
                </c:pt>
                <c:pt idx="6">
                  <c:v>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Objetivo Año 3</c:v>
                </c:pt>
              </c:strCache>
            </c:strRef>
          </c:tx>
          <c:spPr>
            <a:solidFill>
              <a:srgbClr val="30D158"/>
            </a:solidFill>
            <a:ln w="25400" cap="flat">
              <a:solidFill>
                <a:srgbClr val="30D15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0D158"/>
              </a:solidFill>
              <a:ln w="9525" cap="flat">
                <a:solidFill>
                  <a:srgbClr val="30D1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Liderazgo</c:v>
                  </c:pt>
                  <c:pt idx="1">
                    <c:v>Procesos SP 34-1</c:v>
                  </c:pt>
                  <c:pt idx="2">
                    <c:v>Capacitación</c:v>
                  </c:pt>
                  <c:pt idx="3">
                    <c:v>Tecnología BIM</c:v>
                  </c:pt>
                  <c:pt idx="4">
                    <c:v>Medición KPIs</c:v>
                  </c:pt>
                  <c:pt idx="5">
                    <c:v>Cultura Org.</c:v>
                  </c:pt>
                  <c:pt idx="6">
                    <c:v>Gestión Conocimiento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85</c:v>
                </c:pt>
                <c:pt idx="4">
                  <c:v>90</c:v>
                </c:pt>
                <c:pt idx="5">
                  <c:v>85</c:v>
                </c:pt>
                <c:pt idx="6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914400"/>
            <a:ext cx="4114800" cy="5943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645920"/>
            <a:ext cx="2743200" cy="4114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Construction Industry Institute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7315200" cy="0"/>
          </a:xfrm>
          <a:prstGeom prst="line">
            <a:avLst/>
          </a:prstGeom>
          <a:noFill/>
          <a:ln w="1270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Guía Completa de Implementación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Enfoque Integrado: Conceptos, Herramientas y Métricas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Versión 2  ·  2024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 / 140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ÍNDICE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29844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Contexto y definiciones fundamentales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64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9844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67728" y="129844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Marco CII: 17 conceptos de constructabilidad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5856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225856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Beneficios cuantificados y métricas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24028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5856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67728" y="225856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Fases de proyecto: Conceptual, Diseño, Campo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AF5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1868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24128" y="321868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Buildability vs Constructability (CIRIA vs CII)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20040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FFD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1868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67728" y="321868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T-1 a T-19 del SP 34-1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FF45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7880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24128" y="417880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de implementación: Hoja de ruta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16052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17880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67728" y="417880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de estudio y benchmarking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512064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13892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09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24128" y="513892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 y tendencias futuras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512064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2C2C2E"/>
          </a:solidFill>
          <a:ln w="15240">
            <a:solidFill>
              <a:srgbClr val="64D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138928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67728" y="5138928"/>
            <a:ext cx="4892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Cierre: cultura, KPIs y próximos pasos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¿Qué es la Constructabilidad?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1430000" cy="1371600"/>
          </a:xfrm>
          <a:prstGeom prst="roundRect">
            <a:avLst>
              <a:gd name="adj" fmla="val 8000"/>
            </a:avLst>
          </a:prstGeom>
          <a:solidFill>
            <a:srgbClr val="0A2040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— Construction Industry Institute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uso óptimo del conocimiento y la experiencia de construcción durante la planificación, diseño, adquisiciones y operación de campo para alcanzar los objetivos del proyecto."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11430000" cy="1188720"/>
          </a:xfrm>
          <a:prstGeom prst="roundRect">
            <a:avLst>
              <a:gd name="adj" fmla="val 9231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16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CIRIA — Construction Industry Research and Information Association (UK)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grado en que el diseño facilita la facilidad de construcción, sujeto a los requisitos generales de la estructura terminada."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096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DISTINCIÓN CLAVE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47141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0740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CII: Abarca TODO el ciclo de vida del proyecto (no solo diseño)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85546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9145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CIRIA: Foco principal en la fase de diseño (buildability)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23951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17550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Ambas: el objetivo final es la eficiencia constructiva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HISTORIA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Evolución Histórica de la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25400">
            <a:solidFill>
              <a:srgbClr val="3A3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017520"/>
            <a:ext cx="365760" cy="36576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1964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352" y="35204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61188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CIRIA publica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primeros estudios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buildability (UK)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80360" y="3017520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1976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50592" y="35204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361188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USA crea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concepto formal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constructability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365760" cy="36576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1983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70832" y="35204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361188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publica Body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of Knowledge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 conceptos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3017520"/>
            <a:ext cx="365760" cy="36576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1993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91072" y="35204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61188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34-1: Guía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implementación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 19 herramientas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41080" y="3017520"/>
            <a:ext cx="365760" cy="36576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2010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11312" y="35204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2700">
            <a:solidFill>
              <a:srgbClr val="AF5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361188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Lean Construction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 BIM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561320" y="3017520"/>
            <a:ext cx="365760" cy="36576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0" y="2468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2024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31552" y="3520440"/>
            <a:ext cx="1755648" cy="1463040"/>
          </a:xfrm>
          <a:prstGeom prst="roundRect">
            <a:avLst>
              <a:gd name="adj" fmla="val 5000"/>
            </a:avLst>
          </a:prstGeom>
          <a:solidFill>
            <a:srgbClr val="2C2C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2992" y="3611880"/>
            <a:ext cx="15727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IA y constructa-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bilidad predictiva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¿Por qué Importa? Impacto en Proyectos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71323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23444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325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30–40%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909560" y="1892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Total (TIC)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0" y="256032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26517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6:1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909560" y="3218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promedio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(Jergeas, 2001)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72400" y="388620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39776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80%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909560" y="4544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Influencia en costo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fase conceptual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0" y="5212080"/>
            <a:ext cx="4114800" cy="1170432"/>
          </a:xfrm>
          <a:prstGeom prst="roundRect">
            <a:avLst>
              <a:gd name="adj" fmla="val 7813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5303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909560" y="58704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CII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validados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 CLAVE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Curva de Influencia en el Costo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86868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235440" y="137160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402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VENTANA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OPORTUNIDAD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326880" y="2084832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decisiones en fases tempranas afectan el 80–90% del costo total del proyecto.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235440" y="33375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0" y="342900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Solo el 2–8% del costo se ha comprometido, pero el 80% ya está definido por las decisiones de diseño.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COMPARATIVA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Buildability vs. Constructability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5760720" cy="5349240"/>
          </a:xfrm>
          <a:prstGeom prst="roundRect">
            <a:avLst>
              <a:gd name="adj" fmla="val 2051"/>
            </a:avLst>
          </a:prstGeom>
          <a:solidFill>
            <a:srgbClr val="2C2C2E"/>
          </a:solidFill>
          <a:ln w="25400">
            <a:solidFill>
              <a:srgbClr val="AF52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57607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6187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BUILDABILITY (CIRIA / UK)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84248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874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Origen: UK, 1964–1983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48716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Foco: Facilitar el proceso constructivo desde el diseño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09544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09981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Alcance: Principalmente etapa de diseño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7124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Énfasis: Diseñadores consideran factores constructivos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43251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Métrica: Escala CIRIA de 0-10 por categoría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047488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9377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Herramientas: Listas de verificación de diseño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660136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55504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Adopción: Europa (especialmente UK y países nórdicos)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234440"/>
            <a:ext cx="5760720" cy="5349240"/>
          </a:xfrm>
          <a:prstGeom prst="roundRect">
            <a:avLst>
              <a:gd name="adj" fmla="val 2051"/>
            </a:avLst>
          </a:prstGeom>
          <a:solidFill>
            <a:srgbClr val="2C2C2E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234440"/>
            <a:ext cx="576072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126187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 (CII / USA)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1984248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8" name="Text 26"/>
          <p:cNvSpPr/>
          <p:nvPr/>
        </p:nvSpPr>
        <p:spPr>
          <a:xfrm>
            <a:off x="6693408" y="18745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Origen: USA, CII 1976–1983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596896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0" name="Text 28"/>
          <p:cNvSpPr/>
          <p:nvPr/>
        </p:nvSpPr>
        <p:spPr>
          <a:xfrm>
            <a:off x="6693408" y="248716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Foco: Integración del conocimiento constructor en TODO el proyecto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209544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2" name="Text 30"/>
          <p:cNvSpPr/>
          <p:nvPr/>
        </p:nvSpPr>
        <p:spPr>
          <a:xfrm>
            <a:off x="6693408" y="309981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Alcance: Ciclo de vida completo del proyecto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822192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4" name="Text 32"/>
          <p:cNvSpPr/>
          <p:nvPr/>
        </p:nvSpPr>
        <p:spPr>
          <a:xfrm>
            <a:off x="6693408" y="37124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Énfasis: Equipo constructor involucrado desde el inicio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434840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6" name="Text 34"/>
          <p:cNvSpPr/>
          <p:nvPr/>
        </p:nvSpPr>
        <p:spPr>
          <a:xfrm>
            <a:off x="6693408" y="43251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Métrica: 17 conceptos con métricas de implementación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92240" y="5047488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8" name="Text 36"/>
          <p:cNvSpPr/>
          <p:nvPr/>
        </p:nvSpPr>
        <p:spPr>
          <a:xfrm>
            <a:off x="6693408" y="49377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Herramientas: 19 herramientas del SP 34-1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660136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93408" y="55504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Adopción: Américas, Asia-Pacífico, internacional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Conclusión: CII Constructability es el marco más completo y ampliamente adoptado para proyectos de ingeniería y construcción a nivel global.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 de Beneficios de la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640080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04088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ESTUDIOS CLAVE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040880" y="1691640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05472" y="1737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(1986)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05472" y="202996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con constructabilidad formal ahorran promedio $4.25 por cada $1 invertido.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40880" y="2898648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05472" y="2944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Jergeas &amp; Van der Put (2001)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05472" y="3236976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Estudio Alberta: 30–40% reducción del TIC aplicando 17 principios CII.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40880" y="4105656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05472" y="41513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O'Connor &amp; Miller (1994)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05472" y="444398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de proceso con constructabilidad: 4.3% menor costo promedio.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40880" y="5312664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05472" y="53583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RT-101 (1993)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205472" y="565099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Ratio costo-beneficio de 6:1 en proyectos de US$5M–US$500M.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Marco CII: Los 17 Conceptos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Fundamento científico de la constructabilidad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 / 140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MARCO CII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Estructura de los 17 Conceptos en 3 Fases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794760" cy="5349240"/>
          </a:xfrm>
          <a:prstGeom prst="roundRect">
            <a:avLst>
              <a:gd name="adj" fmla="val 2410"/>
            </a:avLst>
          </a:prstGeom>
          <a:solidFill>
            <a:srgbClr val="2C2C2E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379476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618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 Conceptos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04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C-1: Integración temprana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62072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C-2: Programas constructivos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438144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56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C-3: Prefactibilidad constructiva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4014216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0325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C-4: Métodos alternativos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90288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6085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C-5: Innovación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516636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51846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C-6: Construcción en lote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5742432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760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C-7: Revisión constructiva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33088" y="3520440"/>
            <a:ext cx="237744" cy="36576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160520" y="1234440"/>
            <a:ext cx="3794760" cy="5349240"/>
          </a:xfrm>
          <a:prstGeom prst="roundRect">
            <a:avLst>
              <a:gd name="adj" fmla="val 2410"/>
            </a:avLst>
          </a:prstGeom>
          <a:solidFill>
            <a:srgbClr val="2C2C2E"/>
          </a:solidFill>
          <a:ln w="25400">
            <a:solidFill>
              <a:srgbClr val="30D1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1234440"/>
            <a:ext cx="379476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251960" y="12618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Y ADQUISICIONES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51960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 Conceptos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7680" y="22860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2304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C-8: Simplicidad diseño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2862072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16552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C-9: Estandarización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3438144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3456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C-10: Prefabricación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97680" y="4014216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16552" y="40325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C-11: Accesibilidad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97680" y="4590288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46085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C-12: Especificaciones constructivas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516636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6552" y="51846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C-13: Plan de montaje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5742432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5760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C-14: Programas detallados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6318504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6336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C-15: Recursos humanos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19288" y="3520440"/>
            <a:ext cx="237744" cy="36576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47" name="Shape 45"/>
          <p:cNvSpPr/>
          <p:nvPr/>
        </p:nvSpPr>
        <p:spPr>
          <a:xfrm>
            <a:off x="8046720" y="1234440"/>
            <a:ext cx="3794760" cy="5349240"/>
          </a:xfrm>
          <a:prstGeom prst="roundRect">
            <a:avLst>
              <a:gd name="adj" fmla="val 2410"/>
            </a:avLst>
          </a:prstGeom>
          <a:solidFill>
            <a:srgbClr val="2C2C2E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1234440"/>
            <a:ext cx="379476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8138160" y="12618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CONSTRUCCIÓN DE CAMPO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38160" y="19385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 Conceptos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83880" y="2286000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02752" y="23042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C-16: Innovación en campo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183880" y="2862072"/>
            <a:ext cx="3520440" cy="50292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02752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C-17: Retroalimentación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· CONCEPTUAL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C-1: Integración Temprana del Conocimiento Constructor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1247120" cy="0"/>
          </a:xfrm>
          <a:prstGeom prst="line">
            <a:avLst/>
          </a:prstGeom>
          <a:noFill/>
          <a:ln w="25400">
            <a:solidFill>
              <a:srgbClr val="0A8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A204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173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✓ Constructor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involucrado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0360" y="2651760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Prefac-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tibilidad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1325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A204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173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✓ Constructor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involucrado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0" y="13258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A204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41732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✓ Constructor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involucrado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12280" y="2651760"/>
            <a:ext cx="365760" cy="36576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Ingeniería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Básica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2651760"/>
            <a:ext cx="365760" cy="365760"/>
          </a:xfrm>
          <a:prstGeom prst="ellipse">
            <a:avLst/>
          </a:prstGeom>
          <a:solidFill>
            <a:srgbClr val="8E8E93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Ingeniería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Detalle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698480" y="2651760"/>
            <a:ext cx="365760" cy="365760"/>
          </a:xfrm>
          <a:prstGeom prst="ellipse">
            <a:avLst/>
          </a:prstGeom>
          <a:solidFill>
            <a:srgbClr val="8E8E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0" y="3154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ción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11430000" cy="2468880"/>
          </a:xfrm>
          <a:prstGeom prst="roundRect">
            <a:avLst>
              <a:gd name="adj" fmla="val 3704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ACCIONES CONCRETAS DEL C-1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Incluir al Gerente de Construcción en el equipo de proyecto desde la fase conceptual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0857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4456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Establecer sesiones formales de revisión constructiva en hitos tempranos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99262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92861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Documentar lecciones aprendidas de proyectos anteriores y aplicarlas al nuevo diseño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7667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31266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Crear protocolos de comunicación entre diseñadores y constructores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76072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69671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Definir criterios de constructabilidad en el Plan de Ejecución del Proyecto (PEP)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· CONCEPTUAL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C-2: Programas Constructivos · C-3: Métodos Alternativos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5577840" cy="5349240"/>
          </a:xfrm>
          <a:prstGeom prst="roundRect">
            <a:avLst>
              <a:gd name="adj" fmla="val 1709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C-2: Programas Constructivos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Desarrollo de estrategias de construcción durante la planificación conceptual para guiar el diseño.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059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Analizar sitio y acceso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3081528"/>
            <a:ext cx="365760" cy="182880"/>
          </a:xfrm>
          <a:prstGeom prst="downArrow">
            <a:avLst/>
          </a:prstGeom>
          <a:solidFill>
            <a:srgbClr val="0A8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461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7355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Definir secuencia de trabajo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3904488"/>
            <a:ext cx="365760" cy="182880"/>
          </a:xfrm>
          <a:prstGeom prst="downArrow">
            <a:avLst/>
          </a:prstGeom>
          <a:solidFill>
            <a:srgbClr val="0A8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06908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9651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Identificar restricciones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4727448"/>
            <a:ext cx="365760" cy="182880"/>
          </a:xfrm>
          <a:prstGeom prst="downArrow">
            <a:avLst/>
          </a:prstGeom>
          <a:solidFill>
            <a:srgbClr val="0A8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89204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919472"/>
            <a:ext cx="5029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 Establecer metodología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Diseño alineado con la estrategia constructiva desde el inicio.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234440"/>
            <a:ext cx="5577840" cy="5349240"/>
          </a:xfrm>
          <a:prstGeom prst="roundRect">
            <a:avLst>
              <a:gd name="adj" fmla="val 1709"/>
            </a:avLst>
          </a:prstGeom>
          <a:solidFill>
            <a:srgbClr val="2C2C2E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98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C-3: Métodos Constructivos Alternativos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171907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sistemática de métodos alternativos de construcción para seleccionar el más eficiente.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42316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5059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Cast-in-situ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0" y="245059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Tradicional, máx. control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324612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27355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0" y="327355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Calidad controlada, rapidez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0" y="406908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09651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0" y="409651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Ideal para sitios remotos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489204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919472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Industrializada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4919472"/>
            <a:ext cx="2926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Máx. productividad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5943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Criterio de selección: costo × plazo × riesgo × disponibilidad de recursos.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· CONCEPTUAL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C-4: Innovación · C-5: Prefabricación y Modularización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C-4: Innovación Constructiva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155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Incorporar tecnologías, métodos y materiales innovadores que mejoren la eficiencia del proceso constructivo. Incluye: BIM 4D/5D, impresión 3D, drones, realidad aumentada en campo, prefab digitalmente integrada.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4D/5D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09651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Simulación temporal y de costos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97480" y="365760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2C2C2E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Drones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409651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Topografía, inspección, logística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4920" y="365760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Impresión 3D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6360" y="409651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Concreto, metales, plásticos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52360" y="365760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Realidad Aumentada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43800" y="409651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Montaje guiado en campo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29800" y="3657600"/>
            <a:ext cx="2194560" cy="1325880"/>
          </a:xfrm>
          <a:prstGeom prst="roundRect">
            <a:avLst>
              <a:gd name="adj" fmla="val 5517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Robots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4096512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Soldadura, mampostería, inspección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507492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846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C-5: Prefabricación y Modularización (cuando aplica)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532120"/>
            <a:ext cx="11155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Evaluar en fase conceptual la viabilidad de prefabricar o modularizar para reducir trabajo en sitio. Beneficios: calidad controlada en fábrica, reducción de riesgos de seguridad en campo, mayor productividad, posible reducción de plazo 15-25%.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· CONCEPTUAL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C-6: Construcción por Lotes · C-7: Revisión Constructiva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14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C-6: Construcción por Lotes o Fases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Estructurar el proyecto para construir en zonas o fases independientes, permitiendo operación temprana de áreas completadas.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Lote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(Mes 1-8)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260604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Lote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(Mes 4-12)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60604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Lote 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(Mes 8-18)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0" y="260604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98280" y="224028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286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Operación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 (Mes 8+)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11430000" cy="0"/>
          </a:xfrm>
          <a:prstGeom prst="line">
            <a:avLst/>
          </a:prstGeom>
          <a:noFill/>
          <a:ln w="9525">
            <a:solidFill>
              <a:srgbClr val="3A3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C-7: Revisión Constructiva Formal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" y="39776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Revisiones periódicas y sistemáticas del diseño desde la perspectiva del constructor en hitos definidos.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C2C2E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268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10% Diseño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51389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estrategia constructiva y secuencias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4572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C2C2E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6268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30% Diseño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51389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planos de fundaciones y estructura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C2C2E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6268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60% Diseño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51389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accesibilidad, equipos, logística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45720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2C2C2E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46268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90% Diseño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89720" y="51389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final pre-construcción, paquetes IFC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· DISEÑO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II: Conceptos C-8 a C-15 — Diseño y Adquisiciones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1673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Simplicidad del Diseño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Minimizar complejidad innecesaria que dificulte la construcción.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31673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Usar elementos, módulos y detalles repetitivos para ganar eficiencia.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28016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31673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 y Pre-ensamblaje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228600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Fabricar fuera de sitio para reducir trabajo en campo.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89720" y="128016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28016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131673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811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81160" y="228600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Diseñar para el acceso de personas, equipos y materiales.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88620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88620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2277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 Constructivas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 orientadas a la facilidad constructiva.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46120" y="388620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88620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92277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Montaje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7560" y="489204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lógica de montaje definida en el diseño.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88620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88620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92277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Programas Detallados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489204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Cronogramas que consideran restricciones constructivas reales.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89720" y="3886200"/>
            <a:ext cx="2743200" cy="2395728"/>
          </a:xfrm>
          <a:prstGeom prst="roundRect">
            <a:avLst>
              <a:gd name="adj" fmla="val 3817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3886200"/>
            <a:ext cx="274320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9281160" y="392277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8116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RR.HH.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281160" y="4892040"/>
            <a:ext cx="25603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Planificación de mano de obra especializada con anticipación.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· DISEÑO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C-8: Simplicidad del Diseño — Análisis Cuantitativo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16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685800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1325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PRINCIPIOS PRÁCTICOS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06640" y="172821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Reducir la variedad de materiales y componentes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211226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20482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Evitar detalles constructivos complejos innecesarios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06640" y="249631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24323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Usar secciones y geometrías estándar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06640" y="288036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0" y="28163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Minimizar cambios de dirección y quiebres en estructuras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06640" y="326440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5"/>
          <p:cNvSpPr/>
          <p:nvPr/>
        </p:nvSpPr>
        <p:spPr>
          <a:xfrm>
            <a:off x="7589520" y="3200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Diseñar para tolerancias constructivas reales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06640" y="3648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7"/>
          <p:cNvSpPr/>
          <p:nvPr/>
        </p:nvSpPr>
        <p:spPr>
          <a:xfrm>
            <a:off x="7589520" y="3584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Revisar con constructor: "¿se puede construir fácilmente?"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06640" y="4709160"/>
            <a:ext cx="4480560" cy="1572768"/>
          </a:xfrm>
          <a:prstGeom prst="roundRect">
            <a:avLst>
              <a:gd name="adj" fmla="val 5814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43800" y="48188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CASO: Planta Industrial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43800" y="5166360"/>
            <a:ext cx="420624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Simplificación de 847 tipos de conexiones a 124 tipos estandarizados → ahorro de 18% en horas de fabricación + 12% en horas de montaje.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· DISEÑO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C-9: Estandarización · C-10: Prefabricación Off-Site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17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60720" y="12618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C-10: Tipos de Prefabricación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60720" y="1737360"/>
            <a:ext cx="6126480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5312" y="17922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0" y="17922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15-25% ahorro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25312" y="212140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Elementos simples fabricados en planta (vigas, columnas, losas)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2852928"/>
            <a:ext cx="6126480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907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Pre-ensamblado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61120" y="2907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20-30% ahorro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25312" y="3236976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Subensamblajes (racks de tuberías, módulos eléctricos)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0" y="3968496"/>
            <a:ext cx="6126480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4023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Modularizado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6112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25-40% ahorro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25312" y="4352544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Módulos funcionales completos (cuartos de control, subestaciones)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5084064"/>
            <a:ext cx="6126480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5240">
            <a:solidFill>
              <a:srgbClr val="AF52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25312" y="51389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Open-top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961120" y="5138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15-20% ahorro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25312" y="5468112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Estructuras completas pre-armadas en terreno, levantadas por grúa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· DISEÑO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C-11: Accesibilidad · C-12: Especificaciones · C-13: Montaje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749040" cy="5394960"/>
          </a:xfrm>
          <a:prstGeom prst="roundRect">
            <a:avLst>
              <a:gd name="adj" fmla="val 2439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374904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6187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 para Construcción y Mantenimiento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624328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1460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Vías de acceso para camiones y grúas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3200400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09067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Espacio libre para maniobras de izaje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776472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66674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Plataformas de trabajo temporales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" y="4352544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24281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para mantenimiento futuro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4928616"/>
            <a:ext cx="109728" cy="10972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8188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Almacenamiento de materiales en sitio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1234440"/>
            <a:ext cx="3749040" cy="5394960"/>
          </a:xfrm>
          <a:prstGeom prst="roundRect">
            <a:avLst>
              <a:gd name="adj" fmla="val 2439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1234440"/>
            <a:ext cx="374904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361688" y="126187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61688" y="181051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 Orientadas a la Construcción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53128" y="2624328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251460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Especificar rendimientos, no solo materiales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53128" y="3200400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8" name="Text 26"/>
          <p:cNvSpPr/>
          <p:nvPr/>
        </p:nvSpPr>
        <p:spPr>
          <a:xfrm>
            <a:off x="4636008" y="309067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Permitir alternativas equivalentes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53128" y="3776472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0" name="Text 28"/>
          <p:cNvSpPr/>
          <p:nvPr/>
        </p:nvSpPr>
        <p:spPr>
          <a:xfrm>
            <a:off x="4636008" y="366674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Reducir inspección y pruebas innecesarias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53128" y="4352544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2" name="Text 30"/>
          <p:cNvSpPr/>
          <p:nvPr/>
        </p:nvSpPr>
        <p:spPr>
          <a:xfrm>
            <a:off x="4636008" y="424281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Tolerancias constructivas realistas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53128" y="4928616"/>
            <a:ext cx="109728" cy="109728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34" name="Text 32"/>
          <p:cNvSpPr/>
          <p:nvPr/>
        </p:nvSpPr>
        <p:spPr>
          <a:xfrm>
            <a:off x="4636008" y="48188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Secuencias de construcción en planos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1234440"/>
            <a:ext cx="3749040" cy="5394960"/>
          </a:xfrm>
          <a:prstGeom prst="roundRect">
            <a:avLst>
              <a:gd name="adj" fmla="val 2439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1234440"/>
            <a:ext cx="374904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339328" y="126187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39328" y="181051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Montaje y Secuencias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30768" y="2624328"/>
            <a:ext cx="109728" cy="10972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0" name="Text 38"/>
          <p:cNvSpPr/>
          <p:nvPr/>
        </p:nvSpPr>
        <p:spPr>
          <a:xfrm>
            <a:off x="8613648" y="251460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Planos de montaje detallados (erection drawings)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30768" y="3200400"/>
            <a:ext cx="109728" cy="10972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2" name="Text 40"/>
          <p:cNvSpPr/>
          <p:nvPr/>
        </p:nvSpPr>
        <p:spPr>
          <a:xfrm>
            <a:off x="8613648" y="309067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Estudio de cargas de grúa y accesos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30768" y="3776472"/>
            <a:ext cx="109728" cy="10972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4" name="Text 42"/>
          <p:cNvSpPr/>
          <p:nvPr/>
        </p:nvSpPr>
        <p:spPr>
          <a:xfrm>
            <a:off x="8613648" y="366674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de activación de instalaciones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30768" y="4352544"/>
            <a:ext cx="109728" cy="10972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6" name="Text 44"/>
          <p:cNvSpPr/>
          <p:nvPr/>
        </p:nvSpPr>
        <p:spPr>
          <a:xfrm>
            <a:off x="8613648" y="4242816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Pre-comisionamiento planificado desde diseño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30768" y="4928616"/>
            <a:ext cx="109728" cy="10972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48" name="Text 46"/>
          <p:cNvSpPr/>
          <p:nvPr/>
        </p:nvSpPr>
        <p:spPr>
          <a:xfrm>
            <a:off x="8613648" y="4818888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Identificación de actividades críticas de montaje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· DISEÑO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C-14: Programas Detallados · C-15: Gestión de Recursos 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1430000" cy="2103120"/>
          </a:xfrm>
          <a:prstGeom prst="roundRect">
            <a:avLst>
              <a:gd name="adj" fmla="val 4348"/>
            </a:avLst>
          </a:prstGeom>
          <a:solidFill>
            <a:srgbClr val="2C2C2E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C-14: Programas de Construcción Detallados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155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Desarrollar cronogramas integrales que incorporen restricciones reales de construcción: disponibilidad de materiales, secuencias de montaje, capacidad de grúas, picos de mano de obra, frentes de trabajo. El programa debe ser construible, no solo teórico.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3429000"/>
          <a:ext cx="7772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321040" y="342900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3538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C-15: Gestión de RR.HH.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58200" y="3886200"/>
            <a:ext cx="33832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• Anticipar requerimientos de mano de obra especializada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• Plan de capacitación y certificaciones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• Acuerdos con sindicatos desde fase conceptual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• Programa de incentivos por productividad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• Gestión de equipos multiculturales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 · CAMPO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III: C-16 Innovación en Campo · C-17 Retroalimentación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Fase III cierra el ciclo: aplica la constructabilidad durante la ejecución y captura el conocimiento para futuros proyectos.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842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C-16: Innovación Constructiva en Campo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Formalizar un proceso de captura de ideas del personal de campo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98648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Implementar un sistema de "constructability feedback" semanal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82696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Evaluar y aprobar rápidamente mejoras propuestas en campo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66744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Documentar variaciones y su impacto (positivo/negativo)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5079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Recompensar innovaciones que mejoren productividad o seguridad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988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3484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Registrar "mejores prácticas" para transferencia a otros proyectos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92024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842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C-17: Retroalimentación al Diseño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2560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Ejecución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Campo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98280" y="2560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606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Registro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Problemas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977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023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Causas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98280" y="397764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00000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0" y="4023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Mejoras 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61120" y="2971800"/>
            <a:ext cx="228600" cy="228600"/>
          </a:xfrm>
          <a:prstGeom prst="rightArrow">
            <a:avLst/>
          </a:prstGeom>
          <a:solidFill>
            <a:srgbClr val="FF453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64240" y="3657600"/>
            <a:ext cx="228600" cy="228600"/>
          </a:xfrm>
          <a:prstGeom prst="downArrow">
            <a:avLst/>
          </a:prstGeom>
          <a:solidFill>
            <a:srgbClr val="FF453A"/>
          </a:solidFill>
          <a:ln/>
        </p:spPr>
      </p:sp>
      <p:sp>
        <p:nvSpPr>
          <p:cNvPr id="34" name="Shape 32"/>
          <p:cNvSpPr/>
          <p:nvPr/>
        </p:nvSpPr>
        <p:spPr>
          <a:xfrm>
            <a:off x="8961120" y="5029200"/>
            <a:ext cx="228600" cy="228600"/>
          </a:xfrm>
          <a:prstGeom prst="leftArrow">
            <a:avLst/>
          </a:prstGeom>
          <a:solidFill>
            <a:srgbClr val="FF453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0" y="3657600"/>
            <a:ext cx="228600" cy="228600"/>
          </a:xfrm>
          <a:prstGeom prst="upArrow">
            <a:avLst/>
          </a:prstGeom>
          <a:solidFill>
            <a:srgbClr val="FF453A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57607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ciclo continuo de retroalimentación es lo que convierte a una organización en "aprendiente" en constructabilidad.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RESUMEN MARCO CII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17 Conceptos CII — Vista Completa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21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243584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I: CONCEPTUAL (C-1 a C-7)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91056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993392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Temprana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55520" y="1554480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9528" y="1591056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2952" y="1993392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Programas Constructivos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91000" y="1554480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5008" y="1591056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18432" y="1993392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Prefactibilidad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591056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3912" y="1993392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Métodos Alternativos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61960" y="1554480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5968" y="1591056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89392" y="1993392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Innovación Conceptual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997440" y="1554480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61448" y="1591056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24872" y="1993392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Construcción por Lotes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290779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II: DISEÑO Y ADQUISICIONES (C-8 a C-15)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18688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255264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3657600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Constructiva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55520" y="3218688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9528" y="3255264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2952" y="3657600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Simplicidad Diseño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91000" y="3218688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5008" y="3255264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18432" y="3657600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26480" y="3218688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255264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53912" y="3657600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61960" y="3218688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25968" y="3255264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89392" y="3657600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997440" y="3218688"/>
            <a:ext cx="1844040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61448" y="3255264"/>
            <a:ext cx="1716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24872" y="3657600"/>
            <a:ext cx="1789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553712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III: CAMPO (C-16, C-17)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864608"/>
            <a:ext cx="2231136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901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7472" y="5303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Montaje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642616" y="4864608"/>
            <a:ext cx="2231136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06624" y="4901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670048" y="5303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Programas Detallados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65192" y="4864608"/>
            <a:ext cx="2231136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4901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C-15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92624" y="5303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RR.HH.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87768" y="4864608"/>
            <a:ext cx="2231136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51776" y="4901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C-16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315200" y="5303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Innovación Campo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610344" y="4864608"/>
            <a:ext cx="2231136" cy="12344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74352" y="4901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C-17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637776" y="530352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Retroalimentación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Interdependencia Entre Conceptos CII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22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conceptos no operan en aislamiento. Las sinergias entre ellos multiplican los beneficios.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2560320"/>
            <a:ext cx="2011680" cy="146304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64D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26060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TRUCTA-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BILIDAD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1560" y="2240280"/>
            <a:ext cx="5806440" cy="16459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459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6916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1691640"/>
            <a:ext cx="4069080" cy="21945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0972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75688" y="114300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Innovación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23560" y="1508760"/>
            <a:ext cx="1234440" cy="2377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144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9601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49640" y="1783080"/>
            <a:ext cx="-1691640" cy="21031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1887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12344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378440" y="2788920"/>
            <a:ext cx="-3520440" cy="10972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219456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5208" y="224028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Simplific.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378440" y="4709160"/>
            <a:ext cx="-3520440" cy="-8229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41148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65208" y="41605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Innovac.C.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49640" y="5897880"/>
            <a:ext cx="-1691640" cy="-20116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53035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6408" y="53492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C-17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Retroalim.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6080760"/>
            <a:ext cx="1234440" cy="-21945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54864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55321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C-7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88920" y="5897880"/>
            <a:ext cx="4069080" cy="-20116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530352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5688" y="53492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Prefactib.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" y="4709160"/>
            <a:ext cx="5806440" cy="-82296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1148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41605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REAL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de Estudio: Alberta, Canadá — 17 Principios CII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23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Jergeas &amp; Van der Put (2001) — Estudio en 12 proyectos de la industria de Oil &amp; Gas en Alberta, aplicando los 17 principios CII.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114300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Reducción promedio del 31.2% en TIC vs. proyectos de referencia sin constructabilidad formal.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Métricas de Implementación por Concepto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24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86868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23544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INTERPRETACIÓN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235440" y="1755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7"/>
          <p:cNvSpPr/>
          <p:nvPr/>
        </p:nvSpPr>
        <p:spPr>
          <a:xfrm>
            <a:off x="9418320" y="1691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Alta adopción + alto impacto = "Conceptos prioritarios" (C-1, C-7, C-14)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35440" y="2139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9"/>
          <p:cNvSpPr/>
          <p:nvPr/>
        </p:nvSpPr>
        <p:spPr>
          <a:xfrm>
            <a:off x="9418320" y="20756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Alta adopción + bajo impacto = "Baja colgante" ya capitalizada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35440" y="2523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1"/>
          <p:cNvSpPr/>
          <p:nvPr/>
        </p:nvSpPr>
        <p:spPr>
          <a:xfrm>
            <a:off x="9418320" y="24597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Baja adopción + alto impacto = "Oportunidad de mejora"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35440" y="290779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3"/>
          <p:cNvSpPr/>
          <p:nvPr/>
        </p:nvSpPr>
        <p:spPr>
          <a:xfrm>
            <a:off x="9418320" y="2843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Baja adopción + bajo impacto = Aplica en proyectos específicos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235440" y="46634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72600" y="47731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TOP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72600" y="5120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C-1, C-7 y C-14 tienen el mayor retorno combinado según estudios CII (1986, 1993, 2001).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VALOR DEL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Cálculo del ROI de la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1430000" cy="1463040"/>
          </a:xfrm>
          <a:prstGeom prst="roundRect">
            <a:avLst>
              <a:gd name="adj" fmla="val 7500"/>
            </a:avLst>
          </a:prstGeom>
          <a:solidFill>
            <a:srgbClr val="2C2C2E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FÓRMULA DE ROI  =  (Beneficios Totales – Inversión en Constructabilidad)  /  Inversión  ×  100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2834640"/>
          <a:ext cx="114300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Beneficios Cuantificados y Métricas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Evidencia empírica del valor de la constructabilidad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26 / 140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Benchmarking: Proyectos CII vs. Industria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27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114300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FINANCIERO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Desglose: Costos de Inversión vs. Beneficios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28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86868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235440" y="126187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0" y="13350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1.4%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0" y="18105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Inversión típica en constructabilidad sobre TIC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235440" y="263347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0" y="2706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8.5%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326880" y="31821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promedio obtenido sobre TIC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235440" y="400507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C2C2E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0" y="40782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6:1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326880" y="45537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Ratio beneficio/inversión (CII RT-101)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235440" y="537667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54498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&gt; 500%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9326880" y="592531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proyectos con implementación madura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PRODUCTIVIDAD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en Productividad de Mano de Obra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29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86868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92354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FACTORES DE PRODUCTIVIDAD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235440" y="1755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7"/>
          <p:cNvSpPr/>
          <p:nvPr/>
        </p:nvSpPr>
        <p:spPr>
          <a:xfrm>
            <a:off x="9418320" y="1691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Planos completos y coordinados antes de construir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235440" y="2139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9"/>
          <p:cNvSpPr/>
          <p:nvPr/>
        </p:nvSpPr>
        <p:spPr>
          <a:xfrm>
            <a:off x="9418320" y="20756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Materiales en sitio cuando se necesitan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35440" y="2523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1"/>
          <p:cNvSpPr/>
          <p:nvPr/>
        </p:nvSpPr>
        <p:spPr>
          <a:xfrm>
            <a:off x="9418320" y="24597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Frentes de trabajo sin interferencias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235440" y="290779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3"/>
          <p:cNvSpPr/>
          <p:nvPr/>
        </p:nvSpPr>
        <p:spPr>
          <a:xfrm>
            <a:off x="9418320" y="2843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Equipos y herramientas especificados anticipadamente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235440" y="329184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5"/>
          <p:cNvSpPr/>
          <p:nvPr/>
        </p:nvSpPr>
        <p:spPr>
          <a:xfrm>
            <a:off x="9418320" y="32278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Personal entrenado y con conocimiento del diseño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35440" y="367588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7"/>
          <p:cNvSpPr/>
          <p:nvPr/>
        </p:nvSpPr>
        <p:spPr>
          <a:xfrm>
            <a:off x="9418320" y="36118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Cambios de campo minimizados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SEGURIDAD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de la Constructabilidad en Seguridad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30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 diseño pensado para la constructabilidad reduce inherentemente los riesgos de seguridad durante la construcción.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6858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874520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19385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 para acceso seguro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(C-11)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43800" y="2377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Escaleras, plataformas y vías de evacuación integradas al diseño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406640" y="3081528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31455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Secuencia de montaje segura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(C-13)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43800" y="35844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Estudios de estabilidad progresiva durante el montaje estructural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06640" y="4288536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43800" y="435254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izaje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(C-3)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543800" y="47914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Rutas de grúa, cargas máximas y zonas de exclusión pre-definidas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06640" y="5495544"/>
            <a:ext cx="4663440" cy="1078992"/>
          </a:xfrm>
          <a:prstGeom prst="roundRect">
            <a:avLst>
              <a:gd name="adj" fmla="val 6780"/>
            </a:avLst>
          </a:prstGeom>
          <a:solidFill>
            <a:srgbClr val="2C2C2E"/>
          </a:solidFill>
          <a:ln w="15240">
            <a:solidFill>
              <a:srgbClr val="AF52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3800" y="5559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Trabajo en altura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(C-8)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543800" y="59984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Minimizar trabajo en altura mediante prefabricación en taller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Retrabajos: Análisis de Causa Raíz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31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retrabajo representa en promedio el 5–15% del costo total de construcción. La constructabilidad ataca las causas raíz.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11430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Formwork: Impacto del Diseño en Encofrados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32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costo de encofrado representa del 30 al 65% del costo de una estructura de concreto reforzado (Ferguson, 1989; Buildability studies).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11430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Curvas de Aprendizaje y Estandarización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33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repetición de elementos estandarizados genera curvas de aprendizaje que mejoran productividad 15–40% en actividades repetitivas.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11430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en Plazo de Entrega por Sector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34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reducción del plazo de construcción tiene impacto directo en la generación temprana de ingresos para el propietario.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11430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Madurez de Constructabilidad: Modelo de 5 Niveles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35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modelo de madurez CII permite a las organizaciones autoevaluarse y trazar una ruta de mejora continua.</a:t>
            </a:r>
            <a:endParaRPr lang="en-US" sz="11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874520"/>
          <a:ext cx="1143000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Fases del Proyecto: Aplicación Práctica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la conceptualización a la puesta en marcha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36 / 140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CICLO DE VIDA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Ciclo de Vida del Proyecto con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1828800" cy="53492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61872"/>
            <a:ext cx="182880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2801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costo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16459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42032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Evaluar viabilidad constructiva, definir estrategia, seleccionar sitio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49194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 a C-7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75688" y="3749040"/>
            <a:ext cx="146304" cy="27432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7" name="Shape 15"/>
          <p:cNvSpPr/>
          <p:nvPr/>
        </p:nvSpPr>
        <p:spPr>
          <a:xfrm>
            <a:off x="2221992" y="1261872"/>
            <a:ext cx="1828800" cy="53492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1992" y="1261872"/>
            <a:ext cx="182880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267712" y="12801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BÁSICA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13432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13432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costo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13432" y="2487168"/>
            <a:ext cx="16459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2542032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Definir layout, seleccionar procesos, plan constructivo básico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13432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13432" y="49194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C-1, C-2, C-7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69080" y="3749040"/>
            <a:ext cx="146304" cy="27432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4215384" y="1261872"/>
            <a:ext cx="1828800" cy="53492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15384" y="1261872"/>
            <a:ext cx="182880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261104" y="12801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DETALLE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06824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306824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costo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06824" y="2487168"/>
            <a:ext cx="16459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06824" y="2542032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Ingeniería de detalle constructible, especificaciones, planos IFC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06824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06824" y="49194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 a C-15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62472" y="3749040"/>
            <a:ext cx="146304" cy="27432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37" name="Shape 35"/>
          <p:cNvSpPr/>
          <p:nvPr/>
        </p:nvSpPr>
        <p:spPr>
          <a:xfrm>
            <a:off x="6208776" y="1261872"/>
            <a:ext cx="1828800" cy="53492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08776" y="1261872"/>
            <a:ext cx="182880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254496" y="12801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ADQUISICIONES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0216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40%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300216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costo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0216" y="2487168"/>
            <a:ext cx="16459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2542032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Compras con criterio constructivo, logística de entrega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0216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00216" y="49194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C-10, C-15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55864" y="3749040"/>
            <a:ext cx="146304" cy="27432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02168" y="1261872"/>
            <a:ext cx="1828800" cy="53492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02168" y="1261872"/>
            <a:ext cx="182880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8247888" y="12801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CONSTRUCCIÓN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93608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15%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293608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costo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293608" y="2487168"/>
            <a:ext cx="16459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93608" y="2542032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Innovación y mejoras continuas en campo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93608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93608" y="49194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C-16, C-17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049256" y="3749040"/>
            <a:ext cx="146304" cy="27432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95560" y="1261872"/>
            <a:ext cx="1828800" cy="534924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95560" y="1261872"/>
            <a:ext cx="1828800" cy="43891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10241280" y="128016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COMISIONAMIENTO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287000" y="1764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5%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287000" y="21671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costo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0287000" y="2487168"/>
            <a:ext cx="164592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87000" y="2542032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Pre-comisionamiento planeado desde diseño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287000" y="4663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287000" y="49194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C-13, C-17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PRE-PROJECT PLANNING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Alineamiento en la Pre-planificación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38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IR 113-3: El alineamiento del equipo en la fase de pre-planificación es el predictor más fuerte del éxito del proyecto.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834640"/>
            <a:ext cx="3383280" cy="21945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92608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ALINEAMIENTO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EQUIPO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2286000" cy="1371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16152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CULTURA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Organizacional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412480" y="2560320"/>
            <a:ext cx="2286000" cy="1371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633472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EJECUCIÓN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Del Proyecto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0" y="5029200"/>
            <a:ext cx="2286000" cy="1371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5102352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Gestión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5029200"/>
            <a:ext cx="2286000" cy="1371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5102352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 Datos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97280" y="2560320"/>
            <a:ext cx="2286000" cy="13716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633472"/>
            <a:ext cx="2103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Y Tecnología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FEL / FEED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Front-End Loading (FEL): Inversión que Multiplica el Valor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39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68580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06640" y="1261872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3258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FEL-1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43800" y="169164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 alternativas de sitio y proceso. Constructabilidad: análisis de métodos alternativos (C-3, C-4).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3044952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2C2C2E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31089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FEL-2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43800" y="347472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Selección de la opción preferida. Constructabilidad: programa constructivo conceptual (C-2), prefab analysis (C-5).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06640" y="4828032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43800" y="48920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FEL-3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43800" y="52578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Definición completa del proyecto. Constructabilidad: todas las revisiones del Fase I (C-1 a C-7) completadas.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 / IWP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Advanced Work Packaging (AWP): Sinergía con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40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AWP es el marco operativo que convierte los principios de constructabilidad en paquetes de trabajo ejecutables en campo.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EWP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(Engineering Work Package)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2926080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9718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CWP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(Construction Work Package)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3977640"/>
            <a:ext cx="640080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402336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IWP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(Installation Work Package)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5029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50749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Daily Work Package / Task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603504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2C2C2E"/>
          </a:solidFill>
          <a:ln w="12700">
            <a:solidFill>
              <a:srgbClr val="5AC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108192"/>
            <a:ext cx="11109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Principio AWP: "Si no está en el IWP, no se construye." — Toda actividad de campo tiene un paquete de trabajo con planos, materiales, procedimientos y permisos completos.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ORGANIZACIÓN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Roles y Responsabilidades en el Equipo de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5806440" cy="1572768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25880"/>
            <a:ext cx="457200" cy="45720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3075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Gerente de Constructabilidad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87552" y="1737360"/>
            <a:ext cx="4937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Liderar el programa, coordinar revisiones, reportar al Gerente de Proyecto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261872"/>
            <a:ext cx="5806440" cy="1572768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325880"/>
            <a:ext cx="457200" cy="45720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3" name="Text 11"/>
          <p:cNvSpPr/>
          <p:nvPr/>
        </p:nvSpPr>
        <p:spPr>
          <a:xfrm>
            <a:off x="6976872" y="13075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Ingeniero de Constructabilidad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76872" y="1737360"/>
            <a:ext cx="4937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Ejecutar revisiones técnicas, documentar hallazgos, implementar mejoras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44952"/>
            <a:ext cx="5806440" cy="1572768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108960"/>
            <a:ext cx="457200" cy="45720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0906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Gerente de Construcción (desde diseño)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7552" y="3520440"/>
            <a:ext cx="4937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Aportar experiencia de campo, validar métodos, identificar riesgos constructivos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3044952"/>
            <a:ext cx="5806440" cy="1572768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872" y="30906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Ingeniero de Diseño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76872" y="3520440"/>
            <a:ext cx="4937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Incorporar comentarios de constructabilidad, ajustar planos y especificaciones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828032"/>
            <a:ext cx="5806440" cy="1572768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89204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8737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Gerente de Proyecto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7552" y="5303520"/>
            <a:ext cx="4937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Patrocinar el programa, asignar recursos, aprobar hitos de constructabilidad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828032"/>
            <a:ext cx="5806440" cy="1572768"/>
          </a:xfrm>
          <a:prstGeom prst="roundRect">
            <a:avLst>
              <a:gd name="adj" fmla="val 4651"/>
            </a:avLst>
          </a:prstGeom>
          <a:solidFill>
            <a:srgbClr val="2C2C2E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9" name="Text 27"/>
          <p:cNvSpPr/>
          <p:nvPr/>
        </p:nvSpPr>
        <p:spPr>
          <a:xfrm>
            <a:off x="6976872" y="48737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Especialistas (Equipos, Civil, E&amp;I)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976872" y="5303520"/>
            <a:ext cx="4937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Ejecutar revisiones especializadas en su disciplina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de Revisión Constructiva: Flujograma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2011680" cy="1828800"/>
          </a:xfrm>
          <a:prstGeom prst="diamond">
            <a:avLst/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Alcanzado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297180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Distribuir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Equipo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64608" y="297180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por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Disciplina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24928" y="297180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2377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514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Consolidar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Comentarios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85248" y="2971800"/>
            <a:ext cx="182880" cy="320040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0" y="2377440"/>
            <a:ext cx="1463040" cy="164592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25146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Taller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Resolución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0" y="4663440"/>
            <a:ext cx="1463040" cy="1645920"/>
          </a:xfrm>
          <a:prstGeom prst="diamond">
            <a:avLst/>
          </a:prstGeom>
          <a:solidFill>
            <a:srgbClr val="000000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48006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¿Hay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Comentarios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Críticos?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14432" y="5394960"/>
            <a:ext cx="182880" cy="320040"/>
          </a:xfrm>
          <a:prstGeom prst="leftArrow">
            <a:avLst/>
          </a:prstGeom>
          <a:solidFill>
            <a:srgbClr val="3A3A3C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0" y="4663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4800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Actualizar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Diseño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54112" y="5394960"/>
            <a:ext cx="182880" cy="320040"/>
          </a:xfrm>
          <a:prstGeom prst="leftArrow">
            <a:avLst/>
          </a:prstGeom>
          <a:solidFill>
            <a:srgbClr val="3A3A3C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4663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4800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Emitir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Informe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93792" y="5394960"/>
            <a:ext cx="182880" cy="320040"/>
          </a:xfrm>
          <a:prstGeom prst="leftArrow">
            <a:avLst/>
          </a:prstGeom>
          <a:solidFill>
            <a:srgbClr val="3A3A3C"/>
          </a:solidFill>
          <a:ln/>
        </p:spPr>
      </p:sp>
      <p:sp>
        <p:nvSpPr>
          <p:cNvPr id="30" name="Shape 28"/>
          <p:cNvSpPr/>
          <p:nvPr/>
        </p:nvSpPr>
        <p:spPr>
          <a:xfrm>
            <a:off x="2834640" y="4663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800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Aprobar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Continuar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33472" y="5394960"/>
            <a:ext cx="182880" cy="320040"/>
          </a:xfrm>
          <a:prstGeom prst="leftArrow">
            <a:avLst/>
          </a:prstGeom>
          <a:solidFill>
            <a:srgbClr val="3A3A3C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66344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000000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00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Lecciones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972800" y="4224528"/>
            <a:ext cx="320040" cy="320040"/>
          </a:xfrm>
          <a:prstGeom prst="downArrow">
            <a:avLst/>
          </a:prstGeom>
          <a:solidFill>
            <a:srgbClr val="FF950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0" y="5349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82528" y="5577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EPC / EPCM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EPC, el contratista controla diseño + compras + construcción: máxima oportunidad de optimización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EPCM, el representante del propietario coordina: requiere protocolo formal de constructabilidad en el contrato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Cláusula recomendada: "El Contratista designará un Ing. de Constructabilidad con 10+ años experiencia en campo"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Indicadores contractuales: porcentaje de revisiones completadas por hito, número de NCR prevenidas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proyectos EPC con constructabilidad formal tienen 23% menos órdenes de cambio (CII 2018)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EPCM, la constructabilidad reduce el costo de coordinación de interfaces en 18% promedio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de Infraestructura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Carreteras y puentes: acceso de equipos y cronograma de cierres de tránsito desde el diseño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Túneles: método de excavación (NATM, TBM) define el diseño del revestimiento y el programa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Presas: zonificación de materiales y acceso a cantera son restricciones constructivas que guían el diseño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Puertos: cronograma de ventanas de marea y dragado integrables desde la fase conceptual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Ferroviario: secuencia de cierre de vías y mantenimiento del servicio son criterios de diseño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Edificios: secuencia de fachada-estructura-instalaciones debe planearse en la etapa de diseño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Oil &amp; Gas y Minería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Plantas de proceso: acceso para mantenimiento y overhaul futuro debe diseñarse desde el inicio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Plataformas offshore: restricciones de peso y topside lift son criterios de diseño primarios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Minería: ubicación de planta de proceso respecto a reservorio mineral optimizable en prefactibilidad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remotos: prefabricación y modularización reducen necesidad de mano de obra especializada in-situ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Gas natural: plantas LNG con modularización de trenes de proceso reducen programa 12-18 meses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Refinerías: turnaround planning integrado al diseño reduce tiempo de mantenimiento 25-30%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Interfaces en Proyectos Complejos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Interface Management: disciplina que gestiona los puntos de contacto entre sistemas y contratistas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provee el criterio para secuenciar las interfaces en el programa de trabajo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Herramienta: Interface Control Document (ICD) — quién entrega qué, cuándo y cómo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Matriz de interfaces: rows=contratista A, columns=contratista B, cell=punto de interfaz específico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Reuniones de interface risk: identificar conflictos antes de que lleguen a campo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con BIM: clash detection = análisis de constructabilidad digital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Lean Construction y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Lean Construction comparte el mismo objetivo: eliminar pérdidas (waste) del proceso constructivo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Last Planner System (LPS) se beneficia de un diseño construible: menos replanning por diseño no ejecutable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Pull planning: la constructabilidad define qué condiciones previas son necesarias para cada actividad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Takt planning: estandarización (C-9) es prerequisito para implementar Takt en proyectos repetitivos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Value Stream Mapping del proceso constructivo revela oportunidades de mejora de constructabilidad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inventario (JIT): requiere programa constructivo preciso (C-2, C-14)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Building Information Modeling (BIM) y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3D: visualización de interferencias antes de llegar al campo — constructabilidad digital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4D: simulación temporal de la construcción — validación del programa constructivo (C-2, C-14)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5D: integración de costos — permite analizar impacto económico de opciones constructivas (C-3)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Clash detection automático reemplaza las revisiones manuales de interferencias (C-11)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twin: modelo vivo que captura el estado real del proyecto vs. diseño (C-17)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VR/AR en campo: operadores pueden visualizar el diseño en posición real antes de construir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del Conocimiento en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lecciones aprendidas son el activo más valioso de un programa de constructabilidad maduro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recomendado: base de datos estructurada por tipo de proyecto, disciplina y concepto CII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lección: descripción del problema, causa raíz, solución implementada, beneficio obtenido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lecciones: obligatoria en Kick-Off de proyectos similares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Indicador: porcentaje de lecciones aprendidas aplicadas en proyectos nuevos (meta: &gt;60%)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Plataformas: SharePoint, Confluence, o sistemas propietarios de gestión del conocimiento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la Fase de Comisionamiento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incluye planificar el pre-comisionamiento desde la fase de diseño detalle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Cold Loop vs. Hot Loop checks: secuencia de pruebas debe incorporarse al programa constructivo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Pre-comisionamiento por sistemas, no por disciplinas: requiere coordinar secuencias desde diseño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Punchlist prediction: identificar punch items potenciales desde el diseño reduce tiempo de cierre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Mechanical Completion milestones: deben ser hitos controlados en el programa de construcción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con Operations: operaciones participa en revisiones de constructabilidad para mantenibilidad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Riesgos Constructivos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Risk-based constructability: priorizar revisiones en las áreas de mayor riesgo constructivo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Risk matrix constructiva: probabilidad × impacto para cada concepto CII no implementado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Top risks: planos no coordinados, materiales no disponibles, equipos no especificados, frentes bloqueados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Estrategias de mitigación: diseño por fases, hold points en contratos, buffer de materiales críticos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Contingency constructiva: 3-5% adicional para proyectos sin programa maduro de constructabilidad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FMEA constructivo: análisis de modos de falla para sistemas críticos antes del inicio de la construcción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Condiciones Extremas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Clima extremo: diseño que minimiza trabajo expuesto (prefab bajo techo, montaje por épocas)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Alta altitud (&gt;3500 msnm): productividad reducida 15-25%, requiere ajuste de programas y métodos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remoto: estrategia logística y de almacenamiento es parte integral del programa constructivo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Temperatura extrema: programar actividades de concreto y soldadura en ventanas climáticas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Terreno difícil: análisis de acceso para equipos pesados en la fase de layout conceptual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en zonas pobladas: secuencias de trabajo nocturno y fin de semana desde el diseño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Impacto Ambiental y Constructabilidad Sostenible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sostenible: minimizar el impacto ambiental del proceso constructivo por diseño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movimiento de tierras mediante diseño del layout optimizado desde la prefactibilidad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Agua: diseño de drenajes temporales integrado al diseño de drenaje permanente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Residuos: prefabricación fuera de sitio reduce residuos de construcción en campo hasta un 30%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Emisiones: reducir viajes de materiales con diseño para estandarización y prefabricación local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Certificación LEED/BREEAM: los créditos de constructabilidad aportan puntos a la certificación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Contratación y Constructabilidad: Estrategias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estrategia de contratación impacta directamente en la oportunidad de aplicar constructabilidad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Lump Sum / Precio Fijo: riesgo de constructabilidad en el contratista; requiere clausulas de revisión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 Plus: propietario comparte el beneficio del programa de constructabilidad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EPCM: requiere protocolo contractual explícito para que el EPCM implemente constructabilidad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IPD (Integrated Project Delivery): maximiza la constructabilidad al alinear incentivos de todo el equipo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Alliance Contracting: el mejor ambiente para implementar un programa de constructabilidad completo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Documentación de Constructabilidad: Plan y Reportes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Constructabilidad del Proyecto: documento maestro que define objetivos, responsabilidades y hitos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Informe de Revisión de Constructabilidad (IRC): resultado de cada revisión formal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Registro de Comentarios de Constructabilidad: base de datos de todos los hallazgos y su resolución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Informe de Cierre de Constructabilidad: resumen de beneficios obtenidos y lecciones aprendidas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KPIs de constructabilidad: se reportan mensualmente al Gerente de Proyecto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Formato estándar CII SP 34-1: disponible para los 19 tipos de herramientas de constructabilidad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34-1: T-1 a T-19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guía práctica de implementación CII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56 / 140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19 Herramientas del CII SP 34-1: Vista General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33502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Constructabilidad del Proyecto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26187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30759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41648" y="133502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 Constructabilidad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30759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31736" y="133502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Lista de Verificación de Diseño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244584" y="126187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130759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21824" y="133502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Constructabilidad del Sitio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1343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5915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386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Constructabilidad de Diseño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231343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35915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41648" y="2386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Modularización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231343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235915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31736" y="2386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Accesibilidad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44584" y="231343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36024" y="235915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21824" y="238658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Prefabricación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36499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1071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343814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Especificaciones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336499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341071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41648" y="343814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Montaje y Izaje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54496" y="336499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341071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31736" y="343814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Programas Constructivos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244584" y="336499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36024" y="341071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21824" y="343814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Adquisiciones Constructivas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41655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46227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1560" y="448970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Gestión de RR.HH.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64408" y="441655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FF9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55848" y="446227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041648" y="448970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de Constructabilidad del Campo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54496" y="441655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446227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31736" y="448970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Estandarización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244584" y="441655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36024" y="446227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021824" y="448970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Constructabilidad de Campo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546811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551383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T-17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51560" y="5541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Registro de Innovaciones de Campo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64408" y="546811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55848" y="551383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T-18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041648" y="5541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Informe de Lecciones Aprendidas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54496" y="5468112"/>
            <a:ext cx="2834640" cy="896112"/>
          </a:xfrm>
          <a:prstGeom prst="roundRect">
            <a:avLst>
              <a:gd name="adj" fmla="val 6122"/>
            </a:avLst>
          </a:prstGeom>
          <a:solidFill>
            <a:srgbClr val="000000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5936" y="5513832"/>
            <a:ext cx="6583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T-19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031736" y="5541264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Informe de Cierre de Constructabilidad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 a T-5: Herramientas de Planificación y Evaluación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5806440" cy="2029968"/>
          </a:xfrm>
          <a:prstGeom prst="roundRect">
            <a:avLst>
              <a:gd name="adj" fmla="val 3604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T-1: Plan de Constructabilidad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Cuándo: Inicio del proyecto / Fase 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5486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Documento maestro que define: objetivos, responsabilidades, hitos de revisión, recursos asignados y KPIs del programa.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261872"/>
            <a:ext cx="5806440" cy="2029968"/>
          </a:xfrm>
          <a:prstGeom prst="roundRect">
            <a:avLst>
              <a:gd name="adj" fmla="val 3604"/>
            </a:avLst>
          </a:prstGeom>
          <a:solidFill>
            <a:srgbClr val="2C2C2E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T-2: Evaluación de Constructabilidad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719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Cuándo: Al inicio y cada hito FEL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5486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Cuestionario estructurado de 75+ ítems para medir el nivel de madurez de constructabilidad del proyecto.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5806440" cy="2029968"/>
          </a:xfrm>
          <a:prstGeom prst="roundRect">
            <a:avLst>
              <a:gd name="adj" fmla="val 3604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38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T-3: Lista de Verificación de Diseño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Cuándo: En cada hito de revisión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224528"/>
            <a:ext cx="5486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Checklists por disciplina (Civil, Estructural, Mecánico, E&amp;I, Piping) con criterios de constructabilidad.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474720"/>
            <a:ext cx="5806440" cy="2029968"/>
          </a:xfrm>
          <a:prstGeom prst="roundRect">
            <a:avLst>
              <a:gd name="adj" fmla="val 3604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5387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T-4: Análisis del Sitio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Cuándo: Fase conceptual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4224528"/>
            <a:ext cx="5486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Evaluación del sitio para identificar restricciones y oportunidades constructivas: acceso, topografía, clima, permisos.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5687568"/>
            <a:ext cx="11612880" cy="1645920"/>
          </a:xfrm>
          <a:prstGeom prst="roundRect">
            <a:avLst>
              <a:gd name="adj" fmla="val 4444"/>
            </a:avLst>
          </a:prstGeom>
          <a:solidFill>
            <a:srgbClr val="2C2C2E"/>
          </a:solidFill>
          <a:ln w="19050">
            <a:solidFill>
              <a:srgbClr val="AF52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72414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T-5: Revisión de Diseño — Hitos 10%, 30%, 60%, 90%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117336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formal del paquete de diseño por el equipo de construcción en cada hito de ingeniería.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T-6: Análisis de Modularización — Proceso de Decisión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1: Definir criterios de modularización (peso, tamaño, complejidad de interfaces)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2: Inventariar todos los equipos y sistemas candidatos a modularización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3: Evaluar viabilidad por criterios: distancia a taller, capacidad de grúa, acceso vial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4: Análisis costo-beneficio: ahorro en campo vs. costo adicional de fabricación y transporte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5: Definir nivel de modularización: A (prefab simples), B (skids), C (módulos completos)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Estrategia de modularización documentada con módulos identificados y presupuestados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T-7: Revisión de Accesibilidad —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de vehículos: radio de giro mínimo 12m para camiones de 40 tons; ancho 5m para doble vía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de grúas: definir planos de movimiento para grúas de 100, 250, 500 tons según equipos del proyecto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Almacenamiento de materiales: área mínima = 10% del área de construcción activa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Andamios y plataformas: identificar áreas que requerirán trabajo en altura &gt; 4m para diseñar accesos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a excavaciones: rampas de 1:10 para maquinaria pesada en excavaciones profundas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Señalización de rutas: parte del diseño de ingeniería, no improvision en campo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T-8 a T-10: Prefabricación, Especificaciones y Montaje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T-8: Análisis de Prefabricación — identificar todos los ítems pre-fabricables por disciplina y cuantificar beneficio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T-9: Revisión de Especificaciones — verificar que specs sean ejecutables: pruebas de campo reales, tolerancias alcanzables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T-10: Plan de Montaje — estudio de izaje, secuencia de montaje estructural, plan de grúas con trayectorias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Integrar T-8 y T-10: los módulos prefabricados necesitan plan de izaje y montaje coordinado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 de T-9: lista de especificaciones modificadas con justificación constructiva documentada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T-10 incluye: ventanas climáticas para montaje de equipos, restricciones de viento y temperatura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T-11 a T-13: Programas, Adquisiciones y Personas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T-11: Análisis de Programas — validar el cronograma vs. restricciones constructivas reales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T-11: Identificar actividades con lógica constructiva especial (secuencia de montaje, curado de concreto)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T-12: Plan de Adquisiciones — integrar lead times de equipos críticos al programa de construcción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T-12: Definir puntos de embarque y entrega que maximicen la prefabricación y minimicen re-manipulación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T-13: Plan de RR.HH. — identificar habilidades especiales con 6-12 meses de anticipación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T-13: Plan de capacitación en constructabilidad para todo el equipo de proyecto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T-14 a T-16: Campo, Innovación y Seguimiento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T-14: Programa de Campo — cronograma de construcción detallado basado en IWP (si hay AWP)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T-14: Curva S de avance física real vs. planificada, con seguimiento semanal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T-15: Análisis de Estandarización — cuantificar el grado de estandarización logrado vs. plan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T-15: Calcular el ahorro generado por la curva de aprendizaje en actividades estandarizadas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T-16: Revisión de Campo — visitas periódicas para verificar implementación de medidas de constructabilidad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T-16: Registrar desviaciones del diseño en campo y clasificarlas: inevitable, prevenible por diseño, prevenible por planificación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T-17 a T-19: Innovación, Lecciones y Cierre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T-17: Registro de Innovaciones de Campo — formulario de captura en tiempo real por supervisores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T-17: Reunión mensual de revisión de innovaciones: aprobar, implementar, documentar resultado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T-18: Informe de Lecciones Aprendidas — recopilación al 50%, 80% y 100% de avance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T-18: Clasificar lecciones por concepto CII y por disciplina para facilitar uso futuro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T-19: Informe de Cierre — cuantificar beneficios obtenidos vs. plan de constructabilidad original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T-19: Calcular ROI real del programa de constructabilidad para comparar con benchmark CII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Hoja de Ruta de Implementación SP 34-1: 6 Hitos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0 — Kick-Off: Designar equipo, elaborar Plan de Constructabilidad (T-1), capacitar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1 — Conceptual (FEL-1): T-2, T-4: evaluar sitio y madurez, establecer baseline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2 — Básica (FEL-2): T-3, T-6, T-11: checklists, análisis modularización, programa básico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3 — 30% Ingeniería: T-5, T-7, T-8, T-10: revisión diseño, accesos, prefab, montaje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4 — 60% Ingeniería: T-9, T-12, T-13: specs, adquisiciones, plan de personas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5 — IFC: T-14, T-15: programa de campo, análisis estandarización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Hito 6 — Cierre: T-16, T-17, T-18, T-19: campo, innovaciones, lecciones, informe final</a:t>
            </a:r>
            <a:endParaRPr lang="en-US" sz="12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KPIs del Programa de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KPI-1: Porcentaje de conceptos CII con revisión completada por fase (meta: 100% en hitos definidos)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KPI-2: Número de RFIs prevenidas por revisión de constructabilidad (meta: reducción 30% vs. baseline)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KPI-3: Porcentaje de comentarios de constructabilidad incorporados al diseño (meta: &gt;85%)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KPI-4: Reducción del retrabajo de campo vs. proyecto comparable sin constructabilidad (meta: -40%)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KPI-5: Índice de productividad de mano de obra vs. plan (meta: &gt;95% del plan)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KPI-6: Variación de costo final vs. estimado (meta: &lt; ±5% para proyectos con constructabilidad madura)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KPI-7: ROI del programa de constructabilidad (meta: &gt;4:1 para proyectos &gt; US$50M)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Sistema de Gestión de la Constructabilidad: Implementación Digital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 recomendada: módulo de constructabilidad integrado al sistema de gestión del proyecto (PMIS)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Componentes mínimos: registro de revisiones, seguimiento de comentarios, base de lecciones aprendidas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con BIM: comentarios de constructabilidad vinculados a elementos del modelo 3D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Dashboard de KPIs: actualización automática desde el sistema de gestión (no manual)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cambios: cada cambio de diseño pasa por filtro de impacto constructivo antes de aprobarse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Aplicación móvil para campo: captura de innovaciones y observaciones de constructabilidad en tiempo real</a:t>
            </a:r>
            <a:endParaRPr lang="en-US" sz="12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de Implementación del Programa de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Personal dedicado: 0.3–0.5% del TIC del proyecto (en proyectos &gt;US$100M)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Capacitación inicial del equipo: US$1,500–3,000 por persona (mínimo para Gerentes y Líderes técnicos)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Software y herramientas: US$50K–200K para proyectos medianos a grandes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Reuniones y talleres de revisión: 0.1% del TIC adicional en tiempo del equipo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total típico: 0.5–1.0% del TIC del proyecto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típico: 3.0–8.5% del TIC = ROI de 4:1 a 8:1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Break-even: generalmente alcanzado con la primera revisión de diseño que previene retrabajos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Errores Comunes en la Implementación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#1: Invitar al constructor solo en fase de construcción (tarde para agregar valor)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#2: Implementar constructabilidad como burocracia, no como herramienta de valor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#3: No asignar recursos dedicados: "todos la hacen" = nadie la hace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#4: No documentar ni seguir los comentarios de constructabilidad hasta su resolución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#5: Límitar revisiones solo a aspectos estructurales (omitir piping, E&amp;I, HVAC)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#6: No capturar lecciones aprendidas al final del proyecto por "falta de tiempo"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Error #7: Confundir constructabilidad con value engineering (son complementarios, no sustitutos)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 SP 34-1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Constructabilidad: Creando la Cultura Organizacional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cultura de constructabilidad comienza en la alta dirección: patrocinio visible del CEO y directores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Incorporar constructabilidad en los valores corporativos y en los objetivos de proyectos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Reconocer y premiar públicamente equipos que demuestren excelencia en constructabilidad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de "constructability champion": ingeniero senior reconocido como experto en la empresa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Incluir constructabilidad en la evaluación de desempeño de Gerentes de Proyecto e Ingenieros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Publicar resultados: "Proyecto X logró 22% reducción en retrabajos con constructabilidad"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Comunidad de práctica interna: foro mensual de intercambio de experiencias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 de Implementación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Hoja de ruta para organizaciones y proyectos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71 / 140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90 Días: Lanzamiento del Programa de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3794760" cy="5349240"/>
          </a:xfrm>
          <a:prstGeom prst="roundRect">
            <a:avLst>
              <a:gd name="adj" fmla="val 2410"/>
            </a:avLst>
          </a:prstGeom>
          <a:solidFill>
            <a:srgbClr val="2C2C2E"/>
          </a:solidFill>
          <a:ln w="25400">
            <a:solidFill>
              <a:srgbClr val="0A8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61872"/>
            <a:ext cx="3794760" cy="5303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80160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MES 1: FUNDAMENTOS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5681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Designar Gerente de Constructabilidad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5409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Capacitar equipo directivo (2 días)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148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5137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Elaborar Política de Constructabilidad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52120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4865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 Auditar estado actual de proyectos en curso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261872"/>
            <a:ext cx="3794760" cy="5349240"/>
          </a:xfrm>
          <a:prstGeom prst="roundRect">
            <a:avLst>
              <a:gd name="adj" fmla="val 2410"/>
            </a:avLst>
          </a:prstGeom>
          <a:solidFill>
            <a:srgbClr val="2C2C2E"/>
          </a:solidFill>
          <a:ln w="25400">
            <a:solidFill>
              <a:srgbClr val="30D1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1261872"/>
            <a:ext cx="3794760" cy="5303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280160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MES 2: ESTRUCTURA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92024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95681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Diseñar procesos y formularios (T-1 a T-5)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01752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05409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Configurar PMIS con módulo constructabilidad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15137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Capacitar todo el equipo de proyecto (1 día)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52120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524865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 Piloto en 1 proyecto activo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1261872"/>
            <a:ext cx="3794760" cy="5349240"/>
          </a:xfrm>
          <a:prstGeom prst="roundRect">
            <a:avLst>
              <a:gd name="adj" fmla="val 2410"/>
            </a:avLst>
          </a:prstGeom>
          <a:solidFill>
            <a:srgbClr val="2C2C2E"/>
          </a:solidFill>
          <a:ln w="25400">
            <a:solidFill>
              <a:srgbClr val="FF95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261872"/>
            <a:ext cx="3794760" cy="5303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1280160"/>
            <a:ext cx="3520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MES 3: OPERACIÓN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66760" y="192024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195681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Primera revisión formal de constructabilidad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6760" y="301752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305409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Medir KPIs baseline vs. meta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66760" y="41148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415137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Ajustar proceso según feedback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66760" y="52120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5248656"/>
            <a:ext cx="32918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 Presentar primeros resultados a dirección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096512" y="3749040"/>
            <a:ext cx="201168" cy="347472"/>
          </a:xfrm>
          <a:prstGeom prst="rightArrow">
            <a:avLst/>
          </a:prstGeom>
          <a:solidFill>
            <a:srgbClr val="3A3A3C"/>
          </a:solidFill>
          <a:ln/>
        </p:spPr>
      </p:sp>
      <p:sp>
        <p:nvSpPr>
          <p:cNvPr id="41" name="Shape 39"/>
          <p:cNvSpPr/>
          <p:nvPr/>
        </p:nvSpPr>
        <p:spPr>
          <a:xfrm>
            <a:off x="8074152" y="3749040"/>
            <a:ext cx="201168" cy="347472"/>
          </a:xfrm>
          <a:prstGeom prst="rightArrow">
            <a:avLst/>
          </a:prstGeom>
          <a:solidFill>
            <a:srgbClr val="3A3A3C"/>
          </a:solidFill>
          <a:ln/>
        </p:spPr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MADUREZ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 de Madurez de Constructabilidad — 5 Niveles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73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59436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261872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01968" y="1316736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Inicial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010144" y="1316736"/>
            <a:ext cx="0" cy="822960"/>
          </a:xfrm>
          <a:prstGeom prst="line">
            <a:avLst/>
          </a:prstGeom>
          <a:noFill/>
          <a:ln w="12700">
            <a:solidFill>
              <a:srgbClr val="FF45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56448" y="1316736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proceso formal. Depende de individuos. Resultados inconsistentes.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237744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2432304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Repetible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10144" y="2432304"/>
            <a:ext cx="0" cy="822960"/>
          </a:xfrm>
          <a:prstGeom prst="line">
            <a:avLst/>
          </a:prstGeom>
          <a:noFill/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56448" y="2432304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básico documentado. Se aplica en proyectos grandes.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349300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2C2C2E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3547872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Definido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010144" y="3547872"/>
            <a:ext cx="0" cy="822960"/>
          </a:xfrm>
          <a:prstGeom prst="line">
            <a:avLst/>
          </a:prstGeom>
          <a:noFill/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56448" y="354787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 estándar en todos los proyectos. KPIs medidos regularmente.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92240" y="460857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2C2C2E"/>
          </a:solidFill>
          <a:ln w="19050">
            <a:solidFill>
              <a:srgbClr val="64D2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01968" y="466344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Gestionado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10144" y="4663440"/>
            <a:ext cx="0" cy="822960"/>
          </a:xfrm>
          <a:prstGeom prst="line">
            <a:avLst/>
          </a:prstGeom>
          <a:noFill/>
          <a:ln w="12700">
            <a:solidFill>
              <a:srgbClr val="64D2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56448" y="46634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Datos cuantitativos. Mejora continua activa. Lecciones sistemáticas.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92240" y="5724144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01968" y="5779008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Nivel 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Optimizado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10144" y="5779008"/>
            <a:ext cx="0" cy="822960"/>
          </a:xfrm>
          <a:prstGeom prst="line">
            <a:avLst/>
          </a:prstGeom>
          <a:noFill/>
          <a:ln w="12700">
            <a:solidFill>
              <a:srgbClr val="30D15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56448" y="577900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 externo. Innovación continua. Modelo de referencia del sector.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Certificaciones y Formación en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Certification: Construction Industry Institute ofrece certificación formal de profesionales en constructabilidad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Cursos CII: RT-101, "Constructability" — disponible online a través de CII Virtual Campus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AACE International: incluye constructabilidad en su programa de certificación CCP y DRMP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PMI: PMBOK integra constructabilidad en los procesos de planificación de la calidad y gestión del alcance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Cursos específicos: "Design for Construction" en universidades como UT Austin, MIT, TU Delft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Latinoamérica: PUCP, UTEC, Universidad de los Andes ofrecen módulos de constructabilidad en postgrado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la Transformación Digital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Constructability: aplicación de herramientas digitales para potenciar los 17 conceptos CII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+ Constructabilidad: model-based constructability reviews reemplazan las revisiones en papel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AI/ML: análisis predictivo de riesgos constructivos basado en datos de proyectos anteriores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twin: gemelo digital del proyecto en construcción para monitoreo y constructabilidad en tiempo real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Realidad aumentada (AR): visualizar el diseño superpuesto en el sitio real durante revisiones de campo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4D simulation: validar el programa constructivo con animación 3D antes de iniciar la construcción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el Ciclo PDCA (Plan-Do-Check-Act)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PLAN: Desarrollar Plan de Constructabilidad (T-1), definir hitos y KPIs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PLAN: Identificar conceptos CII aplicables al tipo y fase del proyecto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DO: Ejecutar revisiones en los hitos definidos, documentar en T-2 a T-5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DO: Implementar mejoras al diseño surgidas de las revisiones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CHECK: Medir KPIs mensualmente, comparar con baseline y benchmarks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CHECK: Auditar ejecución del plan de constructabilidad trimestralmente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ACT: Ajustar el programa basado en resultados; incorporar lecciones al siguiente proyecto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Sostenibilidad: LEED v4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LEED v4 "Construction Activity Pollution Prevention" — constructabilidad reduce el área perturbada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LEED "Waste Management" — prefabricación (C-10) genera menos residuos en obra: hasta 30% menos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LEED "Daylight and Views" — constructabilidad asegura que los elementos de vidrio sean instalables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LEED "Innovation" — un programa formal de constructabilidad puede clasificar como Innovación LEED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ISO 14001: la constructabilidad reduce la huella ambiental del proceso constructivo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Net Zero Construction: reducir consumo energético del proceso constructivo mediante diseño inteligente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Públicos y PPP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proyectos públicos, la constructabilidad es especialmente relevante por el escrutinio del gasto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PPP (Public-Private Partnership): la constructabilidad afecta el CAPEX y por ende la tarifa de usuario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Recomendación: incluir requisitos de constructabilidad en los Terms of Reference del concurso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Metodología de evaluación de propuestas: puntaje específico para el Plan de Constructabilidad presentado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BID/BM: el Bank ya requiere análisis de constructabilidad en proyectos de infraestructura mayor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exitosos: Panama Canal expansion, Lima Metro Line 2, Santiago Metro extensiones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Checklist de 20 Preguntas de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ha designado un Gerente de Constructabilidad para el proyecto?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Gerente de Construcción participó en las revisiones de diseño conceptual?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ha elaborado y aprobado el Plan de Constructabilidad del Proyecto?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completaron las revisiones de constructabilidad en los hitos del 10%, 30%, 60% y 90%?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realizó el análisis de modularización y prefabricación en la fase conceptual?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programa constructivo fue validado contra restricciones reales del sitio?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¿Las especificaciones fueron revisadas por constructores antes de ser emitidas?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8678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tiene un plan de izaje y montaje aprobado para todos los equipos mayores?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7083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¿Las lecciones aprendidas de proyectos anteriores fueron revisadas al inicio?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81888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5488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tiene un registro activo de innovaciones de campo con seguimiento semanal?</a:t>
            </a:r>
            <a:endParaRPr lang="en-US" sz="12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Resumen Ejecutivo: El Caso para la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CII es el único marco probado científicamente para reducir costos 30-40% en proyectos complejos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promedio de 6:1 confirma que es la inversión de mayor retorno disponible para propietarios y contratistas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17 conceptos cubren el ciclo de vida completo: desde la idea hasta la operación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19 herramientas del SP 34-1 ofrecen una guía práctica y replicable para cualquier organización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evidencia empírica (CII, Jergeas 2001, Alberta study) es sólida y consistente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organizaciones en Nivel 3+ de madurez logran proyectos predecibles, seguros y rentables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pregunta no es si implementar constructabilidad, sino cuándo empezar</a:t>
            </a:r>
            <a:endParaRPr lang="en-US" sz="12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de Estudio y Resultados Reales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Evidencia de campo en proyectos globales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81 / 140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DE ESTUDIO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1: Planta Petroquímica — Reducción de Costos 28%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82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Proyecto: Planta de polietileno, US$480M, Medio Oriente  |  Fuente: CII (2015)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691640"/>
          <a:ext cx="685800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406640" y="1691640"/>
            <a:ext cx="4572000" cy="1508760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9050">
            <a:solidFill>
              <a:srgbClr val="5AC8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18013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Conceptos Aplicados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21488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 (desde FEED), C-6 (lotes), C-8, C-9, C-10 prefab de piping rack 42%, C-13 plan izaje grúas 800t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06640" y="3310128"/>
            <a:ext cx="4572000" cy="1508760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9050">
            <a:solidFill>
              <a:srgbClr val="30D1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34198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Cuantificado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43800" y="376732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Ahorro: US$133M vs. base sin constructabilidad. ROI del programa: 9.4:1. Plazo reducido 14 meses.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06640" y="4928616"/>
            <a:ext cx="4572000" cy="1655064"/>
          </a:xfrm>
          <a:prstGeom prst="roundRect">
            <a:avLst>
              <a:gd name="adj" fmla="val 5525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43800" y="50383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Lección Principal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43800" y="5385816"/>
            <a:ext cx="4297680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integración del constructor (C-1) en la fase FEED fue el factor de mayor impacto: modificó el layout en 3 ocasiones evitando US$80M en retrabajos futuros.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2: Proyecto Minero — Modularización en Zona Remota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Proyecto: Planta concentradora, US$220M, Altiplano 4,200 msnm, Perú | Fuente: COSAPI / CII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Desafío constructivo: productividad 40% menor por altitud, escasez de mano de obra especializada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Solución constructabilidad: 68% de la planta modularizada en talleres de Lima y Arequipa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Módulos pre-ensamblados en terreno a 1,800 msnm, transportados en camiones especiales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plazo de construcción en campo reducido de 28 a 19 meses (-32%)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Ahorro en mano de obra campo: 485,000 HH menos → US$38M de ahorro directo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Reducción de accidentes: de 8 LTI esperados a 2 LTI reales (menos trabajo en altura en campo)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3: Puente Viaducto — Constructabilidad en Infraestructura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Proyecto: Viaducto urbano 4.2 km, 18 vanos, US$95M, ciudad de 2.5M habitantes | Colombia, 2019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Desafío: construcción sin interrupción del tráfico vehicular subyacente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C-1: Constructor involucrado desde diseño conceptual de las ménsulas de lanzamiento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C-5: Método de lanzamiento incremental (ILM) seleccionado en fase conceptual por constructabilidad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C-6: División en 3 frentes simultáneos que permitió avanzar 3 vanos en paralelo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C-13: Plan de izaje detallado para cada vano con ventanas de cierre de tráfico de 4 horas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0 días de cierre total de vía, plazo cumplido, 18% bajo presupuesto</a:t>
            </a:r>
            <a:endParaRPr lang="en-US" sz="12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4: Edificio Corporativo — Constructabilidad en Building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Proyecto: Torre 42 pisos, US$145M, Lima, 2021 | Constructora local + consultor CII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C-8: Estandarización de planta típica en 38 de 42 pisos → curva de aprendizaje significativa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C-10: Prefabricación de 100% de escaleras, 80% de baños húmedos, fachada unitaria de vidrio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C-11: Diseño de acceso para la grúa torre: 2 grúas con alcance coordinado para los 4 frentes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C-14: Programa de ciclo de piso: 5 días por planta (vs. 7 días en proyectos comparables)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8 meses de ahorro en plazo, US$12M de ahorro directo, 22% menor retrabajo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Factor clave: el Gerente de Construcción participó en 100% de las reuniones de coordinación de diseño</a:t>
            </a:r>
            <a:endParaRPr lang="en-US" sz="12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5: Planta de Energía Solar — Estandarización a Escala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Proyecto: Parque solar 250 MW, 450,000 paneles, US$185M, Atacama, Chile | 2022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C-9: Estandarización de 3 tipos de estructura de soporte → 90% de todas las estructuras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C-9: Reducción de variantes de conexionado de 28 tipos a 4 tipos → 70% menos errores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C-14: Programación por zonas de 5,000 paneles: equipo de 12 personas, 6 días por zona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C-5: Automatización del hincado de pilotes con GNSS → 40% más rápido que método manual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Resultado: 6 meses antes del plan, US$22M bajo presupuesto, récord de productividad de 2,100 paneles/día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del programa de constructabilidad: 11.5:1 (el más alto documentado en el sector)</a:t>
            </a:r>
            <a:endParaRPr lang="en-US" sz="12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Benchmarking Global: Constructabilidad por Región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Norteamérica: 78% de proyectos &gt;US$100M implementan constructabilidad formal (CII Survey 2022)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Europa: 65% adopción, con énfasis en buildability (CIRIA) para edificación y constructabilidad CII para industrial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Australia/NZ: 82% adopción, impulsada por regulación de grandes proyectos gubernamentales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Latinoamérica: 35% adopción en proyectos internacionales, &lt;15% en proyectos locales (oportunidad)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Asia-Pacífico: 70% adopción en proyectos de O&amp;G y Power; crecimiento acelerado 2018-2024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Medio Oriente: 88% en proyectos Aramco, ADNOC y SABIC — exigencia contractual explícita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Conclusión: Latinoamérica tiene la mayor brecha y por tanto el mayor potencial de mejora</a:t>
            </a:r>
            <a:endParaRPr lang="en-US" sz="12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Comparativo: Proyectos Con vs. Sin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Muestra CII 2022: 847 proyectos de capital &gt;US$25M, 12 sectores, 35 países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Costo: proyectos con constructabilidad: 97.2% del estimado vs. 118.4% sin constructabilidad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Plazo: con constructabilidad: 102.8% del plan vs. 122.6% sin constructabilidad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Retrabajo: 2.8% del TIC con constructabilidad vs. 9.2% sin constructabilidad (-70%)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Accidentabilidad: TRIR 1.4 con constructabilidad vs. 3.8 sin constructabilidad (-63%)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Satisfacción del cliente: 4.2/5.0 con constructabilidad vs. 2.9/5.0 sin constructabilidad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Conclusión estadística (p&lt;0.001): la constructabilidad es el factor de gestión con mayor impacto en el desempeño</a:t>
            </a:r>
            <a:endParaRPr lang="en-US" sz="12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Testimonios y Quotes de la Industria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"Constructability is not about doing things differently; it is about doing things better from the start." — CII, 1986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"Los proyectos que fallan en costo y plazo casi siempre fallan por causas que se podían prevenir en el diseño." — O'Connor, UT Austin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constructor más experimentado sentado en la mesa de diseño vale más que cualquier software." — Gerente de Proyecto, Proyecto Camisea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"Implementamos constructabilidad CII en 2015. Desde entonces, ningún proyecto nuestro ha tenido sobrecosto &gt; 5%." — VP Engineering, empresa Top 20 ENRI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retrabajo es el cáncer de la construcción. La constructabilidad es la vacuna." — Jergeas &amp; Van der Put, 2001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"En COSAPI, la constructabilidad es parte de nuestro ADN de proyectos desde 2018." — Testimonio interno</a:t>
            </a:r>
            <a:endParaRPr lang="en-US" sz="12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Falla: Proyectos Que No Implementaron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 A: Refinería, US$650M → US$1,100M (+69%). Causa: 12,000 RFIs por diseño no coordinado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 B: Hospital, US$85M → US$142M (+67%). Causa: interferencias MEP detectadas en campo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 C: Presa, US$320M → US$480M (+50%). Causa: método constructivo inadecuado al sustrato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 D: Data center, US$45M → US$72M (+60%). Causa: secuencia MEP incompatible con estructura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Patrón común en todos los casos: constructor no involucrado en diseño, especificaciones no constructibles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de prevención estimado (constructabilidad formal) en todos los casos: &lt;1.5% del TIC original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Conclusión: el "ahorro" de no implementar constructabilidad es siempre una ilusión costosa</a:t>
            </a:r>
            <a:endParaRPr lang="en-US" sz="12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Factor Humano en la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no la implementan los sistemas: la implementan las personas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Gerente de Construcción con experiencia de campo es el activo más valioso del equipo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Dinámica de equipo: la colaboración entre diseño y construcción requiere cultura de respeto mutuo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Conflicto común: diseñadores ven los comentarios de constructabilidad como críticas al diseño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Solución: enmarcar constructabilidad como "co-creación", no como "auditoría del diseño"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Reuniones conjuntas de diseño-construcción desde el inicio reducen la tensión y aumentan la calidad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patrocinio visible del Gerente de Proyecto es el factor más crítico para el éxito del programa</a:t>
            </a:r>
            <a:endParaRPr lang="en-US" sz="12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Proyectos de Emergencia y Acelerados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Proyectos fast-track: la constructabilidad es más, no menos, importante cuando el tiempo es crítico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En fast-track, la superposición de diseño y construcción amplifica el impacto de errores de diseño no constructibles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Estrategia: implementar las revisiones de constructabilidad de mayor impacto (C-1, C-7, C-13) aunque sea abreviadas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Rolling-wave constructability: revisiones parciales al ritmo del diseño parcial (no esperar IFC)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COVID-19 case: hospitales modulares construidos en 10 días — máxima constructabilidad = máxima velocidad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Regla de los proyectos acelerados: comprime plazos de construcción, no plazos de planificación constructiva</a:t>
            </a:r>
            <a:endParaRPr lang="en-US" sz="12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Medición de la Madurez: Herramienta de Autoevaluación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 1 — Liderazgo (20%): ¿La alta dirección patrocina activamente el programa de constructabilidad?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 2 — Procesos (20%): ¿Se tienen procesos documentados y se siguen en todos los proyectos?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 3 — Personal (20%): ¿El equipo está capacitado y tiene los roles de constructabilidad asignados?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 4 — Herramientas (20%): ¿Se usan las 19 herramientas SP 34-1 de manera sistemática?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Dimensión 5 — Resultados (20%): ¿Se miden KPIs y se comparan con benchmarks externos?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Puntuación: 0-20 = Nivel 1; 21-40 = Nivel 2; 41-60 = Nivel 3; 61-80 = Nivel 4; 81-100 = Nivel 5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Recomendación: realizar la autoevaluación al inicio de cada año y de cada proyecto mayor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la Cadena de Suministro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debe extenderse a proveedores y subcontratistas clave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Criterio de selección de proveedor: ¿El proveedor tiene experiencia en constructabilidad CII?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Contrato de fabricación: incluir criterios de constructabilidad en las especificaciones de compra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Vendor data: garantizar que los planos de proveedor sean constructibles (acceso para mantenimiento)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Inspección en fábrica: verificar constructabilidad del equipo antes de despacho (no en campo)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Logística: embalaje diseñado para el montaje directo (no requiere desembalaje y re-embalaje en campo)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 suppliers: certificación de calidad de los módulos prefabricados como parte del programa de constructabilidad</a:t>
            </a:r>
            <a:endParaRPr lang="en-US" sz="12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CASOS Y BENCHMARKING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Futuro de la Constructabilidad: Tendencias 2025-2035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AI-driven constructability: análisis automático de planos por IA para detectar issues constructivos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Generative design: IA genera alternativas de diseño optimizadas para constructabilidad automáticamente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Robotics &amp; automation: diseñar para robots (welding, masonry, inspection) como nuevo criterio de constructabilidad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Offsite manufacturing: la fábrica se convierte en el principal lugar de construcción (80% off-site en 2035)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 life-cycle: constructabilidad durante operación y mantenimiento (mantenibilidad integrada)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Collaborative platforms: propietario, diseñador y constructor en una plataforma digital compartida en tiempo real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Constructability-as-a-Service: consultores especializados ofrecerán servicios de constructabilidad digital remota</a:t>
            </a:r>
            <a:endParaRPr lang="en-US" sz="12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 y Constructabilidad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BIM, IA, Digital Twin y el futuro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96 / 140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BIM y Constructabilidad: LOD y Aplicaciones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1430000" cy="804672"/>
          </a:xfrm>
          <a:prstGeom prst="roundRect">
            <a:avLst>
              <a:gd name="adj" fmla="val 7955"/>
            </a:avLst>
          </a:prstGeom>
          <a:solidFill>
            <a:srgbClr val="000000"/>
          </a:solidFill>
          <a:ln w="15240">
            <a:solidFill>
              <a:srgbClr val="3A3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1673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LOD 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31673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Masa conceptual. Constructabilidad: evaluar acceso del sitio y rutas de transporte.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11430000" cy="804672"/>
          </a:xfrm>
          <a:prstGeom prst="roundRect">
            <a:avLst>
              <a:gd name="adj" fmla="val 7955"/>
            </a:avLst>
          </a:prstGeom>
          <a:solidFill>
            <a:srgbClr val="000000"/>
          </a:solidFill>
          <a:ln w="15240">
            <a:solidFill>
              <a:srgbClr val="8E8E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3113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LOD 200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23113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Elementos genéricos. Constructabilidad: layout general, secuencias de montaje preliminares.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90672"/>
            <a:ext cx="11430000" cy="804672"/>
          </a:xfrm>
          <a:prstGeom prst="roundRect">
            <a:avLst>
              <a:gd name="adj" fmla="val 7955"/>
            </a:avLst>
          </a:prstGeom>
          <a:solidFill>
            <a:srgbClr val="000000"/>
          </a:solidFill>
          <a:ln w="1524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4553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LOD 300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314553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Geometría específica. Constructabilidad: clash detection, accesibilidad, plan de grúas.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005072"/>
            <a:ext cx="11430000" cy="804672"/>
          </a:xfrm>
          <a:prstGeom prst="roundRect">
            <a:avLst>
              <a:gd name="adj" fmla="val 7955"/>
            </a:avLst>
          </a:prstGeom>
          <a:solidFill>
            <a:srgbClr val="000000"/>
          </a:solidFill>
          <a:ln w="15240">
            <a:solidFill>
              <a:srgbClr val="5AC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LOD 350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405993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Interfaces entre sistemas. Constructabilidad: secuencias MEP, análisis de IWP.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919472"/>
            <a:ext cx="11430000" cy="804672"/>
          </a:xfrm>
          <a:prstGeom prst="roundRect">
            <a:avLst>
              <a:gd name="adj" fmla="val 7955"/>
            </a:avLst>
          </a:prstGeom>
          <a:solidFill>
            <a:srgbClr val="000000"/>
          </a:solidFill>
          <a:ln w="15240">
            <a:solidFill>
              <a:srgbClr val="30D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7433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LOD 400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497433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Fabricación. Constructabilidad: pre-ensamblajes definidos, tolerancias de montaje.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5833872"/>
            <a:ext cx="11430000" cy="804672"/>
          </a:xfrm>
          <a:prstGeom prst="roundRect">
            <a:avLst>
              <a:gd name="adj" fmla="val 7955"/>
            </a:avLst>
          </a:prstGeom>
          <a:solidFill>
            <a:srgbClr val="000000"/>
          </a:solidFill>
          <a:ln w="15240">
            <a:solidFill>
              <a:srgbClr val="FFD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888736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LOD 500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5888736"/>
            <a:ext cx="9692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As-built. Constructabilidad: captura de lecciones aprendidas, base digital de referencia.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4D BIM: Simulación Temporal del Proceso Constructivo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4D BIM = modelo 3D + cronograma vinculado a cada elemento del modelo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Permite visualizar la secuencia de construcción antes de iniciar la obra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Detectar interferencias temporales: dos actividades que compiten por el mismo espacio o grúa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Validar la constructabilidad del programa: ¿es físicamente posible construir en la secuencia planificada?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Herramientas: Synchro (Bentley), Navisworks (Autodesk), TILOS (para lineal)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de uso: identificar ventanas de cierre en proyectos con operación continua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cuantificado: 15-20% reducción de tiempo improductivo en campo al optimizar secuencias con 4D</a:t>
            </a:r>
            <a:endParaRPr lang="en-US" sz="12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Clash Detection: Constructabilidad Digital en 3D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Clash detection = detección automatizada de interferencias entre elementos del modelo BIM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Hard clash: elementos que se intersectan físicamente (tubería con viga, ducto con estructura)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Soft clash: elementos demasiado cercanos para mantenimiento (válvula sin espacio para actuador)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Workflow clash: interferencias por secuencia constructiva (colocar equipo después de cerrar el techo)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Herramienta estándar: Autodesk Navisworks Manage — exporta reportes de clashes para resolución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Beneficio: detectar 500-2000 clashes en diseño vs. en campo reduce costo de resolución 100x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Mejor práctica: revisión semanal de nuevos clashes durante la etapa de ingeniería de detalle</a:t>
            </a:r>
            <a:endParaRPr lang="en-US" sz="12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Inteligencia Artificial en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Machine Learning para predecir riesgos constructivos basado en datos históricos de proyectos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Computer Vision: análisis automático de planos para detectar issues de constructabilidad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NLP: análisis de especificaciones para identificar cláusulas no constructibles automáticamente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Recommendation engines: sugerir mejoras de constructabilidad basadas en proyectos similares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Generative AI: generar alternativas de diseño optimizadas para constructabilidad (Autodesk Forma)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Predictive analytics: anticipar qué actividades de campo tendrán baja productividad por issues de diseño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rol del ingeniero de constructabilidad evoluciona: de revisor manual a supervisor de IA</a:t>
            </a:r>
            <a:endParaRPr lang="en-US" sz="12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 y Constructabilidad en la Operación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Digital twin = réplica digital del activo físico en tiempo real durante operación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+ digital twin: planificar turnarounds y mantenimientos mayores con el modelo virtual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Simulación de reemplazo de equipos: verificar constructabilidad del mantenimiento antes de ejecutarlo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Reality capture: drones + escáner láser para actualizar el digital twin con el as-built real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VR para training: operadores practican procedimientos de mantenimiento en el gemelo digital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Shell: digital twin de plataforma offshore permite planificar todos los trabajos de mantenimiento sin visita presencial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Proyección: 60% de propietarios industriales tendrán digital twin operativo para 2030 (McKinsey)</a:t>
            </a:r>
            <a:endParaRPr lang="en-US" sz="12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Drones y Constructabilidad en el Sitio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Topografía con drones: modelo de sitio en 48h vs. 2 semanas con topografía tradicional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Monitoreo de avance: comparar el as-built real con el modelo BIM semanal o diariamente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Inspección de accesos: verificar que las rutas de transporte de equipos son realmente navegables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Seguridad: identificar zonas de riesgo constructivo (inestabilidad de taludes, accesos peligrosos)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Logística: monitoreo de materiales en el patio de almacenamiento para planificar el JIT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Inspección de estructuras: detectar deformaciones o problemas de montaje que impactan constructabilidad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de drones: US$1 invertido en drones ahorra US$8 en correcciones por monitoreo temprano (CIOB 2022)</a:t>
            </a:r>
            <a:endParaRPr lang="en-US" sz="12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Realidad Aumentada y Virtual en Construcción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 en campo: visualizar la posición correcta de instalaciones sobre la realidad física del sitio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VR para capacitación: entrenamiento de procedimientos de montaje complejos antes de ejecutarlos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 para QC: comparar el elemento instalado con el diseño en tiempo real con tablet o visor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VR para revisiones de diseño: recorrer el modelo 3D a escala real para detectar issues de acceso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Bechtel: AR redujo errores de instalación de piping en 32% en proyecto de LNG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PCL: VR para capacitación de montaje de módulos redujo tiempo de entrenamiento 40%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Tendencia 2025: visores AR de construcción (Trimble XR10 DAQRI) serán estándar de campo</a:t>
            </a:r>
            <a:endParaRPr lang="en-US" sz="12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Plataformas de Gestión de Proyectos con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Ecosistema Autodesk Construction Cloud: BIM 360, Procore integrado, Plan Grid — plataforma completa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Bentley Systems: ProjectWise para gestión de ingeniería, iTwin para constructabilidad digital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Oracle Primavera P6 + BIM: vincular WBS con elementos del modelo para análisis de constructabilidad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AVEVA: específico para E&amp;I y piping en proyectos industriales — detección automática de conflictos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Trimble: Connect platform para gestión de campo con inteligencia constructiva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Módulo de constructabilidad en cualquier PMIS: registro de hallazgos, seguimiento de resolución, KPIs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Recomendación: elegir la plataforma en función de la estrategia de BIM definida en el PEP</a:t>
            </a:r>
            <a:endParaRPr lang="en-US" sz="12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Impresión 3D en Construcción: Cambio de Paradigma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Concrete printing: impresión de elementos estructurales de concreto directamente en sitio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Ventajas constructivas: formas complejas sin encofrado, reducción de residuos 60%, velocidad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Dubai: primer edificio gubernamental impreso en 3D (2016), 17 días de construcción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Aplicaciones actuales: ornamentación, elementos no estructurales, conexiones especiales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Futuro: impresión de viviendas completas a US$10,000 en 24 horas (ICON, Austin)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para impresión 3D: diseñar geometrías optimizadas para el proceso de extrusión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Limitación actual: certificación estructural y resistencia sísmica aún en desarrollo normativo</a:t>
            </a:r>
            <a:endParaRPr lang="en-US" sz="12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Prefabricación Avanzada: DfMA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DfMA = Design for Manufacturing and Assembly: disciplina hermana de la constructabilidad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Principios DfMA aplicados a construcción: minimizar componentes, maximizar estandarización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Volumen vs. complejidad: fabricar alto volumen de elementos simples es más eficiente que pocos complejos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Conexiones: diseñar conexiones de montaje simple (bolteadas &gt; soldadas en campo cuando posible)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Tolerancias: el diseño DfMA define tolerancias fabricación-montaje que se pueden alcanzar en obra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Singapore: 80% de vivienda pública construida con PPVC (Prefabricated Prefinished Volumetric Construction)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Proyección McKinsey: DfMA puede reducir costo de construcción 20% y plazo 40% para edificios</a:t>
            </a:r>
            <a:endParaRPr lang="en-US" sz="12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Medición Digital del Avance: Earned Value +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Earned Value Management (EVM): marco cuantitativo para medir avance en costo y plazo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mejora la base de la EVM: actividades más predecibles = medición más precisa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KPIs integrados: CPI (Cost Performance Index) y SPI (Schedule Performance Index) con benchmark CII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CPI &gt; 1.0 = proyecto en costo: típico en proyectos con constructabilidad madura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SPI &gt; 1.0 = proyecto adelantado: lograble con programa constructivo validado (C-2, C-14)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Dashboard semanal: EVM + KPIs de constructabilidad en una sola vista para el Gerente de Proyecto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Alerta temprana: CPI &lt; 0.9 en el primer 15% de avance predice sobrecosto final con 85% de precisión</a:t>
            </a:r>
            <a:endParaRPr lang="en-US" sz="12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Data Analytics en Proyectos de Construcción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Big Data en construcción: un proyecto de US$500M genera 500GB+ de datos (planos, RFIs, inspecciones)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Analytics de constructabilidad: identificar patrones de RFIs repetitivos que indican problema sistémico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Análisis de productividad: comparar horas reales vs. estimadas por tipo de actividad y disciplina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Predictive maintenance construction: predecir fallas de equipos de construcción antes que ocurran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Supplier analytics: identificar proveedores con mayor índice de incumplimientos que impactan constructabilidad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Lesson learned analytics: ML para extraer patrones de la base de lecciones aprendidas históricas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Benchmark propio: con 5+ proyectos históricos, se puede construir un benchmark interno más preciso que el CII</a:t>
            </a:r>
            <a:endParaRPr lang="en-US" sz="12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Sostenibilidad: Métricas Integradas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Carbon footprint de la construcción: 11% de las emisiones globales de CO2 vienen del proceso constructivo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reduce emisiones: menos viajes, menos residuos, menos repetición de actividades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Embodied carbon: el diseño constructible elige materiales con menor huella por fabricación + transporte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Circular economy: constructabilidad para desmontaje (design for disassembly) = segunda vida del edificio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Métricas GHG del proceso constructivo: tCO2e/US$M invertido — benchmark CII: 85 tCO2e/US$M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 constructabilidad avanzada: reducción estimada 20-35% de GHG del proceso constructivo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ISO 20400: Sustainable Procurement — incluye criterios de constructabilidad en la cadena de suministro</a:t>
            </a:r>
            <a:endParaRPr lang="en-US" sz="12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 DIGITAL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Integrando Todo: El Modelo de Excelencia en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excelencia en constructabilidad requiere alineamiento de 5 elementos: estrategia, procesos, personas, tecnología y cultura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Estrategia: definir la constructabilidad como diferenciador competitivo, no solo como herramienta táctica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Procesos: SP 34-1 completamente implementado, integrado al sistema de gestión de proyectos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Personas: equipo capacitado, roles asignados, carrera profesional para especialistas en constructabilidad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Tecnología: BIM + 4D + plataforma digital integrada para todas las revisiones y seguimiento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Cultura: la constructabilidad es un valor organizacional, no un requisito contractual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Modelo COSAPI 2024: objetivo nivel 4 de madurez en todos los proyectos mayores para 2026</a:t>
            </a:r>
            <a:endParaRPr lang="en-US" sz="12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Cierre: Cultura, KPIs y Próximos Pasos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la presentación a la acción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111 / 140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AUTOEVALUACIÓN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Perfil de Madurez Actual vs. Objetivo (Empresa)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112 / 140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261872"/>
          <a:ext cx="6858000" cy="5349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406640" y="1261872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13167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Liderazgo — Gap: Medio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16642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Taller directivo de constructabilidad Q1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06640" y="2724912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43800" y="277977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Procesos — Gap: Alto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43800" y="312724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Implementar SP 34-1 completo en próximo proyecto piloto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06640" y="4187952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43800" y="42428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KPIs — Gap: Alto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43800" y="45902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Configurar dashboard de constructabilidad en PMIS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06640" y="5650992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9050">
            <a:solidFill>
              <a:srgbClr val="FF45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57058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Conocimiento — Gap: Alto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43800" y="60533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Crear base de lecciones aprendidas Q1-Q2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de Acción Trimestral: Q1-Q4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Q1 — Fundamentos: Designar Gerente de Constructabilidad, aprobar Política, capacitar equipo directivo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Q1 — Seleccionar proyecto piloto (en diseño activo), elaborar Plan de Constructabilidad (T-1)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Q2 — Estructura: Implementar T-2 a T-7 en el proyecto piloto, medir resultados primeros 3 meses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Q2 — Configurar PMIS con módulo de constructabilidad, iniciar base de lecciones aprendidas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Q3 — Expansión: Extender a todos los proyectos &gt;US$10M, capacitar 100% de Gerentes de Proyecto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Q3 — Primera auditoría externa de constructabilidad, comparar con benchmark CII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Q4 — Resultados: Presentar ROI del primer año a dirección, definir objetivos año 2</a:t>
            </a:r>
            <a:endParaRPr lang="en-US" sz="12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Inversión Requerida y Proyección de Retorno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1 — Inversión: US$280K (1 Gerente, capacitaciones, software, consultores externos)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1 — Beneficio esperado (proyectos piloto): reducción retrabajo 20-25% = US$800K-US$1.2M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1 — ROI estimado: 3:1 a 4:1 (conservador; primera curva de aprendizaje)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2-3 — Inversión: US$180K/año (equipo establecido, procesos maduros)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2-3 — Beneficio esperado: 30-35% reducción retrabajo = US$2M-US$4M/año (depende del volumen)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Año 2-3 — ROI estimado: 8:1 a 14:1 (consistente con benchmark CII para organizaciones maduras)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Payback total del programa: 6-8 meses (más rápido que cualquier otra inversión de mejora en construcción)</a:t>
            </a:r>
            <a:endParaRPr lang="en-US" sz="12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Dashboard de KPIs: Qué Medir y Cómo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mensual 1: N° de revisiones de constructabilidad ejecutadas / N° de hitos alcanzados (meta: 100%)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mensual 2: N° de comentarios de constructabilidad incorporados al diseño / total generados (meta: &gt;85%)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mensual 3: Variación del costo del mes vs. plan (meta: ≤2% mensual)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mensual 4: Índice de productividad de mano de obra HH real / HH plan (meta: ≥95%)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trimestral 5: N° de RFIs por US$M invertido comparado con proyectos sin constructabilidad (meta: -30%)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por proyecto 6: Retrabajo como % TIC al completar la obra (meta: &lt;3%)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KPI anual 7: ROI total del programa de constructabilidad (meta: ≥4:1)</a:t>
            </a:r>
            <a:endParaRPr lang="en-US" sz="12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Gobernanza del Programa de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Comité de Constructabilidad: Gerente General, VP Proyectos, Gerente de Constructabilidad → reunión trimestral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de KPIs: mensual con Gerentes de Proyecto, trimestral con dirección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Auditoría anual: revisión externa por consultor CII certificado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del cambio: proceso formal para actualizar procedimientos de constructabilidad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Mejora continua: ciclo PDCA anual del programa de constructabilidad como programa corporativo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Reporte anual: "Informe de Constructabilidad Corporativo" con resultados, benchmarks y próximas metas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al ISO 9001: el programa de constructabilidad como parte del Sistema de Gestión de Calidad</a:t>
            </a:r>
            <a:endParaRPr lang="en-US" sz="12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como Ventaja Competitiva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Las empresas con constructabilidad madura (Nivel 4-5) ganan el 70% de las licitaciones competitivas que postulan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Diferenciador en propuestas: demostrar historial de proyectos bajo presupuesto con constructabilidad formal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competitivo: la constructabilidad permite ofertar con menor contingencia y aún así ganar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Reputación: clientes sofisticados (multinacionales, minería, O&amp;G) exigen constructabilidad en sus contratos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Atracción de talento: ingenieros de alto nivel prefieren empresas con cultura de excelencia técnica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Sostenibilidad financiera: proyectos rentables = empresa financieramente sana = crecimiento sostenido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diferenciador del siglo XXI en construcción no es el precio: es la predictibilidad y calidad de la ejecución</a:t>
            </a:r>
            <a:endParaRPr lang="en-US" sz="12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Preguntas Frecuentes sobre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¿La constructabilidad aplica solo a proyectos grandes? NO — aplica en proyectos desde US$5M; se escala a la complejidad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¿Es lo mismo que Value Engineering? NO — VE busca reducir costo del diseño; constructabilidad busca reducir costo de construcción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¿El contratista puede implementarlo sin el propietario? Parcialmente — pero el mayor impacto requiere integración desde la propiedad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¿Cuánto tarda ver resultados? 3-6 meses para las primeras mejoras; 12-18 meses para resultados sistémicos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¿Funciona en proyectos Lump Sum? Sí — especialmente para el contratista como optimizador de su costo de construcción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¿Se puede aplicar en diseños ya terminados? Con menor impacto — siempre hay oportunidades en campo (C-16, C-17)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¿Requiere BIM para funcionar? No — BIM amplifica el impacto, pero el valor es independiente de las herramientas</a:t>
            </a:r>
            <a:endParaRPr lang="en-US" sz="12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Recursos y Referencias para Profundizar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CII.utexas.edu: publicaciones, RTs, herramientas, guías de implementación, CII Virtual Campus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Publication 3-1: "Constructability: A Primer" — el texto fundacional del concepto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 SP 34-1: "Constructability Implementation Guide" — guía práctica con las 19 herramientas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Jergeas &amp; Van der Put (2001): "Benefits of Constructability on Construction Projects" — estudio Alberta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O'Connor &amp; Miller (1994): "Constructability Programs: Experiences" — ASCE Construction Engineering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Ferguson (1989): "Buildability in Practice" — CIRIA Report, UK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CIRIA Report 101: "Buildability: An Assessment" — base del concepto en Europa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8678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Lean Construction Institute (leanconstructionblog.com): integración Lean-Constructabilidad</a:t>
            </a:r>
            <a:endParaRPr lang="en-US" sz="12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Tabla Comparativa: Proyectos Con y Sin Constructabilidad CII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657600" cy="411480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80160"/>
            <a:ext cx="34747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Indicador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1261872"/>
            <a:ext cx="2743200" cy="411480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280160"/>
            <a:ext cx="25603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Constructabilidad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1261872"/>
            <a:ext cx="2743200" cy="411480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1280160"/>
            <a:ext cx="25603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 Constructabilidad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0" y="1261872"/>
            <a:ext cx="1828800" cy="411480"/>
          </a:xfrm>
          <a:prstGeom prst="rect">
            <a:avLst/>
          </a:prstGeom>
          <a:solidFill>
            <a:srgbClr val="3A3A3C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280160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Mejora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719072"/>
            <a:ext cx="36576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7647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final vs. estimado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71907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1764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118%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171907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7647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0" y="1719072"/>
            <a:ext cx="18288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17647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-21 pp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313432"/>
            <a:ext cx="36576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35915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Plazo final vs. plan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231343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23591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122%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31343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3591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103%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0" y="2313432"/>
            <a:ext cx="18288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23591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-19 pp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907792"/>
            <a:ext cx="36576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29535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Retrabajo (% TIC)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290779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0" y="29535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9.2%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12280" y="290779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29535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2.8%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01200" y="2907792"/>
            <a:ext cx="18288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38" name="Text 36"/>
          <p:cNvSpPr/>
          <p:nvPr/>
        </p:nvSpPr>
        <p:spPr>
          <a:xfrm>
            <a:off x="9692640" y="29535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-70%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502152"/>
            <a:ext cx="36576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5478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Cambios de campo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0" y="350215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0" y="35478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14%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12280" y="350215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35478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601200" y="3502152"/>
            <a:ext cx="18288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6" name="Text 44"/>
          <p:cNvSpPr/>
          <p:nvPr/>
        </p:nvSpPr>
        <p:spPr>
          <a:xfrm>
            <a:off x="9692640" y="354787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-71%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4096512"/>
            <a:ext cx="36576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41422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TRIR (accidentes)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23360" y="409651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0" y="41422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12280" y="409651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52" name="Text 50"/>
          <p:cNvSpPr/>
          <p:nvPr/>
        </p:nvSpPr>
        <p:spPr>
          <a:xfrm>
            <a:off x="6903720" y="41422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601200" y="4096512"/>
            <a:ext cx="18288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54" name="Text 52"/>
          <p:cNvSpPr/>
          <p:nvPr/>
        </p:nvSpPr>
        <p:spPr>
          <a:xfrm>
            <a:off x="9692640" y="414223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-63%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690872"/>
            <a:ext cx="36576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" y="47365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RFIs por US$M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23360" y="469087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0" y="47365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28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812280" y="469087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60" name="Text 58"/>
          <p:cNvSpPr/>
          <p:nvPr/>
        </p:nvSpPr>
        <p:spPr>
          <a:xfrm>
            <a:off x="6903720" y="47365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601200" y="4690872"/>
            <a:ext cx="18288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62" name="Text 60"/>
          <p:cNvSpPr/>
          <p:nvPr/>
        </p:nvSpPr>
        <p:spPr>
          <a:xfrm>
            <a:off x="9692640" y="47365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-71%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0040" y="5285232"/>
            <a:ext cx="36576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64" name="Text 62"/>
          <p:cNvSpPr/>
          <p:nvPr/>
        </p:nvSpPr>
        <p:spPr>
          <a:xfrm>
            <a:off x="411480" y="533095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Satisfacción cliente (1-5)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023360" y="528523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66" name="Text 64"/>
          <p:cNvSpPr/>
          <p:nvPr/>
        </p:nvSpPr>
        <p:spPr>
          <a:xfrm>
            <a:off x="4114800" y="53309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2.9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812280" y="5285232"/>
            <a:ext cx="27432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68" name="Text 66"/>
          <p:cNvSpPr/>
          <p:nvPr/>
        </p:nvSpPr>
        <p:spPr>
          <a:xfrm>
            <a:off x="6903720" y="533095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601200" y="5285232"/>
            <a:ext cx="1828800" cy="530352"/>
          </a:xfrm>
          <a:prstGeom prst="rect">
            <a:avLst/>
          </a:prstGeom>
          <a:solidFill>
            <a:srgbClr val="2C2C2E"/>
          </a:solidFill>
          <a:ln/>
        </p:spPr>
      </p:sp>
      <p:sp>
        <p:nvSpPr>
          <p:cNvPr id="70" name="Text 68"/>
          <p:cNvSpPr/>
          <p:nvPr/>
        </p:nvSpPr>
        <p:spPr>
          <a:xfrm>
            <a:off x="9692640" y="533095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+45%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20040" y="5879592"/>
            <a:ext cx="36576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2" name="Text 70"/>
          <p:cNvSpPr/>
          <p:nvPr/>
        </p:nvSpPr>
        <p:spPr>
          <a:xfrm>
            <a:off x="411480" y="59253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ROI del programa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023360" y="587959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4" name="Text 72"/>
          <p:cNvSpPr/>
          <p:nvPr/>
        </p:nvSpPr>
        <p:spPr>
          <a:xfrm>
            <a:off x="4114800" y="59253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N/A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812280" y="5879592"/>
            <a:ext cx="27432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6" name="Text 74"/>
          <p:cNvSpPr/>
          <p:nvPr/>
        </p:nvSpPr>
        <p:spPr>
          <a:xfrm>
            <a:off x="6903720" y="59253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6:1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601200" y="5879592"/>
            <a:ext cx="1828800" cy="530352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78" name="Text 76"/>
          <p:cNvSpPr/>
          <p:nvPr/>
        </p:nvSpPr>
        <p:spPr>
          <a:xfrm>
            <a:off x="9692640" y="592531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nuevo</a:t>
            </a:r>
            <a:endParaRPr lang="en-US" sz="11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164592" cy="3566160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 la Estrategia a la Ejecución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Comprometerse con la excelencia constructiva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CONSTRUCTABILIDAD CII  · 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121 / 140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COMPROMISOS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17 Conceptos CII — Tu Hoja de Ruta Personal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122 / 140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Para cada proyecto, evalúa cuáles conceptos puedes implementar esta semana, este mes, en este proyecto.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0A8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83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Integración Temprana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56232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67712" y="182880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0A8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883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40864" y="228600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Programas Constructivos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9624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1104" y="182880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1883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34256" y="228600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Prefactibilidad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4496" y="182880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883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7648" y="228600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Métodos Alternativos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47888" y="182880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1883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228600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241280" y="182880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0" y="1883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14432" y="228600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Por Lotes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0A8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009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Revisión Formal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56232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67712" y="3246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30D1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33009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40864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Simplicidad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9624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61104" y="3246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30D1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52544" y="33009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34256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Estandarización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43016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54496" y="3246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33009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27648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Prefabricación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47888" y="3246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30D1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33009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C-11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Accesibilidad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829800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241280" y="324612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30D1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32720" y="330098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C-12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314432" y="370332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Especificaciones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823192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466344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7183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C-13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47472" y="51206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Plan Montaje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267712" y="466344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30D1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9152" y="47183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340864" y="51206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Programas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849624" y="4718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261104" y="466344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2C2C2E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52544" y="47183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C-15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334256" y="51206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RRHH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54496" y="466344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FF95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5936" y="47183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C-16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27648" y="51206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Innov. Campo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836408" y="4718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247888" y="4663440"/>
            <a:ext cx="1920240" cy="1261872"/>
          </a:xfrm>
          <a:prstGeom prst="roundRect">
            <a:avLst>
              <a:gd name="adj" fmla="val 5797"/>
            </a:avLst>
          </a:prstGeom>
          <a:solidFill>
            <a:srgbClr val="000000"/>
          </a:solidFill>
          <a:ln w="31750">
            <a:solidFill>
              <a:srgbClr val="FF95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39328" y="47183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C-17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321040" y="51206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Retroalim.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9829800" y="4718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2004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★ = Conceptos de mayor impacto y facilidad de implementación inmediata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Implementando C-1 esta Semana: Guía Práctica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1: Identifica en qué fase está tu proyecto más importante ahora mismo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 está en conceptual/básica: agenda una reunión con el Gerente de Construcción esta semana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 está en detalle: solicita participar como revisор constructivo en la próxima reunión de coordinación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 está en campo: comienza el registro de innovaciones (T-17) este lunes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2: Envía este mensaje a tu equipo: "Quiero que analicemos constructabilidad en nuestra próxima reunión"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3: Descarga el SP 34-1 de CII.utexas.edu y compártelo con tu equipo de proyecto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cambio comienza con una conversación — hoy es el momento de tenerla</a:t>
            </a:r>
            <a:endParaRPr lang="en-US" sz="12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Implementando C-7 (Revisión Formal): Guía Práctica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1: Identifica el próximo hito de ingeniería (10%, 30%, 60% o 90% de diseño)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2: Agenda una "Revisión de Constructabilidad" de 3 horas para esa semana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3: Invita: Gerente de Proyecto, Gerente de Construcción, Ingenieros líderes por disciplina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4: Distribuye los planos disponibles con 48h de anticipación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5: Usa el checklist T-3 del SP 34-1 como guía (disponible en CII.utexas.edu)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6: Documenta los comentarios en una tabla: ID, descripción, responsable, fecha cierre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PASO 7: Haz seguimiento semanal al cierre de comentarios hasta resolver todos los críticos</a:t>
            </a:r>
            <a:endParaRPr lang="en-US" sz="12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COSAPI: Camino hacia la Constructabilidad Madura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2018: Primer proyecto piloto con constructabilidad formal — proyecto minero US$180M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2019: Extensión a todos los proyectos &gt;US$50M — 8 proyectos activos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2020: Capacitación masiva del equipo técnico — 340 personas en constructabilidad CII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2021: Implementación del PMIS con módulo de constructabilidad integrado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2022: Primera auditoría externa CII — resultado: Nivel 3.2 de madurez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2023: KPI emblemático: promedio de proyectos activos en 101.5% de costo estimado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Meta 2026: Nivel 4 de madurez, reconocimiento CII Excellence in Construction como empresa</a:t>
            </a:r>
            <a:endParaRPr lang="en-US" sz="12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Síntesis: Los 10 Principios de la Constructabilidad Efectiva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1. Involucrar al constructor desde la primera hora del proyecto (C-1)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2. Diseñar para construir, no para dibujar (C-8)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3. Estandarizar todo lo que tenga sentido repetir (C-9)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4. Construir en fábrica lo que no hay necesidad de construir en campo (C-10)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5. Hacer el programa de trabajo construible antes de hacerlo optimista (C-14)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6. Revisar formalmente el diseño desde la perspectiva constructiva en cada hito (C-7)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7. Capturar, analizar y actuar sobre las innovaciones de campo (C-16)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8678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8. Cerrar el ciclo: retroalimentar al diseño con la experiencia del campo (C-17)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37083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9. Medir el resultado: lo que no se mide no se mejora (KPIs)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81888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5488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10. Construir la cultura: la constructabilidad debe ser un valor, no un proceso</a:t>
            </a:r>
            <a:endParaRPr lang="en-US" sz="12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el Triángulo de Hierro del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triángulo de hierro: Alcance — Costo — Plazo — Calidad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constructabilidad: lograr los 4 simultáneamente requiere suerte o un margen enorme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 constructabilidad: los 4 son alcanzables de manera sistemática y predecible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Alcance: las revisiones de constructabilidad identifican el alcance constructivo real (no el teórico)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Costo: 30-40% de reducción demostrada en el TIC con implementación madura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Plazo: reducción de 10-32% con modularización, estandarización y programación constructiva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Calidad: menos retrabajos, diseño ejecutable = mayor calidad del producto terminado</a:t>
            </a:r>
            <a:endParaRPr lang="en-US" sz="12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Constructabilidad: Marco Legal y Contractual en LatAm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Perú: Ley de Contrataciones del Estado permite incluir requisitos de constructabilidad en TdR grandes proyectos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Chile: D.S. 75 y MOP incluyen constructabilidad como criterio en proyectos de concesiones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Colombia: INVÍAS y ANI incorporan análisis de constructabilidad en proyectos de APP de cuarta generación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México: PEMEX y CFE exigen Plan de Constructabilidad en proyectos &gt;US$100M desde 2019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Brasil: Petrobras y Eletrobras tienen programas de constructabilidad obligatorios en E&amp;P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BID/Banco Mundial: Project Appraisal Documents incluyen constructabilidad en proyectos de infraestructura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Oportunidad: las empresas con certificación en constructabilidad tienen ventaja en concursos públicos</a:t>
            </a:r>
            <a:endParaRPr lang="en-US" sz="12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F52D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F52DE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Profesional de Constructabilidad: Perfil y Carrera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AF5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129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Perfil base: Ingeniero Civil o Mecánico con 10+ años en campo (no solo diseño)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Conocimientos clave: CII SP 34-1, BIM básico, metodología de revisión de planos, Lean Construction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Competencias blandas: comunicación efectiva, influencia sin autoridad, facilitación de reuniones técnicas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Carrera: Ingeniero de Constructabilidad → Gerente de Constructabilidad → Director de Operaciones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Certificaciones relevantes: CII, PMI-CP, AACE CCP, Lean Construction Certificate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Compensación mercado: 15-25% sobre un Gerente de Proyectos equivalente (por escasez del perfil)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AF52D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perfil más demandado en la industria para la próxima década según CII y McKinsey</a:t>
            </a:r>
            <a:endParaRPr lang="en-US" sz="12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la Propuesta Técnica: Diferenciación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130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 postular a un proyecto, el Plan de Constructabilidad preliminar es un diferenciador potente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Sección recomendada en propuesta: "Metodología de Constructabilidad" (2-3 páginas)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Contenido: equipo de constructabilidad propuesto, hitos de revisión planificados, beneficios esperados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Presentar historial: proyectos anteriores donde la constructabilidad logró resultados medibles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Proponer KPIs contractuales de constructabilidad: esto genera confianza en el propietario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cliente técnico valora: "Este contratista va a entregar el proyecto, no solo el diseño"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real: COSAPI ganó licitación minera citando 22% de reducción en retrabajo logrado en proyecto previo</a:t>
            </a:r>
            <a:endParaRPr lang="en-US" sz="12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Alianza Propietario-Contratista en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131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mayor beneficiario de la constructabilidad es el propietario: opera el activo durante 30-50 años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Alineamiento de incentivos: contratos que comparten los ahorros de constructabilidad (shared savings)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Owner's team constructability: propietario tiene su propio equipo de constructabilidad independiente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Constructability review boards: comités mixtos propietario-contratista para decisiones de impacto mayor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Transparency: el propietario tiene acceso al registro de comentarios de constructabilidad en tiempo real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Long-term relationship: propietarios que implementan constructabilidad fidelizan a sus mejores contratistas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Shell, BP, Aramco: modelos de referencia de programas de constructabilidad de propietario maduro</a:t>
            </a:r>
            <a:endParaRPr lang="en-US" sz="12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para PyMEs de Construcción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132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no es solo para grandes empresas: aplica y genera ROI en empresas de cualquier tamaño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PyME construction (US$5M-50M/año): implementar los 7 conceptos de mayor impacto es suficiente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Comenzar por: C-1 (involucrar constructor en diseño), C-7 (revisión en 30% y 60%), C-9 (estandarizar)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Sin software especializado: Excel + Word son suficientes para los primeros 12 meses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Un solo "constructability champion" (ingeniero senior) puede liderar el programa en una empresa de 50 personas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Costo de entrada: US$5,000-15,000 en el primer año (capacitación + tiempo dedicado)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Beneficio esperado año 1: reducción 15-20% en retrabajo = US$50K-200K dependiendo del volumen de obra</a:t>
            </a:r>
            <a:endParaRPr lang="en-US" sz="12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C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C8F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y Gestión de Stakeholders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5AC8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133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stakeholders más relevantes para la constructabilidad: propietario, diseñador, constructor, operador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stakeholder tiene intereses distintos que la constructabilidad debe alinear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Propietario: máximo valor del activo; diseñador: diseño técnicamente óptimo; constructor: máxima eficiencia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Conflicto clásico: el diseñador quiere diseño "perfecto"; el constructor quiere diseño "ejecutable"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es el lenguaje común que permite a los tres hablar el mismo idioma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Stakeholder engagement: el Plan de Constructabilidad define cómo y cuándo involucramos a cada stakeholder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5AC8F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comunidad local como stakeholder constructivo: horarios de trabajo, acceso, ruido, polvo afectan el programa</a:t>
            </a:r>
            <a:endParaRPr lang="en-US" sz="12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la Información en Constructabilidad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134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Información de constructabilidad tiene ciclo de vida: generación → revisión → resolución → archivo → reutilización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Estándar de nomenclatura: CW-[proyecto]-[número]-[disciplina]-[fecha] para cada comentario de constructabilidad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Trazabilidad completa: de cada comentario a la revisión del plano a la solución implementada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Gestión de versiones: control de cambios de diseño vinculados a los comentarios de constructabilidad que los originaron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Archivo histórico: la base de datos de constructabilidad es un activo de la empresa, no del proyecto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GDPR/privacidad: los datos de constructabilidad de proyectos de clientes requieren acuerdo de confidencialidad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Datos para benchmarking interno: con 3+ proyectos similares se puede construir un benchmark propio más preciso que el CII</a:t>
            </a:r>
            <a:endParaRPr lang="en-US" sz="12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500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en el Mantenimiento y Turnarounds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135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se extiende a la vida operativa del activo: mantenibilidad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Turnaround planning: el alcance y la secuencia del turnaround se deben planificar desde el diseño original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Acceso para reemplazo de equipos: el diseño debe permitir retirar el equipo más grande sin demoler estructura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Espacio para andamios de mantenimiento: integrar los anclajes y accesos al diseño permanente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del turnaround: mismos principios CII aplicados a la planificación del mantenimiento mayor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Piping accessibility for inspection: boroscopia, radiografía y ultrasonido requieren acceso específico por diseño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Caso Shell Pernis: planificación del turnaround desde la ingeniería básica redujo el turnaround 18% vs. promedio histórico</a:t>
            </a:r>
            <a:endParaRPr lang="en-US" sz="12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5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3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Los Errores Más Costosos en la Historia de la Construcción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136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Olkiluoto NPP, Finlandia: 12 años de retraso, US$12B sobre presupuesto — diseño no constructible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Crossrail London: 3.5 años de retraso, US$4B sobre presupuesto — interfaces no gestionadas en diseño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Boston Big Dig: US$15B → US$25B — diseño modificado durante la construcción por problemas constructivos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Berlin Brandenburg Airport: 9 años de retraso — especificaciones no ejecutables de sistemas E&amp;I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Common thread in all cases: el constructor no estaba involucrado durante las fases críticas de diseño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Si se hubiera aplicado constructabilidad formal: estimado de ahorro potencial &gt;US$30B combinado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historia muestra que la constructabilidad no es opcional: es el seguro más barato de la industria</a:t>
            </a:r>
            <a:endParaRPr lang="en-US" sz="12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Construyendo el Legado: La Empresa Constructiva del Futuro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64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137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empresa constructiva del futuro no compite por precio: compite por predictibilidad y calidad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 diferenciador: "Nosotros entregamos proyectos en tiempo, costo y calidad — con evidencia"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 modelo: constructabilidad integrada como proceso estándar en todos los proyectos, sin excepción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 equipo: ingenieros que saben tanto de campo como de diseño — el perfil T del futuro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 tecnología: BIM + constructabilidad digital + datos para decisiones inteligentes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Su cultura: el "por qué" de cada práctica está claro para todos, del operario al directivo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64D2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pregunta que guía cada decisión: ¿Esto hace el proyecto más fácil de construir, o más difícil?</a:t>
            </a:r>
            <a:endParaRPr lang="en-US" sz="12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60A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Constructabilidad: Resumen de los 17 Conceptos + 19 Herramientas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138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 (C-1 a C-7): Integración, programas, métodos, innovación, lotes, revisión — todo desde el inicio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 (C-8 a C-15): Simplicidad, estándar, prefab, acceso, specs, montaje, programas, RRHH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FASE III (C-16, C-17): Innovación en campo y retroalimentación al diseño para futuros proyectos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 a T-5: Plan, evaluación, checklists, análisis de sitio, revisión de diseño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T-6 a T-10: Modularización, accesibilidad, prefabricación, especificaciones, plan de montaje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T-11 a T-15: Programas, adquisiciones, RRHH, programa de campo, estandarización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T-16 a T-19: Revisión de campo, innovaciones, lecciones aprendidas, informe de cierre</a:t>
            </a:r>
            <a:endParaRPr lang="en-US" sz="12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0D158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CIERRE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Mensaje Final: La Constructabilidad Empieza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430000" cy="0"/>
          </a:xfrm>
          <a:prstGeom prst="line">
            <a:avLst/>
          </a:prstGeom>
          <a:noFill/>
          <a:ln w="19050">
            <a:solidFill>
              <a:srgbClr val="30D1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139 / 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6245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mejor momento para implementar constructabilidad fue al inicio del proyecto. El segundo mejor momento es ahora."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8249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Cada proyecto es una nueva oportunidad para hacerlo mejor que el anterior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6654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El conocimiento sin acción no genera valor: ¿qué harás diferente en tu próximo proyecto?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50592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La constructabilidad no es una técnica que se aprende en un curso: es una mentalidad que se desarrolla con práctica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98648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Tu misión como profesional: dejar la industria de la construcción en mejor estado del que la encontraste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1868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Comparte este conocimiento: la industria mejora cuando todos aplicamos mejores prácticas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666744"/>
            <a:ext cx="91440" cy="91440"/>
          </a:xfrm>
          <a:prstGeom prst="ellipse">
            <a:avLst/>
          </a:prstGeom>
          <a:solidFill>
            <a:srgbClr val="30D15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Contacto para implementar constructabilidad CII en tu organización: CII.utexas.edu | linkedin.com/company/cii</a:t>
            </a:r>
            <a:endParaRPr lang="en-US" sz="12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A84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1371600"/>
            <a:ext cx="4114800" cy="4572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2011680"/>
            <a:ext cx="2743200" cy="32004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GRACIAS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7315200" cy="0"/>
          </a:xfrm>
          <a:prstGeom prst="line">
            <a:avLst/>
          </a:prstGeom>
          <a:noFill/>
          <a:ln w="25400">
            <a:solidFill>
              <a:srgbClr val="0A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84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Constructabilidad CII — Versión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140 láminas  ·  10 secciones  ·  17 conceptos  ·  19 herramientas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Fuente principal: Construction Industry Institute (CII)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D2FF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cii.utexas.edu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"El uso óptimo del conocimiento y la experiencia de construcción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desde la planificación hasta la operación de campo."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263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COSAPI  ·  2024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0" y="65836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A3A3C"/>
                </a:solidFill>
                <a:latin typeface="Atkinson Hyperlegible" pitchFamily="34" charset="0"/>
                <a:ea typeface="Atkinson Hyperlegible" pitchFamily="34" charset="-122"/>
                <a:cs typeface="Atkinson Hyperlegible" pitchFamily="34" charset="-120"/>
              </a:rPr>
              <a:t>140 / 140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140</Slides>
  <Notes>140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140</vt:i4>
      </vt:variant>
    </vt:vector>
  </HeadingPairs>
  <TitlesOfParts>
    <vt:vector size="1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Constructabilidad CII V2</dc:title>
  <dc:subject>PptxGenJS Presentation</dc:subject>
  <dc:creator>COSAPI</dc:creator>
  <cp:lastModifiedBy>COSAPI</cp:lastModifiedBy>
  <cp:revision>1</cp:revision>
  <dcterms:created xsi:type="dcterms:W3CDTF">2026-10-01T12:49:08Z</dcterms:created>
  <dcterms:modified xsi:type="dcterms:W3CDTF">2026-10-01T12:49:08Z</dcterms:modified>
</cp:coreProperties>
</file>