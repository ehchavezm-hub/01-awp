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3.xml"/>
<Relationship Id="rId40" Type="http://schemas.openxmlformats.org/officeDocument/2006/relationships/slide" Target="slides/slide34.xml"/>
<Relationship Id="rId41" Type="http://schemas.openxmlformats.org/officeDocument/2006/relationships/slide" Target="slides/slide35.xml"/>
<Relationship Id="rId42" Type="http://schemas.openxmlformats.org/officeDocument/2006/relationships/slide" Target="slides/slide36.xml"/>
<Relationship Id="rId43" Type="http://schemas.openxmlformats.org/officeDocument/2006/relationships/slide" Target="slides/slide37.xml"/>
<Relationship Id="rId44" Type="http://schemas.openxmlformats.org/officeDocument/2006/relationships/slide" Target="slides/slide38.xml"/>
<Relationship Id="rId45" Type="http://schemas.openxmlformats.org/officeDocument/2006/relationships/slide" Target="slides/slide39.xml"/>
<Relationship Id="rId46" Type="http://schemas.openxmlformats.org/officeDocument/2006/relationships/slide" Target="slides/slide40.xml"/>
<Relationship Id="rId47" Type="http://schemas.openxmlformats.org/officeDocument/2006/relationships/slide" Target="slides/slide41.xml"/>
<Relationship Id="rId48" Type="http://schemas.openxmlformats.org/officeDocument/2006/relationships/slide" Target="slides/slide42.xml"/>
<Relationship Id="rId49" Type="http://schemas.openxmlformats.org/officeDocument/2006/relationships/slide" Target="slides/slide43.xml"/>
<Relationship Id="rId50" Type="http://schemas.openxmlformats.org/officeDocument/2006/relationships/slide" Target="slides/slide44.xml"/>
<Relationship Id="rId51" Type="http://schemas.openxmlformats.org/officeDocument/2006/relationships/slide" Target="slides/slide45.xml"/>
<Relationship Id="rId52" Type="http://schemas.openxmlformats.org/officeDocument/2006/relationships/slide" Target="slides/slide46.xml"/>
<Relationship Id="rId53" Type="http://schemas.openxmlformats.org/officeDocument/2006/relationships/slide" Target="slides/slide47.xml"/>
<Relationship Id="rId54" Type="http://schemas.openxmlformats.org/officeDocument/2006/relationships/slide" Target="slides/slide48.xml"/>
<Relationship Id="rId55" Type="http://schemas.openxmlformats.org/officeDocument/2006/relationships/slide" Target="slides/slide49.xml"/>
<Relationship Id="rId56" Type="http://schemas.openxmlformats.org/officeDocument/2006/relationships/slide" Target="slides/slide50.xml"/>
<Relationship Id="rId57" Type="http://schemas.openxmlformats.org/officeDocument/2006/relationships/slide" Target="slides/slide51.xml"/>
<Relationship Id="rId58" Type="http://schemas.openxmlformats.org/officeDocument/2006/relationships/slide" Target="slides/slide52.xml"/>
<Relationship Id="rId59" Type="http://schemas.openxmlformats.org/officeDocument/2006/relationships/slide" Target="slides/slide53.xml"/>
<Relationship Id="rId60" Type="http://schemas.openxmlformats.org/officeDocument/2006/relationships/slide" Target="slides/slide54.xml"/>
<Relationship Id="rId61" Type="http://schemas.openxmlformats.org/officeDocument/2006/relationships/slide" Target="slides/slide55.xml"/>
<Relationship Id="rId62" Type="http://schemas.openxmlformats.org/officeDocument/2006/relationships/slide" Target="slides/slide56.xml"/>
<Relationship Id="rId63" Type="http://schemas.openxmlformats.org/officeDocument/2006/relationships/slide" Target="slides/slide57.xml"/>
<Relationship Id="rId64" Type="http://schemas.openxmlformats.org/officeDocument/2006/relationships/slide" Target="slides/slide58.xml"/>
<Relationship Id="rId65" Type="http://schemas.openxmlformats.org/officeDocument/2006/relationships/slide" Target="slides/slide59.xml"/>
<Relationship Id="rId66" Type="http://schemas.openxmlformats.org/officeDocument/2006/relationships/slide" Target="slides/slide60.xml"/>
<Relationship Id="rId67" Type="http://schemas.openxmlformats.org/officeDocument/2006/relationships/slide" Target="slides/slide61.xml"/>
<Relationship Id="rId68" Type="http://schemas.openxmlformats.org/officeDocument/2006/relationships/slide" Target="slides/slide62.xml"/>
<Relationship Id="rId69" Type="http://schemas.openxmlformats.org/officeDocument/2006/relationships/slide" Target="slides/slide63.xml"/>
<Relationship Id="rId70" Type="http://schemas.openxmlformats.org/officeDocument/2006/relationships/slide" Target="slides/slide64.xml"/>
<Relationship Id="rId71" Type="http://schemas.openxmlformats.org/officeDocument/2006/relationships/slide" Target="slides/slide65.xml"/>
<Relationship Id="rId72" Type="http://schemas.openxmlformats.org/officeDocument/2006/relationships/slide" Target="slides/slide66.xml"/>
<Relationship Id="rId73" Type="http://schemas.openxmlformats.org/officeDocument/2006/relationships/slide" Target="slides/slide67.xml"/>
<Relationship Id="rId74" Type="http://schemas.openxmlformats.org/officeDocument/2006/relationships/slide" Target="slides/slide68.xml"/>
<Relationship Id="rId75" Type="http://schemas.openxmlformats.org/officeDocument/2006/relationships/slide" Target="slides/slide69.xml"/>
<Relationship Id="rId76" Type="http://schemas.openxmlformats.org/officeDocument/2006/relationships/slide" Target="slides/slide70.xml"/>
<Relationship Id="rId77" Type="http://schemas.openxmlformats.org/officeDocument/2006/relationships/slide" Target="slides/slide71.xml"/>
<Relationship Id="rId78" Type="http://schemas.openxmlformats.org/officeDocument/2006/relationships/slide" Target="slides/slide72.xml"/>
<Relationship Id="rId79" Type="http://schemas.openxmlformats.org/officeDocument/2006/relationships/slide" Target="slides/slide73.xml"/>
<Relationship Id="rId80" Type="http://schemas.openxmlformats.org/officeDocument/2006/relationships/slide" Target="slides/slide74.xml"/>
<Relationship Id="rId81" Type="http://schemas.openxmlformats.org/officeDocument/2006/relationships/slide" Target="slides/slide75.xml"/>
<Relationship Id="rId82" Type="http://schemas.openxmlformats.org/officeDocument/2006/relationships/slide" Target="slides/slide76.xml"/>
<Relationship Id="rId83" Type="http://schemas.openxmlformats.org/officeDocument/2006/relationships/slide" Target="slides/slide77.xml"/>
<Relationship Id="rId84" Type="http://schemas.openxmlformats.org/officeDocument/2006/relationships/slide" Target="slides/slide78.xml"/>
<Relationship Id="rId85" Type="http://schemas.openxmlformats.org/officeDocument/2006/relationships/slide" Target="slides/slide79.xml"/>
<Relationship Id="rId86" Type="http://schemas.openxmlformats.org/officeDocument/2006/relationships/slide" Target="slides/slide80.xml"/>
<Relationship Id="rId87" Type="http://schemas.openxmlformats.org/officeDocument/2006/relationships/slide" Target="slides/slide81.xml"/>
<Relationship Id="rId88" Type="http://schemas.openxmlformats.org/officeDocument/2006/relationships/slide" Target="slides/slide82.xml"/>
<Relationship Id="rId89" Type="http://schemas.openxmlformats.org/officeDocument/2006/relationships/slide" Target="slides/slide83.xml"/>
<Relationship Id="rId90" Type="http://schemas.openxmlformats.org/officeDocument/2006/relationships/slide" Target="slides/slide84.xml"/>
<Relationship Id="rId91" Type="http://schemas.openxmlformats.org/officeDocument/2006/relationships/slide" Target="slides/slide85.xml"/>
<Relationship Id="rId92" Type="http://schemas.openxmlformats.org/officeDocument/2006/relationships/slide" Target="slides/slide86.xml"/>
<Relationship Id="rId93" Type="http://schemas.openxmlformats.org/officeDocument/2006/relationships/slide" Target="slides/slide87.xml"/>
<Relationship Id="rId94" Type="http://schemas.openxmlformats.org/officeDocument/2006/relationships/slide" Target="slides/slide88.xml"/>
<Relationship Id="rId95" Type="http://schemas.openxmlformats.org/officeDocument/2006/relationships/slide" Target="slides/slide89.xml"/>
<Relationship Id="rId96" Type="http://schemas.openxmlformats.org/officeDocument/2006/relationships/slide" Target="slides/slide90.xml"/>
<Relationship Id="rId97" Type="http://schemas.openxmlformats.org/officeDocument/2006/relationships/slide" Target="slides/slide91.xml"/>
<Relationship Id="rId98" Type="http://schemas.openxmlformats.org/officeDocument/2006/relationships/slide" Target="slides/slide92.xml"/>
<Relationship Id="rId99" Type="http://schemas.openxmlformats.org/officeDocument/2006/relationships/slide" Target="slides/slide93.xml"/>
<Relationship Id="rId100" Type="http://schemas.openxmlformats.org/officeDocument/2006/relationships/slide" Target="slides/slide94.xml"/>
<Relationship Id="rId101" Type="http://schemas.openxmlformats.org/officeDocument/2006/relationships/slide" Target="slides/slide95.xml"/>
<Relationship Id="rId102" Type="http://schemas.openxmlformats.org/officeDocument/2006/relationships/slide" Target="slides/slide96.xml"/>
<Relationship Id="rId103" Type="http://schemas.openxmlformats.org/officeDocument/2006/relationships/slide" Target="slides/slide97.xml"/>
<Relationship Id="rId104" Type="http://schemas.openxmlformats.org/officeDocument/2006/relationships/slide" Target="slides/slide98.xml"/>
<Relationship Id="rId105" Type="http://schemas.openxmlformats.org/officeDocument/2006/relationships/slide" Target="slides/slide99.xml"/>
<Relationship Id="rId106" Type="http://schemas.openxmlformats.org/officeDocument/2006/relationships/slide" Target="slides/slide100.xml"/>
<Relationship Id="rId107" Type="http://schemas.openxmlformats.org/officeDocument/2006/relationships/slide" Target="slides/slide101.xml"/>
<Relationship Id="rId108" Type="http://schemas.openxmlformats.org/officeDocument/2006/relationships/slide" Target="slides/slide102.xml"/>
<Relationship Id="rId109" Type="http://schemas.openxmlformats.org/officeDocument/2006/relationships/slide" Target="slides/slide103.xml"/>
<Relationship Id="rId110" Type="http://schemas.openxmlformats.org/officeDocument/2006/relationships/slide" Target="slides/slide104.xml"/>
<Relationship Id="rId111" Type="http://schemas.openxmlformats.org/officeDocument/2006/relationships/slide" Target="slides/slide105.xml"/>
<Relationship Id="rId112" Type="http://schemas.openxmlformats.org/officeDocument/2006/relationships/slide" Target="slides/slide106.xml"/>
<Relationship Id="rId113" Type="http://schemas.openxmlformats.org/officeDocument/2006/relationships/slide" Target="slides/slide107.xml"/>
<Relationship Id="rId114" Type="http://schemas.openxmlformats.org/officeDocument/2006/relationships/slide" Target="slides/slide108.xml"/>
<Relationship Id="rId115" Type="http://schemas.openxmlformats.org/officeDocument/2006/relationships/slide" Target="slides/slide109.xml"/>
<Relationship Id="rId116" Type="http://schemas.openxmlformats.org/officeDocument/2006/relationships/slide" Target="slides/slide110.xml"/>
<Relationship Id="rId117" Type="http://schemas.openxmlformats.org/officeDocument/2006/relationships/slide" Target="slides/slide111.xml"/>
<Relationship Id="rId118" Type="http://schemas.openxmlformats.org/officeDocument/2006/relationships/slide" Target="slides/slide112.xml"/>
<Relationship Id="rId119" Type="http://schemas.openxmlformats.org/officeDocument/2006/relationships/slide" Target="slides/slide113.xml"/>
<Relationship Id="rId120" Type="http://schemas.openxmlformats.org/officeDocument/2006/relationships/slide" Target="slides/slide114.xml"/>
<Relationship Id="rId121" Type="http://schemas.openxmlformats.org/officeDocument/2006/relationships/slide" Target="slides/slide115.xml"/>
<Relationship Id="rId122" Type="http://schemas.openxmlformats.org/officeDocument/2006/relationships/slide" Target="slides/slide116.xml"/>
<Relationship Id="rId123" Type="http://schemas.openxmlformats.org/officeDocument/2006/relationships/slide" Target="slides/slide117.xml"/>
<Relationship Id="rId124" Type="http://schemas.openxmlformats.org/officeDocument/2006/relationships/slide" Target="slides/slide118.xml"/>
<Relationship Id="rId125" Type="http://schemas.openxmlformats.org/officeDocument/2006/relationships/slide" Target="slides/slide119.xml"/>
<Relationship Id="rId126" Type="http://schemas.openxmlformats.org/officeDocument/2006/relationships/slide" Target="slides/slide120.xml"/>
<Relationship Id="rId127" Type="http://schemas.openxmlformats.org/officeDocument/2006/relationships/slide" Target="slides/slide121.xml"/>
<Relationship Id="rId128" Type="http://schemas.openxmlformats.org/officeDocument/2006/relationships/slide" Target="slides/slide122.xml"/>
<Relationship Id="rId129" Type="http://schemas.openxmlformats.org/officeDocument/2006/relationships/slide" Target="slides/slide123.xml"/>
<Relationship Id="rId130" Type="http://schemas.openxmlformats.org/officeDocument/2006/relationships/slide" Target="slides/slide124.xml"/>
<Relationship Id="rId131" Type="http://schemas.openxmlformats.org/officeDocument/2006/relationships/slide" Target="slides/slide125.xml"/>
<Relationship Id="rId132" Type="http://schemas.openxmlformats.org/officeDocument/2006/relationships/slide" Target="slides/slide126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Capacidad de influir en costos (%)</c:v>
                </c:pt>
              </c:strCache>
            </c:strRef>
          </c:tx>
          <c:spPr>
            <a:solidFill>
              <a:srgbClr val="0071E3"/>
            </a:solidFill>
            <a:ln w="25400" cap="flat">
              <a:solidFill>
                <a:srgbClr val="0071E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tkinson Hyperlegible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071E3"/>
              </a:solidFill>
              <a:ln w="9525" cap="flat">
                <a:solidFill>
                  <a:srgbClr val="0071E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Factibilidad</c:v>
                  </c:pt>
                  <c:pt idx="1">
                    <c:v>Diseño Básico</c:v>
                  </c:pt>
                  <c:pt idx="2">
                    <c:v>Diseño Detalle</c:v>
                  </c:pt>
                  <c:pt idx="3">
                    <c:v>Procura</c:v>
                  </c:pt>
                  <c:pt idx="4">
                    <c:v>Construcción</c:v>
                  </c:pt>
                  <c:pt idx="5">
                    <c:v>Arranque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75</c:v>
                </c:pt>
                <c:pt idx="2">
                  <c:v>55</c:v>
                </c:pt>
                <c:pt idx="3">
                  <c:v>35</c:v>
                </c:pt>
                <c:pt idx="4">
                  <c:v>15</c:v>
                </c:pt>
                <c:pt idx="5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tkinson Hyperlegibl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tkinson Hyperlegibl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tkinson Hyperlegibl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ROI del Programa (x:1)</c:v>
                </c:pt>
              </c:strCache>
            </c:strRef>
          </c:tx>
          <c:spPr>
            <a:solidFill>
              <a:srgbClr val="B020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tkinson Hyperlegibl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6</c:v>
                </c:pt>
                <c:pt idx="2">
                  <c:v>9</c:v>
                </c:pt>
                <c:pt idx="3">
                  <c:v>12</c:v>
                </c:pt>
                <c:pt idx="4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tkinson Hyperlegibl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tkinson Hyperlegibl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tkinson Hyperlegibl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Beneficio Promedio CII (%)</c:v>
                </c:pt>
              </c:strCache>
            </c:strRef>
          </c:tx>
          <c:spPr>
            <a:solidFill>
              <a:srgbClr val="0071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tkinson Hyperlegibl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Reducción Costo</c:v>
                  </c:pt>
                  <c:pt idx="1">
                    <c:v>Reducción Duración</c:v>
                  </c:pt>
                  <c:pt idx="2">
                    <c:v>Reducción Retrabajo</c:v>
                  </c:pt>
                  <c:pt idx="3">
                    <c:v>Mejora Productividad</c:v>
                  </c:pt>
                  <c:pt idx="4">
                    <c:v>Reducción Accidentes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7</c:v>
                </c:pt>
                <c:pt idx="2">
                  <c:v>40</c:v>
                </c:pt>
                <c:pt idx="3">
                  <c:v>20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Mejor Caso CII (%)</c:v>
                </c:pt>
              </c:strCache>
            </c:strRef>
          </c:tx>
          <c:spPr>
            <a:solidFill>
              <a:srgbClr val="006C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tkinson Hyperlegibl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Reducción Costo</c:v>
                  </c:pt>
                  <c:pt idx="1">
                    <c:v>Reducción Duración</c:v>
                  </c:pt>
                  <c:pt idx="2">
                    <c:v>Reducción Retrabajo</c:v>
                  </c:pt>
                  <c:pt idx="3">
                    <c:v>Mejora Productividad</c:v>
                  </c:pt>
                  <c:pt idx="4">
                    <c:v>Reducción Accidentes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</c:v>
                </c:pt>
                <c:pt idx="1">
                  <c:v>10</c:v>
                </c:pt>
                <c:pt idx="2">
                  <c:v>55</c:v>
                </c:pt>
                <c:pt idx="3">
                  <c:v>25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tkinson Hyperlegibl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tkinson Hyperlegibl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tkinson Hyperlegibl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Fuentes de ROI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71E3"/>
              </a:solidFill>
              <a:effectLst/>
            </c:spPr>
          </c:dPt>
          <c:dPt>
            <c:idx val="1"/>
            <c:bubble3D val="0"/>
            <c:spPr>
              <a:solidFill>
                <a:srgbClr val="006C65"/>
              </a:solidFill>
              <a:effectLst/>
            </c:spPr>
          </c:dPt>
          <c:dPt>
            <c:idx val="2"/>
            <c:bubble3D val="0"/>
            <c:spPr>
              <a:solidFill>
                <a:srgbClr val="1B7A2F"/>
              </a:solidFill>
              <a:effectLst/>
            </c:spPr>
          </c:dPt>
          <c:dPt>
            <c:idx val="3"/>
            <c:bubble3D val="0"/>
            <c:spPr>
              <a:solidFill>
                <a:srgbClr val="C84B00"/>
              </a:solidFill>
              <a:effectLst/>
            </c:spPr>
          </c:dPt>
          <c:dPt>
            <c:idx val="4"/>
            <c:bubble3D val="0"/>
            <c:spPr>
              <a:solidFill>
                <a:srgbClr val="7B2FA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tkinson Hyperlegible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tkinson Hyperlegible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tkinson Hyperlegible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tkinson Hyperlegible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00000"/>
                      </a:solidFill>
                      <a:latin typeface="Atkinson Hyperlegible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Retrabajo evitado</c:v>
                </c:pt>
                <c:pt idx="1">
                  <c:v>Productividad campo</c:v>
                </c:pt>
                <c:pt idx="2">
                  <c:v>Costo de diseño</c:v>
                </c:pt>
                <c:pt idx="3">
                  <c:v>Cronograma</c:v>
                </c:pt>
                <c:pt idx="4">
                  <c:v>Seguridad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30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Empresa Promedio</c:v>
                </c:pt>
              </c:strCache>
            </c:strRef>
          </c:tx>
          <c:spPr>
            <a:solidFill>
              <a:srgbClr val="6E6E73"/>
            </a:solidFill>
            <a:ln w="25400" cap="flat">
              <a:solidFill>
                <a:srgbClr val="6E6E73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6E6E73"/>
              </a:solidFill>
              <a:ln w="9525" cap="flat">
                <a:solidFill>
                  <a:srgbClr val="6E6E7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Compromiso</c:v>
                  </c:pt>
                  <c:pt idx="1">
                    <c:v>Champion</c:v>
                  </c:pt>
                  <c:pt idx="2">
                    <c:v>LLDB</c:v>
                  </c:pt>
                  <c:pt idx="3">
                    <c:v>Métricas</c:v>
                  </c:pt>
                  <c:pt idx="4">
                    <c:v>Integración D&amp;C</c:v>
                  </c:pt>
                  <c:pt idx="5">
                    <c:v>PEP todos proyectos</c:v>
                  </c:pt>
                  <c:pt idx="6">
                    <c:v>Talleres formales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Empresa Líder</c:v>
                </c:pt>
              </c:strCache>
            </c:strRef>
          </c:tx>
          <c:spPr>
            <a:solidFill>
              <a:srgbClr val="0071E3"/>
            </a:solidFill>
            <a:ln w="25400" cap="flat">
              <a:solidFill>
                <a:srgbClr val="0071E3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0071E3"/>
              </a:solidFill>
              <a:ln w="9525" cap="flat">
                <a:solidFill>
                  <a:srgbClr val="0071E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Compromiso</c:v>
                  </c:pt>
                  <c:pt idx="1">
                    <c:v>Champion</c:v>
                  </c:pt>
                  <c:pt idx="2">
                    <c:v>LLDB</c:v>
                  </c:pt>
                  <c:pt idx="3">
                    <c:v>Métricas</c:v>
                  </c:pt>
                  <c:pt idx="4">
                    <c:v>Integración D&amp;C</c:v>
                  </c:pt>
                  <c:pt idx="5">
                    <c:v>PEP todos proyectos</c:v>
                  </c:pt>
                  <c:pt idx="6">
                    <c:v>Talleres formales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tkinson Hyperlegibl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tkinson Hyperlegibl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Promedio Industria</c:v>
                </c:pt>
              </c:strCache>
            </c:strRef>
          </c:tx>
          <c:spPr>
            <a:solidFill>
              <a:srgbClr val="6E6E7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tkinson Hyperlegibl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Costo sobre presupuesto (%)</c:v>
                  </c:pt>
                  <c:pt idx="1">
                    <c:v>Extensión cronograma (%)</c:v>
                  </c:pt>
                  <c:pt idx="2">
                    <c:v>Re-trabajo (%HH)</c:v>
                  </c:pt>
                  <c:pt idx="3">
                    <c:v>Indice accidentes (TRIR)</c:v>
                  </c:pt>
                  <c:pt idx="4">
                    <c:v>Horas perdidas/1000HH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</c:v>
                </c:pt>
                <c:pt idx="1">
                  <c:v>25</c:v>
                </c:pt>
                <c:pt idx="2">
                  <c:v>8</c:v>
                </c:pt>
                <c:pt idx="3">
                  <c:v>3.2</c:v>
                </c:pt>
                <c:pt idx="4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Mejores Prácticas CII</c:v>
                </c:pt>
              </c:strCache>
            </c:strRef>
          </c:tx>
          <c:spPr>
            <a:solidFill>
              <a:srgbClr val="0071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tkinson Hyperlegibl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Costo sobre presupuesto (%)</c:v>
                  </c:pt>
                  <c:pt idx="1">
                    <c:v>Extensión cronograma (%)</c:v>
                  </c:pt>
                  <c:pt idx="2">
                    <c:v>Re-trabajo (%HH)</c:v>
                  </c:pt>
                  <c:pt idx="3">
                    <c:v>Indice accidentes (TRIR)</c:v>
                  </c:pt>
                  <c:pt idx="4">
                    <c:v>Horas perdidas/1000HH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</c:v>
                </c:pt>
                <c:pt idx="1">
                  <c:v>8</c:v>
                </c:pt>
                <c:pt idx="2">
                  <c:v>3</c:v>
                </c:pt>
                <c:pt idx="3">
                  <c:v>1.1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tkinson Hyperlegibl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tkinson Hyperlegibl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tkinson Hyperlegibl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0"/>
            <a:ext cx="86868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8229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Principios, Conceptos e Implementación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2944368"/>
            <a:ext cx="7498080" cy="27432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0632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Basado en publicaciones del Construction Industry Institute (CII)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49300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SP 34-1 · SD-4 · SD-5 · SD-25 · SD-34 · Publication 3-1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160520"/>
            <a:ext cx="1097280" cy="54864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16052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 / 126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 / 126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Tabla de Contenidos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2011680" cy="16459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051560"/>
            <a:ext cx="2011680" cy="5486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1430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01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11480" y="1892808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Introducción y Definición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41448" y="1051560"/>
            <a:ext cx="2011680" cy="16459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41448" y="1051560"/>
            <a:ext cx="2011680" cy="54864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41448" y="11430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02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2532888" y="1892808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Fundamentos CII — Publicaciones Clave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62856" y="1051560"/>
            <a:ext cx="2011680" cy="16459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2856" y="1051560"/>
            <a:ext cx="201168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62856" y="11430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03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4654296" y="1892808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Conceptos Fase I: Planificación Conceptual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84264" y="1051560"/>
            <a:ext cx="2011680" cy="16459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84264" y="1051560"/>
            <a:ext cx="2011680" cy="54864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84264" y="11430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04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6775704" y="1892808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Conceptos Fase II: Diseño y Procura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2926080"/>
            <a:ext cx="2011680" cy="16459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2926080"/>
            <a:ext cx="201168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0175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05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411480" y="3767328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Conceptos Fase III: Operaciones de Campo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441448" y="2926080"/>
            <a:ext cx="2011680" cy="16459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41448" y="2926080"/>
            <a:ext cx="2011680" cy="54864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41448" y="30175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06</a:t>
            </a:r>
            <a:endParaRPr lang="en-US" sz="3800" dirty="0"/>
          </a:p>
        </p:txBody>
      </p:sp>
      <p:sp>
        <p:nvSpPr>
          <p:cNvPr id="32" name="Text 30"/>
          <p:cNvSpPr/>
          <p:nvPr/>
        </p:nvSpPr>
        <p:spPr>
          <a:xfrm>
            <a:off x="2532888" y="3767328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Implementación del Programa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62856" y="2926080"/>
            <a:ext cx="2011680" cy="16459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62856" y="2926080"/>
            <a:ext cx="2011680" cy="54864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62856" y="301752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07</a:t>
            </a:r>
            <a:endParaRPr lang="en-US" sz="3800" dirty="0"/>
          </a:p>
        </p:txBody>
      </p:sp>
      <p:sp>
        <p:nvSpPr>
          <p:cNvPr id="36" name="Text 34"/>
          <p:cNvSpPr/>
          <p:nvPr/>
        </p:nvSpPr>
        <p:spPr>
          <a:xfrm>
            <a:off x="4654296" y="3767328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Casos de Estudio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¿Qué es la Constructabilidad?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"El uso óptimo del conocimiento y experiencia de construcción en la planificación, diseño, adquisiciones y operaciones de campo para alcanzar los objetivos del proyecto."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— Construction Industry Institute (CII), 1986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Integración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Une diseño y construcción, disciplinas tradicionalmente separadas desde ~1750.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Anticipación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Incorpora conocimiento constructivo ANTES de que se completen los diseños.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03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Proactividad — Retorno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No es solo revisión; es co-creación del diseño. Retornos documentados de hasta 15:1 sobre la inversión.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Historia de la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331720"/>
            <a:ext cx="8412480" cy="3657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2258568"/>
            <a:ext cx="219456" cy="219456"/>
          </a:xfrm>
          <a:prstGeom prst="ellipse">
            <a:avLst/>
          </a:prstGeom>
          <a:solidFill>
            <a:srgbClr val="0071E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-274320" y="16733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~1750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-457200" y="91440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D&amp;C separados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-640080" y="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Rev. Industrial separa diseño y construcción en disciplinas independientes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658112" y="2258568"/>
            <a:ext cx="219456" cy="219456"/>
          </a:xfrm>
          <a:prstGeom prst="ellipse">
            <a:avLst/>
          </a:prstGeom>
          <a:solidFill>
            <a:srgbClr val="0071E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7760" y="2715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1960s–70s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44880" y="299008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Primeras iniciativas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62000" y="3355848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Propietarios notan pérdidas de eficiencia por falta de coordinación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060192" y="2258568"/>
            <a:ext cx="219456" cy="219456"/>
          </a:xfrm>
          <a:prstGeom prst="ellipse">
            <a:avLst/>
          </a:prstGeom>
          <a:solidFill>
            <a:srgbClr val="0071E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29840" y="16733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1982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46960" y="91440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Fundación CII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64080" y="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Construction Industry Institute fundado en UT Austin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462272" y="2258568"/>
            <a:ext cx="219456" cy="219456"/>
          </a:xfrm>
          <a:prstGeom prst="ellipse">
            <a:avLst/>
          </a:prstGeom>
          <a:solidFill>
            <a:srgbClr val="0071E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0" y="2715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1984–86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49040" y="299008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Task Force CII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66160" y="3355848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Primera Task Force conduce 4 estudios fundamentales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864352" y="2258568"/>
            <a:ext cx="219456" cy="219456"/>
          </a:xfrm>
          <a:prstGeom prst="ellipse">
            <a:avLst/>
          </a:prstGeom>
          <a:solidFill>
            <a:srgbClr val="0071E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34000" y="16733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1986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51120" y="91440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Publication 3-1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68240" y="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 publica "Constructability: A Primer"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266432" y="2258568"/>
            <a:ext cx="219456" cy="219456"/>
          </a:xfrm>
          <a:prstGeom prst="ellipse">
            <a:avLst/>
          </a:prstGeom>
          <a:solidFill>
            <a:srgbClr val="0071E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6080" y="2715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1993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53200" y="299008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SP 34-1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370320" y="3355848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 publica la Constructability Implementation Guide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8668512" y="2258568"/>
            <a:ext cx="219456" cy="219456"/>
          </a:xfrm>
          <a:prstGeom prst="ellipse">
            <a:avLst/>
          </a:prstGeom>
          <a:solidFill>
            <a:srgbClr val="0071E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38160" y="16733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2006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91440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2da Edición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772400" y="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con 17 conceptos formales y nuevos casos de estudio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¿Por qué la Constructabilidad no ocurre naturalmente?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Especialización extrema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Organizaciones en "silos aislados" (stovepipes). Ingenieros, procuradores y constructores raramente colaboran en tiempo real.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Retroalimentación negada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experiencia del campo raramente regresa a los equipos de diseño. No existen bases de datos sistemáticas de lecciones aprendidas.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Costo front-end mal entendido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Propietarios perciben que la participación temprana de constructores incrementa el costo. En realidad genera retornos de 10:1 a 15:1.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Tecnología no aprovechada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BIM, 4D, GIS y simulación no se usan sistemáticamente para evaluar constructabilidad en fases tempranas.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vs. Ingeniería de Valor (VE)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2560320" cy="411480"/>
          </a:xfrm>
          <a:prstGeom prst="rect">
            <a:avLst/>
          </a:prstGeom>
          <a:solidFill>
            <a:srgbClr val="E8E8E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051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Dimensión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26080" y="1051560"/>
            <a:ext cx="2926080" cy="411480"/>
          </a:xfrm>
          <a:prstGeom prst="rect">
            <a:avLst/>
          </a:prstGeom>
          <a:solidFill>
            <a:srgbClr val="0071E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99232" y="10515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0" y="1051560"/>
            <a:ext cx="2926080" cy="411480"/>
          </a:xfrm>
          <a:prstGeom prst="rect">
            <a:avLst/>
          </a:prstGeom>
          <a:solidFill>
            <a:srgbClr val="0071E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25312" y="105156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Ingeniería de Valor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1463040"/>
            <a:ext cx="25603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146304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Objetivo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26080" y="1463040"/>
            <a:ext cx="29260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99232" y="146304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Optimizar la ejecución de la construcción integrando conocimiento constructivo en el diseño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463040"/>
            <a:ext cx="29260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25312" y="146304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Reducir costo de ciclo de vida mediante el análisis de funciones y alternativas de diseño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029968"/>
            <a:ext cx="256032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" y="2029968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Momento de acción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926080" y="2029968"/>
            <a:ext cx="29260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2029968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Desde la factibilidad hasta el cierre; mayor impacto en fases tempranas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852160" y="2029968"/>
            <a:ext cx="29260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25312" y="2029968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Generalmente aplicada durante diseño o construcción; retroactiva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65760" y="2596896"/>
            <a:ext cx="25603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" y="2596896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Iniciativa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926080" y="2596896"/>
            <a:ext cx="29260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2596896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Proactiva — anticipa problemas constructivos antes de que se diseñen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852160" y="2596896"/>
            <a:ext cx="29260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25312" y="2596896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Reactiva — analiza lo ya diseñado para encontrar ahorros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5760" y="3163824"/>
            <a:ext cx="256032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163824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Alcance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926080" y="3163824"/>
            <a:ext cx="29260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99232" y="3163824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17 conceptos formales que abarcan todo el ciclo de proyecto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852160" y="3163824"/>
            <a:ext cx="29260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25312" y="3163824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Metodología SAVE/FAST de análisis funcional de componentes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65760" y="3730752"/>
            <a:ext cx="25603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" y="373075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Resultado típico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926080" y="3730752"/>
            <a:ext cx="29260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99232" y="3730752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6–23% reducción de costo instalado; mejoras en cronograma y seguridad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852160" y="3730752"/>
            <a:ext cx="29260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25312" y="3730752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5–20% reducción de costo de componentes seleccionados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65760" y="4297680"/>
            <a:ext cx="256032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8912" y="429768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Sinergia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926080" y="4297680"/>
            <a:ext cx="29260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99232" y="429768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 pueden combinar: constructabilidad define el qué y cuándo; VE optimiza el cómo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852160" y="4297680"/>
            <a:ext cx="29260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25312" y="429768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Complementaria cuando se aplica temprano con enfoque constructivo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Contexto: Las "Abilities" del Proyecto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66160" y="2423160"/>
            <a:ext cx="2011680" cy="822960"/>
          </a:xfrm>
          <a:prstGeom prst="roundRect">
            <a:avLst>
              <a:gd name="adj" fmla="val 16667"/>
            </a:avLst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42316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Project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Delivery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System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107442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" y="1074420"/>
            <a:ext cx="20482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Optimizar construcción en diseño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94560" y="1645920"/>
            <a:ext cx="3474720" cy="411480"/>
          </a:xfrm>
          <a:prstGeom prst="line">
            <a:avLst/>
          </a:prstGeom>
          <a:noFill/>
          <a:ln w="9525">
            <a:solidFill>
              <a:srgbClr val="C7C7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93726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47872" y="937260"/>
            <a:ext cx="20482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Operabilidad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Facilitar operación y mantenimiento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508760"/>
            <a:ext cx="0" cy="452628"/>
          </a:xfrm>
          <a:prstGeom prst="line">
            <a:avLst/>
          </a:prstGeom>
          <a:noFill/>
          <a:ln w="9525">
            <a:solidFill>
              <a:srgbClr val="C7C7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07442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22592" y="1074420"/>
            <a:ext cx="20482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Mantenibilidad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Reducir costo de mantenimiento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3474720" cy="411480"/>
          </a:xfrm>
          <a:prstGeom prst="line">
            <a:avLst/>
          </a:prstGeom>
          <a:noFill/>
          <a:ln w="9525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37261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" y="3726180"/>
            <a:ext cx="20482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Confiabilidad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Asegurar disponibilidad del sistema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94560" y="3017520"/>
            <a:ext cx="3474720" cy="384048"/>
          </a:xfrm>
          <a:prstGeom prst="line">
            <a:avLst/>
          </a:prstGeom>
          <a:noFill/>
          <a:ln w="9525">
            <a:solidFill>
              <a:srgbClr val="C7C7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4720" y="390906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47872" y="3909060"/>
            <a:ext cx="20482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Programabilidad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Alinear diseño con cronograma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3017520"/>
            <a:ext cx="0" cy="438912"/>
          </a:xfrm>
          <a:prstGeom prst="line">
            <a:avLst/>
          </a:prstGeom>
          <a:noFill/>
          <a:ln w="9525">
            <a:solidFill>
              <a:srgbClr val="C7C7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49440" y="37261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2592" y="3726180"/>
            <a:ext cx="20482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Sustentabilidad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Minimizar impacto ambiental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3017520"/>
            <a:ext cx="3474720" cy="384048"/>
          </a:xfrm>
          <a:prstGeom prst="line">
            <a:avLst/>
          </a:prstGeom>
          <a:noFill/>
          <a:ln w="9525">
            <a:solidFill>
              <a:srgbClr val="C7C7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Beneficios Documentados de la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417320"/>
            <a:ext cx="265176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6–23%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en costo total instalado del proyecto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 SP 34-1 — datos de 62 empresas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461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417320"/>
            <a:ext cx="265176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15:1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3246120" y="26517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375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Retorno sobre la inversión en el programa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Hasta 15 dólares ahorrados por cada 1 invertido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89320" y="1417320"/>
            <a:ext cx="265176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93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4–10%</a:t>
            </a:r>
            <a:endParaRPr lang="en-US" sz="5200" dirty="0"/>
          </a:p>
        </p:txBody>
      </p:sp>
      <p:sp>
        <p:nvSpPr>
          <p:cNvPr id="22" name="Text 20"/>
          <p:cNvSpPr/>
          <p:nvPr/>
        </p:nvSpPr>
        <p:spPr>
          <a:xfrm>
            <a:off x="60807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en duración del cronograma de construcción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807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Impacto en tiempo de entrega del proyecto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Curva de Influencia de Costos del Proyecto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365760" y="1024128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577840" y="118872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oportunidad de mejorar la constructabilidad es inversamente proporcional al avance del proyecto.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577840" y="21945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80% del potencial de ahorro se concentra en las fases de Factibilidad y Diseño Básico — antes de que el 15% del presupuesto haya sido comprometido.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577840" y="3611880"/>
            <a:ext cx="3200400" cy="6858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0" y="361188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Implicación: cada semana de retraso en incorporar constructabilidad tiene costo exponencialmente mayor.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y Lean Construction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Sinergias Clave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Last Planner System: el sistema de planificación colaborativa de Lean exige exactamente el tipo de input constructivo que provee la constructabilidad.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Eliminación de desperdicios: Lean identifica 7 tipos de desperdicio; la constructabilidad elimina sus causas de diseño (retrabajo, esperas, movimientos).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Pull Planning: la planificación pull basada en entregables constructivos es la operacionalización de los conceptos de cronograma orientado a construcción (I-4 y II-1).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Principios Compartidos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Flujo continuo: ambas filosofías buscan eliminar interrupciones en el flujo de trabajo del campo.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Mejora continua (Kaizen): la base de datos de lecciones aprendidas de constructabilidad es el mecanismo kaizen del proyecto.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Involucramiento temprano: Lean requiere involucrar a proveedores y constructores desde el diseño — exactamente el concepto de constructabilidad.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>
                    <a:alpha val="8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CII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3200400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Fundamentos CII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Publicaciones Clave y Marco Conceptual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>
                    <a:alpha val="7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 / 126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Publicaciones CII de Constructabilidad — Documentos Guía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3-1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Constructability: A Primer (1986)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Primer documento formal para ejecutivos. Introduce el concepto y documenta los 7 mini-casos fundacionales que demuestran el retorno.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SP 34-1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Constructability Implementation Guide (1993, 2006)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Guía completa con 19 herramientas de implementación, 17 conceptos formales organizados por fase y 4 estudios de caso detallados.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304288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30428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24140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SD-4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241401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Constructability of Highway &amp; Bridge Projects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2852928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Aplicación de los conceptos CII a proyectos de carreteras, puentes y obras de infraestructura civil.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304288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30428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24140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SD-5 / SD-25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241401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Investigación de Productividad y Campo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2852928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Documentos de investigación que cuantifican el impacto de la constructabilidad en productividad de campo y rendimiento del proyecto.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" y="3557016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9768" y="366674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SD-34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60120" y="366674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Workface Planning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29768" y="4105656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Planificación del frente de trabajo: la materialización operacional de los principios de constructabilidad en las operaciones diarias de campo.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434840" y="3557016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557016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366674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Pub. 3-1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074920" y="366674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Evidencia Estadística CII (62 empresas)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44568" y="4105656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Análisis de 62 empresas con programas de constructabilidad documentados: base estadística de los beneficios cuantificados.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17 Conceptos Formales de Constructabilidad CII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24128"/>
            <a:ext cx="2743200" cy="38404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02412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 — Planificación Conceptual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1444752"/>
            <a:ext cx="2743200" cy="40233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44475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I-1: PEP con Constructabilidad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1874520"/>
            <a:ext cx="27432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87452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I-2: Factibilidad Temprana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2743200" cy="40233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304288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I-3: Estrategia de Contratación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2734056"/>
            <a:ext cx="27432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734056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I-4: Cronogramas Orientados a Construcción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163824"/>
            <a:ext cx="2743200" cy="40233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163824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I-5: Métodos de Construcción Mayores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593592"/>
            <a:ext cx="27432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59359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I-6: Distribución Eficiente del Sitio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4023360"/>
            <a:ext cx="2743200" cy="40233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402336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I-7: Tecnologías de Información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172968" y="1024128"/>
            <a:ext cx="2743200" cy="38404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46120" y="102412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II — Diseño y Procura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172968" y="1444752"/>
            <a:ext cx="2743200" cy="40233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64408" y="144475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II-1: Cronogramas de Diseño y Procura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172968" y="1874520"/>
            <a:ext cx="27432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4408" y="187452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II-2: Configuración para Eficiencia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172968" y="2304288"/>
            <a:ext cx="2743200" cy="40233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4408" y="2304288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II-3: Estandarización de Elementos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172968" y="2734056"/>
            <a:ext cx="27432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4408" y="2734056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II-4: Eficiencia en Documentos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172968" y="3163824"/>
            <a:ext cx="2743200" cy="40233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64408" y="3163824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II-5: Modularización y Prefabricación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172968" y="3593592"/>
            <a:ext cx="27432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64408" y="359359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II-6: Accesibilidad en el Diseño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172968" y="4023360"/>
            <a:ext cx="2743200" cy="40233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64408" y="402336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II-7: Diseño para Condiciones Adversas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172968" y="4453128"/>
            <a:ext cx="27432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64408" y="4453128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II-8: Seguridad en el Diseño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025896" y="1024128"/>
            <a:ext cx="2743200" cy="384048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99048" y="102412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III — Operaciones de Campo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25896" y="1444752"/>
            <a:ext cx="2743200" cy="40233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17336" y="1444752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III-1: Métodos Innovadores de Gestión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025896" y="1874520"/>
            <a:ext cx="27432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17336" y="1874520"/>
            <a:ext cx="2606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III-2: Workface Planning (AWP)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Evidencia Estadística — Investigación CII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417320"/>
            <a:ext cx="265176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62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502920" y="26517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empresas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 programas de constructabilidad analizadas por CII Task Force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Base de datos estadística representativa de la industria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461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417320"/>
            <a:ext cx="265176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461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90%</a:t>
            </a:r>
            <a:endParaRPr lang="en-US" sz="5200" dirty="0"/>
          </a:p>
        </p:txBody>
      </p:sp>
      <p:sp>
        <p:nvSpPr>
          <p:cNvPr id="17" name="Text 15"/>
          <p:cNvSpPr/>
          <p:nvPr/>
        </p:nvSpPr>
        <p:spPr>
          <a:xfrm>
            <a:off x="33375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reportan reducción mensurable de costos del proyecto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Resultado más citado de la investigación CII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89320" y="1417320"/>
            <a:ext cx="265176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93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15:1</a:t>
            </a:r>
            <a:endParaRPr lang="en-US" sz="5200" dirty="0"/>
          </a:p>
        </p:txBody>
      </p:sp>
      <p:sp>
        <p:nvSpPr>
          <p:cNvPr id="22" name="Text 20"/>
          <p:cNvSpPr/>
          <p:nvPr/>
        </p:nvSpPr>
        <p:spPr>
          <a:xfrm>
            <a:off x="5989320" y="26517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 máximo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807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documentado en proyectos con implementación completa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807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Promedio del sector: 10:1 sobre inversión en el programa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 SP 34-1: Estructura de la Guía de Implementación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97280"/>
            <a:ext cx="193167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97280"/>
            <a:ext cx="193167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234440"/>
            <a:ext cx="193167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PARTE I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" y="1810512"/>
            <a:ext cx="174879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 Corporativo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174879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Infraestructura permanente a nivel organizacional. Define hitos, roles, cultura y base de datos de lecciones aprendidas.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315718" y="2468880"/>
            <a:ext cx="201168" cy="274320"/>
          </a:xfrm>
          <a:prstGeom prst="rightArrow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26030" y="1097280"/>
            <a:ext cx="193167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26030" y="1097280"/>
            <a:ext cx="193167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26030" y="1234440"/>
            <a:ext cx="193167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PARTE II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617470" y="1810512"/>
            <a:ext cx="174879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Implementación por Proyecto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17470" y="2377440"/>
            <a:ext cx="174879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17 conceptos aplicados por fase del proyecto. Matrices de aplicación y herramientas operativas específicas.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75988" y="2468880"/>
            <a:ext cx="201168" cy="274320"/>
          </a:xfrm>
          <a:prstGeom prst="rightArrow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6300" y="1097280"/>
            <a:ext cx="193167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6300" y="1097280"/>
            <a:ext cx="193167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86300" y="1234440"/>
            <a:ext cx="193167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PARTE III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777740" y="1810512"/>
            <a:ext cx="174879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 Herramientas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77740" y="2377440"/>
            <a:ext cx="174879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Instrumentos concretos: desde revisiones tempranas hasta matrices de aplicación de conceptos y medición del ROI.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636258" y="2468880"/>
            <a:ext cx="201168" cy="274320"/>
          </a:xfrm>
          <a:prstGeom prst="rightArrow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46570" y="1097280"/>
            <a:ext cx="193167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46570" y="1097280"/>
            <a:ext cx="193167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46570" y="1234440"/>
            <a:ext cx="193167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PARTE IV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6938010" y="1810512"/>
            <a:ext cx="174879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Casos de Estudio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938010" y="2377440"/>
            <a:ext cx="174879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 proyectos documentados con datos cuantificados de beneficios: Planta Gas TX, Aluminio Islandia y otros.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>
                    <a:alpha val="8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CII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3200400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03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Conceptos Fase 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Planificación Conceptual — 7 Conceptos CII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>
                    <a:alpha val="7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16 / 126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 — Planificación Conceptual: Visión General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 fase es cuando las decisiones tienen la MAYOR influencia sobre el costo y cronograma del proyecto.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1600200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00200"/>
            <a:ext cx="594360" cy="731520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00200"/>
            <a:ext cx="594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24128" y="161848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PEP con Constructabilidad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19659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 de Ejecución integra constructabilidad desde el inicio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04872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404872"/>
            <a:ext cx="594360" cy="731520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404872"/>
            <a:ext cx="594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24231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Factibilidad Temprana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" y="277063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Conocimiento constructivo impacta decisiones de inversión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209544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209544"/>
            <a:ext cx="594360" cy="731520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209544"/>
            <a:ext cx="594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322783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Estrategia de Contratación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24128" y="357530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Input constructivo define modelo de contratación óptimo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4014216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14216"/>
            <a:ext cx="594360" cy="731520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014216"/>
            <a:ext cx="594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24128" y="403250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Cronogramas Orientados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24128" y="4379976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Cronogramas diseñados con lógica de construcción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1600200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1600200"/>
            <a:ext cx="594360" cy="731520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1600200"/>
            <a:ext cx="594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321808" y="161848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Métodos Mayores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21808" y="19659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Modularización, prefabricación y métodos constructivos clave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2404872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63440" y="2404872"/>
            <a:ext cx="594360" cy="731520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2404872"/>
            <a:ext cx="594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21808" y="24231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Distribución de Sitio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321808" y="277063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Layout que promueve eficiencia y seguridad en campo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3209544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3440" y="3209544"/>
            <a:ext cx="594360" cy="731520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3209544"/>
            <a:ext cx="594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I-7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321808" y="322783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Tecnologías de Información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321808" y="357530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BIM, 4D, GIS al servicio de la constructabilidad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I-1: Constructabilidad en el Plan de Ejecución (PEP)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7315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51560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"Los planes de implementación de constructabilidad son parte integral del Plan de Ejecución del Proyecto (PEP)."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65760" y="1847088"/>
            <a:ext cx="4114800" cy="126187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47088"/>
            <a:ext cx="411480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3852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Objetivo del PEP de Constructabilidad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322576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Define los conceptos CII a aplicar, el equipo responsable, los hitos de revisión y los indicadores de medición del programa para el proyecto específico.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1847088"/>
            <a:ext cx="4114800" cy="126187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847088"/>
            <a:ext cx="411480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93852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Momento de desarrollo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322576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Debe crearse durante la fase de factibilidad o diseño conceptual — nunca como retroalimentación al final del diseño básico.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218688"/>
            <a:ext cx="4114800" cy="126187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218688"/>
            <a:ext cx="411480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31012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Contenido mínimo requerido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694176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Identificación de conceptos relevantes al proyecto, asignación de champion de constructabilidad, cronograma de talleres y revisiones formales, y métrica de éxito.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3218688"/>
            <a:ext cx="4114800" cy="126187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218688"/>
            <a:ext cx="411480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331012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Integración con otros planes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0" y="3694176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PEP de constructabilidad se integra con el plan de calidad, el plan de seguridad y el plan de Workface Planning del proyecto.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I-1: Beneficios del PEP con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↓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de Retrabajo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formalización del PEP reduce el retrabajo en diseño y construcción al anticipar conflictos y definir criterios constructivos desde el inicio.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⏱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Integración Temprana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Garantiza que el input constructivo esté disponible cuando las decisiones tienen mayor impacto (primeras fases del proyecto).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Claridad de Roles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Define quién es responsable de aplicar cada concepto CII, eliminando la ambigüedad organizacional que impide la colaboración.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📊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Medición del Programa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Establece métricas desde el inicio, permitiendo demostrar el ROI del programa al cierre del proyecto con datos objetivos.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I-2: Conocimiento Constructivo en Factibilidad Temprana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"La planificación temprana de factibilidad aprovecha el conocimiento y la experiencia de construcción." — CII SP 34-1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Decisiones críticas de inversión (go/no-go, selección de tecnología, configuración del proyecto) se toman durante factibilidad con input constructivo mínimo — o ninguno.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Integrar un experto constructivo (Constructor/CM) en la fase de factibilidad puede identificar opciones de configuración que reducen hasta un 30% el costo de construcción.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concepto incluye la evaluación constructiva de alternativas de sitio, layout general, estrategia de modularización y secuencia de ejecución.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Herramienta CII aplicable: Tool 1 — Revisión Temprana de Constructabilidad, que evalúa el proyecto en las fases de factibilidad e ingeniería conceptual.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21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I-3: Estrategia de Contratación con Input Constructivo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Concepto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"El desarrollo de la estrategia de contratación del proyecto involucra y considera el conocimiento constructivo." — CII SP 34-1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estrategia de contratación determina CUÁNDO y CÓMO entra el conocimiento constructivo al proyecto.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Una estrategia EPC con constructor seleccionado temprano permite aplicar constructabilidad desde el diseño básico.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Modelos de Contratación y Constructabilidad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DB (Design-Build): máxima integración D&amp;C; el constructor puede aplicar todos los conceptos CII desde factibilidad.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EPCM: requiere mecanismos explícitos para capturar input del CM en las decisiones de diseño del EPC.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DBB (Design-Bid-Build): modelo de menor constructabilidad inherente; requiere revisiones formales adicionales.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I-4: Cronogramas Orientados a la Construcción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594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51560"/>
            <a:ext cx="8138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"Los cronogramas del proyecto son sensibles a la construcción y al arranque de las instalaciones."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737360"/>
            <a:ext cx="2011680" cy="292608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37360"/>
            <a:ext cx="201168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84708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200" y="245059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Definir secuencia constructiva primero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090672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cronograma comienza con la lógica óptima de construcción, no con la lógica de diseño o procura.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95728" y="2971800"/>
            <a:ext cx="164592" cy="274320"/>
          </a:xfrm>
          <a:prstGeom prst="rightArrow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87168" y="1737360"/>
            <a:ext cx="2011680" cy="292608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87168" y="1737360"/>
            <a:ext cx="201168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87168" y="184708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578608" y="245059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Identificar ruta crítica constructiva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78608" y="3090672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ítems de ruta crítica se identifican desde perspectiva constructiva: izajes, frentes de trabajo, materiales de larga entrega.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17136" y="2971800"/>
            <a:ext cx="164592" cy="274320"/>
          </a:xfrm>
          <a:prstGeom prst="rightArrow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08576" y="1737360"/>
            <a:ext cx="2011680" cy="292608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08576" y="1737360"/>
            <a:ext cx="201168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08576" y="184708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4700016" y="245059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Alinear diseño y procura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00016" y="3090672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Las fechas de liberación de diseño y entrega de procura se derivan del cronograma de construcción, no al revés.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38544" y="2971800"/>
            <a:ext cx="164592" cy="274320"/>
          </a:xfrm>
          <a:prstGeom prst="rightArrow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9984" y="1737360"/>
            <a:ext cx="2011680" cy="292608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29984" y="1737360"/>
            <a:ext cx="201168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9984" y="1847088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821424" y="2450592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Hitos de arranque integrados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21424" y="3090672"/>
            <a:ext cx="1828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cronograma incluye ventanas de arranque que influyen en la secuencia de terminación de sistemas para facilitar la comisión.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I-5: Métodos de Construcción Mayores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"Las decisiones importantes de diseño temprano consideran la modularización, la prefabricación y otros métodos constructivos."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— CII SP 34-1, Concepto I-5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Modularización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Prefabricación offsite de módulos funcionales completos. Reduce trabajo en campo, mejora calidad y seguridad, acorta cronograma.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Prefabricación y Pre-ensamble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Componentes prefabricados en taller (tuberías, estructuras, equipos) instalados como unidades en campo con menor tiempo de montaje.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IZA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Izajes Pesados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Decisión temprana sobre equipos de izaje (grúas, transporte) que determina layout del sitio, secuencias y puntos de acceso permanente.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I-5: Planificación de Izajes Pesados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izajes pesados son actividades de alto costo, en ruta crítica y alto riesgo: su planificación debe comenzar en la factibilidad, no en la construcción.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decisión del método de izaje impacta el diseño: puntos de izaje en equipos, configuración estructural, accesos permanentes, resistencia del suelo y layout del sitio.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planificación incluye: selección de grúas (dimensionamiento, movilización), rutas de transporte, permisos especiales y ventanas de trabajo.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 4D permite simular izajes antes de ejecutarlos, identificando conflictos con estructuras existentes, líneas de servicios y frentes de trabajo activos.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Un izaje reprogramado por falta de planning puede costar 3x–5x más que su costo original por impacto en cronograma, movilización adicional y productividad perdida.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I-6: Distribución Eficiente del Sitio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594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51560"/>
            <a:ext cx="8138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"La distribución de instalaciones permanentes y temporales promueve la eficiencia en las operaciones de campo."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73736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37360"/>
            <a:ext cx="269748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82880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Instalaciones temporales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223113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Campamentos, talleres y almacenes ubicados para minimizar distancias de traslado de personal y materiales.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82112" y="173736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82112" y="1737360"/>
            <a:ext cx="269748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73552" y="182880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Accesos y circulación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73552" y="223113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Rutas de ingreso de equipos pesados y materiales de larga entrega definidas antes del diseño definitivo del sitio.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98464" y="173736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98464" y="1737360"/>
            <a:ext cx="269748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9904" y="182880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Áreas de prefabricación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89904" y="223113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Patios de prefabricación posicionados cerca de los frentes de trabajo para reducir tiempo de manipulación.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315468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3154680"/>
            <a:ext cx="269748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24612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Servicios de campo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364845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Lay-down areas, agua, energía eléctrica temporal y telecomunicaciones planificados con criterio constructivo.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82112" y="315468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82112" y="3154680"/>
            <a:ext cx="269748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73552" y="324612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Conflictos de subsuperficie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273552" y="364845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Interferencias con servicios existentes (cañerías, cables, fundaciones) identificadas antes de iniciar trabajos.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98464" y="315468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98464" y="3154680"/>
            <a:ext cx="2697480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89904" y="324612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Seguridad integrada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089904" y="364845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distribución del sitio incorpora zonas de seguridad, rutas de evacuación y separación de frentes de trabajo simultáneos.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I-7: Tecnologías de Información para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Building Information Modeling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Modelo 3D integrado que permite detectar interferencias, simular secuencias constructivas y revisar accesibilidad antes de construir.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Simulación 4D (BIM + tiempo)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Integración del modelo BIM con el cronograma para simular la secuencia de construcción y identificar conflictos en el tiempo.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GIS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Sistemas de Información Geográfica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Evaluación de sitio, logística de acceso, gestión de restricciones geográficas y análisis de condiciones del subsuelo.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IA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Inteligencia Artificial y Digital Twins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Gemelo digital que simula condiciones de construcción, predice riesgos y optimiza secuencias de ejecución en tiempo real.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 y Constructabilidad — La Intersección Tecnológica Clave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 Potencia Constructabilidad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Detección temprana de interferencias: clash detection en modelos 3D antes de iniciar construcción (evita retrabajo en campo).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de accesibilidad: simular el acceso de equipos y personal a todos los puntos del modelo antes de fijar el diseño.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Planificación de izajes: verificar trayectorias de grúas, alturas de trabajo y secuencias de montaje en el modelo virtual.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4048" y="341071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Visualización para campo: tabletas con modelo BIM en mano permiten al operario verificar instalación antes de ejecutar.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Madurez BIM y Constructabilidad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1 (2D-3D): documentación y visualización básica. Bajo impacto en constructabilidad.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2 (modelos federados): detección de interferencias entre disciplinas. Alto impacto en Concepto II-2.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3 (4D+): simulación de secuencias constructivas. Impacto directo en Conceptos I-4, I-5 y I-6.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73168" y="341071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5 (Digital Twin): constructabilidad en tiempo real durante la ejecución. El futuro del Concepto III-1.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>
                    <a:alpha val="8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CII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3200400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04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Conceptos Fase II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Diseño y Procura — 8 Conceptos CII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>
                    <a:alpha val="7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28 / 126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II — Diseño y Procura: Visión General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Proyectos industriales: Diseño de detalle + procura de largo plazo. Proyectos de edificación: Diseño de detalle + documentos de contrato.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 fase ejecuta el 20–40% del presupuesto del proyecto antes de iniciar construcción. Las decisiones de diseño aquí determinan directamente el costo y productividad de campo.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8 conceptos de Fase II tienen como objetivo central: diseñar para facilitar la construcción, no solo para cumplir requisitos técnicos funcionales.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Regla de oro del Concepto II-2: "Si no se puede construir eficientemente, hay que rediseñar — sin importar si el diseño es técnicamente correcto."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procura estratégica (Concepto II-5) incluye decisiones de modularización que pueden reducir el trabajo en campo en 50–70% en proyectos industriales.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II-1: Cronogramas de Diseño y Procura Orientados a Construcción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"Los cronogramas de diseño y procura son sensibles a la construcción." — CII SP 34-1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65760" y="1600200"/>
            <a:ext cx="2697480" cy="31089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00200"/>
            <a:ext cx="2697480" cy="38404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002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1. Cronograma de Construcción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93776" y="2103120"/>
            <a:ext cx="91440" cy="91440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039112"/>
            <a:ext cx="23134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Define la secuencia óptima de frentes de trabajo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3776" y="2926080"/>
            <a:ext cx="91440" cy="91440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862072"/>
            <a:ext cx="23134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Establece las fechas de necesidad de materiales y equipos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" y="3749040"/>
            <a:ext cx="91440" cy="91440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685032"/>
            <a:ext cx="23134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Determina ventanas de izajes pesados y accesos críticos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0" y="1600200"/>
            <a:ext cx="2697480" cy="31089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1600200"/>
            <a:ext cx="2697480" cy="38404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6002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2. Cronograma de Procura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28416" y="2103120"/>
            <a:ext cx="91440" cy="91440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93008" y="2039112"/>
            <a:ext cx="23134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Tiempos de entrega de ítems de largo plazo definen fechas de pedido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28416" y="2926080"/>
            <a:ext cx="91440" cy="91440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93008" y="2862072"/>
            <a:ext cx="23134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Secuencia de entrega alineada con secuencia de construcción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28416" y="3749040"/>
            <a:ext cx="91440" cy="91440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93008" y="3685032"/>
            <a:ext cx="23134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Almacenamiento mínimo: "just-in-time" para materiales de campo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1600200"/>
            <a:ext cx="2697480" cy="31089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35040" y="1600200"/>
            <a:ext cx="2697480" cy="38404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16002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3. Cronograma de Diseño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63056" y="2103120"/>
            <a:ext cx="91440" cy="91440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27648" y="2039112"/>
            <a:ext cx="23134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Paquetes de diseño liberados por frente de trabajo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63056" y="2926080"/>
            <a:ext cx="91440" cy="91440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2862072"/>
            <a:ext cx="23134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IFC (Issued for Construction) coordinado con inicio de cada frente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63056" y="3749040"/>
            <a:ext cx="91440" cy="91440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27648" y="3685032"/>
            <a:ext cx="23134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Revisiones de constructabilidad integradas en el cronograma de diseño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31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II-2: Configuración del Diseño para Eficiencia Constructiva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"Los diseños se configuran y el equipo permanente se selecciona para promover la eficiencia en la construcción."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— CII SP 34-1, Concepto II-2. Este es el concepto de mayor impacto directo en el costo de construcción.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EJE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Ejemplos de Configuración Constructiva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Plataformas accesibles para mantenimiento y construcción. Estructuras que permiten montaje por niveles sin andamios. Tuberías con trayectorias ortogonales simples.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APP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Accesibilidad de Equipos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Diseñar para que equipos de construcción (grúas, andamios, manlift) puedan acceder a todos los puntos del diseño con la configuración permanente ya instalada.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Impacto Cuantificado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Proyectos que aplican II-2 sistemáticamente reportan 8–12% de reducción en horas-hombre de construcción, con mejoras simultáneas en calidad y seguridad.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II-3: Estandarización de Elementos de Diseño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Beneficios de la Estandarización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"Los elementos de diseño se estandarizan." — CII SP 34-1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de la curva de aprendizaje: los trabajadores dominan un conjunto reducido de configuraciones y ejecutan con mayor velocidad y calidad.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Menos errores de campo: configuraciones repetidas reducen errores de interpretación de planos y retrabajo.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4048" y="341071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Productividad de procura: especificaciones estándar reducen tiempo de cotización, compra y gestión de proveedores.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Barreras a la Estandarización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Ego del diseñador: cada especialidad busca "optimizar" su componente ignorando el impacto de la variabilidad en campo.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Requerimientos contractuales únicos: algunos clientes exigen diseños "únicos" sin reconocer el costo constructivo de la variabilidad.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Falta de catálogo corporativo: ausencia de biblioteca de elementos estándar aprobados a nivel corporativo.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73168" y="341071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Proyectos de baja repetitividad: en proyectos únicos, la curva de aprendizaje no justifica el esfuerzo de estandarizar.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II-3: Barreras a la Estandarización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Las barreras a la estandarización son principalmente organizacionales, no técnicas. El diseñador "creativo" resiste limitaciones a su autonomía de diseño.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Barrera 1 — Ego del diseñador: cada especialidad busca "optimizar" su componente sin considerar el costo de la variabilidad en campo para el constructor.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Barrera 2 — Requerimientos contractuales únicos: algunos clientes insisten en diseños únicos sin reconocer que la variabilidad tiene costo constructivo medible.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Barrera 3 — Ausencia de catálogo corporativo: sin biblioteca de elementos estándar aprobados, cada proyecto rediseña desde cero.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Solución CII: crear y mantener un catálogo corporativo de elementos estándar (estructuras, tuberías, instrumentación) que sea el punto de partida de todo diseño nuevo.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II-4: Eficiencia en Documentos de Contrato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"La eficiencia en procura, construcción y arranque se considera en el desarrollo de documentos de contrato."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documentos de contrato (especificaciones, planos IFC, databooks) deben ser herramientas de construcción, no solo de cumplimiento legal.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ESP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Especificaciones Constructivas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Escritas desde perspectiva del constructor: qué hacer, cómo verificar, qué medir. No solo qué resultado se espera sin indicar cómo lograrlo.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Paquetes de Planos por Frente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Planos organizados por frente de trabajo y secuencia constructiva, no por disciplina de ingeniería. El constructor trabaja por frente, no por disciplina.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DIG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Documentos Digitales Accesibles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Versiones digitales de planos e IFC accesibles desde tabletas en campo, con mecanismo de control de revisiones en tiempo real.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II-5: Modularización, Pre-ensamble y Prefabricación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594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51560"/>
            <a:ext cx="8138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"Los diseños de módulos/pre-ensambles facilitan la fabricación, el transporte y la instalación."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737360"/>
            <a:ext cx="411480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37360"/>
            <a:ext cx="548640" cy="129844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 rot="16200000">
            <a:off x="365760" y="1737360"/>
            <a:ext cx="5486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Módulo Proceso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05840" y="1874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Módulo completo de proceso: estructura + equipos + tuberías + instrumentación. Fabricado offsite, transportado e instalado como unidad.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1737360"/>
            <a:ext cx="411480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737360"/>
            <a:ext cx="548640" cy="129844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 rot="16200000">
            <a:off x="4663440" y="1737360"/>
            <a:ext cx="5486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Skid de Equipos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03520" y="1874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Grupos de equipos relacionados (bombas, intercambiadores) montados en bastidor metálico. Fabricado y probado en taller antes de llegar a campo.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154680"/>
            <a:ext cx="411480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154680"/>
            <a:ext cx="548640" cy="129844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 rot="16200000">
            <a:off x="365760" y="3154680"/>
            <a:ext cx="5486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Pre-ensamble Estructural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05840" y="329184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Secciones de estructura prefabricadas en taller y montadas como unidades en campo. Reduce trabajo en altura y acorta tiempo de montaje.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3154680"/>
            <a:ext cx="411480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154680"/>
            <a:ext cx="548640" cy="129844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 rot="16200000">
            <a:off x="4663440" y="3154680"/>
            <a:ext cx="5486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Spools de Tuberías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303520" y="329184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Tramos de tubería prefabricados en taller con soldaduras calificadas. Reducen soldadura en campo (condición adversa) hasta en 60%.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II-6: Accesibilidad en el Diseño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"Los diseños promueven la accesibilidad de construcción de personal, material y equipo."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— CII SP 34-1. Diseñar para que se pueda construir, no solo para que funcione cuando esté terminado.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PER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Acceso de Personal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Plataformas, pasarelas y escaleras dimensionadas para que cuadrillas de trabajo puedan operar simultáneamente en múltiples frentes.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EQP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Acceso de Equipos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Rutas y áreas para que grúas, manlift y vehículos de transporte puedan acceder a todos los puntos del proyecto durante y después de la construcción.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MAT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Acceso de Materiales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Puntos de entrega de materiales ubicados para minimizar distancia de traslado a los frentes de trabajo. Incluye análisis de trayectorias de carga.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II-7: Diseño para Condiciones Climáticas Adversas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Concepto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"Los diseños facilitan la construcción y la productividad de campo bajo condiciones climáticas adversas." — CII SP 34-1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proyectos con condiciones climáticas adversas (lluvia intensa, calor extremo, viento, frío), el diseño puede incluir estrategias que protejan la productividad de campo.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análisis climático es parte de la evaluación de constructabilidad del sitio desde la factibilidad.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Estrategias de Diseño para Clima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Prefabricación máxima: trasladar trabajo al taller donde el clima es controlado.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Secuencia de techado temprano: priorizar el cierre de estructuras para crear espacios protegidos de trabajo interior.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Diseño de sistemas de drenaje y acceso que funcionen en condiciones de lluvia.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73168" y="341071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Especificaciones de soldadura y pintura adaptadas a rangos de temperatura y humedad del sitio.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II-8: Seguridad del Proyecto en el Diseño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594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51560"/>
            <a:ext cx="8138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"Los planes del proyecto mejoran la seguridad durante la construcción." — CII SP 34-1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4048" y="1719072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642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Safety by Design: Eliminar riesgos de construcción mediante decisiones de diseño: accesos seguros, plataformas integradas, reducción de trabajo en altura.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84048" y="2313432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5856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HAZID temprano: Identificación de peligros de construcción (HAZID) realizada como parte de las revisiones de constructabilidad en diseño básico.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84048" y="2907792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5292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Secuencias seguras: Diseño de secuencias de montaje que evitan trabajos simultáneos en diferentes niveles en la misma vertical (caída de objetos).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84048" y="3502152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4728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Modularización = seguridad: Prefabricación offsite en condiciones controladas de taller elimina los riesgos más frecuentes del trabajo de campo en altura.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4048" y="4096512"/>
            <a:ext cx="128016" cy="128016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04164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Integración con SSPA: El plan de constructabilidad incluye el plan de seguridad, salud y protección ambiental como componente integrado.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>
                    <a:alpha val="8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CII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3200400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05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Conceptos Fase III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Operaciones de Campo — Innovaciones Constructivas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>
                    <a:alpha val="7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39 / 126</a:t>
            </a:r>
            <a:endParaRPr lang="en-US" sz="7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III-1: Métodos Innovadores de Gestión y Construcción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594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51560"/>
            <a:ext cx="813816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"Métodos innovadores de gestión de la construcción y métodos de campo se utilizan activamente para mejorar el desempeño del proyecto."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73736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37360"/>
            <a:ext cx="269748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8288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Workface Planning (AWP)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223113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Planificación detallada del frente de trabajo: paquetes de instalación (IWP) con todo lo necesario para ejecutar sin interrupciones.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82112" y="173736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82112" y="1737360"/>
            <a:ext cx="269748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73552" y="18288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Gestión Visual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73552" y="223113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Tableros visuales de progreso en campo. Los indicadores de rendimiento son visibles para toda la cuadrilla en tiempo real.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98464" y="173736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98464" y="1737360"/>
            <a:ext cx="269748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9904" y="18288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Inspección con Drones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89904" y="223113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Drones para inspección de progreso, levantamiento topográfico y monitoreo de seguridad sin interrumpir el trabajo de campo.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315468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3154680"/>
            <a:ext cx="269748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2461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Realidad Aumentada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364845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AR para que trabajadores de campo visualicen sobre el modelo real qué va instalado en cada punto antes de ejecutar.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82112" y="315468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82112" y="3154680"/>
            <a:ext cx="269748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73552" y="32461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Lean Field Operations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273552" y="364845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Last Planner, look-ahead planning y análisis de restricciones aplicados sistemáticamente a nivel de cuadrilla.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98464" y="3154680"/>
            <a:ext cx="269748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98464" y="3154680"/>
            <a:ext cx="269748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89904" y="32461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IoT y Sensores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089904" y="3648456"/>
            <a:ext cx="25146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Sensores de productividad, rastreo de materiales y monitoreo de equipos en tiempo real para tomar decisiones basadas en datos.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41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Productividad de Campo y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417320"/>
            <a:ext cx="2651760" cy="64008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15–25%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Mejora en productividad de campo con AWP + Constructabilidad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 Research — proyectos industriales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461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417320"/>
            <a:ext cx="2651760" cy="64008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40%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33375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en re-trabajo de campo con revisiones de constructabilidad tempranas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Impacto en horas-hombre directas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893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1417320"/>
            <a:ext cx="2651760" cy="64008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893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30%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60807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de días perdidos por interferencias no planeadas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807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 planificación de frentes de trabajo (IWP)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Planificación del Frente de Trabajo (Workface Planning)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planificación detallada del frente de trabajo es la materialización operacional de los principios de constructabilidad en el campo.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65760" y="1600200"/>
            <a:ext cx="4114800" cy="135331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00200"/>
            <a:ext cx="411480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916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IWP — Installation Work Package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21031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Paquete de trabajo para una cuadrilla: planos, especificaciones, materiales, permisos y herramientas. Todo lo necesario para ejecutar sin interrupciones.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600200"/>
            <a:ext cx="4114800" cy="135331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600200"/>
            <a:ext cx="411480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6916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CWP — Construction Work Package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54880" y="21031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Grupo de IWPs que definen un frente de trabajo completo. Alineado con el EWP de ingeniería y el PWP de procura.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3063240"/>
            <a:ext cx="4114800" cy="135331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063240"/>
            <a:ext cx="411480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5468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EWP — Engineering Work Package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Paquetes de ingeniería organizados por frente de trabajo constructivo (no por disciplina). Base del AWP.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3063240"/>
            <a:ext cx="4114800" cy="135331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3063240"/>
            <a:ext cx="411480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315468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Path of Construction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754880" y="35661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Secuencia lógica de construcción que define la ruta de avance del proyecto. Define la prioridad de diseño, procura y construcción.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>
                    <a:alpha val="8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CII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3200400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06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Implementación del Programa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Hoja de Ruta CII — 6 Hitos para el Éxito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>
                    <a:alpha val="7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43 / 126</a:t>
            </a:r>
            <a:endParaRPr lang="en-US" sz="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Hoja de Ruta de Implementación de Constructabilidad CII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97280"/>
            <a:ext cx="121158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97280"/>
            <a:ext cx="121158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234440"/>
            <a:ext cx="12115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" y="1810512"/>
            <a:ext cx="10287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Compromiso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10287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Compromiso organizacional comprehensivo de la alta dirección. Sin patrocinio ejecutivo, el programa no avanza.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95628" y="2468880"/>
            <a:ext cx="201168" cy="274320"/>
          </a:xfrm>
          <a:prstGeom prst="rightArrow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05940" y="1097280"/>
            <a:ext cx="121158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5940" y="1097280"/>
            <a:ext cx="121158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05940" y="1234440"/>
            <a:ext cx="12115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897380" y="1810512"/>
            <a:ext cx="10287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 Corporativo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97380" y="2377440"/>
            <a:ext cx="10287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Infraestructura permanente: roles, procesos, base de datos de lecciones aprendidas a nivel corporativo.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35808" y="2468880"/>
            <a:ext cx="201168" cy="274320"/>
          </a:xfrm>
          <a:prstGeom prst="rightArrow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1097280"/>
            <a:ext cx="121158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097280"/>
            <a:ext cx="121158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46120" y="1234440"/>
            <a:ext cx="12115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H3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3337560" y="1810512"/>
            <a:ext cx="10287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Capacidades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37560" y="2377440"/>
            <a:ext cx="10287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Adquirir conocimiento y habilidades: champion de constructabilidad, formación del equipo, acceso a herramientas CII.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75988" y="2468880"/>
            <a:ext cx="201168" cy="274320"/>
          </a:xfrm>
          <a:prstGeom prst="rightArrow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86300" y="1097280"/>
            <a:ext cx="121158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86300" y="1097280"/>
            <a:ext cx="121158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6300" y="1234440"/>
            <a:ext cx="12115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H4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777740" y="1810512"/>
            <a:ext cx="10287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 de Proyecto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77740" y="2377440"/>
            <a:ext cx="10287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Planificar la implementación en cada proyecto específico: PEP de constructabilidad, conceptos aplicables, talleres.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16168" y="2468880"/>
            <a:ext cx="201168" cy="274320"/>
          </a:xfrm>
          <a:prstGeom prst="rightArrow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1097280"/>
            <a:ext cx="121158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1097280"/>
            <a:ext cx="121158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1234440"/>
            <a:ext cx="12115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H5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6217920" y="1810512"/>
            <a:ext cx="10287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Implementación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17920" y="2377440"/>
            <a:ext cx="10287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Ejecutar las herramientas operativas: revisiones, talleres, matrices de aplicación, registro de lecciones aprendidas.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356348" y="2468880"/>
            <a:ext cx="201168" cy="274320"/>
          </a:xfrm>
          <a:prstGeom prst="rightArrow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566660" y="1097280"/>
            <a:ext cx="121158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66660" y="1097280"/>
            <a:ext cx="121158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66660" y="1234440"/>
            <a:ext cx="12115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H6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7658100" y="1810512"/>
            <a:ext cx="10287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Actualizar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658100" y="2377440"/>
            <a:ext cx="10287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 cierre del proyecto: actualizar el programa corporativo con nuevas lecciones aprendidas y métricas de ROI.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1: Compromiso para Implementar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6858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51560"/>
            <a:ext cx="8138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"Sin un compromiso bien desarrollado, generalizado y comprehensivo con la constructabilidad, la implementación del programa será difícil, poco efectiva y probablemente de corta vida." — CII SP 34-1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1810512"/>
            <a:ext cx="4114800" cy="135331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10512"/>
            <a:ext cx="4114800" cy="54864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019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Compromiso de la Alta Dirección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2313432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CEO y directores deben patrocinar visiblemente el programa. Sin su respaldo, el programa queda relegado a una función de staff sin poder de decisión.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1810512"/>
            <a:ext cx="4114800" cy="135331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810512"/>
            <a:ext cx="4114800" cy="54864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9019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Política Corporativa Explícita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754880" y="2313432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constructabilidad debe ser parte de la política de gestión de proyectos de la empresa, no un esfuerzo voluntario de proyecto a proyecto.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114800" cy="135331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273552"/>
            <a:ext cx="4114800" cy="54864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36499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Recursos Dedicados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3776472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Asignación de presupuesto y personas dedicadas al programa. Mínimo: un Champion de Constructabilidad a nivel corporativo.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3273552"/>
            <a:ext cx="4114800" cy="135331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273552"/>
            <a:ext cx="4114800" cy="54864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336499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Reconocimiento y Métricas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754880" y="3776472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Sistema de reconocimiento del ROI del programa. Los equipos que aplican constructabilidad deben ver sus resultados cuantificados y reconocidos.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2: Establecer el Programa Corporativo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Infraestructura Permanente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programa corporativo define la estructura que soporta la constructabilidad en todos los proyectos: no recrea desde cero en cada proyecto.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ROL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Roles y Responsabilidades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corporativo, Champions de proyecto, revisores expertos. Estructura de gobierno del programa con autoridad y responsabilidad claras.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LLDB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Base de Lecciones Aprendidas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Sistema corporativo de captura, clasificación y recuperación de lecciones aprendidas de todos los proyectos. El "activo" más valioso del programa.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MED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Sistema de Medición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Métricas estándar para cuantificar el ROI del programa en cada proyecto: horas evitadas, costo de retrabajo prevenido, días de cronograma ganados.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Barreras más Comunes a la Constructabilidad — CII Research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1920240" cy="1188720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Alta Dirección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116128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42032" y="1106424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Falta de patrocinio visible y sostenido del programa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377440" y="1508760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42032" y="145389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Percepción de que incrementa costos en lugar de reducirlos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377440" y="1856232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42032" y="1801368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Resistencia a invertir en fase front-end del proyecto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5760" y="2377440"/>
            <a:ext cx="1920240" cy="1188720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3774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Proyecto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377440" y="248716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42032" y="2432304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Cronogramas de diseño sin tiempo para revisiones de constructabilidad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377440" y="2834640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42032" y="277977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Falta de mecanismos para capturar input del constructor en diseño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377440" y="3182112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42032" y="3127248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Adversarialidad entre equipo de diseño y equipo de construcción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65760" y="3703320"/>
            <a:ext cx="1920240" cy="1188720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70332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Técnico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77440" y="381304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2032" y="3758184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Diseñadores no conocen ni valoran el conocimiento constructivo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2377440" y="4160520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42032" y="410565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Ausencia de constructores calificados en el equipo de diseño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2377440" y="4507992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42032" y="4453128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Falta de herramientas y metodologías formales en la organización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Rompedores de Barreras — Tool 10 CII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herramienta CII Tool 10 identifica estrategias específicas para combatir cada barrera. Ninguna barrera es insuperable con la estrategia correcta.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Barrera: falta de compromiso directivo → Solución: cuantificar y presentar el ROI de proyectos anteriores a la dirección con datos propios de la empresa.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Barrera: cronogramas sin tiempo para constructabilidad → Solución: demostrar que las revisiones tempranas REDUCEN el tiempo total del proyecto al eliminar retrabajo.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Barrera: adversarialidad diseño-construcción → Solución: talleres integrados de constructabilidad con ambos equipos trabajando el mismo problema simultáneamente.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Barrera: falta de conocimiento técnico → Solución: programa de formación basado en los 17 conceptos CII + base de lecciones aprendidas de proyectos anteriores.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84048" y="4187952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114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clave es atacar CAUSAS, no síntomas: no basta con pedir más colaboración; hay que crear los mecanismos institucionales que la hacen inevitable.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Estructura Organizacional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Corporativo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Director/VP de Proyectos: patrocinio y política corporativa del programa.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Corporativo de Constructabilidad: responsable del programa, base de lecciones aprendidas y formación.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Comité de Constructabilidad: revisa resultados, actualiza el programa y aprueba recursos.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4048" y="341071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Base de Datos LLDB: repositorio corporativo gestionado por el Champion corporativo.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de Proyecto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Gerente de Proyecto: responsable de integrar constructabilidad en el PEP del proyecto.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de Proyecto: aplica los conceptos CII, coordina talleres y registra lecciones aprendidas.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Revisor de Constructabilidad: experto (interno o externo) que conduce las revisiones formales.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73168" y="341071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Equipo integrado D&amp;C: diseñadores y constructores trabajando simultáneamente en los paquetes.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3: Obtener Capacidades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Conocimiento CII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Formación formal en los 17 conceptos CII, herramientas SP 34-1 y metodología de implementación. Mínimo para el Champion del programa.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EXP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Experiencia Constructiva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Champion de proyecto debe tener experiencia real de campo. No puede enseñar constructabilidad quien no ha construido.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HER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Herramientas y Plantillas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Adaptación de las 19 herramientas CII al contexto de la empresa: plantillas de revisión, matrices de aplicación, formatos de lecciones aprendidas.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 de Expertos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Acceso a constructores experimentados que pueden participar como revisores en proyectos donde no hay expertise interno suficiente.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51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4: Planificar la Implementación del Proyecto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planificación transforma los conceptos CII en acciones específicas para el proyecto: "¿Cuáles de los 17 conceptos son relevantes aquí y cómo los aplicamos?"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Paso 1 — Selección de conceptos: usando la Matriz de Aplicación CII (Tool 18/19), identificar qué conceptos tienen mayor impacto en el proyecto específico.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Paso 2 — Cronograma de constructabilidad: definir hitos de revisión formal, talleres, deliverables del programa y responsables.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Paso 3 — PEP de constructabilidad: documentar todo en el Plan de Ejecución del Proyecto como componente formal del plan de gestión.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Paso 4 — Recursos del proyecto: asignar presupuesto para talleres, revisiones externas y tiempo del Champion de proyecto. Típicamente 0.1–0.3% del costo total del proyecto.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5: Implementar Constructabilidad — Herramientas Operativas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2697480" cy="13898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51560"/>
            <a:ext cx="502920" cy="13898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 rot="16200000">
            <a:off x="365760" y="1051560"/>
            <a:ext cx="50292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32688" y="1143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Temprana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" y="1554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Evalúa constructabilidad en factibilidad e ingeniería conceptual. Identifica las oportunidades de mayor impacto.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182112" y="1051560"/>
            <a:ext cx="2697480" cy="13898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82112" y="1051560"/>
            <a:ext cx="502920" cy="13898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 rot="16200000">
            <a:off x="3182112" y="1051560"/>
            <a:ext cx="50292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749040" y="1143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Taller Integrado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1554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Sesión estructurada con diseñadores y constructores. Produce ideas de constructabilidad formalmente documentadas.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98464" y="1051560"/>
            <a:ext cx="2697480" cy="13898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98464" y="1051560"/>
            <a:ext cx="502920" cy="13898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 rot="16200000">
            <a:off x="5998464" y="1051560"/>
            <a:ext cx="50292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65392" y="114300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Evaluación del Programa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65392" y="15544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Evalúa madurez del programa corporativo y del proyecto en los 5 niveles CII.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2560320"/>
            <a:ext cx="2697480" cy="13898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560320"/>
            <a:ext cx="502920" cy="13898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 rot="16200000">
            <a:off x="365760" y="2560320"/>
            <a:ext cx="50292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32688" y="26517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Rompedores de Barreras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32688" y="306324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Estrategias específicas para las barreras más comunes identificadas en la investigación CII.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182112" y="2560320"/>
            <a:ext cx="2697480" cy="13898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82112" y="2560320"/>
            <a:ext cx="502920" cy="13898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 rot="16200000">
            <a:off x="3182112" y="2560320"/>
            <a:ext cx="50292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49040" y="26517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Cláusulas Contractuales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749040" y="306324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Lenguaje contractual estándar que formaliza los requerimientos de constructabilidad en contratos EPC/EPCM.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98464" y="2560320"/>
            <a:ext cx="2697480" cy="13898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98464" y="2560320"/>
            <a:ext cx="502920" cy="13898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 rot="16200000">
            <a:off x="5998464" y="2560320"/>
            <a:ext cx="50292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T-18/19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65392" y="26517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Matrices de Aplicación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65392" y="306324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Evalúan la relevancia de cada concepto CII según tipo de proyecto, fase y características específicas.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Base de Datos de Lecciones Aprendidas — El Motor del Programa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★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"La clave para no repetir errores ni reinventar ruedas. Es el pegamento del programa corporativo."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— CII SP 34-1. La LLDB es el activo de conocimiento más valioso del programa de constructabilidad.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CAP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Captura Sistemática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Proceso formal para capturar lecciones al final de cada taller, revisión y fase del proyecto. No depende de la memoria individual.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CLF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Clasificación por Concepto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Cada lección se clasifica por concepto CII aplicable, tipo de proyecto y fase. Permite recuperación precisa cuando se necesita.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USA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Usabilidad en Nuevos Proyectos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el inicio de cada proyecto, el Champion busca en la LLDB las lecciones relevantes. Conocimiento que se compone con cada proyecto.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Matrices de Aplicación de Conceptos — Tools 18 y 19 CII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Las matrices indican la significancia de cada concepto CII en distintos tipos de proyecto y fases de desarrollo.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2286000" cy="384048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57276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51760" y="1572768"/>
            <a:ext cx="1005840" cy="384048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57276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Industrial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1572768"/>
            <a:ext cx="1005840" cy="384048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3320" y="157276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Edificación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1572768"/>
            <a:ext cx="1097280" cy="384048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157276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Infraestructura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760720" y="1572768"/>
            <a:ext cx="777240" cy="384048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06440" y="1572768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537960" y="1572768"/>
            <a:ext cx="777240" cy="384048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1572768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II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15200" y="1572768"/>
            <a:ext cx="777240" cy="384048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60920" y="1572768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III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5760" y="1956816"/>
            <a:ext cx="228600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" y="1956816"/>
            <a:ext cx="2212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I-1: PEP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651760" y="1956816"/>
            <a:ext cx="10058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88336" y="1956816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0" y="1956816"/>
            <a:ext cx="10058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94176" y="1956816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663440" y="1956816"/>
            <a:ext cx="109728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0016" y="1956816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760720" y="1956816"/>
            <a:ext cx="7772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97296" y="1956816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37960" y="1956816"/>
            <a:ext cx="7772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74536" y="1956816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○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315200" y="1956816"/>
            <a:ext cx="7772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1776" y="1956816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○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2450592"/>
            <a:ext cx="22860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2336" y="2450592"/>
            <a:ext cx="2212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I-5: Módulos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651760" y="2450592"/>
            <a:ext cx="10058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88336" y="2450592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657600" y="2450592"/>
            <a:ext cx="10058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94176" y="2450592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663440" y="2450592"/>
            <a:ext cx="109728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2450592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760720" y="2450592"/>
            <a:ext cx="7772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97296" y="2450592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537960" y="2450592"/>
            <a:ext cx="7772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74536" y="2450592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315200" y="2450592"/>
            <a:ext cx="7772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51776" y="2450592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65760" y="2944368"/>
            <a:ext cx="228600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2336" y="2944368"/>
            <a:ext cx="2212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II-2: Config. Diseño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651760" y="2944368"/>
            <a:ext cx="10058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688336" y="2944368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657600" y="2944368"/>
            <a:ext cx="10058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4176" y="2944368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663440" y="2944368"/>
            <a:ext cx="109728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00016" y="2944368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5760720" y="2944368"/>
            <a:ext cx="7772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97296" y="2944368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○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37960" y="2944368"/>
            <a:ext cx="7772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74536" y="2944368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7315200" y="2944368"/>
            <a:ext cx="7772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51776" y="2944368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365760" y="3438144"/>
            <a:ext cx="22860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2336" y="3438144"/>
            <a:ext cx="2212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II-5: Modularización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2651760" y="3438144"/>
            <a:ext cx="10058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688336" y="3438144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3657600" y="3438144"/>
            <a:ext cx="10058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694176" y="3438144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4663440" y="3438144"/>
            <a:ext cx="109728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700016" y="3438144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5760720" y="3438144"/>
            <a:ext cx="7772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97296" y="3438144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37960" y="3438144"/>
            <a:ext cx="7772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74536" y="3438144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7315200" y="3438144"/>
            <a:ext cx="77724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351776" y="3438144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○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365760" y="3931920"/>
            <a:ext cx="228600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3931920"/>
            <a:ext cx="2212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III-1: AWP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2651760" y="3931920"/>
            <a:ext cx="10058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688336" y="3931920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3657600" y="3931920"/>
            <a:ext cx="10058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694176" y="3931920"/>
            <a:ext cx="9326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4663440" y="3931920"/>
            <a:ext cx="109728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700016" y="3931920"/>
            <a:ext cx="10241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5760720" y="3931920"/>
            <a:ext cx="7772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797296" y="3931920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○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6537960" y="3931920"/>
            <a:ext cx="7772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74536" y="3931920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7315200" y="3931920"/>
            <a:ext cx="77724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351776" y="3931920"/>
            <a:ext cx="7040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</a:t>
            </a:r>
            <a:endParaRPr lang="en-US" sz="1400" dirty="0"/>
          </a:p>
        </p:txBody>
      </p:sp>
      <p:sp>
        <p:nvSpPr>
          <p:cNvPr id="93" name="Text 91"/>
          <p:cNvSpPr/>
          <p:nvPr/>
        </p:nvSpPr>
        <p:spPr>
          <a:xfrm>
            <a:off x="365760" y="46817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●●● Alta significancia   ●● Media   ● Baja   ○ No aplica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6: Actualizar el Programa Corporativo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 cierre de cada proyecto, las lecciones aprendidas alimentan el programa corporativo, mejorando continuamente su efectividad — es el mecanismo de mejora continua del sistema.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Actualización de la LLDB: todas las lecciones del proyecto se cargan clasificadas. El equipo hace un "post-mortem de constructabilidad" formal antes del cierre.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Actualización de herramientas: plantillas, matrices de aplicación y checklists se actualizan con lo aprendido en el proyecto reciente.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Medición del ROI del programa: se calcula el retorno de inversión del programa del proyecto para reportar a la dirección y justificar el presupuesto del siguiente.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Benchmarking externo: el programa corporativo se compara con los niveles de madurez CII y con prácticas de empresas líderes para identificar brechas a cerrar.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Niveles de Madurez del Programa Corporativo (5 Niveles)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594360" cy="694944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594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987552" y="1051560"/>
            <a:ext cx="1828800" cy="69494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1051560"/>
            <a:ext cx="17922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52928" y="1051560"/>
            <a:ext cx="5925312" cy="69494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4368" y="1051560"/>
            <a:ext cx="574243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Sin programa formal. Constructabilidad aplicada ocasionalmente por iniciativa individual de algunos ingenieros.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1819656"/>
            <a:ext cx="594360" cy="694944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819656"/>
            <a:ext cx="594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987552" y="1819656"/>
            <a:ext cx="1828800" cy="69494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1819656"/>
            <a:ext cx="17922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Desarrollo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52928" y="1819656"/>
            <a:ext cx="5925312" cy="69494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44368" y="1819656"/>
            <a:ext cx="574243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Compromiso directivo existe. Algunos proyectos tienen PEP de constructabilidad. Sin sistema corporativo de lecciones aprendidas.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587752"/>
            <a:ext cx="594360" cy="694944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587752"/>
            <a:ext cx="594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987552" y="2587752"/>
            <a:ext cx="1828800" cy="69494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2587752"/>
            <a:ext cx="17922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Definido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2928" y="2587752"/>
            <a:ext cx="5925312" cy="69494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44368" y="2587752"/>
            <a:ext cx="574243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 corporativo documentado. Champion designado. LLDB operativa. Revisiones formales en la mayoría de proyectos.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5760" y="3355848"/>
            <a:ext cx="594360" cy="694944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355848"/>
            <a:ext cx="594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</a:t>
            </a:r>
            <a:endParaRPr lang="en-US" sz="2800" dirty="0"/>
          </a:p>
        </p:txBody>
      </p:sp>
      <p:sp>
        <p:nvSpPr>
          <p:cNvPr id="28" name="Shape 26"/>
          <p:cNvSpPr/>
          <p:nvPr/>
        </p:nvSpPr>
        <p:spPr>
          <a:xfrm>
            <a:off x="987552" y="3355848"/>
            <a:ext cx="1828800" cy="69494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3355848"/>
            <a:ext cx="17922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Gestionado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2928" y="3355848"/>
            <a:ext cx="5925312" cy="69494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44368" y="3355848"/>
            <a:ext cx="574243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 con métricas de ROI. Todos los proyectos tienen PEP. Lecciones aprendidas alimentan activamente nuevos proyectos.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4123944"/>
            <a:ext cx="594360" cy="694944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123944"/>
            <a:ext cx="5943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</a:t>
            </a:r>
            <a:endParaRPr lang="en-US" sz="2800" dirty="0"/>
          </a:p>
        </p:txBody>
      </p:sp>
      <p:sp>
        <p:nvSpPr>
          <p:cNvPr id="34" name="Shape 32"/>
          <p:cNvSpPr/>
          <p:nvPr/>
        </p:nvSpPr>
        <p:spPr>
          <a:xfrm>
            <a:off x="987552" y="4123944"/>
            <a:ext cx="1828800" cy="69494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5840" y="4123944"/>
            <a:ext cx="1792224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Optimizado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852928" y="4123944"/>
            <a:ext cx="5925312" cy="69494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44368" y="4123944"/>
            <a:ext cx="574243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integrada en cultura corporativa. Mejora continua sistemática. Benchmarking externo. ROI documentado proyecto a proyecto.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Evaluación del Programa — Tools 3 y 4 CII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Tool 3: Evaluación Corporativa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Evalúa 8 parámetros del programa corporativo: políticas, organización, recursos, formación, métricas, LLDB, integración y mejora continua.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Cada parámetro se califica de 1 a 5, generando un perfil de madurez visual del programa.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 recomienda aplicar anualmente a nivel corporativo y al inicio de proyectos grandes.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Tool 4: Evaluación de Proyecto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Evalúa la implementación de constructabilidad en el proyecto específico: PEP, revisiones, talleres, matrices aplicadas y lecciones registradas.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Genera un puntaje de implementación del proyecto que se incorpora al benchmark corporativo.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 aplica a hitos clave del proyecto: fin de diseño básico, fin de diseño detalle y cierre.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Cláusulas Contractuales para Constructabilidad — Tool 16 CII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Tool 16 provee lenguaje contractual estándar para formalizar los requerimientos de constructabilidad en contratos EPC, EPCM y DBB.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Cláusula de PEP de Constructabilidad: el contratista debe presentar un Plan de Constructabilidad como parte del PEP, dentro de los 30 días de inicio del contrato.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Cláusula de Revisiones Formales: el contrato especifica el número mínimo de revisiones formales de constructabilidad por fase, con deliverables documentados.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Cláusula de Lecciones Aprendidas: el contratista debe registrar y entregar al propietario las lecciones aprendidas del proyecto en un formato estándar acordado.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Cláusula de Champion: el contratista asigna un Champion de Constructabilidad dedicado con nombre específico, cuya remoción requiere aprobación del propietario.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Métricas Clave del Programa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4114800" cy="166420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51560"/>
            <a:ext cx="411480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5156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 del Programa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" y="152704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4721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Ahorro documentado / Costo del programa (meta: &gt;10:1)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" y="1911096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18562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Retrabajo evitado (hh) / Total hh del proyecto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" y="2295144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2402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RFIs de constructabilidad cerrados vs. total de RFIs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1051560"/>
            <a:ext cx="4114800" cy="166420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051560"/>
            <a:ext cx="411480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5156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Implementación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73168" y="152704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14721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% de proyectos con PEP de constructabilidad aprobado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73168" y="1911096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9472" y="185623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Número de revisiones formales realizadas vs. planificadas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73168" y="2295144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19472" y="224028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Número de talleres integrados por proyecto y fase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65760" y="2834640"/>
            <a:ext cx="4114800" cy="166420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834640"/>
            <a:ext cx="411480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8346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Lecciones Aprendidas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" y="331012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325526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Lecciones registradas por proyecto (meta: &gt;20)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5488" y="3694176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363931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Lecciones aplicadas de proyectos anteriores (reutilización)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5488" y="4078224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" y="40233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Tasa de actualización de la LLDB corporativa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2834640"/>
            <a:ext cx="4114800" cy="166420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63440" y="2834640"/>
            <a:ext cx="411480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54880" y="28346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Impacto en Proyecto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73168" y="331012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19472" y="325526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% en costo de construcción vs. línea base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773168" y="3694176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19472" y="363931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% en duración de construcción vs. línea base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773168" y="4078224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9472" y="40233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Índice de accidentes de construcción (TRIR)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en Pequeños Proyectos Inmobiliarios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Ing. Pablo Orihuela — Motiva S.A. aplicó los conceptos CII en proyectos de edificación residencial de pequeña escala con resultados significativos.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principios de constructabilidad son escalables: los 17 conceptos CII aplican a proyectos de cualquier tamaño, adaptando la intensidad de las herramientas a la escala.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edificación residencial: el Concepto II-3 (estandarización) y II-5 (prefabricación) tienen especial relevancia por su impacto en productividad de mano de obra.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I-4 en edificación: el cronograma de construcción por niveles y sistemas es el equivalente constructivo del Path of Construction industrial.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Lección del caso Motiva: incluso sin inversión en tecnología avanzada, la sola aplicación sistemática de los conceptos CII genera retornos medibles en pequeños proyectos.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>
                    <a:alpha val="8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CII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3200400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07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Casos de Estudio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>
                    <a:alpha val="85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Evidencia Real del Retorno de la Constructabilidad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>
                    <a:alpha val="70000"/>
                  </a:srgbClr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61 / 126</a:t>
            </a:r>
            <a:endParaRPr lang="en-US" sz="7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Resumen de Casos de Estudio Documentados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Planta de Gas de Bajo Sulfuro — Corpus Christi, TX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Modularización + gestión de personal + cronograma agresivo. Proyecto complejo ejecutado en tiempo récord con alta calidad.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Planta de Aluminio Fjardaál — Islandia Oriental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Primera planta de procesamiento de metales en Islandia. Desafíos logísticos extremos. 12 iniciativas de valor de alto impacto.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Casos Históricos CII (1986)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 mini-casos del Primer Primer (1986) que establecieron la base estadística del ROI de constructabilidad.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Análisis Comparativo CII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Comparación de 4 casos documentados en SP 34-1: patrones comunes, factores de éxito y lecciones compartidas.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CS-1: Planta de Gas de Bajo Sulfuro — Corpus Christi, TX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4023360" cy="3639312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24128"/>
            <a:ext cx="4023360" cy="38404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2412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DESCRIPCIÓN DEL PROYECTO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" y="150876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453896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Planta para producción de combustibles más limpios (Ultra Low Sulfur Diesel)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" y="2167128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112264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Proyecto industrial de alta complejidad en zona urbana costera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" y="2825496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70632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Múltiples disciplinas y frentes de trabajo simultáneos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3483864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42900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Cronograma extremadamente ajustado exigido por regulación ambiental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0" y="1024128"/>
            <a:ext cx="4206240" cy="3639312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1024128"/>
            <a:ext cx="4206240" cy="38404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102412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ESTRATEGIAS CII APLICADAS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81728" y="150876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453896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Modularización extensiva: reducción masiva de trabajo en campo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81728" y="2112264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2057400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Revisiones formales de constructabilidad desde factibilidad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81728" y="2715768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660904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Planificación de izajes pesados con 18 meses de anticipación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681728" y="3319272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264408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Gestión innovadora de personal: incentivos y productividad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81728" y="3922776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3867912"/>
            <a:ext cx="3794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Workface Planning aplicado sistemáticamente a todos los frentes</a:t>
            </a:r>
            <a:endParaRPr lang="en-US" sz="11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CS-1: Modularización en la Planta de Gas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417320"/>
            <a:ext cx="265176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60%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en soldadura de campo vs. construcción convencional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Mediante prefabricación extensiva de spools y skids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461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417320"/>
            <a:ext cx="265176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40%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33375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en trabajo en altura vs. método tradicional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Impacto directo en seguridad y costo de andamiaje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893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1417320"/>
            <a:ext cx="265176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893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100%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5989320" y="26517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On-time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807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Entrega en fecha comprometida a pesar del cronograma agresivo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807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Resultado directo del programa de constructabilidad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CS-1: Gestión de Personal, Calidad y Cronograma Agresivo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2743200" cy="3639312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2743200" cy="38404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05156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Gestión de Personal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8056" y="155448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490472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del pico de mano de obra mediante prefabricación extensiva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8056" y="251460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450592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Sistema de incentivos de productividad por cuadrilla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8056" y="347472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410712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Integración temprana de subcontratistas especializados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172968" y="1051560"/>
            <a:ext cx="2743200" cy="3639312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2968" y="1051560"/>
            <a:ext cx="2743200" cy="38404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64408" y="105156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Control de Calidad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00984" y="155448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47288" y="1490472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Inspecciones de calidad integradas en el IWP de cada paquete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300984" y="251460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47288" y="2450592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de NCRs (Non-Conformance Reports) en 45% vs. proyectos similares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00984" y="347472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47288" y="3410712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Pruebas en taller antes de envío a campo eliminan retrabajo in-situ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25896" y="1051560"/>
            <a:ext cx="2743200" cy="3639312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25896" y="1051560"/>
            <a:ext cx="2743200" cy="38404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05156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Cronograma Agresivo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53912" y="155448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0216" y="1490472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Fast-track: diseño y construcción simultáneos con freezing zones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53912" y="251460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0216" y="2450592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Ingeniería de detalle "just enough" para liberar frentes de campo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53912" y="3474720"/>
            <a:ext cx="91440" cy="91440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0216" y="3410712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Look-ahead planning a 3 semanas con análisis de restricciones diario</a:t>
            </a:r>
            <a:endParaRPr lang="en-US" sz="11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CS-2: Planta de Aluminio Fjardaál — Islandia Oriental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594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51560"/>
            <a:ext cx="82296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Primera planta de procesamiento de metales construida en Islandia. Desafíos logísticos y climáticos extremos en ubicación remota.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737360"/>
            <a:ext cx="411480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37360"/>
            <a:ext cx="4114800" cy="54864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8288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Complejidad del proyecto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224028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USD 1,000M+. 3,000 trabajadores en pico. Ubicación remota a 850 km de Reykjavík. Clima subártico con vientos de 140 km/h.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1737360"/>
            <a:ext cx="411480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737360"/>
            <a:ext cx="4114800" cy="54864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82880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Desafío logístico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754880" y="224028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Todos los materiales y equipos importados. Sin infraestructura local. Puerto nuevo construido para el proyecto. Campamento para 2,000 personas.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154680"/>
            <a:ext cx="411480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154680"/>
            <a:ext cx="4114800" cy="54864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2461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Proceso constructabilidad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365760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 formal desde la fase de diseño básico. Talleres EPC mensuales con participación de todas las disciplinas.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3154680"/>
            <a:ext cx="4114800" cy="129844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154680"/>
            <a:ext cx="4114800" cy="54864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32461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del programa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754880" y="365760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de constructabilidad dedicado a tiempo completo durante toda la ejecución del proyecto, con autoridad formal.</a:t>
            </a:r>
            <a:endParaRPr lang="en-US" sz="11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CS-2: Temas Comunes de los Talleres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talleres EPC de Fjardaál produjeron 6 temas recurrentes que guiaron la priorización de iniciativas de valor durante toda la ejecución del proyecto.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Tema 1 — Modularización máxima: fabricar en Europa en talleres controlados y enviar a Islandia como módulos listos para instalar.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Tema 2 — Secuencia de techado temprano: cerrar la estructura principal antes de la temporada de vientos para crear espacio de trabajo protegido.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Tema 3 — Estandarización de conexiones: reducir variabilidad en conexiones de tuberías e instrumentación para acelerar prefabricación.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Tema 4 — Logística integrada: planeación de ventanas de transporte marítimo y terrestre integradas con el cronograma de construcción.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84048" y="4187952"/>
            <a:ext cx="128016" cy="128016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114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Tema 5 — Gestión del conocimiento local: capturar conocimiento sobre clima, suelo y logística de Islandia para proyectos futuros en zonas remotas.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CS-2: Las 12 Iniciativas de Valor Más Importantes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Identificadas y priorizadas durante los talleres de constructabilidad. Cada iniciativa tiene responsable, métrica de éxito y fecha de implementación.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411480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" y="157276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" y="1572768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Modularización de sala de celdas electrolíticas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103120"/>
            <a:ext cx="41148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210312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103120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Prefabricación de spools de tuberías en Europa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633472"/>
            <a:ext cx="411480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263347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4672" y="2633472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Techado temprano de naves principales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163824"/>
            <a:ext cx="41148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316382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3163824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Estandarización de soportes de tuberías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3694176"/>
            <a:ext cx="411480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" y="3694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4672" y="3694176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Planificación integrada de ventanas climáticas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4224528"/>
            <a:ext cx="41148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42245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4672" y="4224528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Pre-ensamble de transformadores en origen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1572768"/>
            <a:ext cx="411480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36592" y="157276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02352" y="1572768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Paquetes de instrumentación prefabricados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63440" y="2103120"/>
            <a:ext cx="41148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6592" y="210312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102352" y="2103120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Sistema de gestión de materiales en tiempo real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2633472"/>
            <a:ext cx="411480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6592" y="263347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02352" y="2633472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Formación técnica del personal local islandés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663440" y="3163824"/>
            <a:ext cx="41148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36592" y="316382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02352" y="3163824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Gestión visual de progreso en frentes de trabajo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663440" y="3694176"/>
            <a:ext cx="411480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36592" y="3694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102352" y="3694176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Accesibilidad de equipos de izaje en diseño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663440" y="4224528"/>
            <a:ext cx="411480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36592" y="42245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12.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102352" y="4224528"/>
            <a:ext cx="36027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Base de datos de lecciones aprendidas en campo</a:t>
            </a:r>
            <a:endParaRPr lang="en-US" sz="11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CS-2: Resultados del Programa de Constructabilidad Fjardaál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417320"/>
            <a:ext cx="265176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12%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en costo total de construcción vs. línea base estimada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USD ~120M en ahorro documentado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461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417320"/>
            <a:ext cx="265176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5%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33375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en duración total del cronograma de construcción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 pesar de desafíos climáticos extremos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89320" y="1417320"/>
            <a:ext cx="2651760" cy="256032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9320" y="1417320"/>
            <a:ext cx="265176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89320" y="1600200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Zero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5989320" y="26517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Fatalidades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80760" y="304495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un proyecto de 3,000 personas durante toda la ejecución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80760" y="3502152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Resultado de Safety by Design (Concepto II-8)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Casos Históricos CII — Mini-Cases del Primer Estudio (1986)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7 mini-casos del Primer CII Primer (Publication 3-1, 1986) demostraron que la constructabilidad genera retornos positivos en proyectos de todos los tipos.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600200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00200"/>
            <a:ext cx="457200" cy="731520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002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1636776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Refinería Industrial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6112" y="1965960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Modularización de rack de tuberías: 30% reducción en trabajo en altura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404872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404872"/>
            <a:ext cx="457200" cy="731520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404872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6112" y="2441448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Planta Química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96112" y="2770632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Estandarización de skids: 18% reducción en horas-hombre de montaje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209544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209544"/>
            <a:ext cx="457200" cy="731520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209544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96112" y="3246120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Hospital Universitario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96112" y="3575304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Prefabricación de instalaciones eléctricas: 25% reducción de tiempo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4014216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14216"/>
            <a:ext cx="457200" cy="731520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014216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6112" y="4050792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Planta de Energía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96112" y="4379976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Accesibilidad integrada: 12% reducción en horas de andamio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1600200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1600200"/>
            <a:ext cx="457200" cy="731520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16002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193792" y="1636776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Edificio Comercial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93792" y="1965960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Cronograma orientado a construcción: 8% reducción en duración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63440" y="2404872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63440" y="2404872"/>
            <a:ext cx="457200" cy="731520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2404872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193792" y="2441448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Infraestructura Vial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93792" y="2770632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Diseño para condiciones locales: 15% reducción en costo de campo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63440" y="3209544"/>
            <a:ext cx="4114800" cy="73152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3440" y="3209544"/>
            <a:ext cx="457200" cy="731520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3209544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93792" y="3246120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Planta de Agua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193792" y="3575304"/>
            <a:ext cx="3493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Secuencia constructiva optimizada: 20% reducción en tiempo total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71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Análisis Comparativo de los Casos de Estudio CII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Patrones Comunes de Éxito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Compromiso directivo visible desde el inicio del proyecto en TODOS los casos exitosos.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de constructabilidad dedicado con tiempo completo y autoridad real en el equipo.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Inicio en factibilidad: sin excepción, los casos de mayor ROI iniciaron constructabilidad en fases tempranas.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4048" y="3410712"/>
            <a:ext cx="109728" cy="109728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Enfoque en modularización: la decisión de modularizar genera los mayores retornos en proyectos industriales.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8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Lecciones Compartidas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Ningún caso logró ROI positivo sin inversión explícita: la constructabilidad requiere presupuesto y personas dedicadas.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talleres integrados (diseñadores + constructores) son el mecanismo más efectivo para generar ideas de alto valor.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cuantificación del ROI del programa es esencial para mantener el compromiso directivo en proyectos largos.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73168" y="3410712"/>
            <a:ext cx="109728" cy="109728"/>
          </a:xfrm>
          <a:prstGeom prst="ellipse">
            <a:avLst/>
          </a:prstGeom>
          <a:solidFill>
            <a:srgbClr val="2C3E8C"/>
          </a:solidFill>
          <a:ln w="12700">
            <a:solidFill>
              <a:srgbClr val="2C3E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Las lecciones aprendidas de un proyecto rara vez se transfieren sin un sistema formal de captura y recuperación.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Diseño para Construcción — Ejemplos de Aplicación Real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EJ1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Racks de Tuberías — Layout Ortogonal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Diseñar tuberías en trayectorias ortogonales (horizontal/vertical) en lugar de diagonales: reduce prefabricación de spools en 35% y errores de montaje.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EJ2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Estructuras Modulares con Junta de Montaje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Diseñar divisiones de módulos estructurales donde existen juntas atornilladas accesibles, eliminando soldadura en altura durante montaje.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EJ3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Nozzles de Equipos con Orientación Constructiva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Orientar nozzles de equipos hacia rutas de acceso de grúas y plataformas de trabajo, evitando trabajos en posición incómoda o acceso difícil.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EJ4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Instrumentación en Paneles Prefabricados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Agrupar instrumentación en paneles prefabricados en taller, reduciendo trabajo de cableado e instalación en campo de 60% a 70%.</a:t>
            </a:r>
            <a:endParaRPr lang="en-US" sz="11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y Seguridad — Safety by Design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Vínculo Constructabilidad-Seguridad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constructabilidad temprana reduce el riesgo de accidentes al eliminar las condiciones que los provocan: trabajo en altura innecesario, espacios confinados evitables, interferencias.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Concepto II-8 formaliza la integración de HAZID (identificación de peligros) en las revisiones de constructabilidad de diseño.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Cada módulo prefabricado en taller elimina potencialmente cientos de horas de trabajo peligroso en campo.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Impacto en Métricas de Seguridad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en TRIR: proyectos con modularización extensiva reportan 20–35% menos accidentes.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Eliminación de trabajo en altura: prefabricación reduce trabajo a más de 2m en 40–60%.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de espacios confinados: diseño integrado minimiza la necesidad de trabajo en espacios confinados.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73168" y="341071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Menos interferencias: planning de frentes de trabajo (AWP) reduce colisiones entre cuadrillas simultáneas.</a:t>
            </a:r>
            <a:endParaRPr lang="en-US" sz="13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en Proyectos de Carreteras e Infraestructura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CII SD-4 documenta conceptos específicos para proyectos de carreteras, puentes, túneles y obras civiles de infraestructura.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I-6 en infraestructura: el layout del frente de trabajo en una carretera es dinámico — avanza kilómetro a kilómetro. La planificación del frente debe anticipar la secuencia de avance.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II-5 en puentes: prefabricación de vigas, tableros y elementos de superestructura en planta industrializada reduce trabajo en altura y tiempo de montaje.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Condiciones geotécnicas: el conocimiento constructivo en factibilidad identifica riesgos de suelo que pueden cambiar radicalmente la estrategia de cimentación y el costo del proyecto.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Interferencias de servicios: la detección temprana de interferencias con servicios existentes (agua, gas, telefonía) es el equivalente civil del clash detection en BIM para proyectos industriales.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en Proyectos de Concreto Reforzado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Aplicaciones del Concepto II-2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Diseño del encofrado: configurar elementos de concreto para usar encofrado estándar o reutilizable, reduciendo costo de encofrado en 25–40%.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Densidad de acero: diseñar secciones con densidades de acero que permitan instalación manual sin equipo especializado, reduciendo tiempo de colocación.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Secuencia de vaciado: diseñar juntas de construcción en posiciones que optimicen la secuencia de vaciado y permitan continuidad del trabajo.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II-3 en Concreto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Estandarizar dimensiones de columnas y vigas para reutilizar encofrado en todos los niveles del proyecto.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Estandarizar detalles de armado en elementos repetitivos (losas, vigas): los cuadrilleros aprenden el detalle una vez y lo ejecutan con mayor velocidad.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Catálogo de detalles típicos aprobados: biblioteca corporativa de detalles constructivos estándar para proyectos de edificación.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y Operabilidad — El Vínculo con las Abilities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Objetivo: facilitar la ejecución de la construcción del proyecto.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Momento: factibilidad → diseño → construcción.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Responsable principal: constructor/CM con input en diseño.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4048" y="3410712"/>
            <a:ext cx="109728" cy="109728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Métricas: costo y tiempo de construcción, productividad de campo, índice de seguridad.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Operabilidad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Objetivo: facilitar la operación y mantenimiento de la instalación terminada.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Momento: diseño conceptual → diseño básico (antes de la construcción).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Responsable principal: operador/mantenedor con input en diseño.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73168" y="3410712"/>
            <a:ext cx="109728" cy="109728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Métricas: costo de operación, disponibilidad, índice de mantenimiento correctivo.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en la Era Digital — Industry 4.0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 Nivel 3+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Modelos federados con clash detection automático y revisión de constructabilidad integrada en el workflow de diseño.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AR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Realidad Aumentada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Trabajadores de campo visualizan el modelo 3D superpuesto sobre la realidad física para verificar instalación antes de ejecutar.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304288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30428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24140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IoT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241401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Internet of Things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2852928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Sensores en campo monitorean en tiempo real: progreso, productividad, calidad y condiciones de seguridad de cada frente de trabajo.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304288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30428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24140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IA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241401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Inteligencia Artificial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2852928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Machine learning sobre datos de proyectos anteriores para predecir riesgos de constructabilidad y optimizar secuencias de ejecución.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" y="3557016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9768" y="366674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DT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60120" y="366674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Digital Twin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29768" y="4105656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Gemelo digital de la instalación que simula condiciones de construcción, operación y mantenimiento desde la fase de diseño.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434840" y="3557016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557016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366674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DfMA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074920" y="366674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Design for Manufacture &amp; Assembly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44568" y="4105656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Evolución digital de la modularización: diseño paramétrico para fabricación automatizada y ensamble robotizado.</a:t>
            </a:r>
            <a:endParaRPr lang="en-US" sz="11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Gestión del Cambio para Implementar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Implementar constructabilidad es un cambio cultural, no solo un cambio de proceso. Requiere gestión del cambio explícita.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65760" y="1600200"/>
            <a:ext cx="1609344" cy="292608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00200"/>
            <a:ext cx="1609344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709928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7200" y="2286000"/>
            <a:ext cx="1426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Crear urgencia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834640"/>
            <a:ext cx="14264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Cuantificar el costo de NO implementar constructabilidad con datos de proyectos propios. El ROI habla más que los principios.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93392" y="2862072"/>
            <a:ext cx="109728" cy="228600"/>
          </a:xfrm>
          <a:prstGeom prst="rightArrow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66544" y="1600200"/>
            <a:ext cx="1609344" cy="292608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66544" y="1600200"/>
            <a:ext cx="1609344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66544" y="1709928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2157984" y="2286000"/>
            <a:ext cx="1426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Patrocinio ejecutivo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57984" y="2834640"/>
            <a:ext cx="14264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Identificar al líder que patrocinará el programa. Sin sponsor visible, el cambio no se sostiene.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94176" y="2862072"/>
            <a:ext cx="109728" cy="228600"/>
          </a:xfrm>
          <a:prstGeom prst="rightArrow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67328" y="1600200"/>
            <a:ext cx="1609344" cy="292608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67328" y="1600200"/>
            <a:ext cx="1609344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1709928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858768" y="2286000"/>
            <a:ext cx="1426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Equipo guía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58768" y="2834640"/>
            <a:ext cx="14264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Formar un equipo pequeño de champions: personas con credibilidad técnica y habilidades de facilitación.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394960" y="2862072"/>
            <a:ext cx="109728" cy="228600"/>
          </a:xfrm>
          <a:prstGeom prst="rightArrow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68112" y="1600200"/>
            <a:ext cx="1609344" cy="292608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68112" y="1600200"/>
            <a:ext cx="1609344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68112" y="1709928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5559552" y="2286000"/>
            <a:ext cx="1426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Victoria temprana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59552" y="2834640"/>
            <a:ext cx="14264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Implementar en un proyecto piloto y cuantificar el ROI. La primera victoria crea credibilidad para expandir.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095744" y="2862072"/>
            <a:ext cx="109728" cy="228600"/>
          </a:xfrm>
          <a:prstGeom prst="rightArrow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8896" y="1600200"/>
            <a:ext cx="1609344" cy="292608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68896" y="1600200"/>
            <a:ext cx="1609344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68896" y="1709928"/>
            <a:ext cx="16093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7260336" y="2286000"/>
            <a:ext cx="14264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Institucionalizar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260336" y="2834640"/>
            <a:ext cx="14264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Incorporar constructabilidad en los procesos formales de gestión de proyectos. No puede ser voluntaria.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Procura Estratégica y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Procura como Palanca de Constructabilidad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Identificación temprana de ítems de largo plazo: equipos con lead times de 12–24 meses deben seleccionarse en diseño básico para no convertirse en cuello de botella.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Selección de fabricantes con capacidad de modularización: la decisión de modularizar requiere fabricantes calificados con infraestructura de pre-ensamble.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Integración del proveedor en diseño: los mejores proveedores de equipos tienen conocimiento constructivo de sus equipos que puede mejorar el diseño de la interfaz.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Procura y Concepto II-5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decisión de modularizar debe tomarse en diseño básico: cambiarla en diseño detalle es 5x más costoso.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procura de módulos es diferente a la procura de equipos sueltos: requiere contratos llave en mano con el fabricante del módulo.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Logística de transporte de módulos es parte del diseño: dimensiones máximas están limitadas por carreteras, puentes y transporte marítimo disponibles.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Revisiones Formales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2011680" cy="36576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51560"/>
            <a:ext cx="201168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515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Rev. 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508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Factibilidad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2057400"/>
            <a:ext cx="1828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¿Es el proyecto constructible como está concebido? Evalúa configuración general, estrategia de contratación y métodos mayores.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395728" y="2770632"/>
            <a:ext cx="164592" cy="274320"/>
          </a:xfrm>
          <a:prstGeom prst="rightArrow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87168" y="1051560"/>
            <a:ext cx="2011680" cy="36576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87168" y="1051560"/>
            <a:ext cx="201168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78608" y="10515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Rev. 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78608" y="1508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Diseño Básico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578608" y="2057400"/>
            <a:ext cx="1828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de planos preliminares: accesibilidad, modularización, estandarización y cronograma de construcción.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17136" y="2770632"/>
            <a:ext cx="164592" cy="274320"/>
          </a:xfrm>
          <a:prstGeom prst="rightArrow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08576" y="1051560"/>
            <a:ext cx="2011680" cy="36576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08576" y="1051560"/>
            <a:ext cx="201168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0016" y="10515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Rev. 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00016" y="1508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Diseño Detalle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700016" y="2057400"/>
            <a:ext cx="1828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de IFC: detalles de montaje, secuencias de instalación, especificaciones de campo y procedimientos de izaje.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638544" y="2770632"/>
            <a:ext cx="164592" cy="274320"/>
          </a:xfrm>
          <a:prstGeom prst="rightArrow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29984" y="1051560"/>
            <a:ext cx="2011680" cy="36576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29984" y="1051560"/>
            <a:ext cx="201168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1424" y="10515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Rev. 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21424" y="1508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Pre-Construcción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21424" y="2057400"/>
            <a:ext cx="1828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final del plan de construcción: layout de sitio, frentes de trabajo, secuencia de actividades y plan de comisión.</a:t>
            </a:r>
            <a:endParaRPr lang="en-US" sz="11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81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y Gestión de Riesgos del Proyecto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Identificación Temprana de Riesgos Constructivos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Las revisiones de constructabilidad identifican riesgos de ejecución (izajes, accesos, interferencias, condiciones de sitio) antes de que se conviertan en problemas reales.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Evaluación Probabilística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conceptos CII proveen un framework para evaluar la probabilidad e impacto de riesgos constructivos en costo y cronograma.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MIT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Mitigación por Diseño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mejor mitigación de un riesgo constructivo es eliminar su causa mediante una decisión de diseño: cambiar configuración, modularizar, anticipar acceso.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Monitoreo en Ejecución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programa de constructabilidad en campo monitorea la efectividad de las estrategias de mitigación y actualiza el registro de riesgos.</a:t>
            </a:r>
            <a:endParaRPr lang="en-US" sz="11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Taller de Planificación de Constructabilidad — Agenda y Metodología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Objetivo del Taller: identificar y documentar ideas de constructabilidad de alto valor para el proyecto, con responsables y plan de implementación.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600200"/>
            <a:ext cx="274320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600200"/>
            <a:ext cx="274320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6002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Mañana: Preparación y Contexto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8056" y="2103120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39112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del proyecto: alcance, configuración, cronograma y estrategia de contratación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8056" y="294436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80360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Presentación de los conceptos CII relevantes para el proyecto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8056" y="3785616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21608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Formación de grupos de trabajo mixtos (ingeniería + construcción)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172968" y="1600200"/>
            <a:ext cx="274320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72968" y="1600200"/>
            <a:ext cx="274320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4408" y="16002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Tarde: Generación de Ideas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00984" y="2103120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7288" y="2039112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Técnica de brainstorming estructurado por concepto CII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00984" y="294436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47288" y="2880360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Priorización de ideas por impacto en costo/cronograma vs. esfuerzo de implementación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00984" y="3785616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47288" y="3721608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Documentación de las top 10 ideas con descripción, responsable y métrica de éxito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25896" y="1600200"/>
            <a:ext cx="274320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25896" y="1600200"/>
            <a:ext cx="274320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17336" y="160020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Cierre: Compromisos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53912" y="2103120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0216" y="2039112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Definición del plan de implementación de las ideas aceptadas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53912" y="294436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0216" y="2880360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Asignación de responsables con fechas de hito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53912" y="3785616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0216" y="3721608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Programación de revisión de seguimiento a 30 días</a:t>
            </a:r>
            <a:endParaRPr lang="en-US" sz="11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Cómo Medir el Éxito del Programa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365760" y="1024128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577840" y="11887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Evolución típica del ROI con programa maduro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577840" y="1737360"/>
            <a:ext cx="3383280" cy="65836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0" y="173736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Año 1: 3:1 — Fase de aprendizaje. Primeras revisiones formales. ROI bajo por curva de aprendizaje.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77840" y="2487168"/>
            <a:ext cx="338328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0" y="2487168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Año 2: 6:1 — Programa en marcha. LLDB operativa. Primera clase de proyectos con PEP completo.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577840" y="3236976"/>
            <a:ext cx="3383280" cy="65836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0" y="3236976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Año 3: 9:1 — Madurez media. Lecciones de proyectos anteriores reutilizadas. Champions capacitados.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577840" y="3986784"/>
            <a:ext cx="3383280" cy="65836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0" y="398678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Año 5+: 15:1 — Programa maduro. Constructabilidad integrada en cultura corporativa.</a:t>
            </a:r>
            <a:endParaRPr lang="en-US" sz="10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Diagnóstico de Constructabilidad en la Empresa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Herramienta de diagnóstico para evaluar el estado actual del programa de constructabilidad en su organización.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713232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554480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1. ¿Existe un Champion de Constructabilidad designado a nivel corporativo?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16368" y="1554480"/>
            <a:ext cx="1261872" cy="4754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16368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103120"/>
            <a:ext cx="713232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103120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2. ¿Los proyectos incluyen un PEP de Constructabilidad en su plan de gestión?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16368" y="2103120"/>
            <a:ext cx="1261872" cy="4754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16368" y="210312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651760"/>
            <a:ext cx="713232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51760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3. ¿Se realizan revisiones formales de constructabilidad en diseño básico?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16368" y="2651760"/>
            <a:ext cx="1261872" cy="4754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16368" y="265176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200400"/>
            <a:ext cx="713232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00400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4. ¿Existe una Base de Datos de Lecciones Aprendidas operativa y actualizada?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16368" y="3200400"/>
            <a:ext cx="1261872" cy="4754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16368" y="320040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6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749040"/>
            <a:ext cx="7132320" cy="47548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749040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5. ¿Se cuantifica y reporta el ROI del programa al cierre de cada proyecto?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16368" y="3749040"/>
            <a:ext cx="1261872" cy="4754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16368" y="374904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297680"/>
            <a:ext cx="713232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297680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6. ¿Los diseñadores conocen los 17 conceptos CII y su aplicación?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516368" y="4297680"/>
            <a:ext cx="1261872" cy="4754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16368" y="42976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Hito 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5760" y="48463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 respondió "No" a 3 o más: programa en Nivel 1–2. Prioridad: iniciar con Hito 1 (Compromiso) y Hito 2 (Programa Corporativo).</a:t>
            </a:r>
            <a:endParaRPr lang="en-US" sz="11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y el Propietario — El Rol Central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Propietario como Catalizador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CII identifica al PROPIETARIO como el actor clave para implementar constructabilidad: sin su mandato, los contratistas raramente la implementan por iniciativa propia.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propietario tiene el poder contractual de exigir constructabilidad: cláusulas del contrato, PEP requerido, revisiones formales y entrega de lecciones aprendidas.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propietario tiene el mayor retorno económico del programa: el 80% de los beneficios de constructabilidad van directamente a su bolsillo.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Propietario vs. Contratista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Propietario típico (sin programa): acepta la propuesta del contratista sin cuestionar la constructabilidad del diseño.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Propietario avanzado (con programa): exige PEP de constructabilidad, revisa matrices de aplicación y audita el programa del contratista.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Propietario líder: incorpora constructabilidad en los criterios de selección de contratistas y mide el ROI del programa proyecto a proyecto.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vs. "Revisión de Diseño" — La Trampa Común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confusión más común en la industria: creer que la constructabilidad es simplemente revisar los planos antes de construir.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2011680" cy="457200"/>
          </a:xfrm>
          <a:prstGeom prst="rect">
            <a:avLst/>
          </a:prstGeom>
          <a:solidFill>
            <a:srgbClr val="0071E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15727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Dimensión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377440" y="1572768"/>
            <a:ext cx="2926080" cy="457200"/>
          </a:xfrm>
          <a:prstGeom prst="rect">
            <a:avLst/>
          </a:prstGeom>
          <a:solidFill>
            <a:srgbClr val="0071E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32304" y="157276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de Diseño Tardía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03520" y="1572768"/>
            <a:ext cx="3383280" cy="457200"/>
          </a:xfrm>
          <a:prstGeom prst="rect">
            <a:avLst/>
          </a:prstGeom>
          <a:solidFill>
            <a:srgbClr val="0071E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58384" y="157276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CII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075688"/>
            <a:ext cx="20116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" y="207568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Momento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377440" y="2075688"/>
            <a:ext cx="29260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32304" y="207568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 final del diseño detalle, antes de IFC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2075688"/>
            <a:ext cx="33832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58384" y="207568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Desde la factibilidad; continua en todas las fases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578608"/>
            <a:ext cx="201168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" y="25786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Objetivo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377440" y="2578608"/>
            <a:ext cx="292608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32304" y="257860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Detectar errores técnicos en el diseño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03520" y="2578608"/>
            <a:ext cx="338328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58384" y="257860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Co-crear el diseño con criterio constructivo desde el inicio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081528"/>
            <a:ext cx="20116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" y="30815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Iniciativa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377440" y="3081528"/>
            <a:ext cx="29260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32304" y="308152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Reactiva: revisar lo que ya está diseñado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303520" y="3081528"/>
            <a:ext cx="33832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58384" y="30815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Proactiva: influir en las decisiones de diseño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3584448"/>
            <a:ext cx="201168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0624" y="358444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Poder de cambio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377440" y="3584448"/>
            <a:ext cx="292608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32304" y="358444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Bajo: el diseño está avanzado y cambiar es costoso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03520" y="3584448"/>
            <a:ext cx="338328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58384" y="358444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Alto: las decisiones aún son económicamente reversibles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4087368"/>
            <a:ext cx="20116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20624" y="40873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Resultado típico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377440" y="4087368"/>
            <a:ext cx="29260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32304" y="408736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Corrección de errores y RFIs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03520" y="4087368"/>
            <a:ext cx="33832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58384" y="408736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Eliminación de la causa de los errores antes de que ocurran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10 Mandamientos de la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24128"/>
            <a:ext cx="438912" cy="67665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024128"/>
            <a:ext cx="4389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77824" y="1024128"/>
            <a:ext cx="352958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constructabilidad empieza en la FACTIBILIDAD, no en el diseño de detalle.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773936"/>
            <a:ext cx="4114800" cy="67665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1773936"/>
            <a:ext cx="438912" cy="67665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773936"/>
            <a:ext cx="4389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77824" y="1773936"/>
            <a:ext cx="352958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Sin compromiso de la alta dirección, el programa no existe en la práctica.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523744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2523744"/>
            <a:ext cx="438912" cy="67665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523744"/>
            <a:ext cx="4389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77824" y="2523744"/>
            <a:ext cx="352958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constructor debe estar en la sala de diseño, no esperando los planos terminados.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273552"/>
            <a:ext cx="4114800" cy="67665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273552"/>
            <a:ext cx="438912" cy="67665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273552"/>
            <a:ext cx="4389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77824" y="3273552"/>
            <a:ext cx="352958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Cada tarea de campo que puede hacerse en taller, debe hacerse en taller.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4023360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23360"/>
            <a:ext cx="438912" cy="67665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023360"/>
            <a:ext cx="4389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77824" y="4023360"/>
            <a:ext cx="352958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Un cronograma que no empieza por la lógica de construcción no es un cronograma de proyecto.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1024128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1024128"/>
            <a:ext cx="438912" cy="67665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024128"/>
            <a:ext cx="4389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175504" y="1024128"/>
            <a:ext cx="352958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Las lecciones aprendidas que no se capturan no existen para el siguiente proyecto.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63440" y="1773936"/>
            <a:ext cx="4114800" cy="67665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1773936"/>
            <a:ext cx="438912" cy="67665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63440" y="1773936"/>
            <a:ext cx="4389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175504" y="1773936"/>
            <a:ext cx="352958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 el diseño no se puede construir eficientemente, el diseño está mal, no la construcción.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2523744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63440" y="2523744"/>
            <a:ext cx="438912" cy="67665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523744"/>
            <a:ext cx="4389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175504" y="2523744"/>
            <a:ext cx="352958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ROI de la constructabilidad se mide; lo que no se mide no se gestiona ni se sostiene.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63440" y="3273552"/>
            <a:ext cx="4114800" cy="67665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0" y="3273552"/>
            <a:ext cx="438912" cy="67665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63440" y="3273552"/>
            <a:ext cx="4389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175504" y="3273552"/>
            <a:ext cx="352958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Diseña para que la grúa pueda trabajar. Diseña para que el andamiero no sea necesario.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3440" y="4023360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3440" y="4023360"/>
            <a:ext cx="438912" cy="67665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4023360"/>
            <a:ext cx="4389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5175504" y="4023360"/>
            <a:ext cx="352958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constructabilidad no es un costo: es la inversión front-end de mayor retorno del proyecto.</a:t>
            </a:r>
            <a:endParaRPr lang="en-US" sz="11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Resumen de Beneficios de la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365760" y="1024128"/>
          <a:ext cx="84124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Conclusiones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8229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"La constructabilidad bien implementada es una de las herramientas más costo-efectivas disponibles para mejorar el desempeño de los proyectos de capital." — CII SP 34-1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965960"/>
            <a:ext cx="4114800" cy="128016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965960"/>
            <a:ext cx="502920" cy="128016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65960"/>
            <a:ext cx="502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05740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No es opcional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2459736"/>
            <a:ext cx="3429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un mercado global competitivo, las empresas que no implementan constructabilidad pagan un sobrecosto sistemático en sus proyectos.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965960"/>
            <a:ext cx="4114800" cy="128016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965960"/>
            <a:ext cx="502920" cy="128016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1965960"/>
            <a:ext cx="502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57800" y="205740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Inversión, no costo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57800" y="2459736"/>
            <a:ext cx="3429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programa de constructabilidad tiene el mayor ROI de las inversiones en gestión de proyectos: promedio 10:1, máximo documentado 15:1.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3355848"/>
            <a:ext cx="4114800" cy="128016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355848"/>
            <a:ext cx="502920" cy="128016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355848"/>
            <a:ext cx="502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3447288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17 conceptos probados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60120" y="3849624"/>
            <a:ext cx="3429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conceptos CII han sido validados en miles de proyectos durante 40 años. No requieren reinvención — requieren aplicación sistemática.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63440" y="3355848"/>
            <a:ext cx="4114800" cy="128016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355848"/>
            <a:ext cx="502920" cy="128016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3355848"/>
            <a:ext cx="502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257800" y="3447288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Comienza ahora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257800" y="3849624"/>
            <a:ext cx="3429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mejor momento para implementar constructabilidad es en la factibilidad de cada proyecto. El segundo mejor momento es hoy.</a:t>
            </a:r>
            <a:endParaRPr lang="en-US" sz="11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Recomendaciones para Iniciar el Programa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4114800" cy="123444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24128"/>
            <a:ext cx="502920" cy="123444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024128"/>
            <a:ext cx="502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109728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Diagnóstico inicial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1499616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Aplicar Tool 3/4 CII para evaluar el estado actual del programa corporativo e identificar las brechas prioritarias.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024128"/>
            <a:ext cx="4114800" cy="123444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1024128"/>
            <a:ext cx="502920" cy="123444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024128"/>
            <a:ext cx="502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57800" y="109728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Compromiso directivo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57800" y="1499616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Presentar el caso de negocio a la dirección con datos de ROI de la industria y proyectos propios. Obtener patrocinio explícito.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350008"/>
            <a:ext cx="4114800" cy="123444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2350008"/>
            <a:ext cx="502920" cy="123444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350008"/>
            <a:ext cx="502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60120" y="242316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Proyecto piloto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2825496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Seleccionar un proyecto en fase de factibilidad o diseño básico para implementar el programa con todos los hitos CII.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2350008"/>
            <a:ext cx="4114800" cy="123444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2350008"/>
            <a:ext cx="502920" cy="123444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2350008"/>
            <a:ext cx="502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257800" y="242316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designado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57800" y="2825496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Nombrar al Champion de Constructabilidad corporativo: idealmente alguien con experiencia técnica de campo y habilidades de facilitación.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675888"/>
            <a:ext cx="4114800" cy="123444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675888"/>
            <a:ext cx="502920" cy="123444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675888"/>
            <a:ext cx="502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0120" y="374904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Formación del equipo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0120" y="4151376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Capacitar al equipo en los 17 conceptos CII y las herramientas SP 34-1. Puede hacerse con el material de este curso.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3440" y="3675888"/>
            <a:ext cx="4114800" cy="123444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3675888"/>
            <a:ext cx="502920" cy="123444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3675888"/>
            <a:ext cx="502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06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257800" y="374904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Medir y reportar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57800" y="4151376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Desde el día uno: registrar ideas generadas, retrabajo evitado y lecciones aprendidas. El ROI del piloto justificará la expansión.</a:t>
            </a:r>
            <a:endParaRPr lang="en-US" sz="11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91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en Proyectos con Restricciones de Sitio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Sitios Urbanos Congestionados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constructabilidad en sitio urbano requiere maximizar la prefabricación offsite: menos material crudo en sitio = menos congestionamiento.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Planificación de entregas: ventanas horarias de entrega de materiales coordenadas con el municipio y con la secuencia de instalación.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Minimización del lay-down area: diseñar para que los materiales lleguen "just-in-time" al frente de instalación.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4048" y="341071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Grúas tower o city cranes en lugar de grúas de terreno: menor ocupación de espacio en sitio con mayor alcance vertical.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Sitios Remotos / Logística Difícil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Modularización máxima: fabricar en zonas industriales y enviar módulos terminados al sitio remoto.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Diseño de infraestructura temporal: campamentos, almacenes y talleres en campo son parte del proyecto de constructabilidad.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Proveedores locales: identificar desde factibilidad qué materiales y servicios se pueden obtener localmente, reduciendo logística.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73168" y="341071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Ventanas de transporte: en sitios con acceso estacional (hielo, lluvia, marea), el cronograma se construye alrededor de esas ventanas.</a:t>
            </a:r>
            <a:endParaRPr lang="en-US" sz="13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para Megaproyectos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ESC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Escala y Complejidad Única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megaproyectos (&gt;USD 1B) tienen interfaces entre contratistas que requieren coordinación de constructabilidad explícita: quién construye qué y en qué secuencia.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Integración de Múltiples Contratistas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propietario debe coordinar la constructabilidad entre todos los paquetes de contrato: interfaces, secuencias de entrega, accesos compartidos.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AWP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AWP como Obligatorio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megaproyectos, el Workface Planning (AWP) no es opcional: es el único sistema que permite coordinar miles de trabajadores en múltiples frentes.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TEC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Tecnología Integrada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 4D + gestión de materiales IoT + dashboards de productividad son herramientas necesarias, no opcionales, para gestionar la constructabilidad de un megaproyecto.</a:t>
            </a:r>
            <a:endParaRPr lang="en-US" sz="11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y Sostenibilidad — Proyectos Verdes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Sinergia Natural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constructabilidad y la sostenibilidad comparten el objetivo de eliminar desperdicios: de material, tiempo, energía y esfuerzo humano.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Prefabricación = menor desperdicio de material en sitio: cortes y empalmes en taller producen hasta 30% menos scrap que el trabajo in-situ.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Menos retrabajo = menor consumo de energía: correcciones y demoliciones tienen una huella de carbono significativa.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LEED y Constructabilidad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Créditos LEED de construcción: varios créditos LEED están directamente relacionados con prácticas de constructabilidad (gestión de residuos, calidad del aire, materiales regionales).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Diseño para desmontaje: la constructabilidad incluye diseñar para que la estructura sea desmontable al final de su vida útil, facilitando la circularidad.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Medición de impacto: los KPIs de constructabilidad (residuos de campo, horas evitadas, retrabajo) son simultáneamente indicadores de sostenibilidad.</a:t>
            </a:r>
            <a:endParaRPr lang="en-US" sz="13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Futuro de la Constructabilidad — Tendencias Emergentes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DfMA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Design for Manufacture &amp; Assembly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Evolución de la modularización: diseño paramétrico para fabricación automatizada (robots) y ensamble en sitio con mínima mano de obra.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AI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IA para Constructabilidad Predictiva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Machine learning sobre datos históricos de proyectos predice conflictos de constructabilidad antes de que el diseño esté completo.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XR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Extended Reality en Construcción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AR/VR permite que diseñadores experimenten virtualmente construir su diseño antes de finalizarlo, generando feedback constructivo intuitivo.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TWIN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Digital Twins de Construcción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Gemelos digitales que sincronizan el modelo virtual con el avance real, permitiendo gestión de constructabilidad en tiempo real durante la ejecución.</a:t>
            </a:r>
            <a:endParaRPr lang="en-US" sz="11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Evaluación Final: ¿Está su Empresa Lista para la Constructabilidad?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4114800" cy="38404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2412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Pregunta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98848" y="1024128"/>
            <a:ext cx="2103120" cy="38404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SÍ → Siguiente paso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20256" y="1024128"/>
            <a:ext cx="2157984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65976" y="1024128"/>
            <a:ext cx="20665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NO → Acción requerida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1444752"/>
            <a:ext cx="4114800" cy="58521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44752"/>
            <a:ext cx="39319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¿El equipo directivo entiende la diferencia entre constructabilidad y revisión de diseño?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98848" y="1444752"/>
            <a:ext cx="2103120" cy="58521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44568" y="1444752"/>
            <a:ext cx="2011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Equipo alineado: puede avanzar directo al Hito 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20256" y="1444752"/>
            <a:ext cx="2157984" cy="58521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65976" y="1444752"/>
            <a:ext cx="206654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Empezar con presentación ejecutiva del caso de negocio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2103120"/>
            <a:ext cx="4114800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103120"/>
            <a:ext cx="39319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¿Existe un presupuesto asignado para el programa de constructabilidad en los proyectos?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98848" y="2103120"/>
            <a:ext cx="2103120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44568" y="2103120"/>
            <a:ext cx="2011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 habilitado: asignar el Champion y arrancar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620256" y="2103120"/>
            <a:ext cx="2157984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65976" y="2103120"/>
            <a:ext cx="206654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primer paso es aprobar el presupuesto del piloto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5760" y="2761488"/>
            <a:ext cx="4114800" cy="58521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761488"/>
            <a:ext cx="39319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¿Los contratos con contratistas incluyen cláusulas de constructabilidad (Tool 16)?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98848" y="2761488"/>
            <a:ext cx="2103120" cy="58521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44568" y="2761488"/>
            <a:ext cx="2011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Marco contractual listo: implementar en próximo proyecto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620256" y="2761488"/>
            <a:ext cx="2157984" cy="58521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65976" y="2761488"/>
            <a:ext cx="206654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Revisar Tool 16 CII y adaptar al contexto de la empresa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65760" y="3419856"/>
            <a:ext cx="4114800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419856"/>
            <a:ext cx="39319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¿Se mide y reporta el ROI del programa al cierre de cada proyecto?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98848" y="3419856"/>
            <a:ext cx="2103120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3419856"/>
            <a:ext cx="2011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 gestionado (Nivel 4): sostener y mejorar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620256" y="3419856"/>
            <a:ext cx="2157984" cy="58521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65976" y="3419856"/>
            <a:ext cx="206654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Definir métricas y sistema de reporte antes del próximo proyecto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4078224"/>
            <a:ext cx="4114800" cy="58521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78224"/>
            <a:ext cx="39319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¿Existe una base de datos corporativa de lecciones aprendidas actualizada?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498848" y="4078224"/>
            <a:ext cx="2103120" cy="58521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44568" y="4078224"/>
            <a:ext cx="2011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Conocimiento compuesto: el mayor activo del programa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620256" y="4078224"/>
            <a:ext cx="2157984" cy="58521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65976" y="4078224"/>
            <a:ext cx="206654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LLDB es la primera inversión del programa — iniciarla hoy</a:t>
            </a:r>
            <a:endParaRPr lang="en-US" sz="9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Las Publicaciones CII que Todo Director de Proyecto Debe Conocer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3-1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Constructability: A Primer (1986)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documento fundacional. Introduce el concepto, documenta los 7 mini-casos y establece el caso de negocio para ejecutivos. Lectura obligatoria.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SP 34-1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Constructability Implementation Guide (2da Ed.)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guía operacional completa: 17 conceptos, 19 herramientas, 4 casos de estudio y hoja de ruta de implementación. El manual del programa.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SD-34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Advanced Work Packaging (AWP)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materialización operacional de los principios de constructabilidad en el campo. Complementario e imprescindible para proyectos industriales.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SD-4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Constructability of Highway Projects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Aplicación de los conceptos CII a infraestructura vial y civil. Esencial para empresas con cartera de proyectos de infraestructura.</a:t>
            </a:r>
            <a:endParaRPr lang="en-US" sz="11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Recursos Adicionales para Profundizar en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 Website (construction-institute.org): repositorio completo de publicaciones, herramientas y casos de estudio del CII. Membresía abre acceso a todas las publicaciones.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Libros de referencia: "Construction Project Management" de Halpin &amp; Senior (capítulos de constructabilidad); "Lean Construction" de Mossman, Ballard &amp; Tommelein.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AACE International: publicaciones sobre estimación y control de costos con enfoque en constructabilidad de ingeniería front-end.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Cursos CII: el CII ofrece cursos presenciales y virtuales de certificación en constructabilidad y Advanced Work Packaging.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COAA (Construction Owners Association of Alberta): publicaciones sobre AWP y constructabilidad para proyectos industriales de Norteamérica.</a:t>
            </a:r>
            <a:endParaRPr lang="en-US" sz="15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Glosario de Términos de Constructabilidad — Parte 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24128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24128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50592" y="1024128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"El uso óptimo del conocimiento y experiencia de construcción en la planificación, el diseño, las adquisiciones y las operaciones de campo." — CII, 1986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655064"/>
            <a:ext cx="84124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1655064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655064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de Constructabilidad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450592" y="1655064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Persona designada responsable de implementar y gestionar el programa de constructabilidad en un proyecto o a nivel corporativo.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286000"/>
            <a:ext cx="84124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2286000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286000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PEP de Constructabilidad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450592" y="2286000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 de Ejecución del Proyecto que incluye formalmente los conceptos CII a aplicar, el cronograma de revisiones y las métricas del programa.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16936"/>
            <a:ext cx="84124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16936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169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LLDB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450592" y="2916936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Lessons Learned Database — Base de Datos de Lecciones Aprendidas. Repositorio corporativo de lecciones de constructabilidad de todos los proyectos.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547872"/>
            <a:ext cx="84124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3547872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547872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IWP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450592" y="3547872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Installation Work Package — Paquete de Instalación. Paquete de trabajo completo para una cuadrilla en el sistema AWP/Workface Planning.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4178808"/>
            <a:ext cx="84124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4178808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178808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CWP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450592" y="4178808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Construction Work Package — Paquete de Trabajo de Construcción. Grupo de IWPs que definen un frente de trabajo completo.</a:t>
            </a:r>
            <a:endParaRPr lang="en-US" sz="11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Glosario de Términos de Constructabilidad — Parte 2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24128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24128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Fast-Track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50592" y="1024128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Estrategia de proyecto donde la construcción comienza antes de que el diseño esté completo. Requiere constructabilidad avanzada para gestionar el riesgo.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655064"/>
            <a:ext cx="84124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1655064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655064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Modularización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450592" y="1655064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Estrategia de construcción donde componentes del proceso, estructura o instalaciones se prefabrican offsite como módulos listos para instalar.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286000"/>
            <a:ext cx="84124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2286000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286000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AWP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450592" y="2286000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Advanced Work Packaging — Metodología de planificación y ejecución que implementa operacionalmente los principios de constructabilidad en campo.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16936"/>
            <a:ext cx="84124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16936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169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Clash Detection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450592" y="2916936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Proceso de identificación de interferencias físicas entre elementos de diseño en modelo BIM antes de ejecutar la construcción.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547872"/>
            <a:ext cx="8412480" cy="566928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3547872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547872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Spool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450592" y="3547872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Tramo de tubería prefabricado en taller con todas sus soldaduras, codos y conexiones, listo para instalar en campo como unidad.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4178808"/>
            <a:ext cx="841248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4178808"/>
            <a:ext cx="2011680" cy="566928"/>
          </a:xfrm>
          <a:prstGeom prst="rect">
            <a:avLst/>
          </a:prstGeom>
          <a:solidFill>
            <a:srgbClr val="006C65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178808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HAZID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450592" y="4178808"/>
            <a:ext cx="623620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Hazard Identification — Revisión sistemática de peligros de construcción integrada en las revisiones de constructabilidad de diseño.</a:t>
            </a:r>
            <a:endParaRPr lang="en-US" sz="11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Indicadores de Madurez de la Constructabilidad — Cuadro de Mando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051560"/>
            <a:ext cx="2194560" cy="457200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1051560"/>
            <a:ext cx="2121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Parámetro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68880" y="1051560"/>
            <a:ext cx="1188720" cy="457200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05456" y="1051560"/>
            <a:ext cx="1115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Inicial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0" y="1051560"/>
            <a:ext cx="1188720" cy="457200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94176" y="1051560"/>
            <a:ext cx="1115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Desarr.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46320" y="1051560"/>
            <a:ext cx="1188720" cy="457200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2896" y="1051560"/>
            <a:ext cx="1115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Definido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051560"/>
            <a:ext cx="1188720" cy="457200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71616" y="1051560"/>
            <a:ext cx="11155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4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Gestion.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223760" y="1051560"/>
            <a:ext cx="1280160" cy="457200"/>
          </a:xfrm>
          <a:prstGeom prst="rect">
            <a:avLst/>
          </a:prstGeom>
          <a:solidFill>
            <a:srgbClr val="B0202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0336" y="1051560"/>
            <a:ext cx="1207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Nivel 5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Optimizado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1508760"/>
            <a:ext cx="219456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" y="1508760"/>
            <a:ext cx="21214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Patrocinio directivo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468880" y="1508760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05456" y="1508760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Ninguno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57600" y="1508760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94176" y="1508760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Informal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846320" y="1508760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82896" y="1508760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Política aprobada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1508760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71616" y="1508760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Activo y visible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223760" y="1508760"/>
            <a:ext cx="128016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60336" y="1508760"/>
            <a:ext cx="12070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Cultura corporativa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2167128"/>
            <a:ext cx="219456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0896" y="2167128"/>
            <a:ext cx="21214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designado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468880" y="2167128"/>
            <a:ext cx="118872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05456" y="2167128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657600" y="2167128"/>
            <a:ext cx="118872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94176" y="2167128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Parcial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67128"/>
            <a:ext cx="118872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2167128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Sí, proyectos grandes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035040" y="2167128"/>
            <a:ext cx="118872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71616" y="2167128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Sí, todos los proyectos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223760" y="2167128"/>
            <a:ext cx="128016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0336" y="2167128"/>
            <a:ext cx="12070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Full-time corporativo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74320" y="2825496"/>
            <a:ext cx="219456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0896" y="2825496"/>
            <a:ext cx="21214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PEP de Constructabilidad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468880" y="2825496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05456" y="2825496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No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657600" y="2825496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94176" y="2825496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Ocasional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846320" y="2825496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82896" y="2825496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Proyectos grandes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035040" y="2825496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71616" y="2825496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Todos los proyectos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7223760" y="2825496"/>
            <a:ext cx="128016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60336" y="2825496"/>
            <a:ext cx="12070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Estandarizado y auditado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74320" y="3483864"/>
            <a:ext cx="219456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10896" y="3483864"/>
            <a:ext cx="21214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LLDB operativa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468880" y="3483864"/>
            <a:ext cx="118872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05456" y="3483864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No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3657600" y="3483864"/>
            <a:ext cx="118872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694176" y="3483864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Manual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846320" y="3483864"/>
            <a:ext cx="118872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82896" y="3483864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Activa, sin uso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035040" y="3483864"/>
            <a:ext cx="118872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071616" y="3483864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Reutilización sistemática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7223760" y="3483864"/>
            <a:ext cx="1280160" cy="60350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60336" y="3483864"/>
            <a:ext cx="12070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IA sobre lecciones aprendidas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274320" y="4142232"/>
            <a:ext cx="219456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10896" y="4142232"/>
            <a:ext cx="21214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 medido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2468880" y="4142232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505456" y="4142232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No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657600" y="4142232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694176" y="4142232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Estimado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4846320" y="4142232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82896" y="4142232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Calculado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6035040" y="4142232"/>
            <a:ext cx="118872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071616" y="4142232"/>
            <a:ext cx="1115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Reportado a dirección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7223760" y="4142232"/>
            <a:ext cx="1280160" cy="60350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260336" y="4142232"/>
            <a:ext cx="120700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Benchmark externo</a:t>
            </a:r>
            <a:endParaRPr lang="en-US" sz="9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Camino hacia Proyectos más Eficientes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749808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0175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"Constructabilidad significa diseñar para construir, no construir a pesar del diseño."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Programa de Constructabilidad CII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101 / 126</a:t>
            </a:r>
            <a:endParaRPr lang="en-US" sz="7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Herramientas CII SP 34-1: Descripción Detallada (T-1 a T-5)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24128"/>
            <a:ext cx="502920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024128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107899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Temprana de Constructabilidad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32688" y="1389888"/>
            <a:ext cx="7680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Evalúa el proyecto en etapas de factibilidad e ingeniería conceptual. Identifica oportunidades de mayor impacto sobre el costo y cronograma.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1773936"/>
            <a:ext cx="8412480" cy="67665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1773936"/>
            <a:ext cx="502920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773936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32688" y="1828800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Taller de Constructabilidad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2688" y="2139696"/>
            <a:ext cx="7680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Sesión estructurada de 1–2 días con equipo integrado de diseño y construcción. Produce lista priorizada de iniciativas con plan de implementación.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523744"/>
            <a:ext cx="841248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2523744"/>
            <a:ext cx="502920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523744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2688" y="257860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Evaluación del Programa Corporativo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2688" y="2889504"/>
            <a:ext cx="7680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Cuestionario de 8 parámetros que genera perfil de madurez del programa corporativo en los 5 niveles CII. Se aplica anualmente.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8412480" cy="67665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3273552"/>
            <a:ext cx="502920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32688" y="332841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Evaluación del Programa de Proyecto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2688" y="3639312"/>
            <a:ext cx="7680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Evalúa la implementación en el proyecto específico. Genera puntaje que se incorpora al benchmark corporativo por tipo de proyecto.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4023360"/>
            <a:ext cx="841248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4023360"/>
            <a:ext cx="502920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23360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32688" y="407822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Planificación de Recursos de Constructabilidad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32688" y="4389120"/>
            <a:ext cx="7680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Herramienta para planificar el presupuesto y los recursos (tiempo, personas, herramientas) necesarios para el programa en el proyecto.</a:t>
            </a:r>
            <a:endParaRPr lang="en-US" sz="11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Herramientas CII SP 34-1: T-6 a T-10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T-6 — Accesibilidad en Diseño: herramienta para revisar sistemáticamente el acceso de personal, materiales y equipos en cada área del diseño.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T-7 — Análisis de Constructabilidad del Sitio: evalúa las características del sitio (suelo, clima, acceso, servicios) con enfoque en impacto constructivo.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T-8 — Plan de Módulos y Pre-ensambles: guía para desarrollar la estrategia de modularización incluyendo análisis de costo-beneficio y evaluación de fabricantes.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T-9 — Cronograma Orientado a la Construcción: herramienta para desarrollar el cronograma del proyecto comenzando por la lógica de construcción.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T-10 — Rompedores de Barreras: matriz de estrategias específicas para cada tipo de barrera a la constructabilidad identificada en la investigación CII.</a:t>
            </a:r>
            <a:endParaRPr lang="en-US" sz="15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Herramientas CII SP 34-1: T-11 a T-19 (Resumen)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24128"/>
            <a:ext cx="475488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024128"/>
            <a:ext cx="47548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14400" y="1069848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en Diseño para Producción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14400" y="1380744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Estandarización de elementos de diseño para facilitar la producción industrial.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1773936"/>
            <a:ext cx="4114800" cy="67665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1773936"/>
            <a:ext cx="475488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773936"/>
            <a:ext cx="47548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T-12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1819656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Análisis de Constructabilidad del Cronograma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4400" y="2130552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del cronograma desde perspectiva constructiva para identificar brechas.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2523744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2523744"/>
            <a:ext cx="475488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523744"/>
            <a:ext cx="47548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14400" y="2569464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Base de Datos de Lecciones Aprendidas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" y="2880360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Estructura y proceso para implementar la LLDB corporativa de constructabilidad.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4114800" cy="67665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3273552"/>
            <a:ext cx="475488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273552"/>
            <a:ext cx="47548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14400" y="3319272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Revisión de Planos para Constructabilidad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14400" y="3630168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Checklist estructurado para revisar planos de diseño desde perspectiva del constructor.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23360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4023360"/>
            <a:ext cx="475488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23360"/>
            <a:ext cx="47548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14400" y="4069080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en Operaciones de Campo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14400" y="4379976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Herramienta para planificar métodos innovadores de campo (Concepto III-1).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1024128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1024128"/>
            <a:ext cx="475488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1024128"/>
            <a:ext cx="47548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T-16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1069848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Cláusulas Contractuales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212080" y="1380744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Lenguaje estándar para contratos EPC/EPCM que formaliza requerimientos de constructabilidad.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63440" y="1773936"/>
            <a:ext cx="4114800" cy="67665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63440" y="1773936"/>
            <a:ext cx="475488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1773936"/>
            <a:ext cx="47548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T-17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212080" y="1819656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Guía de Modularización y Pre-ensamble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212080" y="2130552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Proceso paso a paso para tomar y ejecutar la decisión de modularizar.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63440" y="2523744"/>
            <a:ext cx="4114800" cy="676656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63440" y="2523744"/>
            <a:ext cx="475488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0" y="2523744"/>
            <a:ext cx="47548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T-18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212080" y="2569464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Matriz de Aplicación por Tipo de Proyecto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212080" y="2880360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Indica significancia de cada concepto CII según tipo y tamaño de proyecto.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663440" y="3273552"/>
            <a:ext cx="4114800" cy="676656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63440" y="3273552"/>
            <a:ext cx="475488" cy="67665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273552"/>
            <a:ext cx="47548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T-19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212080" y="3319272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Matriz de Aplicación por Fase de Proyecto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212080" y="3630168"/>
            <a:ext cx="34930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Indica el momento óptimo de aplicación de cada concepto a lo largo del ciclo de proyecto.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Cuantificación del ROI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 SP 34-1 provee metodología de medición basada en datos reales de 5 categorías de beneficio.</a:t>
            </a:r>
            <a:endParaRPr lang="en-US" sz="13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65760" y="1536192"/>
          <a:ext cx="41148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663440" y="1536192"/>
            <a:ext cx="4114800" cy="7132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5819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Fórmula CII de ROI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754880" y="186537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 = (Beneficio Total Documentado) / (Costo del Programa) × 100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2322576"/>
            <a:ext cx="4114800" cy="713232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754880" y="236829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Costo del Programa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754880" y="26517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+ talleres + revisiones externas + tiempo del equipo. Típicamente 0.1–0.3% del costo total del proyecto.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63440" y="3108960"/>
            <a:ext cx="4114800" cy="7132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54880" y="31546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Beneficio — Retrabajo Evitado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754880" y="343814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(Horas de retrabajo estimadas sin programa) − (Horas de retrabajo reales) × Tarifa de horas. Mayor fuente de ROI.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663440" y="3895344"/>
            <a:ext cx="4114800" cy="713232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54880" y="39410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Beneficio — Cronograma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754880" y="42245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Días de cronograma ahorrados × Costo diario del proyecto (overhead, financiero, etc.).</a:t>
            </a:r>
            <a:endParaRPr lang="en-US" sz="105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en Contratos EPC / EPCM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Contrato EPC (Llave en Mano)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EPC, la constructabilidad es responsabilidad integral del contratista, que controla diseño y construcción. El propietario debe exigirla contractualmente.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propietario valida el PEP de constructabilidad del contratista y audita el programa mediante los entregables contractuales definidos.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Riesgo EPC: sin cláusulas explícitas, el contratista EPC puede reducir la inversión en constructabilidad para proteger su margen.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Contrato EPCM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EPCM, la constructabilidad requiere coordinación explícita entre el CM y los contratistas de construcción, ya que son entidades separadas.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CM/EPCM asume el rol de Champion corporativo de constructabilidad para el propietario, coordinando el programa entre todos los contratistas.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revisión de constructabilidad del EPCM sobre el diseño de sus propios ingenieros debe ser independiente para evitar sesgo de confirmación.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Advanced Work Packaging (AWP) y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AWP — La Materialización Operacional de la Constructabilidad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AWP es la metodología que implementa los principios de constructabilidad en las operaciones diarias de campo, organizando el trabajo en paquetes ejecutables.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EWP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Engineering Work Package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diseño se entrega organizado por frente de trabajo constructivo (no por disciplina), alineado con la secuencia de construcción — esto ES constructabilidad.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PWP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Procurement Work Package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procura se organiza para entregar materiales al momento y lugar exacto en que la cuadrilla los necesita — eliminando esperas y almacenamiento en campo.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2FA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IWP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Installation Work Package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paquete de la cuadrilla: planos, specs, materiales, permisos y herramientas. Si el IWP está incompleto, la cuadrilla para — eso es retrabajo evitable.</a:t>
            </a:r>
            <a:endParaRPr lang="en-US" sz="11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en Proyectos de Infraestructura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principios CII aplican directamente a carreteras, puentes, túneles, ferrocarriles y obras hidráulicas, adaptando la intensidad de las herramientas a las características del proyecto civil.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I-5 en infraestructura: puentes con vigas prefabricadas en planta industrial, módulos de túnel prefabricados (cut-and-cover), prefabricación de armadura.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I-6 en obras lineales: la distribución del frente de trabajo avanza linealmente. La logística de materiales y equipos sigue la progresión de la obra.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Concepto II-7 en infraestructura costera o de montaña: el diseño incorpora estrategias para trabajar en condiciones climáticas adversas específicas del sitio.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Workface Planning en carreteras: los IWPs se organizan por kilómetro y sistema (subrasante, drenaje, pavimento), respetando la secuencia natural de avance.</a:t>
            </a:r>
            <a:endParaRPr lang="en-US" sz="15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en Plantas Industriales y Process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Oil &amp; Gas / Petroquímica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Modularización offshore/onshore de topside y plataformas: el Concepto II-5 tiene su mayor expresión en proyectos offshore.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Tuberías: prefabricación de spools en talleres certificados; trabajo de soldadura en campo reducido a juntas de campo (field joints).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Izajes pesados: columnas de destilación, reactores y equipos de proceso requieren planificación de izaje de 18–24 meses de anticipación.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B0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Edificación Industrial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Estandarización estructural: marcos estándar repetidos en naves industriales reducen costo de fabricación y aceleran montaje.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Instalaciones MEP prefabricadas: módulos de plomería, eléctrico y HVAC fabricados en taller, instalados como unidades en campo.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Cronograma por nivel: la secuencia de vaciados de concreto y montaje estructural define el cronograma de todas las instalaciones.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Gestión del Conocimiento: Base de Datos LLDB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LLDB es el corazón del aprendizaje organizacional del programa. Sin ella, el conocimiento muere con el fin de cada proyecto.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0040" y="1572768"/>
            <a:ext cx="274320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572768"/>
            <a:ext cx="274320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57276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1. Captura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8056" y="207568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011680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 cierre de cada taller y revisión de constructabilidad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48056" y="2916936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52928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 cierre de cada fase del proyecto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" y="3758184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694176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Feedback sistemático del campo durante construcción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172968" y="1572768"/>
            <a:ext cx="274320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72968" y="1572768"/>
            <a:ext cx="274320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4408" y="157276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2. Clasificación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300984" y="207568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7288" y="2011680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Por concepto CII aplicable (I-1 a III-1)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00984" y="2916936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47288" y="2852928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Por tipo y tamaño de proyecto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300984" y="3758184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47288" y="3694176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Por fase del proyecto donde fue aprendida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025896" y="1572768"/>
            <a:ext cx="2743200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25896" y="1572768"/>
            <a:ext cx="2743200" cy="38404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17336" y="157276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3. Recuperación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53912" y="2075688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0216" y="2011680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 inicio de cada nuevo proyecto: búsqueda por concepto y tipo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2916936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0216" y="2852928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las revisiones de constructabilidad: referencia a lecciones aplicables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153912" y="3758184"/>
            <a:ext cx="91440" cy="91440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0216" y="3694176"/>
            <a:ext cx="2359152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Actualización de plantillas y checklists corporativos</a:t>
            </a:r>
            <a:endParaRPr lang="en-US" sz="11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111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Factores Críticos de Éxito del Programa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FCE 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Compromiso de la Alta Dirección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Sin patrocinio visible y sostenido del CEO/VP de proyectos, el programa no se sostiene más allá del primer proyecto piloto.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FCE 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Champion Dedicado y Capacitado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Un Champion de constructabilidad con tiempo completo, credibilidad técnica y habilidades de facilitación es el factor individual de mayor impacto.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304288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304288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24140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FCE 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241401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Inicio en Factibilidad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2852928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80% del ROI del programa viene de intervenciones en fases tempranas. Un programa que empieza en diseño detalle rinde menos del 20%.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304288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304288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24140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FCE 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241401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LLDB Activa y Utilizada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2852928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base de lecciones aprendidas que no se usa activamente en nuevos proyectos no genera valor. Uso sistemático en cada proyecto nuevo.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" y="3557016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9768" y="366674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FCE 5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60120" y="366674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Cuantificación del ROI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29768" y="4105656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programa que no mide su retorno pierde el patrocinio directivo en el segundo o tercer año. Medir y reportar el ROI es parte del programa.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434840" y="3557016"/>
            <a:ext cx="4023360" cy="11430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557016"/>
            <a:ext cx="4023360" cy="7315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366674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FCE 6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074920" y="366674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Equipo Integrado D&amp;C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544568" y="4105656"/>
            <a:ext cx="3803904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Diseñadores y constructores trabajando juntos físicamente, no en secuencia. Sin integración del equipo, los conceptos son teoría.</a:t>
            </a:r>
            <a:endParaRPr lang="en-US" sz="11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Errores Comunes en Programas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Errores de Implementación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62763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 1 — Constructabilidad tardía: iniciar el programa en diseño de detalle cuando el 80% del potencial de ahorro ya está perdido.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22199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 2 — Sin champion dedicado: asignar la responsabilidad como tarea adicional a quien ya tiene agenda completa.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281635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 3 — LLDB sin uso: capturar lecciones pero no consultarlas al inicio de nuevos proyectos.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4048" y="341071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 4 — Sin métricas: implementar el programa sin definir cómo se medirá el ROI desde el primer día.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81728" y="987552"/>
            <a:ext cx="18288" cy="3931920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515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Errores de Contenido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73168" y="162763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157276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 5 — Solo revisión de diseño: confundir las revisiones tardías de planos con la constructabilidad proactiva.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73168" y="222199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216712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 6 — Sin poder de decisión: el champion asiste a las reuniones de diseño pero no tiene autoridad para cuestionar decisiones.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73168" y="281635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76148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 7 — Talleres sin seguimiento: generar listas de ideas en talleres que nunca se implementan por falta de seguimiento formal.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73168" y="3410712"/>
            <a:ext cx="109728" cy="109728"/>
          </a:xfrm>
          <a:prstGeom prst="ellipse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355848"/>
            <a:ext cx="39867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Error 8 — Omitir pequeños proyectos: creer que la constructabilidad solo aplica a proyectos grandes, perdiendo retornos en proyectos medianos.</a:t>
            </a:r>
            <a:endParaRPr lang="en-US" sz="13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B7A2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y Sostenibilidad: Sinergia Natural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Un diseño constructible es también más sostenible: menos desperdicios, menos consumo de energía en campo, menos emisiones por correcciones y retrabajo.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Prefabricación = circularidad: los módulos prefabricados pueden desmontarse al final de su vida y sus componentes reciclarse, a diferencia del trabajo in-situ.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Reducción de residuos de construcción: la constructabilidad elimina las principales fuentes de residuos (cortes mal calculados, retrabajo, materiales no utilizados).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Construcción de bajo carbono: la reducción de horas-hombre y tiempo de construcción disminuye el consumo de energía de equipos, campamentos y logística.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 y sostenibilidad: la misma herramienta BIM que soporta la constructabilidad (clash detection, simulación) permite el análisis de ciclo de vida para certificaciones verdes.</a:t>
            </a:r>
            <a:endParaRPr lang="en-US" sz="15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B02020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Modelo de Madurez del Programa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 define 5 niveles de madurez para evaluar y mejorar progresivamente el programa corporativo.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1591056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508760"/>
            <a:ext cx="1591056" cy="475488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572768"/>
            <a:ext cx="15910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11480" y="2039112"/>
            <a:ext cx="14996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INICIAL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" y="2514600"/>
            <a:ext cx="14447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Sin programa formal. Constructabilidad aplicada ocasionalmente.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8912" y="4087368"/>
            <a:ext cx="1444752" cy="438912"/>
          </a:xfrm>
          <a:prstGeom prst="rect">
            <a:avLst/>
          </a:prstGeom>
          <a:solidFill>
            <a:srgbClr val="B02020"/>
          </a:solidFill>
          <a:ln w="12700">
            <a:solidFill>
              <a:srgbClr val="B020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4087368"/>
            <a:ext cx="1444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ROI: 0–3:1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48256" y="1508760"/>
            <a:ext cx="1591056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48256" y="1508760"/>
            <a:ext cx="1591056" cy="475488"/>
          </a:xfrm>
          <a:prstGeom prst="rect">
            <a:avLst/>
          </a:prstGeom>
          <a:solidFill>
            <a:srgbClr val="B05020"/>
          </a:solidFill>
          <a:ln w="12700">
            <a:solidFill>
              <a:srgbClr val="B050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48256" y="1572768"/>
            <a:ext cx="15910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093976" y="2039112"/>
            <a:ext cx="14996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EN DESARROLLO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21408" y="2514600"/>
            <a:ext cx="14447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Compromiso directivo. Algunos proyectos tienen PEP.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21408" y="4087368"/>
            <a:ext cx="1444752" cy="438912"/>
          </a:xfrm>
          <a:prstGeom prst="rect">
            <a:avLst/>
          </a:prstGeom>
          <a:solidFill>
            <a:srgbClr val="B05020"/>
          </a:solidFill>
          <a:ln w="12700">
            <a:solidFill>
              <a:srgbClr val="B05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21408" y="4087368"/>
            <a:ext cx="1444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ROI: 3–6:1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730752" y="1508760"/>
            <a:ext cx="1591056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30752" y="1508760"/>
            <a:ext cx="1591056" cy="475488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1572768"/>
            <a:ext cx="15910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N3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776472" y="2039112"/>
            <a:ext cx="14996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DEFINIDO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803904" y="2514600"/>
            <a:ext cx="14447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 documentado. Champion. LLDB operativa.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803904" y="4087368"/>
            <a:ext cx="1444752" cy="43891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03904" y="4087368"/>
            <a:ext cx="1444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ROI: 6–9:1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13248" y="1508760"/>
            <a:ext cx="1591056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13248" y="1508760"/>
            <a:ext cx="1591056" cy="475488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13248" y="1572768"/>
            <a:ext cx="15910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58968" y="2039112"/>
            <a:ext cx="14996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GESTIONADO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0" y="2514600"/>
            <a:ext cx="14447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 medido. Todos los proyectos con PEP. Lecciones reutilizadas.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0" y="4087368"/>
            <a:ext cx="1444752" cy="43891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4087368"/>
            <a:ext cx="1444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ROI: 9–12:1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095744" y="1508760"/>
            <a:ext cx="1591056" cy="320040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95744" y="1508760"/>
            <a:ext cx="1591056" cy="47548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95744" y="1572768"/>
            <a:ext cx="15910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N5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141464" y="2039112"/>
            <a:ext cx="14996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OPTIMIZADO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168896" y="2514600"/>
            <a:ext cx="14447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Cultura corporativa. Benchmarking externo. Mejora continua.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168896" y="4087368"/>
            <a:ext cx="1444752" cy="43891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68896" y="4087368"/>
            <a:ext cx="144475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ROI: 12–15:1</a:t>
            </a:r>
            <a:endParaRPr lang="en-US" sz="11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 Digital: BIM, Digital Twin e IA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BIM como Plataforma de Constructabilidad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modelo BIM integra todas las disciplinas, permitiendo detectar interferencias y revisar accesibilidad antes de ejecutar. Nivel 3 con 4D es el estándar mínimo para constructabilidad digital.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Digital Twin de Construcción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gemelo digital sincroniza el modelo virtual con el avance real de campo, permitiendo verificar en tiempo real si la construcción sigue la secuencia planeada.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IA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IA para Constructabilidad Predictiva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Algoritmos de ML entrenados con datos de proyectos anteriores predicen qué áreas del diseño generarán problemas constructivos con semanas de anticipación.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AR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AR/VR para Revisiones de Constructabilidad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talleres de constructabilidad en realidad virtual permiten que diseñadores "construyan" virtualmente su diseño, generando un feedback mucho más rico que la revisión de planos.</a:t>
            </a:r>
            <a:endParaRPr lang="en-US" sz="11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116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KPIs Avanzados del Programa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365760" y="1024128"/>
          <a:ext cx="45720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120640" y="1024128"/>
            <a:ext cx="3657600" cy="64008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212080" y="106070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ROI del Programa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212080" y="134416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Ahorro $ / Costo Programa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516368" y="1097280"/>
            <a:ext cx="1170432" cy="49377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16368" y="1097280"/>
            <a:ext cx="117043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&gt;10:1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120640" y="1737360"/>
            <a:ext cx="365760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12080" y="17739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Cobertura PEP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21208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% proyectos con PEP constructabilidad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16368" y="1810512"/>
            <a:ext cx="1170432" cy="49377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16368" y="1810512"/>
            <a:ext cx="117043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100%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20640" y="2450592"/>
            <a:ext cx="3657600" cy="64008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212080" y="24871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Reutilización LLDB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212080" y="27706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Lecciones aplicadas / Lecciones disponibles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516368" y="2523744"/>
            <a:ext cx="1170432" cy="49377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516368" y="2523744"/>
            <a:ext cx="117043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&gt;50%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120640" y="3163824"/>
            <a:ext cx="365760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212080" y="32004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Retrabajo evitado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212080" y="34838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hh retrabajo / hh totales de campo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516368" y="3236976"/>
            <a:ext cx="1170432" cy="49377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516368" y="3236976"/>
            <a:ext cx="117043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&lt;3%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120640" y="3877056"/>
            <a:ext cx="3657600" cy="640080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0" y="391363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Índice de talleres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5212080" y="4197096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Talleres realizados / Talleres planificados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516368" y="3950208"/>
            <a:ext cx="1170432" cy="493776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516368" y="3950208"/>
            <a:ext cx="117043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&gt;95%</a:t>
            </a:r>
            <a:endParaRPr lang="en-US" sz="105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117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Plan de Acción: Primeros 90 Días del Programa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24128"/>
            <a:ext cx="2743200" cy="3730752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24128"/>
            <a:ext cx="2743200" cy="43891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024128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Días 1–30: Diagnóstico y Compromiso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" y="155448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" y="1554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49961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Aplicar Tool 3 CII para evaluar estado actual del programa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" y="233172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2331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227685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Presentar caso de negocio a la dirección con datos de ROI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" y="310896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" y="3108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305409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Obtener presupuesto y mandato formal del programa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9768" y="388620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3886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383133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Designar Champion Corporativo de Constructabilidad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172968" y="1024128"/>
            <a:ext cx="2743200" cy="3730752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2968" y="1024128"/>
            <a:ext cx="2743200" cy="43891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4408" y="1024128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Días 31–60: Estructura y Herramientas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82696" y="155448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82696" y="1554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30168" y="149961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Instalar LLDB corporativa (puede ser simple base de datos)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82696" y="233172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82696" y="2331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30168" y="227685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Adaptar Matrices de Aplicación CII al contexto de la empresa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82696" y="310896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82696" y="3108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630168" y="305409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Identificar y capacitar al equipo en los 17 conceptos CII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82696" y="388620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82696" y="3886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30168" y="383133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Seleccionar proyecto piloto en fase de factibilidad o diseño básico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25896" y="1024128"/>
            <a:ext cx="2743200" cy="3730752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25896" y="1024128"/>
            <a:ext cx="2743200" cy="438912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17336" y="1024128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Días 61–90: Ejecución del Piloto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135624" y="155448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35624" y="1554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83096" y="149961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Desarrollar PEP de constructabilidad del proyecto piloto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135624" y="233172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35624" y="2331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483096" y="227685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Realizar primer taller integrado D&amp;C con Tool 2 CII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35624" y="310896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35624" y="3108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83096" y="305409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Documentar ideas generadas y crear plan de implementación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135624" y="3886200"/>
            <a:ext cx="274320" cy="27432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35624" y="3886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483096" y="3831336"/>
            <a:ext cx="2176272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Definir métricas y línea base para medir el ROI del piloto</a:t>
            </a:r>
            <a:endParaRPr lang="en-US" sz="11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118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Construcción vs. Constructabilidad: La Diferencia Clave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658368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51560"/>
            <a:ext cx="8138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"Construcción es hacer. Constructabilidad es pensar antes de hacer."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1773936"/>
            <a:ext cx="2194560" cy="457200"/>
          </a:xfrm>
          <a:prstGeom prst="rect">
            <a:avLst/>
          </a:prstGeom>
          <a:solidFill>
            <a:srgbClr val="0071E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1773936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1773936"/>
            <a:ext cx="3108960" cy="457200"/>
          </a:xfrm>
          <a:prstGeom prst="rect">
            <a:avLst/>
          </a:prstGeom>
          <a:solidFill>
            <a:srgbClr val="0071E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15184" y="177393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1773936"/>
            <a:ext cx="3108960" cy="457200"/>
          </a:xfrm>
          <a:prstGeom prst="rect">
            <a:avLst/>
          </a:prstGeom>
          <a:solidFill>
            <a:srgbClr val="0071E3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24144" y="177393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286000"/>
            <a:ext cx="21945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0624" y="22860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Momento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560320" y="2286000"/>
            <a:ext cx="31089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15184" y="2286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Cuando el diseño está terminado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0" y="2286000"/>
            <a:ext cx="31089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24144" y="2286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Desde la factibilidad hasta el arranque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65760" y="2798064"/>
            <a:ext cx="219456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" y="2798064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Naturaleza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560320" y="2798064"/>
            <a:ext cx="310896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15184" y="279806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Actividad de ejecución física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0" y="2798064"/>
            <a:ext cx="310896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24144" y="279806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Sistema de gestión del conocimiento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3310128"/>
            <a:ext cx="21945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" y="3310128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Objetivo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560320" y="3310128"/>
            <a:ext cx="31089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15184" y="33101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Construir según planos y specs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0" y="3310128"/>
            <a:ext cx="31089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24144" y="33101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Optimizar los planos y specs para construir mejor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3822192"/>
            <a:ext cx="219456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0624" y="3822192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Costo de un error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560320" y="3822192"/>
            <a:ext cx="310896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15184" y="382219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Alto: retrabajo, materiales, tiempo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669280" y="3822192"/>
            <a:ext cx="3108960" cy="457200"/>
          </a:xfrm>
          <a:prstGeom prst="rect">
            <a:avLst/>
          </a:prstGeom>
          <a:solidFill>
            <a:srgbClr val="F5F5F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24144" y="382219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Bajo: es una decisión de diseño no ejecutada aún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65760" y="4334256"/>
            <a:ext cx="21945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0624" y="4334256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Responsable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560320" y="4334256"/>
            <a:ext cx="31089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15184" y="433425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Gerente de Construcción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0" y="4334256"/>
            <a:ext cx="31089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24144" y="433425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Equipo integrado D&amp;C con Champion</a:t>
            </a:r>
            <a:endParaRPr lang="en-US" sz="10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119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Construyendo una Cultura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078992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0058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mayor barrera no es técnica — es cultural. CII SP 34-1 aborda el cambio cultural como parte integral del programa.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84048" y="1700784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62763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Cultura = comportamientos repetidos: la constructabilidad se convierte en cultura cuando es la NORMA en cada proyecto, no la excepción en proyectos "especiales".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84048" y="2322576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249424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Líderes como modelos: los directores que preguntan en cada revisión "¿cómo vamos a construir esto?" crean la cultura más rápido que cualquier política corporativa.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84048" y="2944368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871216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Celebrar los éxitos: reconocer públicamente a los equipos que generaron el mayor ROI de constructabilidad refuerza el comportamiento en toda la organización.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84048" y="3566160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930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Formación continua: incorporar los 17 conceptos CII en los programas de inducción y desarrollo profesional de todos los ingenieros de proyecto.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84048" y="4187952"/>
            <a:ext cx="128016" cy="128016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11480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Gradualidad: la cultura de constructabilidad se construye proyecto a proyecto. El primer piloto exitoso es la mejor herramienta de cambio cultural.</a:t>
            </a:r>
            <a:endParaRPr lang="en-US" sz="15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120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Checklist Ejecutivo: 20 Preguntas de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24128"/>
            <a:ext cx="4114800" cy="329184"/>
          </a:xfrm>
          <a:prstGeom prst="rect">
            <a:avLst/>
          </a:prstGeom>
          <a:solidFill>
            <a:srgbClr val="F5F5F7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2412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0241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04088" y="102412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¿Se realizó una revisión de constructabilidad en la fase de factibilidad?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1389888"/>
            <a:ext cx="4114800" cy="329184"/>
          </a:xfrm>
          <a:prstGeom prst="rect">
            <a:avLst/>
          </a:prstGeom>
          <a:solidFill>
            <a:srgbClr val="FFFFFF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38988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3898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04088" y="138988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¿El PEP del proyecto incluye un plan de constructabilidad?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1755648"/>
            <a:ext cx="4114800" cy="329184"/>
          </a:xfrm>
          <a:prstGeom prst="rect">
            <a:avLst/>
          </a:prstGeom>
          <a:solidFill>
            <a:srgbClr val="F5F5F7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75564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17556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4088" y="17556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¿Existe un Champion de constructabilidad designado para este proyecto?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121408"/>
            <a:ext cx="4114800" cy="329184"/>
          </a:xfrm>
          <a:prstGeom prst="rect">
            <a:avLst/>
          </a:prstGeom>
          <a:solidFill>
            <a:srgbClr val="FFFFFF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12140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1214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04088" y="212140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¿El cronograma fue desarrollado a partir de la lógica de construcción?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2487168"/>
            <a:ext cx="4114800" cy="329184"/>
          </a:xfrm>
          <a:prstGeom prst="rect">
            <a:avLst/>
          </a:prstGeom>
          <a:solidFill>
            <a:srgbClr val="F5F5F7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48716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4871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4088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¿Se evaluó la estrategia de modularización en diseño básico?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" y="2852928"/>
            <a:ext cx="4114800" cy="329184"/>
          </a:xfrm>
          <a:prstGeom prst="rect">
            <a:avLst/>
          </a:prstGeom>
          <a:solidFill>
            <a:srgbClr val="FFFFFF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" y="285292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28529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04088" y="285292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¿El layout del sitio fue revisado desde perspectiva constructiva?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0040" y="3218688"/>
            <a:ext cx="4114800" cy="329184"/>
          </a:xfrm>
          <a:prstGeom prst="rect">
            <a:avLst/>
          </a:prstGeom>
          <a:solidFill>
            <a:srgbClr val="F5F5F7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" y="321868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32186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7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04088" y="321868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¿Se realizó un taller integrado D&amp;C durante el diseño básico?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0040" y="3584448"/>
            <a:ext cx="4114800" cy="329184"/>
          </a:xfrm>
          <a:prstGeom prst="rect">
            <a:avLst/>
          </a:prstGeom>
          <a:solidFill>
            <a:srgbClr val="FFFFFF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0040" y="358444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35844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8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04088" y="35844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¿Los izajes pesados están identificados y planificados?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20040" y="3950208"/>
            <a:ext cx="4114800" cy="329184"/>
          </a:xfrm>
          <a:prstGeom prst="rect">
            <a:avLst/>
          </a:prstGeom>
          <a:solidFill>
            <a:srgbClr val="F5F5F7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0040" y="395020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9502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9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04088" y="395020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¿La accesibilidad de equipos de construcción fue verificada en el diseño?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20040" y="4315968"/>
            <a:ext cx="4114800" cy="329184"/>
          </a:xfrm>
          <a:prstGeom prst="rect">
            <a:avLst/>
          </a:prstGeom>
          <a:solidFill>
            <a:srgbClr val="FFFFFF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040" y="431596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43159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04088" y="43159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¿Los documentos de contrato incluyen cláusulas de constructabilidad?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617720" y="1024128"/>
            <a:ext cx="4114800" cy="329184"/>
          </a:xfrm>
          <a:prstGeom prst="rect">
            <a:avLst/>
          </a:prstGeom>
          <a:solidFill>
            <a:srgbClr val="F5F5F7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17720" y="102412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0" y="10241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001768" y="102412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¿Se evaluó la estandarización de elementos de diseño?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617720" y="1389888"/>
            <a:ext cx="4114800" cy="329184"/>
          </a:xfrm>
          <a:prstGeom prst="rect">
            <a:avLst/>
          </a:prstGeom>
          <a:solidFill>
            <a:srgbClr val="FFFFFF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17720" y="138988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13898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001768" y="138988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¿El equipo de diseño conoce los 17 conceptos CII?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617720" y="1755648"/>
            <a:ext cx="4114800" cy="329184"/>
          </a:xfrm>
          <a:prstGeom prst="rect">
            <a:avLst/>
          </a:prstGeom>
          <a:solidFill>
            <a:srgbClr val="F5F5F7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17720" y="175564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0" y="17556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001768" y="17556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¿Las condiciones climáticas del sitio están incorporadas en el diseño?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617720" y="2121408"/>
            <a:ext cx="4114800" cy="329184"/>
          </a:xfrm>
          <a:prstGeom prst="rect">
            <a:avLst/>
          </a:prstGeom>
          <a:solidFill>
            <a:srgbClr val="FFFFFF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617720" y="212140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0" y="21214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14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001768" y="212140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¿La seguridad de construcción fue considerada en el diseño (HAZID)?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617720" y="2487168"/>
            <a:ext cx="4114800" cy="329184"/>
          </a:xfrm>
          <a:prstGeom prst="rect">
            <a:avLst/>
          </a:prstGeom>
          <a:solidFill>
            <a:srgbClr val="F5F5F7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617720" y="248716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0" y="24871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01768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¿Se identificaron y planificaron los ítems de procura de largo plazo?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617720" y="2852928"/>
            <a:ext cx="4114800" cy="329184"/>
          </a:xfrm>
          <a:prstGeom prst="rect">
            <a:avLst/>
          </a:prstGeom>
          <a:solidFill>
            <a:srgbClr val="FFFFFF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617720" y="285292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0" y="28529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16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5001768" y="285292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¿El plan de AWP/Workface Planning está desarrollado?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4617720" y="3218688"/>
            <a:ext cx="4114800" cy="329184"/>
          </a:xfrm>
          <a:prstGeom prst="rect">
            <a:avLst/>
          </a:prstGeom>
          <a:solidFill>
            <a:srgbClr val="F5F5F7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617720" y="321868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0" y="32186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17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5001768" y="321868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¿Se están registrando lecciones aprendidas de constructabilidad?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4617720" y="3584448"/>
            <a:ext cx="4114800" cy="329184"/>
          </a:xfrm>
          <a:prstGeom prst="rect">
            <a:avLst/>
          </a:prstGeom>
          <a:solidFill>
            <a:srgbClr val="FFFFFF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17720" y="358444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0" y="35844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18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001768" y="35844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¿Las métricas del programa están definidas y se están midiendo?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4617720" y="3950208"/>
            <a:ext cx="4114800" cy="329184"/>
          </a:xfrm>
          <a:prstGeom prst="rect">
            <a:avLst/>
          </a:prstGeom>
          <a:solidFill>
            <a:srgbClr val="F5F5F7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617720" y="395020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0" y="39502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5001768" y="395020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¿El ROI del programa está siendo calculado para reportar a la dirección?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4617720" y="4315968"/>
            <a:ext cx="4114800" cy="329184"/>
          </a:xfrm>
          <a:prstGeom prst="rect">
            <a:avLst/>
          </a:prstGeom>
          <a:solidFill>
            <a:srgbClr val="FFFFFF"/>
          </a:solidFill>
          <a:ln w="2540">
            <a:solidFill>
              <a:srgbClr val="C7C7C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617720" y="4315968"/>
            <a:ext cx="329184" cy="32918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0" y="43159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20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001768" y="43159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¿Las lecciones de proyectos anteriores están siendo aplicadas en este proyecto?</a:t>
            </a:r>
            <a:endParaRPr lang="en-US" sz="95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121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Los 17 Conceptos CII: Síntesis Visual Completa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24128"/>
            <a:ext cx="1645920" cy="1170432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24128"/>
            <a:ext cx="164592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 — Planificación Conceptual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57400" y="1024128"/>
            <a:ext cx="875211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1024128"/>
            <a:ext cx="875211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12264" y="1097280"/>
            <a:ext cx="765483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I-1: PEP con Constructabilidad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024051" y="1024128"/>
            <a:ext cx="875211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24051" y="1024128"/>
            <a:ext cx="875211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78915" y="1097280"/>
            <a:ext cx="765483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I-2: Factibilidad Temprana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990703" y="1024128"/>
            <a:ext cx="875211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0703" y="1024128"/>
            <a:ext cx="875211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45567" y="1097280"/>
            <a:ext cx="765483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I-3: Estrategia de Contratación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57354" y="1024128"/>
            <a:ext cx="875211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57354" y="1024128"/>
            <a:ext cx="875211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12218" y="1097280"/>
            <a:ext cx="765483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I-4: Cronogramas Orientados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24006" y="1024128"/>
            <a:ext cx="875211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24006" y="1024128"/>
            <a:ext cx="875211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78870" y="1097280"/>
            <a:ext cx="765483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I-5: Métodos Mayores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0657" y="1024128"/>
            <a:ext cx="875211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90657" y="1024128"/>
            <a:ext cx="875211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5521" y="1097280"/>
            <a:ext cx="765483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I-6: Distribución de Sitio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857309" y="1024128"/>
            <a:ext cx="875211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57309" y="1024128"/>
            <a:ext cx="875211" cy="54864"/>
          </a:xfrm>
          <a:prstGeom prst="rect">
            <a:avLst/>
          </a:prstGeom>
          <a:solidFill>
            <a:srgbClr val="1B7A2F"/>
          </a:solidFill>
          <a:ln w="12700">
            <a:solidFill>
              <a:srgbClr val="1B7A2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12173" y="1097280"/>
            <a:ext cx="765483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I-7: Tecnologías TI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0040" y="2331720"/>
            <a:ext cx="1645920" cy="1170432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2331720"/>
            <a:ext cx="1645920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II — Diseño y Procura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057400" y="2331720"/>
            <a:ext cx="754380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57400" y="2331720"/>
            <a:ext cx="754380" cy="54864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12264" y="2404872"/>
            <a:ext cx="644652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II-1: Cronogramas D&amp;P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903220" y="2331720"/>
            <a:ext cx="754380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3220" y="2331720"/>
            <a:ext cx="754380" cy="54864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58084" y="2404872"/>
            <a:ext cx="644652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II-2: Config. del Diseño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749040" y="2331720"/>
            <a:ext cx="754380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49040" y="2331720"/>
            <a:ext cx="754380" cy="54864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03904" y="2404872"/>
            <a:ext cx="644652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II-3: Estandarización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94860" y="2331720"/>
            <a:ext cx="754380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94860" y="2331720"/>
            <a:ext cx="754380" cy="54864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49724" y="2404872"/>
            <a:ext cx="644652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II-4: Docs. de Contrato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40680" y="2331720"/>
            <a:ext cx="754380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40680" y="2331720"/>
            <a:ext cx="754380" cy="54864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95544" y="2404872"/>
            <a:ext cx="644652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II-5: Modularización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86500" y="2331720"/>
            <a:ext cx="754380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86500" y="2331720"/>
            <a:ext cx="754380" cy="54864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41364" y="2404872"/>
            <a:ext cx="644652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II-6: Accesibilidad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132320" y="2331720"/>
            <a:ext cx="754380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132320" y="2331720"/>
            <a:ext cx="754380" cy="54864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87184" y="2404872"/>
            <a:ext cx="644652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II-7: Clima Adverso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7978140" y="2331720"/>
            <a:ext cx="754380" cy="117043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978140" y="2331720"/>
            <a:ext cx="754380" cy="54864"/>
          </a:xfrm>
          <a:prstGeom prst="rect">
            <a:avLst/>
          </a:prstGeom>
          <a:solidFill>
            <a:srgbClr val="C84B00"/>
          </a:solidFill>
          <a:ln w="12700">
            <a:solidFill>
              <a:srgbClr val="C84B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033004" y="2404872"/>
            <a:ext cx="644652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II-8: Seguridad en Diseño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0040" y="3950208"/>
            <a:ext cx="1645920" cy="804672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0040" y="3950208"/>
            <a:ext cx="1645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FASE III — Operaciones de Campo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057400" y="3950208"/>
            <a:ext cx="3291840" cy="80467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057400" y="3950208"/>
            <a:ext cx="329184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12264" y="4023360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III-1: Métodos Innovadores de Gestión y Construcción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5440680" y="3950208"/>
            <a:ext cx="3291840" cy="804672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40680" y="3950208"/>
            <a:ext cx="3291840" cy="54864"/>
          </a:xfrm>
          <a:prstGeom prst="rect">
            <a:avLst/>
          </a:prstGeom>
          <a:solidFill>
            <a:srgbClr val="7B2FA0"/>
          </a:solidFill>
          <a:ln w="12700">
            <a:solidFill>
              <a:srgbClr val="7B2FA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495544" y="4023360"/>
            <a:ext cx="31821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III-2: Advanced Work Packaging (AWP) — Workface Planning</a:t>
            </a:r>
            <a:endParaRPr lang="en-US" sz="115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122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Evolución Histórica de la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constructabilidad formal nació de la necesidad de reducir el enorme gap entre el costo estimado y el costo real de construcción industrial.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468880"/>
            <a:ext cx="8412480" cy="36576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2377440"/>
            <a:ext cx="219456" cy="219456"/>
          </a:xfrm>
          <a:prstGeom prst="ellipse">
            <a:avLst/>
          </a:prstGeom>
          <a:solidFill>
            <a:srgbClr val="006C6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-274320" y="19659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1750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-411480" y="960120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Revolución Industrial: separación D&amp;C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457815" y="2377440"/>
            <a:ext cx="219456" cy="219456"/>
          </a:xfrm>
          <a:prstGeom prst="ellipse">
            <a:avLst/>
          </a:prstGeom>
          <a:solidFill>
            <a:srgbClr val="006C6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7463" y="28163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1960s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90303" y="3127248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Crisis de productividad en proyectos industriales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59598" y="2377440"/>
            <a:ext cx="219456" cy="219456"/>
          </a:xfrm>
          <a:prstGeom prst="ellipse">
            <a:avLst/>
          </a:prstGeom>
          <a:solidFill>
            <a:srgbClr val="006C6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29246" y="19659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1982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92086" y="960120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Fundación del CII en UT Austin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61381" y="2377440"/>
            <a:ext cx="219456" cy="219456"/>
          </a:xfrm>
          <a:prstGeom prst="ellipse">
            <a:avLst/>
          </a:prstGeom>
          <a:solidFill>
            <a:srgbClr val="006C6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1029" y="28163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1984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93869" y="3127248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Primera Task Force de Constructabilidad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63163" y="2377440"/>
            <a:ext cx="219456" cy="219456"/>
          </a:xfrm>
          <a:prstGeom prst="ellipse">
            <a:avLst/>
          </a:prstGeom>
          <a:solidFill>
            <a:srgbClr val="006C6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2811" y="19659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1986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95651" y="960120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Publication 3-1: primer documento formal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4946" y="2377440"/>
            <a:ext cx="219456" cy="219456"/>
          </a:xfrm>
          <a:prstGeom prst="ellipse">
            <a:avLst/>
          </a:prstGeom>
          <a:solidFill>
            <a:srgbClr val="006C6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34594" y="28163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1993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97434" y="3127248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SP 34-1: guía de implementación completa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466729" y="2377440"/>
            <a:ext cx="219456" cy="219456"/>
          </a:xfrm>
          <a:prstGeom prst="ellipse">
            <a:avLst/>
          </a:prstGeom>
          <a:solidFill>
            <a:srgbClr val="006C6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6377" y="19659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2006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99217" y="960120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2da edición: 17 conceptos + nuevos casos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668512" y="2377440"/>
            <a:ext cx="219456" cy="219456"/>
          </a:xfrm>
          <a:prstGeom prst="ellipse">
            <a:avLst/>
          </a:prstGeom>
          <a:solidFill>
            <a:srgbClr val="006C6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38160" y="28163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2020+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01000" y="3127248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Era digital: BIM, AWP, Digital Twin, IA</a:t>
            </a:r>
            <a:endParaRPr lang="en-US" sz="10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123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Preguntas Frecuentes sobre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24128"/>
            <a:ext cx="8412480" cy="69494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024128"/>
            <a:ext cx="411480" cy="69494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024128"/>
            <a:ext cx="411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41248" y="106070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¿Cuál es la diferencia entre constructabilidad y Value Engineering?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41248" y="1353312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→ La constructabilidad es proactiva (influye en el diseño desde el inicio); la VE es reactiva (analiza el diseño ya hecho para optimizarlo). Son complementarias.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1792224"/>
            <a:ext cx="8412480" cy="69494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1792224"/>
            <a:ext cx="411480" cy="69494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792224"/>
            <a:ext cx="411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41248" y="18288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¿Se aplica en proyectos pequeños (&lt;$10M)?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2121408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→ Sí, con intensidad proporcional. Los conceptos CII escalan. Proyectos pequeños aplican I-4, II-2, II-3 con herramientas simplificadas.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2560320"/>
            <a:ext cx="8412480" cy="69494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2560320"/>
            <a:ext cx="411480" cy="69494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560320"/>
            <a:ext cx="411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1248" y="259689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¿Cuánto cuesta implementar el programa?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41248" y="2889504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→ Típicamente 0.1–0.3% del costo total del proyecto. El ROI mínimo documentado es 3:1; el promedio es 10:1.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328416"/>
            <a:ext cx="8412480" cy="694944"/>
          </a:xfrm>
          <a:prstGeom prst="rect">
            <a:avLst/>
          </a:prstGeom>
          <a:solidFill>
            <a:srgbClr val="FFFFFF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3328416"/>
            <a:ext cx="411480" cy="69494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328416"/>
            <a:ext cx="411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41248" y="336499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¿Quién debe ser el Champion de Constructabilidad?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1248" y="3657600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→ Alguien con experiencia real de campo (ha construido), conocimiento de los conceptos CII y habilidades de facilitación para trabajar con equipos de diseño.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4096512"/>
            <a:ext cx="8412480" cy="694944"/>
          </a:xfrm>
          <a:prstGeom prst="rect">
            <a:avLst/>
          </a:prstGeom>
          <a:solidFill>
            <a:srgbClr val="F5F5F7"/>
          </a:solidFill>
          <a:ln w="3810">
            <a:solidFill>
              <a:srgbClr val="C7C7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4096512"/>
            <a:ext cx="411480" cy="694944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4114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41248" y="413308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¿En qué fase es más crítico aplicarla?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41248" y="4425696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→ Factibilidad y diseño básico. El 80% del ROI del programa viene de las fases tempranas. Iniciarlo en diseño detalle genera menos del 20% del beneficio posible.</a:t>
            </a:r>
            <a:endParaRPr lang="en-US" sz="105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124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Benchmarking: Promedio Industria vs. Mejores Prácticas CII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365760" y="1024128"/>
          <a:ext cx="84124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E8E8ED"/>
          </a:solidFill>
          <a:ln w="12700">
            <a:solidFill>
              <a:srgbClr val="E8E8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029200"/>
            <a:ext cx="7315200" cy="114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CONSTRUCTABILIDAD CII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125 / 126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65760" y="109728"/>
            <a:ext cx="841248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Formación y Certificaciones en Constructabilidad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8412480" cy="18288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01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 Learning (construction-institute.org)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Cursos certificados en constructabilidad, AWP y gestión de proyectos industriales. Certificación CII reconocida globalmente en la industria de capital projects.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34840" y="1051560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051560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16128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COAA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74920" y="116128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COAA — AWP Training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44568" y="1600200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Construction Owners Association of Alberta ofrece formación específica en AWP, la materialización operacional de los principios de constructabilidad.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9864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PMI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601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PMI-CP: Construction Professional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97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La certificación de project management especializada en construcción incluye módulos de constructabilidad basados en los estándares CII.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2898648"/>
            <a:ext cx="4023360" cy="1737360"/>
          </a:xfrm>
          <a:prstGeom prst="rect">
            <a:avLst/>
          </a:prstGeom>
          <a:solidFill>
            <a:srgbClr val="F5F5F7"/>
          </a:solidFill>
          <a:ln w="6350">
            <a:solidFill>
              <a:srgbClr val="C7C7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34840" y="2898648"/>
            <a:ext cx="4023360" cy="73152"/>
          </a:xfrm>
          <a:prstGeom prst="rect">
            <a:avLst/>
          </a:prstGeom>
          <a:solidFill>
            <a:srgbClr val="006C65"/>
          </a:solidFill>
          <a:ln w="12700">
            <a:solidFill>
              <a:srgbClr val="006C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00837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C65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CORP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74920" y="300837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Programa Corporativo Interno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44568" y="3447288"/>
            <a:ext cx="3803904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Desarrollar un programa de formación interno basado en los 17 conceptos CII y los proyectos de la empresa es la vía más efectiva de transferencia de conocimiento.</a:t>
            </a:r>
            <a:endParaRPr lang="en-US" sz="115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0"/>
            <a:ext cx="8595360" cy="64008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943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C1C1E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Constructabilidad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6276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1E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El Compromiso de Construir Mejor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7498080" cy="27432"/>
          </a:xfrm>
          <a:prstGeom prst="rect">
            <a:avLst/>
          </a:prstGeom>
          <a:solidFill>
            <a:srgbClr val="C7C7CC"/>
          </a:solidFill>
          <a:ln w="12700">
            <a:solidFill>
              <a:srgbClr val="C7C7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688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"La constructabilidad no es una técnica — es una cultura. La cultura de diseñar para quien va a construir, de construir para quien va a operar, y de aprender para quien viene después."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767328"/>
            <a:ext cx="1280160" cy="640080"/>
          </a:xfrm>
          <a:prstGeom prst="rect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767328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CII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286000" y="3858768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COSAPI · Programa de Constructabilidad CII · Basado en SP 34-1 y publicaciones del Construction Industry Institute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90118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C7C7C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126 / 126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2026-10-01T15:13:29Z</dcterms:created>
  <dcterms:modified xsi:type="dcterms:W3CDTF">2026-10-01T15:13:29Z</dcterms:modified>
</cp:coreProperties>
</file>