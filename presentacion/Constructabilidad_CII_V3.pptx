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3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4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charts/chart5.xml" ContentType="application/vnd.openxmlformats-officedocument.drawingml.chart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charts/chart6.xml" ContentType="application/vnd.openxmlformats-officedocument.drawingml.chart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charts/chart7.xml" ContentType="application/vnd.openxmlformats-officedocument.drawingml.chart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charts/chart8.xml" ContentType="application/vnd.openxmlformats-officedocument.drawingml.chart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</p:sldIdLst>
  <p:notesMasterIdLst>
    <p:notesMasterId r:id="rId1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notesMaster" Target="notesMasters/notesMaster1.xml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Sobrecosto promedio (%)</c:v>
                </c:pt>
              </c:strCache>
            </c:strRef>
          </c:tx>
          <c:spPr>
            <a:solidFill>
              <a:srgbClr val="0071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 programa</c:v>
                  </c:pt>
                  <c:pt idx="1">
                    <c:v>Nivel básico</c:v>
                  </c:pt>
                  <c:pt idx="2">
                    <c:v>Nivel avanzado</c:v>
                  </c:pt>
                  <c:pt idx="3">
                    <c:v>Clase mundial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Sobreplazo promedio (%)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 programa</c:v>
                  </c:pt>
                  <c:pt idx="1">
                    <c:v>Nivel básico</c:v>
                  </c:pt>
                  <c:pt idx="2">
                    <c:v>Nivel avanzado</c:v>
                  </c:pt>
                  <c:pt idx="3">
                    <c:v>Clase mundial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14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(sin AWP) %</c:v>
                </c:pt>
              </c:strCache>
            </c:strRef>
          </c:tx>
          <c:spPr>
            <a:solidFill>
              <a:srgbClr val="006C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IWPs ejecutables</c:v>
                  </c:pt>
                  <c:pt idx="1">
                    <c:v>Restricciones resueltas</c:v>
                  </c:pt>
                  <c:pt idx="2">
                    <c:v>Productividad laboral</c:v>
                  </c:pt>
                  <c:pt idx="3">
                    <c:v>Cero detenciones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AWP %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IWPs ejecutables</c:v>
                  </c:pt>
                  <c:pt idx="1">
                    <c:v>Restricciones resueltas</c:v>
                  </c:pt>
                  <c:pt idx="2">
                    <c:v>Productividad laboral</c:v>
                  </c:pt>
                  <c:pt idx="3">
                    <c:v>Cero detenciones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90</c:v>
                </c:pt>
                <c:pt idx="2">
                  <c:v>85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Sobrecosto promedio %</c:v>
                </c:pt>
              </c:strCache>
            </c:strRef>
          </c:tx>
          <c:spPr>
            <a:solidFill>
              <a:srgbClr val="1B7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0-200 (Excelente)</c:v>
                  </c:pt>
                  <c:pt idx="1">
                    <c:v>201-400 (Bueno)</c:v>
                  </c:pt>
                  <c:pt idx="2">
                    <c:v>401-600 (Regular)</c:v>
                  </c:pt>
                  <c:pt idx="3">
                    <c:v>601+ (Deficiente)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11</c:v>
                </c:pt>
                <c:pt idx="2">
                  <c:v>22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Sobreplazo promedio %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0-200 (Excelente)</c:v>
                  </c:pt>
                  <c:pt idx="1">
                    <c:v>201-400 (Bueno)</c:v>
                  </c:pt>
                  <c:pt idx="2">
                    <c:v>401-600 (Regular)</c:v>
                  </c:pt>
                  <c:pt idx="3">
                    <c:v>601+ (Deficiente)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18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Costo acumulado proyecto</c:v>
                </c:pt>
              </c:strCache>
            </c:strRef>
          </c:tx>
          <c:spPr>
            <a:solidFill>
              <a:srgbClr val="1B7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FEL-1</c:v>
                  </c:pt>
                  <c:pt idx="1">
                    <c:v>FEL-2</c:v>
                  </c:pt>
                  <c:pt idx="2">
                    <c:v>FEL-3</c:v>
                  </c:pt>
                  <c:pt idx="3">
                    <c:v>Ingeniería Detallada</c:v>
                  </c:pt>
                  <c:pt idx="4">
                    <c:v>Construcción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12</c:v>
                </c:pt>
                <c:pt idx="3">
                  <c:v>30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Influencia sobre costo final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FEL-1</c:v>
                  </c:pt>
                  <c:pt idx="1">
                    <c:v>FEL-2</c:v>
                  </c:pt>
                  <c:pt idx="2">
                    <c:v>FEL-3</c:v>
                  </c:pt>
                  <c:pt idx="3">
                    <c:v>Ingeniería Detallada</c:v>
                  </c:pt>
                  <c:pt idx="4">
                    <c:v>Construcción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65</c:v>
                </c:pt>
                <c:pt idx="2">
                  <c:v>45</c:v>
                </c:pt>
                <c:pt idx="3">
                  <c:v>25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programa de constructabilidad (%)</c:v>
                </c:pt>
              </c:strCache>
            </c:strRef>
          </c:tx>
          <c:spPr>
            <a:solidFill>
              <a:srgbClr val="B02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Sobrecosto</c:v>
                  </c:pt>
                  <c:pt idx="1">
                    <c:v>Sobreplazo</c:v>
                  </c:pt>
                  <c:pt idx="2">
                    <c:v>Retrabajo</c:v>
                  </c:pt>
                  <c:pt idx="3">
                    <c:v>RFIs generados</c:v>
                  </c:pt>
                  <c:pt idx="4">
                    <c:v>Accidentabilidad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6.5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programa avanzado (%)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Sobrecosto</c:v>
                  </c:pt>
                  <c:pt idx="1">
                    <c:v>Sobreplazo</c:v>
                  </c:pt>
                  <c:pt idx="2">
                    <c:v>Retrabajo</c:v>
                  </c:pt>
                  <c:pt idx="3">
                    <c:v>RFIs generados</c:v>
                  </c:pt>
                  <c:pt idx="4">
                    <c:v>Accidentabilidad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1.8</c:v>
                </c:pt>
                <c:pt idx="3">
                  <c:v>58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COSAPI Actual (1-5)</c:v>
                </c:pt>
              </c:strCache>
            </c:strRef>
          </c:tx>
          <c:spPr>
            <a:solidFill>
              <a:srgbClr val="B02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FEL Quality</c:v>
                  </c:pt>
                  <c:pt idx="1">
                    <c:v>AWP Madurez</c:v>
                  </c:pt>
                  <c:pt idx="2">
                    <c:v>Constructab. Reviews</c:v>
                  </c:pt>
                  <c:pt idx="3">
                    <c:v>BIM Adoption</c:v>
                  </c:pt>
                  <c:pt idx="4">
                    <c:v>KM System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Clase Mundial (1-5)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FEL Quality</c:v>
                  </c:pt>
                  <c:pt idx="1">
                    <c:v>AWP Madurez</c:v>
                  </c:pt>
                  <c:pt idx="2">
                    <c:v>Constructab. Reviews</c:v>
                  </c:pt>
                  <c:pt idx="3">
                    <c:v>BIM Adoption</c:v>
                  </c:pt>
                  <c:pt idx="4">
                    <c:v>KM System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3 años (1-5)</c:v>
                </c:pt>
              </c:strCache>
            </c:strRef>
          </c:tx>
          <c:spPr>
            <a:solidFill>
              <a:srgbClr val="6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FEL Quality</c:v>
                  </c:pt>
                  <c:pt idx="1">
                    <c:v>AWP Madurez</c:v>
                  </c:pt>
                  <c:pt idx="2">
                    <c:v>Constructab. Reviews</c:v>
                  </c:pt>
                  <c:pt idx="3">
                    <c:v>BIM Adoption</c:v>
                  </c:pt>
                  <c:pt idx="4">
                    <c:v>KM System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3.5</c:v>
                </c:pt>
                <c:pt idx="1">
                  <c:v>3</c:v>
                </c:pt>
                <c:pt idx="2">
                  <c:v>3.5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 base actual (estimado)</c:v>
                </c:pt>
              </c:strCache>
            </c:strRef>
          </c:tx>
          <c:spPr>
            <a:solidFill>
              <a:srgbClr val="2C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RFI Rate</c:v>
                  </c:pt>
                  <c:pt idx="1">
                    <c:v>Retrabajo %</c:v>
                  </c:pt>
                  <c:pt idx="2">
                    <c:v>Cost Growth %</c:v>
                  </c:pt>
                  <c:pt idx="3">
                    <c:v>Schedule Growth 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</c:v>
                </c:pt>
                <c:pt idx="2">
                  <c:v>14</c:v>
                </c:pt>
                <c:pt idx="3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fin Año 1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RFI Rate</c:v>
                  </c:pt>
                  <c:pt idx="1">
                    <c:v>Retrabajo %</c:v>
                  </c:pt>
                  <c:pt idx="2">
                    <c:v>Cost Growth %</c:v>
                  </c:pt>
                  <c:pt idx="3">
                    <c:v>Schedule Growth 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4.5</c:v>
                </c:pt>
                <c:pt idx="2">
                  <c:v>9</c:v>
                </c:pt>
                <c:pt idx="3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fin Año 3 (clase mundial)</c:v>
                </c:pt>
              </c:strCache>
            </c:strRef>
          </c:tx>
          <c:spPr>
            <a:solidFill>
              <a:srgbClr val="6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RFI Rate</c:v>
                  </c:pt>
                  <c:pt idx="1">
                    <c:v>Retrabajo %</c:v>
                  </c:pt>
                  <c:pt idx="2">
                    <c:v>Cost Growth %</c:v>
                  </c:pt>
                  <c:pt idx="3">
                    <c:v>Schedule Growth 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Publicaciones disponibles</c:v>
                </c:pt>
              </c:strCache>
            </c:strRef>
          </c:tx>
          <c:spPr>
            <a:solidFill>
              <a:srgbClr val="2C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Constructabilidad</c:v>
                  </c:pt>
                  <c:pt idx="1">
                    <c:v>AWP</c:v>
                  </c:pt>
                  <c:pt idx="2">
                    <c:v>FEL/PDRI</c:v>
                  </c:pt>
                  <c:pt idx="3">
                    <c:v>Lean/Productividad</c:v>
                  </c:pt>
                  <c:pt idx="4">
                    <c:v>Benchmarking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28</c:v>
                </c:pt>
                <c:pt idx="2">
                  <c:v>32</c:v>
                </c:pt>
                <c:pt idx="3">
                  <c:v>38</c:v>
                </c:pt>
                <c:pt idx="4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Relevancia alta (1-5)</c:v>
                </c:pt>
              </c:strCache>
            </c:strRef>
          </c:tx>
          <c:spPr>
            <a:solidFill>
              <a:srgbClr val="C7C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Constructabilidad</c:v>
                  </c:pt>
                  <c:pt idx="1">
                    <c:v>AWP</c:v>
                  </c:pt>
                  <c:pt idx="2">
                    <c:v>FEL/PDRI</c:v>
                  </c:pt>
                  <c:pt idx="3">
                    <c:v>Lean/Productividad</c:v>
                  </c:pt>
                  <c:pt idx="4">
                    <c:v>Benchmarking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Prácticas CII para la Industria de la Construcción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Industry Institute (CII)  ·  Versión 3  · 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1247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Constructabilidad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Definición, principios, beneficios y ROI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36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664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 Packaging (AWP)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8745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EWP, IWP, Work Face Planning, CWA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11480" cy="411480"/>
          </a:xfrm>
          <a:prstGeom prst="roundRect">
            <a:avLst>
              <a:gd name="adj" fmla="val 8889"/>
            </a:avLst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203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Loading y PDRI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4140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 fases, PDRI, VIPs, estimaciones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1576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743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Tecnologías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295351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BIM, Lean, Modularización, Digital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55264"/>
            <a:ext cx="411480" cy="411480"/>
          </a:xfrm>
          <a:prstGeom prst="roundRect">
            <a:avLst>
              <a:gd name="adj" fmla="val 8889"/>
            </a:avLst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2826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Organización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49300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IPD, KM, benchmarking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11480" cy="411480"/>
          </a:xfrm>
          <a:prstGeom prst="roundRect">
            <a:avLst>
              <a:gd name="adj" fmla="val 8889"/>
            </a:avLst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38221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Estudio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4032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Minería, petroquímica, infraestructura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411480" cy="411480"/>
          </a:xfrm>
          <a:prstGeom prst="roundRect">
            <a:avLst>
              <a:gd name="adj" fmla="val 8889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34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43616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y Acción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45720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KPIs, próximos pasos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Conceptos, principios y valor demostrado según CII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Constructabilidad?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Optimización del uso del conocimiento y experiencia constructiva en las fases de planificación, diseño, procura y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Disciplina formal desarrollada por el Construction Industry Institute (CII) desde 1986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Reconoce que las decisiones tomadas en etapas tempranas impactan significativamente el costo y plazo de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Integra la perspectiva del constructor desde el inicio del ciclo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Previene problemas antes de que ocurran, reduciendo retrabajos y desperdicio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 una práctica de PREVENCIÓN, no de corrección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Su implementación es un proceso sistemático y repetible, no un esfuerzo puntual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Oficial CII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"La óptima integración del conocimiento y experiencia de construcción en la planificación, ingeniería, adquisición y operaciones de campo de un proyecto para alcanzar los objetivos generales del proyecto"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                  — CII Publication 3-1, 1993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Elementos clave de la definición: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y experiencia constructiva aplicados sistemáticamente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Integración en TODAS las fases, no solo en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Orientación al logro de objetivos del proyecto (costo, plazo, calidad, seguridad)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 es intuición sino un proceso estructurado basado en evidencia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y Evolución de la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1983 – Business Roundtable identifica la falta de integración entre diseño y construcción como causa principal de sobrecostos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1986 – CII formaliza el concepto y publica las primeras guías de implementación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1993 – CII Publication 3-1 consolida los 12 principios fundamentales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1990s – Expansión global: Australia, Reino Unido, Países Bajos adoptan el marco CII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2000s – Integración con BIM, Lean Construction y herramientas digitales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2010s – Advanced Work Packaging (AWP) emerge como evolución práctica de la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2020s – Digitalización, IA y gemelos digitales amplían el alcance de la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Más de 40 años de investigación acumulada en proyectos de más de USD 500 mil millones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12 Principios de Constructabilidad CII (1–4)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1 – Compromiso de Alta Dirección: Los programas deben tener soporte total de la alta gerencia; sin ello, fracasan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2 – Orientación al Propietario: El propietario del proyecto debe impulsar activamente el programa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3 – Participación Temprana del Constructor: La experiencia constructiva debe incorporarse desde las etapas conceptuales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4 – Equipo con Experiencia Constructiva: El equipo de proyecto debe incluir personas con experiencia real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Estos 4 primeros principios establecen los FUNDAMENTOS ORGANIZACIONALES del programa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ellos, los principios técnicos no pueden implementarse efectivamente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12 Principios de Constructabilidad CII (5–8)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5 – Estructura Orientada a la Construcción: El equipo debe organizarse para facilitar la comunicación constructor-diseñador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6 – Transferencia de Tecnología: El conocimiento debe transferirse sistemáticamente entre proyectos y disciplinas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7 – Planificación Avanzada para Eficiencia Constructiva: La planificación debe anticipar necesidades operativas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8 – Conocimiento Constructivo en Diseño: Ingenieros de diseño deben comprender las implicaciones constructivas de sus decisiones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Estos principios abordan el PROCESO de trabajo y la transferencia de conocimiento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Principio 6 es crítico: sin transferencia sistemática, el conocimiento se pierde con la rotación de personal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12 Principios de Constructabilidad CII (9–12)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9 – Avance del Diseño en Etapas Tempranas: El diseño debe completarse en mayor grado antes de iniciar la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10 – Cronogramas Sensibles a la Construcción: Los programas deben reflejar la lógica y restricciones reales de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11 – Tecnologías de Información Avanzadas: Las TICs amplifican la efectividad de la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12 – Retroalimentación y Aprendizaje Organizacional: El programa debe generar lecciones aprendidas que mejoren futuros proyectos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Principios 9 y 10 son los más frecuentemente violados en la industria latinoamericana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Principio 12 es el que más diferencia a organizaciones líderes de las rezagadas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Demostrados – Datos CII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promedio de costo total del proyecto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RT-3, 2002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del plazo de ejecución del proyecto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Benchmarking, 2010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por cada USD 1 invertido en el programa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Publication 34-1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proyectos con programa activo mejoran KPIs clave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Research, 2018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de Constructabilidad – Comparativa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Críticos de Éxito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Organizacionales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Compromiso de la alta dirección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Propietario activamente involucrado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Equipo con experiencia en campo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Estructura organizacional adecuada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Sistema de gestión del conocimiento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Proceso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Participación del constructor desde FEL-1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Revisiones formales de constructabilidad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Base de datos de lecciones aprendidas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y seguimiento sistemático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Integración con planificación AWP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140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Barreras Comunes de Implementación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"No hay tiempo" – La presión por iniciar construcción rápido impide el trabajo previo necesario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"El constructor llegará después" – Mentalidad tradicional que separa diseño de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"Ya lo hacemos de manera informal" – Sin sistema formal, el conocimiento no se capitaliza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"No hay presupuesto" – El costo del programa es 0.1–0.5% del proyecto; los beneficios 6–10%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"Los contratistas no colaboran" – Problema contractual, no técnico; requiere alineación temprana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Inercia organizacional – Cambio cultural es la barrera más difícil de superar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Solución: demostrar ROI con datos reales del primer proyecto piloto implementado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140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Entre Diseño y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80% de los problemas en obra tienen su origen en decisiones de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Diseñadores optimizan para función técnica; constructores optimizan para eficiencia de ejecución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constructabilidad, los planos son técnicamente correctos pero difíciles de construir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Problemas típicos de la brecha: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Secuencias de instalación físicamente imposibles o muy ineficientes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Accesos insuficientes para grúas y equipos de montaje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Especificaciones de materiales sin considerar disponibilidad local o plazos de procura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Diseño que ignora tolerancias constructivas reales de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cierra esta brecha de manera sistemática y documentada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140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de la Integración Temprana del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Influencia sobre el costo: 80% de las oportunidades de ahorro se define en el 20% inicial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Curva de Macleamy: el costo de cambiar decisiones se dispara exponencialmente conforme avanza 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Por qué en FEL-1 y FEL-2: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FEL-1: selección de proceso, ubicación, layout general – alto impacto, bajo costo de cambio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FEL-2: definición de módulos, estrategia de construcción, secuencia de fases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FEL-3: detalles constructivos, especificaciones de materiales, accesos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Diseño Detallado: verificación y ajustes menores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Construcción: solo gestión de cambios inevitables (muy costosos)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Cada dólar invertido en constructabilidad en FEL-1 vale USD 22 en construcción (CII)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140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Conocimiento en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conocimiento de constructabilidad reside en personas – se pierde con la rotación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Componentes de un sistema formal: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Base de datos de lecciones aprendidas categorizada por disciplina y tipo de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Biblioteca de revisiones de constructabilidad históricas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Checklists actualizados basados en experiencia real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Registro de "never-dos": decisiones que causaron problemas recurrentes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 comunes: SharePoint, Procore, sistemas internos de gestión de proyectos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frecuencia de revisión define la madurez: mensual (básico) vs. continua (clase mundial)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Meta: convertir el conocimiento tácito individual en conocimiento explícito organizacional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140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Clave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de implementación del programa: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% de revisiones de constructabilidad completadas vs. planificadas por etapa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Número de modificaciones de diseño originadas en campo (target: reducción 30%)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Tiempo promedio de revisión por lámina o paquete de trabajo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de impacto en el proyecto: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Índice de desempeño de costo (CPI) comparado con benchmark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Índice de desempeño de plazo (SPI)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Horas de retrabajo como % del total de horas construidas (target: &lt;3%)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Número de órdenes de cambio atribuidas a problemas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Meta: reducir NCR (Non-Conformance Reports) en 40% vs. proyectos sin programa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140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Organizacional: El Fundamento Invisible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requiere cambio cultural antes que cambio de procesos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Cultura necesaria: colaboración diseñador-constructor vs. adversarial tradicional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contrato define la relación; el liderazgo define la cultura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Señales de cultura de constructabilidad madura: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Constructores son invitados (no tolerados) en reuniones de diseño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Los comentarios de campo son bienvenidos y documentados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Los errores se documentan sin culpas para aprender de ellos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La gerencia de proyecto protege el tiempo dedicado a revisiones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Señal de alerta: equipo de diseño que dice "el constructor que se adapte a nuestro diseño"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140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del Liderazgo Ejecutivo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soporte ejecutivo visible y activo, el programa de constructabilidad fracasa (CII Principio 1)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Responsabilidades del liderazgo ejecutivo: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Definir constructabilidad como prioridad estratégica en todos los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Asignar recursos presupuestarios específicos (mínimo 0.3% del costo del proyecto)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Revisar métricas de constructabilidad en cada reunión de avance de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Celebrar éxitos y reconocer al equipo cuando se alcanzan metas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Proteger el cronograma de revisiones aunque haya presión por avanzar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CEO/VP de proyectos debe poder responder: "¿Cuántos RFIs evitamos gracias a constructabilidad?"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mejores proyectos del mundo tienen un "campeón" ejecutivo de constructabilidad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140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de No Implementar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Sobrecosto promedio en proyectos sin programa de constructabilidad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2018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costo final es retrabajo evitable con revisiones previas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Construction Institute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RFIs en obra tienen origen en problemas de constructabilidad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Global, 2020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fracaso en proyectos sin FEL adecuado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Research 2019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140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6C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(AWP)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 operativa para implementar la constructabilidad en campo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140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Advanced Work Packaging (AWP)?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es la metodología operativa que traduce los principios de constructabilidad en acciones concretas de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Desarrollado por CII y Construction Owner Association of Alberta (COAA) en la industria de oil &amp; gas canadiense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fundamental: comenzar con el fin en mente – diseñar el proceso pensando en cómo se va a construir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organiza todo el trabajo del proyecto en paquetes discretos, secuenciados y ejecutables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Cada paquete tiene un responsible único, recursos definidos, duración acotada y entregables claros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Reduce las "horas de espera" en campo – el tiempo que los trabajadores esperan materiales, información o acceso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Proyectos que implementan AWP completo reducen en promedio 25% las horas de espera en campo (CII RT-272)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140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Work Packages en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1 – Path of Construction (PoC): Secuencia macro de áreas de construcción del proyecto completo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2 – Construction Work Areas (CWA): Áreas geográficas manejables asignadas a un superintendent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3 – Construction Work Packages (CWP): Paquetes por disciplina dentro de un CWA (civil, mecánico, eléctrico)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4 – Installation Work Packages (IWP): Paquetes de trabajo que un cuadrilla ejecuta en 1-2 semanas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paralelo – Engineering Work Packages (EWP): Paquetes de ingeniería alineados con CWPs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paralelo – Procurement Work Packages (PWP): Paquetes de procura alineados con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alineación EWP→CWP→IWP es la innovación clave de AWP: ingeniería, procura y construcción sincronizadas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140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Work Packages (EWP)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EWP es un paquete de ingeniería diseñado específicamente para soportar un Construction Work Package (CWP)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Contiene toda la documentación técnica necesaria para construir un CWP completo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Componentes de un EWP completo: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Planos y diagramas específicos del área de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Especificaciones técnicas aplicables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Lista de materiales y equipos (Material Take-Off)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Hojas de datos de equipos y materiales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Normas y estándares aplicables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EWP vs. Entrega Tradicional: tradicional entrega por sistema; AWP entrega por área de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Beneficio: el constructor recibe toda la información de un área en lugar de fragmentos de múltiples disciplinas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140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Work Packages (IWP) – El Corazón del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IWP es la unidad básica de planificación y ejecución de campo en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Representa el trabajo que una cuadrilla ejecuta en 1 a 2 semanas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Contenido mínimo de un IWP ejecutable: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Alcance específico: qué se instala, exactamente dónde y en qué secuencia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Lista de materiales confirmados como disponibles en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Planos y detalles de instalación del paquete específico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Procedimientos de trabajo e instrumentos de seguridad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Requisitos de equipos y herramientas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Constraints identificados y resueltos antes de liberar el IWP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IWP liberado significa: "todo está listo para que la cuadrilla comience sin interrupciones"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Meta de calidad: 85% de IWPs deben ejecutarse sin detenciones (benchmark clase mundial)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140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Face Planning (WFP)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WFP es el proceso de planificación colaborativa de campo que precede la ejecución de cada IWP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 ejecuta el Field Engineer o Construction Supervisor en conjunto con el foreman de la cuadrilla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Momento: 2-4 semanas antes del inicio del IWP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Actividades en una sesión WFP: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visual del área con el equipo de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Confirmación de disponibilidad de materiales, herramientas y documentación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Identificación y resolución de constraints físicos y de información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Definición de la secuencia óptima de instalación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Compromisos de producción de la cuadrilla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WFP es la última línea de defensa antes de que la cuadrilla toque hierro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Estudios CII: 1 hora de WFP elimina 4 horas de retrasos en campo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140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Work Areas (CWA)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Una CWA es una zona geográfica discreta del proyecto asignada a un Superintendent como responsable único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Criterios para definir una CWA: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Tamaño manejable: 1 Superintendent puede supervisar efectivamente toda el área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Límites físicos claros: edificios, calles, coordenadas geográficas definidas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Coherencia lógica: actividades relacionadas en secuencia dentro de la misma área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Entregables discretos: un CWA completo representa un hito medible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Path of Construction (PoC): secuencia en que los CWAs se construyen y entregan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PoC guía la secuencia de ingeniería y procura para cada CWA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Errores comunes: CWAs demasiado grandes (difíciles de gestionar) o sin coherencia funcional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140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Integrado de Trabajo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006C65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PoC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of Construction aprobado por Owner y Constructor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CWAs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 el proyecto en áreas manejables con responsable único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EWPs / CWPs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paquetes de ingeniería con áreas de construcción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IWPs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de 1-2 semanas para cada cuadrilla, con constraints resueltos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&amp; Field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Face Planning y ejecución sin interrupciones en campo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140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AWP vs. Método de Construcción Tradicional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Tradicional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Ingeniería entrega planos por sistema (piping, estructural, eléctrico)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Constructor recibe paquetes incompletos y espera lo que falta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Materiales llegan sin coordinación con secuencia constructiva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Frecuentes paradas de cuadrillas por falta de información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Retrabajo descubierto recién en campo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AWP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Ingeniería entrega EWPs alineados con áreas de construcción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Constructor recibe todo lo necesario para un área completa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Materiales en campo antes de liberar el IWP correspondiente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Cuadrillas trabajan sin interrupciones: IWP liberado = listo para ejecutar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Problemas detectados semanas antes de que la cuadrilla llegue al área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140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Documentados de AWP (CII RT-272)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horas de espera improductivas en campo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2012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en productividad de construcción (instalaciones)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COAA/CII 2015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costos generales del proyecto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Global 2018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en días de sobreplazo respecto a proyectos similares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Fluor, Bechtel 2019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140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Responsabilidades en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Manager (Owner-side): responsable del sistema AWP para todo el proyecto; define estándares y verifica cumplimiento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Coordinator (Contractor-side): implementa AWP en campo; crea y gestiona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Field Engineer: prepara IWPs técnicos con foco en constructabilidad; conduce WFP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Superintendent: responsible del CWA; aprueba IWPs antes de su ejecución; reporta constraints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Work Package Engineer: especialista en crear EWPs alineados con la secuencia constructiva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Procurement Coordinator: asegura que materiales estén disponibles según secuencia de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BIM Coordinator: provee modelos 3D y 4D que soportan la planificación de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Foreman: ejecuta en campo; reporta avance diario y problemas por IWP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140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of Construction: La Columna Vertebral de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Path of Construction (PoC) es la secuencia macro aprobada en que se construirán y entregarán los CWAs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 define en la fase FEL-3 con inputs del constructor, owner y equipo de ingeniería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Criterios para definir el PoC: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Dependencias tecnológicas: qué área debe completarse antes para que otra pueda iniciar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Hitos contractuales de entrega parcial o puesta en marcha por sistemas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Lógica de flujo de materiales y accesos temporales en el sitio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Disponibilidad de recursos: equipos de izaje, cuadrillas especializadas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PoC guía la secuencia de EWPs y provee la lógica para el cronograma Level 3 y 4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Cambiar el PoC durante la construcción genera costos significativos y debe evitarse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140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Constraints en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constraint es cualquier impedimento que evita que un IWP sea ejecutado sin interrupciones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IWP no se libera hasta que TODOS sus constraints estén resueltos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Tipos de constraints más comunes: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Información incompleta: planos, especificaciones o procedimientos pendientes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Materiales no disponibles en campo o con fecha de entrega incierta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Permisos de trabajo no emitidos (Hot Work, Confined Space, etc.)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Dependencias físicas: área predecesora no liberada aún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Equipos especiales no disponibles: grúas, andamios, herramientas calibradas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Constraint Log es actualizado diariamente por el AWP Coordinator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 clave: % de constraints resueltos 2 semanas antes del IWP (target: &gt;90%)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140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Materiales en el Contexto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requiere un sistema de gestión de materiales completamente alineado con los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Procurement Work Packages (PWP): paquetes de procura que soportan la secuencia de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Puntos críticos de integración: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cronograma de materiales deriva del PoC, no del cronograma de ingeniería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Cada IWP tiene un "material ready date" específico que el sistema de materiales debe cumplir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sistema de warehousing organiza los materiales por IWP, no por tipo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Los materiales se liberan a campo IWP por IWP, no en grandes lotes globales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Beneficio: elimina la búsqueda de materiales en campo, que es el desperdicio #1 en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Integración con CMMS y ERP del proyecto es fundamental para la trazabilidad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140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Madurez AWP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0 – No implementado: construcción ad-hoc, sin paquetes de trabajo formales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1 – Conciencia: el equipo conoce AWP pero no lo implementa sistemáticamente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2 – Básico: CWAs y CWPs definidos, IWPs creados pero no siempre ejecutables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3 – Implementado: IWPs con constraints resueltos, WFP regular, métricas básicas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4 – Avanzado: integración EWP-CWP-IWP completa, métricas en tiempo real, 90% IWPs ejecutables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5 – Clase mundial: IA para predicción de constraints, mejora continua basada en datos, benchmark externo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mayoría de la industria latinoamericana está en Nivel 0-1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mejores proyectos de COSAPI debieran alcanzar Nivel 3 en 24 meses con el programa correcto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140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AWP – Indicadores de Desempeño en Campo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140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AWP + BIM: Planificación Visual de Campo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modelo BIM es el soporte visual indispensable para la planificación de 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BIM 3D: permite identificar interferencias y validar secuencias de instalación visualmente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BIM 4D: simula el PoC y la secuencia de CWAs en el tiempo, identificando conflictos de acceso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Usos específicos de BIM en AWP: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Delimitar geográficamente CWAs y CWPs en el modelo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Verificar accesos para grúas y montajes antes de aprobar IWPs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Generar MTO (Material Take-Off) directamente del modelo por área de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Comparar avance planificado vs. real en 3D para reportes de progreso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BIM se puede implementar AWP, pero con BIM el nivel de calidad de IWPs aumenta significativamente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Herramientas: Navisworks, Synchro, OpenBuildings Designer, AVEVA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140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AWP – 5 Pasos Críticos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006C65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Comprometer al Owner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mandato del propietario, AWP no prospera. El Owner define el estándar.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PoC y CWAs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inputs de campo. El Constructor valida que la secuencia sea ejecutable.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Ingeniería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EWPs diseñados para soportar CWPs. Cambio fundamental de cómo se entrega la ingeniería.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IWPs Calidad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resueltos antes de liberar. WFP semanal con field engineers.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006C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y Mejorar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KPIs AWP en tiempo real. Mejora continua ciclo a ciclo.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140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7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Loading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PDRI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rigurosa del proyecto como base de la constructabilidad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140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Loading (FEL) – La Base de Todo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FEL es el proceso de definición rigurosa del proyecto antes de comprometer el capital de inversión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También conocido como: Project Definition (IPA), FEED (Front End Engineering &amp; Design), Pre-FEED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 fundamental: a mayor definición en FEL, mayor probabilidad de éxito en ejecución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IPA (Independent Project Analysis) analiza más de 3,000 proyectos globalmente: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con FEL Class I (mejor definición): 20% menos costo, 39% menos tiempo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con FEL deficiente: 65% probabilidad de sobrecosto &gt;25%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FEL no es burocracia: es la inversión más rentable que se puede hacer en un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costo de FEL completo es 0.5–3% del CAPEX total; los beneficios son múltiplos de esa inversión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140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Etapas del Front End Loading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B7A2F"/>
          </a:solidFill>
          <a:ln w="9525">
            <a:solidFill>
              <a:srgbClr val="1B7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Conceptualización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opciones. Selección de proceso/tecnología. Estimación Clase 5 (±50%). Evaluación de negocio.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1B7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Prefactibilidad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24028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alternativas. Seleccionar la mejor. Estimación Clase 3 (±30%). Inicio de PDRI.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0972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1B7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097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24028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completamente la opción seleccionada. Estimación Clase 2 (±15%). PDRI completo. Autorización.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140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FEL-1: Conceptualización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identificar y evaluar las opciones fundamentales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Entregables clave de FEL-1: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Definición del propósito y los objetivos estratégicos del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Identificación de alternativas de proceso, localización y tecnología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Evaluación económica preliminar de cada alternativa (Clase 5, ±50%)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Selección de la alternativa conceptual a desarrollar en FEL-2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 del proyecto y recursos para FEL-2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Constructabilidad en FEL-1: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Participación del constructor en la evaluación de alternativas de localización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Validación de constructabilidad de alternativas de proceso (accesos, izaje, secuencia)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Primera iteración de estrategia constructiva macro (modular vs. stick-built)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140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FEL-2: Prefactibilidad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desarrollar y comparar alternativas, seleccionar la mejor opción para FEL-3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Entregables clave de FEL-2: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Ingeniería conceptual de la alternativa seleccionada (P&amp;IDs preliminares, layout conceptual)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Estimación Clase 3 (±30%) de la alternativa seleccionada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 de ejecución del proyecto preliminar incluyendo estrategia constructiva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PDRI inicial completado para identificar gaps de definición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Constructabilidad en FEL-2: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formal de constructabilidad del layout y configuración del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Definición de la estrategia de modularización o prefabricación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Validación del Path of Construction preliminar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Identificación de recursos y habilidades constructivas críticas para el proyecto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140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FEL-3: Factibilidad y Autorización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definir completamente el proyecto antes de la decisión de inversión (FID)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Entregables clave de FEL-3: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Ingeniería básica completa (30–40% de la ingeniería total)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Estimación Clase 2 (±15%) con bases de estimación documentadas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PDRI completado y score objetivo alcanzado (≤200 para proyectos industriales)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 de ejecución del proyecto (PEP) completo y aprobado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Estrategia de contratación definida y contratos principales negociados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Constructabilidad en FEL-3: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plan completo: PoC, CWAs, estrategia IWP aprobada por Constructor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Revisiones de constructabilidad de toda la ingeniería básica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Modelo de simulación 4D de la secuencia constructiva aprobado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140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PDRI – Project Definition Rating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 CII para medir el grado de definición de un proyecto antes de la autorización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Desarrollado por CII en 1996; dos versiones: industrial/proceso y edificaciones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PDRI Industrial evalúa 70 elementos agrupados en 3 secciones: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Sección I (Bases del Proyecto): 5 categorías – estrategia de negocio, tecnología, sitio, procura, estimados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Sección II (Bases del Diseño de la Planta): 4 categorías – criterios de diseño, scope, requisitos operacionales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Sección III (Bases de la Ejecución del Proyecto): 2 categorías – PEP, estimación final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puntaje PDRI es la suma de los pesos de los elementos incompletos o insuficientemente definidos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Score 0: proyecto perfectamente definido (teórico)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Score ≤200: proyectos con alta probabilidad de éxito (umbral CII para autorizar)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140</a:t>
            </a:r>
            <a:endParaRPr lang="en-US" sz="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entre PDRI y Desempeño del Proyecto (IPA)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140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Rigurosa del Alcance: Clave del FEL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72% de los sobrecostos en grandes proyectos se originan en cambios de alcance (IPA 2020)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definición de alcance insuficiente es el problema #1 en proyectos de la industria latinoamericana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Elementos de una definición de alcance completa: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Límites de batería claros: qué incluye y qué excluye 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P&amp;IDs aprobados y congelados antes de FID (Final Investment Decision)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Plot plans y layouts de edificaciones con áreas y alturas definidas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Especificaciones técnicas de todos los equipos principales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Definición del modelo de entrega de activos (completitud de startup)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Scope creep: cada cambio aprobado durante ejecución cuesta 3x más de lo que hubiera costado en FEL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Herramienta: Change Management Plan formal desde el inicio de FEL-3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140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Estimaciones Confiables: El Resultado del FEL Bien Hecho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Una estimación confiable requiere definición de proyecto completa, no adivinanza sofisticada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Clases de estimación AACE (Association for the Advancement of Cost Engineering):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Clase 5: ±50%, solo se usa en FEL-1 para evaluar viabilidad de negocio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Clase 4: ±30%, conceptual al cierre de FEL-1 / inicio FEL-2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Clase 3: ±20%, prefactibilidad al cierre de FEL-2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Clase 2: ±15%, ingeniería básica al cierre de FEL-3 (base para FID)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Clase 1: ±10%, ingeniería detallada completa (usada en re-baselining)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Error frecuente: usar estimación Clase 3 como base de autorización sin completar FEL-3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Resultado: proyectos autorizados con definición insuficiente que inevitablemente exceden presupuesto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140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Improving Practices (VIPs) – Herramientas de Optimización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VIPs son herramientas CII de optimización que se aplican durante FEL para agregar valor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 aplican con un facilitador experimentado en talleres estructurados del equipo de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11 VIPs del CII y su impacto promedio en proyectos que las implementan: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Review: 6–10% reducción de costo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Value Engineering: 3–15% reducción de costo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Design to Capacity: 5–20% reducción de costo en plantas de proceso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Process Simplification: 5–15% reducción de CAPEX y OPEX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Standardization &amp; Modularization: 10–30% reducción de horas de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Waste Minimization: reducción de footprint y costos de operación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VIPs deben aplicarse en FEL-2 y FEL-3, nunca durante ingeniería detallada (demasiado tarde)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140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VIP: Design to Capacity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diseñar la planta para la capacidad de producción objetivo, no para maximizar la capacidad teórica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sobredimensionamiento por "factor de seguridad excesivo" incrementa costos sin agregar valor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Proceso de aplicación: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Definir con precisión la capacidad de producción objetivo (con base en demanda de mercado)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Revisar todos los equipos y sistemas dimensionados para esa capacidad exacta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Eliminar o reducir equipos sobredimensionados que no añaden valor real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Validar con operaciones que la capacidad reducida cumple objetivos de negocio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Impacto típico: 5–20% reducción en costo de equipos principales en plantas de proceso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Complemento: Process Simplification (eliminar etapas de proceso innecesarias)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Requiere alineación entre ingeniería, operaciones y finanzas del proyecto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140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VIP: Estandarización y Modularización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Estandarización: usar diseños, materiales y equipos estándar repetibles en lugar de soluciones únicas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Beneficios de la estandarización: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Reducción del tiempo de ingeniería: reutilizar diseños probados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Reducción de inventario de repuestos: los operadores solo necesitan partes para tipos estándar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Curva de aprendizaje de la cuadrilla: al repetir instalaciones similares, mejora productividad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Menor riesgo de errores: diseños estándar ya fueron probados y optimizados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Modularización: prefabricar módulos completos de planta off-site y transportarlos al sitio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Cuándo modularizar: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Sitios remotos con alta mano de obra especializada escasa o cara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Climas extremos que limitan trabajo en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Alta repetición de módulos idénticos o similares en el proyecto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140</a:t>
            </a:r>
            <a:endParaRPr lang="en-US" sz="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VIP: Revisiones Formales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Una revisión de constructabilidad es una inspección estructurada de los documentos de ingeniería por un experto en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No es una revisión informal: tiene agenda, checklist, tiempo asignado y entregables definidos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Tipos de revisión: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Layout: verifica accesos, espacios para equipos y mantenimiento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P&amp;IDs: identifica configuraciones difíciles de construir o mantener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Planos Estructurales: verifica secuencia de erección posible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Especificaciones: valida disponibilidad de materiales y equipos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Planos Isométricos: verifica tolerancias y secuencia de instalación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Frecuencia mínima: al 30%, 60% y 90% del avance de ingeniería por especialidad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Herramienta: checklist estándar CII adaptado al tipo de proyecto y 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140</a:t>
            </a:r>
            <a:endParaRPr lang="en-US" sz="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FEL vs. Costo Final del Proyecto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140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Benchmarking – La Evidencia de la Industria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IPA (Independent Project Analysis) evalúa más de 3,000 proyectos globales anualmente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base de datos IPA es el estándar de benchmarking para proyectos de capital de gran escala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Hallazgos consistentes de IPA sobre FEL: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con FEL Class I: desempeño promedio de costo +5% / plazo +8% vs. baseline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con FEL Class II: desempeño promedio +15% / +22%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con FEL Class III o IV: desempeño promedio +30–60% / +40–70%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Industria latinoamericana: 60–70% de grandes proyectos inician con FEL Class III o peor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Proyectos exitosos COSAPI comparten: FEL bien ejecutado + constructabilidad activa desde FEL-2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Herramienta: IPA FEL Assessment al final de cada fase para medir calidad de definición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140</a:t>
            </a:r>
            <a:endParaRPr lang="en-US" sz="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Prácticas FEL – Lo que Hacen los Mejores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de los Top 25%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PDRI completado en FEL-3 con score ≤200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Constructability review formal en cada fase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Constructor involucrado desde FEL-1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Alcance congelado antes de FID con proceso de gestión de cambios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Equipo de proyecto continuo de FEL a ejecución (&gt;70% permanece)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del Bottom 25%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PDRI no completado o score &gt;400 al autorizar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revisiones formales de constructabilidad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Constructor llega después de ingeniería básica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Scope abierto al iniciar ingeniería detallada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Equipo de proyecto totalmente rotado de FEL a ejecución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140</a:t>
            </a:r>
            <a:endParaRPr lang="en-US" sz="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84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BIM, Lean, Digitalización y metodologías que amplifican la constructabilidad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140</a:t>
            </a:r>
            <a:endParaRPr lang="en-US" sz="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 y Constructabilidad: Una Alianza Natural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BIM (Building Information Modeling) es el habilitador tecnológico más poderoso de la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modelo BIM contiene inteligencia: no son solo planos 3D, son datos de geometría + atributos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Dimensiones de BIM y su relación con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3D – Geometría: clash detection, validación visual de diseños, revisiones remotas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4D – Tiempo: simulación de secuencia constructiva, optimización del PoC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5D – Costo: estimación por área de construcción, control de variaciones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6D – Sostenibilidad: análisis de ciclo de vida durante diseño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7D – Operaciones: gestión de activos post-construcción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constructabilidad, las dimensiones críticas son 3D y 4D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Requisito: todos los contratistas deben entregar en BIM (mandato del owner)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140</a:t>
            </a:r>
            <a:endParaRPr lang="en-US" sz="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 Detection – Eliminando Interferencias en el Modelo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Clash detection: detección automática de interferencias físicas entre elementos del modelo BIM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Tipos de clash: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Hard clash: dos elementos sólidos ocupan el mismo espacio físico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Soft clash: un elemento viola los espacios mínimos requeridos de acceso o mantenimiento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Workflow clash (4D): una actividad programada antes que su predecesora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proyectos sin BIM, los clashes se descubren en campo → retrabajos costosos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 BIM, los clashes se resuelven en el modelo → cambios a costo mínimo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Estadística industria: cada clash resuelto en campo cuesta USD 3,200 promedio; en BIM cuesta USD 100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Proyectos con BIM y clash detection activo reducen RFIs en 30–40% (Dodge Reports)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Herramientas: Navisworks, BIM 360 Glue, Solibri Model Checker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140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 4D: Simulación Virtual de la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BIM 4D vincula el modelo 3D con el cronograma para simular la secuencia constructiva en el tiempo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Permite "construir virtualmente" antes de comenzar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Beneficios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Validar que la secuencia constructiva es físicamente posible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Identificar conflictos de espacio y acceso que cambian según la fase de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Optimizar la ubicación de equipos temporales (grúas, andamios, plantas de concreto)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Comunicar visualmente el plan de construcción a todos los stakeholders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Detectar actividades en el cronograma que tienen dependencias incorrectas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Pasos para implementar BIM 4D: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Crear modelo 3D completo → vincular elementos al cronograma (P6 o MS Project) → simular → optimizar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Herramientas: Synchro Pro, Navisworks TimeLiner, OpenBuildings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/ 140</a:t>
            </a:r>
            <a:endParaRPr lang="en-US" sz="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Construction: Eliminar el Desperdicio en Obra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Lean Construction aplica los principios del Lean Manufacturing al proceso constructivo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Basado en el Toyota Production System adaptado por Lauri Koskela y el Lean Construction Institute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8 desperdicios en construcción (TIMWOODS adaptado):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Transporte: movimiento innecesario de materiales y equipos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Inventario: material en campo sin ser instalado (bloqueando accesos, riesgo de daños)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Movimiento: cuadrillas buscando herramientas, materiales o información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Espera: tiempo muerto esperando grúas, materiales, decisiones o permisos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Sobreproducción: instalar antes de que el área predecesora esté lista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Sobreprocessing: retrabajos por planos incorrectos o cambios tardíos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Defectos: NCRs, reparaciones, rechazos de inspección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 utilización del talento: no escuchar a los foremen que conocen el trabajo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140</a:t>
            </a:r>
            <a:endParaRPr lang="en-US" sz="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Planner System (LPS) – Planificación Colaborativa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LPS es el método Lean de planificación y control de producción más usado en construcción mundial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Desarrollado por Glenn Ballard (Lean Construction Institute, 1994)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"Last Planner" es quien dirige el trabajo en campo: el Superintendent o Foreman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Estructura del LPS: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Master Schedule: el proyecto completo (cronograma Level 1–2)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Phase Schedule: planificación por fases de 8–12 semanas (pull planning)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Lookahead (6 semanas): identificar y resolver constraints anticipadamente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Weekly Work Plan (WWP): compromisos de producción semanales de cada cuadrilla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Percent Plan Complete (PPC): % de compromisos cumplidos (target: &gt;80%)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PPC es el indicador de salud del sistema de planificación, no del avance de obra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reunión semanal de planificación es el corazón del LPS: 30–45 minutos, todos los superintendents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140</a:t>
            </a:r>
            <a:endParaRPr lang="en-US" sz="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Planning: Planificando desde el Fin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Pull planning es la técnica de planificar hacia atrás desde un hito u objetivo de entrega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Contrasta con "push planning": hacer lo que se puede y empujar hacia adelante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Proceso de una sesión de Pull Planning: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1. Definir el hito o entregable de la sesión (ej: "mecanizado completado el 15/03")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2. El equipo identifica las actividades necesarias para alcanzar el hito (post-its en pared)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3. Se ordenan las actividades hacia atrás desde el hito identificando dependencias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4. Se identifican constraints para cada actividad y se asigna responsable de resolverlos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5. El resultado es un plan de fase consensuado que el equipo se compromete a cumplir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Participantes: Superintendent, Field Engineers, Sub-contratistas especializados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Resultado: todos los participantes conocen sus dependencias y compromisos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Pull planning reduce en 30–50% las variaciones de cronograma (estudios LCI)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140</a:t>
            </a:r>
            <a:endParaRPr lang="en-US" sz="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Management en Campo: La Información Visible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Visual Management: hacer que el estado del proyecto sea visible sin necesidad de consultar informes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"Si no se ve, no se gestiona" – principio fundamental de Lean Construction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 de Visual Management en construcción: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Obeya Room o War Room: sala de proyecto con tableros de avance actualizados diariamente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Tablero de IWPs: estado de cada IWP (backlog, en preparación, liberado, en ejecución, completado)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Constraint board: constraints activos con responsable y fecha compromiso visible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Curva S en tablero físico: avance planificado vs. real actualizado semanalmente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Safety board: último accidente, días sin incidentes, riesgos del mes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Digital: proyecciones de dashboard en la obra, apps móviles para reportes en tiempo real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Beneficio: toma de decisiones más rápida porque la información está donde se necesita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/ 140</a:t>
            </a:r>
            <a:endParaRPr lang="en-US" sz="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Modularización: Construir en Fábrica, Ensamblar en Campo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Modularización es la estrategia de prefabricar módulos funcionales de planta en taller o fábrica y transportarlos al sitio para su montaje final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modularización es una decisión estratégica del FEL, no una táctica de ejecución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Tipos de módulos: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E-House (Electrical Room): sala eléctrica completa prefabricada y pre-cableada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Módulo de proceso: skid completo con equipos, tuberías e instrumentación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Pipe rack module: estructura con tuberías y soportes pre-ensamblados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Quarters/Camp module: módulos habitacionales y facilidades para campamentos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Subestación modular: transformadores, switchgear y controles en un módulo integrado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Decisión modular/no-modular: análisis de costo-beneficio considerando costo de transporte, logística y disponibilidad de grúas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/ 140</a:t>
            </a:r>
            <a:endParaRPr lang="en-US" sz="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Modularización: Ventajas y Condiciones de Aplicación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Trabajo paralelo: módulos se fabrican mientras se hace la civil en sitio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Mejor calidad: trabajo en taller con condiciones controladas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Seguridad mejorada: menos trabajo en altura en campo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Menor afectación por clima extremo o lluvias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Reducción de headcount en sitio (sensible en sitios remotos)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Compresión del cronograma total del proyecto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para Aplicar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Repetición: múltiples módulos iguales o similares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Logística disponible: ruta de transporte, grúas de gran capacidad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Sitio con restricciones de acceso o mano de obra especializada escasa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FEL bien definido: módulo no puede diseñarse con alcance cambiante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Mercado de fabricadores confiables con capacidad disponible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Owner con experiencia en gestión de módulos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/ 140</a:t>
            </a:r>
            <a:endParaRPr lang="en-US" sz="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Prefabricación Off-Site: Más Allá de los Módulos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prefabricación incluye todos los elementos construidos fuera del sitio e instalados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Niveles de prefabricación (de menor a mayor):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1 – Componentes: soportes metálicos, canalizaciones, piezas especiales de tubería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2 – Sub-ensambles: spools de tubería soldados, bastidores estructurales, bandejas eléctricas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3 – Ensambles: equipos pre-piped/wired, skids simples, racks pre-cableados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4 – Módulos: unidades completas multi-disciplina (E-Houses, módulos de proceso)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5 – Plantas completas (rare): fabricación completa de planta pequeña off-site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proyectos mineros peruanos: Nivel 2–3 es frecuentemente óptimo dado transporte y logística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Herramienta: prefabrication optimization study en FEL-2 para identificar el nivel óptimo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/ 140</a:t>
            </a:r>
            <a:endParaRPr lang="en-US" sz="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y Tecnologías de Relevamiento en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drones (UAVs) se han convertido en herramientas estándar de constructabilidad avanzada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Aplicaciones en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Levantamiento topográfico de sitio: mucho más rápido y preciso que métodos convencionales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Ortofotografías de alta resolución: validar layout antes de iniciar movimiento de tierras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Modelado 3D de "as-built" en tiempo real: comparar vs. BIM para detectar desviaciones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Monitoreo de avance de obra: vuelos semanales para registrar progreso fotográfico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Inspección de altura: estructuras, tanques, torres sin andamios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Volumetría de material: medición de stockpiles de material a granel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Integración con BIM: modelo de terreno real vs. modelo de diseño → detección temprana de conflictos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Costo típico: USD 2,000–5,000 por levantamiento vs. USD 15,000–30,000 topografía convencional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140</a:t>
            </a:r>
            <a:endParaRPr lang="en-US" sz="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 Aumentada y Virtual en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AR (Augmented Reality) y VR (Virtual Reality) son herramientas de revisión inmersiva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Realidad Virtual (VR) – Revisiones de diseño: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equipo de proyecto "camina" por la planta en el modelo BIM antes de iniciar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Identifica problemas de acceso, alturas libres y ergonomía que no son visibles en planos 2D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Herramientas: Autodesk BIM 360, IrisVR, Enscape, Unreal Engine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Realidad Aumentada (AR) – Revisiones en Campo: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Superpone el modelo BIM sobre el sitio real usando tablets o HoloLens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Permite comparar lo construido vs. lo diseñado en campo directamente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Facilita la instalación de soportes y equipos en posiciones exactas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ROI demostrado: proyectos con AR/VR reducen RFIs en 40% y tiempos de revisión en 50% (Autodesk 2021)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Implementación práctica: requiere modelo BIM maduro y entrenamiento del equipo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/ 140</a:t>
            </a:r>
            <a:endParaRPr lang="en-US" sz="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 el Sitio de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Internet de las Cosas (IoT) habilita la construcción conectada e inteligente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Sensores y dispositivos IoT en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GPS en equipos: ubicación en tiempo real de grúas, tractores y vehículos en sitio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RFID en materiales: seguimiento de materiales desde almacén hasta punto de instalación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Sensores de concreto: monitoreo de fraguado, temperatura y humedad in-situ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Wearables de seguridad: detección de caídas, temperatura corporal, acceso a zonas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Sensores ambientales: temperatura, humedad, polvo, viento para gestión de trabajos en altura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Plataformas de gestión: Procore, Autodesk Construction Cloud, Oracle Construction Intelligence Cloud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dato IoT alimenta el gemelo digital y permite análisis predictivo de problemas de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Inversión recomendada: 0.2–0.4% del CAPEX en infraestructura IoT de sitio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/ 140</a:t>
            </a:r>
            <a:endParaRPr lang="en-US" sz="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 y Machine Learning en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IA está transformando la planificación y control de construcción a nivel global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Aplicaciones actuales de IA en constructabilidad (probadas, no futuristas):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Análisis predictivo de RFIs: modelos entrenados predicen qué áreas generarán más cambios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automatizada de clash detection: priorización automática de clashes por impacto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Análisis de productividad: IA detecta patrones de baja productividad antes de que sean problemas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Computer Vision: cámaras + IA para tracking de avance de obra y control de seguridad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Optimización de cronograma: algoritmos que optimizan la secuencia de IWPs para minimizar constraints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NLP en lecciones aprendidas: búsqueda inteligente en bases de datos de proyectos anteriores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 emergentes: Smartvid.io, Alice Technologies, nPlan, Synchro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COSAPI: comenzar con análisis de productividad basado en datos de campo existentes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140</a:t>
            </a:r>
            <a:endParaRPr lang="en-US" sz="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Digital (Digital Twin) en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gemelo digital es una réplica virtual del activo físico que se actualiza en tiempo real con datos del mundo real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Durante construcción, el gemelo digital integra: modelo BIM + datos IoT + avance real + cronograma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Beneficios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Seguimiento de avance de construcción vs. diseño en 3D en tiempo real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Detección temprana de desviaciones del plan antes de que impacten el cronograma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Simulación de escenarios para evaluar impacto de cambios antes de aprobarlos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Entrega al cliente: el gemelo se convierte en el sistema de gestión del activo en operación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gemelo digital conecta FEL → Construcción → Operaciones en un continuo digital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Inversión mínima: el BIM del proyecto ya es el núcleo del gemelo; agregar conectores de datos IoT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Plataformas: Bentley iTwin, Siemens Xcelerator, AVEVA Asset Performance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/ 140</a:t>
            </a:r>
            <a:endParaRPr lang="en-US" sz="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Cloud para Gestión de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plataformas cloud reemplazan el email y los archivos compartidos como medio de trabajo en proyectos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Plataformas líderes y sus fortalezas: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Procore: gestión de documentos, planos, RFIs, submittals, calidad e inspecciones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Autodesk Construction Cloud (ACC): BIM + gestión de documentos + field management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Oracle Primavera Cloud: cronograma avanzado + gestión de riesgos + AWP nativo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Aconex: estándar para grandes proyectos de infraestructura globales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InEight: estimación + cronograma + field execution en una plataforma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AWP: Oracle Primavera Cloud tiene el módulo WorkPackager nativo más maduro del mercado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Criterio de selección: integración con ERP del Owner y capacidad de la plataforma para AWP/IWPs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Advertencia: ninguna plataforma reemplaza el proceso; el proceso define qué plataforma se necesita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/ 140</a:t>
            </a:r>
            <a:endParaRPr lang="en-US" sz="7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Móviles de Campo: La Constructabilidad en las Manos del Foreman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información de constructabilidad debe llegar al foreman en campo, no solo a la oficina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Apps de campo esenciales para constructabilidad avanzada: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Planos digitales (Procore/PlanGrid): todos los planos actualizados disponibles en tablet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IWP viewer: foreman revisa el contenido completo del IWP antes y durante ejecución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Daily reports digitales: reporte de avance, horas y problemas directamente desde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Punch lists digitales: inspecciones y no-conformidades registradas con foto y geolocalización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Safety reporting: observaciones de seguridad y near-misses con foto geolocalizadas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Constraint reporting: foreman reporta constraints en tiempo real para acción inmediata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foreman conectado es el sensor más valioso de la constructabilidad: conoce el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Implementación: tablets ruguerizadas + conectividad en sitio + entrenamiento de foremen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/ 140</a:t>
            </a:r>
            <a:endParaRPr lang="en-US" sz="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Sistemas: El Dato Fluye Sin Fricciones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mayor desperdicio digital en construcción es el dato ingresado dos o tres veces en diferentes sistemas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Arquitectura de integración para un proyecto con constructabilidad avanzada: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ERP del Owner (SAP/Oracle): fuente de verdad para presupuesto, compromisos y pagos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Plataforma de proyecto (Procore/ACC): gestión de documentos, RFIs, inspecciones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Software de cronograma (Primavera/MS Project): planificación y avance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BIM platform (Navisworks/BIM 360): modelo 3D y clash detection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Sistema de materiales (MM module SAP/EcoSys): tracking de materiales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Integración vía APIs o plataforma de data integration (Procore Connectors, Trimble Connect)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dato de campo (avance, horas, materiales) debe llegar a ERP sin re-ingreso manual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un dato único, una fuente de verdad, accesible por todos en tiempo real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/ 140</a:t>
            </a:r>
            <a:endParaRPr lang="en-US" sz="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7B2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estructura organizacional, gestión del cambio y benchmarking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/ 140</a:t>
            </a:r>
            <a:endParaRPr lang="en-US" sz="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Organizacional para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requiere una estructura organizacional que rompa los silos disciplinares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Modelo organizacional recomendado para proyectos industriales: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Project Director / VP de Proyecto: champion ejecutivo de constructabilidad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Construction Manager: responsable del programa de constructabilidad en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Coordinator: dedica 50–100% a revisar diseño desde perspectiva constructiva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Manager: implementa y gestiona el sistema AWP en coordinación con Owner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Field Engineers por disciplina: preparan IWPs y conducen WFP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Superintendents por CWA: lideran la ejecución AWP en cada área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Construction Manager debe tener acceso DIRECTO al jefe de ingeniería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acceso directo, las observaciones de constructabilidad quedan en la burocracia y no se atienden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/ 140</a:t>
            </a:r>
            <a:endParaRPr lang="en-US" sz="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Equipo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éxito del programa depende de las personas, no solo de los procesos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Constructability Coordinator – Perfil ideal: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Experiencia real en campo (mínimo 5–8 años como Superintendent o Construction Engineer)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Capacidad de leer e interpretar planos de ingeniería de todas las disciplinas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Habilidad para comunicarse efectivamente con diseñadores y constructores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de las herramientas CII: checklists, PDRI,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Manager – Perfil ideal: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Experiencia en proyectos que implementaron AWP (idealmente oil &amp; gas o minería internacional)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profundo de software de cronograma (Primavera P6) y Oracle WorkPackager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Certificación CII/COAA en AWP es valorada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Construcción de capacidades internas: los mejores programas desarrollan estos perfiles internamente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/ 140</a:t>
            </a:r>
            <a:endParaRPr lang="en-US" sz="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Constructor en el Equipo de Diseño: La Integración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separación física entre el equipo de diseño y el de construcción es la causa raíz de la brecha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Modelos de integración (de menor a mayor efectividad):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Revisiones periódicas: constructor visita al equipo de diseño para revisiones formales (mínimo)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Representante embebido: un Construction Engineer dedicado sentado en la oficina del diseñador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Equipo integrado: diseñadores y constructores en el mismo piso, mesas adyacentes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Sala de proyecto integrada (Big Room / Obeya): todo el equipo clave en una misma sala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modelo IPD (Integrated Project Delivery) maximiza esta integración contractualmente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proyectos COSAPI: el representante embebido es el mínimo aceptable para proyectos &gt;USD 50M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Costo del representante embebido: USD 15,000–25,000/mes; beneficio esperado: 3–8% del CAPEX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/ 140</a:t>
            </a:r>
            <a:endParaRPr lang="en-US" sz="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Efectiva en el Equipo de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comunicación deficiente es la causa #1 de problemas en proyectos según múltiples estudios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3 canales de comunicación críticos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1. Constructor → Diseñador: observaciones de constructabilidad con claridad y evidencia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2. Diseñador → Constructor: actualizaciones de planos con registro de cambios documentado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3. Owner → Equipo: decisiones sobre alcance y prioridades sin ambigüedad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Herramientas de comunicación estructurada: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RFI (Request for Information): consultas formales con número, plazo y responsable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TQ (Technical Query): consultas técnicas entre contratistas del mismo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Comments Log: registro de todas las observaciones y sus disposiciones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Una observación de constructabilidad no resuelta es un constraint potencial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Target: 100% de observaciones de constructabilidad con disposición antes del inicio de construcción del área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/ 140</a:t>
            </a:r>
            <a:endParaRPr lang="en-US" sz="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Cambio: Control de la Mayor Causa de Sobrecosto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cambios de alcance no gestionados son responsables del 40–60% de los sobrecostos en proyectos grandes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sistema de gestión de cambios efectivo tiene 4 componentes: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1. Change Identification: cualquier miembro del equipo puede identificar y reportar un cambio potencial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2. Change Evaluation: el cambio se evalúa en costo, plazo, constructabilidad y riesgo antes de aprobarse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3. Change Approval: cambios sobre un umbral requieren aprobación del Owner; bajo el umbral, del PM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4. Change Implementation: el cambio aprobado se incorpora al scope baseline, cronograma y presupuesto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"scope creep" ocurre cuando cambios pequeños se aprueban sin pasar por el sistema de control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Change freeze: en un punto del proyecto, no se aprueban cambios no críticos para compresión del plazo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Regla de oro: ningún trabajo se ejecuta sin Change Order aprobado, por urgente que parezca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140</a:t>
            </a:r>
            <a:endParaRPr lang="en-US" sz="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Riesgos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es también un proceso de identificación y mitigación de riesgos constructivos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Riesgos típicos de constructabilidad identificados en revisiones: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de acceso: equipo diseñado en espacio sin acceso para su instalación o mantenimiento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de izaje: equipo heavy cuyo peso supera la capacidad de grúas disponibles en el sitio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de secuencia: elementos que deben instalarse en una secuencia que no permite el diseño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de material: especificación de material con plazos de entrega más largos que el cronograma permite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de cimentación: cambios en condiciones de suelo que afectan secuencia de excavación y fundaciones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Construction Risk Register incluye riesgos de constructabilidad con mitigaciones y responsables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Revisión mensual del risk register en etapa de diseño; semanal en construcción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/ 140</a:t>
            </a:r>
            <a:endParaRPr lang="en-US" sz="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Contratación Temprana del Constructor: El Cambio más Impactante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cambio contractual con mayor ROI es contratar al constructor durante FEL, no después del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Modelos de contratación con participación temprana del constructor: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Reimbursable + Target Cost: constructor trabaja en FEL-3 en modo reembolsable, luego negocia precio objetivo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EPCM (Engineering, Procurement, Construction Management): una firma gestiona todo desde FEL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Alliance Contracting: Owner y Constructor comparten riesgos y ganancias, incentivo alineado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Design-Build: una firma es responsable del diseño Y construcción completa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IPD (Integrated Project Delivery): todo el equipo clave contratado antes del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todos estos modelos, el constructor aportó conocimiento durante FEL: ese es el valor real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EPC tradicional (diseño completo → licitación competitiva → construcción) es el modelo menos óptimo para constructabilidad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/ 140</a:t>
            </a:r>
            <a:endParaRPr lang="en-US" sz="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Project Delivery (IPD): El Modelo de Alta Colaboración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IPD es un modelo de entrega que alinea intereses de Owner, Diseñador y Constructor en un solo contrato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Principios del IPD: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Riesgo y recompensa compartidos: todos ganan si el proyecto tiene éxito; todos pierden si fracasa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Decisiones colectivas: el equipo ampliado toma decisiones por consenso (Owner tiene veto)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BIM como herramienta de trabajo compartida, no como entregable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 hay disputas legales entre las partes del contrato multipartite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Innovaciones compartidas: la parte que propone un ahorro participa del beneficio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 IPD en proyectos de salud (mayor experiencia): 10–15% mejor costo, cronograma predecible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proyectos industriales: IPD puro es raro; los elementos de IPD se adoptan en Alliance o EPCM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Obstáculo: legal (algunos países no tienen marco contractual para IPD); cultural (resistencia a compartir riesgos)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/ 140</a:t>
            </a:r>
            <a:endParaRPr lang="en-US" sz="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Design-Build: Integración Total de Diseño y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Design-Build (D-B), una sola firma es responsable del diseño Y de la construcción completa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Owner tiene un solo punto de contacto para todo el alcance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Ventajas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diseñador y el constructor son la misma organización: no hay brecha que cerrar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constructor puede iniciar partes de la construcción mientras el diseño continúa (fast-track)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Responsabilidad clara: si algo no se puede construir como diseñado, es responsabilidad D-B firm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Incentivo alineado: la firma D-B quiere diseñar lo que puede construir eficientemente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Desventajas: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Owner pierde algo de control sobre el diseño; confiar en la firma es crítico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Owner debe definir claramente los requerimientos de performance, no de diseño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Más difícil de comparar precios en licitación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/ 140</a:t>
            </a:r>
            <a:endParaRPr lang="en-US" sz="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vs. EPCM: Modelos de Entrega en Proyectos Industriales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(Engineering, Procurement, Construction)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Contratista único responsable de ingeniería, procura Y construcción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Precio firme o máximo garantizado (GMP)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Menor participación del Owner en ejecución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Mayor riesgo del contratista = mayor precio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Mejor para proyectos bien definidos con alcance estable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Riesgo de constructabilidad: EPC firm diseña para construir rápido, no necesariamente mejor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EPCM (Engineering, Procurement, Construction Management)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Firma especializada gestiona ingeniería y procura; construcción la ejecutan subcontratistas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Owner mantiene más control y visibilidad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Mayor flexibilidad para cambios de alcance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Owner asume más riesgo de costo final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Mejor para proyectos complejos o con alcance en evolución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Constructabilidad: el EPCM firm puede liderar un programa robusto si el Owner lo exige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140</a:t>
            </a:r>
            <a:endParaRPr lang="en-US" sz="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Contracting: Compartiendo el Éxito y el Riesgo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contratos de Alliance (alianza) son acuerdos donde Owner, diseñador y constructor comparten todos los riesgos y beneficios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Origen: industria offshore de Australia y Reino Unido, proyectos de alta complejidad e incertidumbre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Características del Alliance Contract: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Estructura de compensación: reembolso de costos directos + tarifa de gestión + mecanismo de ganancia/pérdida compartida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Target cost acordado: si el proyecto termina por debajo, todas las partes comparten la ganancia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 claims: ninguna parte del Alliance puede demandar a otra (excepto conducta inapropiada grave)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Alliance Leadership Team (ALT): toma todas las decisiones por unanimidad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Impacto en constructabilidad: la alineación de incentivos elimina la adversarialidad que es la mayor barrera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Caso: Alliance projects en Australia y Canadá consistentemente logran 10–20% mejor desempeño que EPC/EPCM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/ 140</a:t>
            </a:r>
            <a:endParaRPr lang="en-US" sz="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y Desarrollo de Competencias en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programa de constructabilidad es tan bueno como las personas que lo implementan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Estructura de capacitación recomendada para COSAPI: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Ejecutivo (VPs, Directores): 4 horas – visión estratégica, ROI, indicadores de liderazgo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Gerencial (PMs, Construction Managers): 16 horas – procesos, herramientas, reportes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Nivel Técnico (Field Engineers, Supervisores): 32 horas – IWPs, WFP, checklists, BIM básico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Certificación: CII Constructability Certificate (online, self-paced, avalado internacionalmente)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Training available: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 Implementation Workshops (presenciales o virtuales, 2–3 días)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 Online Learning Center: módulos por tema y nivel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 AWP Training: el estándar canadiense de entrenamiento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Meta para COSAPI: 5 personas certificadas CII en constructabilidad en los próximos 18 meses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/ 140</a:t>
            </a:r>
            <a:endParaRPr lang="en-US" sz="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Lecciones Aprendidas: La Memoria Organizacional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lecciones aprendidas son el activo intangible más valioso de una organización constructora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mayoría de las organizaciones capturan lecciones aprendidas; pocas las usan activamente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Sistema efectivo de lecciones aprendidas: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Captura: durante el proyecto en cada hito (no solo al final), con causa raíz documentada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Clasificación: por tipo de proyecto, disciplina, fase, impacto (costo/plazo/seguridad)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Revisión: cada nuevo proyecto consulta la base de datos en FEL-2 y FEL-3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Aplicación: cada lección aplicada se documenta con el resultado obtenido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Mejora: las lecciones obsoletas se depuran; las nuevas ingresan tras validación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Herramienta CII: Knowledge Harvest – metodología de captura acelerada de lecciones al cierre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COSAPI: comenzar con las últimas 5 obras de envergadura → base de datos de lecciones → activo estratégico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/ 140</a:t>
            </a:r>
            <a:endParaRPr lang="en-US" sz="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Conocimiento Organizacional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gestión del conocimiento en constructabilidad va más allá de las lecciones aprendidas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Tipos de conocimiento que deben gestionarse: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explícito: documentado en procedimientos, checklists, especificaciones estándar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tácito: expertise de personas senior → debe convertirse en explícito antes de que se vayan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Conocimiento de red: relaciones con proveedores, constructores especializados, expertos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Componentes del Knowledge Management System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Biblioteca de diseños estándar constructivos por disciplina (actualizada post-proyecto)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Base de datos de proveedores confiables con evaluación de desempeño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Registro de "never-dos" organizacionales: lo que nunca se debe volver a hacer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Archivo de IWPs exitosos: templates para proyectos futuros similares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Plataforma: SharePoint o Confluence con taxonomía bien definida; importante: alguien responsable de mantenerla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140</a:t>
            </a:r>
            <a:endParaRPr lang="en-US" sz="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Externo: Midiéndose contra los Mejores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benchmarking sin referencia externa no detecta si la mejora interna es suficiente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Fuentes de benchmarking para constructabilidad en proyectos industriales: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 Benchmarking &amp; Metrics: más de 1,000 proyectos en la base; comparación confidencial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IPA (Independent Project Analysis): la fuente más rigurosa para proyectos de capital &gt;USD 50M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 (Construction Owner Association of Alberta): benchmarking AWP específico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ENR (Engineering News-Record): datos de productividad y costos de industria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clave a benchmarkear: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Cost Growth (%): sobrecosto vs. autorización original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Schedule Growth (%): sobreplazo vs. cronograma autorizado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Construction Productivity (horas/unidad instalada)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Field Rework Rate (% de horas de retrabajo sobre total)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COSAPI: iniciarse en CII Benchmarking inmediatamente con el próximo proyecto mayor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140</a:t>
            </a:r>
            <a:endParaRPr lang="en-US" sz="7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del Programa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mejora continua transforma el programa de constructabilidad de una práctica a una ventaja competitiva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Ciclo de mejora continua (PDCA adaptado a constructabilidad):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Plan: definir metas de constructabilidad para el proyecto basadas en benchmarking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Do: implementar el programa: revisiones, AWP, WFP, lecciones aprendidas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Check: medir resultados vs. metas (KPIs de campo, métricas de proyecto)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Act: documentar lo que funcionó, corregir lo que no, aplicar en el próximo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Nivel organizacional (Cross-project learning):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Reunión trimestral de Constructability Champions de todos los proyectos activos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Actualización anual de estándares, checklists y templates basada en experiencia acumulada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Benchmarking externo bienal para comparar progreso vs. industria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Meta: cada proyecto debe ser mejor en constructabilidad que el anterior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/ 140</a:t>
            </a:r>
            <a:endParaRPr lang="en-US" sz="7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B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Estudio 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 de proyectos que implementaron constructabilidad exitosamente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140</a:t>
            </a:r>
            <a:endParaRPr lang="en-US" sz="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en la Industria Global – Datos 2024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proyectos &gt;USD 1B exceden presupuesto sin programa de constructabilidad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campo ahorradas anualmente en proyectos que usan AWP (estimado CII)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RT-272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50B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anual de beneficios potenciales si toda la industria implementara constructabilidad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mejores proyectos del mundo usan AWP completo (top quartile IPA)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2023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/ 140</a:t>
            </a:r>
            <a:endParaRPr lang="en-US" sz="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Expansión Minera – Chile (USD 3.2B)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Proyecto: expansión de mina de cobre en el desierto de Atacama, trabajo en altitudes sobre 4,000 m.s.n.m.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Desafíos constructivos únicos: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Escasez extrema de mano de obra calificada en zona remota → modularización intensiva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Régimen de turnos 14x7 → IWPs deben completarse dentro del turno sin interrupciones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Clima extremo: viento y temperatura limitan horas trabajables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Intervenciones de constructabilidad aplicadas: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completo desde FEL-3: PoC, 45 CWAs, 380 CWPs, 2,800 IWPs en ejecución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Modularización: 35% del contenido de trabajo fue prefabricado off-site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review de 100% de los planos emitidos para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Costo final: 4.2% bajo el presupuesto autorizado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Plazo: 3 meses antes del objetivo de puesta en marcha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Accidentes: 0 LTIR en toda la ejecución del módulo más complejo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/ 140</a:t>
            </a:r>
            <a:endParaRPr lang="en-US" sz="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Planta Petroquímica – Texas, EE.UU. (USD 1.8B)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Proyecto: nueva planta de polietileno en la Costa del Golfo, con cronograma comprimido por mercado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Contexto: mercado ajustado de trabajo → necesidad de maximizar productividad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Programa de constructabilidad implementado: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Constructor involucrado desde inicio de FEL-2 bajo contrato de servicios reembolsable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Path of Construction iterado 4 veces durante FEL-3 hasta alcanzar versión óptima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AWP: 62 CWAs, 520 CWPs, 3,100 IWPs – 92% ejecutados sin detenciones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BIM 4D utilizado para validar PoC y detectar 450+ interferencias antes de construcción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reviews cada 2 semanas durante ingeniería detallada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Resultados documentados (CII Benchmarking submittal):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Productividad: 18% superior al benchmark de proyectos similares sin AWP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RFIs emitidos: 42% menos que proyectos comparables de misma complejidad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Retrabajo: 1.8% del total de horas (industria promedio: 5–7%)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/ 140</a:t>
            </a:r>
            <a:endParaRPr lang="en-US" sz="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Alliance Contract – Infrastructure, Australia (AUD 2.1B)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Proyecto: nueva línea de metro en área urbana densamente construida, alta complejidad de interfaces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Modelo de entrega: Alliance Contract (Owner + 2 constructoras + 1 firma de diseño)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Constructabilidad en el contexto Alliance: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reviews conducidos por todas las partes del Alliance, no solo el constructor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Sistema de "Big Room": 150 personas del proyecto trabajando en el mismo piso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LPS implementado en toda la fase de construcción; PPC promedio: 84%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Gestión de constraints digital: app propia para tracking de +500 constraints activos simultáneos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Resultados financieros Alliance: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Target cost final: 6.8% bajo el target acordado → ganancias compartidas entre todas las partes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Plazo: 2 meses antes del programa original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Reclamaciones legales: CERO durante toda la duración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Lección clave: la alineación de incentivos contractuales multiplica el impacto de la constructabilidad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/ 140</a:t>
            </a:r>
            <a:endParaRPr lang="en-US" sz="7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Comparativa: Proyectos con y sin Programa de Constructabilidad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/ 140</a:t>
            </a:r>
            <a:endParaRPr lang="en-US" sz="7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COSAPI: Experiencia y Oportunidad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COSAPI cuenta con más de 60 años de experiencia en proyectos de minería, infraestructura e industria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Fortalezas actuales identificadas: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Experiencia técnica profunda en proyectos de minería de gran escala en Perú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Capacidad de equipos de ingeniería propia (COSAPI Ingeniería y Construcción)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Track record en proyectos complejos: Quellaveco, Toromocho, Constancia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Oportunidades de mejora identificadas: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Formalización del programa de constructabilidad: actualmente informal y dependiente de personas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Implementación de AWP: potencial para proyectos actuales tipo Quellaveco-escala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Base de datos de lecciones aprendidas: el conocimiento existe, no está sistematizado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Certificaciones CII: posicionamiento diferenciador vs. competencia local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 un programa formal de constructabilidad, COSAPI puede mejorar sus márgenes en 3–5% consistentemente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140</a:t>
            </a:r>
            <a:endParaRPr lang="en-US" sz="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Contexto Latinoamericano: Retos y Oportunidades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Latinoamérica tiene uno de los mayores potenciales de mejora en constructabilidad del mundo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Brechas típicas identificadas en proyectos latinoamericanos: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FEL insuficiente: proyectos autorizados con menos del 30% de la ingeniería básica completada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Constructor llegando tarde: contratista de construcción licitado con diseño al 60–70% (tardío)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Pocas organizaciones con sistemas formales de lecciones aprendidas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Bajo uso de BIM en construcción: mayormente en arquitectura, poco en proyectos industriales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prácticamente inexistente fuera de proyectos internacionales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Tendencias positivas observadas: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Creciente adopción de BIM impulsada por normativas de Chile y Colombia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Interés en Lean Construction (ILCAN activo en Perú, Chile, Colombia, Brasil)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Grandes mineras internacionales exigen AWP como condición contractual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brecha es la oportunidad: quien implemente primero gana ventaja competitiva sostenible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140</a:t>
            </a:r>
            <a:endParaRPr lang="en-US" sz="7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Benchmarking: COSAPI vs. Clase Mundial (Estimado)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140</a:t>
            </a:r>
            <a:endParaRPr lang="en-US" sz="7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Regulatorio y Normativo en Perú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entorno regulatorio peruano no exige constructabilidad formalmente, pero no la impide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Normativas relevantes que se benefician de la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Reglamento Nacional de Edificaciones (RNE): requisitos técnicos que deben considerarse desde FEL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INVIERTE.PE: sistema de inversión pública que exige estudios de prefactibilidad (análogo a FEL-1/2)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NTP (Normas Técnicas Peruanas): estándares de materiales y ejecución a considerar en constructability reviews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Normativa ambiental (EIA) y social (permitting): condicionantes de constructabilidad para minería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proyectos internacionales con Owner extranjero en Perú: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Shell DEP, ExxonMobil EMCAPS, BHP Project System: todos exigen AWP y constructabilidad formal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Anglo American, Glencore: constructability program como requisito del construction contractor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Oportunidad: COSAPI puede convertir el cumplimiento de estos estándares internacionales en diferenciador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/ 140</a:t>
            </a:r>
            <a:endParaRPr lang="en-US" sz="7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CII y Recursos en Latinoamérica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(Construction Industry Institute) – Austin, Texas: la fuente primaria de investigación y estándares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Recursos CII disponibles: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cii.utexas.edu: más de 300 publicaciones de investigación disponibles (miembros con acceso completo)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Annual Conference: cada año en EE.UU., networking con líderes de la industria global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Implementation Resources: herramientas descargables para PDRI, constructabilidad,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Organizaciones locales relevantes: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ILCAN (Instituto Lean Construction de América del Norte): red Lean con capítulos en Perú, Chile, Colombia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 (Construction Owner Association of Alberta): recursos AWP gratuitos en línea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PMI Lima: comunidad de gestión de proyectos con creciente enfoque en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Recomendación: COSAPI debe convertirse en miembro CII (costo ~USD 25,000/año; acceso a toda la investigación)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membership CII da acceso al benchmarking database – valor incalculable para proyectos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/ 140</a:t>
            </a:r>
            <a:endParaRPr lang="en-US" sz="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Publicaciones y Recursos Clave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Publication 3-1: "Constructability: A Primer" – la publicación fundacional (gratuita)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Publication 34-1: "Constructability Concepts File" – 180 conceptos aplicables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RT-272: "AWP Implementation Guide" – guía completa de implementación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CII SD-105: "PDRI Industrial" – plantilla y guía de uso (descargable)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Libros recomendados: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"The Owner's Role in Project Success" – CII / InSight Press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"Construction Productivity: Technology and Management" – Liberatore &amp; Monahan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"Lean Project Delivery" – Glenn Ballard &amp; Greg Howell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"Building Information Modeling: BIM in Current and Future Practice" – Karen Kensek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Recursos online gratuitos: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COAA.org → AWP section: guías, webinars y templates de IWP descargables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Lean Construction Institute (lcifoundation.org): recursos LPS gratuitos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/ 140</a:t>
            </a:r>
            <a:endParaRPr lang="en-US" sz="7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de Investigación: El Futuro de la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Las investigaciones activas en CII y academia para los próximos 5 años: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IA para predicción de constraints: modelos entrenados con datos históricos de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Constructabilidad climática: adaptación de revisiones a escenarios de riesgo climático extremo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para proyectos de energía renovable: eólica, solar y baterías, con modularización avanzada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Constructabilidad circular: diseño para desmontaje y reutilización al fin de vida del activo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Digital constructability: revisiones de constructabilidad automatizadas usando IA sobre modelos BIM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Constructabilidad en infraestructura social (hospitales, escuelas): expansión más allá del industrial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COSAPI: monitorear tendencias para anticipar los requerimientos de clientes en 3–5 años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no es estática: evoluciona con la tecnología y los modelos de entrega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/ 140</a:t>
            </a:r>
            <a:endParaRPr lang="en-US" sz="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Síntesis: Lo que la Evidencia Demuestra Consistentemente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proyectos Top Quartile IPA tienen programa de constructabilidad activo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proyectos Bottom Quartile IPA tienen AWP implementado correctamente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2023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probabilidad de éxito con FEL Class I vs. Class III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 Research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por dólar invertido en constructabilidad (promedio global CII)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Benchmarking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/ 140</a:t>
            </a:r>
            <a:endParaRPr lang="en-US" sz="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C3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práctico para implementar constructabilidad en COSAPI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/ 140</a:t>
            </a:r>
            <a:endParaRPr lang="en-US" sz="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Implementación – 5 Fases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2C3E8C"/>
          </a:solidFill>
          <a:ln w="9525">
            <a:solidFill>
              <a:srgbClr val="2C3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estado actual del programa y capacidades (meses 1-2)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sistema de constructabilidad COSAPI (meses 3-4)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2C3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en un proyecto seleccionado (meses 5-12)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2C3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4173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en todos los proyectos &gt;USD 20M (meses 12-24)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0972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E8E8ED"/>
          </a:solidFill>
          <a:ln w="9525">
            <a:solidFill>
              <a:srgbClr val="2C3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97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y benchmarking externo (mes 24 en adelante)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/ 140</a:t>
            </a:r>
            <a:endParaRPr lang="en-US" sz="7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Diagnóstico (Meses 1-2)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entender dónde está COSAPI hoy y qué necesita para implementar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Actividades del diagnóstico: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Evaluación de capacidades del equipo: ¿quiénes tienen experiencia relevante?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proyectos recientes: ¿qué problemas recurrentes de constructabilidad tuvimos?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Entrevistas con Construction Managers y Superintendents de los últimos 3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Evaluación del modelo de madurez AWP (Nivel 0–5): ¿dónde estamos?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de sistemas actuales: cronograma, materiales, documentos, BIM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Benchmarking inicial: ¿cómo estamos vs. la industria en las métricas clave?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Entregables del diagnóstico: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Informe de estado actual con brechas identificadas y priorizadas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Propuesta de Quick Wins implementables en el corto plazo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Business case para el programa de constructabilidad (ROI proyectado)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/ 140</a:t>
            </a:r>
            <a:endParaRPr lang="en-US" sz="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Diseño del Sistema (Meses 3-4)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diseñar el programa de constructabilidad COSAPI adaptado a nuestro contexto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Componentes a diseñar: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Program Manual: procedimientos, responsables, herramientas por fase del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Checklists de revisión de constructabilidad por disciplina y fase (basados en CII adaptados a Perú)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Plantillas de IWP estándar COSAPI para tipos de trabajo más frecuentes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Sistema de gestión de constraints y lecciones aprendidas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 de capacitación por niveles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KPIs del programa y proceso de reporte a la dirección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Participación clave en esta fase: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Workshop de 2 días con Construction Managers de todos los proyectos activos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Revisión con VPs de Operaciones y Contratos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Validación por asesor CII externo (recomendado)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/ 140</a:t>
            </a:r>
            <a:endParaRPr lang="en-US" sz="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Proyecto Piloto (Meses 5-12)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implementar el programa en un proyecto real para ajustar antes del despliegue masivo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Criterios de selección del proyecto piloto: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 en FEL-3 o inicio de ingeniería detallada (aún hay tiempo de impactar)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Escala: entre USD 30M y USD 200M (suficientemente grande para medir, manejable para aprender)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PM y Construction Manager comprometidos con el programa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Cliente receptivo a metodologías innovadoras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Actividades en el piloto: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Capacitación intensiva del equipo del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Implementación completa: revisiones de constructabilidad, AWP básico, constraint management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Coaching semanal del Constructability Coordinator del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Medición de KPIs desde el inicio para documentar impacto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Al final del piloto: cierre de aprendizajes, ajuste del programa y preparación para expansión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/ 140</a:t>
            </a:r>
            <a:endParaRPr lang="en-US" sz="7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4: Expansión Organizacional (Meses 12-24)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desplegar el programa en TODOS los proyectos COSAPI mayores a USD 20M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Estrategia de despliegue: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en ejecución: implementar AWP y WFP inmediatamente (aplica desde mañana)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en ingeniería: activar revisiones de constructabilidad y preparar IWP templates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en FEL: implementar el programa completo desde el inicio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Organización para el despliegue: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Contratar o designar Constructability Champions en cada proyecto mayor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Red de Champions: reunión mensual para compartir aprendizajes entre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Centro de excelencia de constructabilidad en la oficina corporativa (2–3 personas)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Comunicación del programa: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Presentación a todos los PMs y Construction Managers en taller anual COSAPI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Newsletter trimestral de constructabilidad con casos de éxito y lecciones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Reconocimiento: Premio COSAPI de Constructabilidad (anual)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/ 140</a:t>
            </a:r>
            <a:endParaRPr lang="en-US" sz="7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5: Búsqueda de la Excelencia (Año 2 en adelante)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Objetivo: elevar continuamente el nivel de constructabilidad hasta alcanzar clase mundial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Actividades de mejora continua: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Benchmarking externo anual con CII Benchmarking &amp; Metrics Database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Auditorías anuales de calidad del programa (puede hacerlas un consultor CII)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Actualización bienal del Construction Program Manual con experiencia acumulada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Ampliación del alcance: constructabilidad en mantenimiento mayor (Turnarounds)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Indicadores de clase mundial a alcanzar en 3-5 años: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Madurez: Nivel 4 en proyectos industriales mayores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5 o más personas certificadas CII en constructabilidad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85%+ de IWPs liberados sin detenciones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Presentación de caso de éxito COSAPI en CII Annual Conference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meta final: que la constructabilidad sea "la forma en que COSAPI hace proyectos" – no un programa adicional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/ 140</a:t>
            </a:r>
            <a:endParaRPr lang="en-US" sz="7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Lo Que Podemos Hacer Esta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Acciones de alto impacto implementables inmediatamente, sin costo significativo: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1. Comenzar una sesión de Work Face Planning en el próximo IWP de cualquier obra activa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2. Crear un Constraint Log simple en Excel para el proyecto más crítico activo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3. Programar una revisión de constructabilidad de los próximos planos a emitir en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4. Entrevistar a los 3 Superintendents más senior para capturar sus 10 mejores observaciones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5. Suscribirse al CII mailing list (gratuito) para acceder a investigación nueva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6. Descargar y revisar el PDRI para el proyecto más en inicio de la cartera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7. Asignar a un Field Engineer como "Construction Liaison" con el equipo de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Cada una de estas acciones, hecha consistentemente, genera valor mensurable en 30-60 días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"No esperes el programa perfecto para empezar. Empieza imperfectamente y mejora." — Principio Lean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/ 140</a:t>
            </a:r>
            <a:endParaRPr lang="en-US" sz="7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Seguimiento del Programa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de implementación del programa (¿estamos ejecutando el programa?):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% de revisiones de constructabilidad planificadas vs. completadas por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% de proyectos &gt;USD 20M con AWP Coordinator asignado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% de IWPs que se liberan con todos los constraints resueltos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Número de lecciones aprendidas capturadas vs. meta anual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Métricas de resultado del proyecto (¿el programa impacta los proyectos?):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Cost Growth: variación de costo vs. baseline autorizado (target: &lt;5%)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Schedule Growth: variación de plazo vs. cronograma autorizado (target: &lt;5%)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Field Rework Rate: horas de retrabajo / total horas construidas (target: &lt;3%)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RFI Rate: RFIs emitidos / USD millón de CAPEX (target: reducir 30% vs. histórico)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Reporte: dashboard mensual presentado al VP de Proyectos; revisión anual de tendencias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/ 140</a:t>
            </a:r>
            <a:endParaRPr lang="en-US" sz="7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Objetivo: KPIs de Constructabilidad COSAPI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/ 140</a:t>
            </a:r>
            <a:endParaRPr lang="en-US" sz="7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Comunicación del Programa de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comunicación es tan importante como el programa técnico: sin visibilidad, no hay soporte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Audiencias y mensajes clave: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Alta dirección: "ROI: cada sol invertido en constructabilidad retorna S/.22"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Project Managers: "Reduce tus RFIs 30-40%, tu retrabajo 50% y mejora tus márgenes"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Construction Managers: "Menos paradas de cuadrilla, más productividad, menos estrés"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Field Engineers: "IWPs bien preparados = cuadrillas que trabajan, no que esperan"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Clientes: "COSAPI implementa estándares CII internacionales en sus proyectos"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Medios de comunicación: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Kick-off workshop de constructabilidad al inicio de cada proyecto (2 horas)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Newsletter mensual de constructabilidad con caso del mes y lección aprendida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Inclusión de KPIs de constructabilidad en el informe mensual de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Página interna en el portal de COSAPI dedicada al programa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/ 140</a:t>
            </a:r>
            <a:endParaRPr lang="en-US" sz="7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 Organizacional para la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resistencia al cambio es predecible y manejable si se planifica correctamente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Etapas del cambio organizacional (Kotter 8 pasos) aplicadas 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1. Crear urgencia: compartir los datos de proyectos con problemas (¿cuánto perdimos?)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2. Formar la coalición guía: VP + 3 PMs convencidos son suficientes para arrancar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3. Visión clara: "en 3 años, constructabilidad es la forma estándar de trabajar en COSAPI"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4. Comunicar la visión: talleres, presentaciones, newsletter, reuniones de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5. Remover obstáculos: proteger tiempo de revisiones cuando haya presión por avanzar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6. Generar victorias tempranas: publicar internamente los primeros resultados del piloto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7. Consolidar las ganancias: hacer del programa un requisito en todos los proyectos &gt;20M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8. Anclar el cambio: incluir constructabilidad en sistema de performance y cultura COSAPI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/ 140</a:t>
            </a:r>
            <a:endParaRPr lang="en-US" sz="7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Cambio: Cómo Manejar las Objeciones Comunes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"No tenemos tiempo para esto"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"Ya lo hacemos informalmente"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"Nuestros proyectos son únicos"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"El cliente no lo pide"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"Nos va a costar más"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Efectiva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mejores proyectos del mundo SÍ tienen tiempo; además, el programa AHORRA tiempo de retrabajo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sistema formal, el conocimiento se pierde con las personas; lo informal no se puede medir ni mejorar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12 principios CII aplican a cualquier tipo de proyecto; los ajustamos a nuestro contexto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Cuando implemente AWP y reduzca costos, el cliente SÍ lo pedirá en todos los contratos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inversión es 0.3-0.5% del CAPEX; el beneficio es 6-10%; el cálculo es simple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/ 140</a:t>
            </a:r>
            <a:endParaRPr lang="en-US" sz="7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Constructability Champions: Los Líderes del Cambio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Un Champion es la persona que lidera la constructabilidad en su proyecto o unidad de negocio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Champion NO es un rol adicional al 100%; puede ser el Construction Manager con 20% de su tiempo dedicado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Responsabilidades del Constructability Champion: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Asegurar que las revisiones de constructabilidad se programan y ejecutan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Ser el punto de escalamiento cuando un comentario de constructabilidad no es atendido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Capturar y documentar lecciones aprendidas durante el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Participar en la red mensual de Champions corporativa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Reportar KPIs de constructabilidad al PM mensualmente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Perfil del Champion ideal: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Respetado por diseñadores Y constructores (el "puente humano")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 experiencia en campo real; sabe de lo que habla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Proactivo, no esperará instrucciones: verá el problema y actuará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Incentivo: reconocimiento formal + preferencia en proyectos AWP de alta complejidad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/ 140</a:t>
            </a:r>
            <a:endParaRPr lang="en-US" sz="7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Concretos para COSAPI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CORTO PLAZO (30 días):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Decisión ejecutiva: VP de Proyectos aprueba inicio del programa de constructabilidad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Designar al Constructability Program Manager responsable de la Fase 1 (Diagnóstico)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Seleccionar el proyecto piloto candidato entre proyectos activos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MEDIANO PLAZO (90 días):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Completar el diagnóstico y presentar business case a la alta dirección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Iniciar la fase de diseño del programa con participación del equipo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Arrancar Quick Wins en el proyecto piloto seleccionado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LARGO PLAZO (12 meses):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Piloto completado con resultados medidos y documentados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Primeros 3 Constructability Champions certificados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Plan de expansión a toda la cartera de proyectos presentado y aprobado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/ 140</a:t>
            </a:r>
            <a:endParaRPr lang="en-US" sz="7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CII para Comenzar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Recursos gratuitos en cii.utexas.edu/resources/implementation-resources/: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IR-3-1: "Constructability: A Primer" – documento fundacional, gratuito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IR-3-2: "Constructability Implementation Guide" – cómo arrancar el programa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CF-3-1: "Constructability Concepts File" – 180 conceptos aplicables con ejemplos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IR-272-1: "Advanced Work Packaging Implementation" – guía completa AWP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Recursos COAA (coaa.ab.ca) – todos gratuitos: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Guide 1.0: definición, componentes y proceso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IWP Template: plantilla estándar para crear Installation Work Packages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Constraint Log Template: Excel listo para usar en cualquier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Capacitación online: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 Online Learning Center: módulos de 1–4 horas, certificado de completitud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 Webinars: series de AWP Implementation, gratuitos para miembros COAA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YouTube CII: presentaciones de Annual Conference de libre acceso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/ 140</a:t>
            </a:r>
            <a:endParaRPr lang="en-US" sz="7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Publications por Tema – Relevancia para COSAPI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/ 140</a:t>
            </a:r>
            <a:endParaRPr lang="en-US" sz="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de la Constructabilidad – Análisis de Inversión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CAPEX: inversión típica en un programa completo de constructabilidad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CAPEX: ahorro promedio documentado en proyectos CII clase mundial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RT-3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20–35x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sobre inversión (ROI) del programa en proyectos industriales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Publication 34-1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año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recuperación de la inversión en el programa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Industry Survey 2022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/ 140</a:t>
            </a:r>
            <a:endParaRPr lang="en-US" sz="7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de No Actuar: Lo Que Está en Juego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un proyecto típico COSAPI de USD 150M: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Sin programa de constructabilidad: sobrecosto esperado de 15–20% = USD 22.5–30M de pérdida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 programa de constructabilidad: sobrecosto esperado de 4–6% = USD 6–9M de variación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Diferencia: USD 16–21M en UN proyecto. El programa cuesta ~USD 450,000.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la cartera COSAPI de 10 proyectos mayores por año: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Potencial de ahorro anual: USD 80–150M si se alcanza clase mundial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Inversión requerida en el programa: USD 2–4M anuales (personal, herramientas, capacitación)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Más allá del dinero: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Reputación: proyectos exitosos generan más oportunidades de negocio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Seguridad: proyectos bien planificados tienen menos accidentes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Personal: constructores y diseñadores prefieren trabajar en proyectos que funcionan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"La pregunta no es si podemos costear el programa. La pregunta es si podemos costear no tenerlo."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/ 140</a:t>
            </a:r>
            <a:endParaRPr lang="en-US" sz="7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 de Constructabilidad – Resumen Ejecutivo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años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evidencia CII demuestran el mismo resultado: constructabilidad funciona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1983–2024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963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por cada dólar invertido en constructabilidad (promedio global)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Publication 34-1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promedio para ver resultados medibles con Quick Wins implementados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estimado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1112" y="1097280"/>
            <a:ext cx="1911096" cy="3474720"/>
          </a:xfrm>
          <a:prstGeom prst="roundRect">
            <a:avLst>
              <a:gd name="adj" fmla="val 3828"/>
            </a:avLst>
          </a:prstGeom>
          <a:solidFill>
            <a:srgbClr val="F5F5F7"/>
          </a:solidFill>
          <a:ln w="9525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280160"/>
            <a:ext cx="19110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momento para comenzar. El segundo mejor momento también es ahora.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/ 140</a:t>
            </a:r>
            <a:endParaRPr lang="en-US" sz="7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Compromisos: Lo Que Cada Rol Puede Hacer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VP de Proyectos / Gerencia General: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Declarar la constructabilidad como prioridad estratégica en la próxima reunión de dirección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Asignar presupuesto para el Programa de Constructabilidad en el plan 2025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Project Managers: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En el próximo proyecto: incluir una Constructability Review en el plan de proyecto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Contratar o designar un Construction Liaison con el equipo de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Construction Managers y Field Engineers: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Esta semana: crear un Constraint Log para el proyecto más activo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Próxima reunión de campo: proponer Work Face Planning para los IWPs del próximo mes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Todos: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Descargar el PDRI de CII y aplicarlo al próximo proyecto en evaluación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Proponer UN Quick Win de constructabilidad en el próximo proyecto que participen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/ 140</a:t>
            </a:r>
            <a:endParaRPr lang="en-US" sz="7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como Ventaja Competitiva de COSAPI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un mercado donde el diferenciador es la ejecución, constructabilidad es la ventaja sostenible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Propuesta de valor al cliente: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"COSAPI implementa estándares internacionales CII en todos sus proyectos"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"Nuestros proyectos se ejecutan con AWP: usted ve sus IWPs en tiempo real"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"Nuestra tasa de retrabajo es 3x menor que la industria peruana"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"Su proyecto FEL tendrá revisiones de constructabilidad que otros contratistas no ofrecen"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Posicionamiento en licitaciones: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Plan de Constructabilidad se presenta como parte de la propuesta técnica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Los KPIs de proyectos anteriores demuestran el impacto (datos medibles)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Las certificaciones CII del equipo diferencian la propuesta de COSAPI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Clientes internacionales (BHP, Anglo American, Glencore): ya exigen constructabilidad; estar listos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/ 140</a:t>
            </a:r>
            <a:endParaRPr lang="en-US" sz="7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Debate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Algunas preguntas para guiar el debate: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38912" cy="384048"/>
          </a:xfrm>
          <a:prstGeom prst="roundRect">
            <a:avLst>
              <a:gd name="adj" fmla="val 9524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mayor obstáculo que ve para implementar constructabilidad en COSAPI?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38912" cy="384048"/>
          </a:xfrm>
          <a:prstGeom prst="roundRect">
            <a:avLst>
              <a:gd name="adj" fmla="val 9524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proyecto activo aplicaría primero el programa? ¿Por qué ese?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438912" cy="384048"/>
          </a:xfrm>
          <a:prstGeom prst="roundRect">
            <a:avLst>
              <a:gd name="adj" fmla="val 9524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61488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Quick Win de los mencionados podría comenzar esta semana en su proyecto?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438912" cy="384048"/>
          </a:xfrm>
          <a:prstGeom prst="roundRect">
            <a:avLst>
              <a:gd name="adj" fmla="val 9524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28416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3467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comunicaría el programa a su cliente para que lo vea como valor agregado?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438912" cy="384048"/>
          </a:xfrm>
          <a:prstGeom prst="roundRect">
            <a:avLst>
              <a:gd name="adj" fmla="val 9524"/>
            </a:avLst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95344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recurso (personas, herramientas, tiempo) necesita para comenzar el piloto?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/ 140</a:t>
            </a:r>
            <a:endParaRPr lang="en-US" sz="7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Agradecimientos y Reconocimientos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presentación es posible gracias al trabajo de investigación de: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Industry Institute (CII) – Austin, Texas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Texas at Austin – Department of Civil Engineering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Owner Association of Alberta (COAA)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Project Analysis (IPA)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Construction Institute (LCI)
</a:t>
            </a:r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 todos los proyectos e ingenieros que compartieron sus datos de manera que
 la industria pueda aprender de ellos.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– Construyendo el Perú desde 1960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/ 140</a:t>
            </a:r>
            <a:endParaRPr lang="en-US" sz="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y Próximos Pasos Inmediatos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Para iniciar el Programa de Constructabilidad COSAPI, contactar: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VP de Proyectos y Construcción COSAPI – para aprobar el presupuesto e iniciativa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Gerencia de Innovación y Mejora Continua – para integrar con otros programas en curso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Recursos CII de acceso inmediato (sin costo de membresía):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cii.utexas.edu/resources → Implementation Resources → Constructability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coaa.ab.ca → AWP Resources → Free Downloads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YouTube: buscar "CII Annual Conference" para presentaciones recientes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Próxima conferencia CII: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CII Annual Conference – julio 2025, San Antonio Texas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Información: cii.utexas.edu/conference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Programa de formación CII disponible en Lima (consultar con CII Latin America Network)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/ 140</a:t>
            </a:r>
            <a:endParaRPr lang="en-US" sz="7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12 Principios CII – Referencia Rápida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1. Soporte activo de alta dirección al programa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2. El propietario lidera e impulsa el programa en todos sus proyectos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3. Participación temprana del constructor desde las etapas conceptuales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4. Equipo de proyecto con experiencia constructiva real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5. Estructura organizacional que facilite la integración diseñador-constructor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6. Transferencia sistemática de tecnología y conocimiento entre proyectos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7. Planificación avanzada orientada a la eficiencia de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8. Conocimiento constructivo integrado en el proceso de diseño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9. Diseño avanzado en etapas tempranas antes de iniciar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10. Cronogramas sensibles a la lógica y restricciones reales de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11. Tecnologías de información avanzadas como habilitadores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12. Retroalimentación sistemática y aprendizaje organizacional entre proyectos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/ 140</a:t>
            </a:r>
            <a:endParaRPr lang="en-US" sz="7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de Términos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(Advanced Work Packaging): metodología de planificación y ejecución basada en paquetes de trabajo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CWA (Construction Work Area): zona geográfica discreta con un superintendent responsable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EWP (Engineering Work Package): paquete de ingeniería alineado a un CWP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FEL (Front End Loading): proceso de definición rigurosa del proyecto antes de la autorización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IPA (Independent Project Analysis): firma de benchmarking; también clase de evaluación FEL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IWP (Installation Work Package): unidad básica de trabajo para una cuadrilla en 1–2 semanas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LPS (Last Planner System): sistema Lean de planificación y control de producción en campo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PDRI (Project Definition Rating Index): herramienta CII para medir la definición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PoC (Path of Construction): secuencia macro aprobada de construcción de las CWAs del proyecto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WFP (Work Face Planning): planificación colaborativa de campo 2–4 semanas antes del IWP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VIP (Value Improving Practice): herramienta de optimización de valor aplicada en FEL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/ 140</a:t>
            </a:r>
            <a:endParaRPr lang="en-US" sz="7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Templates Disponibles para Descarga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Desde CII (cii.utexas.edu) – gratuitas para no miembros: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Concepts File (CII CF-3-1): 180 conceptos con descripción y beneficio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Constructability Primer (CII IR-3-1): guía de implementación fundacional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Implementation Guides (CII IR-272): set completo de guías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Desde COAA (coaa.ab.ca) – todas gratuitas: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IWP Template: plantilla estándar para crear IWPs, con todas las secciones definidas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Constraint Log Template: Excel con categorías de constraints predefinidas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AWP Self Assessment Tool: evalúa tu nivel de madurez AWP en 20 minutos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Desde IPA (ipaglobal.com):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FEL Assessment Toolkit: herramientas para evaluar calidad de FEL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Desde Lean Construction Institute (lcifoundation.org):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LPS Starter Kit: guía de implementación del Last Planner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/ 140</a:t>
            </a:r>
            <a:endParaRPr lang="en-US" sz="7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en Proyectos de Energía Renovable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constructabilidad es igualmente crítica en proyectos de energía solar, eólica e hidro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Desafíos específicos de constructabilidad en renovables: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Solar: secuencia de montaje de paneles en grandes extensiones de terreno; accesos temporales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Eólica: izaje de torres de 80–120m con grúas de gran capacidad en terrenos de difícil acceso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Hidro: secuencia de construcción de presa, casa de máquinas y transmisión en ríos activos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Almacenamiento (BESS): modularización de racks de baterías, commissioning sistemático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AWP en renovables: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Path of Construction para parques solares: fila por fila con lógica de acceso de maquinaria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IWPs para instalación de paneles: paquetes diarios de 100–200 paneles por cuadrilla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cartera de renovables en Perú crece exponencialmente: COSAPI tiene oportunidad de posicionarse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/ 140</a:t>
            </a:r>
            <a:endParaRPr lang="en-US" sz="7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vs. Constructividad – Aclarando la Diferencia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024128"/>
            <a:ext cx="18288" cy="379476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(CII)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Proceso sistemático, basado en investigación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Aplicado en todas las fases del proyecto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Tiene herramientas y métricas definidas (PDRI, AWP)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Requiere programa formal con responsables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Genera aprendizaje organizacional sistemático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ROI documentado: USD 22 por cada USD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024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Constructividad (término coloquial)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42062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Idea intuitiva de "facilidad para construir"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Generalmente solo considerada en diseño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herramientas o métricas estandarizadas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Depende de la experiencia individual del diseñador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El conocimiento no se transfiere sistemáticamente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Sin ROI medible ni benchmarking posible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/ 140</a:t>
            </a:r>
            <a:endParaRPr lang="en-US" sz="7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en el Contexto de Proyectos EPC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En proyectos EPC, el contratista tiene control total sobre diseño, procura Y construcción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Ventaja única del EPC para constructabilidad: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mismo equipo es responsable del diseño constructible y de construir lo que diseñó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No hay "brecha contractual" entre diseñador y constructor: son la misma entidad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Los ahorros de constructabilidad benefician directamente al margen del contratista EPC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Riesgos de constructabilidad específicos del EPC: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Presión por minimizar costo de diseño puede reducir tiempo para revisiones de constructabilidad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Fast-track: iniciar construcción con diseño incompleto genera cambios costosos en campo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El EPC contratista puede no incluir al Owner en revisiones de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Best practice EPC: "Build to design, not design what was built" – el diseño debe planificarse para construir, no modificarse cuando se construye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/ 140</a:t>
            </a:r>
            <a:endParaRPr lang="en-US" sz="7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en Proyectos Mineros de Gran Escala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Los proyectos mineros peruanos son el contexto más relevante para COSAPI en constructabilidad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Particularidades de la constructabilidad en minería peruana: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Altitud: trabajos sobre 4,000 m.s.n.m. reducen productividad 15–20%; el IWP debe ser más pequeño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Clima: temporada de lluvias (noviembre–abril) limita trabajo en fundaciones y estructuras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Logística: acceso a sitio puede ser el constraint principal; planificar la ruta crítica logística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Comunidades: los permisos sociales condicionan el cronograma de inicio; planificar en FEL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Mano de obra: escasez de soldadores certificados y operadores de grúa especializada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Soluciones de constructabilidad específicas para minería: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Modularización máxima: fabricar en Callao, Trujillo o Chile; reducir trabajo en altura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Prefabricación de soportería: taller en Lima, envío certificado a sitio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IWPs calibrados a turnos mineros: 14x7 o 28x14, con transfers planificados en el IWP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/ 140</a:t>
            </a:r>
            <a:endParaRPr lang="en-US" sz="7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Frecuentes sobre Constructabilidad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¿Es constructabilidad lo mismo que ingeniería de detalle? No. Constructabilidad aplica en TODAS las fases; ingeniería de detalle es solo una fase.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¿Necesitamos contratar a un experto externo para comenzar? No obligatoriamente. Con los recursos CII gratuitos y liderazgo interno, se puede iniciar. Un asesor acelera.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¿Funciona para proyectos pequeños (&lt;USD 5M)? Algunos principios aplican. AWP completo no justifica. Revisiones de constructabilidad y constraint management sí aplican.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¿Cuánto tiempo tardamos en ver resultados? Quick Wins: 30–60 días. Impacto en KPIs de proyecto: 6–12 meses. Ventaja competitiva sostenible: 2–3 años.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¿El cliente debe participar en las revisiones de constructabilidad? Lo ideal es sí; el Owner con voz tiene más autoridad para aprobar cambios. Cuando no puede, al menos recibe el reporte.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¿Cómo sé si mi equipo está listo? Disposición al cambio y experiencia en campo son más importantes que formación académica en constructabilidad.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/ 140</a:t>
            </a:r>
            <a:endParaRPr lang="en-US" sz="7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Final: La Construcción que Queremos Hacer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"La industria de la construcción no puede darse el lujo de continuar con las prácticas del pasado. El mundo necesita que construyamos más rápido, con menos recursos y de manera más segura. La constructabilidad es la disciplina que hace posible esa transformación."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                  — Construction Industry Institute, 2024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Lo que está en juego: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que llegan a tiempo: impactan a las personas que los necesitan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dentro de presupuesto: generan confianza y futuros proyectos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seguros: protegen a las personas que los construyen</a:t>
            </a:r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–  Proyectos de los que estamos orgullosos: dejan legado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COSAPI tiene la experiencia, las personas y el contexto de mercado para liderar la constructabilidad en el Perú.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La pregunta es: ¿cuándo comenzamos?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47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  ·  CONSTRUCTABILIDAD CII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 / 140</a:t>
            </a:r>
            <a:endParaRPr lang="en-US" sz="7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2C3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572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CONSTRUYAMOS MEJOR.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constructabilidad CII en tu próximo proyecto.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cii.utexas.edu  ·  coaa.ab.ca  ·  lcifoundation.org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Constructabilidad CII V3  ·  140 láminas  ·  COSAPI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/ 140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140</Slides>
  <Notes>140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140</vt:i4>
      </vt:variant>
    </vt:vector>
  </HeadingPairs>
  <TitlesOfParts>
    <vt:vector size="1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Constructabilidad – Mejores Prácticas CII</dc:title>
  <dc:subject>Constructabilidad CII V3</dc:subject>
  <dc:creator>PptxGenJS</dc:creator>
  <cp:lastModifiedBy>PptxGenJS</cp:lastModifiedBy>
  <cp:revision>1</cp:revision>
  <dcterms:created xsi:type="dcterms:W3CDTF">2026-10-01T14:18:21Z</dcterms:created>
  <dcterms:modified xsi:type="dcterms:W3CDTF">2026-10-01T14:18:21Z</dcterms:modified>
</cp:coreProperties>
</file>