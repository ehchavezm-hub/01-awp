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Lst>
  <p:notesMasterIdLst>
    <p:notesMasterId r:id="rId1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notesMaster" Target="notesMasters/notesMaster1.xml"/><Relationship Id="rId133" Type="http://schemas.openxmlformats.org/officeDocument/2006/relationships/presProps" Target="presProps.xml"/><Relationship Id="rId134" Type="http://schemas.openxmlformats.org/officeDocument/2006/relationships/viewProps" Target="viewProps.xml"/><Relationship Id="rId135" Type="http://schemas.openxmlformats.org/officeDocument/2006/relationships/theme" Target="theme/theme1.xml"/><Relationship Id="rId1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Bienvenidos. En esta presentación vamos a recorrer, pantalla por pantalla, la aplicación web de implementación AWP. Es la herramienta que acompaña al kit de implementación: usa los mismos códigos, las mismas fases, etapas, roles, hitos e indicadores. Al terminar sabrás qué hace cada módulo, cómo se usa, qué reglas aplica y cómo sacarle provecho en la rutina semanal de un proyecto de construcción.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empezar, unas indicaciones para aprovechar este material. Todas las capturas son reales: se tomaron de la aplicación funcionando con tres proyectos de ejemplo. El contenido está organizado en dieciséis secciones, y cada una empieza con una lámina oscura que resume lo que vas a ver. Cada lámina tiene en sus notas el texto completo de la narración, de modo que un facilitador puede usarla en una capacitación. Vamos a distinguir siempre lo que ya funciona hoy, que corresponde a la Etapa 2 de construcción, de lo que llega en las etapas siguientes. Y cuando la aplicación calcule algo, como el porcentaje de avance, el semáforo o el próximo paso, te mostraremos la regla exacta.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recorrido completo. Empezamos por qué es la aplicación y cómo se relaciona con el kit. Después vemos el acceso, el recorrido guiado y la biblioteca de recursos. Luego el portafolio, el asistente para crear proyectos y el dashboard del proyecto. Seguimos con los módulos de fases, avance AWP, hitos y la edición del proyecto y su equipo. Después revisamos las ayudas didácticas, la seguridad de los datos, los módulos que vienen en las próximas etapas, y terminamos con una rutina de uso semanal y buenas prácticas.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uno: qué es la aplicación. Veremos el problema que resuelve, dos conceptos que conviene tener muy claros desde el inicio, la arquitectura, qué necesitas para usarla y el mapa completo de módulos.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aplicación AWP es una herramienta web para registrar y seguir la implementación de Advanced Work Packaging en varios proyectos a la vez. En la pantalla ves el dashboard de un proyecto real de ejemplo, la planta de tratamiento de agua Norte. Tiene cuatro piezas centrales. El portafolio, que muestra todos tus proyectos con su porcentaje de implementación y su semáforo. El asistente de cuatro pasos, que crea un proyecto completo con fases, roles, hitos, checklist y matriz RACI. El dashboard del proyecto, que te dice qué hacer a continuación y cómo vas. Y la biblioteca de recursos, con todas las plantillas del kit.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Veamos el problema que resuelve. Sin la aplicación, el kit se usa como un conjunto de dieciocho plantillas sueltas, cada una con su propia copia de fases y fechas. El avance se reporta a mano y cada proyecto lo mide distinto. Nadie ve el portafolio completo, los hitos a veces se dan por cumplidos sin evidencia, y quien llega nuevo al equipo no sabe por dónde empezar. Con la aplicación, todo vive en un solo lugar con los catálogos del kit. El porcentaje de implementación se calcula igual en todos los proyectos. El portafolio compara proyectos con un semáforo común. Un hito solo se marca cumplido con fecha real y evidencia. Y las ayudas didácticas enseñan AWP mientras se trabaja.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muestra la relación directa con el kit. El checklist de treinta actividades del plan de implementación es el módulo Avance AWP. Los once hitos del plan, H cero y H uno a H diez, son el módulo Hitos. Los dieciséis roles de la organización AWP aparecen en el asistente y en la pestaña Equipo. Las tres fases del proyecto tipo se proponen automáticamente. Las cinco etapas del ciclo de vida organizan los anillos del dashboard y el checklist. Los trece KPI del tablero y la matriz RACI de treinta y siete actividades ya están cargados en la base de datos, y sus módulos llegan en la Etapa 4. Las dieciocho plantillas están hoy en Recursos y tendrán su formulario propio en las etapas tres a cinco.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Quién usa la aplicación. El AWP Champion es el usuario principal: crea los proyectos, mantiene el checklist y los hitos y consolida el avance. El Líder de WFP sigue los hitos de liberación, como H siete y H ocho, y los plazos de liberación de cada fase. El Gerente de Construcción aprueba el Path of Construction y los CWP y vigila el semáforo. El Gerente de Proyecto revisa el portafolio y usa el próximo paso en la reunión semanal. Ingeniería y procura consultan sus hitos y actividades. Y el cliente aprueba los hitos clave y recibe un avance respaldado por evidencia.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seguir, dos conceptos que no se deben mezclar. La fase del proyecto es una parte del alcance que se ejecuta con sus propias fechas: Fase uno, Fase dos, Fase tres. En el proyecto tipo, la Fase uno son las obras tempranas, la Fase dos la instalación principal y la Fase tres las edificaciones complementarias. Cada fase tiene sus propios hitos, su madurez objetivo y sus plazos. La etapa del ciclo de vida, en cambio, es el momento en que ocurre una actividad AWP: planificación temprana, ingeniería, procura, construcción y comisionamiento. Las etapas organizan el checklist y los anillos del dashboard. Atención: la presentación de capacitación llama fases a esas etapas; en la aplicación siempre se dicen etapas.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son las cinco etapas del ciclo de vida con sus actividades. La planificación temprana tiene ocho actividades: designar al Champion, evaluar la escala de AWP, dividir en CWA, desarrollar el Path of Construction, preparar la lista de CWP, la estructura de desglose, los requisitos en contratos y la gestión de información. Ingeniería tiene seis, procura cinco, construcción siete y comisionamiento cuatro. En total, treinta actividades que forman el checklist de implementación.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funciona por dentro. Tú usas un navegador, en la oficina, en casa o en el celular. La aplicación se publica en GitHub Pages, en la misma web del kit, dentro de la ruta slash app. Los datos viven en Supabase, una base de datos PostgreSQL con inicio de sesión por correo y contraseña. La conexión usa solo la clave pública del proyecto; la seguridad la dan las reglas de Row Level Security de la base de datos, que impiden que alguien sin sesión, o un usuario que no es miembro, vea tus proyectos. Las plantillas y la presentación se descargan desde la web del kit, sin duplicarse.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necesitas para usarla: nada que instalar. Funciona en cualquier navegador moderno, en computadora o en el celular. Solo necesitas un usuario con correo y contraseña, que crea el administrador en Supabase; el registro abierto está desactivado para que nadie más pueda crearse una cuenta. Las treinta y seis tablas de la base de datos están protegidas con Row Level Security, y ningún dato de proyecto se guarda en el repositorio, que es público. Puedes entrar desde la oficina, desde tu casa o desde la obra.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mapa completo de módulos del proyecto. En verde, lo que ya funciona en la Etapa 2: el resumen o dashboard, fases, avance AWP e hitos, además del portafolio, el asistente y los recursos. En la Etapa 3 llegan paquetes, Path of Construction, restricciones, liberación de IWP y lookahead. En la Etapa 4, roles y RACI, riesgos, lecciones aprendidas y KPI. En la Etapa 5, los documentos Word generados desde formularios. Los módulos futuros ya aparecen en el menú lateral, marcados con su etapa, para que el equipo sepa qué viene.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aplicación se construye por etapas, y cada una se publica y se prueba antes de la siguiente. La Etapa uno fue el diseño: documento, maqueta y base de datos con seguridad probada. La Etapa dos, la que ves en esta presentación, trae el inicio de sesión, el recorrido guiado, los recursos, el portafolio, el asistente, las fases, el avance AWP, los hitos y el dashboard. La Etapa tres trae los paquetes y la ejecución. La cuatro, el control con RACI, riesgos, lecciones y KPI. La cinco, los documentos Word. Y la seis, la importación y exportación con Excel, los reportes en PDF y un proyecto de ejemplo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dos: acceso y sesión. Veremos cómo entrar, qué pasa si te equivocas, cómo recuperar la contraseña y cómo cerrar sesión.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pantalla de inicio de sesión. Se abre en la dirección que ves arriba, dentro de la web del kit. A la derecha escribes tu correo y tu contraseña; el ícono del ojo te permite ver lo que escribiste. A la izquierda, un panel resume lo que la aplicación ofrece. Abajo hay un enlace a los recursos del kit, que se pueden consultar sin iniciar sesión. Una vez que entras, la sesión queda recordada en ese navegador, así que la próxima vez vas directo a tu portafolio.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te equivocas, el mensaje es claro: el correo o la contraseña no coinciden, revisa las mayúsculas y el correo. Si no la recuerdas, te sugiere recuperarla. Por seguridad, el mensaje no dice si el correo existe o no. Este estilo se repite en toda la aplicación: cualquier error, venga del formulario o de la base de datos, se traduce a un mensaje en español que explica la causa y cómo corregirla.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recuperar la contraseña, escribe tu correo y toca el enlace olvidaste tu contraseña. Recibirás un correo con un enlace. Ese enlace abre la aplicación directamente en la pantalla nueva contraseña, donde la escribes dos veces. Al guardar, quedas con la sesión iniciada. Si el correo no llega, revisa la carpeta de correo no deseado; el enlace vence después de un tiempo, y siempre puedes pedir otro.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Arriba a la derecha está el círculo con tus iniciales. Al tocarlo se abre el menú de usuario: muestra con qué correo entraste, permite repetir el recorrido guiado, ir a los recursos del kit y cerrar sesión. Cierra sesión siempre que uses una computadora compartida.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tres: el recorrido guiado. La primera vez que entras, la aplicación se presenta sola en seis paradas.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primera parada es la bienvenida. El recorrido resalta con un borde ámbar la parte de la pantalla de la que habla y muestra una caja con la explicación. Avanzas con Siguiente o lo cierras con Saltar; los puntos te dicen en qué parada vas. Cuando terminas o lo saltas, queda registrado en tu perfil y no vuelve a aparecer solo, aunque entres desde otro dispositivo.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paradas dos a cuatro muestran el portafolio, donde verás todos tus proyectos con su porcentaje de implementación, los hitos atrasados y el próximo hito; el botón nuevo proyecto, que abre el asistente de cuatro pasos; y los recursos del kit, con todas las plantillas, el plan de implementación y la presentación de capacitación.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parada cinco presenta el botón de modo claro u oscuro. La sexta, el botón de ayuda con el signo de interrogación, desde donde puedes repetir el recorrido. También puedes repetirlo desde el menú de usuario, y en el celular desde el botón Ayuda de la barra inferior.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cuatro: recursos del kit. Es la biblioteca pública de plantillas y material de capacitación, visible incluso sin iniciar sesión.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biblioteca de recursos reúne todas las plantillas del kit. Es pública: se abre sin iniciar sesión, lo que la hace útil para compartir plantillas con contratistas. Arriba destaca la presentación de capacitación de ciento veintidós láminas. Debajo, veinticuatro recursos: once plantillas Excel, siete Word, el plan de implementación, esta guía de la aplicación y páginas web de consulta. Los archivos no se duplican: se descargan desde la web del kit, así que siempre obtienes la última versión.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pestañas filtran por categoría. Planificación reúne el plan y las plantillas para definir áreas, secuencia y paquetes. Control, las de seguimiento: restricciones, paquetes, liberación, KPI, riesgos, lecciones e informe de cierre. Organización, la matriz RACI y los perfiles de puesto. Y Capacitación, la presentación, las páginas del plan y el glosario. El buscador, arriba a la derecha, encuentra por nombre, por sigla o por cualquier palabra de la descripción.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tarjeta de recurso responde tres preguntas antes de descargar: para qué sirve, cuándo se usa y quién la llena. En el ejemplo, el registro de restricciones: es la lista única de restricciones de CWP e IWP, se usa cada semana desde que el IWP entra a la ventana de planificación, y la llenan los planificadores de frente de trabajo. El botón Descargar baja el archivo. El botón llenar en la aplicación indica en qué etapa llega su formulario; en este caso, la Etapa 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son las once plantillas Excel del kit y la etapa en que cada una tendrá su formulario. Siete llegan en la Etapa tres: restricciones, seguimiento de paquetes, definición de CWA, Path of Construction, programa de liberación de IWP, lookahead de tres semanas y checklist de liberación. Cuatro llegan en la Etapa cuatro: la matriz RACI, el tablero de KPI, el registro de riesgos y el de lecciones aprendidas. En todos los casos, la aplicación usará las mismas columnas, listas y fórmulas que la plantilla.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plantillas Word son siete, más el plan de implementación. Cada una tiene su código de documento: la plantilla de IWP con doce secciones, la de CWP con trece, la de EWP con siete, el procedimiento de gestión de restricciones, el acta del taller de Path of Construction, el informe de cierre de fase y los perfiles de puesto. En la Etapa cinco tendrán formularios por pasos que generan el documento en Word y en PDF con el mismo formato del kit. El plan de implementación ya está en la aplicación: alimenta los módulos de avance AWP y de hitos.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presentación de capacitación aparece destacada. Tiene ciento veintidós láminas en trece módulos: por qué AWP, qué es AWP, preparar la organización, planificación preliminar, ingeniería y compras, construcción, puesta en marcha, información y tecnología, roles, medición, escalar y adoptar, errores y lecciones, y hoja de ruta. Cada módulo indica sus láminas y el módulo de la aplicación relacionado. Se usa al arrancar el proyecto y cada fase, y la presenta el AWP Champion. Recuerda la equivalencia: lo que la presentación llama fases uno a cuatro son las etapas del ciclo de vida.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cinco: el portafolio, la pantalla de inicio donde ves todos tus proyectos a la vez.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primer día verás el portafolio vacío. En lugar de una pantalla en blanco, la aplicación explica qué es un proyecto: reúne sus fases, el checklist AWP, los hitos y, más adelante, paquetes, restricciones, riesgos y KPI. Ofrece dos botones: crear mi primer proyecto, que abre el asistente, y ver los recursos del kit. El botón nuevo proyecto de arriba a la derecha abre el mismo asistente en cualquier momento.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vista general del portafolio con tres proyectos de ejemplo. Arriba, la fila de filtros. Debajo, cinco indicadores del portafolio completo. Luego, una tarjeta por proyecto con su anillo de avance y su semáforo. Y al final, la comparación entre proyectos, con barras y una tabla resumen. Veamos cada parte.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cinco indicadores del portafolio son: proyectos activos, con los cerrados debajo; implementación AWP, que es el promedio del porcentaje de checklist de todos los proyectos; hitos atrasados, es decir, hitos pendientes cuya fecha plan ya pasó, y en cuántos proyectos; restricciones vencidas, que se empiezan a registrar en la Etapa tres; y riesgos altos, aquellos con probabilidad por impacto de doce o más, que llegan en la Etapa cuatro. Todas las cifras respetan los filtros que elijas.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proyecto tiene su tarjeta. El anillo muestra el porcentaje del checklist AWP completado, con el color del semáforo. Junto al nombre, el código y la fase actual. Debajo, el semáforo y el estado del proyecto. Luego tres cifras de alerta: hitos atrasados, restricciones vencidas y riesgos altos. Y al pie, el próximo hito con su fecha plan. Al tocar la tarjeta se abre el dashboard del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semáforo usa la misma regla en toda la aplicación. Rojo, requiere acción, cuando hay dos o más hitos atrasados o alguna restricción vencida. Ámbar, atención, cuando hay un hito atrasado o un hito que vence en los próximos siete días. Verde, al día, en cualquier otro caso. El color siempre va acompañado de un ícono y un texto, para que se entienda también en blanco y negro o por personas con daltonismo.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filtros del portafolio son seis: buscar por código, nombre o cliente; estado del proyecto; fase actual; tipo de proyecto, con ocho opciones; responsable; y la casilla ver archivados. Al cambiar un filtro, se recalculan los indicadores, las tarjetas y los gráficos.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comparación entre proyectos usa barras horizontales. Cada barra es el porcentaje del checklist completado, y la línea discontinua marca el avance esperado a la fecha, calculado como el porcentaje de hitos cuya fecha plan ya pasó. El color es el del semáforo. El título no es genérico: es la conclusión, por ejemplo, todos los proyectos van cerca o por encima del avance esperado. Y debajo, una línea que explica cómo leer el gráfico. Toca una barra para abrir ese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resumen comparativo muestra lo mismo en forma de tabla: una fila por proyecto con su porcentaje AWP, sus hitos atrasados y su semáforo, y el encabezado recuerda la regla del semáforo. Es ideal para proyectarla en la reunión mensual de portafolio: empieza por los proyectos en rojo y pregunta qué hito los tiene así.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seis: el asistente de proyecto, que crea un proyecto completo en cuatro pasos.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asistente tiene cuatro pasos. Primero, los datos generales del proyecto. Segundo, las fases: el asistente propone las tres fases del proyecto tipo, con fechas proporcionales, madurez objetivo y plazos. Tercero, los roles: una persona por cada rol AWP, con tres obligatorios. Y cuarto, los hitos: H cero para el programa y H uno a H diez para cada fase. Todo se guarda como borrador mientras escribes, así que puedes cerrar y continuar después, incluso desde otro dispositivo.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paso uno pide los datos generales. El código es obligatorio, corto y único: hasta quince letras, números o guiones, como PTN; aparece en reportes y archivos. El nombre también es obligatorio. Cliente, ubicación, tipo de proyecto y responsable ayudan a filtrar el portafolio. Las fechas de inicio y de fin estimada son obligatorias porque con ellas el asistente propone las fases y los hitos. Y el estado puede ser planificado, en ejecución, en pausa o cerrado.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tocas siguiente con campos vacíos, el asistente no avanza y marca en rojo cada campo con un mensaje que explica qué falta y da un ejemplo. Por ejemplo: escribe un código corto para el proyecto, por ejemplo PTN. Si el código ya existe, te lo dice. Si la fecha de fin es anterior al inicio, también. Y a medida que corriges, cada campo deja de marcarse en rojo.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el paso dos, el asistente propone las tres fases del proyecto tipo del kit, con fechas proporcionales a la duración de tu proyecto. La Fase uno, infraestructura y obras tempranas, con madurez objetivo dos, funciona como piloto. La Fase dos, instalación principal, con madurez tres, es la más grande. La Fase tres, edificaciones complementarias y ampliación, con madurez cuatro, aplica lo aprendido. Todo es editable: nombres, fechas, alcance y plazos, y puedes quitar o agregar fases.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se calculan las fases propuestas. El proyecto tipo dura treinta y seis meses: la Fase uno va del mes dos al catorce, la Fase dos del mes cinco al treinta y la Fase tres del quince al treinta y seis. El asistente aplica esas proporciones a tus fechas reales. Por ejemplo, para un proyecto de enero de dos mil veintiséis a diciembre de dos mil veintiocho, la Fase uno queda de junio de dos mil veintiséis a enero de dos mil veintisiete. Cada fase trae su madurez objetivo, sus cinco plazos de liberación de IWP en semanas y su meta de backlog.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plazos de liberación son el corazón de la planificación de frente de trabajo. Se miden en semanas antes de que el IWP se ejecute. En la Fase dos del proyecto tipo: doce semanas antes se inicia el IWP; diez semanas antes deben estar identificadas sus restricciones; ocho semanas antes, asignadas a un responsable; cuatro semanas antes, levantadas; y dos semanas antes, el IWP se libera a campo. La regla es que los plazos vayan de mayor a menor, y la aplicación lo valida.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el paso tres asignas personas a los roles AWP. Hay una fila por cada uno de los dieciséis roles del kit, con su nombre y su código. Solo necesitas el nombre; la organización ayuda a distinguir si la persona es del cliente o del contratista, y el correo, si lo escribes, se valida. Tres roles son obligatorios para arrancar: el AWP Champion, el Líder de WFP y el Gerente de Construcción.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dejas vacío alguno de los tres roles clave, el asistente lo marca con este mensaje: este rol es clave para arrancar, escribe quién lo ocupa, puedes cambiarlo después. El AWP Champion lidera la implementación y debe estar a tiempo completo. El Líder de WFP coordina a los planificadores y dirige la reunión semanal de restricciones. El Gerente de Construcción lidera el Path of Construction y aprueba los CWP. Sin estos tres, AWP no arranca.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primeros ocho de los dieciséis roles del kit. El gerente del proyecto del cliente patrocina AWP y aprueba el plan y los hitos. El Gerente de Proyecto es el responsable final. El AWP Champion lidera la implementación. El Líder de WFP coordina a los planificadores. El planificador de frente de trabajo divide los CWP en IWP y los libera. El Líder de Ingeniería emite los EWP en la secuencia del Path of Construction. El Líder de Procura estructura los PWP y alinea las fechas RAS. Y el gestor de materiales reserva y despacha materiales por IWP.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estos son los otros ocho. El Gerente de Construcción lidera el Path of Construction y prioriza restricciones críticas. El superintendente selecciona IWP del backlog para el lookahead. Controles del proyecto integra los CWP y los IWP en el cronograma y calcula los KPI. El coordinador de gestión de información define la codificación y los atributos. HSE y calidad incorporan sus requisitos en cada paquete. El líder de comisionamiento relaciona los IWP con los sistemas. Y el subcontratista aplica AWP en su alcance y aporta planificadores.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el paso cuatro, el asistente propone los hitos. H cero, estrategia AWP aprobada, es del programa y se fija treinta días después del inicio del proyecto. Los hitos H uno a H diez se crean para cada fase y se ubican en proporción a su duración: H uno al inicio, H dos al ocho por ciento, H seis y H siete a un tercio, H ocho cerca de la mitad, H nueve al setenta y cinco por ciento y H diez al final. Cada hito muestra su criterio de cumplimiento, y puedes ajustar cualquier fecha antes de crear 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tocar crear proyecto, el asistente deja todo listo. Tres fases con sus parámetros. Treinta y un hitos: H cero del programa más diez hitos por cada una de las tres fases. Las treinta actividades del checklist, todas en pendiente. Y las treinta y siete filas de la matriz RACI propuesta por el kit. Además, registra a las personas del equipo con su rol y te deja como propietario del proyecto. Si algo fallara a mitad de camino, el proyecto incompleto se borra solo, para que no quede basura. Y lo celebra con confeti.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asistente guarda un borrador automático. Cada cambio queda en el navegador al instante y en tu cuenta un segundo y medio después. Eso significa que puedes empezar en la oficina y terminar en el celular. Si vuelves al asistente con un borrador pendiente, un aviso te ofrece continuar donde lo dejaste. Y al crear el proyecto, el borrador se borra.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siete: el dashboard del proyecto, la pantalla que responde dos preguntas: qué hago a continuación y cómo vamos.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vista general del proyecto de ejemplo, la planta de tratamiento de agua Norte, a nueve meses de su inicio. Arriba, la cabecera con la ruta de migas, el nombre, el cliente, la ubicación, la fase en ejecución y el semáforo, más el botón editar proyecto. A la izquierda, el menú de módulos. En el centro, el panel de ayuda, el próximo paso y los gráficos. Veamos cada elemento.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menú lateral agrupa los módulos en cuatro bloques. Proyecto, con resumen, fases, avance AWP e hitos, disponibles hoy. Planificación, con paquetes y Path of Construction. Ejecución, con restricciones, liberación de IWP y lookahead. Y Control, con roles y RACI, riesgos, lecciones, KPI y documentos. Los módulos que aún no están disponibles aparecen atenuados, con la etapa en que llegan. En el celular, este menú se convierte en pestañas horizontales.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módulo empieza con un panel que responde qué es esto y para qué sirve. Tiene una explicación de una frase, un ejemplo concreto y un consejo práctico. Debajo, enlaces de contexto: el documento del kit relacionado y el módulo de la presentación de capacitación que lo explica. Cuando ya lo conoces, puedes cerrarlo con la equis y la aplicación recuerda que lo cerraste.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 próximo paso es la tarjeta más importante del dashboard. Muestra una sola acción, la más urgente, con tres partes: qué hacer, por ejemplo revisar el hito H uno de la Fase dos; por qué, porque debía cumplirse hace ciento diecisiete días y hay seis hitos atrasados; y cómo, registrar la evidencia si ya se cumplió o actualizar su fecha plan. El botón lleva directamente a la lista de hitos filtrada en atrasados. El borde y el ícono toman el color de la urgencia.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decide la aplicación cuál es tu próximo paso. Revisa seis reglas en orden y muestra la primera que se cumple. Uno: si el proyecto no tiene fases, te pide agregarlas. Dos: si nadie ocupa el rol de AWP Champion, te pide designarlo. Tres: si hay hitos atrasados, te lleva al más antiguo. Cuatro: si queda alguna actividad del checklist, te propone terminar la que está en curso o seguir con la siguiente, etapa por etapa. Cinco: si hay hitos que vencen en los próximos treinta días, te pide preparar su evidencia. Y seis: si todo está al día, te felicita. En la Etapa tres se sumarán reglas de restricciones, paquetes y KPI.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anillos muestran el avance por etapa del ciclo de vida. Cada anillo es el porcentaje del checklist completado en esa etapa, con el número de actividades completadas debajo. El título resume la conclusión: la implementación va en cuarenta y tres por ciento, y comisionamiento está en cero. Tocar un anillo abre el checklist en esa etapa. Un detalle importante: las actividades en curso cuentan la mitad.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fórmula del porcentaje de implementación AWP: actividades completadas, más la mitad de las que están en curso, dividido entre las actividades aplicables. Las aplicables son las treinta del checklist menos las marcadas como no aplica. En el ejemplo, la etapa de planificación temprana tiene siete completadas y una en curso de ocho: siete y media entre ocho da noventa y cuatro por ciento. En el total del proyecto, once completadas y cuatro en curso de treinta dan cuarenta y tres por ciento. La misma fórmula se usa en el dashboard, en el portafolio y en la base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gráfico de avance por fase compara los hitos cumplidos de cada fase con los que ya deberían estar cumplidos. La barra es el porcentaje de hitos cumplidos, y la línea discontinua, el porcentaje de hitos cuya fecha plan ya pasó. El título dice la conclusión: la Fase uno va treinta puntos por detrás de sus hitos planificados. Cada fase conserva siempre su color, azul, naranja y verde, elegidos para que se distingan también con daltonismo.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línea de tiempo muestra todos los hitos del proyecto, con una línea vertical que marca hoy. Los símbolos tienen significado: el círculo vacío es la fecha plan de un hito ya cumplido; el círculo lleno, su fecha real, verde si fue a tiempo y rojo si fue con atraso. El rombo es un hito pendiente: ámbar si aún está a tiempo, rojo si ya está atrasado. Debajo, una leyenda con cada hito. Al pasar el cursor ves las fechas, y al tocar un hito se abre su detalle.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Debajo de la línea de tiempo hay dos listas. A la izquierda, los hitos atrasados, del más antiguo al más reciente, con los días de atraso en rojo. Tocar uno abre su formulario para registrar la evidencia o replanificarlo. A la derecha, los próximos hitos de los siguientes treinta días, con los días que faltan. Son las dos listas que conviene revisar cada lunes.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tendencia muestra cómo evoluciona el porcentaje de implementación. Cada vez que abres el proyecto, la aplicación guarda una fotografía semanal de los indicadores, fechada en el lunes de esa semana. El gráfico une esas fotos y el título resume el cambio, por ejemplo, la implementación subió treinta puntos. Si nadie abre el proyecto en una semana, esa semana no tendrá foto; por eso conviene abrirlo al menos una vez por semana.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insignias celebran avances reales de la implementación. Se ganan solas, al cumplir hitos o completar etapas del checklist, y cuando se obtiene una aparece un aviso de felicitación. Las que faltan se ven en gris, y al pasar el cursor te dicen qué hace falta para obtenerlas. En la imagen, el proyecto de la concentradora lleva nueve de doce.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son las doce insignias. Primer paso, al crear el proyecto con sus fases. Equipo formado, al asignar los tres roles clave. FEL completa, ingeniería completa y construcción completa, al terminar esas etapas del checklist. Áreas definidas, ruta trazada y paquetes alineados, al cumplir los hitos H uno, H dos y H tres. Primer IWP liberado y backlog estable, con H siete y H ocho. Fase cerrada, con H diez. Y la última, AWP implementado, al completar las cinco etapas del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actividad reciente muestra quién cambió qué y cuándo. Cada alta, cambio o baja queda registrada automáticamente por la base de datos, con el usuario y la fecha, y se muestra en lenguaje claro: tú actualizaste un hito, estado cumplido, hace un momento. Nadie puede editar ni borrar este registro desde la aplicación. Cuando varios usuarios trabajen en un proyecto, verás el nombre de cada uno.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comparar, este es un proyecto más avanzado: la ampliación de la concentradora Sur, con ochenta y seis por ciento de implementación. Tres etapas están completas y aparecen en verde; construcción va en setenta y nueve y comisionamiento en treinta y ocho por ciento. El próximo paso ya es el hito H diez, el cierre AWP de la Fase uno. Y el aviso de abajo anuncia las insignias recién obtenidas.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ocho: el módulo de fases, donde se definen las fechas, el estado, la madurez y los plazos de liberación de cada fase del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módulo fases muestra una tarjeta por fase. Cada una indica su número, nombre y estado; sus fechas y duración en meses; su nivel de madurez objetivo; sus plazos de liberación de IWP y la meta de backlog; los planificadores recomendados según el pico de personal; y cuántos de sus diez hitos están cumplidos y cuántos atrasados. Desde la tarjeta puedes ir a los hitos de esa fase, editarla o borrarla.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editar una fase ves todos sus parámetros. El número no puede repetirse dentro del proyecto. Las fechas deben estar dentro de las del proyecto, con el fin después del inicio. Registras la madurez objetivo, las horas hombre directas estimadas y el pico de personal, que sirve para dimensionar a los planificadores: uno por cada cincuenta trabajadores. Y al final, los cinco plazos de liberación y la meta de backlog.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los plazos no tienen sentido, el formulario lo explica. En el ejemplo se escribió que la liberación ocurre nueve semanas antes, pero las restricciones se levantan tres semanas antes: eso es imposible. El mensaje recuerda la regla: IWP iniciado, mayor o igual que identificadas, mayor o igual que asignadas, mayor o igual que levantadas, mayor o igual que liberación. Estas reglas también las repite la base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agregar una fase, el formulario propone el número siguiente y los plazos del kit. Al guardarla, la aplicación crea automáticamente sus diez hitos, de H uno a H diez, con fechas proporcionales a la duración de la fase. Y si borras una fase, primero te pide confirmar y te explica qué se borrará con ella.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consejo del kit que la aplicación refleja: usa la Fase uno como piloto. Tiene plazos más cortos, metas de KPI más bajas y una madurez objetivo de nivel dos. Lo que se aprende en la Fase uno se registra como lección y se escala a la Fase dos, con madurez tres, y a la Fase tres, con madurez cuatro.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nueve: el avance AWP, el checklist de implementación del kit, con treinta actividades en cinco etapas.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checklist de implementación. Arriba, el anillo total: cuarenta y tres por ciento, con cuántas actividades están completadas y en curso. Debajo, una pestaña por etapa con su propio anillo. Cada actividad muestra su código, nombre, descripción, responsable, fecha real, el hito al que aporta y la evidencia. El filtro mostrar deja ver solo las pendientes, las en curso, las completadas o las que no aplican.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Actualizar el checklist es muy rápido: tocas el círculo de la actividad y su estado avanza. De pendiente pasa a en curso; de en curso, a completada, y la aplicación registra la fecha real de hoy; si vuelves a tocar, regresa a pendiente. El anillo y el porcentaje se recalculan al instante, y si con ese cambio completas una etapa, aparece un mensaje de felicitación. Para registrar responsable, evidencia o comentario, usa el botón detalles.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planificación temprana tiene ocho actividades. Designar al AWP Champion, que aporta al hito H cero. Evaluar la escala de AWP y la madurez objetivo. Dividir el proyecto en CWA, que lleva a H uno. Desarrollar el Path of Construction en talleres de planificación interactiva, que lleva a H dos. Elaborar la lista de CWP y el plan de liberación, que lleva a H tres. Definir la estructura de desglose y la codificación. Incluir los requisitos AWP en los contratos, que lleva a H cuatro. Y definir los requisitos de gestión de la información.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Ingeniería tiene seis actividades: planificar la ingeniería por EWP, cada uno ligado a un único CWP; priorizarlos según el Path of Construction; emitirlos completos, que lleva al hito H cinco; mantener el modelo 3D con atributos AWP; hacer revisiones de constructabilidad; y gestionar las RFI como restricciones. Procura tiene cinco: estructurar las compras en PWP alineados con los CWP; fijar las fechas RAS desde el Path of Construction; seguir el estado de materiales por paquete; reservar materiales por IWP; y gestionar la documentación del proveedor.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Construcción tiene siete actividades: emitir los CWP, que lleva al hito H seis; dividirlos en IWP de una cuadrilla y un capataz, de alrededor de una semana; identificar, asignar y levantar restricciones; liberar solo IWP sin restricciones y mantener dos a cuatro semanas de backlog, que lleva a H siete; planificar con el lookahead de tres semanas; registrar avance y causas de no cumplimiento; y medir los KPI cada semana. Comisionamiento tiene cuatro: definir los sistemas, relacionar IWP y sistemas, preparar los paquetes de sistema y de entrega, que lleva a H nueve, y cerrar la fase, que lleva a H diez.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pestaña muestra una etapa con su anillo y su lista. A la izquierda, ingeniería: tres actividades completadas, una en curso y dos pendientes de seis, lo que da cincuenta y ocho por ciento. A la derecha, construcción, recién empezando: la primera actividad, emitir los CWP, está en curso, y eso da siete por ciento.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botón detalles abre el formulario completo de la actividad. Ahí eliges el estado; el responsable, entre los dieciséis roles; la fecha objetivo y la fecha real, que no puede ser futura; la evidencia, es decir, el documento, acta o enlace que demuestra que se hizo; y un comentario para el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Marcar una actividad como no aplica tiene consecuencias: la actividad sale del cálculo del porcentaje. Por eso la aplicación exige explicar la razón en el comentario. El mensaje dice: explica por qué no aplica, así el porcentaje de avance refleja la realidad y queda registro de la decisión. En el proyecto de la concentradora, por ejemplo, la actividad de documentación del proveedor no aplica porque el cliente la gestiona con su propio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lámina muestra cómo se conectan las piezas. Cada actividad clave del checklist alimenta un hito y usa una plantilla del kit. Designar al Champion lleva a H cero y usa los perfiles de puesto. Dividir en CWA lleva a H uno con la plantilla de definición de CWA. Desarrollar el Path of Construction lleva a H dos. La lista de CWP lleva a H tres. Emitir los EWP lleva a H cinco. Emitir los CWP, a H seis. Liberar IWP sin restricciones, a H siete, con el checklist de liberación. Y cerrar la fase, a H diez, con el informe de cierre.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diez: los hitos, desde H cero del programa hasta H diez de cada fase, siempre con evidencia.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módulo de hitos tiene tres partes. Arriba, cuatro indicadores: total de hitos, cumplidos, atrasados y próximos treinta días; tocar cualquiera filtra la tabla. En el medio, la línea de tiempo con un título que resume la situación. Y abajo, la tabla con cada hito, su fase, fecha plan, fecha real y situación, con filtros por texto, fase, estado y situación. Tocar una fila abre el hito.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catálogo de hitos, primera parte. H cero, estrategia AWP aprobada, es del programa: plan firmado, Champion designado y madurez objetivo definida; lo aprueba el cliente. H uno, CWA definidas: todo el alcance de la fase dividido en áreas sin superposiciones. H dos, Path of Construction aprobado en un taller de planificación interactiva, y congelado. H tres, CWP, EWP y PWP definidos, con sus fechas requeridas. H cuatro, requisitos AWP incluidos en los contratos. Y H cinco, el primer EWP emitido para construcción, completo y antes de su fecha requerida.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Segunda parte del catálogo. H seis, el primer CWP emitido a construcción, completo y con materiales asegurados. H siete, el primer IWP liberado, sin restricciones abiertas y con su checklist firmado. H ocho, backlog estable: el backlog de IWP liberados igual o mayor que la meta de la fase durante cuatro semanas seguidas. H nueve, el primer sistema o área entregado. Y H diez, el cierre AWP de la fase, con el informe de cierre y las lecciones aprendidas comunicadas a la fase siguiente.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hito tiene una situación calculada. Cumplido a tiempo, en verde, si la fecha real es igual o anterior a la fecha plan. Cumplido con atraso, en rojo, si la fecha real es posterior. Atrasado, en rojo y con los días de atraso, si sigue pendiente y su fecha plan ya pasó. Pendiente o en curso, en ámbar, si aún está a tiempo. Y no aplica, en gris. La fecha de comparación es hoy, o la fecha de corte del proyecto si la defines.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indicadores funcionan como botones: al tocar atrasados, la tabla y la línea de tiempo muestran solo esos hitos, ordenados del más antiguo al más reciente. Es la misma vista a la que llegas desde el botón ver hitos de tu próximo paso.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abrir un hito ves primero un recuadro azul con su criterio de cumplimiento, la evidencia esperada y quién lo aprueba. Si está atrasado, un aviso lo dice con los días de atraso y te sugiere marcarlo cumplido o replanificar. Replanificar es cambiar la fecha plan, y el cambio queda en la auditoría. El botón marcar cumplido pone el estado cumplido y la fecha real de hoy.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marcar un hito como cumplido, la aplicación exige la fecha real, que no puede ser futura, y la evidencia registrada. Si falta la evidencia, lo dice claramente, recordando qué evidencia espera el catálogo: en este caso, la plantilla de CWP firmada. Es la regla del kit: un hito se cumple cuando existe la evidencia, no cuando casi está.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guardar, la aplicación celebra con confeti y un aviso: hito H seis cumplido. Si el hito da una insignia, también lo anuncia. Al instante se recalculan los indicadores, la línea de tiempo, el semáforo, el avance por fase y el próximo paso. Si tu sistema operativo tiene activada la opción de reducir el movimiento, la aplicación no muestra animaciones.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Piensa en los hitos como puertas de control. Una fase no debería pasar a la siguiente puerta sin la evidencia de la anterior. Sin áreas de construcción definidas no hay Path of Construction; sin Path of Construction no hay CWP bien secuenciados; y sin un backlog estable de IWP liberados, la productividad en campo no mejora. La aplicación te ayuda a ver en qué puerta está cada fase.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once: editar el proyecto y su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editar proyecto, la pestaña datos permite cambiar todos los datos generales. Hay un campo especial: la fecha de corte. Si la dejas vacía, la aplicación calcula atrasos y próximos contra la fecha de hoy. Si escribes una fecha, todo se calcula contra esa fecha: útil para preparar el informe mensual al cierre de un mes. Al pie verás quién hizo la última modificación y cuándo.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pestaña equipo y roles muestra las personas del proyecto con su rol AWP, organización y correo. Si falta alguno de los tres roles clave, un aviso lo señala. Al pie se listan los roles que aún no tienen persona asignada. El botón agregar persona abre un formulario con nombre, rol, organización, correo, teléfono y si la persona está activa en 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pestaña equipo también ayuda a dimensionar a los planificadores. El kit recomienda un planificador de frente de trabajo por cada cincuenta trabajadores directos. Si el pico de personal de la fase es de doscientos cuarenta, la recomendación es cinco planificadores, y la aplicación compara esa cifra con los que tienes registrados. Es la base del KPI K cero siete, cobertura de planificadores.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última pestaña permite archivar o borrar. Archivar oculta el proyecto del portafolio sin perder nada, y puedes verlo con la casilla ver archivados. Borrar elimina el proyecto con todas sus fases, hitos y checklist, y no se puede deshacer; por eso exige escribir el código del proyecto, y solo lo puede hacer su propietario.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doce: aprender mientras usas. La aplicación está pensada para enseñar AWP mientras se trabaja.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siglas y conceptos AWP aparecen subrayados con puntos. Al tocarlos o pasar el cursor, se abre una tarjeta con una definición breve, un ejemplo del proyecto tipo y enlaces para leer más en la web del kit y en el glosario completo. En la imagen, la definición de etapa del ciclo de vida. Así, quien llega nuevo al equipo aprende el vocabulario sin salir de la pantalla.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módulos que todavía no están construidos no muestran una pantalla muerta. Explican cuándo llegan, por ejemplo, restricciones se construye en la Etapa tres, y qué usar mientras tanto: la plantilla Excel y el procedimiento del kit, y el módulo de la presentación que lo explica. De la misma forma, cada lista vacía explica qué es el módulo y ofrece un botón para empezar.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aplicación siempre responde a lo que haces. Un aviso breve confirma cada acción guardada. Los errores aparecen en rojo con la causa y la solución. Antes de borrar cualquier cosa, un cuadro pide confirmación. Crear un proyecto, cumplir un hito o completar una etapa se celebra con confeti, y cada insignia obtenida se anuncia. Y todo es accesible: los colores siempre van con ícono y texto, se puede usar con teclado y con lectores de pantalla, y respeta la preferencia de reducir el movimiento.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botón de la luna, en la cabecera, cambia entre modo claro y oscuro, y la aplicación recuerda tu elección. Si no eliges, sigue la preferencia de tu sistema. En modo oscuro se conservan los colores de estado y de fase, así que los gráficos se leen igual. Es cómodo para trabajar de noche o en pantallas con poca luz.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aplicación está pensada también para el celular, para usarla en obra. Las tarjetas e indicadores se acomodan en una columna y los gráficos ocupan todo el ancho. Los filtros se pliegan en un botón. Abajo aparece una barra con cinco accesos al alcance del pulgar: inicio, proyecto, nuevo, recursos y ayuda. Y el menú de módulos se convierte en pestañas.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el celular, las tablas se convierten en tarjetas: cada hito se lee completo sin desplazarse hacia los lados. Las plantillas de recursos se descargan directamente al teléfono. El asistente usa campos grandes y el selector de fechas del propio teléfono, y su borrador automático permite terminarlo después en la computadora.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También puedes instalar la aplicación en tu celular sin pasar por una tienda. Abre la dirección en Chrome, si usas Android, o en Safari, si usas iPhone. En Android, abre el menú de tres puntos y elige instalar aplicación o agregar a pantalla principal. En iPhone, toca compartir y luego agregar a inicio. Aparecerá el ícono de AWP como una aplicación más, que se abre a pantalla completa y mantiene tu sesión.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trece: datos y seguridad. Dónde viven tus datos y cómo se protegen.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datos viven separados del código. La aplicación es código público en GitHub, sin ningún dato de proyectos. Los datos viven en Supabase. El navegador solo usa la clave pública, y la clave secreta nunca se usa ni se guarda. La protección real está en Row Level Security: cada tabla tiene reglas que impiden ver nada sin sesión y, con sesión, solo permiten ver los proyectos donde eres miembro. El registro está cerrado, y las pruebas automáticas verifican que un segundo usuario no ve ni modifica proyectos ajenos.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base de datos está preparada para compartir proyectos con distintos permisos. El propietario, que es quien crea el proyecto, puede ver, editar, borrar el proyecto y gestionar miembros. Un editor puede ver y editar. Un lector solo ve. Un usuario que no es miembro no ve nada, y un visitante sin sesión solo ve la biblioteca de recursos. Hoy cada usuario es propietario de sus proyectos; las invitaciones ya están en la base de datos para una etapa futura.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ver tendencias, la base de datos guarda tres registros automáticos. La auditoría, con cada alta, cambio y baja, que alimenta la actividad reciente. El historial de estados, con cada cambio de estado y su valor anterior y nuevo. Y las instantáneas semanales, una foto de los indicadores por proyecto y por fase cada lunes, que alimentan el gráfico de tendencia. Los tres los escribe la base de datos, y la aplicación no puede modificarlos.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aplicación funciona con el plan gratuito de Supabase: quinientos megabytes de base de datos, suficiente para cientos de proyectos, y cincuenta mil usuarios activos al mes. Hay un cuidado: si nadie usa la aplicación durante siete días, Supabase pausa el proyecto, y se reactiva con un clic desde su panel; usar la aplicación cada semana evita la pausa. No se almacenan archivos: la evidencia se registra como una referencia o un enlace.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catorce: lo que viene. Las etapas tres a seis completan la aplicación con los paquetes, la ejecución, el control, los documentos y el intercambio con Excel.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Etapa tres llegan los paquetes de trabajo. La CWA, el área de construcción, con sus límites, horas hombre, secuencia y los diez criterios de calidad, y un control si supera cuarenta mil horas. El CWP, paquete de construcción de una disciplina. El EWP, paquete de ingeniería, uno por CWP. El PWP, paquete de procura con su fecha RAS. Y el IWP, el paquete de trabajo de una cuadrilla, de trescientas a seiscientas horas, con sus restricciones abiertas a la vista. Todo navegable con una ruta de migas y un panel de relacionados.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codificación de paquetes se validará en el formulario y en la base de datos. Una CWA se codifica con la fase y un número, por ejemplo CWA dos punto cero uno. Un CWP agrega la disciplina y un número, y debe tener los mismos dígitos que su CWA. El EWP y el PWP llevan el mismo sufijo que su CWP. El IWP agrega un correlativo de tres dígitos. Y las restricciones se numeran con R y cuatro dígitos, con el siguiente número sugerido automáticamente. Las disciplinas son ocho: civil, estructuras, arquitectura, mecánica, tuberías, eléctrica, instrumentación y varias.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También en la Etapa tres llega la ejecución. El Path of Construction permitirá ordenar los CWP arrastrándolos, ver un Gantt por fase y calcular las fechas requeridas de EWP, CWP y materiales. Las restricciones tendrán doce tipos y una situación calculada: vencida, por vencer en siete días, en plazo o liberada. La liberación de IWP tendrá su programa y el checklist de veinticuatro criterios, con el resultado liberar o no liberar. Y el lookahead de tres semanas solo ofrecerá IWP liberados del backlog, con el PPC y dieciséis causas de no cumplimiento.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Etapa cuatro trae el control. Roles y RACI, con la matriz editable de treinta y siete actividades por dieciséis roles y la verificación de que cada actividad tenga una sola A. Riesgos, con probabilidad e impacto de uno a cinco: alto con doce o más, medio de seis a once y bajo con cinco o menos. Lecciones aprendidas, del evento a la causa raíz, la lección y la acción. Y los KPI, calculados desde veintitrés datos semanales por fase, con meta, semáforo y tendencia.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trece KPI del kit, empezando por los de proceso. K cero uno, EWP emitidos a tiempo. K cero dos, materiales disponibles al liberar. K cero tres, IWP liberados sin restricciones. K cero cuatro, backlog de IWP liberados, en semanas. K cero cinco, restricciones liberadas a tiempo. K cero seis, atraso promedio de restricciones, en días. Y K cero siete, cobertura de planificadores. Cada uno tiene metas progresivas: más exigentes de la Fase uno a la Fase 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los KPI de resultado. K cero ocho, el PPC o porcentaje de plan cumplido. K cero nueve, IWP devueltos de campo. K diez, factor de productividad. K once, tiempo productivo o tool time, con una meta que llega al cuarenta y seis por ciento. K doce, retrabajo. Y K trece, el índice de desempeño del cronograma de construcción. El semáforo será verde si se cumple la meta, ámbar si está a menos de diez por ciento de la meta, y rojo si está fuera.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etapas cinco y seis cierran el círculo. En la cinco, formularios por pasos generarán los documentos Word y PDF del kit, y el informe de cierre tomará automáticamente los datos de la fase. En la seis, se podrá exportar a Excel sobre la plantilla original, con sus fórmulas y formatos intactos, e importar desde Excel con una vista previa que marca en rojo cada fila con error y su motivo. También habrá reportes en PDF, exportación de dashboards y un proyecto de ejemplo que se carga y se borra con un clic.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completar la aplicación habrá un dashboard para cada tema, todos con las mismas reglas: filtros, un título que dice la conclusión, una línea de cómo leerlo y el detalle al hacer clic. Hoy ya funcionan el portafolio, el proyecto y los hitos. En la Etapa tres llegan los de paquetes, IWP, restricciones, lookahead, Path of Construction, ingeniería y materiales. En la cuatro, los de fases, roles, riesgos, lecciones, KPI, productividad y calidad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quince: el uso diario. Cómo incorporar la aplicación a la rutina del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rutina semanal sugerida, unos veinte minutos cada lunes. Primero, abre el proyecto: así se toma la instantánea de la semana, y lee tu próximo paso y el semáforo. Segundo, revisa los hitos: registra la evidencia de los atrasados que ya se cumplieron, o replanifícalos, y prepara la evidencia de los próximos. Tercero, actualiza el checklist con un toque por cada actividad que avanzó. Cuarto, en la reunión semanal, proyecta el dashboard y acuerda responsables para lo que está en rojo. Y una vez al mes, revisa el portafolio y usa la fecha de corte para el informe mensual.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este es un plan simple para tu primer mes. El primer día, entra, haz el recorrido guiado, revisa los recursos y descarga el plan. En la primera semana, crea el proyecto con el asistente y ajusta fases, plazos y fechas de hitos. En la segunda, completa el equipo y el pico de personal de cada fase. En la tercera, marca las actividades de planificación temprana que ya estén hechas, con su evidencia, y cumple el hito H cero. Y en la cuarta, haz la primera reunión semanal con el dashboard y empieza la rutina de los lunes.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Algunas buenas prácticas: registra la evidencia en el momento en que se cumple el hito; si un hito no se va a cumplir, replanifícalo con una fecha realista; usa no aplica solo con una razón escrita; abre el proyecto al menos una vez por semana; y mantén el equipo al día. Y errores comunes que conviene evitar: marcar actividades como completas porque casi están; crear un proyecto por cada fase, cuando las fases van dentro de un mismo proyecto; confundir fase con etapa; dejar al Champion sin asignar o a tiempo parcial; y compartir la contraseña en lugar de pedir un usuario propio.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Algunas preguntas frecuentes. No necesitas instalar nada. Las plantillas se ven sin usuario. Otro usuario no puede ver tus proyectos. Si cierras el asistente a medias, el borrador se guarda solo. Si tu porcentaje bajó, es porque alguna actividad volvió a pendiente o dejó de ser no aplica. Para cambiar la fecha de un hito, ábrelo y cambia la fecha plan. Restricciones y paquetes llegan en la Etapa tres. Y si la aplicación no carga tus datos, es probable que Supabase se haya pausado tras siete días sin uso: se reactiva desde su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terminar el repaso, un glosario rápido. AWP, Advanced Work Packaging. CWA, el área de construcción. CWP, el paquete de construcción. EWP, el paquete de ingeniería. PWP, el paquete de procura. IWP, el paquete de trabajo de una cuadrilla. KPI, los indicadores clave. Path of Construction, la secuencia de construcción. IPP, el taller de planificación interactiva. RAS, la fecha requerida de materiales en obra. WFP, la planificación del frente de trabajo. PPC, el porcentaje de plan cumplido. FEL, la planificación temprana. Y RLS, la seguridad por fila de la base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quieres comprobar hoy mismo que todo funciona con tu usuario, sigue esta lista de diez minutos. Entra con tu correo y contraseña y mira el recorrido guiado. Abre los recursos en una ventana de incógnito y descarga una plantilla. Crea un proyecto con el asistente, probando a dejar campos vacíos para ver las validaciones. En avance AWP, toca dos veces el círculo de una actividad. En hitos, marca uno como cumplido con su evidencia. Edita una fase y agrega una persona al equipo. Y abre la aplicación en el celular y cambia a modo oscuro.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Llegamos al final. La implementación de AWP no se logra en un día: se construye semana a semana, hito por hito, con evidencia. La aplicación está hecha para acompañar ese camino: te dice qué hacer a continuación, mide el avance con las mismas reglas en todos los proyectos y enseña el vocabulario mientras trabajas. Abre la aplicación, crea tu proyecto y deja que tu próximo paso te guíe.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image" Target="../media/image-13-13.png"/><Relationship Id="rId14" Type="http://schemas.openxmlformats.org/officeDocument/2006/relationships/image" Target="../media/image-13-14.png"/><Relationship Id="rId15" Type="http://schemas.openxmlformats.org/officeDocument/2006/relationships/image" Target="../media/image-13-15.png"/><Relationship Id="rId16" Type="http://schemas.openxmlformats.org/officeDocument/2006/relationships/image" Target="../media/image-13-16.png"/><Relationship Id="rId17" Type="http://schemas.openxmlformats.org/officeDocument/2006/relationships/image" Target="../media/image-13-17.png"/><Relationship Id="rId18" Type="http://schemas.openxmlformats.org/officeDocument/2006/relationships/image" Target="../media/image-13-18.png"/><Relationship Id="rId19" Type="http://schemas.openxmlformats.org/officeDocument/2006/relationships/image" Target="../media/image-13-19.png"/><Relationship Id="rId20" Type="http://schemas.openxmlformats.org/officeDocument/2006/relationships/image" Target="../media/image-13-20.png"/><Relationship Id="rId21" Type="http://schemas.openxmlformats.org/officeDocument/2006/relationships/slideLayout" Target="../slideLayouts/slideLayout1.xml"/><Relationship Id="rId2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image" Target="../media/image-22-2.jpg"/><Relationship Id="rId3" Type="http://schemas.openxmlformats.org/officeDocument/2006/relationships/image" Target="../media/image-22-3.jp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23-2.jpg"/><Relationship Id="rId3" Type="http://schemas.openxmlformats.org/officeDocument/2006/relationships/image" Target="../media/image-23-3.jp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1.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1.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slideLayout" Target="../slideLayouts/slideLayout1.xm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slideLayout" Target="../slideLayouts/slideLayout1.xml"/><Relationship Id="rId7"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slideLayout" Target="../slideLayouts/slideLayout1.xml"/><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slideLayout" Target="../slideLayouts/slideLayout1.xml"/><Relationship Id="rId8"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slideLayout" Target="../slideLayouts/slideLayout1.xml"/><Relationship Id="rId8"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slideLayout" Target="../slideLayouts/slideLayout1.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image" Target="../media/image-37-7.png"/><Relationship Id="rId8" Type="http://schemas.openxmlformats.org/officeDocument/2006/relationships/slideLayout" Target="../slideLayouts/slideLayout1.xml"/><Relationship Id="rId9"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slideLayout" Target="../slideLayouts/slideLayout1.xml"/><Relationship Id="rId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slideLayout" Target="../slideLayouts/slideLayout1.xml"/><Relationship Id="rId6"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slideLayout" Target="../slideLayouts/slideLayout1.xml"/><Relationship Id="rId8"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slideLayout" Target="../slideLayouts/slideLayout1.xml"/><Relationship Id="rId7"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slideLayout" Target="../slideLayouts/slideLayout1.xml"/><Relationship Id="rId7"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image" Target="../media/image-47-5.png"/><Relationship Id="rId6" Type="http://schemas.openxmlformats.org/officeDocument/2006/relationships/slideLayout" Target="../slideLayouts/slideLayout1.xml"/><Relationship Id="rId7"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image" Target="../media/image-48-4.png"/><Relationship Id="rId5" Type="http://schemas.openxmlformats.org/officeDocument/2006/relationships/slideLayout" Target="../slideLayouts/slideLayout1.xml"/><Relationship Id="rId6"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image" Target="../media/image-51-4.png"/><Relationship Id="rId5" Type="http://schemas.openxmlformats.org/officeDocument/2006/relationships/image" Target="../media/image-51-5.png"/><Relationship Id="rId6" Type="http://schemas.openxmlformats.org/officeDocument/2006/relationships/slideLayout" Target="../slideLayouts/slideLayout1.xml"/><Relationship Id="rId7"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53-4.png"/><Relationship Id="rId5" Type="http://schemas.openxmlformats.org/officeDocument/2006/relationships/slideLayout" Target="../slideLayouts/slideLayout1.xml"/><Relationship Id="rId6"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jp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image" Target="../media/image-55-4.png"/><Relationship Id="rId5" Type="http://schemas.openxmlformats.org/officeDocument/2006/relationships/image" Target="../media/image-55-5.png"/><Relationship Id="rId6" Type="http://schemas.openxmlformats.org/officeDocument/2006/relationships/slideLayout" Target="../slideLayouts/slideLayout1.xml"/><Relationship Id="rId7"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image" Target="../media/image-56-4.png"/><Relationship Id="rId5" Type="http://schemas.openxmlformats.org/officeDocument/2006/relationships/image" Target="../media/image-56-5.png"/><Relationship Id="rId6" Type="http://schemas.openxmlformats.org/officeDocument/2006/relationships/image" Target="../media/image-56-6.png"/><Relationship Id="rId7" Type="http://schemas.openxmlformats.org/officeDocument/2006/relationships/slideLayout" Target="../slideLayouts/slideLayout1.xml"/><Relationship Id="rId8"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jpg"/><Relationship Id="rId2" Type="http://schemas.openxmlformats.org/officeDocument/2006/relationships/image" Target="../media/image-57-2.png"/><Relationship Id="rId3" Type="http://schemas.openxmlformats.org/officeDocument/2006/relationships/image" Target="../media/image-57-3.png"/><Relationship Id="rId4" Type="http://schemas.openxmlformats.org/officeDocument/2006/relationships/image" Target="../media/image-57-4.png"/><Relationship Id="rId5" Type="http://schemas.openxmlformats.org/officeDocument/2006/relationships/image" Target="../media/image-57-5.png"/><Relationship Id="rId6" Type="http://schemas.openxmlformats.org/officeDocument/2006/relationships/image" Target="../media/image-57-6.png"/><Relationship Id="rId7" Type="http://schemas.openxmlformats.org/officeDocument/2006/relationships/slideLayout" Target="../slideLayouts/slideLayout1.xml"/><Relationship Id="rId8"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jpg"/><Relationship Id="rId2" Type="http://schemas.openxmlformats.org/officeDocument/2006/relationships/image" Target="../media/image-58-2.png"/><Relationship Id="rId3" Type="http://schemas.openxmlformats.org/officeDocument/2006/relationships/image" Target="../media/image-58-3.png"/><Relationship Id="rId4" Type="http://schemas.openxmlformats.org/officeDocument/2006/relationships/image" Target="../media/image-58-4.png"/><Relationship Id="rId5" Type="http://schemas.openxmlformats.org/officeDocument/2006/relationships/image" Target="../media/image-58-5.png"/><Relationship Id="rId6" Type="http://schemas.openxmlformats.org/officeDocument/2006/relationships/slideLayout" Target="../slideLayouts/slideLayout1.xml"/><Relationship Id="rId7"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image" Target="../media/image-59-3.png"/><Relationship Id="rId4" Type="http://schemas.openxmlformats.org/officeDocument/2006/relationships/image" Target="../media/image-59-4.png"/><Relationship Id="rId5" Type="http://schemas.openxmlformats.org/officeDocument/2006/relationships/image" Target="../media/image-59-5.png"/><Relationship Id="rId6" Type="http://schemas.openxmlformats.org/officeDocument/2006/relationships/image" Target="../media/image-59-6.png"/><Relationship Id="rId7" Type="http://schemas.openxmlformats.org/officeDocument/2006/relationships/slideLayout" Target="../slideLayouts/slideLayout1.xml"/><Relationship Id="rId8"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jpg"/><Relationship Id="rId2" Type="http://schemas.openxmlformats.org/officeDocument/2006/relationships/image" Target="../media/image-60-2.png"/><Relationship Id="rId3" Type="http://schemas.openxmlformats.org/officeDocument/2006/relationships/image" Target="../media/image-60-3.png"/><Relationship Id="rId4" Type="http://schemas.openxmlformats.org/officeDocument/2006/relationships/image" Target="../media/image-60-4.png"/><Relationship Id="rId5" Type="http://schemas.openxmlformats.org/officeDocument/2006/relationships/image" Target="../media/image-60-5.png"/><Relationship Id="rId6" Type="http://schemas.openxmlformats.org/officeDocument/2006/relationships/slideLayout" Target="../slideLayouts/slideLayout1.xml"/><Relationship Id="rId7"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jp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image" Target="../media/image-62-4.png"/><Relationship Id="rId5" Type="http://schemas.openxmlformats.org/officeDocument/2006/relationships/image" Target="../media/image-62-5.png"/><Relationship Id="rId6" Type="http://schemas.openxmlformats.org/officeDocument/2006/relationships/slideLayout" Target="../slideLayouts/slideLayout1.xml"/><Relationship Id="rId7"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jpg"/><Relationship Id="rId2" Type="http://schemas.openxmlformats.org/officeDocument/2006/relationships/image" Target="../media/image-63-2.png"/><Relationship Id="rId3" Type="http://schemas.openxmlformats.org/officeDocument/2006/relationships/image" Target="../media/image-63-3.png"/><Relationship Id="rId4" Type="http://schemas.openxmlformats.org/officeDocument/2006/relationships/image" Target="../media/image-63-4.png"/><Relationship Id="rId5" Type="http://schemas.openxmlformats.org/officeDocument/2006/relationships/image" Target="../media/image-63-5.png"/><Relationship Id="rId6" Type="http://schemas.openxmlformats.org/officeDocument/2006/relationships/slideLayout" Target="../slideLayouts/slideLayout1.xml"/><Relationship Id="rId7"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jpg"/><Relationship Id="rId2" Type="http://schemas.openxmlformats.org/officeDocument/2006/relationships/image" Target="../media/image-64-2.jpg"/><Relationship Id="rId3" Type="http://schemas.openxmlformats.org/officeDocument/2006/relationships/slideLayout" Target="../slideLayouts/slideLayout1.xml"/><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jpg"/><Relationship Id="rId2" Type="http://schemas.openxmlformats.org/officeDocument/2006/relationships/image" Target="../media/image-65-2.png"/><Relationship Id="rId3" Type="http://schemas.openxmlformats.org/officeDocument/2006/relationships/image" Target="../media/image-65-3.png"/><Relationship Id="rId4" Type="http://schemas.openxmlformats.org/officeDocument/2006/relationships/image" Target="../media/image-65-4.png"/><Relationship Id="rId5" Type="http://schemas.openxmlformats.org/officeDocument/2006/relationships/image" Target="../media/image-65-5.png"/><Relationship Id="rId6" Type="http://schemas.openxmlformats.org/officeDocument/2006/relationships/slideLayout" Target="../slideLayouts/slideLayout1.xml"/><Relationship Id="rId7"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jpg"/><Relationship Id="rId2" Type="http://schemas.openxmlformats.org/officeDocument/2006/relationships/image" Target="../media/image-66-2.png"/><Relationship Id="rId3" Type="http://schemas.openxmlformats.org/officeDocument/2006/relationships/image" Target="../media/image-66-3.png"/><Relationship Id="rId4" Type="http://schemas.openxmlformats.org/officeDocument/2006/relationships/image" Target="../media/image-66-4.png"/><Relationship Id="rId5" Type="http://schemas.openxmlformats.org/officeDocument/2006/relationships/slideLayout" Target="../slideLayouts/slideLayout1.xml"/><Relationship Id="rId6"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jpg"/><Relationship Id="rId2" Type="http://schemas.openxmlformats.org/officeDocument/2006/relationships/image" Target="../media/image-68-2.png"/><Relationship Id="rId3" Type="http://schemas.openxmlformats.org/officeDocument/2006/relationships/image" Target="../media/image-68-3.png"/><Relationship Id="rId4" Type="http://schemas.openxmlformats.org/officeDocument/2006/relationships/image" Target="../media/image-68-4.png"/><Relationship Id="rId5" Type="http://schemas.openxmlformats.org/officeDocument/2006/relationships/image" Target="../media/image-68-5.png"/><Relationship Id="rId6" Type="http://schemas.openxmlformats.org/officeDocument/2006/relationships/slideLayout" Target="../slideLayouts/slideLayout1.xml"/><Relationship Id="rId7"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jpg"/><Relationship Id="rId2" Type="http://schemas.openxmlformats.org/officeDocument/2006/relationships/image" Target="../media/image-69-2.png"/><Relationship Id="rId3" Type="http://schemas.openxmlformats.org/officeDocument/2006/relationships/image" Target="../media/image-69-3.png"/><Relationship Id="rId4" Type="http://schemas.openxmlformats.org/officeDocument/2006/relationships/image" Target="../media/image-69-4.png"/><Relationship Id="rId5" Type="http://schemas.openxmlformats.org/officeDocument/2006/relationships/image" Target="../media/image-69-5.png"/><Relationship Id="rId6" Type="http://schemas.openxmlformats.org/officeDocument/2006/relationships/slideLayout" Target="../slideLayouts/slideLayout1.xml"/><Relationship Id="rId7"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jpg"/><Relationship Id="rId2" Type="http://schemas.openxmlformats.org/officeDocument/2006/relationships/image" Target="../media/image-71-2.png"/><Relationship Id="rId3" Type="http://schemas.openxmlformats.org/officeDocument/2006/relationships/image" Target="../media/image-71-3.png"/><Relationship Id="rId4" Type="http://schemas.openxmlformats.org/officeDocument/2006/relationships/image" Target="../media/image-71-4.png"/><Relationship Id="rId5" Type="http://schemas.openxmlformats.org/officeDocument/2006/relationships/image" Target="../media/image-71-5.png"/><Relationship Id="rId6" Type="http://schemas.openxmlformats.org/officeDocument/2006/relationships/image" Target="../media/image-71-6.png"/><Relationship Id="rId7" Type="http://schemas.openxmlformats.org/officeDocument/2006/relationships/image" Target="../media/image-71-7.png"/><Relationship Id="rId8" Type="http://schemas.openxmlformats.org/officeDocument/2006/relationships/slideLayout" Target="../slideLayouts/slideLayout1.xml"/><Relationship Id="rId9"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jpg"/><Relationship Id="rId2" Type="http://schemas.openxmlformats.org/officeDocument/2006/relationships/image" Target="../media/image-72-2.png"/><Relationship Id="rId3" Type="http://schemas.openxmlformats.org/officeDocument/2006/relationships/image" Target="../media/image-72-3.png"/><Relationship Id="rId4" Type="http://schemas.openxmlformats.org/officeDocument/2006/relationships/image" Target="../media/image-72-4.png"/><Relationship Id="rId5" Type="http://schemas.openxmlformats.org/officeDocument/2006/relationships/image" Target="../media/image-72-5.png"/><Relationship Id="rId6" Type="http://schemas.openxmlformats.org/officeDocument/2006/relationships/slideLayout" Target="../slideLayouts/slideLayout1.xml"/><Relationship Id="rId7"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jpg"/><Relationship Id="rId2" Type="http://schemas.openxmlformats.org/officeDocument/2006/relationships/image" Target="../media/image-73-2.png"/><Relationship Id="rId3" Type="http://schemas.openxmlformats.org/officeDocument/2006/relationships/image" Target="../media/image-73-3.png"/><Relationship Id="rId4" Type="http://schemas.openxmlformats.org/officeDocument/2006/relationships/image" Target="../media/image-73-4.png"/><Relationship Id="rId5" Type="http://schemas.openxmlformats.org/officeDocument/2006/relationships/slideLayout" Target="../slideLayouts/slideLayout1.xml"/><Relationship Id="rId6"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jpg"/><Relationship Id="rId2" Type="http://schemas.openxmlformats.org/officeDocument/2006/relationships/image" Target="../media/image-74-2.png"/><Relationship Id="rId3" Type="http://schemas.openxmlformats.org/officeDocument/2006/relationships/image" Target="../media/image-74-3.png"/><Relationship Id="rId4" Type="http://schemas.openxmlformats.org/officeDocument/2006/relationships/image" Target="../media/image-74-4.png"/><Relationship Id="rId5" Type="http://schemas.openxmlformats.org/officeDocument/2006/relationships/slideLayout" Target="../slideLayouts/slideLayout1.xml"/><Relationship Id="rId6"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jpg"/><Relationship Id="rId2" Type="http://schemas.openxmlformats.org/officeDocument/2006/relationships/image" Target="../media/image-77-2.png"/><Relationship Id="rId3" Type="http://schemas.openxmlformats.org/officeDocument/2006/relationships/image" Target="../media/image-77-3.png"/><Relationship Id="rId4" Type="http://schemas.openxmlformats.org/officeDocument/2006/relationships/image" Target="../media/image-77-4.png"/><Relationship Id="rId5" Type="http://schemas.openxmlformats.org/officeDocument/2006/relationships/image" Target="../media/image-77-5.png"/><Relationship Id="rId6" Type="http://schemas.openxmlformats.org/officeDocument/2006/relationships/slideLayout" Target="../slideLayouts/slideLayout1.xml"/><Relationship Id="rId7"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image" Target="../media/image-78-2.png"/><Relationship Id="rId3" Type="http://schemas.openxmlformats.org/officeDocument/2006/relationships/image" Target="../media/image-78-3.png"/><Relationship Id="rId4" Type="http://schemas.openxmlformats.org/officeDocument/2006/relationships/image" Target="../media/image-78-4.png"/><Relationship Id="rId5" Type="http://schemas.openxmlformats.org/officeDocument/2006/relationships/image" Target="../media/image-78-5.png"/><Relationship Id="rId6" Type="http://schemas.openxmlformats.org/officeDocument/2006/relationships/slideLayout" Target="../slideLayouts/slideLayout1.xml"/><Relationship Id="rId7"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jpg"/><Relationship Id="rId2" Type="http://schemas.openxmlformats.org/officeDocument/2006/relationships/image" Target="../media/image-82-2.jpg"/><Relationship Id="rId3" Type="http://schemas.openxmlformats.org/officeDocument/2006/relationships/slideLayout" Target="../slideLayouts/slideLayout1.xml"/><Relationship Id="rId4"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jpg"/><Relationship Id="rId2" Type="http://schemas.openxmlformats.org/officeDocument/2006/relationships/image" Target="../media/image-83-2.png"/><Relationship Id="rId3" Type="http://schemas.openxmlformats.org/officeDocument/2006/relationships/image" Target="../media/image-83-3.png"/><Relationship Id="rId4" Type="http://schemas.openxmlformats.org/officeDocument/2006/relationships/image" Target="../media/image-83-4.png"/><Relationship Id="rId5" Type="http://schemas.openxmlformats.org/officeDocument/2006/relationships/image" Target="../media/image-83-5.png"/><Relationship Id="rId6" Type="http://schemas.openxmlformats.org/officeDocument/2006/relationships/image" Target="../media/image-83-6.png"/><Relationship Id="rId7" Type="http://schemas.openxmlformats.org/officeDocument/2006/relationships/slideLayout" Target="../slideLayouts/slideLayout1.xml"/><Relationship Id="rId8"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jpg"/><Relationship Id="rId2" Type="http://schemas.openxmlformats.org/officeDocument/2006/relationships/image" Target="../media/image-84-2.png"/><Relationship Id="rId3" Type="http://schemas.openxmlformats.org/officeDocument/2006/relationships/image" Target="../media/image-84-3.png"/><Relationship Id="rId4" Type="http://schemas.openxmlformats.org/officeDocument/2006/relationships/image" Target="../media/image-84-4.png"/><Relationship Id="rId5" Type="http://schemas.openxmlformats.org/officeDocument/2006/relationships/image" Target="../media/image-84-5.png"/><Relationship Id="rId6" Type="http://schemas.openxmlformats.org/officeDocument/2006/relationships/slideLayout" Target="../slideLayouts/slideLayout1.xml"/><Relationship Id="rId7"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image" Target="../media/image-85-2.png"/><Relationship Id="rId3" Type="http://schemas.openxmlformats.org/officeDocument/2006/relationships/image" Target="../media/image-85-3.png"/><Relationship Id="rId4" Type="http://schemas.openxmlformats.org/officeDocument/2006/relationships/image" Target="../media/image-85-4.png"/><Relationship Id="rId5" Type="http://schemas.openxmlformats.org/officeDocument/2006/relationships/image" Target="../media/image-85-5.png"/><Relationship Id="rId6" Type="http://schemas.openxmlformats.org/officeDocument/2006/relationships/image" Target="../media/image-85-6.png"/><Relationship Id="rId7" Type="http://schemas.openxmlformats.org/officeDocument/2006/relationships/image" Target="../media/image-85-7.png"/><Relationship Id="rId8" Type="http://schemas.openxmlformats.org/officeDocument/2006/relationships/image" Target="../media/image-85-8.png"/><Relationship Id="rId9" Type="http://schemas.openxmlformats.org/officeDocument/2006/relationships/image" Target="../media/image-85-9.png"/><Relationship Id="rId10" Type="http://schemas.openxmlformats.org/officeDocument/2006/relationships/image" Target="../media/image-85-10.png"/><Relationship Id="rId11" Type="http://schemas.openxmlformats.org/officeDocument/2006/relationships/image" Target="../media/image-85-11.png"/><Relationship Id="rId12" Type="http://schemas.openxmlformats.org/officeDocument/2006/relationships/image" Target="../media/image-85-12.png"/><Relationship Id="rId13" Type="http://schemas.openxmlformats.org/officeDocument/2006/relationships/image" Target="../media/image-85-13.png"/><Relationship Id="rId14" Type="http://schemas.openxmlformats.org/officeDocument/2006/relationships/image" Target="../media/image-85-14.png"/><Relationship Id="rId15" Type="http://schemas.openxmlformats.org/officeDocument/2006/relationships/image" Target="../media/image-85-15.png"/><Relationship Id="rId16" Type="http://schemas.openxmlformats.org/officeDocument/2006/relationships/image" Target="../media/image-85-16.png"/><Relationship Id="rId17" Type="http://schemas.openxmlformats.org/officeDocument/2006/relationships/slideLayout" Target="../slideLayouts/slideLayout1.xml"/><Relationship Id="rId18"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jpg"/><Relationship Id="rId2" Type="http://schemas.openxmlformats.org/officeDocument/2006/relationships/image" Target="../media/image-87-2.png"/><Relationship Id="rId3" Type="http://schemas.openxmlformats.org/officeDocument/2006/relationships/image" Target="../media/image-87-3.png"/><Relationship Id="rId4" Type="http://schemas.openxmlformats.org/officeDocument/2006/relationships/image" Target="../media/image-87-4.png"/><Relationship Id="rId5" Type="http://schemas.openxmlformats.org/officeDocument/2006/relationships/image" Target="../media/image-87-5.png"/><Relationship Id="rId6" Type="http://schemas.openxmlformats.org/officeDocument/2006/relationships/slideLayout" Target="../slideLayouts/slideLayout1.xml"/><Relationship Id="rId7"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image" Target="../media/image-90-2.png"/><Relationship Id="rId3" Type="http://schemas.openxmlformats.org/officeDocument/2006/relationships/image" Target="../media/image-90-3.png"/><Relationship Id="rId4" Type="http://schemas.openxmlformats.org/officeDocument/2006/relationships/image" Target="../media/image-90-4.png"/><Relationship Id="rId5" Type="http://schemas.openxmlformats.org/officeDocument/2006/relationships/image" Target="../media/image-90-5.png"/><Relationship Id="rId6" Type="http://schemas.openxmlformats.org/officeDocument/2006/relationships/slideLayout" Target="../slideLayouts/slideLayout1.xml"/><Relationship Id="rId7"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jpg"/><Relationship Id="rId2" Type="http://schemas.openxmlformats.org/officeDocument/2006/relationships/image" Target="../media/image-91-2.png"/><Relationship Id="rId3" Type="http://schemas.openxmlformats.org/officeDocument/2006/relationships/image" Target="../media/image-91-3.png"/><Relationship Id="rId4" Type="http://schemas.openxmlformats.org/officeDocument/2006/relationships/image" Target="../media/image-91-4.png"/><Relationship Id="rId5" Type="http://schemas.openxmlformats.org/officeDocument/2006/relationships/slideLayout" Target="../slideLayouts/slideLayout1.xml"/><Relationship Id="rId6"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jpg"/><Relationship Id="rId2" Type="http://schemas.openxmlformats.org/officeDocument/2006/relationships/image" Target="../media/image-92-2.png"/><Relationship Id="rId3" Type="http://schemas.openxmlformats.org/officeDocument/2006/relationships/image" Target="../media/image-92-3.png"/><Relationship Id="rId4" Type="http://schemas.openxmlformats.org/officeDocument/2006/relationships/image" Target="../media/image-92-4.png"/><Relationship Id="rId5" Type="http://schemas.openxmlformats.org/officeDocument/2006/relationships/image" Target="../media/image-92-5.png"/><Relationship Id="rId6" Type="http://schemas.openxmlformats.org/officeDocument/2006/relationships/slideLayout" Target="../slideLayouts/slideLayout1.xml"/><Relationship Id="rId7"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jpg"/><Relationship Id="rId2" Type="http://schemas.openxmlformats.org/officeDocument/2006/relationships/image" Target="../media/image-93-2.png"/><Relationship Id="rId3" Type="http://schemas.openxmlformats.org/officeDocument/2006/relationships/image" Target="../media/image-93-3.png"/><Relationship Id="rId4" Type="http://schemas.openxmlformats.org/officeDocument/2006/relationships/image" Target="../media/image-93-4.png"/><Relationship Id="rId5" Type="http://schemas.openxmlformats.org/officeDocument/2006/relationships/slideLayout" Target="../slideLayouts/slideLayout1.xml"/><Relationship Id="rId6"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jpg"/><Relationship Id="rId2" Type="http://schemas.openxmlformats.org/officeDocument/2006/relationships/image" Target="../media/image-94-2.png"/><Relationship Id="rId3" Type="http://schemas.openxmlformats.org/officeDocument/2006/relationships/image" Target="../media/image-94-3.png"/><Relationship Id="rId4" Type="http://schemas.openxmlformats.org/officeDocument/2006/relationships/image" Target="../media/image-94-4.png"/><Relationship Id="rId5" Type="http://schemas.openxmlformats.org/officeDocument/2006/relationships/slideLayout" Target="../slideLayouts/slideLayout1.xml"/><Relationship Id="rId6"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slideLayout" Target="../slideLayouts/slideLayout1.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jpg"/><Relationship Id="rId2" Type="http://schemas.openxmlformats.org/officeDocument/2006/relationships/image" Target="../media/image-97-2.png"/><Relationship Id="rId3" Type="http://schemas.openxmlformats.org/officeDocument/2006/relationships/image" Target="../media/image-97-3.png"/><Relationship Id="rId4" Type="http://schemas.openxmlformats.org/officeDocument/2006/relationships/image" Target="../media/image-97-4.png"/><Relationship Id="rId5" Type="http://schemas.openxmlformats.org/officeDocument/2006/relationships/slideLayout" Target="../slideLayouts/slideLayout1.xml"/><Relationship Id="rId6"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jpg"/><Relationship Id="rId2" Type="http://schemas.openxmlformats.org/officeDocument/2006/relationships/image" Target="../media/image-98-2.png"/><Relationship Id="rId3" Type="http://schemas.openxmlformats.org/officeDocument/2006/relationships/image" Target="../media/image-98-3.png"/><Relationship Id="rId4" Type="http://schemas.openxmlformats.org/officeDocument/2006/relationships/image" Target="../media/image-98-4.png"/><Relationship Id="rId5" Type="http://schemas.openxmlformats.org/officeDocument/2006/relationships/image" Target="../media/image-98-5.png"/><Relationship Id="rId6" Type="http://schemas.openxmlformats.org/officeDocument/2006/relationships/slideLayout" Target="../slideLayouts/slideLayout1.xml"/><Relationship Id="rId7"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jpg"/><Relationship Id="rId2" Type="http://schemas.openxmlformats.org/officeDocument/2006/relationships/image" Target="../media/image-100-2.png"/><Relationship Id="rId3" Type="http://schemas.openxmlformats.org/officeDocument/2006/relationships/image" Target="../media/image-100-3.png"/><Relationship Id="rId4" Type="http://schemas.openxmlformats.org/officeDocument/2006/relationships/image" Target="../media/image-100-4.png"/><Relationship Id="rId5" Type="http://schemas.openxmlformats.org/officeDocument/2006/relationships/slideLayout" Target="../slideLayouts/slideLayout1.xml"/><Relationship Id="rId6"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jpg"/><Relationship Id="rId2" Type="http://schemas.openxmlformats.org/officeDocument/2006/relationships/image" Target="../media/image-102-2.png"/><Relationship Id="rId3" Type="http://schemas.openxmlformats.org/officeDocument/2006/relationships/image" Target="../media/image-102-3.png"/><Relationship Id="rId4" Type="http://schemas.openxmlformats.org/officeDocument/2006/relationships/image" Target="../media/image-102-4.png"/><Relationship Id="rId5" Type="http://schemas.openxmlformats.org/officeDocument/2006/relationships/image" Target="../media/image-102-5.png"/><Relationship Id="rId6" Type="http://schemas.openxmlformats.org/officeDocument/2006/relationships/slideLayout" Target="../slideLayouts/slideLayout1.xml"/><Relationship Id="rId7"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image-103-1.jpg"/><Relationship Id="rId2" Type="http://schemas.openxmlformats.org/officeDocument/2006/relationships/image" Target="../media/image-103-2.png"/><Relationship Id="rId3" Type="http://schemas.openxmlformats.org/officeDocument/2006/relationships/image" Target="../media/image-103-3.png"/><Relationship Id="rId4" Type="http://schemas.openxmlformats.org/officeDocument/2006/relationships/image" Target="../media/image-103-4.png"/><Relationship Id="rId5" Type="http://schemas.openxmlformats.org/officeDocument/2006/relationships/slideLayout" Target="../slideLayouts/slideLayout1.xml"/><Relationship Id="rId6"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image-104-1.png"/><Relationship Id="rId2" Type="http://schemas.openxmlformats.org/officeDocument/2006/relationships/image" Target="../media/image-104-2.png"/><Relationship Id="rId3" Type="http://schemas.openxmlformats.org/officeDocument/2006/relationships/image" Target="../media/image-104-3.png"/><Relationship Id="rId4" Type="http://schemas.openxmlformats.org/officeDocument/2006/relationships/image" Target="../media/image-104-4.png"/><Relationship Id="rId5" Type="http://schemas.openxmlformats.org/officeDocument/2006/relationships/image" Target="../media/image-104-5.png"/><Relationship Id="rId6" Type="http://schemas.openxmlformats.org/officeDocument/2006/relationships/image" Target="../media/image-104-6.png"/><Relationship Id="rId7" Type="http://schemas.openxmlformats.org/officeDocument/2006/relationships/slideLayout" Target="../slideLayouts/slideLayout1.xml"/><Relationship Id="rId8"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jpg"/><Relationship Id="rId2" Type="http://schemas.openxmlformats.org/officeDocument/2006/relationships/image" Target="../media/image-105-2.jpg"/><Relationship Id="rId3" Type="http://schemas.openxmlformats.org/officeDocument/2006/relationships/slideLayout" Target="../slideLayouts/slideLayout1.xml"/><Relationship Id="rId4"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jpg"/><Relationship Id="rId2" Type="http://schemas.openxmlformats.org/officeDocument/2006/relationships/image" Target="../media/image-106-2.jpg"/><Relationship Id="rId3" Type="http://schemas.openxmlformats.org/officeDocument/2006/relationships/image" Target="../media/image-106-3.jpg"/><Relationship Id="rId4" Type="http://schemas.openxmlformats.org/officeDocument/2006/relationships/image" Target="../media/image-106-4.png"/><Relationship Id="rId5" Type="http://schemas.openxmlformats.org/officeDocument/2006/relationships/image" Target="../media/image-106-5.png"/><Relationship Id="rId6" Type="http://schemas.openxmlformats.org/officeDocument/2006/relationships/image" Target="../media/image-106-6.png"/><Relationship Id="rId7" Type="http://schemas.openxmlformats.org/officeDocument/2006/relationships/image" Target="../media/image-106-7.png"/><Relationship Id="rId8" Type="http://schemas.openxmlformats.org/officeDocument/2006/relationships/slideLayout" Target="../slideLayouts/slideLayout1.xml"/><Relationship Id="rId9"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jpg"/><Relationship Id="rId2" Type="http://schemas.openxmlformats.org/officeDocument/2006/relationships/image" Target="../media/image-107-2.jpg"/><Relationship Id="rId3" Type="http://schemas.openxmlformats.org/officeDocument/2006/relationships/image" Target="../media/image-107-3.jpg"/><Relationship Id="rId4" Type="http://schemas.openxmlformats.org/officeDocument/2006/relationships/image" Target="../media/image-107-4.png"/><Relationship Id="rId5" Type="http://schemas.openxmlformats.org/officeDocument/2006/relationships/image" Target="../media/image-107-5.png"/><Relationship Id="rId6" Type="http://schemas.openxmlformats.org/officeDocument/2006/relationships/image" Target="../media/image-107-6.png"/><Relationship Id="rId7" Type="http://schemas.openxmlformats.org/officeDocument/2006/relationships/image" Target="../media/image-107-7.png"/><Relationship Id="rId8" Type="http://schemas.openxmlformats.org/officeDocument/2006/relationships/slideLayout" Target="../slideLayouts/slideLayout1.xml"/><Relationship Id="rId9"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png"/><Relationship Id="rId2" Type="http://schemas.openxmlformats.org/officeDocument/2006/relationships/image" Target="../media/image-110-2.png"/><Relationship Id="rId3" Type="http://schemas.openxmlformats.org/officeDocument/2006/relationships/image" Target="../media/image-110-3.png"/><Relationship Id="rId4" Type="http://schemas.openxmlformats.org/officeDocument/2006/relationships/image" Target="../media/image-110-4.png"/><Relationship Id="rId5" Type="http://schemas.openxmlformats.org/officeDocument/2006/relationships/image" Target="../media/image-110-5.png"/><Relationship Id="rId6" Type="http://schemas.openxmlformats.org/officeDocument/2006/relationships/image" Target="../media/image-110-6.png"/><Relationship Id="rId7" Type="http://schemas.openxmlformats.org/officeDocument/2006/relationships/slideLayout" Target="../slideLayouts/slideLayout1.xml"/><Relationship Id="rId8"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image-111-1.png"/><Relationship Id="rId2" Type="http://schemas.openxmlformats.org/officeDocument/2006/relationships/slideLayout" Target="../slideLayouts/slideLayout1.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image-112-1.png"/><Relationship Id="rId2" Type="http://schemas.openxmlformats.org/officeDocument/2006/relationships/image" Target="../media/image-112-2.png"/><Relationship Id="rId3" Type="http://schemas.openxmlformats.org/officeDocument/2006/relationships/image" Target="../media/image-112-3.png"/><Relationship Id="rId4" Type="http://schemas.openxmlformats.org/officeDocument/2006/relationships/image" Target="../media/image-112-4.png"/><Relationship Id="rId5" Type="http://schemas.openxmlformats.org/officeDocument/2006/relationships/slideLayout" Target="../slideLayouts/slideLayout1.xml"/><Relationship Id="rId6"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image-115-1.png"/><Relationship Id="rId2" Type="http://schemas.openxmlformats.org/officeDocument/2006/relationships/image" Target="../media/image-115-2.png"/><Relationship Id="rId3" Type="http://schemas.openxmlformats.org/officeDocument/2006/relationships/image" Target="../media/image-115-3.png"/><Relationship Id="rId4" Type="http://schemas.openxmlformats.org/officeDocument/2006/relationships/image" Target="../media/image-115-4.png"/><Relationship Id="rId5" Type="http://schemas.openxmlformats.org/officeDocument/2006/relationships/image" Target="../media/image-115-5.png"/><Relationship Id="rId6" Type="http://schemas.openxmlformats.org/officeDocument/2006/relationships/image" Target="../media/image-115-6.png"/><Relationship Id="rId7" Type="http://schemas.openxmlformats.org/officeDocument/2006/relationships/slideLayout" Target="../slideLayouts/slideLayout1.xml"/><Relationship Id="rId8"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image" Target="../media/image-116-1.png"/><Relationship Id="rId2" Type="http://schemas.openxmlformats.org/officeDocument/2006/relationships/slideLayout" Target="../slideLayouts/slideLayout1.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image" Target="../media/image-117-1.png"/><Relationship Id="rId2" Type="http://schemas.openxmlformats.org/officeDocument/2006/relationships/image" Target="../media/image-117-2.png"/><Relationship Id="rId3" Type="http://schemas.openxmlformats.org/officeDocument/2006/relationships/image" Target="../media/image-117-3.png"/><Relationship Id="rId4" Type="http://schemas.openxmlformats.org/officeDocument/2006/relationships/image" Target="../media/image-117-4.png"/><Relationship Id="rId5" Type="http://schemas.openxmlformats.org/officeDocument/2006/relationships/slideLayout" Target="../slideLayouts/slideLayout1.xml"/><Relationship Id="rId6"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image-118-1.png"/><Relationship Id="rId2" Type="http://schemas.openxmlformats.org/officeDocument/2006/relationships/image" Target="../media/image-118-2.png"/><Relationship Id="rId3" Type="http://schemas.openxmlformats.org/officeDocument/2006/relationships/image" Target="../media/image-118-3.png"/><Relationship Id="rId4" Type="http://schemas.openxmlformats.org/officeDocument/2006/relationships/image" Target="../media/image-118-4.png"/><Relationship Id="rId5" Type="http://schemas.openxmlformats.org/officeDocument/2006/relationships/image" Target="../media/image-118-5.png"/><Relationship Id="rId6" Type="http://schemas.openxmlformats.org/officeDocument/2006/relationships/slideLayout" Target="../slideLayouts/slideLayout1.xml"/><Relationship Id="rId7"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image-121-1.png"/><Relationship Id="rId2" Type="http://schemas.openxmlformats.org/officeDocument/2006/relationships/image" Target="../media/image-121-2.png"/><Relationship Id="rId3" Type="http://schemas.openxmlformats.org/officeDocument/2006/relationships/image" Target="../media/image-121-3.png"/><Relationship Id="rId4" Type="http://schemas.openxmlformats.org/officeDocument/2006/relationships/image" Target="../media/image-121-4.png"/><Relationship Id="rId5" Type="http://schemas.openxmlformats.org/officeDocument/2006/relationships/image" Target="../media/image-121-5.png"/><Relationship Id="rId6" Type="http://schemas.openxmlformats.org/officeDocument/2006/relationships/image" Target="../media/image-121-6.png"/><Relationship Id="rId7" Type="http://schemas.openxmlformats.org/officeDocument/2006/relationships/slideLayout" Target="../slideLayouts/slideLayout1.xml"/><Relationship Id="rId8"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image" Target="../media/image-126-1.png"/><Relationship Id="rId2" Type="http://schemas.openxmlformats.org/officeDocument/2006/relationships/image" Target="../media/image-126-2.png"/><Relationship Id="rId3" Type="http://schemas.openxmlformats.org/officeDocument/2006/relationships/slideLayout" Target="../slideLayouts/slideLayout1.xml"/><Relationship Id="rId4"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image" Target="../media/image-127-1.png"/><Relationship Id="rId2" Type="http://schemas.openxmlformats.org/officeDocument/2006/relationships/image" Target="../media/image-127-2.png"/><Relationship Id="rId3" Type="http://schemas.openxmlformats.org/officeDocument/2006/relationships/image" Target="../media/image-127-3.png"/><Relationship Id="rId4" Type="http://schemas.openxmlformats.org/officeDocument/2006/relationships/image" Target="../media/image-127-4.png"/><Relationship Id="rId5" Type="http://schemas.openxmlformats.org/officeDocument/2006/relationships/image" Target="../media/image-127-5.png"/><Relationship Id="rId6" Type="http://schemas.openxmlformats.org/officeDocument/2006/relationships/image" Target="../media/image-127-6.png"/><Relationship Id="rId7" Type="http://schemas.openxmlformats.org/officeDocument/2006/relationships/image" Target="../media/image-127-7.png"/><Relationship Id="rId8" Type="http://schemas.openxmlformats.org/officeDocument/2006/relationships/image" Target="../media/image-127-8.png"/><Relationship Id="rId9" Type="http://schemas.openxmlformats.org/officeDocument/2006/relationships/slideLayout" Target="../slideLayouts/slideLayout1.xml"/><Relationship Id="rId10"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image" Target="../media/image-129-1.png"/><Relationship Id="rId2" Type="http://schemas.openxmlformats.org/officeDocument/2006/relationships/image" Target="../media/image-129-2.png"/><Relationship Id="rId3" Type="http://schemas.openxmlformats.org/officeDocument/2006/relationships/image" Target="../media/image-129-3.png"/><Relationship Id="rId4" Type="http://schemas.openxmlformats.org/officeDocument/2006/relationships/image" Target="../media/image-129-4.png"/><Relationship Id="rId5" Type="http://schemas.openxmlformats.org/officeDocument/2006/relationships/image" Target="../media/image-129-5.png"/><Relationship Id="rId6" Type="http://schemas.openxmlformats.org/officeDocument/2006/relationships/image" Target="../media/image-129-6.png"/><Relationship Id="rId7" Type="http://schemas.openxmlformats.org/officeDocument/2006/relationships/image" Target="../media/image-129-7.png"/><Relationship Id="rId8" Type="http://schemas.openxmlformats.org/officeDocument/2006/relationships/image" Target="../media/image-129-8.jpg"/><Relationship Id="rId9" Type="http://schemas.openxmlformats.org/officeDocument/2006/relationships/slideLayout" Target="../slideLayouts/slideLayout1.xml"/><Relationship Id="rId10"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image" Target="../media/image-130-1.png"/><Relationship Id="rId2" Type="http://schemas.openxmlformats.org/officeDocument/2006/relationships/slideLayout" Target="../slideLayouts/slideLayout1.xml"/><Relationship Id="rId3" Type="http://schemas.openxmlformats.org/officeDocument/2006/relationships/notesSlide" Target="../notesSlides/notesSlide1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F4B"/>
        </a:solidFill>
      </p:bgPr>
    </p:bg>
    <p:spTree>
      <p:nvGrpSpPr>
        <p:cNvPr id="1" name=""/>
        <p:cNvGrpSpPr/>
        <p:nvPr/>
      </p:nvGrpSpPr>
      <p:grpSpPr>
        <a:xfrm>
          <a:off x="0" y="0"/>
          <a:ext cx="0" cy="0"/>
          <a:chOff x="0" y="0"/>
          <a:chExt cx="0" cy="0"/>
        </a:xfrm>
      </p:grpSpPr>
      <p:sp>
        <p:nvSpPr>
          <p:cNvPr id="2" name="Shape 0"/>
          <p:cNvSpPr/>
          <p:nvPr/>
        </p:nvSpPr>
        <p:spPr>
          <a:xfrm>
            <a:off x="6236208" y="1447038"/>
            <a:ext cx="7095744" cy="4055364"/>
          </a:xfrm>
          <a:prstGeom prst="roundRect">
            <a:avLst>
              <a:gd name="adj" fmla="val 2255"/>
            </a:avLst>
          </a:prstGeom>
          <a:solidFill>
            <a:srgbClr val="252B5E"/>
          </a:solidFill>
          <a:ln w="12700">
            <a:solidFill>
              <a:srgbClr val="3C4488"/>
            </a:solidFill>
            <a:prstDash val="solid"/>
          </a:ln>
        </p:spPr>
      </p:sp>
      <p:pic>
        <p:nvPicPr>
          <p:cNvPr id="3" name="Image 0" descr="/tmp/claude-0/-home-user-01-awp/0b94e63d-a2ea-5e41-b4e8-6fcedbe96518/scratchpad/ppt/img/proyecto.jpg">    </p:cNvPr>
          <p:cNvPicPr>
            <a:picLocks noChangeAspect="1"/>
          </p:cNvPicPr>
          <p:nvPr/>
        </p:nvPicPr>
        <p:blipFill>
          <a:blip r:embed="rId1">
            <a:alphaModFix amt="92000"/>
          </a:blip>
          <a:stretch>
            <a:fillRect/>
          </a:stretch>
        </p:blipFill>
        <p:spPr>
          <a:xfrm>
            <a:off x="6309360" y="1520190"/>
            <a:ext cx="6949440" cy="3909060"/>
          </a:xfrm>
          <a:prstGeom prst="rect">
            <a:avLst/>
          </a:prstGeom>
        </p:spPr>
      </p:pic>
      <p:sp>
        <p:nvSpPr>
          <p:cNvPr id="4" name="Shape 1"/>
          <p:cNvSpPr/>
          <p:nvPr/>
        </p:nvSpPr>
        <p:spPr>
          <a:xfrm>
            <a:off x="548640" y="1143000"/>
            <a:ext cx="868680" cy="868680"/>
          </a:xfrm>
          <a:prstGeom prst="ellipse">
            <a:avLst/>
          </a:prstGeom>
          <a:solidFill>
            <a:srgbClr val="FFC107"/>
          </a:solidFill>
          <a:ln w="12700">
            <a:solidFill>
              <a:srgbClr val="FFC107"/>
            </a:solidFill>
            <a:prstDash val="solid"/>
          </a:ln>
        </p:spPr>
      </p:sp>
      <p:pic>
        <p:nvPicPr>
          <p:cNvPr id="5" name="Image 1" descr="preencoded.png">    </p:cNvPr>
          <p:cNvPicPr>
            <a:picLocks noChangeAspect="1"/>
          </p:cNvPicPr>
          <p:nvPr/>
        </p:nvPicPr>
        <p:blipFill>
          <a:blip r:embed="rId2"/>
          <a:stretch>
            <a:fillRect/>
          </a:stretch>
        </p:blipFill>
        <p:spPr>
          <a:xfrm>
            <a:off x="744093" y="1338453"/>
            <a:ext cx="477774" cy="477774"/>
          </a:xfrm>
          <a:prstGeom prst="rect">
            <a:avLst/>
          </a:prstGeom>
        </p:spPr>
      </p:pic>
      <p:sp>
        <p:nvSpPr>
          <p:cNvPr id="6" name="Text 2"/>
          <p:cNvSpPr txBox="1"/>
          <p:nvPr/>
        </p:nvSpPr>
        <p:spPr>
          <a:xfrm>
            <a:off x="548640" y="2194560"/>
            <a:ext cx="5669280" cy="914400"/>
          </a:xfrm>
          <a:prstGeom prst="rect">
            <a:avLst/>
          </a:prstGeom>
          <a:noFill/>
          <a:ln/>
        </p:spPr>
        <p:txBody>
          <a:bodyPr wrap="square" lIns="0" tIns="0" rIns="0" bIns="0" rtlCol="0" anchor="ctr"/>
          <a:lstStyle/>
          <a:p>
            <a:pPr indent="0" marL="0">
              <a:buNone/>
            </a:pPr>
            <a:r>
              <a:rPr lang="en-US" sz="4600" b="1" dirty="0">
                <a:solidFill>
                  <a:srgbClr val="FFFFFF"/>
                </a:solidFill>
                <a:latin typeface="Calibri" pitchFamily="34" charset="0"/>
                <a:ea typeface="Calibri" pitchFamily="34" charset="-122"/>
                <a:cs typeface="Calibri" pitchFamily="34" charset="-120"/>
              </a:rPr>
              <a:t>Aplicación AWP</a:t>
            </a:r>
            <a:endParaRPr lang="en-US" sz="4600" dirty="0"/>
          </a:p>
        </p:txBody>
      </p:sp>
      <p:sp>
        <p:nvSpPr>
          <p:cNvPr id="7" name="Text 3"/>
          <p:cNvSpPr txBox="1"/>
          <p:nvPr/>
        </p:nvSpPr>
        <p:spPr>
          <a:xfrm>
            <a:off x="548640" y="3291840"/>
            <a:ext cx="5394960" cy="1463040"/>
          </a:xfrm>
          <a:prstGeom prst="rect">
            <a:avLst/>
          </a:prstGeom>
          <a:noFill/>
          <a:ln/>
        </p:spPr>
        <p:txBody>
          <a:bodyPr wrap="square" lIns="0" tIns="0" rIns="0" bIns="0" rtlCol="0" anchor="t"/>
          <a:lstStyle/>
          <a:p>
            <a:pPr indent="0" marL="0">
              <a:buNone/>
            </a:pPr>
            <a:r>
              <a:rPr lang="en-US" sz="2000" dirty="0">
                <a:solidFill>
                  <a:srgbClr val="C5CAE9"/>
                </a:solidFill>
                <a:latin typeface="Calibri" pitchFamily="34" charset="0"/>
                <a:ea typeface="Calibri" pitchFamily="34" charset="-122"/>
                <a:cs typeface="Calibri" pitchFamily="34" charset="-120"/>
              </a:rPr>
              <a:t>Guía completa para registrar y seguir la implementación de Advanced Work Packaging en tus proyectos</a:t>
            </a:r>
            <a:endParaRPr lang="en-US" sz="2000" dirty="0"/>
          </a:p>
        </p:txBody>
      </p:sp>
      <p:sp>
        <p:nvSpPr>
          <p:cNvPr id="8" name="Text 4"/>
          <p:cNvSpPr txBox="1"/>
          <p:nvPr/>
        </p:nvSpPr>
        <p:spPr>
          <a:xfrm>
            <a:off x="548640" y="5806440"/>
            <a:ext cx="5669280" cy="457200"/>
          </a:xfrm>
          <a:prstGeom prst="rect">
            <a:avLst/>
          </a:prstGeom>
          <a:noFill/>
          <a:ln/>
        </p:spPr>
        <p:txBody>
          <a:bodyPr wrap="square" lIns="0" tIns="0" rIns="0" bIns="0" rtlCol="0" anchor="t"/>
          <a:lstStyle/>
          <a:p>
            <a:pPr indent="0" marL="0">
              <a:buNone/>
            </a:pPr>
            <a:r>
              <a:rPr lang="en-US" sz="1200" dirty="0">
                <a:solidFill>
                  <a:srgbClr val="8C93C9"/>
                </a:solidFill>
                <a:latin typeface="Calibri" pitchFamily="34" charset="0"/>
                <a:ea typeface="Calibri" pitchFamily="34" charset="-122"/>
                <a:cs typeface="Calibri" pitchFamily="34" charset="-120"/>
              </a:rPr>
              <a:t>Kit de implementación AWP · Versión de la aplicación: Etapa 2 · Septiembre de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Cómo usar esta presentación</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Pensada para leerla sola, proyectarla en una capacitación o seguir el video narrado</a:t>
            </a:r>
            <a:endParaRPr lang="en-US" sz="1500" dirty="0"/>
          </a:p>
        </p:txBody>
      </p:sp>
      <p:sp>
        <p:nvSpPr>
          <p:cNvPr id="4" name="Shape 2"/>
          <p:cNvSpPr/>
          <p:nvPr/>
        </p:nvSpPr>
        <p:spPr>
          <a:xfrm>
            <a:off x="548640" y="1554480"/>
            <a:ext cx="3515258" cy="2217420"/>
          </a:xfrm>
          <a:prstGeom prst="roundRect">
            <a:avLst>
              <a:gd name="adj" fmla="val 4124"/>
            </a:avLst>
          </a:prstGeom>
          <a:solidFill>
            <a:srgbClr val="F5F6FB"/>
          </a:solidFill>
          <a:ln w="9525">
            <a:solidFill>
              <a:srgbClr val="E3E5EE"/>
            </a:solidFill>
            <a:prstDash val="solid"/>
          </a:ln>
        </p:spPr>
      </p:sp>
      <p:sp>
        <p:nvSpPr>
          <p:cNvPr id="5" name="Shape 3"/>
          <p:cNvSpPr/>
          <p:nvPr/>
        </p:nvSpPr>
        <p:spPr>
          <a:xfrm>
            <a:off x="777240" y="1783080"/>
            <a:ext cx="548640" cy="548640"/>
          </a:xfrm>
          <a:prstGeom prst="ellipse">
            <a:avLst/>
          </a:prstGeom>
          <a:solidFill>
            <a:srgbClr val="E8EAF6"/>
          </a:solidFill>
          <a:ln w="12700">
            <a:solidFill>
              <a:srgbClr val="E8EAF6"/>
            </a:solidFill>
            <a:prstDash val="solid"/>
          </a:ln>
        </p:spPr>
      </p:sp>
      <p:pic>
        <p:nvPicPr>
          <p:cNvPr id="6" name="Image 0" descr="preencoded.png">    </p:cNvPr>
          <p:cNvPicPr>
            <a:picLocks noChangeAspect="1"/>
          </p:cNvPicPr>
          <p:nvPr/>
        </p:nvPicPr>
        <p:blipFill>
          <a:blip r:embed="rId1"/>
          <a:stretch>
            <a:fillRect/>
          </a:stretch>
        </p:blipFill>
        <p:spPr>
          <a:xfrm>
            <a:off x="900684" y="1906524"/>
            <a:ext cx="301752" cy="301752"/>
          </a:xfrm>
          <a:prstGeom prst="rect">
            <a:avLst/>
          </a:prstGeom>
        </p:spPr>
      </p:pic>
      <p:sp>
        <p:nvSpPr>
          <p:cNvPr id="7" name="Text 4"/>
          <p:cNvSpPr txBox="1"/>
          <p:nvPr/>
        </p:nvSpPr>
        <p:spPr>
          <a:xfrm>
            <a:off x="1508760" y="1783080"/>
            <a:ext cx="232653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Capturas reales</a:t>
            </a:r>
            <a:endParaRPr lang="en-US" sz="1700" dirty="0"/>
          </a:p>
        </p:txBody>
      </p:sp>
      <p:sp>
        <p:nvSpPr>
          <p:cNvPr id="8" name="Text 5"/>
          <p:cNvSpPr txBox="1"/>
          <p:nvPr/>
        </p:nvSpPr>
        <p:spPr>
          <a:xfrm>
            <a:off x="777240"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Todas las pantallas son de la aplicación funcionando, con tres proyectos de ejemplo: una planta de tratamiento, una concentradora y un hospital.</a:t>
            </a:r>
            <a:endParaRPr lang="en-US" sz="1500" dirty="0"/>
          </a:p>
        </p:txBody>
      </p:sp>
      <p:sp>
        <p:nvSpPr>
          <p:cNvPr id="9" name="Shape 6"/>
          <p:cNvSpPr/>
          <p:nvPr/>
        </p:nvSpPr>
        <p:spPr>
          <a:xfrm>
            <a:off x="4338218" y="1554480"/>
            <a:ext cx="3515258" cy="2217420"/>
          </a:xfrm>
          <a:prstGeom prst="roundRect">
            <a:avLst>
              <a:gd name="adj" fmla="val 4124"/>
            </a:avLst>
          </a:prstGeom>
          <a:solidFill>
            <a:srgbClr val="F5F6FB"/>
          </a:solidFill>
          <a:ln w="9525">
            <a:solidFill>
              <a:srgbClr val="E3E5EE"/>
            </a:solidFill>
            <a:prstDash val="solid"/>
          </a:ln>
        </p:spPr>
      </p:sp>
      <p:sp>
        <p:nvSpPr>
          <p:cNvPr id="10" name="Shape 7"/>
          <p:cNvSpPr/>
          <p:nvPr/>
        </p:nvSpPr>
        <p:spPr>
          <a:xfrm>
            <a:off x="4566818" y="1783080"/>
            <a:ext cx="548640" cy="548640"/>
          </a:xfrm>
          <a:prstGeom prst="ellipse">
            <a:avLst/>
          </a:prstGeom>
          <a:solidFill>
            <a:srgbClr val="E8EAF6"/>
          </a:solidFill>
          <a:ln w="12700">
            <a:solidFill>
              <a:srgbClr val="E8EAF6"/>
            </a:solidFill>
            <a:prstDash val="solid"/>
          </a:ln>
        </p:spPr>
      </p:sp>
      <p:pic>
        <p:nvPicPr>
          <p:cNvPr id="11" name="Image 1" descr="preencoded.png">    </p:cNvPr>
          <p:cNvPicPr>
            <a:picLocks noChangeAspect="1"/>
          </p:cNvPicPr>
          <p:nvPr/>
        </p:nvPicPr>
        <p:blipFill>
          <a:blip r:embed="rId2"/>
          <a:stretch>
            <a:fillRect/>
          </a:stretch>
        </p:blipFill>
        <p:spPr>
          <a:xfrm>
            <a:off x="4690262" y="1906524"/>
            <a:ext cx="301752" cy="301752"/>
          </a:xfrm>
          <a:prstGeom prst="rect">
            <a:avLst/>
          </a:prstGeom>
        </p:spPr>
      </p:pic>
      <p:sp>
        <p:nvSpPr>
          <p:cNvPr id="12" name="Text 8"/>
          <p:cNvSpPr txBox="1"/>
          <p:nvPr/>
        </p:nvSpPr>
        <p:spPr>
          <a:xfrm>
            <a:off x="5298338" y="1783080"/>
            <a:ext cx="232653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16 secciones</a:t>
            </a:r>
            <a:endParaRPr lang="en-US" sz="1700" dirty="0"/>
          </a:p>
        </p:txBody>
      </p:sp>
      <p:sp>
        <p:nvSpPr>
          <p:cNvPr id="13" name="Text 9"/>
          <p:cNvSpPr txBox="1"/>
          <p:nvPr/>
        </p:nvSpPr>
        <p:spPr>
          <a:xfrm>
            <a:off x="4566818"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Van del acceso a la aplicación hasta la rutina semanal. Cada sección abre con una lámina oscura que resume lo que verás.</a:t>
            </a:r>
            <a:endParaRPr lang="en-US" sz="1500" dirty="0"/>
          </a:p>
        </p:txBody>
      </p:sp>
      <p:sp>
        <p:nvSpPr>
          <p:cNvPr id="14" name="Shape 10"/>
          <p:cNvSpPr/>
          <p:nvPr/>
        </p:nvSpPr>
        <p:spPr>
          <a:xfrm>
            <a:off x="8127797" y="1554480"/>
            <a:ext cx="3515258" cy="2217420"/>
          </a:xfrm>
          <a:prstGeom prst="roundRect">
            <a:avLst>
              <a:gd name="adj" fmla="val 4124"/>
            </a:avLst>
          </a:prstGeom>
          <a:solidFill>
            <a:srgbClr val="F5F6FB"/>
          </a:solidFill>
          <a:ln w="9525">
            <a:solidFill>
              <a:srgbClr val="E3E5EE"/>
            </a:solidFill>
            <a:prstDash val="solid"/>
          </a:ln>
        </p:spPr>
      </p:sp>
      <p:sp>
        <p:nvSpPr>
          <p:cNvPr id="15" name="Shape 11"/>
          <p:cNvSpPr/>
          <p:nvPr/>
        </p:nvSpPr>
        <p:spPr>
          <a:xfrm>
            <a:off x="8356397" y="1783080"/>
            <a:ext cx="548640" cy="548640"/>
          </a:xfrm>
          <a:prstGeom prst="ellipse">
            <a:avLst/>
          </a:prstGeom>
          <a:solidFill>
            <a:srgbClr val="E8EAF6"/>
          </a:solidFill>
          <a:ln w="12700">
            <a:solidFill>
              <a:srgbClr val="E8EAF6"/>
            </a:solidFill>
            <a:prstDash val="solid"/>
          </a:ln>
        </p:spPr>
      </p:sp>
      <p:pic>
        <p:nvPicPr>
          <p:cNvPr id="16" name="Image 2" descr="preencoded.png">    </p:cNvPr>
          <p:cNvPicPr>
            <a:picLocks noChangeAspect="1"/>
          </p:cNvPicPr>
          <p:nvPr/>
        </p:nvPicPr>
        <p:blipFill>
          <a:blip r:embed="rId3"/>
          <a:stretch>
            <a:fillRect/>
          </a:stretch>
        </p:blipFill>
        <p:spPr>
          <a:xfrm>
            <a:off x="8479841" y="1906524"/>
            <a:ext cx="301752" cy="301752"/>
          </a:xfrm>
          <a:prstGeom prst="rect">
            <a:avLst/>
          </a:prstGeom>
        </p:spPr>
      </p:pic>
      <p:sp>
        <p:nvSpPr>
          <p:cNvPr id="17" name="Text 12"/>
          <p:cNvSpPr txBox="1"/>
          <p:nvPr/>
        </p:nvSpPr>
        <p:spPr>
          <a:xfrm>
            <a:off x="9087917" y="1783080"/>
            <a:ext cx="232653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Notas del orador</a:t>
            </a:r>
            <a:endParaRPr lang="en-US" sz="1700" dirty="0"/>
          </a:p>
        </p:txBody>
      </p:sp>
      <p:sp>
        <p:nvSpPr>
          <p:cNvPr id="18" name="Text 13"/>
          <p:cNvSpPr txBox="1"/>
          <p:nvPr/>
        </p:nvSpPr>
        <p:spPr>
          <a:xfrm>
            <a:off x="8356397"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Cada lámina tiene en sus notas el texto completo de la narración, listo para que un facilitador lo lea.</a:t>
            </a:r>
            <a:endParaRPr lang="en-US" sz="1500" dirty="0"/>
          </a:p>
        </p:txBody>
      </p:sp>
      <p:sp>
        <p:nvSpPr>
          <p:cNvPr id="19" name="Shape 14"/>
          <p:cNvSpPr/>
          <p:nvPr/>
        </p:nvSpPr>
        <p:spPr>
          <a:xfrm>
            <a:off x="548640" y="4046220"/>
            <a:ext cx="3515258" cy="2217420"/>
          </a:xfrm>
          <a:prstGeom prst="roundRect">
            <a:avLst>
              <a:gd name="adj" fmla="val 4124"/>
            </a:avLst>
          </a:prstGeom>
          <a:solidFill>
            <a:srgbClr val="F5F6FB"/>
          </a:solidFill>
          <a:ln w="9525">
            <a:solidFill>
              <a:srgbClr val="E3E5EE"/>
            </a:solidFill>
            <a:prstDash val="solid"/>
          </a:ln>
        </p:spPr>
      </p:sp>
      <p:sp>
        <p:nvSpPr>
          <p:cNvPr id="20" name="Shape 15"/>
          <p:cNvSpPr/>
          <p:nvPr/>
        </p:nvSpPr>
        <p:spPr>
          <a:xfrm>
            <a:off x="777240" y="4274820"/>
            <a:ext cx="548640" cy="548640"/>
          </a:xfrm>
          <a:prstGeom prst="ellipse">
            <a:avLst/>
          </a:prstGeom>
          <a:solidFill>
            <a:srgbClr val="E8EAF6"/>
          </a:solidFill>
          <a:ln w="12700">
            <a:solidFill>
              <a:srgbClr val="E8EAF6"/>
            </a:solidFill>
            <a:prstDash val="solid"/>
          </a:ln>
        </p:spPr>
      </p:sp>
      <p:pic>
        <p:nvPicPr>
          <p:cNvPr id="21" name="Image 3" descr="preencoded.png">    </p:cNvPr>
          <p:cNvPicPr>
            <a:picLocks noChangeAspect="1"/>
          </p:cNvPicPr>
          <p:nvPr/>
        </p:nvPicPr>
        <p:blipFill>
          <a:blip r:embed="rId4"/>
          <a:stretch>
            <a:fillRect/>
          </a:stretch>
        </p:blipFill>
        <p:spPr>
          <a:xfrm>
            <a:off x="900684" y="4398264"/>
            <a:ext cx="301752" cy="301752"/>
          </a:xfrm>
          <a:prstGeom prst="rect">
            <a:avLst/>
          </a:prstGeom>
        </p:spPr>
      </p:pic>
      <p:sp>
        <p:nvSpPr>
          <p:cNvPr id="22" name="Text 16"/>
          <p:cNvSpPr txBox="1"/>
          <p:nvPr/>
        </p:nvSpPr>
        <p:spPr>
          <a:xfrm>
            <a:off x="1508760" y="4274820"/>
            <a:ext cx="232653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Lo disponible y lo que viene</a:t>
            </a:r>
            <a:endParaRPr lang="en-US" sz="1700" dirty="0"/>
          </a:p>
        </p:txBody>
      </p:sp>
      <p:sp>
        <p:nvSpPr>
          <p:cNvPr id="23" name="Text 17"/>
          <p:cNvSpPr txBox="1"/>
          <p:nvPr/>
        </p:nvSpPr>
        <p:spPr>
          <a:xfrm>
            <a:off x="777240"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Se distingue lo que ya funciona (Etapa 2) de los módulos que llegan en las etapas 3 a 6 de construcción.</a:t>
            </a:r>
            <a:endParaRPr lang="en-US" sz="1500" dirty="0"/>
          </a:p>
        </p:txBody>
      </p:sp>
      <p:sp>
        <p:nvSpPr>
          <p:cNvPr id="24" name="Shape 18"/>
          <p:cNvSpPr/>
          <p:nvPr/>
        </p:nvSpPr>
        <p:spPr>
          <a:xfrm>
            <a:off x="4338218" y="4046220"/>
            <a:ext cx="3515258" cy="2217420"/>
          </a:xfrm>
          <a:prstGeom prst="roundRect">
            <a:avLst>
              <a:gd name="adj" fmla="val 4124"/>
            </a:avLst>
          </a:prstGeom>
          <a:solidFill>
            <a:srgbClr val="F5F6FB"/>
          </a:solidFill>
          <a:ln w="9525">
            <a:solidFill>
              <a:srgbClr val="E3E5EE"/>
            </a:solidFill>
            <a:prstDash val="solid"/>
          </a:ln>
        </p:spPr>
      </p:sp>
      <p:sp>
        <p:nvSpPr>
          <p:cNvPr id="25" name="Shape 19"/>
          <p:cNvSpPr/>
          <p:nvPr/>
        </p:nvSpPr>
        <p:spPr>
          <a:xfrm>
            <a:off x="4566818" y="4274820"/>
            <a:ext cx="548640" cy="548640"/>
          </a:xfrm>
          <a:prstGeom prst="ellipse">
            <a:avLst/>
          </a:prstGeom>
          <a:solidFill>
            <a:srgbClr val="E8EAF6"/>
          </a:solidFill>
          <a:ln w="12700">
            <a:solidFill>
              <a:srgbClr val="E8EAF6"/>
            </a:solidFill>
            <a:prstDash val="solid"/>
          </a:ln>
        </p:spPr>
      </p:sp>
      <p:pic>
        <p:nvPicPr>
          <p:cNvPr id="26" name="Image 4" descr="preencoded.png">    </p:cNvPr>
          <p:cNvPicPr>
            <a:picLocks noChangeAspect="1"/>
          </p:cNvPicPr>
          <p:nvPr/>
        </p:nvPicPr>
        <p:blipFill>
          <a:blip r:embed="rId5"/>
          <a:stretch>
            <a:fillRect/>
          </a:stretch>
        </p:blipFill>
        <p:spPr>
          <a:xfrm>
            <a:off x="4690262" y="4398264"/>
            <a:ext cx="301752" cy="301752"/>
          </a:xfrm>
          <a:prstGeom prst="rect">
            <a:avLst/>
          </a:prstGeom>
        </p:spPr>
      </p:pic>
      <p:sp>
        <p:nvSpPr>
          <p:cNvPr id="27" name="Text 20"/>
          <p:cNvSpPr txBox="1"/>
          <p:nvPr/>
        </p:nvSpPr>
        <p:spPr>
          <a:xfrm>
            <a:off x="5298338" y="4274820"/>
            <a:ext cx="232653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Reglas explicadas</a:t>
            </a:r>
            <a:endParaRPr lang="en-US" sz="1700" dirty="0"/>
          </a:p>
        </p:txBody>
      </p:sp>
      <p:sp>
        <p:nvSpPr>
          <p:cNvPr id="28" name="Text 21"/>
          <p:cNvSpPr txBox="1"/>
          <p:nvPr/>
        </p:nvSpPr>
        <p:spPr>
          <a:xfrm>
            <a:off x="4566818"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Cuando la aplicación calcula algo, como el % de avance, el semáforo o el próximo paso, la lámina muestra la regla exacta.</a:t>
            </a:r>
            <a:endParaRPr lang="en-US" sz="1500" dirty="0"/>
          </a:p>
        </p:txBody>
      </p:sp>
      <p:sp>
        <p:nvSpPr>
          <p:cNvPr id="29" name="Shape 22"/>
          <p:cNvSpPr/>
          <p:nvPr/>
        </p:nvSpPr>
        <p:spPr>
          <a:xfrm>
            <a:off x="8127797" y="4046220"/>
            <a:ext cx="3515258" cy="2217420"/>
          </a:xfrm>
          <a:prstGeom prst="roundRect">
            <a:avLst>
              <a:gd name="adj" fmla="val 4124"/>
            </a:avLst>
          </a:prstGeom>
          <a:solidFill>
            <a:srgbClr val="F5F6FB"/>
          </a:solidFill>
          <a:ln w="9525">
            <a:solidFill>
              <a:srgbClr val="E3E5EE"/>
            </a:solidFill>
            <a:prstDash val="solid"/>
          </a:ln>
        </p:spPr>
      </p:sp>
      <p:sp>
        <p:nvSpPr>
          <p:cNvPr id="30" name="Shape 23"/>
          <p:cNvSpPr/>
          <p:nvPr/>
        </p:nvSpPr>
        <p:spPr>
          <a:xfrm>
            <a:off x="8356397" y="4274820"/>
            <a:ext cx="548640" cy="548640"/>
          </a:xfrm>
          <a:prstGeom prst="ellipse">
            <a:avLst/>
          </a:prstGeom>
          <a:solidFill>
            <a:srgbClr val="E8EAF6"/>
          </a:solidFill>
          <a:ln w="12700">
            <a:solidFill>
              <a:srgbClr val="E8EAF6"/>
            </a:solidFill>
            <a:prstDash val="solid"/>
          </a:ln>
        </p:spPr>
      </p:sp>
      <p:pic>
        <p:nvPicPr>
          <p:cNvPr id="31" name="Image 5" descr="preencoded.png">    </p:cNvPr>
          <p:cNvPicPr>
            <a:picLocks noChangeAspect="1"/>
          </p:cNvPicPr>
          <p:nvPr/>
        </p:nvPicPr>
        <p:blipFill>
          <a:blip r:embed="rId6"/>
          <a:stretch>
            <a:fillRect/>
          </a:stretch>
        </p:blipFill>
        <p:spPr>
          <a:xfrm>
            <a:off x="8479841" y="4398264"/>
            <a:ext cx="301752" cy="301752"/>
          </a:xfrm>
          <a:prstGeom prst="rect">
            <a:avLst/>
          </a:prstGeom>
        </p:spPr>
      </p:pic>
      <p:sp>
        <p:nvSpPr>
          <p:cNvPr id="32" name="Text 24"/>
          <p:cNvSpPr txBox="1"/>
          <p:nvPr/>
        </p:nvSpPr>
        <p:spPr>
          <a:xfrm>
            <a:off x="9087917" y="4274820"/>
            <a:ext cx="232653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Para todo el equipo</a:t>
            </a:r>
            <a:endParaRPr lang="en-US" sz="1700" dirty="0"/>
          </a:p>
        </p:txBody>
      </p:sp>
      <p:sp>
        <p:nvSpPr>
          <p:cNvPr id="33" name="Text 25"/>
          <p:cNvSpPr txBox="1"/>
          <p:nvPr/>
        </p:nvSpPr>
        <p:spPr>
          <a:xfrm>
            <a:off x="8356397"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AWP Champion, Líder de WFP, planificadores, construcción, ingeniería, procura y cliente.</a:t>
            </a:r>
            <a:endParaRPr lang="en-US" sz="1500" dirty="0"/>
          </a:p>
        </p:txBody>
      </p:sp>
      <p:sp>
        <p:nvSpPr>
          <p:cNvPr id="34" name="Text 26"/>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Contenido</a:t>
            </a:r>
            <a:endParaRPr lang="en-US" sz="2800" dirty="0"/>
          </a:p>
        </p:txBody>
      </p:sp>
      <p:sp>
        <p:nvSpPr>
          <p:cNvPr id="3" name="Shape 1"/>
          <p:cNvSpPr/>
          <p:nvPr/>
        </p:nvSpPr>
        <p:spPr>
          <a:xfrm>
            <a:off x="548640" y="1271016"/>
            <a:ext cx="438912" cy="438912"/>
          </a:xfrm>
          <a:prstGeom prst="ellipse">
            <a:avLst/>
          </a:prstGeom>
          <a:solidFill>
            <a:srgbClr val="3F51B5"/>
          </a:solidFill>
          <a:ln w="12700">
            <a:solidFill>
              <a:srgbClr val="3F51B5"/>
            </a:solidFill>
            <a:prstDash val="solid"/>
          </a:ln>
        </p:spPr>
      </p:sp>
      <p:sp>
        <p:nvSpPr>
          <p:cNvPr id="4" name="Text 2"/>
          <p:cNvSpPr txBox="1"/>
          <p:nvPr/>
        </p:nvSpPr>
        <p:spPr>
          <a:xfrm>
            <a:off x="548640" y="127101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1188720" y="1234440"/>
            <a:ext cx="4587088" cy="512064"/>
          </a:xfrm>
          <a:prstGeom prst="rect">
            <a:avLst/>
          </a:prstGeom>
          <a:noFill/>
          <a:ln/>
        </p:spPr>
        <p:txBody>
          <a:bodyPr wrap="square" lIns="0" tIns="0" rIns="0" bIns="0" rtlCol="0" anchor="ctr"/>
          <a:lstStyle/>
          <a:p>
            <a:pPr indent="0" marL="0">
              <a:buNone/>
            </a:pPr>
            <a:r>
              <a:rPr lang="en-US" sz="1800" dirty="0">
                <a:solidFill>
                  <a:srgbClr val="1B1C22"/>
                </a:solidFill>
                <a:latin typeface="Calibri" pitchFamily="34" charset="0"/>
                <a:ea typeface="Calibri" pitchFamily="34" charset="-122"/>
                <a:cs typeface="Calibri" pitchFamily="34" charset="-120"/>
              </a:rPr>
              <a:t>Qué es la aplicación</a:t>
            </a:r>
            <a:endParaRPr lang="en-US" sz="1800" dirty="0"/>
          </a:p>
        </p:txBody>
      </p:sp>
      <p:sp>
        <p:nvSpPr>
          <p:cNvPr id="6" name="Shape 4"/>
          <p:cNvSpPr/>
          <p:nvPr/>
        </p:nvSpPr>
        <p:spPr>
          <a:xfrm>
            <a:off x="548640" y="1874520"/>
            <a:ext cx="438912" cy="438912"/>
          </a:xfrm>
          <a:prstGeom prst="ellipse">
            <a:avLst/>
          </a:prstGeom>
          <a:solidFill>
            <a:srgbClr val="3F51B5"/>
          </a:solidFill>
          <a:ln w="12700">
            <a:solidFill>
              <a:srgbClr val="3F51B5"/>
            </a:solidFill>
            <a:prstDash val="solid"/>
          </a:ln>
        </p:spPr>
      </p:sp>
      <p:sp>
        <p:nvSpPr>
          <p:cNvPr id="7" name="Text 5"/>
          <p:cNvSpPr txBox="1"/>
          <p:nvPr/>
        </p:nvSpPr>
        <p:spPr>
          <a:xfrm>
            <a:off x="548640" y="187452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8" name="Text 6"/>
          <p:cNvSpPr txBox="1"/>
          <p:nvPr/>
        </p:nvSpPr>
        <p:spPr>
          <a:xfrm>
            <a:off x="1188720" y="1837944"/>
            <a:ext cx="4587088" cy="512064"/>
          </a:xfrm>
          <a:prstGeom prst="rect">
            <a:avLst/>
          </a:prstGeom>
          <a:noFill/>
          <a:ln/>
        </p:spPr>
        <p:txBody>
          <a:bodyPr wrap="square" lIns="0" tIns="0" rIns="0" bIns="0" rtlCol="0" anchor="ctr"/>
          <a:lstStyle/>
          <a:p>
            <a:pPr indent="0" marL="0">
              <a:buNone/>
            </a:pPr>
            <a:r>
              <a:rPr lang="en-US" sz="1800" dirty="0">
                <a:solidFill>
                  <a:srgbClr val="1B1C22"/>
                </a:solidFill>
                <a:latin typeface="Calibri" pitchFamily="34" charset="0"/>
                <a:ea typeface="Calibri" pitchFamily="34" charset="-122"/>
                <a:cs typeface="Calibri" pitchFamily="34" charset="-120"/>
              </a:rPr>
              <a:t>Acceso y sesión</a:t>
            </a:r>
            <a:endParaRPr lang="en-US" sz="1800" dirty="0"/>
          </a:p>
        </p:txBody>
      </p:sp>
      <p:sp>
        <p:nvSpPr>
          <p:cNvPr id="9" name="Shape 7"/>
          <p:cNvSpPr/>
          <p:nvPr/>
        </p:nvSpPr>
        <p:spPr>
          <a:xfrm>
            <a:off x="548640" y="2478024"/>
            <a:ext cx="438912" cy="438912"/>
          </a:xfrm>
          <a:prstGeom prst="ellipse">
            <a:avLst/>
          </a:prstGeom>
          <a:solidFill>
            <a:srgbClr val="3F51B5"/>
          </a:solidFill>
          <a:ln w="12700">
            <a:solidFill>
              <a:srgbClr val="3F51B5"/>
            </a:solidFill>
            <a:prstDash val="solid"/>
          </a:ln>
        </p:spPr>
      </p:sp>
      <p:sp>
        <p:nvSpPr>
          <p:cNvPr id="10" name="Text 8"/>
          <p:cNvSpPr txBox="1"/>
          <p:nvPr/>
        </p:nvSpPr>
        <p:spPr>
          <a:xfrm>
            <a:off x="548640" y="247802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1" name="Text 9"/>
          <p:cNvSpPr txBox="1"/>
          <p:nvPr/>
        </p:nvSpPr>
        <p:spPr>
          <a:xfrm>
            <a:off x="1188720" y="2441448"/>
            <a:ext cx="4587088" cy="512064"/>
          </a:xfrm>
          <a:prstGeom prst="rect">
            <a:avLst/>
          </a:prstGeom>
          <a:noFill/>
          <a:ln/>
        </p:spPr>
        <p:txBody>
          <a:bodyPr wrap="square" lIns="0" tIns="0" rIns="0" bIns="0" rtlCol="0" anchor="ctr"/>
          <a:lstStyle/>
          <a:p>
            <a:pPr indent="0" marL="0">
              <a:buNone/>
            </a:pPr>
            <a:r>
              <a:rPr lang="en-US" sz="1800" dirty="0">
                <a:solidFill>
                  <a:srgbClr val="1B1C22"/>
                </a:solidFill>
                <a:latin typeface="Calibri" pitchFamily="34" charset="0"/>
                <a:ea typeface="Calibri" pitchFamily="34" charset="-122"/>
                <a:cs typeface="Calibri" pitchFamily="34" charset="-120"/>
              </a:rPr>
              <a:t>Recorrido guiado</a:t>
            </a:r>
            <a:endParaRPr lang="en-US" sz="1800" dirty="0"/>
          </a:p>
        </p:txBody>
      </p:sp>
      <p:sp>
        <p:nvSpPr>
          <p:cNvPr id="12" name="Shape 10"/>
          <p:cNvSpPr/>
          <p:nvPr/>
        </p:nvSpPr>
        <p:spPr>
          <a:xfrm>
            <a:off x="548640" y="3081528"/>
            <a:ext cx="438912" cy="438912"/>
          </a:xfrm>
          <a:prstGeom prst="ellipse">
            <a:avLst/>
          </a:prstGeom>
          <a:solidFill>
            <a:srgbClr val="3F51B5"/>
          </a:solidFill>
          <a:ln w="12700">
            <a:solidFill>
              <a:srgbClr val="3F51B5"/>
            </a:solidFill>
            <a:prstDash val="solid"/>
          </a:ln>
        </p:spPr>
      </p:sp>
      <p:sp>
        <p:nvSpPr>
          <p:cNvPr id="13" name="Text 11"/>
          <p:cNvSpPr txBox="1"/>
          <p:nvPr/>
        </p:nvSpPr>
        <p:spPr>
          <a:xfrm>
            <a:off x="548640" y="308152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4" name="Text 12"/>
          <p:cNvSpPr txBox="1"/>
          <p:nvPr/>
        </p:nvSpPr>
        <p:spPr>
          <a:xfrm>
            <a:off x="1188720" y="3044952"/>
            <a:ext cx="4587088" cy="512064"/>
          </a:xfrm>
          <a:prstGeom prst="rect">
            <a:avLst/>
          </a:prstGeom>
          <a:noFill/>
          <a:ln/>
        </p:spPr>
        <p:txBody>
          <a:bodyPr wrap="square" lIns="0" tIns="0" rIns="0" bIns="0" rtlCol="0" anchor="ctr"/>
          <a:lstStyle/>
          <a:p>
            <a:pPr indent="0" marL="0">
              <a:buNone/>
            </a:pPr>
            <a:r>
              <a:rPr lang="en-US" sz="1800" dirty="0">
                <a:solidFill>
                  <a:srgbClr val="1B1C22"/>
                </a:solidFill>
                <a:latin typeface="Calibri" pitchFamily="34" charset="0"/>
                <a:ea typeface="Calibri" pitchFamily="34" charset="-122"/>
                <a:cs typeface="Calibri" pitchFamily="34" charset="-120"/>
              </a:rPr>
              <a:t>Recursos del kit</a:t>
            </a:r>
            <a:endParaRPr lang="en-US" sz="1800" dirty="0"/>
          </a:p>
        </p:txBody>
      </p:sp>
      <p:sp>
        <p:nvSpPr>
          <p:cNvPr id="15" name="Shape 13"/>
          <p:cNvSpPr/>
          <p:nvPr/>
        </p:nvSpPr>
        <p:spPr>
          <a:xfrm>
            <a:off x="548640" y="3685032"/>
            <a:ext cx="438912" cy="438912"/>
          </a:xfrm>
          <a:prstGeom prst="ellipse">
            <a:avLst/>
          </a:prstGeom>
          <a:solidFill>
            <a:srgbClr val="3F51B5"/>
          </a:solidFill>
          <a:ln w="12700">
            <a:solidFill>
              <a:srgbClr val="3F51B5"/>
            </a:solidFill>
            <a:prstDash val="solid"/>
          </a:ln>
        </p:spPr>
      </p:sp>
      <p:sp>
        <p:nvSpPr>
          <p:cNvPr id="16" name="Text 14"/>
          <p:cNvSpPr txBox="1"/>
          <p:nvPr/>
        </p:nvSpPr>
        <p:spPr>
          <a:xfrm>
            <a:off x="548640" y="3685032"/>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7" name="Text 15"/>
          <p:cNvSpPr txBox="1"/>
          <p:nvPr/>
        </p:nvSpPr>
        <p:spPr>
          <a:xfrm>
            <a:off x="1188720" y="3648456"/>
            <a:ext cx="4587088" cy="512064"/>
          </a:xfrm>
          <a:prstGeom prst="rect">
            <a:avLst/>
          </a:prstGeom>
          <a:noFill/>
          <a:ln/>
        </p:spPr>
        <p:txBody>
          <a:bodyPr wrap="square" lIns="0" tIns="0" rIns="0" bIns="0" rtlCol="0" anchor="ctr"/>
          <a:lstStyle/>
          <a:p>
            <a:pPr indent="0" marL="0">
              <a:buNone/>
            </a:pPr>
            <a:r>
              <a:rPr lang="en-US" sz="1800" dirty="0">
                <a:solidFill>
                  <a:srgbClr val="1B1C22"/>
                </a:solidFill>
                <a:latin typeface="Calibri" pitchFamily="34" charset="0"/>
                <a:ea typeface="Calibri" pitchFamily="34" charset="-122"/>
                <a:cs typeface="Calibri" pitchFamily="34" charset="-120"/>
              </a:rPr>
              <a:t>Portafolio</a:t>
            </a:r>
            <a:endParaRPr lang="en-US" sz="1800" dirty="0"/>
          </a:p>
        </p:txBody>
      </p:sp>
      <p:sp>
        <p:nvSpPr>
          <p:cNvPr id="18" name="Shape 16"/>
          <p:cNvSpPr/>
          <p:nvPr/>
        </p:nvSpPr>
        <p:spPr>
          <a:xfrm>
            <a:off x="548640" y="4288536"/>
            <a:ext cx="438912" cy="438912"/>
          </a:xfrm>
          <a:prstGeom prst="ellipse">
            <a:avLst/>
          </a:prstGeom>
          <a:solidFill>
            <a:srgbClr val="3F51B5"/>
          </a:solidFill>
          <a:ln w="12700">
            <a:solidFill>
              <a:srgbClr val="3F51B5"/>
            </a:solidFill>
            <a:prstDash val="solid"/>
          </a:ln>
        </p:spPr>
      </p:sp>
      <p:sp>
        <p:nvSpPr>
          <p:cNvPr id="19" name="Text 17"/>
          <p:cNvSpPr txBox="1"/>
          <p:nvPr/>
        </p:nvSpPr>
        <p:spPr>
          <a:xfrm>
            <a:off x="548640" y="428853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0" name="Text 18"/>
          <p:cNvSpPr txBox="1"/>
          <p:nvPr/>
        </p:nvSpPr>
        <p:spPr>
          <a:xfrm>
            <a:off x="1188720" y="4251960"/>
            <a:ext cx="4587088" cy="512064"/>
          </a:xfrm>
          <a:prstGeom prst="rect">
            <a:avLst/>
          </a:prstGeom>
          <a:noFill/>
          <a:ln/>
        </p:spPr>
        <p:txBody>
          <a:bodyPr wrap="square" lIns="0" tIns="0" rIns="0" bIns="0" rtlCol="0" anchor="ctr"/>
          <a:lstStyle/>
          <a:p>
            <a:pPr indent="0" marL="0">
              <a:buNone/>
            </a:pPr>
            <a:r>
              <a:rPr lang="en-US" sz="1800" dirty="0">
                <a:solidFill>
                  <a:srgbClr val="1B1C22"/>
                </a:solidFill>
                <a:latin typeface="Calibri" pitchFamily="34" charset="0"/>
                <a:ea typeface="Calibri" pitchFamily="34" charset="-122"/>
                <a:cs typeface="Calibri" pitchFamily="34" charset="-120"/>
              </a:rPr>
              <a:t>Asistente de proyecto</a:t>
            </a:r>
            <a:endParaRPr lang="en-US" sz="1800" dirty="0"/>
          </a:p>
        </p:txBody>
      </p:sp>
      <p:sp>
        <p:nvSpPr>
          <p:cNvPr id="21" name="Shape 19"/>
          <p:cNvSpPr/>
          <p:nvPr/>
        </p:nvSpPr>
        <p:spPr>
          <a:xfrm>
            <a:off x="548640" y="4892040"/>
            <a:ext cx="438912" cy="438912"/>
          </a:xfrm>
          <a:prstGeom prst="ellipse">
            <a:avLst/>
          </a:prstGeom>
          <a:solidFill>
            <a:srgbClr val="3F51B5"/>
          </a:solidFill>
          <a:ln w="12700">
            <a:solidFill>
              <a:srgbClr val="3F51B5"/>
            </a:solidFill>
            <a:prstDash val="solid"/>
          </a:ln>
        </p:spPr>
      </p:sp>
      <p:sp>
        <p:nvSpPr>
          <p:cNvPr id="22" name="Text 20"/>
          <p:cNvSpPr txBox="1"/>
          <p:nvPr/>
        </p:nvSpPr>
        <p:spPr>
          <a:xfrm>
            <a:off x="548640" y="48920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3" name="Text 21"/>
          <p:cNvSpPr txBox="1"/>
          <p:nvPr/>
        </p:nvSpPr>
        <p:spPr>
          <a:xfrm>
            <a:off x="1188720" y="4855464"/>
            <a:ext cx="4587088" cy="512064"/>
          </a:xfrm>
          <a:prstGeom prst="rect">
            <a:avLst/>
          </a:prstGeom>
          <a:noFill/>
          <a:ln/>
        </p:spPr>
        <p:txBody>
          <a:bodyPr wrap="square" lIns="0" tIns="0" rIns="0" bIns="0" rtlCol="0" anchor="ctr"/>
          <a:lstStyle/>
          <a:p>
            <a:pPr indent="0" marL="0">
              <a:buNone/>
            </a:pPr>
            <a:r>
              <a:rPr lang="en-US" sz="1800" dirty="0">
                <a:solidFill>
                  <a:srgbClr val="1B1C22"/>
                </a:solidFill>
                <a:latin typeface="Calibri" pitchFamily="34" charset="0"/>
                <a:ea typeface="Calibri" pitchFamily="34" charset="-122"/>
                <a:cs typeface="Calibri" pitchFamily="34" charset="-120"/>
              </a:rPr>
              <a:t>Dashboard del proyecto</a:t>
            </a:r>
            <a:endParaRPr lang="en-US" sz="1800" dirty="0"/>
          </a:p>
        </p:txBody>
      </p:sp>
      <p:sp>
        <p:nvSpPr>
          <p:cNvPr id="24" name="Shape 22"/>
          <p:cNvSpPr/>
          <p:nvPr/>
        </p:nvSpPr>
        <p:spPr>
          <a:xfrm>
            <a:off x="548640" y="5495544"/>
            <a:ext cx="438912" cy="438912"/>
          </a:xfrm>
          <a:prstGeom prst="ellipse">
            <a:avLst/>
          </a:prstGeom>
          <a:solidFill>
            <a:srgbClr val="3F51B5"/>
          </a:solidFill>
          <a:ln w="12700">
            <a:solidFill>
              <a:srgbClr val="3F51B5"/>
            </a:solidFill>
            <a:prstDash val="solid"/>
          </a:ln>
        </p:spPr>
      </p:sp>
      <p:sp>
        <p:nvSpPr>
          <p:cNvPr id="25" name="Text 23"/>
          <p:cNvSpPr txBox="1"/>
          <p:nvPr/>
        </p:nvSpPr>
        <p:spPr>
          <a:xfrm>
            <a:off x="548640" y="549554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26" name="Text 24"/>
          <p:cNvSpPr txBox="1"/>
          <p:nvPr/>
        </p:nvSpPr>
        <p:spPr>
          <a:xfrm>
            <a:off x="1188720" y="5458968"/>
            <a:ext cx="4587088" cy="512064"/>
          </a:xfrm>
          <a:prstGeom prst="rect">
            <a:avLst/>
          </a:prstGeom>
          <a:noFill/>
          <a:ln/>
        </p:spPr>
        <p:txBody>
          <a:bodyPr wrap="square" lIns="0" tIns="0" rIns="0" bIns="0" rtlCol="0" anchor="ctr"/>
          <a:lstStyle/>
          <a:p>
            <a:pPr indent="0" marL="0">
              <a:buNone/>
            </a:pPr>
            <a:r>
              <a:rPr lang="en-US" sz="1800" dirty="0">
                <a:solidFill>
                  <a:srgbClr val="1B1C22"/>
                </a:solidFill>
                <a:latin typeface="Calibri" pitchFamily="34" charset="0"/>
                <a:ea typeface="Calibri" pitchFamily="34" charset="-122"/>
                <a:cs typeface="Calibri" pitchFamily="34" charset="-120"/>
              </a:rPr>
              <a:t>Fases</a:t>
            </a:r>
            <a:endParaRPr lang="en-US" sz="1800" dirty="0"/>
          </a:p>
        </p:txBody>
      </p:sp>
      <p:sp>
        <p:nvSpPr>
          <p:cNvPr id="27" name="Shape 25"/>
          <p:cNvSpPr/>
          <p:nvPr/>
        </p:nvSpPr>
        <p:spPr>
          <a:xfrm>
            <a:off x="6324448" y="1271016"/>
            <a:ext cx="438912" cy="438912"/>
          </a:xfrm>
          <a:prstGeom prst="ellipse">
            <a:avLst/>
          </a:prstGeom>
          <a:solidFill>
            <a:srgbClr val="3F51B5"/>
          </a:solidFill>
          <a:ln w="12700">
            <a:solidFill>
              <a:srgbClr val="3F51B5"/>
            </a:solidFill>
            <a:prstDash val="solid"/>
          </a:ln>
        </p:spPr>
      </p:sp>
      <p:sp>
        <p:nvSpPr>
          <p:cNvPr id="28" name="Text 26"/>
          <p:cNvSpPr txBox="1"/>
          <p:nvPr/>
        </p:nvSpPr>
        <p:spPr>
          <a:xfrm>
            <a:off x="6324448" y="127101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29" name="Text 27"/>
          <p:cNvSpPr txBox="1"/>
          <p:nvPr/>
        </p:nvSpPr>
        <p:spPr>
          <a:xfrm>
            <a:off x="6964528" y="1234440"/>
            <a:ext cx="4587088" cy="512064"/>
          </a:xfrm>
          <a:prstGeom prst="rect">
            <a:avLst/>
          </a:prstGeom>
          <a:noFill/>
          <a:ln/>
        </p:spPr>
        <p:txBody>
          <a:bodyPr wrap="square" lIns="0" tIns="0" rIns="0" bIns="0" rtlCol="0" anchor="ctr"/>
          <a:lstStyle/>
          <a:p>
            <a:pPr indent="0" marL="0">
              <a:buNone/>
            </a:pPr>
            <a:r>
              <a:rPr lang="en-US" sz="1800" dirty="0">
                <a:solidFill>
                  <a:srgbClr val="1B1C22"/>
                </a:solidFill>
                <a:latin typeface="Calibri" pitchFamily="34" charset="0"/>
                <a:ea typeface="Calibri" pitchFamily="34" charset="-122"/>
                <a:cs typeface="Calibri" pitchFamily="34" charset="-120"/>
              </a:rPr>
              <a:t>Avance AWP</a:t>
            </a:r>
            <a:endParaRPr lang="en-US" sz="1800" dirty="0"/>
          </a:p>
        </p:txBody>
      </p:sp>
      <p:sp>
        <p:nvSpPr>
          <p:cNvPr id="30" name="Shape 28"/>
          <p:cNvSpPr/>
          <p:nvPr/>
        </p:nvSpPr>
        <p:spPr>
          <a:xfrm>
            <a:off x="6324448" y="1874520"/>
            <a:ext cx="438912" cy="438912"/>
          </a:xfrm>
          <a:prstGeom prst="ellipse">
            <a:avLst/>
          </a:prstGeom>
          <a:solidFill>
            <a:srgbClr val="3F51B5"/>
          </a:solidFill>
          <a:ln w="12700">
            <a:solidFill>
              <a:srgbClr val="3F51B5"/>
            </a:solidFill>
            <a:prstDash val="solid"/>
          </a:ln>
        </p:spPr>
      </p:sp>
      <p:sp>
        <p:nvSpPr>
          <p:cNvPr id="31" name="Text 29"/>
          <p:cNvSpPr txBox="1"/>
          <p:nvPr/>
        </p:nvSpPr>
        <p:spPr>
          <a:xfrm>
            <a:off x="6324448" y="187452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32" name="Text 30"/>
          <p:cNvSpPr txBox="1"/>
          <p:nvPr/>
        </p:nvSpPr>
        <p:spPr>
          <a:xfrm>
            <a:off x="6964528" y="1837944"/>
            <a:ext cx="4587088" cy="512064"/>
          </a:xfrm>
          <a:prstGeom prst="rect">
            <a:avLst/>
          </a:prstGeom>
          <a:noFill/>
          <a:ln/>
        </p:spPr>
        <p:txBody>
          <a:bodyPr wrap="square" lIns="0" tIns="0" rIns="0" bIns="0" rtlCol="0" anchor="ctr"/>
          <a:lstStyle/>
          <a:p>
            <a:pPr indent="0" marL="0">
              <a:buNone/>
            </a:pPr>
            <a:r>
              <a:rPr lang="en-US" sz="1800" dirty="0">
                <a:solidFill>
                  <a:srgbClr val="1B1C22"/>
                </a:solidFill>
                <a:latin typeface="Calibri" pitchFamily="34" charset="0"/>
                <a:ea typeface="Calibri" pitchFamily="34" charset="-122"/>
                <a:cs typeface="Calibri" pitchFamily="34" charset="-120"/>
              </a:rPr>
              <a:t>Hitos</a:t>
            </a:r>
            <a:endParaRPr lang="en-US" sz="1800" dirty="0"/>
          </a:p>
        </p:txBody>
      </p:sp>
      <p:sp>
        <p:nvSpPr>
          <p:cNvPr id="33" name="Shape 31"/>
          <p:cNvSpPr/>
          <p:nvPr/>
        </p:nvSpPr>
        <p:spPr>
          <a:xfrm>
            <a:off x="6324448" y="2478024"/>
            <a:ext cx="438912" cy="438912"/>
          </a:xfrm>
          <a:prstGeom prst="ellipse">
            <a:avLst/>
          </a:prstGeom>
          <a:solidFill>
            <a:srgbClr val="3F51B5"/>
          </a:solidFill>
          <a:ln w="12700">
            <a:solidFill>
              <a:srgbClr val="3F51B5"/>
            </a:solidFill>
            <a:prstDash val="solid"/>
          </a:ln>
        </p:spPr>
      </p:sp>
      <p:sp>
        <p:nvSpPr>
          <p:cNvPr id="34" name="Text 32"/>
          <p:cNvSpPr txBox="1"/>
          <p:nvPr/>
        </p:nvSpPr>
        <p:spPr>
          <a:xfrm>
            <a:off x="6324448" y="247802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
        <p:nvSpPr>
          <p:cNvPr id="35" name="Text 33"/>
          <p:cNvSpPr txBox="1"/>
          <p:nvPr/>
        </p:nvSpPr>
        <p:spPr>
          <a:xfrm>
            <a:off x="6964528" y="2441448"/>
            <a:ext cx="4587088" cy="512064"/>
          </a:xfrm>
          <a:prstGeom prst="rect">
            <a:avLst/>
          </a:prstGeom>
          <a:noFill/>
          <a:ln/>
        </p:spPr>
        <p:txBody>
          <a:bodyPr wrap="square" lIns="0" tIns="0" rIns="0" bIns="0" rtlCol="0" anchor="ctr"/>
          <a:lstStyle/>
          <a:p>
            <a:pPr indent="0" marL="0">
              <a:buNone/>
            </a:pPr>
            <a:r>
              <a:rPr lang="en-US" sz="1800" dirty="0">
                <a:solidFill>
                  <a:srgbClr val="1B1C22"/>
                </a:solidFill>
                <a:latin typeface="Calibri" pitchFamily="34" charset="0"/>
                <a:ea typeface="Calibri" pitchFamily="34" charset="-122"/>
                <a:cs typeface="Calibri" pitchFamily="34" charset="-120"/>
              </a:rPr>
              <a:t>Editar proyecto y equipo</a:t>
            </a:r>
            <a:endParaRPr lang="en-US" sz="1800" dirty="0"/>
          </a:p>
        </p:txBody>
      </p:sp>
      <p:sp>
        <p:nvSpPr>
          <p:cNvPr id="36" name="Shape 34"/>
          <p:cNvSpPr/>
          <p:nvPr/>
        </p:nvSpPr>
        <p:spPr>
          <a:xfrm>
            <a:off x="6324448" y="3081528"/>
            <a:ext cx="438912" cy="438912"/>
          </a:xfrm>
          <a:prstGeom prst="ellipse">
            <a:avLst/>
          </a:prstGeom>
          <a:solidFill>
            <a:srgbClr val="3F51B5"/>
          </a:solidFill>
          <a:ln w="12700">
            <a:solidFill>
              <a:srgbClr val="3F51B5"/>
            </a:solidFill>
            <a:prstDash val="solid"/>
          </a:ln>
        </p:spPr>
      </p:sp>
      <p:sp>
        <p:nvSpPr>
          <p:cNvPr id="37" name="Text 35"/>
          <p:cNvSpPr txBox="1"/>
          <p:nvPr/>
        </p:nvSpPr>
        <p:spPr>
          <a:xfrm>
            <a:off x="6324448" y="308152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38" name="Text 36"/>
          <p:cNvSpPr txBox="1"/>
          <p:nvPr/>
        </p:nvSpPr>
        <p:spPr>
          <a:xfrm>
            <a:off x="6964528" y="3044952"/>
            <a:ext cx="4587088" cy="512064"/>
          </a:xfrm>
          <a:prstGeom prst="rect">
            <a:avLst/>
          </a:prstGeom>
          <a:noFill/>
          <a:ln/>
        </p:spPr>
        <p:txBody>
          <a:bodyPr wrap="square" lIns="0" tIns="0" rIns="0" bIns="0" rtlCol="0" anchor="ctr"/>
          <a:lstStyle/>
          <a:p>
            <a:pPr indent="0" marL="0">
              <a:buNone/>
            </a:pPr>
            <a:r>
              <a:rPr lang="en-US" sz="1800" dirty="0">
                <a:solidFill>
                  <a:srgbClr val="1B1C22"/>
                </a:solidFill>
                <a:latin typeface="Calibri" pitchFamily="34" charset="0"/>
                <a:ea typeface="Calibri" pitchFamily="34" charset="-122"/>
                <a:cs typeface="Calibri" pitchFamily="34" charset="-120"/>
              </a:rPr>
              <a:t>Aprender mientras usas</a:t>
            </a:r>
            <a:endParaRPr lang="en-US" sz="1800" dirty="0"/>
          </a:p>
        </p:txBody>
      </p:sp>
      <p:sp>
        <p:nvSpPr>
          <p:cNvPr id="39" name="Shape 37"/>
          <p:cNvSpPr/>
          <p:nvPr/>
        </p:nvSpPr>
        <p:spPr>
          <a:xfrm>
            <a:off x="6324448" y="3685032"/>
            <a:ext cx="438912" cy="438912"/>
          </a:xfrm>
          <a:prstGeom prst="ellipse">
            <a:avLst/>
          </a:prstGeom>
          <a:solidFill>
            <a:srgbClr val="3F51B5"/>
          </a:solidFill>
          <a:ln w="12700">
            <a:solidFill>
              <a:srgbClr val="3F51B5"/>
            </a:solidFill>
            <a:prstDash val="solid"/>
          </a:ln>
        </p:spPr>
      </p:sp>
      <p:sp>
        <p:nvSpPr>
          <p:cNvPr id="40" name="Text 38"/>
          <p:cNvSpPr txBox="1"/>
          <p:nvPr/>
        </p:nvSpPr>
        <p:spPr>
          <a:xfrm>
            <a:off x="6324448" y="3685032"/>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13</a:t>
            </a:r>
            <a:endParaRPr lang="en-US" sz="1400" dirty="0"/>
          </a:p>
        </p:txBody>
      </p:sp>
      <p:sp>
        <p:nvSpPr>
          <p:cNvPr id="41" name="Text 39"/>
          <p:cNvSpPr txBox="1"/>
          <p:nvPr/>
        </p:nvSpPr>
        <p:spPr>
          <a:xfrm>
            <a:off x="6964528" y="3648456"/>
            <a:ext cx="4587088" cy="512064"/>
          </a:xfrm>
          <a:prstGeom prst="rect">
            <a:avLst/>
          </a:prstGeom>
          <a:noFill/>
          <a:ln/>
        </p:spPr>
        <p:txBody>
          <a:bodyPr wrap="square" lIns="0" tIns="0" rIns="0" bIns="0" rtlCol="0" anchor="ctr"/>
          <a:lstStyle/>
          <a:p>
            <a:pPr indent="0" marL="0">
              <a:buNone/>
            </a:pPr>
            <a:r>
              <a:rPr lang="en-US" sz="1800" dirty="0">
                <a:solidFill>
                  <a:srgbClr val="1B1C22"/>
                </a:solidFill>
                <a:latin typeface="Calibri" pitchFamily="34" charset="0"/>
                <a:ea typeface="Calibri" pitchFamily="34" charset="-122"/>
                <a:cs typeface="Calibri" pitchFamily="34" charset="-120"/>
              </a:rPr>
              <a:t>Datos y seguridad</a:t>
            </a:r>
            <a:endParaRPr lang="en-US" sz="1800" dirty="0"/>
          </a:p>
        </p:txBody>
      </p:sp>
      <p:sp>
        <p:nvSpPr>
          <p:cNvPr id="42" name="Shape 40"/>
          <p:cNvSpPr/>
          <p:nvPr/>
        </p:nvSpPr>
        <p:spPr>
          <a:xfrm>
            <a:off x="6324448" y="4288536"/>
            <a:ext cx="438912" cy="438912"/>
          </a:xfrm>
          <a:prstGeom prst="ellipse">
            <a:avLst/>
          </a:prstGeom>
          <a:solidFill>
            <a:srgbClr val="3F51B5"/>
          </a:solidFill>
          <a:ln w="12700">
            <a:solidFill>
              <a:srgbClr val="3F51B5"/>
            </a:solidFill>
            <a:prstDash val="solid"/>
          </a:ln>
        </p:spPr>
      </p:sp>
      <p:sp>
        <p:nvSpPr>
          <p:cNvPr id="43" name="Text 41"/>
          <p:cNvSpPr txBox="1"/>
          <p:nvPr/>
        </p:nvSpPr>
        <p:spPr>
          <a:xfrm>
            <a:off x="6324448" y="428853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14</a:t>
            </a:r>
            <a:endParaRPr lang="en-US" sz="1400" dirty="0"/>
          </a:p>
        </p:txBody>
      </p:sp>
      <p:sp>
        <p:nvSpPr>
          <p:cNvPr id="44" name="Text 42"/>
          <p:cNvSpPr txBox="1"/>
          <p:nvPr/>
        </p:nvSpPr>
        <p:spPr>
          <a:xfrm>
            <a:off x="6964528" y="4251960"/>
            <a:ext cx="4587088" cy="512064"/>
          </a:xfrm>
          <a:prstGeom prst="rect">
            <a:avLst/>
          </a:prstGeom>
          <a:noFill/>
          <a:ln/>
        </p:spPr>
        <p:txBody>
          <a:bodyPr wrap="square" lIns="0" tIns="0" rIns="0" bIns="0" rtlCol="0" anchor="ctr"/>
          <a:lstStyle/>
          <a:p>
            <a:pPr indent="0" marL="0">
              <a:buNone/>
            </a:pPr>
            <a:r>
              <a:rPr lang="en-US" sz="1800" dirty="0">
                <a:solidFill>
                  <a:srgbClr val="1B1C22"/>
                </a:solidFill>
                <a:latin typeface="Calibri" pitchFamily="34" charset="0"/>
                <a:ea typeface="Calibri" pitchFamily="34" charset="-122"/>
                <a:cs typeface="Calibri" pitchFamily="34" charset="-120"/>
              </a:rPr>
              <a:t>Lo que viene</a:t>
            </a:r>
            <a:endParaRPr lang="en-US" sz="1800" dirty="0"/>
          </a:p>
        </p:txBody>
      </p:sp>
      <p:sp>
        <p:nvSpPr>
          <p:cNvPr id="45" name="Shape 43"/>
          <p:cNvSpPr/>
          <p:nvPr/>
        </p:nvSpPr>
        <p:spPr>
          <a:xfrm>
            <a:off x="6324448" y="4892040"/>
            <a:ext cx="438912" cy="438912"/>
          </a:xfrm>
          <a:prstGeom prst="ellipse">
            <a:avLst/>
          </a:prstGeom>
          <a:solidFill>
            <a:srgbClr val="3F51B5"/>
          </a:solidFill>
          <a:ln w="12700">
            <a:solidFill>
              <a:srgbClr val="3F51B5"/>
            </a:solidFill>
            <a:prstDash val="solid"/>
          </a:ln>
        </p:spPr>
      </p:sp>
      <p:sp>
        <p:nvSpPr>
          <p:cNvPr id="46" name="Text 44"/>
          <p:cNvSpPr txBox="1"/>
          <p:nvPr/>
        </p:nvSpPr>
        <p:spPr>
          <a:xfrm>
            <a:off x="6324448" y="48920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15</a:t>
            </a:r>
            <a:endParaRPr lang="en-US" sz="1400" dirty="0"/>
          </a:p>
        </p:txBody>
      </p:sp>
      <p:sp>
        <p:nvSpPr>
          <p:cNvPr id="47" name="Text 45"/>
          <p:cNvSpPr txBox="1"/>
          <p:nvPr/>
        </p:nvSpPr>
        <p:spPr>
          <a:xfrm>
            <a:off x="6964528" y="4855464"/>
            <a:ext cx="4587088" cy="512064"/>
          </a:xfrm>
          <a:prstGeom prst="rect">
            <a:avLst/>
          </a:prstGeom>
          <a:noFill/>
          <a:ln/>
        </p:spPr>
        <p:txBody>
          <a:bodyPr wrap="square" lIns="0" tIns="0" rIns="0" bIns="0" rtlCol="0" anchor="ctr"/>
          <a:lstStyle/>
          <a:p>
            <a:pPr indent="0" marL="0">
              <a:buNone/>
            </a:pPr>
            <a:r>
              <a:rPr lang="en-US" sz="1800" dirty="0">
                <a:solidFill>
                  <a:srgbClr val="1B1C22"/>
                </a:solidFill>
                <a:latin typeface="Calibri" pitchFamily="34" charset="0"/>
                <a:ea typeface="Calibri" pitchFamily="34" charset="-122"/>
                <a:cs typeface="Calibri" pitchFamily="34" charset="-120"/>
              </a:rPr>
              <a:t>Uso diario</a:t>
            </a:r>
            <a:endParaRPr lang="en-US" sz="1800" dirty="0"/>
          </a:p>
        </p:txBody>
      </p:sp>
      <p:sp>
        <p:nvSpPr>
          <p:cNvPr id="48" name="Shape 46"/>
          <p:cNvSpPr/>
          <p:nvPr/>
        </p:nvSpPr>
        <p:spPr>
          <a:xfrm>
            <a:off x="6324448" y="5495544"/>
            <a:ext cx="438912" cy="438912"/>
          </a:xfrm>
          <a:prstGeom prst="ellipse">
            <a:avLst/>
          </a:prstGeom>
          <a:solidFill>
            <a:srgbClr val="FFC107"/>
          </a:solidFill>
          <a:ln w="12700">
            <a:solidFill>
              <a:srgbClr val="3F51B5"/>
            </a:solidFill>
            <a:prstDash val="solid"/>
          </a:ln>
        </p:spPr>
      </p:sp>
      <p:sp>
        <p:nvSpPr>
          <p:cNvPr id="49" name="Text 47"/>
          <p:cNvSpPr txBox="1"/>
          <p:nvPr/>
        </p:nvSpPr>
        <p:spPr>
          <a:xfrm>
            <a:off x="6324448" y="5495544"/>
            <a:ext cx="438912" cy="438912"/>
          </a:xfrm>
          <a:prstGeom prst="rect">
            <a:avLst/>
          </a:prstGeom>
          <a:noFill/>
          <a:ln/>
        </p:spPr>
        <p:txBody>
          <a:bodyPr wrap="square" lIns="0" tIns="0" rIns="0" bIns="0" rtlCol="0" anchor="ctr"/>
          <a:lstStyle/>
          <a:p>
            <a:pPr algn="ctr" indent="0" marL="0">
              <a:buNone/>
            </a:pPr>
            <a:r>
              <a:rPr lang="en-US" sz="1400" b="1" dirty="0">
                <a:solidFill>
                  <a:srgbClr val="1A1F4B"/>
                </a:solidFill>
                <a:latin typeface="Calibri" pitchFamily="34" charset="0"/>
                <a:ea typeface="Calibri" pitchFamily="34" charset="-122"/>
                <a:cs typeface="Calibri" pitchFamily="34" charset="-120"/>
              </a:rPr>
              <a:t>16</a:t>
            </a:r>
            <a:endParaRPr lang="en-US" sz="1400" dirty="0"/>
          </a:p>
        </p:txBody>
      </p:sp>
      <p:sp>
        <p:nvSpPr>
          <p:cNvPr id="50" name="Text 48"/>
          <p:cNvSpPr txBox="1"/>
          <p:nvPr/>
        </p:nvSpPr>
        <p:spPr>
          <a:xfrm>
            <a:off x="6964528" y="5458968"/>
            <a:ext cx="4587088" cy="512064"/>
          </a:xfrm>
          <a:prstGeom prst="rect">
            <a:avLst/>
          </a:prstGeom>
          <a:noFill/>
          <a:ln/>
        </p:spPr>
        <p:txBody>
          <a:bodyPr wrap="square" lIns="0" tIns="0" rIns="0" bIns="0" rtlCol="0" anchor="ctr"/>
          <a:lstStyle/>
          <a:p>
            <a:pPr indent="0" marL="0">
              <a:buNone/>
            </a:pPr>
            <a:r>
              <a:rPr lang="en-US" sz="1800" dirty="0">
                <a:solidFill>
                  <a:srgbClr val="1B1C22"/>
                </a:solidFill>
                <a:latin typeface="Calibri" pitchFamily="34" charset="0"/>
                <a:ea typeface="Calibri" pitchFamily="34" charset="-122"/>
                <a:cs typeface="Calibri" pitchFamily="34" charset="-120"/>
              </a:rPr>
              <a:t>Cierre</a:t>
            </a:r>
            <a:endParaRPr lang="en-US" sz="1800" dirty="0"/>
          </a:p>
        </p:txBody>
      </p:sp>
      <p:sp>
        <p:nvSpPr>
          <p:cNvPr id="51" name="Text 49"/>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F4B"/>
        </a:solidFill>
      </p:bgPr>
    </p:bg>
    <p:spTree>
      <p:nvGrpSpPr>
        <p:cNvPr id="1" name=""/>
        <p:cNvGrpSpPr/>
        <p:nvPr/>
      </p:nvGrpSpPr>
      <p:grpSpPr>
        <a:xfrm>
          <a:off x="0" y="0"/>
          <a:ext cx="0" cy="0"/>
          <a:chOff x="0" y="0"/>
          <a:chExt cx="0" cy="0"/>
        </a:xfrm>
      </p:grpSpPr>
      <p:sp>
        <p:nvSpPr>
          <p:cNvPr id="2" name="Text 0"/>
          <p:cNvSpPr txBox="1"/>
          <p:nvPr/>
        </p:nvSpPr>
        <p:spPr>
          <a:xfrm>
            <a:off x="548640" y="1188720"/>
            <a:ext cx="2743200" cy="1371600"/>
          </a:xfrm>
          <a:prstGeom prst="rect">
            <a:avLst/>
          </a:prstGeom>
          <a:noFill/>
          <a:ln/>
        </p:spPr>
        <p:txBody>
          <a:bodyPr wrap="square" lIns="0" tIns="0" rIns="0" bIns="0" rtlCol="0" anchor="t"/>
          <a:lstStyle/>
          <a:p>
            <a:pPr indent="0" marL="0">
              <a:buNone/>
            </a:pPr>
            <a:r>
              <a:rPr lang="en-US" sz="9600" b="1" dirty="0">
                <a:solidFill>
                  <a:srgbClr val="FFC107"/>
                </a:solidFill>
                <a:latin typeface="Calibri" pitchFamily="34" charset="0"/>
                <a:ea typeface="Calibri" pitchFamily="34" charset="-122"/>
                <a:cs typeface="Calibri" pitchFamily="34" charset="-120"/>
              </a:rPr>
              <a:t>01</a:t>
            </a:r>
            <a:endParaRPr lang="en-US" sz="9600" dirty="0"/>
          </a:p>
        </p:txBody>
      </p:sp>
      <p:sp>
        <p:nvSpPr>
          <p:cNvPr id="3" name="Text 1"/>
          <p:cNvSpPr txBox="1"/>
          <p:nvPr/>
        </p:nvSpPr>
        <p:spPr>
          <a:xfrm>
            <a:off x="548640" y="2697480"/>
            <a:ext cx="5852160" cy="132588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Qué es la aplicación</a:t>
            </a:r>
            <a:endParaRPr lang="en-US" sz="3800" dirty="0"/>
          </a:p>
        </p:txBody>
      </p:sp>
      <p:sp>
        <p:nvSpPr>
          <p:cNvPr id="4" name="Text 2"/>
          <p:cNvSpPr txBox="1"/>
          <p:nvPr/>
        </p:nvSpPr>
        <p:spPr>
          <a:xfrm>
            <a:off x="548640" y="4160520"/>
            <a:ext cx="5486400" cy="1097280"/>
          </a:xfrm>
          <a:prstGeom prst="rect">
            <a:avLst/>
          </a:prstGeom>
          <a:noFill/>
          <a:ln/>
        </p:spPr>
        <p:txBody>
          <a:bodyPr wrap="square" lIns="0" tIns="0" rIns="0" bIns="0" rtlCol="0" anchor="t"/>
          <a:lstStyle/>
          <a:p>
            <a:pPr indent="0" marL="0">
              <a:buNone/>
            </a:pPr>
            <a:r>
              <a:rPr lang="en-US" sz="1800" dirty="0">
                <a:solidFill>
                  <a:srgbClr val="C5CAE9"/>
                </a:solidFill>
                <a:latin typeface="Calibri" pitchFamily="34" charset="0"/>
                <a:ea typeface="Calibri" pitchFamily="34" charset="-122"/>
                <a:cs typeface="Calibri" pitchFamily="34" charset="-120"/>
              </a:rPr>
              <a:t>Para qué sirve, a quién ayuda y cómo se relaciona con el kit de implementación</a:t>
            </a:r>
            <a:endParaRPr lang="en-US" sz="1800" dirty="0"/>
          </a:p>
        </p:txBody>
      </p:sp>
      <p:sp>
        <p:nvSpPr>
          <p:cNvPr id="5" name="Shape 3"/>
          <p:cNvSpPr/>
          <p:nvPr/>
        </p:nvSpPr>
        <p:spPr>
          <a:xfrm>
            <a:off x="6766560" y="1234440"/>
            <a:ext cx="4892040" cy="4480560"/>
          </a:xfrm>
          <a:prstGeom prst="roundRect">
            <a:avLst>
              <a:gd name="adj" fmla="val 2449"/>
            </a:avLst>
          </a:prstGeom>
          <a:solidFill>
            <a:srgbClr val="252B5E"/>
          </a:solidFill>
          <a:ln w="12700">
            <a:solidFill>
              <a:srgbClr val="3C4488"/>
            </a:solidFill>
            <a:prstDash val="solid"/>
          </a:ln>
        </p:spPr>
      </p:sp>
      <p:sp>
        <p:nvSpPr>
          <p:cNvPr id="6" name="Text 4"/>
          <p:cNvSpPr txBox="1"/>
          <p:nvPr/>
        </p:nvSpPr>
        <p:spPr>
          <a:xfrm>
            <a:off x="7132320" y="1508760"/>
            <a:ext cx="4206240" cy="320040"/>
          </a:xfrm>
          <a:prstGeom prst="rect">
            <a:avLst/>
          </a:prstGeom>
          <a:noFill/>
          <a:ln/>
        </p:spPr>
        <p:txBody>
          <a:bodyPr wrap="square" lIns="0" tIns="0" rIns="0" bIns="0" rtlCol="0" anchor="t"/>
          <a:lstStyle/>
          <a:p>
            <a:pPr indent="0" marL="0">
              <a:buNone/>
            </a:pPr>
            <a:r>
              <a:rPr lang="en-US" sz="1200" b="1" spc="200" kern="0" dirty="0">
                <a:solidFill>
                  <a:srgbClr val="FFC107"/>
                </a:solidFill>
                <a:latin typeface="Calibri" pitchFamily="34" charset="0"/>
                <a:ea typeface="Calibri" pitchFamily="34" charset="-122"/>
                <a:cs typeface="Calibri" pitchFamily="34" charset="-120"/>
              </a:rPr>
              <a:t>EN ESTA SECCIÓN</a:t>
            </a:r>
            <a:endParaRPr lang="en-US" sz="1200" dirty="0"/>
          </a:p>
        </p:txBody>
      </p:sp>
      <p:sp>
        <p:nvSpPr>
          <p:cNvPr id="7" name="Shape 5"/>
          <p:cNvSpPr/>
          <p:nvPr/>
        </p:nvSpPr>
        <p:spPr>
          <a:xfrm>
            <a:off x="7178040" y="2103120"/>
            <a:ext cx="146304" cy="146304"/>
          </a:xfrm>
          <a:prstGeom prst="ellipse">
            <a:avLst/>
          </a:prstGeom>
          <a:solidFill>
            <a:srgbClr val="FFC107"/>
          </a:solidFill>
          <a:ln w="12700">
            <a:solidFill>
              <a:srgbClr val="FFC107"/>
            </a:solidFill>
            <a:prstDash val="solid"/>
          </a:ln>
        </p:spPr>
      </p:sp>
      <p:sp>
        <p:nvSpPr>
          <p:cNvPr id="8" name="Text 6"/>
          <p:cNvSpPr txBox="1"/>
          <p:nvPr/>
        </p:nvSpPr>
        <p:spPr>
          <a:xfrm>
            <a:off x="7498080" y="2011680"/>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El problema que resuelve</a:t>
            </a:r>
            <a:endParaRPr lang="en-US" sz="1700" dirty="0"/>
          </a:p>
        </p:txBody>
      </p:sp>
      <p:sp>
        <p:nvSpPr>
          <p:cNvPr id="9" name="Shape 7"/>
          <p:cNvSpPr/>
          <p:nvPr/>
        </p:nvSpPr>
        <p:spPr>
          <a:xfrm>
            <a:off x="7178040" y="2816352"/>
            <a:ext cx="146304" cy="146304"/>
          </a:xfrm>
          <a:prstGeom prst="ellipse">
            <a:avLst/>
          </a:prstGeom>
          <a:solidFill>
            <a:srgbClr val="FFC107"/>
          </a:solidFill>
          <a:ln w="12700">
            <a:solidFill>
              <a:srgbClr val="FFC107"/>
            </a:solidFill>
            <a:prstDash val="solid"/>
          </a:ln>
        </p:spPr>
      </p:sp>
      <p:sp>
        <p:nvSpPr>
          <p:cNvPr id="10" name="Text 8"/>
          <p:cNvSpPr txBox="1"/>
          <p:nvPr/>
        </p:nvSpPr>
        <p:spPr>
          <a:xfrm>
            <a:off x="7498080" y="2724912"/>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Fase del proyecto y etapa del ciclo de vida</a:t>
            </a:r>
            <a:endParaRPr lang="en-US" sz="1700" dirty="0"/>
          </a:p>
        </p:txBody>
      </p:sp>
      <p:sp>
        <p:nvSpPr>
          <p:cNvPr id="11" name="Shape 9"/>
          <p:cNvSpPr/>
          <p:nvPr/>
        </p:nvSpPr>
        <p:spPr>
          <a:xfrm>
            <a:off x="7178040" y="3529584"/>
            <a:ext cx="146304" cy="146304"/>
          </a:xfrm>
          <a:prstGeom prst="ellipse">
            <a:avLst/>
          </a:prstGeom>
          <a:solidFill>
            <a:srgbClr val="FFC107"/>
          </a:solidFill>
          <a:ln w="12700">
            <a:solidFill>
              <a:srgbClr val="FFC107"/>
            </a:solidFill>
            <a:prstDash val="solid"/>
          </a:ln>
        </p:spPr>
      </p:sp>
      <p:sp>
        <p:nvSpPr>
          <p:cNvPr id="12" name="Text 10"/>
          <p:cNvSpPr txBox="1"/>
          <p:nvPr/>
        </p:nvSpPr>
        <p:spPr>
          <a:xfrm>
            <a:off x="7498080" y="3438144"/>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Arquitectura y requisitos</a:t>
            </a:r>
            <a:endParaRPr lang="en-US" sz="1700" dirty="0"/>
          </a:p>
        </p:txBody>
      </p:sp>
      <p:sp>
        <p:nvSpPr>
          <p:cNvPr id="13" name="Shape 11"/>
          <p:cNvSpPr/>
          <p:nvPr/>
        </p:nvSpPr>
        <p:spPr>
          <a:xfrm>
            <a:off x="7178040" y="4242816"/>
            <a:ext cx="146304" cy="146304"/>
          </a:xfrm>
          <a:prstGeom prst="ellipse">
            <a:avLst/>
          </a:prstGeom>
          <a:solidFill>
            <a:srgbClr val="FFC107"/>
          </a:solidFill>
          <a:ln w="12700">
            <a:solidFill>
              <a:srgbClr val="FFC107"/>
            </a:solidFill>
            <a:prstDash val="solid"/>
          </a:ln>
        </p:spPr>
      </p:sp>
      <p:sp>
        <p:nvSpPr>
          <p:cNvPr id="14" name="Text 12"/>
          <p:cNvSpPr txBox="1"/>
          <p:nvPr/>
        </p:nvSpPr>
        <p:spPr>
          <a:xfrm>
            <a:off x="7498080" y="4151376"/>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Mapa de módulos y plan de construcción</a:t>
            </a:r>
            <a:endParaRPr lang="en-US" sz="1700" dirty="0"/>
          </a:p>
        </p:txBody>
      </p:sp>
      <p:sp>
        <p:nvSpPr>
          <p:cNvPr id="15" name="Text 13"/>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8C93C9"/>
                </a:solidFill>
                <a:latin typeface="Calibri" pitchFamily="34" charset="0"/>
                <a:ea typeface="Calibri" pitchFamily="34" charset="-122"/>
                <a:cs typeface="Calibri" pitchFamily="34" charset="-120"/>
              </a:rPr>
              <a:t>Aplicación AWP · Qué es la aplicación</a:t>
            </a:r>
            <a:endParaRPr lang="en-US" sz="1000" dirty="0"/>
          </a:p>
        </p:txBody>
      </p:sp>
      <p:sp>
        <p:nvSpPr>
          <p:cNvPr id="16" name="Text 14"/>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8C93C9"/>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Una sola herramienta para implementar AWP</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Registra y sigue la implementación en varios proyectos a la vez</a:t>
            </a:r>
            <a:endParaRPr lang="en-US" sz="1500" dirty="0"/>
          </a:p>
        </p:txBody>
      </p:sp>
      <p:sp>
        <p:nvSpPr>
          <p:cNvPr id="4" name="Shape 2"/>
          <p:cNvSpPr/>
          <p:nvPr/>
        </p:nvSpPr>
        <p:spPr>
          <a:xfrm>
            <a:off x="4562856" y="1855460"/>
            <a:ext cx="7135063" cy="4061479"/>
          </a:xfrm>
          <a:prstGeom prst="roundRect">
            <a:avLst>
              <a:gd name="adj" fmla="val 1801"/>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proyecto.jpg">    </p:cNvPr>
          <p:cNvPicPr>
            <a:picLocks noChangeAspect="1"/>
          </p:cNvPicPr>
          <p:nvPr/>
        </p:nvPicPr>
        <p:blipFill>
          <a:blip r:embed="rId1"/>
          <a:stretch>
            <a:fillRect/>
          </a:stretch>
        </p:blipFill>
        <p:spPr>
          <a:xfrm>
            <a:off x="4617720" y="1910324"/>
            <a:ext cx="7025335" cy="3951751"/>
          </a:xfrm>
          <a:prstGeom prst="rect">
            <a:avLst/>
          </a:prstGeom>
        </p:spPr>
      </p:pic>
      <p:sp>
        <p:nvSpPr>
          <p:cNvPr id="6" name="Shape 3"/>
          <p:cNvSpPr/>
          <p:nvPr/>
        </p:nvSpPr>
        <p:spPr>
          <a:xfrm>
            <a:off x="548640"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643280" y="1685696"/>
            <a:ext cx="231343" cy="231343"/>
          </a:xfrm>
          <a:prstGeom prst="rect">
            <a:avLst/>
          </a:prstGeom>
        </p:spPr>
      </p:pic>
      <p:sp>
        <p:nvSpPr>
          <p:cNvPr id="8" name="Text 4"/>
          <p:cNvSpPr txBox="1"/>
          <p:nvPr/>
        </p:nvSpPr>
        <p:spPr>
          <a:xfrm>
            <a:off x="1133856" y="157276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Portafolio</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Todos los proyectos con su % de implementación AWP, semáforo, hitos atrasados y próximo hito.</a:t>
            </a:r>
            <a:endParaRPr lang="en-US" sz="1500" dirty="0"/>
          </a:p>
        </p:txBody>
      </p:sp>
      <p:sp>
        <p:nvSpPr>
          <p:cNvPr id="9" name="Shape 5"/>
          <p:cNvSpPr/>
          <p:nvPr/>
        </p:nvSpPr>
        <p:spPr>
          <a:xfrm>
            <a:off x="548640" y="2768346"/>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643280" y="2862986"/>
            <a:ext cx="231343" cy="231343"/>
          </a:xfrm>
          <a:prstGeom prst="rect">
            <a:avLst/>
          </a:prstGeom>
        </p:spPr>
      </p:pic>
      <p:sp>
        <p:nvSpPr>
          <p:cNvPr id="11" name="Text 6"/>
          <p:cNvSpPr txBox="1"/>
          <p:nvPr/>
        </p:nvSpPr>
        <p:spPr>
          <a:xfrm>
            <a:off x="1133856" y="275005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Asistente de 4 pasos</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Crea un proyecto con sus fases, roles, hitos H0–H10, checklist de 30 actividades y matriz RACI propuesta.</a:t>
            </a:r>
            <a:endParaRPr lang="en-US" sz="1500" dirty="0"/>
          </a:p>
        </p:txBody>
      </p:sp>
      <p:sp>
        <p:nvSpPr>
          <p:cNvPr id="12" name="Shape 7"/>
          <p:cNvSpPr/>
          <p:nvPr/>
        </p:nvSpPr>
        <p:spPr>
          <a:xfrm>
            <a:off x="548640" y="3945636"/>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643280" y="4040276"/>
            <a:ext cx="231343" cy="231343"/>
          </a:xfrm>
          <a:prstGeom prst="rect">
            <a:avLst/>
          </a:prstGeom>
        </p:spPr>
      </p:pic>
      <p:sp>
        <p:nvSpPr>
          <p:cNvPr id="14" name="Text 8"/>
          <p:cNvSpPr txBox="1"/>
          <p:nvPr/>
        </p:nvSpPr>
        <p:spPr>
          <a:xfrm>
            <a:off x="1133856" y="392734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Dashboard del proyecto</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«Tu próximo paso», avance por etapa, avance por fase, línea de tiempo de hitos, tendencia e insignias.</a:t>
            </a:r>
            <a:endParaRPr lang="en-US" sz="1500" dirty="0"/>
          </a:p>
        </p:txBody>
      </p:sp>
      <p:sp>
        <p:nvSpPr>
          <p:cNvPr id="15" name="Shape 9"/>
          <p:cNvSpPr/>
          <p:nvPr/>
        </p:nvSpPr>
        <p:spPr>
          <a:xfrm>
            <a:off x="548640" y="5122926"/>
            <a:ext cx="420624" cy="420624"/>
          </a:xfrm>
          <a:prstGeom prst="ellipse">
            <a:avLst/>
          </a:prstGeom>
          <a:solidFill>
            <a:srgbClr val="E8EAF6"/>
          </a:solidFill>
          <a:ln w="12700">
            <a:solidFill>
              <a:srgbClr val="E8EAF6"/>
            </a:solidFill>
            <a:prstDash val="solid"/>
          </a:ln>
        </p:spPr>
      </p:sp>
      <p:pic>
        <p:nvPicPr>
          <p:cNvPr id="16" name="Image 4" descr="preencoded.png">    </p:cNvPr>
          <p:cNvPicPr>
            <a:picLocks noChangeAspect="1"/>
          </p:cNvPicPr>
          <p:nvPr/>
        </p:nvPicPr>
        <p:blipFill>
          <a:blip r:embed="rId5"/>
          <a:stretch>
            <a:fillRect/>
          </a:stretch>
        </p:blipFill>
        <p:spPr>
          <a:xfrm>
            <a:off x="643280" y="5217566"/>
            <a:ext cx="231343" cy="231343"/>
          </a:xfrm>
          <a:prstGeom prst="rect">
            <a:avLst/>
          </a:prstGeom>
        </p:spPr>
      </p:pic>
      <p:sp>
        <p:nvSpPr>
          <p:cNvPr id="17" name="Text 10"/>
          <p:cNvSpPr txBox="1"/>
          <p:nvPr/>
        </p:nvSpPr>
        <p:spPr>
          <a:xfrm>
            <a:off x="1133856" y="510463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Recursos del kit</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18 plantillas, el plan y la presentación de capacitación, sin iniciar sesión.</a:t>
            </a:r>
            <a:endParaRPr lang="en-US" sz="1500" dirty="0"/>
          </a:p>
        </p:txBody>
      </p:sp>
      <p:sp>
        <p:nvSpPr>
          <p:cNvPr id="18" name="Text 11"/>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Qué es la aplicación</a:t>
            </a:r>
            <a:endParaRPr lang="en-US" sz="1000" dirty="0"/>
          </a:p>
        </p:txBody>
      </p:sp>
      <p:sp>
        <p:nvSpPr>
          <p:cNvPr id="19" name="Text 12"/>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El problema que resuelve</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De plantillas sueltas a un seguimiento vivo y compartido</a:t>
            </a:r>
            <a:endParaRPr lang="en-US" sz="1500" dirty="0"/>
          </a:p>
        </p:txBody>
      </p:sp>
      <p:sp>
        <p:nvSpPr>
          <p:cNvPr id="4" name="Shape 2"/>
          <p:cNvSpPr/>
          <p:nvPr/>
        </p:nvSpPr>
        <p:spPr>
          <a:xfrm>
            <a:off x="548640" y="1554480"/>
            <a:ext cx="5364328" cy="4709160"/>
          </a:xfrm>
          <a:prstGeom prst="roundRect">
            <a:avLst>
              <a:gd name="adj" fmla="val 1942"/>
            </a:avLst>
          </a:prstGeom>
          <a:solidFill>
            <a:srgbClr val="F5F6FB"/>
          </a:solidFill>
          <a:ln w="9525">
            <a:solidFill>
              <a:srgbClr val="E3E5EE"/>
            </a:solidFill>
            <a:prstDash val="solid"/>
          </a:ln>
        </p:spPr>
      </p:sp>
      <p:sp>
        <p:nvSpPr>
          <p:cNvPr id="5" name="Shape 3"/>
          <p:cNvSpPr/>
          <p:nvPr/>
        </p:nvSpPr>
        <p:spPr>
          <a:xfrm>
            <a:off x="822960" y="1810512"/>
            <a:ext cx="566928" cy="566928"/>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950519" y="1938071"/>
            <a:ext cx="311810" cy="311810"/>
          </a:xfrm>
          <a:prstGeom prst="rect">
            <a:avLst/>
          </a:prstGeom>
        </p:spPr>
      </p:pic>
      <p:sp>
        <p:nvSpPr>
          <p:cNvPr id="7" name="Text 4"/>
          <p:cNvSpPr txBox="1"/>
          <p:nvPr/>
        </p:nvSpPr>
        <p:spPr>
          <a:xfrm>
            <a:off x="1554480" y="1810512"/>
            <a:ext cx="4084168" cy="566928"/>
          </a:xfrm>
          <a:prstGeom prst="rect">
            <a:avLst/>
          </a:prstGeom>
          <a:noFill/>
          <a:ln/>
        </p:spPr>
        <p:txBody>
          <a:bodyPr wrap="square" lIns="0" tIns="0" rIns="0" bIns="0" rtlCol="0" anchor="ctr"/>
          <a:lstStyle/>
          <a:p>
            <a:pPr indent="0" marL="0">
              <a:buNone/>
            </a:pPr>
            <a:r>
              <a:rPr lang="en-US" sz="2100" b="1" dirty="0">
                <a:solidFill>
                  <a:srgbClr val="D03B3B"/>
                </a:solidFill>
                <a:latin typeface="Calibri" pitchFamily="34" charset="0"/>
                <a:ea typeface="Calibri" pitchFamily="34" charset="-122"/>
                <a:cs typeface="Calibri" pitchFamily="34" charset="-120"/>
              </a:rPr>
              <a:t>Sin la aplicación</a:t>
            </a:r>
            <a:endParaRPr lang="en-US" sz="2100" dirty="0"/>
          </a:p>
        </p:txBody>
      </p:sp>
      <p:sp>
        <p:nvSpPr>
          <p:cNvPr id="8" name="Text 5"/>
          <p:cNvSpPr txBox="1"/>
          <p:nvPr/>
        </p:nvSpPr>
        <p:spPr>
          <a:xfrm>
            <a:off x="868680" y="2606040"/>
            <a:ext cx="4724248" cy="3474720"/>
          </a:xfrm>
          <a:prstGeom prst="rect">
            <a:avLst/>
          </a:prstGeom>
          <a:noFill/>
          <a:ln/>
        </p:spPr>
        <p:txBody>
          <a:bodyPr wrap="square" lIns="0" tIns="0" rIns="0" bIns="0" rtlCol="0" anchor="t">
            <a:normAutofit/>
          </a:bodyPr>
          <a:lstStyle/>
          <a:p>
            <a:pPr marL="203200" indent="-203200">
              <a:spcAft>
                <a:spcPts val="1000"/>
              </a:spcAft>
              <a:buSzPct val="100000"/>
              <a:buChar char="•"/>
            </a:pPr>
            <a:r>
              <a:rPr lang="en-US" sz="1600" dirty="0">
                <a:solidFill>
                  <a:srgbClr val="1B1C22"/>
                </a:solidFill>
                <a:latin typeface="Calibri" pitchFamily="34" charset="0"/>
                <a:ea typeface="Calibri" pitchFamily="34" charset="-122"/>
                <a:cs typeface="Calibri" pitchFamily="34" charset="-120"/>
              </a:rPr>
              <a:t>18 plantillas Excel y Word en carpetas distintas, cada una con su propia copia de fases y fechas.</a:t>
            </a:r>
            <a:endParaRPr lang="en-US" sz="1600" dirty="0"/>
          </a:p>
          <a:p>
            <a:pPr marL="203200" indent="-203200">
              <a:spcAft>
                <a:spcPts val="1000"/>
              </a:spcAft>
              <a:buSzPct val="100000"/>
              <a:buChar char="•"/>
            </a:pPr>
            <a:r>
              <a:rPr lang="en-US" sz="1600" dirty="0">
                <a:solidFill>
                  <a:srgbClr val="1B1C22"/>
                </a:solidFill>
                <a:latin typeface="Calibri" pitchFamily="34" charset="0"/>
                <a:ea typeface="Calibri" pitchFamily="34" charset="-122"/>
                <a:cs typeface="Calibri" pitchFamily="34" charset="-120"/>
              </a:rPr>
              <a:t>El avance del plan se reporta a mano y con criterios distintos en cada proyecto.</a:t>
            </a:r>
            <a:endParaRPr lang="en-US" sz="1600" dirty="0"/>
          </a:p>
          <a:p>
            <a:pPr marL="203200" indent="-203200">
              <a:spcAft>
                <a:spcPts val="1000"/>
              </a:spcAft>
              <a:buSzPct val="100000"/>
              <a:buChar char="•"/>
            </a:pPr>
            <a:r>
              <a:rPr lang="en-US" sz="1600" dirty="0">
                <a:solidFill>
                  <a:srgbClr val="1B1C22"/>
                </a:solidFill>
                <a:latin typeface="Calibri" pitchFamily="34" charset="0"/>
                <a:ea typeface="Calibri" pitchFamily="34" charset="-122"/>
                <a:cs typeface="Calibri" pitchFamily="34" charset="-120"/>
              </a:rPr>
              <a:t>Nadie ve el portafolio completo: qué proyecto va atrasado y en qué hito.</a:t>
            </a:r>
            <a:endParaRPr lang="en-US" sz="1600" dirty="0"/>
          </a:p>
          <a:p>
            <a:pPr marL="203200" indent="-203200">
              <a:spcAft>
                <a:spcPts val="1000"/>
              </a:spcAft>
              <a:buSzPct val="100000"/>
              <a:buChar char="•"/>
            </a:pPr>
            <a:r>
              <a:rPr lang="en-US" sz="1600" dirty="0">
                <a:solidFill>
                  <a:srgbClr val="1B1C22"/>
                </a:solidFill>
                <a:latin typeface="Calibri" pitchFamily="34" charset="0"/>
                <a:ea typeface="Calibri" pitchFamily="34" charset="-122"/>
                <a:cs typeface="Calibri" pitchFamily="34" charset="-120"/>
              </a:rPr>
              <a:t>Los hitos se dan por cumplidos sin evidencia registrada.</a:t>
            </a:r>
            <a:endParaRPr lang="en-US" sz="1600" dirty="0"/>
          </a:p>
          <a:p>
            <a:pPr marL="203200" indent="-203200">
              <a:spcAft>
                <a:spcPts val="1000"/>
              </a:spcAft>
              <a:buSzPct val="100000"/>
              <a:buChar char="•"/>
            </a:pPr>
            <a:r>
              <a:rPr lang="en-US" sz="1600" dirty="0">
                <a:solidFill>
                  <a:srgbClr val="1B1C22"/>
                </a:solidFill>
                <a:latin typeface="Calibri" pitchFamily="34" charset="0"/>
                <a:ea typeface="Calibri" pitchFamily="34" charset="-122"/>
                <a:cs typeface="Calibri" pitchFamily="34" charset="-120"/>
              </a:rPr>
              <a:t>El equipo nuevo no sabe por dónde empezar ni qué significa cada sigla.</a:t>
            </a:r>
            <a:endParaRPr lang="en-US" sz="1600" dirty="0"/>
          </a:p>
        </p:txBody>
      </p:sp>
      <p:sp>
        <p:nvSpPr>
          <p:cNvPr id="9" name="Shape 6"/>
          <p:cNvSpPr/>
          <p:nvPr/>
        </p:nvSpPr>
        <p:spPr>
          <a:xfrm>
            <a:off x="6278728" y="1554480"/>
            <a:ext cx="5364328" cy="4709160"/>
          </a:xfrm>
          <a:prstGeom prst="roundRect">
            <a:avLst>
              <a:gd name="adj" fmla="val 1942"/>
            </a:avLst>
          </a:prstGeom>
          <a:solidFill>
            <a:srgbClr val="F5F6FB"/>
          </a:solidFill>
          <a:ln w="9525">
            <a:solidFill>
              <a:srgbClr val="E3E5EE"/>
            </a:solidFill>
            <a:prstDash val="solid"/>
          </a:ln>
        </p:spPr>
      </p:sp>
      <p:sp>
        <p:nvSpPr>
          <p:cNvPr id="10" name="Shape 7"/>
          <p:cNvSpPr/>
          <p:nvPr/>
        </p:nvSpPr>
        <p:spPr>
          <a:xfrm>
            <a:off x="6553048" y="1810512"/>
            <a:ext cx="566928" cy="566928"/>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6680606" y="1938071"/>
            <a:ext cx="311810" cy="311810"/>
          </a:xfrm>
          <a:prstGeom prst="rect">
            <a:avLst/>
          </a:prstGeom>
        </p:spPr>
      </p:pic>
      <p:sp>
        <p:nvSpPr>
          <p:cNvPr id="12" name="Text 8"/>
          <p:cNvSpPr txBox="1"/>
          <p:nvPr/>
        </p:nvSpPr>
        <p:spPr>
          <a:xfrm>
            <a:off x="7284568" y="1810512"/>
            <a:ext cx="4084168" cy="566928"/>
          </a:xfrm>
          <a:prstGeom prst="rect">
            <a:avLst/>
          </a:prstGeom>
          <a:noFill/>
          <a:ln/>
        </p:spPr>
        <p:txBody>
          <a:bodyPr wrap="square" lIns="0" tIns="0" rIns="0" bIns="0" rtlCol="0" anchor="ctr"/>
          <a:lstStyle/>
          <a:p>
            <a:pPr indent="0" marL="0">
              <a:buNone/>
            </a:pPr>
            <a:r>
              <a:rPr lang="en-US" sz="2100" b="1" dirty="0">
                <a:solidFill>
                  <a:srgbClr val="0CA30C"/>
                </a:solidFill>
                <a:latin typeface="Calibri" pitchFamily="34" charset="0"/>
                <a:ea typeface="Calibri" pitchFamily="34" charset="-122"/>
                <a:cs typeface="Calibri" pitchFamily="34" charset="-120"/>
              </a:rPr>
              <a:t>Con la aplicación</a:t>
            </a:r>
            <a:endParaRPr lang="en-US" sz="2100" dirty="0"/>
          </a:p>
        </p:txBody>
      </p:sp>
      <p:sp>
        <p:nvSpPr>
          <p:cNvPr id="13" name="Text 9"/>
          <p:cNvSpPr txBox="1"/>
          <p:nvPr/>
        </p:nvSpPr>
        <p:spPr>
          <a:xfrm>
            <a:off x="6598768" y="2606040"/>
            <a:ext cx="4724248" cy="3474720"/>
          </a:xfrm>
          <a:prstGeom prst="rect">
            <a:avLst/>
          </a:prstGeom>
          <a:noFill/>
          <a:ln/>
        </p:spPr>
        <p:txBody>
          <a:bodyPr wrap="square" lIns="0" tIns="0" rIns="0" bIns="0" rtlCol="0" anchor="t">
            <a:normAutofit/>
          </a:bodyPr>
          <a:lstStyle/>
          <a:p>
            <a:pPr marL="203200" indent="-203200">
              <a:spcAft>
                <a:spcPts val="1000"/>
              </a:spcAft>
              <a:buSzPct val="100000"/>
              <a:buChar char="•"/>
            </a:pPr>
            <a:r>
              <a:rPr lang="en-US" sz="1600" dirty="0">
                <a:solidFill>
                  <a:srgbClr val="1B1C22"/>
                </a:solidFill>
                <a:latin typeface="Calibri" pitchFamily="34" charset="0"/>
                <a:ea typeface="Calibri" pitchFamily="34" charset="-122"/>
                <a:cs typeface="Calibri" pitchFamily="34" charset="-120"/>
              </a:rPr>
              <a:t>Un solo lugar con los mismos catálogos del kit: fases, etapas, 16 roles, H0–H10, K01–K13.</a:t>
            </a:r>
            <a:endParaRPr lang="en-US" sz="1600" dirty="0"/>
          </a:p>
          <a:p>
            <a:pPr marL="203200" indent="-203200">
              <a:spcAft>
                <a:spcPts val="1000"/>
              </a:spcAft>
              <a:buSzPct val="100000"/>
              <a:buChar char="•"/>
            </a:pPr>
            <a:r>
              <a:rPr lang="en-US" sz="1600" dirty="0">
                <a:solidFill>
                  <a:srgbClr val="1B1C22"/>
                </a:solidFill>
                <a:latin typeface="Calibri" pitchFamily="34" charset="0"/>
                <a:ea typeface="Calibri" pitchFamily="34" charset="-122"/>
                <a:cs typeface="Calibri" pitchFamily="34" charset="-120"/>
              </a:rPr>
              <a:t>El % de implementación se calcula igual en todos los proyectos, a partir del checklist.</a:t>
            </a:r>
            <a:endParaRPr lang="en-US" sz="1600" dirty="0"/>
          </a:p>
          <a:p>
            <a:pPr marL="203200" indent="-203200">
              <a:spcAft>
                <a:spcPts val="1000"/>
              </a:spcAft>
              <a:buSzPct val="100000"/>
              <a:buChar char="•"/>
            </a:pPr>
            <a:r>
              <a:rPr lang="en-US" sz="1600" dirty="0">
                <a:solidFill>
                  <a:srgbClr val="1B1C22"/>
                </a:solidFill>
                <a:latin typeface="Calibri" pitchFamily="34" charset="0"/>
                <a:ea typeface="Calibri" pitchFamily="34" charset="-122"/>
                <a:cs typeface="Calibri" pitchFamily="34" charset="-120"/>
              </a:rPr>
              <a:t>El portafolio compara proyectos con un semáforo común y el avance esperado a la fecha.</a:t>
            </a:r>
            <a:endParaRPr lang="en-US" sz="1600" dirty="0"/>
          </a:p>
          <a:p>
            <a:pPr marL="203200" indent="-203200">
              <a:spcAft>
                <a:spcPts val="1000"/>
              </a:spcAft>
              <a:buSzPct val="100000"/>
              <a:buChar char="•"/>
            </a:pPr>
            <a:r>
              <a:rPr lang="en-US" sz="1600" dirty="0">
                <a:solidFill>
                  <a:srgbClr val="1B1C22"/>
                </a:solidFill>
                <a:latin typeface="Calibri" pitchFamily="34" charset="0"/>
                <a:ea typeface="Calibri" pitchFamily="34" charset="-122"/>
                <a:cs typeface="Calibri" pitchFamily="34" charset="-120"/>
              </a:rPr>
              <a:t>Un hito solo se marca cumplido con fecha real y evidencia.</a:t>
            </a:r>
            <a:endParaRPr lang="en-US" sz="1600" dirty="0"/>
          </a:p>
          <a:p>
            <a:pPr marL="203200" indent="-203200">
              <a:spcAft>
                <a:spcPts val="1000"/>
              </a:spcAft>
              <a:buSzPct val="100000"/>
              <a:buChar char="•"/>
            </a:pPr>
            <a:r>
              <a:rPr lang="en-US" sz="1600" dirty="0">
                <a:solidFill>
                  <a:srgbClr val="1B1C22"/>
                </a:solidFill>
                <a:latin typeface="Calibri" pitchFamily="34" charset="0"/>
                <a:ea typeface="Calibri" pitchFamily="34" charset="-122"/>
                <a:cs typeface="Calibri" pitchFamily="34" charset="-120"/>
              </a:rPr>
              <a:t>Recorrido guiado, glosario, ayuda por módulo y «Tu próximo paso» enseñan mientras se usa.</a:t>
            </a:r>
            <a:endParaRPr lang="en-US" sz="1600" dirty="0"/>
          </a:p>
        </p:txBody>
      </p:sp>
      <p:sp>
        <p:nvSpPr>
          <p:cNvPr id="14" name="Text 10"/>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Qué es la aplicación</a:t>
            </a:r>
            <a:endParaRPr lang="en-US" sz="1000" dirty="0"/>
          </a:p>
        </p:txBody>
      </p:sp>
      <p:sp>
        <p:nvSpPr>
          <p:cNvPr id="15" name="Text 11"/>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Misma base que el kit de implementación</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La aplicación no inventa conceptos: usa los códigos y catálogos del kit</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926080"/>
                <a:gridCol w="6583680"/>
                <a:gridCol w="1463040"/>
              </a:tblGrid>
              <a:tr h="5181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Elemento del kit</a:t>
                      </a:r>
                      <a:endParaRPr lang="en-US" sz="13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Cómo aparece en la aplicación</a:t>
                      </a:r>
                      <a:endParaRPr lang="en-US" sz="13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Cantidad</a:t>
                      </a:r>
                      <a:endParaRPr lang="en-US" sz="13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Plan de implementación (checklist)</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Módulo Avance AWP: estado de cada actividad por etapa del ciclo de vida</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30 actividades</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Hitos del plan</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Módulo Hitos: H0 del programa y H1–H10 por cada fase, con criterio, evidencia y quién aprueba</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11 hitos</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Organización y roles</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Paso 3 del asistente y pestaña Equipo: una persona por rol</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16 roles</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Fases del proyecto tipo</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Paso 2 del asistente: Fase 1, 2 y 3 con fechas proporcionales y plazos de liberación</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3 fases</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Etapas del ciclo de vida</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Anillos del dashboard y pestañas del checklist</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5 etapas</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Tablero_KPI</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Módulo KPI (Etapa 4) con metas por fase</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K01–K13</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Matriz_Roles_RACI</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Se crea la matriz propuesta al crear el proyecto; editor en la Etapa 4</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37 actividades</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Plantillas Excel y Word</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Biblioteca de Recursos hoy; formularios en las etapas 3 a 5</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18 plantillas</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Qué es la aplicación</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¿Quién usa la aplicación?</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Cada rol encuentra lo que necesita en su rutina</a:t>
            </a:r>
            <a:endParaRPr lang="en-US" sz="1500" dirty="0"/>
          </a:p>
        </p:txBody>
      </p:sp>
      <p:sp>
        <p:nvSpPr>
          <p:cNvPr id="4" name="Shape 2"/>
          <p:cNvSpPr/>
          <p:nvPr/>
        </p:nvSpPr>
        <p:spPr>
          <a:xfrm>
            <a:off x="548640" y="1554480"/>
            <a:ext cx="3515258" cy="2217420"/>
          </a:xfrm>
          <a:prstGeom prst="roundRect">
            <a:avLst>
              <a:gd name="adj" fmla="val 4124"/>
            </a:avLst>
          </a:prstGeom>
          <a:solidFill>
            <a:srgbClr val="F5F6FB"/>
          </a:solidFill>
          <a:ln w="9525">
            <a:solidFill>
              <a:srgbClr val="E3E5EE"/>
            </a:solidFill>
            <a:prstDash val="solid"/>
          </a:ln>
        </p:spPr>
      </p:sp>
      <p:sp>
        <p:nvSpPr>
          <p:cNvPr id="5" name="Shape 3"/>
          <p:cNvSpPr/>
          <p:nvPr/>
        </p:nvSpPr>
        <p:spPr>
          <a:xfrm>
            <a:off x="777240" y="1783080"/>
            <a:ext cx="548640" cy="548640"/>
          </a:xfrm>
          <a:prstGeom prst="ellipse">
            <a:avLst/>
          </a:prstGeom>
          <a:solidFill>
            <a:srgbClr val="E8EAF6"/>
          </a:solidFill>
          <a:ln w="12700">
            <a:solidFill>
              <a:srgbClr val="E8EAF6"/>
            </a:solidFill>
            <a:prstDash val="solid"/>
          </a:ln>
        </p:spPr>
      </p:sp>
      <p:pic>
        <p:nvPicPr>
          <p:cNvPr id="6" name="Image 0" descr="preencoded.png">    </p:cNvPr>
          <p:cNvPicPr>
            <a:picLocks noChangeAspect="1"/>
          </p:cNvPicPr>
          <p:nvPr/>
        </p:nvPicPr>
        <p:blipFill>
          <a:blip r:embed="rId1"/>
          <a:stretch>
            <a:fillRect/>
          </a:stretch>
        </p:blipFill>
        <p:spPr>
          <a:xfrm>
            <a:off x="900684" y="1906524"/>
            <a:ext cx="301752" cy="301752"/>
          </a:xfrm>
          <a:prstGeom prst="rect">
            <a:avLst/>
          </a:prstGeom>
        </p:spPr>
      </p:pic>
      <p:sp>
        <p:nvSpPr>
          <p:cNvPr id="7" name="Text 4"/>
          <p:cNvSpPr txBox="1"/>
          <p:nvPr/>
        </p:nvSpPr>
        <p:spPr>
          <a:xfrm>
            <a:off x="1508760" y="1783080"/>
            <a:ext cx="232653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AWP Champion (CHA)</a:t>
            </a:r>
            <a:endParaRPr lang="en-US" sz="1700" dirty="0"/>
          </a:p>
        </p:txBody>
      </p:sp>
      <p:sp>
        <p:nvSpPr>
          <p:cNvPr id="8" name="Text 5"/>
          <p:cNvSpPr txBox="1"/>
          <p:nvPr/>
        </p:nvSpPr>
        <p:spPr>
          <a:xfrm>
            <a:off x="777240"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Crea los proyectos, mantiene el checklist y los hitos, revisa el portafolio y consolida el avance para el cliente.</a:t>
            </a:r>
            <a:endParaRPr lang="en-US" sz="1500" dirty="0"/>
          </a:p>
        </p:txBody>
      </p:sp>
      <p:sp>
        <p:nvSpPr>
          <p:cNvPr id="9" name="Shape 6"/>
          <p:cNvSpPr/>
          <p:nvPr/>
        </p:nvSpPr>
        <p:spPr>
          <a:xfrm>
            <a:off x="4338218" y="1554480"/>
            <a:ext cx="3515258" cy="2217420"/>
          </a:xfrm>
          <a:prstGeom prst="roundRect">
            <a:avLst>
              <a:gd name="adj" fmla="val 4124"/>
            </a:avLst>
          </a:prstGeom>
          <a:solidFill>
            <a:srgbClr val="F5F6FB"/>
          </a:solidFill>
          <a:ln w="9525">
            <a:solidFill>
              <a:srgbClr val="E3E5EE"/>
            </a:solidFill>
            <a:prstDash val="solid"/>
          </a:ln>
        </p:spPr>
      </p:sp>
      <p:sp>
        <p:nvSpPr>
          <p:cNvPr id="10" name="Shape 7"/>
          <p:cNvSpPr/>
          <p:nvPr/>
        </p:nvSpPr>
        <p:spPr>
          <a:xfrm>
            <a:off x="4566818" y="1783080"/>
            <a:ext cx="548640" cy="548640"/>
          </a:xfrm>
          <a:prstGeom prst="ellipse">
            <a:avLst/>
          </a:prstGeom>
          <a:solidFill>
            <a:srgbClr val="E8EAF6"/>
          </a:solidFill>
          <a:ln w="12700">
            <a:solidFill>
              <a:srgbClr val="E8EAF6"/>
            </a:solidFill>
            <a:prstDash val="solid"/>
          </a:ln>
        </p:spPr>
      </p:sp>
      <p:pic>
        <p:nvPicPr>
          <p:cNvPr id="11" name="Image 1" descr="preencoded.png">    </p:cNvPr>
          <p:cNvPicPr>
            <a:picLocks noChangeAspect="1"/>
          </p:cNvPicPr>
          <p:nvPr/>
        </p:nvPicPr>
        <p:blipFill>
          <a:blip r:embed="rId2"/>
          <a:stretch>
            <a:fillRect/>
          </a:stretch>
        </p:blipFill>
        <p:spPr>
          <a:xfrm>
            <a:off x="4690262" y="1906524"/>
            <a:ext cx="301752" cy="301752"/>
          </a:xfrm>
          <a:prstGeom prst="rect">
            <a:avLst/>
          </a:prstGeom>
        </p:spPr>
      </p:pic>
      <p:sp>
        <p:nvSpPr>
          <p:cNvPr id="12" name="Text 8"/>
          <p:cNvSpPr txBox="1"/>
          <p:nvPr/>
        </p:nvSpPr>
        <p:spPr>
          <a:xfrm>
            <a:off x="5298338" y="1783080"/>
            <a:ext cx="232653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Líder de WFP (LWF)</a:t>
            </a:r>
            <a:endParaRPr lang="en-US" sz="1700" dirty="0"/>
          </a:p>
        </p:txBody>
      </p:sp>
      <p:sp>
        <p:nvSpPr>
          <p:cNvPr id="13" name="Text 9"/>
          <p:cNvSpPr txBox="1"/>
          <p:nvPr/>
        </p:nvSpPr>
        <p:spPr>
          <a:xfrm>
            <a:off x="4566818"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Sigue los hitos de liberación (H7, H8), revisa las fases y sus plazos de liberación de IWP.</a:t>
            </a:r>
            <a:endParaRPr lang="en-US" sz="1500" dirty="0"/>
          </a:p>
        </p:txBody>
      </p:sp>
      <p:sp>
        <p:nvSpPr>
          <p:cNvPr id="14" name="Shape 10"/>
          <p:cNvSpPr/>
          <p:nvPr/>
        </p:nvSpPr>
        <p:spPr>
          <a:xfrm>
            <a:off x="8127797" y="1554480"/>
            <a:ext cx="3515258" cy="2217420"/>
          </a:xfrm>
          <a:prstGeom prst="roundRect">
            <a:avLst>
              <a:gd name="adj" fmla="val 4124"/>
            </a:avLst>
          </a:prstGeom>
          <a:solidFill>
            <a:srgbClr val="F5F6FB"/>
          </a:solidFill>
          <a:ln w="9525">
            <a:solidFill>
              <a:srgbClr val="E3E5EE"/>
            </a:solidFill>
            <a:prstDash val="solid"/>
          </a:ln>
        </p:spPr>
      </p:sp>
      <p:sp>
        <p:nvSpPr>
          <p:cNvPr id="15" name="Shape 11"/>
          <p:cNvSpPr/>
          <p:nvPr/>
        </p:nvSpPr>
        <p:spPr>
          <a:xfrm>
            <a:off x="8356397" y="1783080"/>
            <a:ext cx="548640" cy="548640"/>
          </a:xfrm>
          <a:prstGeom prst="ellipse">
            <a:avLst/>
          </a:prstGeom>
          <a:solidFill>
            <a:srgbClr val="E8EAF6"/>
          </a:solidFill>
          <a:ln w="12700">
            <a:solidFill>
              <a:srgbClr val="E8EAF6"/>
            </a:solidFill>
            <a:prstDash val="solid"/>
          </a:ln>
        </p:spPr>
      </p:sp>
      <p:pic>
        <p:nvPicPr>
          <p:cNvPr id="16" name="Image 2" descr="preencoded.png">    </p:cNvPr>
          <p:cNvPicPr>
            <a:picLocks noChangeAspect="1"/>
          </p:cNvPicPr>
          <p:nvPr/>
        </p:nvPicPr>
        <p:blipFill>
          <a:blip r:embed="rId3"/>
          <a:stretch>
            <a:fillRect/>
          </a:stretch>
        </p:blipFill>
        <p:spPr>
          <a:xfrm>
            <a:off x="8479841" y="1906524"/>
            <a:ext cx="301752" cy="301752"/>
          </a:xfrm>
          <a:prstGeom prst="rect">
            <a:avLst/>
          </a:prstGeom>
        </p:spPr>
      </p:pic>
      <p:sp>
        <p:nvSpPr>
          <p:cNvPr id="17" name="Text 12"/>
          <p:cNvSpPr txBox="1"/>
          <p:nvPr/>
        </p:nvSpPr>
        <p:spPr>
          <a:xfrm>
            <a:off x="9087917" y="1783080"/>
            <a:ext cx="232653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Gerente de Construcción (CON)</a:t>
            </a:r>
            <a:endParaRPr lang="en-US" sz="1700" dirty="0"/>
          </a:p>
        </p:txBody>
      </p:sp>
      <p:sp>
        <p:nvSpPr>
          <p:cNvPr id="18" name="Text 13"/>
          <p:cNvSpPr txBox="1"/>
          <p:nvPr/>
        </p:nvSpPr>
        <p:spPr>
          <a:xfrm>
            <a:off x="8356397"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Aprueba el PoC y los CWP; mira el semáforo y los hitos atrasados de cada fase.</a:t>
            </a:r>
            <a:endParaRPr lang="en-US" sz="1500" dirty="0"/>
          </a:p>
        </p:txBody>
      </p:sp>
      <p:sp>
        <p:nvSpPr>
          <p:cNvPr id="19" name="Shape 14"/>
          <p:cNvSpPr/>
          <p:nvPr/>
        </p:nvSpPr>
        <p:spPr>
          <a:xfrm>
            <a:off x="548640" y="4046220"/>
            <a:ext cx="3515258" cy="2217420"/>
          </a:xfrm>
          <a:prstGeom prst="roundRect">
            <a:avLst>
              <a:gd name="adj" fmla="val 4124"/>
            </a:avLst>
          </a:prstGeom>
          <a:solidFill>
            <a:srgbClr val="F5F6FB"/>
          </a:solidFill>
          <a:ln w="9525">
            <a:solidFill>
              <a:srgbClr val="E3E5EE"/>
            </a:solidFill>
            <a:prstDash val="solid"/>
          </a:ln>
        </p:spPr>
      </p:sp>
      <p:sp>
        <p:nvSpPr>
          <p:cNvPr id="20" name="Shape 15"/>
          <p:cNvSpPr/>
          <p:nvPr/>
        </p:nvSpPr>
        <p:spPr>
          <a:xfrm>
            <a:off x="777240" y="4274820"/>
            <a:ext cx="548640" cy="548640"/>
          </a:xfrm>
          <a:prstGeom prst="ellipse">
            <a:avLst/>
          </a:prstGeom>
          <a:solidFill>
            <a:srgbClr val="E8EAF6"/>
          </a:solidFill>
          <a:ln w="12700">
            <a:solidFill>
              <a:srgbClr val="E8EAF6"/>
            </a:solidFill>
            <a:prstDash val="solid"/>
          </a:ln>
        </p:spPr>
      </p:sp>
      <p:pic>
        <p:nvPicPr>
          <p:cNvPr id="21" name="Image 3" descr="preencoded.png">    </p:cNvPr>
          <p:cNvPicPr>
            <a:picLocks noChangeAspect="1"/>
          </p:cNvPicPr>
          <p:nvPr/>
        </p:nvPicPr>
        <p:blipFill>
          <a:blip r:embed="rId4"/>
          <a:stretch>
            <a:fillRect/>
          </a:stretch>
        </p:blipFill>
        <p:spPr>
          <a:xfrm>
            <a:off x="900684" y="4398264"/>
            <a:ext cx="301752" cy="301752"/>
          </a:xfrm>
          <a:prstGeom prst="rect">
            <a:avLst/>
          </a:prstGeom>
        </p:spPr>
      </p:pic>
      <p:sp>
        <p:nvSpPr>
          <p:cNvPr id="22" name="Text 16"/>
          <p:cNvSpPr txBox="1"/>
          <p:nvPr/>
        </p:nvSpPr>
        <p:spPr>
          <a:xfrm>
            <a:off x="1508760" y="4274820"/>
            <a:ext cx="232653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Gerente de Proyecto (GP)</a:t>
            </a:r>
            <a:endParaRPr lang="en-US" sz="1700" dirty="0"/>
          </a:p>
        </p:txBody>
      </p:sp>
      <p:sp>
        <p:nvSpPr>
          <p:cNvPr id="23" name="Text 17"/>
          <p:cNvSpPr txBox="1"/>
          <p:nvPr/>
        </p:nvSpPr>
        <p:spPr>
          <a:xfrm>
            <a:off x="777240"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Revisa el portafolio, resuelve lo que se escala y usa «Tu próximo paso» en la reunión semanal.</a:t>
            </a:r>
            <a:endParaRPr lang="en-US" sz="1500" dirty="0"/>
          </a:p>
        </p:txBody>
      </p:sp>
      <p:sp>
        <p:nvSpPr>
          <p:cNvPr id="24" name="Shape 18"/>
          <p:cNvSpPr/>
          <p:nvPr/>
        </p:nvSpPr>
        <p:spPr>
          <a:xfrm>
            <a:off x="4338218" y="4046220"/>
            <a:ext cx="3515258" cy="2217420"/>
          </a:xfrm>
          <a:prstGeom prst="roundRect">
            <a:avLst>
              <a:gd name="adj" fmla="val 4124"/>
            </a:avLst>
          </a:prstGeom>
          <a:solidFill>
            <a:srgbClr val="F5F6FB"/>
          </a:solidFill>
          <a:ln w="9525">
            <a:solidFill>
              <a:srgbClr val="E3E5EE"/>
            </a:solidFill>
            <a:prstDash val="solid"/>
          </a:ln>
        </p:spPr>
      </p:sp>
      <p:sp>
        <p:nvSpPr>
          <p:cNvPr id="25" name="Shape 19"/>
          <p:cNvSpPr/>
          <p:nvPr/>
        </p:nvSpPr>
        <p:spPr>
          <a:xfrm>
            <a:off x="4566818" y="4274820"/>
            <a:ext cx="548640" cy="548640"/>
          </a:xfrm>
          <a:prstGeom prst="ellipse">
            <a:avLst/>
          </a:prstGeom>
          <a:solidFill>
            <a:srgbClr val="E8EAF6"/>
          </a:solidFill>
          <a:ln w="12700">
            <a:solidFill>
              <a:srgbClr val="E8EAF6"/>
            </a:solidFill>
            <a:prstDash val="solid"/>
          </a:ln>
        </p:spPr>
      </p:sp>
      <p:pic>
        <p:nvPicPr>
          <p:cNvPr id="26" name="Image 4" descr="preencoded.png">    </p:cNvPr>
          <p:cNvPicPr>
            <a:picLocks noChangeAspect="1"/>
          </p:cNvPicPr>
          <p:nvPr/>
        </p:nvPicPr>
        <p:blipFill>
          <a:blip r:embed="rId5"/>
          <a:stretch>
            <a:fillRect/>
          </a:stretch>
        </p:blipFill>
        <p:spPr>
          <a:xfrm>
            <a:off x="4690262" y="4398264"/>
            <a:ext cx="301752" cy="301752"/>
          </a:xfrm>
          <a:prstGeom prst="rect">
            <a:avLst/>
          </a:prstGeom>
        </p:spPr>
      </p:pic>
      <p:sp>
        <p:nvSpPr>
          <p:cNvPr id="27" name="Text 20"/>
          <p:cNvSpPr txBox="1"/>
          <p:nvPr/>
        </p:nvSpPr>
        <p:spPr>
          <a:xfrm>
            <a:off x="5298338" y="4274820"/>
            <a:ext cx="232653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Ingeniería y procura</a:t>
            </a:r>
            <a:endParaRPr lang="en-US" sz="1700" dirty="0"/>
          </a:p>
        </p:txBody>
      </p:sp>
      <p:sp>
        <p:nvSpPr>
          <p:cNvPr id="28" name="Text 21"/>
          <p:cNvSpPr txBox="1"/>
          <p:nvPr/>
        </p:nvSpPr>
        <p:spPr>
          <a:xfrm>
            <a:off x="4566818"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Consultan los hitos H3 y H5, sus actividades del checklist y las plantillas EWP y PWP.</a:t>
            </a:r>
            <a:endParaRPr lang="en-US" sz="1500" dirty="0"/>
          </a:p>
        </p:txBody>
      </p:sp>
      <p:sp>
        <p:nvSpPr>
          <p:cNvPr id="29" name="Shape 22"/>
          <p:cNvSpPr/>
          <p:nvPr/>
        </p:nvSpPr>
        <p:spPr>
          <a:xfrm>
            <a:off x="8127797" y="4046220"/>
            <a:ext cx="3515258" cy="2217420"/>
          </a:xfrm>
          <a:prstGeom prst="roundRect">
            <a:avLst>
              <a:gd name="adj" fmla="val 4124"/>
            </a:avLst>
          </a:prstGeom>
          <a:solidFill>
            <a:srgbClr val="F5F6FB"/>
          </a:solidFill>
          <a:ln w="9525">
            <a:solidFill>
              <a:srgbClr val="E3E5EE"/>
            </a:solidFill>
            <a:prstDash val="solid"/>
          </a:ln>
        </p:spPr>
      </p:sp>
      <p:sp>
        <p:nvSpPr>
          <p:cNvPr id="30" name="Shape 23"/>
          <p:cNvSpPr/>
          <p:nvPr/>
        </p:nvSpPr>
        <p:spPr>
          <a:xfrm>
            <a:off x="8356397" y="4274820"/>
            <a:ext cx="548640" cy="548640"/>
          </a:xfrm>
          <a:prstGeom prst="ellipse">
            <a:avLst/>
          </a:prstGeom>
          <a:solidFill>
            <a:srgbClr val="E8EAF6"/>
          </a:solidFill>
          <a:ln w="12700">
            <a:solidFill>
              <a:srgbClr val="E8EAF6"/>
            </a:solidFill>
            <a:prstDash val="solid"/>
          </a:ln>
        </p:spPr>
      </p:sp>
      <p:pic>
        <p:nvPicPr>
          <p:cNvPr id="31" name="Image 5" descr="preencoded.png">    </p:cNvPr>
          <p:cNvPicPr>
            <a:picLocks noChangeAspect="1"/>
          </p:cNvPicPr>
          <p:nvPr/>
        </p:nvPicPr>
        <p:blipFill>
          <a:blip r:embed="rId6"/>
          <a:stretch>
            <a:fillRect/>
          </a:stretch>
        </p:blipFill>
        <p:spPr>
          <a:xfrm>
            <a:off x="8479841" y="4398264"/>
            <a:ext cx="301752" cy="301752"/>
          </a:xfrm>
          <a:prstGeom prst="rect">
            <a:avLst/>
          </a:prstGeom>
        </p:spPr>
      </p:pic>
      <p:sp>
        <p:nvSpPr>
          <p:cNvPr id="32" name="Text 24"/>
          <p:cNvSpPr txBox="1"/>
          <p:nvPr/>
        </p:nvSpPr>
        <p:spPr>
          <a:xfrm>
            <a:off x="9087917" y="4274820"/>
            <a:ext cx="232653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Cliente (CLI)</a:t>
            </a:r>
            <a:endParaRPr lang="en-US" sz="1700" dirty="0"/>
          </a:p>
        </p:txBody>
      </p:sp>
      <p:sp>
        <p:nvSpPr>
          <p:cNvPr id="33" name="Text 25"/>
          <p:cNvSpPr txBox="1"/>
          <p:nvPr/>
        </p:nvSpPr>
        <p:spPr>
          <a:xfrm>
            <a:off x="8356397"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Aprueba H0, H2 y H10; recibe el avance por etapa y por fase con evidencia registrada.</a:t>
            </a:r>
            <a:endParaRPr lang="en-US" sz="1500" dirty="0"/>
          </a:p>
        </p:txBody>
      </p:sp>
      <p:sp>
        <p:nvSpPr>
          <p:cNvPr id="34" name="Text 26"/>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Qué es la aplicación</a:t>
            </a:r>
            <a:endParaRPr lang="en-US" sz="1000" dirty="0"/>
          </a:p>
        </p:txBody>
      </p:sp>
      <p:sp>
        <p:nvSpPr>
          <p:cNvPr id="35" name="Text 27"/>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Dos conceptos que no se deben mezclar</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La aplicación usa siempre esta convención del kit</a:t>
            </a:r>
            <a:endParaRPr lang="en-US" sz="1500" dirty="0"/>
          </a:p>
        </p:txBody>
      </p:sp>
      <p:sp>
        <p:nvSpPr>
          <p:cNvPr id="4" name="Shape 2"/>
          <p:cNvSpPr/>
          <p:nvPr/>
        </p:nvSpPr>
        <p:spPr>
          <a:xfrm>
            <a:off x="548640" y="1554480"/>
            <a:ext cx="5364328" cy="4709160"/>
          </a:xfrm>
          <a:prstGeom prst="roundRect">
            <a:avLst>
              <a:gd name="adj" fmla="val 1942"/>
            </a:avLst>
          </a:prstGeom>
          <a:solidFill>
            <a:srgbClr val="F5F6FB"/>
          </a:solidFill>
          <a:ln w="9525">
            <a:solidFill>
              <a:srgbClr val="E3E5EE"/>
            </a:solidFill>
            <a:prstDash val="solid"/>
          </a:ln>
        </p:spPr>
      </p:sp>
      <p:sp>
        <p:nvSpPr>
          <p:cNvPr id="5" name="Shape 3"/>
          <p:cNvSpPr/>
          <p:nvPr/>
        </p:nvSpPr>
        <p:spPr>
          <a:xfrm>
            <a:off x="822960" y="1810512"/>
            <a:ext cx="566928" cy="566928"/>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950519" y="1938071"/>
            <a:ext cx="311810" cy="311810"/>
          </a:xfrm>
          <a:prstGeom prst="rect">
            <a:avLst/>
          </a:prstGeom>
        </p:spPr>
      </p:pic>
      <p:sp>
        <p:nvSpPr>
          <p:cNvPr id="7" name="Text 4"/>
          <p:cNvSpPr txBox="1"/>
          <p:nvPr/>
        </p:nvSpPr>
        <p:spPr>
          <a:xfrm>
            <a:off x="1554480" y="1810512"/>
            <a:ext cx="4084168" cy="566928"/>
          </a:xfrm>
          <a:prstGeom prst="rect">
            <a:avLst/>
          </a:prstGeom>
          <a:noFill/>
          <a:ln/>
        </p:spPr>
        <p:txBody>
          <a:bodyPr wrap="square" lIns="0" tIns="0" rIns="0" bIns="0" rtlCol="0" anchor="ctr"/>
          <a:lstStyle/>
          <a:p>
            <a:pPr indent="0" marL="0">
              <a:buNone/>
            </a:pPr>
            <a:r>
              <a:rPr lang="en-US" sz="2100" b="1" dirty="0">
                <a:solidFill>
                  <a:srgbClr val="3F51B5"/>
                </a:solidFill>
                <a:latin typeface="Calibri" pitchFamily="34" charset="0"/>
                <a:ea typeface="Calibri" pitchFamily="34" charset="-122"/>
                <a:cs typeface="Calibri" pitchFamily="34" charset="-120"/>
              </a:rPr>
              <a:t>Fase del proyecto</a:t>
            </a:r>
            <a:endParaRPr lang="en-US" sz="2100" dirty="0"/>
          </a:p>
        </p:txBody>
      </p:sp>
      <p:sp>
        <p:nvSpPr>
          <p:cNvPr id="8" name="Text 5"/>
          <p:cNvSpPr txBox="1"/>
          <p:nvPr/>
        </p:nvSpPr>
        <p:spPr>
          <a:xfrm>
            <a:off x="868680" y="2606040"/>
            <a:ext cx="4724248" cy="3474720"/>
          </a:xfrm>
          <a:prstGeom prst="rect">
            <a:avLst/>
          </a:prstGeom>
          <a:noFill/>
          <a:ln/>
        </p:spPr>
        <p:txBody>
          <a:bodyPr wrap="square" lIns="0" tIns="0" rIns="0" bIns="0" rtlCol="0" anchor="t">
            <a:normAutofit/>
          </a:bodyPr>
          <a:lstStyle/>
          <a:p>
            <a:pPr marL="203200" indent="-203200">
              <a:spcAft>
                <a:spcPts val="1000"/>
              </a:spcAft>
              <a:buSzPct val="100000"/>
              <a:buChar char="•"/>
            </a:pPr>
            <a:r>
              <a:rPr lang="en-US" sz="1600" dirty="0">
                <a:solidFill>
                  <a:srgbClr val="1B1C22"/>
                </a:solidFill>
                <a:latin typeface="Calibri" pitchFamily="34" charset="0"/>
                <a:ea typeface="Calibri" pitchFamily="34" charset="-122"/>
                <a:cs typeface="Calibri" pitchFamily="34" charset="-120"/>
              </a:rPr>
              <a:t>Es una parte del alcance que se ejecuta con sus propias fechas: Fase 1, Fase 2, Fase 3…</a:t>
            </a:r>
            <a:endParaRPr lang="en-US" sz="1600" dirty="0"/>
          </a:p>
          <a:p>
            <a:pPr marL="203200" indent="-203200">
              <a:spcAft>
                <a:spcPts val="1000"/>
              </a:spcAft>
              <a:buSzPct val="100000"/>
              <a:buChar char="•"/>
            </a:pPr>
            <a:r>
              <a:rPr lang="en-US" sz="1600" dirty="0">
                <a:solidFill>
                  <a:srgbClr val="1B1C22"/>
                </a:solidFill>
                <a:latin typeface="Calibri" pitchFamily="34" charset="0"/>
                <a:ea typeface="Calibri" pitchFamily="34" charset="-122"/>
                <a:cs typeface="Calibri" pitchFamily="34" charset="-120"/>
              </a:rPr>
              <a:t>Ejemplo del proyecto tipo: Fase 1 infraestructura y obras tempranas; Fase 2 instalación principal; Fase 3 edificaciones complementarias.</a:t>
            </a:r>
            <a:endParaRPr lang="en-US" sz="1600" dirty="0"/>
          </a:p>
          <a:p>
            <a:pPr marL="203200" indent="-203200">
              <a:spcAft>
                <a:spcPts val="1000"/>
              </a:spcAft>
              <a:buSzPct val="100000"/>
              <a:buChar char="•"/>
            </a:pPr>
            <a:r>
              <a:rPr lang="en-US" sz="1600" dirty="0">
                <a:solidFill>
                  <a:srgbClr val="1B1C22"/>
                </a:solidFill>
                <a:latin typeface="Calibri" pitchFamily="34" charset="0"/>
                <a:ea typeface="Calibri" pitchFamily="34" charset="-122"/>
                <a:cs typeface="Calibri" pitchFamily="34" charset="-120"/>
              </a:rPr>
              <a:t>Cada fase tiene sus hitos H1–H10, su nivel de madurez objetivo y sus plazos de liberación de IWP.</a:t>
            </a:r>
            <a:endParaRPr lang="en-US" sz="1600" dirty="0"/>
          </a:p>
          <a:p>
            <a:pPr marL="203200" indent="-203200">
              <a:spcAft>
                <a:spcPts val="1000"/>
              </a:spcAft>
              <a:buSzPct val="100000"/>
              <a:buChar char="•"/>
            </a:pPr>
            <a:r>
              <a:rPr lang="en-US" sz="1600" dirty="0">
                <a:solidFill>
                  <a:srgbClr val="1B1C22"/>
                </a:solidFill>
                <a:latin typeface="Calibri" pitchFamily="34" charset="0"/>
                <a:ea typeface="Calibri" pitchFamily="34" charset="-122"/>
                <a:cs typeface="Calibri" pitchFamily="34" charset="-120"/>
              </a:rPr>
              <a:t>Las fases pueden superponerse en el tiempo.</a:t>
            </a:r>
            <a:endParaRPr lang="en-US" sz="1600" dirty="0"/>
          </a:p>
        </p:txBody>
      </p:sp>
      <p:sp>
        <p:nvSpPr>
          <p:cNvPr id="9" name="Shape 6"/>
          <p:cNvSpPr/>
          <p:nvPr/>
        </p:nvSpPr>
        <p:spPr>
          <a:xfrm>
            <a:off x="6278728" y="1554480"/>
            <a:ext cx="5364328" cy="4709160"/>
          </a:xfrm>
          <a:prstGeom prst="roundRect">
            <a:avLst>
              <a:gd name="adj" fmla="val 1942"/>
            </a:avLst>
          </a:prstGeom>
          <a:solidFill>
            <a:srgbClr val="F5F6FB"/>
          </a:solidFill>
          <a:ln w="9525">
            <a:solidFill>
              <a:srgbClr val="E3E5EE"/>
            </a:solidFill>
            <a:prstDash val="solid"/>
          </a:ln>
        </p:spPr>
      </p:sp>
      <p:sp>
        <p:nvSpPr>
          <p:cNvPr id="10" name="Shape 7"/>
          <p:cNvSpPr/>
          <p:nvPr/>
        </p:nvSpPr>
        <p:spPr>
          <a:xfrm>
            <a:off x="6553048" y="1810512"/>
            <a:ext cx="566928" cy="566928"/>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6680606" y="1938071"/>
            <a:ext cx="311810" cy="311810"/>
          </a:xfrm>
          <a:prstGeom prst="rect">
            <a:avLst/>
          </a:prstGeom>
        </p:spPr>
      </p:pic>
      <p:sp>
        <p:nvSpPr>
          <p:cNvPr id="12" name="Text 8"/>
          <p:cNvSpPr txBox="1"/>
          <p:nvPr/>
        </p:nvSpPr>
        <p:spPr>
          <a:xfrm>
            <a:off x="7284568" y="1810512"/>
            <a:ext cx="4084168" cy="566928"/>
          </a:xfrm>
          <a:prstGeom prst="rect">
            <a:avLst/>
          </a:prstGeom>
          <a:noFill/>
          <a:ln/>
        </p:spPr>
        <p:txBody>
          <a:bodyPr wrap="square" lIns="0" tIns="0" rIns="0" bIns="0" rtlCol="0" anchor="ctr"/>
          <a:lstStyle/>
          <a:p>
            <a:pPr indent="0" marL="0">
              <a:buNone/>
            </a:pPr>
            <a:r>
              <a:rPr lang="en-US" sz="2100" b="1" dirty="0">
                <a:solidFill>
                  <a:srgbClr val="B7860B"/>
                </a:solidFill>
                <a:latin typeface="Calibri" pitchFamily="34" charset="0"/>
                <a:ea typeface="Calibri" pitchFamily="34" charset="-122"/>
                <a:cs typeface="Calibri" pitchFamily="34" charset="-120"/>
              </a:rPr>
              <a:t>Etapa del ciclo de vida</a:t>
            </a:r>
            <a:endParaRPr lang="en-US" sz="2100" dirty="0"/>
          </a:p>
        </p:txBody>
      </p:sp>
      <p:sp>
        <p:nvSpPr>
          <p:cNvPr id="13" name="Text 9"/>
          <p:cNvSpPr txBox="1"/>
          <p:nvPr/>
        </p:nvSpPr>
        <p:spPr>
          <a:xfrm>
            <a:off x="6598768" y="2606040"/>
            <a:ext cx="4724248" cy="3474720"/>
          </a:xfrm>
          <a:prstGeom prst="rect">
            <a:avLst/>
          </a:prstGeom>
          <a:noFill/>
          <a:ln/>
        </p:spPr>
        <p:txBody>
          <a:bodyPr wrap="square" lIns="0" tIns="0" rIns="0" bIns="0" rtlCol="0" anchor="t">
            <a:normAutofit/>
          </a:bodyPr>
          <a:lstStyle/>
          <a:p>
            <a:pPr marL="203200" indent="-203200">
              <a:spcAft>
                <a:spcPts val="1000"/>
              </a:spcAft>
              <a:buSzPct val="100000"/>
              <a:buChar char="•"/>
            </a:pPr>
            <a:r>
              <a:rPr lang="en-US" sz="1600" dirty="0">
                <a:solidFill>
                  <a:srgbClr val="1B1C22"/>
                </a:solidFill>
                <a:latin typeface="Calibri" pitchFamily="34" charset="0"/>
                <a:ea typeface="Calibri" pitchFamily="34" charset="-122"/>
                <a:cs typeface="Calibri" pitchFamily="34" charset="-120"/>
              </a:rPr>
              <a:t>Es el momento del ciclo de vida en que ocurre una actividad AWP.</a:t>
            </a:r>
            <a:endParaRPr lang="en-US" sz="1600" dirty="0"/>
          </a:p>
          <a:p>
            <a:pPr marL="203200" indent="-203200">
              <a:spcAft>
                <a:spcPts val="1000"/>
              </a:spcAft>
              <a:buSzPct val="100000"/>
              <a:buChar char="•"/>
            </a:pPr>
            <a:r>
              <a:rPr lang="en-US" sz="1600" dirty="0">
                <a:solidFill>
                  <a:srgbClr val="1B1C22"/>
                </a:solidFill>
                <a:latin typeface="Calibri" pitchFamily="34" charset="0"/>
                <a:ea typeface="Calibri" pitchFamily="34" charset="-122"/>
                <a:cs typeface="Calibri" pitchFamily="34" charset="-120"/>
              </a:rPr>
              <a:t>Son cinco: Planificación temprana (FEL), Ingeniería, Procura, Construcción y Comisionamiento.</a:t>
            </a:r>
            <a:endParaRPr lang="en-US" sz="1600" dirty="0"/>
          </a:p>
          <a:p>
            <a:pPr marL="203200" indent="-203200">
              <a:spcAft>
                <a:spcPts val="1000"/>
              </a:spcAft>
              <a:buSzPct val="100000"/>
              <a:buChar char="•"/>
            </a:pPr>
            <a:r>
              <a:rPr lang="en-US" sz="1600" dirty="0">
                <a:solidFill>
                  <a:srgbClr val="1B1C22"/>
                </a:solidFill>
                <a:latin typeface="Calibri" pitchFamily="34" charset="0"/>
                <a:ea typeface="Calibri" pitchFamily="34" charset="-122"/>
                <a:cs typeface="Calibri" pitchFamily="34" charset="-120"/>
              </a:rPr>
              <a:t>Organizan el checklist de 30 actividades y los anillos del dashboard.</a:t>
            </a:r>
            <a:endParaRPr lang="en-US" sz="1600" dirty="0"/>
          </a:p>
          <a:p>
            <a:pPr marL="203200" indent="-203200">
              <a:spcAft>
                <a:spcPts val="1000"/>
              </a:spcAft>
              <a:buSzPct val="100000"/>
              <a:buChar char="•"/>
            </a:pPr>
            <a:r>
              <a:rPr lang="en-US" sz="1600" dirty="0">
                <a:solidFill>
                  <a:srgbClr val="1B1C22"/>
                </a:solidFill>
                <a:latin typeface="Calibri" pitchFamily="34" charset="0"/>
                <a:ea typeface="Calibri" pitchFamily="34" charset="-122"/>
                <a:cs typeface="Calibri" pitchFamily="34" charset="-120"/>
              </a:rPr>
              <a:t>En la presentación de capacitación se llaman «Fase 1–4»: en la aplicación siempre se dicen «etapas».</a:t>
            </a:r>
            <a:endParaRPr lang="en-US" sz="1600" dirty="0"/>
          </a:p>
        </p:txBody>
      </p:sp>
      <p:sp>
        <p:nvSpPr>
          <p:cNvPr id="14" name="Text 10"/>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Qué es la aplicación</a:t>
            </a:r>
            <a:endParaRPr lang="en-US" sz="1000" dirty="0"/>
          </a:p>
        </p:txBody>
      </p:sp>
      <p:sp>
        <p:nvSpPr>
          <p:cNvPr id="15" name="Text 11"/>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Las cinco etapas del ciclo de vida</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Cada etapa agrupa actividades del checklist AWP</a:t>
            </a:r>
            <a:endParaRPr lang="en-US" sz="1500" dirty="0"/>
          </a:p>
        </p:txBody>
      </p:sp>
      <p:sp>
        <p:nvSpPr>
          <p:cNvPr id="4" name="Shape 2"/>
          <p:cNvSpPr/>
          <p:nvPr/>
        </p:nvSpPr>
        <p:spPr>
          <a:xfrm>
            <a:off x="1566642" y="2103120"/>
            <a:ext cx="9058412" cy="0"/>
          </a:xfrm>
          <a:prstGeom prst="line">
            <a:avLst/>
          </a:prstGeom>
          <a:noFill/>
          <a:ln w="31750">
            <a:solidFill>
              <a:srgbClr val="C5CAE9"/>
            </a:solidFill>
            <a:prstDash val="solid"/>
          </a:ln>
        </p:spPr>
      </p:sp>
      <p:sp>
        <p:nvSpPr>
          <p:cNvPr id="5" name="Shape 3"/>
          <p:cNvSpPr/>
          <p:nvPr/>
        </p:nvSpPr>
        <p:spPr>
          <a:xfrm>
            <a:off x="1200882" y="1737360"/>
            <a:ext cx="731520" cy="731520"/>
          </a:xfrm>
          <a:prstGeom prst="ellipse">
            <a:avLst/>
          </a:prstGeom>
          <a:solidFill>
            <a:srgbClr val="3F51B5"/>
          </a:solidFill>
          <a:ln w="38100">
            <a:solidFill>
              <a:srgbClr val="FFFFFF"/>
            </a:solidFill>
            <a:prstDash val="solid"/>
          </a:ln>
        </p:spPr>
      </p:sp>
      <p:sp>
        <p:nvSpPr>
          <p:cNvPr id="6" name="Text 4"/>
          <p:cNvSpPr txBox="1"/>
          <p:nvPr/>
        </p:nvSpPr>
        <p:spPr>
          <a:xfrm>
            <a:off x="1200882" y="17373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Shape 5"/>
          <p:cNvSpPr/>
          <p:nvPr/>
        </p:nvSpPr>
        <p:spPr>
          <a:xfrm>
            <a:off x="548640" y="2743200"/>
            <a:ext cx="2036003" cy="3291840"/>
          </a:xfrm>
          <a:prstGeom prst="roundRect">
            <a:avLst>
              <a:gd name="adj" fmla="val 4491"/>
            </a:avLst>
          </a:prstGeom>
          <a:solidFill>
            <a:srgbClr val="F5F6FB"/>
          </a:solidFill>
          <a:ln w="9525">
            <a:solidFill>
              <a:srgbClr val="E3E5EE"/>
            </a:solidFill>
            <a:prstDash val="solid"/>
          </a:ln>
        </p:spPr>
      </p:sp>
      <p:sp>
        <p:nvSpPr>
          <p:cNvPr id="8" name="Text 6"/>
          <p:cNvSpPr txBox="1"/>
          <p:nvPr/>
        </p:nvSpPr>
        <p:spPr>
          <a:xfrm>
            <a:off x="731520" y="2907792"/>
            <a:ext cx="1670243" cy="731520"/>
          </a:xfrm>
          <a:prstGeom prst="rect">
            <a:avLst/>
          </a:prstGeom>
          <a:noFill/>
          <a:ln/>
        </p:spPr>
        <p:txBody>
          <a:bodyPr wrap="square" lIns="0" tIns="0" rIns="0" bIns="0" rtlCol="0" anchor="t">
            <a:normAutofit/>
          </a:bodyPr>
          <a:lstStyle/>
          <a:p>
            <a:pPr indent="0" marL="0">
              <a:buNone/>
            </a:pPr>
            <a:r>
              <a:rPr lang="en-US" sz="1350" b="1" dirty="0">
                <a:solidFill>
                  <a:srgbClr val="283593"/>
                </a:solidFill>
                <a:latin typeface="Calibri" pitchFamily="34" charset="0"/>
                <a:ea typeface="Calibri" pitchFamily="34" charset="-122"/>
                <a:cs typeface="Calibri" pitchFamily="34" charset="-120"/>
              </a:rPr>
              <a:t>Planificación temprana (FEL)</a:t>
            </a:r>
            <a:endParaRPr lang="en-US" sz="1350" dirty="0"/>
          </a:p>
        </p:txBody>
      </p:sp>
      <p:sp>
        <p:nvSpPr>
          <p:cNvPr id="9" name="Text 7"/>
          <p:cNvSpPr txBox="1"/>
          <p:nvPr/>
        </p:nvSpPr>
        <p:spPr>
          <a:xfrm>
            <a:off x="731520" y="3657600"/>
            <a:ext cx="1670243" cy="2286000"/>
          </a:xfrm>
          <a:prstGeom prst="rect">
            <a:avLst/>
          </a:prstGeom>
          <a:noFill/>
          <a:ln/>
        </p:spPr>
        <p:txBody>
          <a:bodyPr wrap="square" lIns="0" tIns="0" rIns="0" bIns="0" rtlCol="0" anchor="t">
            <a:normAutofit/>
          </a:bodyPr>
          <a:lstStyle/>
          <a:p>
            <a:pPr indent="0" marL="0">
              <a:buNone/>
            </a:pPr>
            <a:r>
              <a:rPr lang="en-US" sz="1450" dirty="0">
                <a:solidFill>
                  <a:srgbClr val="1B1C22"/>
                </a:solidFill>
                <a:latin typeface="Calibri" pitchFamily="34" charset="0"/>
                <a:ea typeface="Calibri" pitchFamily="34" charset="-122"/>
                <a:cs typeface="Calibri" pitchFamily="34" charset="-120"/>
              </a:rPr>
              <a:t>8 actividades: Champion, escala de AWP, CWA, PoC, lista de CWP, WBS, contratos, gestión de información.</a:t>
            </a:r>
            <a:endParaRPr lang="en-US" sz="1450" dirty="0"/>
          </a:p>
        </p:txBody>
      </p:sp>
      <p:sp>
        <p:nvSpPr>
          <p:cNvPr id="10" name="Shape 8"/>
          <p:cNvSpPr/>
          <p:nvPr/>
        </p:nvSpPr>
        <p:spPr>
          <a:xfrm>
            <a:off x="3465485" y="1737360"/>
            <a:ext cx="731520" cy="731520"/>
          </a:xfrm>
          <a:prstGeom prst="ellipse">
            <a:avLst/>
          </a:prstGeom>
          <a:solidFill>
            <a:srgbClr val="3F51B5"/>
          </a:solidFill>
          <a:ln w="38100">
            <a:solidFill>
              <a:srgbClr val="FFFFFF"/>
            </a:solidFill>
            <a:prstDash val="solid"/>
          </a:ln>
        </p:spPr>
      </p:sp>
      <p:sp>
        <p:nvSpPr>
          <p:cNvPr id="11" name="Text 9"/>
          <p:cNvSpPr txBox="1"/>
          <p:nvPr/>
        </p:nvSpPr>
        <p:spPr>
          <a:xfrm>
            <a:off x="3465485" y="17373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2" name="Shape 10"/>
          <p:cNvSpPr/>
          <p:nvPr/>
        </p:nvSpPr>
        <p:spPr>
          <a:xfrm>
            <a:off x="2813243" y="2743200"/>
            <a:ext cx="2036003" cy="3291840"/>
          </a:xfrm>
          <a:prstGeom prst="roundRect">
            <a:avLst>
              <a:gd name="adj" fmla="val 4491"/>
            </a:avLst>
          </a:prstGeom>
          <a:solidFill>
            <a:srgbClr val="F5F6FB"/>
          </a:solidFill>
          <a:ln w="9525">
            <a:solidFill>
              <a:srgbClr val="E3E5EE"/>
            </a:solidFill>
            <a:prstDash val="solid"/>
          </a:ln>
        </p:spPr>
      </p:sp>
      <p:sp>
        <p:nvSpPr>
          <p:cNvPr id="13" name="Text 11"/>
          <p:cNvSpPr txBox="1"/>
          <p:nvPr/>
        </p:nvSpPr>
        <p:spPr>
          <a:xfrm>
            <a:off x="2996123" y="2907792"/>
            <a:ext cx="1670243" cy="731520"/>
          </a:xfrm>
          <a:prstGeom prst="rect">
            <a:avLst/>
          </a:prstGeom>
          <a:noFill/>
          <a:ln/>
        </p:spPr>
        <p:txBody>
          <a:bodyPr wrap="square" lIns="0" tIns="0" rIns="0" bIns="0" rtlCol="0" anchor="t">
            <a:normAutofit/>
          </a:bodyPr>
          <a:lstStyle/>
          <a:p>
            <a:pPr indent="0" marL="0">
              <a:buNone/>
            </a:pPr>
            <a:r>
              <a:rPr lang="en-US" sz="1350" b="1" dirty="0">
                <a:solidFill>
                  <a:srgbClr val="283593"/>
                </a:solidFill>
                <a:latin typeface="Calibri" pitchFamily="34" charset="0"/>
                <a:ea typeface="Calibri" pitchFamily="34" charset="-122"/>
                <a:cs typeface="Calibri" pitchFamily="34" charset="-120"/>
              </a:rPr>
              <a:t>Ingeniería</a:t>
            </a:r>
            <a:endParaRPr lang="en-US" sz="1350" dirty="0"/>
          </a:p>
        </p:txBody>
      </p:sp>
      <p:sp>
        <p:nvSpPr>
          <p:cNvPr id="14" name="Text 12"/>
          <p:cNvSpPr txBox="1"/>
          <p:nvPr/>
        </p:nvSpPr>
        <p:spPr>
          <a:xfrm>
            <a:off x="2996123" y="3657600"/>
            <a:ext cx="1670243" cy="2286000"/>
          </a:xfrm>
          <a:prstGeom prst="rect">
            <a:avLst/>
          </a:prstGeom>
          <a:noFill/>
          <a:ln/>
        </p:spPr>
        <p:txBody>
          <a:bodyPr wrap="square" lIns="0" tIns="0" rIns="0" bIns="0" rtlCol="0" anchor="t">
            <a:normAutofit/>
          </a:bodyPr>
          <a:lstStyle/>
          <a:p>
            <a:pPr indent="0" marL="0">
              <a:buNone/>
            </a:pPr>
            <a:r>
              <a:rPr lang="en-US" sz="1450" dirty="0">
                <a:solidFill>
                  <a:srgbClr val="1B1C22"/>
                </a:solidFill>
                <a:latin typeface="Calibri" pitchFamily="34" charset="0"/>
                <a:ea typeface="Calibri" pitchFamily="34" charset="-122"/>
                <a:cs typeface="Calibri" pitchFamily="34" charset="-120"/>
              </a:rPr>
              <a:t>6 actividades: EWP por CWP, prioridad según el PoC, emisión completa, modelo 3D, constructabilidad, RFI.</a:t>
            </a:r>
            <a:endParaRPr lang="en-US" sz="1450" dirty="0"/>
          </a:p>
        </p:txBody>
      </p:sp>
      <p:sp>
        <p:nvSpPr>
          <p:cNvPr id="15" name="Shape 13"/>
          <p:cNvSpPr/>
          <p:nvPr/>
        </p:nvSpPr>
        <p:spPr>
          <a:xfrm>
            <a:off x="5730088" y="1737360"/>
            <a:ext cx="731520" cy="731520"/>
          </a:xfrm>
          <a:prstGeom prst="ellipse">
            <a:avLst/>
          </a:prstGeom>
          <a:solidFill>
            <a:srgbClr val="3F51B5"/>
          </a:solidFill>
          <a:ln w="38100">
            <a:solidFill>
              <a:srgbClr val="FFFFFF"/>
            </a:solidFill>
            <a:prstDash val="solid"/>
          </a:ln>
        </p:spPr>
      </p:sp>
      <p:sp>
        <p:nvSpPr>
          <p:cNvPr id="16" name="Text 14"/>
          <p:cNvSpPr txBox="1"/>
          <p:nvPr/>
        </p:nvSpPr>
        <p:spPr>
          <a:xfrm>
            <a:off x="5730088" y="17373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7" name="Shape 15"/>
          <p:cNvSpPr/>
          <p:nvPr/>
        </p:nvSpPr>
        <p:spPr>
          <a:xfrm>
            <a:off x="5077846" y="2743200"/>
            <a:ext cx="2036003" cy="3291840"/>
          </a:xfrm>
          <a:prstGeom prst="roundRect">
            <a:avLst>
              <a:gd name="adj" fmla="val 4491"/>
            </a:avLst>
          </a:prstGeom>
          <a:solidFill>
            <a:srgbClr val="F5F6FB"/>
          </a:solidFill>
          <a:ln w="9525">
            <a:solidFill>
              <a:srgbClr val="E3E5EE"/>
            </a:solidFill>
            <a:prstDash val="solid"/>
          </a:ln>
        </p:spPr>
      </p:sp>
      <p:sp>
        <p:nvSpPr>
          <p:cNvPr id="18" name="Text 16"/>
          <p:cNvSpPr txBox="1"/>
          <p:nvPr/>
        </p:nvSpPr>
        <p:spPr>
          <a:xfrm>
            <a:off x="5260726" y="2907792"/>
            <a:ext cx="1670243" cy="731520"/>
          </a:xfrm>
          <a:prstGeom prst="rect">
            <a:avLst/>
          </a:prstGeom>
          <a:noFill/>
          <a:ln/>
        </p:spPr>
        <p:txBody>
          <a:bodyPr wrap="square" lIns="0" tIns="0" rIns="0" bIns="0" rtlCol="0" anchor="t">
            <a:normAutofit/>
          </a:bodyPr>
          <a:lstStyle/>
          <a:p>
            <a:pPr indent="0" marL="0">
              <a:buNone/>
            </a:pPr>
            <a:r>
              <a:rPr lang="en-US" sz="1350" b="1" dirty="0">
                <a:solidFill>
                  <a:srgbClr val="283593"/>
                </a:solidFill>
                <a:latin typeface="Calibri" pitchFamily="34" charset="0"/>
                <a:ea typeface="Calibri" pitchFamily="34" charset="-122"/>
                <a:cs typeface="Calibri" pitchFamily="34" charset="-120"/>
              </a:rPr>
              <a:t>Procura</a:t>
            </a:r>
            <a:endParaRPr lang="en-US" sz="1350" dirty="0"/>
          </a:p>
        </p:txBody>
      </p:sp>
      <p:sp>
        <p:nvSpPr>
          <p:cNvPr id="19" name="Text 17"/>
          <p:cNvSpPr txBox="1"/>
          <p:nvPr/>
        </p:nvSpPr>
        <p:spPr>
          <a:xfrm>
            <a:off x="5260726" y="3657600"/>
            <a:ext cx="1670243" cy="2286000"/>
          </a:xfrm>
          <a:prstGeom prst="rect">
            <a:avLst/>
          </a:prstGeom>
          <a:noFill/>
          <a:ln/>
        </p:spPr>
        <p:txBody>
          <a:bodyPr wrap="square" lIns="0" tIns="0" rIns="0" bIns="0" rtlCol="0" anchor="t">
            <a:normAutofit/>
          </a:bodyPr>
          <a:lstStyle/>
          <a:p>
            <a:pPr indent="0" marL="0">
              <a:buNone/>
            </a:pPr>
            <a:r>
              <a:rPr lang="en-US" sz="1450" dirty="0">
                <a:solidFill>
                  <a:srgbClr val="1B1C22"/>
                </a:solidFill>
                <a:latin typeface="Calibri" pitchFamily="34" charset="0"/>
                <a:ea typeface="Calibri" pitchFamily="34" charset="-122"/>
                <a:cs typeface="Calibri" pitchFamily="34" charset="-120"/>
              </a:rPr>
              <a:t>5 actividades: PWP alineados, fechas RAS, estado de materiales, reservas por IWP, documentación del proveedor.</a:t>
            </a:r>
            <a:endParaRPr lang="en-US" sz="1450" dirty="0"/>
          </a:p>
        </p:txBody>
      </p:sp>
      <p:sp>
        <p:nvSpPr>
          <p:cNvPr id="20" name="Shape 18"/>
          <p:cNvSpPr/>
          <p:nvPr/>
        </p:nvSpPr>
        <p:spPr>
          <a:xfrm>
            <a:off x="7994691" y="1737360"/>
            <a:ext cx="731520" cy="731520"/>
          </a:xfrm>
          <a:prstGeom prst="ellipse">
            <a:avLst/>
          </a:prstGeom>
          <a:solidFill>
            <a:srgbClr val="3F51B5"/>
          </a:solidFill>
          <a:ln w="38100">
            <a:solidFill>
              <a:srgbClr val="FFFFFF"/>
            </a:solidFill>
            <a:prstDash val="solid"/>
          </a:ln>
        </p:spPr>
      </p:sp>
      <p:sp>
        <p:nvSpPr>
          <p:cNvPr id="21" name="Text 19"/>
          <p:cNvSpPr txBox="1"/>
          <p:nvPr/>
        </p:nvSpPr>
        <p:spPr>
          <a:xfrm>
            <a:off x="7994691" y="17373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2" name="Shape 20"/>
          <p:cNvSpPr/>
          <p:nvPr/>
        </p:nvSpPr>
        <p:spPr>
          <a:xfrm>
            <a:off x="7342449" y="2743200"/>
            <a:ext cx="2036003" cy="3291840"/>
          </a:xfrm>
          <a:prstGeom prst="roundRect">
            <a:avLst>
              <a:gd name="adj" fmla="val 4491"/>
            </a:avLst>
          </a:prstGeom>
          <a:solidFill>
            <a:srgbClr val="F5F6FB"/>
          </a:solidFill>
          <a:ln w="9525">
            <a:solidFill>
              <a:srgbClr val="E3E5EE"/>
            </a:solidFill>
            <a:prstDash val="solid"/>
          </a:ln>
        </p:spPr>
      </p:sp>
      <p:sp>
        <p:nvSpPr>
          <p:cNvPr id="23" name="Text 21"/>
          <p:cNvSpPr txBox="1"/>
          <p:nvPr/>
        </p:nvSpPr>
        <p:spPr>
          <a:xfrm>
            <a:off x="7525329" y="2907792"/>
            <a:ext cx="1670243" cy="731520"/>
          </a:xfrm>
          <a:prstGeom prst="rect">
            <a:avLst/>
          </a:prstGeom>
          <a:noFill/>
          <a:ln/>
        </p:spPr>
        <p:txBody>
          <a:bodyPr wrap="square" lIns="0" tIns="0" rIns="0" bIns="0" rtlCol="0" anchor="t">
            <a:normAutofit/>
          </a:bodyPr>
          <a:lstStyle/>
          <a:p>
            <a:pPr indent="0" marL="0">
              <a:buNone/>
            </a:pPr>
            <a:r>
              <a:rPr lang="en-US" sz="1350" b="1" dirty="0">
                <a:solidFill>
                  <a:srgbClr val="283593"/>
                </a:solidFill>
                <a:latin typeface="Calibri" pitchFamily="34" charset="0"/>
                <a:ea typeface="Calibri" pitchFamily="34" charset="-122"/>
                <a:cs typeface="Calibri" pitchFamily="34" charset="-120"/>
              </a:rPr>
              <a:t>Construcción</a:t>
            </a:r>
            <a:endParaRPr lang="en-US" sz="1350" dirty="0"/>
          </a:p>
        </p:txBody>
      </p:sp>
      <p:sp>
        <p:nvSpPr>
          <p:cNvPr id="24" name="Text 22"/>
          <p:cNvSpPr txBox="1"/>
          <p:nvPr/>
        </p:nvSpPr>
        <p:spPr>
          <a:xfrm>
            <a:off x="7525329" y="3657600"/>
            <a:ext cx="1670243" cy="2286000"/>
          </a:xfrm>
          <a:prstGeom prst="rect">
            <a:avLst/>
          </a:prstGeom>
          <a:noFill/>
          <a:ln/>
        </p:spPr>
        <p:txBody>
          <a:bodyPr wrap="square" lIns="0" tIns="0" rIns="0" bIns="0" rtlCol="0" anchor="t">
            <a:normAutofit/>
          </a:bodyPr>
          <a:lstStyle/>
          <a:p>
            <a:pPr indent="0" marL="0">
              <a:buNone/>
            </a:pPr>
            <a:r>
              <a:rPr lang="en-US" sz="1450" dirty="0">
                <a:solidFill>
                  <a:srgbClr val="1B1C22"/>
                </a:solidFill>
                <a:latin typeface="Calibri" pitchFamily="34" charset="0"/>
                <a:ea typeface="Calibri" pitchFamily="34" charset="-122"/>
                <a:cs typeface="Calibri" pitchFamily="34" charset="-120"/>
              </a:rPr>
              <a:t>7 actividades: emitir CWP, dividir en IWP, restricciones, liberar sin restricciones, lookahead, avance, KPI.</a:t>
            </a:r>
            <a:endParaRPr lang="en-US" sz="1450" dirty="0"/>
          </a:p>
        </p:txBody>
      </p:sp>
      <p:sp>
        <p:nvSpPr>
          <p:cNvPr id="25" name="Shape 23"/>
          <p:cNvSpPr/>
          <p:nvPr/>
        </p:nvSpPr>
        <p:spPr>
          <a:xfrm>
            <a:off x="10259294" y="1737360"/>
            <a:ext cx="731520" cy="731520"/>
          </a:xfrm>
          <a:prstGeom prst="ellipse">
            <a:avLst/>
          </a:prstGeom>
          <a:solidFill>
            <a:srgbClr val="FFC107"/>
          </a:solidFill>
          <a:ln w="38100">
            <a:solidFill>
              <a:srgbClr val="FFFFFF"/>
            </a:solidFill>
            <a:prstDash val="solid"/>
          </a:ln>
        </p:spPr>
      </p:sp>
      <p:sp>
        <p:nvSpPr>
          <p:cNvPr id="26" name="Text 24"/>
          <p:cNvSpPr txBox="1"/>
          <p:nvPr/>
        </p:nvSpPr>
        <p:spPr>
          <a:xfrm>
            <a:off x="10259294" y="1737360"/>
            <a:ext cx="731520" cy="731520"/>
          </a:xfrm>
          <a:prstGeom prst="rect">
            <a:avLst/>
          </a:prstGeom>
          <a:noFill/>
          <a:ln/>
        </p:spPr>
        <p:txBody>
          <a:bodyPr wrap="square" lIns="0" tIns="0" rIns="0" bIns="0" rtlCol="0" anchor="ctr"/>
          <a:lstStyle/>
          <a:p>
            <a:pPr algn="ctr" indent="0" marL="0">
              <a:buNone/>
            </a:pPr>
            <a:r>
              <a:rPr lang="en-US" sz="2200" b="1" dirty="0">
                <a:solidFill>
                  <a:srgbClr val="1A1F4B"/>
                </a:solidFill>
                <a:latin typeface="Calibri" pitchFamily="34" charset="0"/>
                <a:ea typeface="Calibri" pitchFamily="34" charset="-122"/>
                <a:cs typeface="Calibri" pitchFamily="34" charset="-120"/>
              </a:rPr>
              <a:t>5</a:t>
            </a:r>
            <a:endParaRPr lang="en-US" sz="2200" dirty="0"/>
          </a:p>
        </p:txBody>
      </p:sp>
      <p:sp>
        <p:nvSpPr>
          <p:cNvPr id="27" name="Shape 25"/>
          <p:cNvSpPr/>
          <p:nvPr/>
        </p:nvSpPr>
        <p:spPr>
          <a:xfrm>
            <a:off x="9607052" y="2743200"/>
            <a:ext cx="2036003" cy="3291840"/>
          </a:xfrm>
          <a:prstGeom prst="roundRect">
            <a:avLst>
              <a:gd name="adj" fmla="val 4491"/>
            </a:avLst>
          </a:prstGeom>
          <a:solidFill>
            <a:srgbClr val="F5F6FB"/>
          </a:solidFill>
          <a:ln w="9525">
            <a:solidFill>
              <a:srgbClr val="E3E5EE"/>
            </a:solidFill>
            <a:prstDash val="solid"/>
          </a:ln>
        </p:spPr>
      </p:sp>
      <p:sp>
        <p:nvSpPr>
          <p:cNvPr id="28" name="Text 26"/>
          <p:cNvSpPr txBox="1"/>
          <p:nvPr/>
        </p:nvSpPr>
        <p:spPr>
          <a:xfrm>
            <a:off x="9789932" y="2907792"/>
            <a:ext cx="1670243" cy="731520"/>
          </a:xfrm>
          <a:prstGeom prst="rect">
            <a:avLst/>
          </a:prstGeom>
          <a:noFill/>
          <a:ln/>
        </p:spPr>
        <p:txBody>
          <a:bodyPr wrap="square" lIns="0" tIns="0" rIns="0" bIns="0" rtlCol="0" anchor="t">
            <a:normAutofit/>
          </a:bodyPr>
          <a:lstStyle/>
          <a:p>
            <a:pPr indent="0" marL="0">
              <a:buNone/>
            </a:pPr>
            <a:r>
              <a:rPr lang="en-US" sz="1350" b="1" dirty="0">
                <a:solidFill>
                  <a:srgbClr val="283593"/>
                </a:solidFill>
                <a:latin typeface="Calibri" pitchFamily="34" charset="0"/>
                <a:ea typeface="Calibri" pitchFamily="34" charset="-122"/>
                <a:cs typeface="Calibri" pitchFamily="34" charset="-120"/>
              </a:rPr>
              <a:t>Comisionamiento</a:t>
            </a:r>
            <a:endParaRPr lang="en-US" sz="1350" dirty="0"/>
          </a:p>
        </p:txBody>
      </p:sp>
      <p:sp>
        <p:nvSpPr>
          <p:cNvPr id="29" name="Text 27"/>
          <p:cNvSpPr txBox="1"/>
          <p:nvPr/>
        </p:nvSpPr>
        <p:spPr>
          <a:xfrm>
            <a:off x="9789932" y="3657600"/>
            <a:ext cx="1670243" cy="2286000"/>
          </a:xfrm>
          <a:prstGeom prst="rect">
            <a:avLst/>
          </a:prstGeom>
          <a:noFill/>
          <a:ln/>
        </p:spPr>
        <p:txBody>
          <a:bodyPr wrap="square" lIns="0" tIns="0" rIns="0" bIns="0" rtlCol="0" anchor="t">
            <a:normAutofit/>
          </a:bodyPr>
          <a:lstStyle/>
          <a:p>
            <a:pPr indent="0" marL="0">
              <a:buNone/>
            </a:pPr>
            <a:r>
              <a:rPr lang="en-US" sz="1450" dirty="0">
                <a:solidFill>
                  <a:srgbClr val="1B1C22"/>
                </a:solidFill>
                <a:latin typeface="Calibri" pitchFamily="34" charset="0"/>
                <a:ea typeface="Calibri" pitchFamily="34" charset="-122"/>
                <a:cs typeface="Calibri" pitchFamily="34" charset="-120"/>
              </a:rPr>
              <a:t>4 actividades: sistemas, relación IWP–sistema, SWP y TOP, cierre de la fase.</a:t>
            </a:r>
            <a:endParaRPr lang="en-US" sz="1450" dirty="0"/>
          </a:p>
        </p:txBody>
      </p:sp>
      <p:sp>
        <p:nvSpPr>
          <p:cNvPr id="30" name="Text 28"/>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Qué es la aplicación</a:t>
            </a:r>
            <a:endParaRPr lang="en-US" sz="1000" dirty="0"/>
          </a:p>
        </p:txBody>
      </p:sp>
      <p:sp>
        <p:nvSpPr>
          <p:cNvPr id="31" name="Text 29"/>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Cómo funciona por dentro</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Todo en el navegador: no hay nada que instalar</a:t>
            </a:r>
            <a:endParaRPr lang="en-US" sz="1500" dirty="0"/>
          </a:p>
        </p:txBody>
      </p:sp>
      <p:sp>
        <p:nvSpPr>
          <p:cNvPr id="4" name="Shape 2"/>
          <p:cNvSpPr/>
          <p:nvPr/>
        </p:nvSpPr>
        <p:spPr>
          <a:xfrm>
            <a:off x="548640" y="1691640"/>
            <a:ext cx="3383280" cy="2331720"/>
          </a:xfrm>
          <a:prstGeom prst="roundRect">
            <a:avLst>
              <a:gd name="adj" fmla="val 4706"/>
            </a:avLst>
          </a:prstGeom>
          <a:solidFill>
            <a:srgbClr val="F5F6FB"/>
          </a:solidFill>
          <a:ln w="9525">
            <a:solidFill>
              <a:srgbClr val="E3E5EE"/>
            </a:solidFill>
            <a:prstDash val="solid"/>
          </a:ln>
        </p:spPr>
      </p:sp>
      <p:sp>
        <p:nvSpPr>
          <p:cNvPr id="5" name="Shape 3"/>
          <p:cNvSpPr/>
          <p:nvPr/>
        </p:nvSpPr>
        <p:spPr>
          <a:xfrm>
            <a:off x="822960" y="1920240"/>
            <a:ext cx="640080" cy="640080"/>
          </a:xfrm>
          <a:prstGeom prst="ellipse">
            <a:avLst/>
          </a:prstGeom>
          <a:solidFill>
            <a:srgbClr val="E8EAF6"/>
          </a:solidFill>
          <a:ln w="12700">
            <a:solidFill>
              <a:srgbClr val="E8EAF6"/>
            </a:solidFill>
            <a:prstDash val="solid"/>
          </a:ln>
        </p:spPr>
      </p:sp>
      <p:pic>
        <p:nvPicPr>
          <p:cNvPr id="6" name="Image 0" descr="preencoded.png">    </p:cNvPr>
          <p:cNvPicPr>
            <a:picLocks noChangeAspect="1"/>
          </p:cNvPicPr>
          <p:nvPr/>
        </p:nvPicPr>
        <p:blipFill>
          <a:blip r:embed="rId1"/>
          <a:stretch>
            <a:fillRect/>
          </a:stretch>
        </p:blipFill>
        <p:spPr>
          <a:xfrm>
            <a:off x="966978" y="2064258"/>
            <a:ext cx="352044" cy="352044"/>
          </a:xfrm>
          <a:prstGeom prst="rect">
            <a:avLst/>
          </a:prstGeom>
        </p:spPr>
      </p:pic>
      <p:sp>
        <p:nvSpPr>
          <p:cNvPr id="7" name="Text 4"/>
          <p:cNvSpPr txBox="1"/>
          <p:nvPr/>
        </p:nvSpPr>
        <p:spPr>
          <a:xfrm>
            <a:off x="1600200" y="1920240"/>
            <a:ext cx="2194560" cy="640080"/>
          </a:xfrm>
          <a:prstGeom prst="rect">
            <a:avLst/>
          </a:prstGeom>
          <a:noFill/>
          <a:ln/>
        </p:spPr>
        <p:txBody>
          <a:bodyPr wrap="square" lIns="0" tIns="0" rIns="0" bIns="0" rtlCol="0" anchor="ctr"/>
          <a:lstStyle/>
          <a:p>
            <a:pPr indent="0" marL="0">
              <a:buNone/>
            </a:pPr>
            <a:r>
              <a:rPr lang="en-US" sz="2000" b="1" dirty="0">
                <a:solidFill>
                  <a:srgbClr val="1B1C22"/>
                </a:solidFill>
                <a:latin typeface="Calibri" pitchFamily="34" charset="0"/>
                <a:ea typeface="Calibri" pitchFamily="34" charset="-122"/>
                <a:cs typeface="Calibri" pitchFamily="34" charset="-120"/>
              </a:rPr>
              <a:t>Tu navegador</a:t>
            </a:r>
            <a:endParaRPr lang="en-US" sz="2000" dirty="0"/>
          </a:p>
        </p:txBody>
      </p:sp>
      <p:sp>
        <p:nvSpPr>
          <p:cNvPr id="8" name="Text 5"/>
          <p:cNvSpPr txBox="1"/>
          <p:nvPr/>
        </p:nvSpPr>
        <p:spPr>
          <a:xfrm>
            <a:off x="822960" y="2743200"/>
            <a:ext cx="2834640" cy="1188720"/>
          </a:xfrm>
          <a:prstGeom prst="rect">
            <a:avLst/>
          </a:prstGeom>
          <a:noFill/>
          <a:ln/>
        </p:spPr>
        <p:txBody>
          <a:bodyPr wrap="square" lIns="0" tIns="0" rIns="0" bIns="0" rtlCol="0" anchor="t"/>
          <a:lstStyle/>
          <a:p>
            <a:pPr indent="0" marL="0">
              <a:buNone/>
            </a:pPr>
            <a:r>
              <a:rPr lang="en-US" sz="1350" dirty="0">
                <a:solidFill>
                  <a:srgbClr val="5B5E6B"/>
                </a:solidFill>
                <a:latin typeface="Calibri" pitchFamily="34" charset="0"/>
                <a:ea typeface="Calibri" pitchFamily="34" charset="-122"/>
                <a:cs typeface="Calibri" pitchFamily="34" charset="-120"/>
              </a:rPr>
              <a:t>Oficina, casa u obra. Computadora o celular. Modo claro u oscuro.</a:t>
            </a:r>
            <a:endParaRPr lang="en-US" sz="1350" dirty="0"/>
          </a:p>
        </p:txBody>
      </p:sp>
      <p:pic>
        <p:nvPicPr>
          <p:cNvPr id="9" name="Image 1" descr="preencoded.png">    </p:cNvPr>
          <p:cNvPicPr>
            <a:picLocks noChangeAspect="1"/>
          </p:cNvPicPr>
          <p:nvPr/>
        </p:nvPicPr>
        <p:blipFill>
          <a:blip r:embed="rId2"/>
          <a:stretch>
            <a:fillRect/>
          </a:stretch>
        </p:blipFill>
        <p:spPr>
          <a:xfrm>
            <a:off x="3995928" y="2606040"/>
            <a:ext cx="384048" cy="384048"/>
          </a:xfrm>
          <a:prstGeom prst="rect">
            <a:avLst/>
          </a:prstGeom>
        </p:spPr>
      </p:pic>
      <p:sp>
        <p:nvSpPr>
          <p:cNvPr id="10" name="Shape 6"/>
          <p:cNvSpPr/>
          <p:nvPr/>
        </p:nvSpPr>
        <p:spPr>
          <a:xfrm>
            <a:off x="4389120" y="1691640"/>
            <a:ext cx="3383280" cy="2331720"/>
          </a:xfrm>
          <a:prstGeom prst="roundRect">
            <a:avLst>
              <a:gd name="adj" fmla="val 4706"/>
            </a:avLst>
          </a:prstGeom>
          <a:solidFill>
            <a:srgbClr val="F5F6FB"/>
          </a:solidFill>
          <a:ln w="9525">
            <a:solidFill>
              <a:srgbClr val="E3E5EE"/>
            </a:solidFill>
            <a:prstDash val="solid"/>
          </a:ln>
        </p:spPr>
      </p:sp>
      <p:sp>
        <p:nvSpPr>
          <p:cNvPr id="11" name="Shape 7"/>
          <p:cNvSpPr/>
          <p:nvPr/>
        </p:nvSpPr>
        <p:spPr>
          <a:xfrm>
            <a:off x="4663440" y="1920240"/>
            <a:ext cx="640080" cy="640080"/>
          </a:xfrm>
          <a:prstGeom prst="ellipse">
            <a:avLst/>
          </a:prstGeom>
          <a:solidFill>
            <a:srgbClr val="E8EAF6"/>
          </a:solidFill>
          <a:ln w="12700">
            <a:solidFill>
              <a:srgbClr val="E8EAF6"/>
            </a:solidFill>
            <a:prstDash val="solid"/>
          </a:ln>
        </p:spPr>
      </p:sp>
      <p:pic>
        <p:nvPicPr>
          <p:cNvPr id="12" name="Image 2" descr="preencoded.png">    </p:cNvPr>
          <p:cNvPicPr>
            <a:picLocks noChangeAspect="1"/>
          </p:cNvPicPr>
          <p:nvPr/>
        </p:nvPicPr>
        <p:blipFill>
          <a:blip r:embed="rId3"/>
          <a:stretch>
            <a:fillRect/>
          </a:stretch>
        </p:blipFill>
        <p:spPr>
          <a:xfrm>
            <a:off x="4807458" y="2064258"/>
            <a:ext cx="352044" cy="352044"/>
          </a:xfrm>
          <a:prstGeom prst="rect">
            <a:avLst/>
          </a:prstGeom>
        </p:spPr>
      </p:pic>
      <p:sp>
        <p:nvSpPr>
          <p:cNvPr id="13" name="Text 8"/>
          <p:cNvSpPr txBox="1"/>
          <p:nvPr/>
        </p:nvSpPr>
        <p:spPr>
          <a:xfrm>
            <a:off x="5440680" y="1920240"/>
            <a:ext cx="2194560" cy="640080"/>
          </a:xfrm>
          <a:prstGeom prst="rect">
            <a:avLst/>
          </a:prstGeom>
          <a:noFill/>
          <a:ln/>
        </p:spPr>
        <p:txBody>
          <a:bodyPr wrap="square" lIns="0" tIns="0" rIns="0" bIns="0" rtlCol="0" anchor="ctr"/>
          <a:lstStyle/>
          <a:p>
            <a:pPr indent="0" marL="0">
              <a:buNone/>
            </a:pPr>
            <a:r>
              <a:rPr lang="en-US" sz="2000" b="1" dirty="0">
                <a:solidFill>
                  <a:srgbClr val="1B1C22"/>
                </a:solidFill>
                <a:latin typeface="Calibri" pitchFamily="34" charset="0"/>
                <a:ea typeface="Calibri" pitchFamily="34" charset="-122"/>
                <a:cs typeface="Calibri" pitchFamily="34" charset="-120"/>
              </a:rPr>
              <a:t>GitHub Pages</a:t>
            </a:r>
            <a:endParaRPr lang="en-US" sz="2000" dirty="0"/>
          </a:p>
        </p:txBody>
      </p:sp>
      <p:sp>
        <p:nvSpPr>
          <p:cNvPr id="14" name="Text 9"/>
          <p:cNvSpPr txBox="1"/>
          <p:nvPr/>
        </p:nvSpPr>
        <p:spPr>
          <a:xfrm>
            <a:off x="4663440" y="2743200"/>
            <a:ext cx="2834640" cy="1188720"/>
          </a:xfrm>
          <a:prstGeom prst="rect">
            <a:avLst/>
          </a:prstGeom>
          <a:noFill/>
          <a:ln/>
        </p:spPr>
        <p:txBody>
          <a:bodyPr wrap="square" lIns="0" tIns="0" rIns="0" bIns="0" rtlCol="0" anchor="t"/>
          <a:lstStyle/>
          <a:p>
            <a:pPr indent="0" marL="0">
              <a:buNone/>
            </a:pPr>
            <a:r>
              <a:rPr lang="en-US" sz="1350" dirty="0">
                <a:solidFill>
                  <a:srgbClr val="5B5E6B"/>
                </a:solidFill>
                <a:latin typeface="Calibri" pitchFamily="34" charset="0"/>
                <a:ea typeface="Calibri" pitchFamily="34" charset="-122"/>
                <a:cs typeface="Calibri" pitchFamily="34" charset="-120"/>
              </a:rPr>
              <a:t>La web del kit (/01-awp/) y la aplicación (/01-awp/app/). Código público, sin datos.</a:t>
            </a:r>
            <a:endParaRPr lang="en-US" sz="1350" dirty="0"/>
          </a:p>
        </p:txBody>
      </p:sp>
      <p:pic>
        <p:nvPicPr>
          <p:cNvPr id="15" name="Image 3" descr="preencoded.png">    </p:cNvPr>
          <p:cNvPicPr>
            <a:picLocks noChangeAspect="1"/>
          </p:cNvPicPr>
          <p:nvPr/>
        </p:nvPicPr>
        <p:blipFill>
          <a:blip r:embed="rId4"/>
          <a:stretch>
            <a:fillRect/>
          </a:stretch>
        </p:blipFill>
        <p:spPr>
          <a:xfrm>
            <a:off x="7836408" y="2606040"/>
            <a:ext cx="384048" cy="384048"/>
          </a:xfrm>
          <a:prstGeom prst="rect">
            <a:avLst/>
          </a:prstGeom>
        </p:spPr>
      </p:pic>
      <p:sp>
        <p:nvSpPr>
          <p:cNvPr id="16" name="Shape 10"/>
          <p:cNvSpPr/>
          <p:nvPr/>
        </p:nvSpPr>
        <p:spPr>
          <a:xfrm>
            <a:off x="8229600" y="1691640"/>
            <a:ext cx="3383280" cy="2331720"/>
          </a:xfrm>
          <a:prstGeom prst="roundRect">
            <a:avLst>
              <a:gd name="adj" fmla="val 4706"/>
            </a:avLst>
          </a:prstGeom>
          <a:solidFill>
            <a:srgbClr val="1A1F4B"/>
          </a:solidFill>
          <a:ln w="9525">
            <a:solidFill>
              <a:srgbClr val="1A1F4B"/>
            </a:solidFill>
            <a:prstDash val="solid"/>
          </a:ln>
        </p:spPr>
      </p:sp>
      <p:sp>
        <p:nvSpPr>
          <p:cNvPr id="17" name="Shape 11"/>
          <p:cNvSpPr/>
          <p:nvPr/>
        </p:nvSpPr>
        <p:spPr>
          <a:xfrm>
            <a:off x="8503920" y="1920240"/>
            <a:ext cx="640080" cy="640080"/>
          </a:xfrm>
          <a:prstGeom prst="ellipse">
            <a:avLst/>
          </a:prstGeom>
          <a:solidFill>
            <a:srgbClr val="FFC107"/>
          </a:solidFill>
          <a:ln w="12700">
            <a:solidFill>
              <a:srgbClr val="FFC107"/>
            </a:solidFill>
            <a:prstDash val="solid"/>
          </a:ln>
        </p:spPr>
      </p:sp>
      <p:pic>
        <p:nvPicPr>
          <p:cNvPr id="18" name="Image 4" descr="preencoded.png">    </p:cNvPr>
          <p:cNvPicPr>
            <a:picLocks noChangeAspect="1"/>
          </p:cNvPicPr>
          <p:nvPr/>
        </p:nvPicPr>
        <p:blipFill>
          <a:blip r:embed="rId5"/>
          <a:stretch>
            <a:fillRect/>
          </a:stretch>
        </p:blipFill>
        <p:spPr>
          <a:xfrm>
            <a:off x="8647938" y="2064258"/>
            <a:ext cx="352044" cy="352044"/>
          </a:xfrm>
          <a:prstGeom prst="rect">
            <a:avLst/>
          </a:prstGeom>
        </p:spPr>
      </p:pic>
      <p:sp>
        <p:nvSpPr>
          <p:cNvPr id="19" name="Text 12"/>
          <p:cNvSpPr txBox="1"/>
          <p:nvPr/>
        </p:nvSpPr>
        <p:spPr>
          <a:xfrm>
            <a:off x="9281160" y="1920240"/>
            <a:ext cx="2194560" cy="6400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Supabase</a:t>
            </a:r>
            <a:endParaRPr lang="en-US" sz="2000" dirty="0"/>
          </a:p>
        </p:txBody>
      </p:sp>
      <p:sp>
        <p:nvSpPr>
          <p:cNvPr id="20" name="Text 13"/>
          <p:cNvSpPr txBox="1"/>
          <p:nvPr/>
        </p:nvSpPr>
        <p:spPr>
          <a:xfrm>
            <a:off x="8503920" y="2743200"/>
            <a:ext cx="2834640" cy="1188720"/>
          </a:xfrm>
          <a:prstGeom prst="rect">
            <a:avLst/>
          </a:prstGeom>
          <a:noFill/>
          <a:ln/>
        </p:spPr>
        <p:txBody>
          <a:bodyPr wrap="square" lIns="0" tIns="0" rIns="0" bIns="0" rtlCol="0" anchor="t"/>
          <a:lstStyle/>
          <a:p>
            <a:pPr indent="0" marL="0">
              <a:buNone/>
            </a:pPr>
            <a:r>
              <a:rPr lang="en-US" sz="1350" dirty="0">
                <a:solidFill>
                  <a:srgbClr val="C5CAE9"/>
                </a:solidFill>
                <a:latin typeface="Calibri" pitchFamily="34" charset="0"/>
                <a:ea typeface="Calibri" pitchFamily="34" charset="-122"/>
                <a:cs typeface="Calibri" pitchFamily="34" charset="-120"/>
              </a:rPr>
              <a:t>PostgreSQL + inicio de sesión con correo y contraseña. 36 tablas con Row Level Security.</a:t>
            </a:r>
            <a:endParaRPr lang="en-US" sz="1350" dirty="0"/>
          </a:p>
        </p:txBody>
      </p:sp>
      <p:sp>
        <p:nvSpPr>
          <p:cNvPr id="21" name="Shape 14"/>
          <p:cNvSpPr/>
          <p:nvPr/>
        </p:nvSpPr>
        <p:spPr>
          <a:xfrm>
            <a:off x="548640" y="4434840"/>
            <a:ext cx="457200" cy="457200"/>
          </a:xfrm>
          <a:prstGeom prst="ellipse">
            <a:avLst/>
          </a:prstGeom>
          <a:solidFill>
            <a:srgbClr val="E8EAF6"/>
          </a:solidFill>
          <a:ln w="12700">
            <a:solidFill>
              <a:srgbClr val="E8EAF6"/>
            </a:solidFill>
            <a:prstDash val="solid"/>
          </a:ln>
        </p:spPr>
      </p:sp>
      <p:pic>
        <p:nvPicPr>
          <p:cNvPr id="22" name="Image 5" descr="preencoded.png">    </p:cNvPr>
          <p:cNvPicPr>
            <a:picLocks noChangeAspect="1"/>
          </p:cNvPicPr>
          <p:nvPr/>
        </p:nvPicPr>
        <p:blipFill>
          <a:blip r:embed="rId6"/>
          <a:stretch>
            <a:fillRect/>
          </a:stretch>
        </p:blipFill>
        <p:spPr>
          <a:xfrm>
            <a:off x="651510" y="4537710"/>
            <a:ext cx="251460" cy="251460"/>
          </a:xfrm>
          <a:prstGeom prst="rect">
            <a:avLst/>
          </a:prstGeom>
        </p:spPr>
      </p:pic>
      <p:sp>
        <p:nvSpPr>
          <p:cNvPr id="23" name="Text 15"/>
          <p:cNvSpPr txBox="1"/>
          <p:nvPr/>
        </p:nvSpPr>
        <p:spPr>
          <a:xfrm>
            <a:off x="1143000" y="4389120"/>
            <a:ext cx="3017520" cy="1737360"/>
          </a:xfrm>
          <a:prstGeom prst="rect">
            <a:avLst/>
          </a:prstGeom>
          <a:noFill/>
          <a:ln/>
        </p:spPr>
        <p:txBody>
          <a:bodyPr wrap="square" lIns="0" tIns="0" rIns="0" bIns="0" rtlCol="0" anchor="t"/>
          <a:lstStyle/>
          <a:p>
            <a:pPr indent="0" marL="0">
              <a:buNone/>
            </a:pPr>
            <a:r>
              <a:rPr lang="en-US" sz="1450" b="1" dirty="0">
                <a:solidFill>
                  <a:srgbClr val="1B1C22"/>
                </a:solidFill>
                <a:latin typeface="Calibri" pitchFamily="34" charset="0"/>
                <a:ea typeface="Calibri" pitchFamily="34" charset="-122"/>
                <a:cs typeface="Calibri" pitchFamily="34" charset="-120"/>
              </a:rPr>
              <a:t>Solo la clave pública</a:t>
            </a:r>
            <a:endParaRPr lang="en-US" sz="1450" dirty="0"/>
          </a:p>
          <a:p>
            <a:pPr indent="0" marL="0">
              <a:buNone/>
            </a:pPr>
            <a:r>
              <a:rPr lang="en-US" sz="1250" dirty="0">
                <a:solidFill>
                  <a:srgbClr val="5B5E6B"/>
                </a:solidFill>
                <a:latin typeface="Calibri" pitchFamily="34" charset="0"/>
                <a:ea typeface="Calibri" pitchFamily="34" charset="-122"/>
                <a:cs typeface="Calibri" pitchFamily="34" charset="-120"/>
              </a:rPr>
              <a:t>El navegador usa la clave «publishable» de Supabase. La clave secreta nunca se usa.</a:t>
            </a:r>
            <a:endParaRPr lang="en-US" sz="1450" dirty="0"/>
          </a:p>
        </p:txBody>
      </p:sp>
      <p:sp>
        <p:nvSpPr>
          <p:cNvPr id="24" name="Shape 16"/>
          <p:cNvSpPr/>
          <p:nvPr/>
        </p:nvSpPr>
        <p:spPr>
          <a:xfrm>
            <a:off x="4389120" y="4434840"/>
            <a:ext cx="457200" cy="457200"/>
          </a:xfrm>
          <a:prstGeom prst="ellipse">
            <a:avLst/>
          </a:prstGeom>
          <a:solidFill>
            <a:srgbClr val="E8EAF6"/>
          </a:solidFill>
          <a:ln w="12700">
            <a:solidFill>
              <a:srgbClr val="E8EAF6"/>
            </a:solidFill>
            <a:prstDash val="solid"/>
          </a:ln>
        </p:spPr>
      </p:sp>
      <p:pic>
        <p:nvPicPr>
          <p:cNvPr id="25" name="Image 6" descr="preencoded.png">    </p:cNvPr>
          <p:cNvPicPr>
            <a:picLocks noChangeAspect="1"/>
          </p:cNvPicPr>
          <p:nvPr/>
        </p:nvPicPr>
        <p:blipFill>
          <a:blip r:embed="rId7"/>
          <a:stretch>
            <a:fillRect/>
          </a:stretch>
        </p:blipFill>
        <p:spPr>
          <a:xfrm>
            <a:off x="4491990" y="4537710"/>
            <a:ext cx="251460" cy="251460"/>
          </a:xfrm>
          <a:prstGeom prst="rect">
            <a:avLst/>
          </a:prstGeom>
        </p:spPr>
      </p:pic>
      <p:sp>
        <p:nvSpPr>
          <p:cNvPr id="26" name="Text 17"/>
          <p:cNvSpPr txBox="1"/>
          <p:nvPr/>
        </p:nvSpPr>
        <p:spPr>
          <a:xfrm>
            <a:off x="4983480" y="4389120"/>
            <a:ext cx="3017520" cy="1737360"/>
          </a:xfrm>
          <a:prstGeom prst="rect">
            <a:avLst/>
          </a:prstGeom>
          <a:noFill/>
          <a:ln/>
        </p:spPr>
        <p:txBody>
          <a:bodyPr wrap="square" lIns="0" tIns="0" rIns="0" bIns="0" rtlCol="0" anchor="t"/>
          <a:lstStyle/>
          <a:p>
            <a:pPr indent="0" marL="0">
              <a:buNone/>
            </a:pPr>
            <a:r>
              <a:rPr lang="en-US" sz="1450" b="1" dirty="0">
                <a:solidFill>
                  <a:srgbClr val="1B1C22"/>
                </a:solidFill>
                <a:latin typeface="Calibri" pitchFamily="34" charset="0"/>
                <a:ea typeface="Calibri" pitchFamily="34" charset="-122"/>
                <a:cs typeface="Calibri" pitchFamily="34" charset="-120"/>
              </a:rPr>
              <a:t>Seguridad en la base de datos</a:t>
            </a:r>
            <a:endParaRPr lang="en-US" sz="1450" dirty="0"/>
          </a:p>
          <a:p>
            <a:pPr indent="0" marL="0">
              <a:buNone/>
            </a:pPr>
            <a:r>
              <a:rPr lang="en-US" sz="1250" dirty="0">
                <a:solidFill>
                  <a:srgbClr val="5B5E6B"/>
                </a:solidFill>
                <a:latin typeface="Calibri" pitchFamily="34" charset="0"/>
                <a:ea typeface="Calibri" pitchFamily="34" charset="-122"/>
                <a:cs typeface="Calibri" pitchFamily="34" charset="-120"/>
              </a:rPr>
              <a:t>Row Level Security: sin sesión no se ve nada; con sesión, solo tus proyectos.</a:t>
            </a:r>
            <a:endParaRPr lang="en-US" sz="1450" dirty="0"/>
          </a:p>
        </p:txBody>
      </p:sp>
      <p:sp>
        <p:nvSpPr>
          <p:cNvPr id="27" name="Shape 18"/>
          <p:cNvSpPr/>
          <p:nvPr/>
        </p:nvSpPr>
        <p:spPr>
          <a:xfrm>
            <a:off x="8229600" y="4434840"/>
            <a:ext cx="457200" cy="457200"/>
          </a:xfrm>
          <a:prstGeom prst="ellipse">
            <a:avLst/>
          </a:prstGeom>
          <a:solidFill>
            <a:srgbClr val="E8EAF6"/>
          </a:solidFill>
          <a:ln w="12700">
            <a:solidFill>
              <a:srgbClr val="E8EAF6"/>
            </a:solidFill>
            <a:prstDash val="solid"/>
          </a:ln>
        </p:spPr>
      </p:sp>
      <p:pic>
        <p:nvPicPr>
          <p:cNvPr id="28" name="Image 7" descr="preencoded.png">    </p:cNvPr>
          <p:cNvPicPr>
            <a:picLocks noChangeAspect="1"/>
          </p:cNvPicPr>
          <p:nvPr/>
        </p:nvPicPr>
        <p:blipFill>
          <a:blip r:embed="rId8"/>
          <a:stretch>
            <a:fillRect/>
          </a:stretch>
        </p:blipFill>
        <p:spPr>
          <a:xfrm>
            <a:off x="8332470" y="4537710"/>
            <a:ext cx="251460" cy="251460"/>
          </a:xfrm>
          <a:prstGeom prst="rect">
            <a:avLst/>
          </a:prstGeom>
        </p:spPr>
      </p:pic>
      <p:sp>
        <p:nvSpPr>
          <p:cNvPr id="29" name="Text 19"/>
          <p:cNvSpPr txBox="1"/>
          <p:nvPr/>
        </p:nvSpPr>
        <p:spPr>
          <a:xfrm>
            <a:off x="8823960" y="4389120"/>
            <a:ext cx="3017520" cy="1737360"/>
          </a:xfrm>
          <a:prstGeom prst="rect">
            <a:avLst/>
          </a:prstGeom>
          <a:noFill/>
          <a:ln/>
        </p:spPr>
        <p:txBody>
          <a:bodyPr wrap="square" lIns="0" tIns="0" rIns="0" bIns="0" rtlCol="0" anchor="t"/>
          <a:lstStyle/>
          <a:p>
            <a:pPr indent="0" marL="0">
              <a:buNone/>
            </a:pPr>
            <a:r>
              <a:rPr lang="en-US" sz="1450" b="1" dirty="0">
                <a:solidFill>
                  <a:srgbClr val="1B1C22"/>
                </a:solidFill>
                <a:latin typeface="Calibri" pitchFamily="34" charset="0"/>
                <a:ea typeface="Calibri" pitchFamily="34" charset="-122"/>
                <a:cs typeface="Calibri" pitchFamily="34" charset="-120"/>
              </a:rPr>
              <a:t>Plantillas sin duplicar</a:t>
            </a:r>
            <a:endParaRPr lang="en-US" sz="1450" dirty="0"/>
          </a:p>
          <a:p>
            <a:pPr indent="0" marL="0">
              <a:buNone/>
            </a:pPr>
            <a:r>
              <a:rPr lang="en-US" sz="1250" dirty="0">
                <a:solidFill>
                  <a:srgbClr val="5B5E6B"/>
                </a:solidFill>
                <a:latin typeface="Calibri" pitchFamily="34" charset="0"/>
                <a:ea typeface="Calibri" pitchFamily="34" charset="-122"/>
                <a:cs typeface="Calibri" pitchFamily="34" charset="-120"/>
              </a:rPr>
              <a:t>Las descargas salen de la web del kit: siempre la última versión.</a:t>
            </a:r>
            <a:endParaRPr lang="en-US" sz="1450" dirty="0"/>
          </a:p>
        </p:txBody>
      </p:sp>
      <p:sp>
        <p:nvSpPr>
          <p:cNvPr id="30" name="Text 20"/>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Qué es la aplicación</a:t>
            </a:r>
            <a:endParaRPr lang="en-US" sz="1000" dirty="0"/>
          </a:p>
        </p:txBody>
      </p:sp>
      <p:sp>
        <p:nvSpPr>
          <p:cNvPr id="31" name="Text 21"/>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Qué necesitas para usarla</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Pensada para equipos que no pueden instalar software</a:t>
            </a:r>
            <a:endParaRPr lang="en-US" sz="1500" dirty="0"/>
          </a:p>
        </p:txBody>
      </p:sp>
      <p:sp>
        <p:nvSpPr>
          <p:cNvPr id="4" name="Shape 2"/>
          <p:cNvSpPr/>
          <p:nvPr/>
        </p:nvSpPr>
        <p:spPr>
          <a:xfrm>
            <a:off x="548640" y="1600200"/>
            <a:ext cx="2567864" cy="4572000"/>
          </a:xfrm>
          <a:prstGeom prst="roundRect">
            <a:avLst>
              <a:gd name="adj" fmla="val 3561"/>
            </a:avLst>
          </a:prstGeom>
          <a:solidFill>
            <a:srgbClr val="F5F6FB"/>
          </a:solidFill>
          <a:ln w="9525">
            <a:solidFill>
              <a:srgbClr val="E3E5EE"/>
            </a:solidFill>
            <a:prstDash val="solid"/>
          </a:ln>
        </p:spPr>
      </p:sp>
      <p:sp>
        <p:nvSpPr>
          <p:cNvPr id="5" name="Text 3"/>
          <p:cNvSpPr txBox="1"/>
          <p:nvPr/>
        </p:nvSpPr>
        <p:spPr>
          <a:xfrm>
            <a:off x="777240" y="1920240"/>
            <a:ext cx="2110664" cy="1097280"/>
          </a:xfrm>
          <a:prstGeom prst="rect">
            <a:avLst/>
          </a:prstGeom>
          <a:noFill/>
          <a:ln/>
        </p:spPr>
        <p:txBody>
          <a:bodyPr wrap="square" lIns="0" tIns="0" rIns="0" bIns="0" rtlCol="0" anchor="ctr"/>
          <a:lstStyle/>
          <a:p>
            <a:pPr indent="0" marL="0">
              <a:buNone/>
            </a:pPr>
            <a:r>
              <a:rPr lang="en-US" sz="5800" b="1" dirty="0">
                <a:solidFill>
                  <a:srgbClr val="3F51B5"/>
                </a:solidFill>
                <a:latin typeface="Calibri" pitchFamily="34" charset="0"/>
                <a:ea typeface="Calibri" pitchFamily="34" charset="-122"/>
                <a:cs typeface="Calibri" pitchFamily="34" charset="-120"/>
              </a:rPr>
              <a:t>0</a:t>
            </a:r>
            <a:endParaRPr lang="en-US" sz="5800" dirty="0"/>
          </a:p>
        </p:txBody>
      </p:sp>
      <p:sp>
        <p:nvSpPr>
          <p:cNvPr id="6" name="Text 4"/>
          <p:cNvSpPr txBox="1"/>
          <p:nvPr/>
        </p:nvSpPr>
        <p:spPr>
          <a:xfrm>
            <a:off x="777240" y="3108960"/>
            <a:ext cx="2110664" cy="685800"/>
          </a:xfrm>
          <a:prstGeom prst="rect">
            <a:avLst/>
          </a:prstGeom>
          <a:noFill/>
          <a:ln/>
        </p:spPr>
        <p:txBody>
          <a:bodyPr wrap="square" lIns="0" tIns="0" rIns="0" bIns="0" rtlCol="0" anchor="t">
            <a:normAutofit/>
          </a:bodyPr>
          <a:lstStyle/>
          <a:p>
            <a:pPr indent="0" marL="0">
              <a:buNone/>
            </a:pPr>
            <a:r>
              <a:rPr lang="en-US" sz="1600" b="1" dirty="0">
                <a:solidFill>
                  <a:srgbClr val="1B1C22"/>
                </a:solidFill>
                <a:latin typeface="Calibri" pitchFamily="34" charset="0"/>
                <a:ea typeface="Calibri" pitchFamily="34" charset="-122"/>
                <a:cs typeface="Calibri" pitchFamily="34" charset="-120"/>
              </a:rPr>
              <a:t>programas que instalar</a:t>
            </a:r>
            <a:endParaRPr lang="en-US" sz="1600" dirty="0"/>
          </a:p>
        </p:txBody>
      </p:sp>
      <p:sp>
        <p:nvSpPr>
          <p:cNvPr id="7" name="Text 5"/>
          <p:cNvSpPr txBox="1"/>
          <p:nvPr/>
        </p:nvSpPr>
        <p:spPr>
          <a:xfrm>
            <a:off x="777240" y="3840480"/>
            <a:ext cx="2110664" cy="21945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Funciona en Chrome, Edge, Firefox o Safari, en computadora o celular.</a:t>
            </a:r>
            <a:endParaRPr lang="en-US" sz="1500" dirty="0"/>
          </a:p>
        </p:txBody>
      </p:sp>
      <p:sp>
        <p:nvSpPr>
          <p:cNvPr id="8" name="Shape 6"/>
          <p:cNvSpPr/>
          <p:nvPr/>
        </p:nvSpPr>
        <p:spPr>
          <a:xfrm>
            <a:off x="3390824" y="1600200"/>
            <a:ext cx="2567864" cy="4572000"/>
          </a:xfrm>
          <a:prstGeom prst="roundRect">
            <a:avLst>
              <a:gd name="adj" fmla="val 3561"/>
            </a:avLst>
          </a:prstGeom>
          <a:solidFill>
            <a:srgbClr val="F5F6FB"/>
          </a:solidFill>
          <a:ln w="9525">
            <a:solidFill>
              <a:srgbClr val="E3E5EE"/>
            </a:solidFill>
            <a:prstDash val="solid"/>
          </a:ln>
        </p:spPr>
      </p:sp>
      <p:sp>
        <p:nvSpPr>
          <p:cNvPr id="9" name="Text 7"/>
          <p:cNvSpPr txBox="1"/>
          <p:nvPr/>
        </p:nvSpPr>
        <p:spPr>
          <a:xfrm>
            <a:off x="3619424" y="1920240"/>
            <a:ext cx="2110664" cy="1097280"/>
          </a:xfrm>
          <a:prstGeom prst="rect">
            <a:avLst/>
          </a:prstGeom>
          <a:noFill/>
          <a:ln/>
        </p:spPr>
        <p:txBody>
          <a:bodyPr wrap="square" lIns="0" tIns="0" rIns="0" bIns="0" rtlCol="0" anchor="ctr"/>
          <a:lstStyle/>
          <a:p>
            <a:pPr indent="0" marL="0">
              <a:buNone/>
            </a:pPr>
            <a:r>
              <a:rPr lang="en-US" sz="5800" b="1" dirty="0">
                <a:solidFill>
                  <a:srgbClr val="3F51B5"/>
                </a:solidFill>
                <a:latin typeface="Calibri" pitchFamily="34" charset="0"/>
                <a:ea typeface="Calibri" pitchFamily="34" charset="-122"/>
                <a:cs typeface="Calibri" pitchFamily="34" charset="-120"/>
              </a:rPr>
              <a:t>1</a:t>
            </a:r>
            <a:endParaRPr lang="en-US" sz="5800" dirty="0"/>
          </a:p>
        </p:txBody>
      </p:sp>
      <p:sp>
        <p:nvSpPr>
          <p:cNvPr id="10" name="Text 8"/>
          <p:cNvSpPr txBox="1"/>
          <p:nvPr/>
        </p:nvSpPr>
        <p:spPr>
          <a:xfrm>
            <a:off x="3619424" y="3108960"/>
            <a:ext cx="2110664" cy="685800"/>
          </a:xfrm>
          <a:prstGeom prst="rect">
            <a:avLst/>
          </a:prstGeom>
          <a:noFill/>
          <a:ln/>
        </p:spPr>
        <p:txBody>
          <a:bodyPr wrap="square" lIns="0" tIns="0" rIns="0" bIns="0" rtlCol="0" anchor="t">
            <a:normAutofit/>
          </a:bodyPr>
          <a:lstStyle/>
          <a:p>
            <a:pPr indent="0" marL="0">
              <a:buNone/>
            </a:pPr>
            <a:r>
              <a:rPr lang="en-US" sz="1600" b="1" dirty="0">
                <a:solidFill>
                  <a:srgbClr val="1B1C22"/>
                </a:solidFill>
                <a:latin typeface="Calibri" pitchFamily="34" charset="0"/>
                <a:ea typeface="Calibri" pitchFamily="34" charset="-122"/>
                <a:cs typeface="Calibri" pitchFamily="34" charset="-120"/>
              </a:rPr>
              <a:t>usuario con correo y contraseña</a:t>
            </a:r>
            <a:endParaRPr lang="en-US" sz="1600" dirty="0"/>
          </a:p>
        </p:txBody>
      </p:sp>
      <p:sp>
        <p:nvSpPr>
          <p:cNvPr id="11" name="Text 9"/>
          <p:cNvSpPr txBox="1"/>
          <p:nvPr/>
        </p:nvSpPr>
        <p:spPr>
          <a:xfrm>
            <a:off x="3619424" y="3840480"/>
            <a:ext cx="2110664" cy="21945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Lo crea el administrador en Supabase. El registro abierto está desactivado.</a:t>
            </a:r>
            <a:endParaRPr lang="en-US" sz="1500" dirty="0"/>
          </a:p>
        </p:txBody>
      </p:sp>
      <p:sp>
        <p:nvSpPr>
          <p:cNvPr id="12" name="Shape 10"/>
          <p:cNvSpPr/>
          <p:nvPr/>
        </p:nvSpPr>
        <p:spPr>
          <a:xfrm>
            <a:off x="6233008" y="1600200"/>
            <a:ext cx="2567864" cy="4572000"/>
          </a:xfrm>
          <a:prstGeom prst="roundRect">
            <a:avLst>
              <a:gd name="adj" fmla="val 3561"/>
            </a:avLst>
          </a:prstGeom>
          <a:solidFill>
            <a:srgbClr val="F5F6FB"/>
          </a:solidFill>
          <a:ln w="9525">
            <a:solidFill>
              <a:srgbClr val="E3E5EE"/>
            </a:solidFill>
            <a:prstDash val="solid"/>
          </a:ln>
        </p:spPr>
      </p:sp>
      <p:sp>
        <p:nvSpPr>
          <p:cNvPr id="13" name="Text 11"/>
          <p:cNvSpPr txBox="1"/>
          <p:nvPr/>
        </p:nvSpPr>
        <p:spPr>
          <a:xfrm>
            <a:off x="6461608" y="1920240"/>
            <a:ext cx="2110664" cy="1097280"/>
          </a:xfrm>
          <a:prstGeom prst="rect">
            <a:avLst/>
          </a:prstGeom>
          <a:noFill/>
          <a:ln/>
        </p:spPr>
        <p:txBody>
          <a:bodyPr wrap="square" lIns="0" tIns="0" rIns="0" bIns="0" rtlCol="0" anchor="ctr"/>
          <a:lstStyle/>
          <a:p>
            <a:pPr indent="0" marL="0">
              <a:buNone/>
            </a:pPr>
            <a:r>
              <a:rPr lang="en-US" sz="5800" b="1" dirty="0">
                <a:solidFill>
                  <a:srgbClr val="3F51B5"/>
                </a:solidFill>
                <a:latin typeface="Calibri" pitchFamily="34" charset="0"/>
                <a:ea typeface="Calibri" pitchFamily="34" charset="-122"/>
                <a:cs typeface="Calibri" pitchFamily="34" charset="-120"/>
              </a:rPr>
              <a:t>36</a:t>
            </a:r>
            <a:endParaRPr lang="en-US" sz="5800" dirty="0"/>
          </a:p>
        </p:txBody>
      </p:sp>
      <p:sp>
        <p:nvSpPr>
          <p:cNvPr id="14" name="Text 12"/>
          <p:cNvSpPr txBox="1"/>
          <p:nvPr/>
        </p:nvSpPr>
        <p:spPr>
          <a:xfrm>
            <a:off x="6461608" y="3108960"/>
            <a:ext cx="2110664" cy="685800"/>
          </a:xfrm>
          <a:prstGeom prst="rect">
            <a:avLst/>
          </a:prstGeom>
          <a:noFill/>
          <a:ln/>
        </p:spPr>
        <p:txBody>
          <a:bodyPr wrap="square" lIns="0" tIns="0" rIns="0" bIns="0" rtlCol="0" anchor="t">
            <a:normAutofit/>
          </a:bodyPr>
          <a:lstStyle/>
          <a:p>
            <a:pPr indent="0" marL="0">
              <a:buNone/>
            </a:pPr>
            <a:r>
              <a:rPr lang="en-US" sz="1600" b="1" dirty="0">
                <a:solidFill>
                  <a:srgbClr val="1B1C22"/>
                </a:solidFill>
                <a:latin typeface="Calibri" pitchFamily="34" charset="0"/>
                <a:ea typeface="Calibri" pitchFamily="34" charset="-122"/>
                <a:cs typeface="Calibri" pitchFamily="34" charset="-120"/>
              </a:rPr>
              <a:t>tablas protegidas con RLS</a:t>
            </a:r>
            <a:endParaRPr lang="en-US" sz="1600" dirty="0"/>
          </a:p>
        </p:txBody>
      </p:sp>
      <p:sp>
        <p:nvSpPr>
          <p:cNvPr id="15" name="Text 13"/>
          <p:cNvSpPr txBox="1"/>
          <p:nvPr/>
        </p:nvSpPr>
        <p:spPr>
          <a:xfrm>
            <a:off x="6461608" y="3840480"/>
            <a:ext cx="2110664" cy="21945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Ningún dato de proyecto se guarda en el repositorio, que es público.</a:t>
            </a:r>
            <a:endParaRPr lang="en-US" sz="1500" dirty="0"/>
          </a:p>
        </p:txBody>
      </p:sp>
      <p:sp>
        <p:nvSpPr>
          <p:cNvPr id="16" name="Shape 14"/>
          <p:cNvSpPr/>
          <p:nvPr/>
        </p:nvSpPr>
        <p:spPr>
          <a:xfrm>
            <a:off x="9075191" y="1600200"/>
            <a:ext cx="2567864" cy="4572000"/>
          </a:xfrm>
          <a:prstGeom prst="roundRect">
            <a:avLst>
              <a:gd name="adj" fmla="val 3561"/>
            </a:avLst>
          </a:prstGeom>
          <a:solidFill>
            <a:srgbClr val="F5F6FB"/>
          </a:solidFill>
          <a:ln w="9525">
            <a:solidFill>
              <a:srgbClr val="E3E5EE"/>
            </a:solidFill>
            <a:prstDash val="solid"/>
          </a:ln>
        </p:spPr>
      </p:sp>
      <p:sp>
        <p:nvSpPr>
          <p:cNvPr id="17" name="Text 15"/>
          <p:cNvSpPr txBox="1"/>
          <p:nvPr/>
        </p:nvSpPr>
        <p:spPr>
          <a:xfrm>
            <a:off x="9303791" y="1920240"/>
            <a:ext cx="2110664" cy="1097280"/>
          </a:xfrm>
          <a:prstGeom prst="rect">
            <a:avLst/>
          </a:prstGeom>
          <a:noFill/>
          <a:ln/>
        </p:spPr>
        <p:txBody>
          <a:bodyPr wrap="square" lIns="0" tIns="0" rIns="0" bIns="0" rtlCol="0" anchor="ctr"/>
          <a:lstStyle/>
          <a:p>
            <a:pPr indent="0" marL="0">
              <a:buNone/>
            </a:pPr>
            <a:r>
              <a:rPr lang="en-US" sz="4600" b="1" dirty="0">
                <a:solidFill>
                  <a:srgbClr val="3F51B5"/>
                </a:solidFill>
                <a:latin typeface="Calibri" pitchFamily="34" charset="0"/>
                <a:ea typeface="Calibri" pitchFamily="34" charset="-122"/>
                <a:cs typeface="Calibri" pitchFamily="34" charset="-120"/>
              </a:rPr>
              <a:t>24/7</a:t>
            </a:r>
            <a:endParaRPr lang="en-US" sz="4600" dirty="0"/>
          </a:p>
        </p:txBody>
      </p:sp>
      <p:sp>
        <p:nvSpPr>
          <p:cNvPr id="18" name="Text 16"/>
          <p:cNvSpPr txBox="1"/>
          <p:nvPr/>
        </p:nvSpPr>
        <p:spPr>
          <a:xfrm>
            <a:off x="9303791" y="3108960"/>
            <a:ext cx="2110664" cy="685800"/>
          </a:xfrm>
          <a:prstGeom prst="rect">
            <a:avLst/>
          </a:prstGeom>
          <a:noFill/>
          <a:ln/>
        </p:spPr>
        <p:txBody>
          <a:bodyPr wrap="square" lIns="0" tIns="0" rIns="0" bIns="0" rtlCol="0" anchor="t">
            <a:normAutofit/>
          </a:bodyPr>
          <a:lstStyle/>
          <a:p>
            <a:pPr indent="0" marL="0">
              <a:buNone/>
            </a:pPr>
            <a:r>
              <a:rPr lang="en-US" sz="1600" b="1" dirty="0">
                <a:solidFill>
                  <a:srgbClr val="1B1C22"/>
                </a:solidFill>
                <a:latin typeface="Calibri" pitchFamily="34" charset="0"/>
                <a:ea typeface="Calibri" pitchFamily="34" charset="-122"/>
                <a:cs typeface="Calibri" pitchFamily="34" charset="-120"/>
              </a:rPr>
              <a:t>acceso desde cualquier lugar</a:t>
            </a:r>
            <a:endParaRPr lang="en-US" sz="1600" dirty="0"/>
          </a:p>
        </p:txBody>
      </p:sp>
      <p:sp>
        <p:nvSpPr>
          <p:cNvPr id="19" name="Text 17"/>
          <p:cNvSpPr txBox="1"/>
          <p:nvPr/>
        </p:nvSpPr>
        <p:spPr>
          <a:xfrm>
            <a:off x="9303791" y="3840480"/>
            <a:ext cx="2110664" cy="21945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Oficina, casa u obra. Puede instalarse como app desde el navegador del celular.</a:t>
            </a:r>
            <a:endParaRPr lang="en-US" sz="1500" dirty="0"/>
          </a:p>
        </p:txBody>
      </p:sp>
      <p:sp>
        <p:nvSpPr>
          <p:cNvPr id="20" name="Text 18"/>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Qué es la aplicación</a:t>
            </a:r>
            <a:endParaRPr lang="en-US" sz="1000" dirty="0"/>
          </a:p>
        </p:txBody>
      </p:sp>
      <p:sp>
        <p:nvSpPr>
          <p:cNvPr id="21" name="Text 19"/>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Mapa de la aplicación</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Módulos del proyecto y la etapa de construcción en que se habilitan</a:t>
            </a:r>
            <a:endParaRPr lang="en-US" sz="1500" dirty="0"/>
          </a:p>
        </p:txBody>
      </p:sp>
      <p:sp>
        <p:nvSpPr>
          <p:cNvPr id="4" name="Shape 2"/>
          <p:cNvSpPr/>
          <p:nvPr/>
        </p:nvSpPr>
        <p:spPr>
          <a:xfrm>
            <a:off x="548640" y="1481328"/>
            <a:ext cx="2602154" cy="768096"/>
          </a:xfrm>
          <a:prstGeom prst="roundRect">
            <a:avLst>
              <a:gd name="adj" fmla="val 11905"/>
            </a:avLst>
          </a:prstGeom>
          <a:solidFill>
            <a:srgbClr val="E7F6E7"/>
          </a:solidFill>
          <a:ln w="9525">
            <a:solidFill>
              <a:srgbClr val="9ED69E"/>
            </a:solidFill>
            <a:prstDash val="solid"/>
          </a:ln>
        </p:spPr>
      </p:sp>
      <p:sp>
        <p:nvSpPr>
          <p:cNvPr id="5" name="Shape 3"/>
          <p:cNvSpPr/>
          <p:nvPr/>
        </p:nvSpPr>
        <p:spPr>
          <a:xfrm>
            <a:off x="713232" y="1609344"/>
            <a:ext cx="512064" cy="512064"/>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28446" y="1724558"/>
            <a:ext cx="281635" cy="281635"/>
          </a:xfrm>
          <a:prstGeom prst="rect">
            <a:avLst/>
          </a:prstGeom>
        </p:spPr>
      </p:pic>
      <p:sp>
        <p:nvSpPr>
          <p:cNvPr id="7" name="Text 4"/>
          <p:cNvSpPr txBox="1"/>
          <p:nvPr/>
        </p:nvSpPr>
        <p:spPr>
          <a:xfrm>
            <a:off x="1371600" y="1554480"/>
            <a:ext cx="1687754" cy="384048"/>
          </a:xfrm>
          <a:prstGeom prst="rect">
            <a:avLst/>
          </a:prstGeom>
          <a:noFill/>
          <a:ln/>
        </p:spPr>
        <p:txBody>
          <a:bodyPr wrap="square" lIns="0" tIns="0" rIns="0" bIns="0" rtlCol="0" anchor="ctr">
            <a:normAutofit/>
          </a:bodyPr>
          <a:lstStyle/>
          <a:p>
            <a:pPr indent="0" marL="0">
              <a:buNone/>
            </a:pPr>
            <a:r>
              <a:rPr lang="en-US" sz="1500" b="1" dirty="0">
                <a:solidFill>
                  <a:srgbClr val="1B1C22"/>
                </a:solidFill>
                <a:latin typeface="Calibri" pitchFamily="34" charset="0"/>
                <a:ea typeface="Calibri" pitchFamily="34" charset="-122"/>
                <a:cs typeface="Calibri" pitchFamily="34" charset="-120"/>
              </a:rPr>
              <a:t>Portafolio</a:t>
            </a:r>
            <a:endParaRPr lang="en-US" sz="1500" dirty="0"/>
          </a:p>
        </p:txBody>
      </p:sp>
      <p:sp>
        <p:nvSpPr>
          <p:cNvPr id="8" name="Text 5"/>
          <p:cNvSpPr txBox="1"/>
          <p:nvPr/>
        </p:nvSpPr>
        <p:spPr>
          <a:xfrm>
            <a:off x="1371600" y="1920240"/>
            <a:ext cx="1687754" cy="274320"/>
          </a:xfrm>
          <a:prstGeom prst="rect">
            <a:avLst/>
          </a:prstGeom>
          <a:noFill/>
          <a:ln/>
        </p:spPr>
        <p:txBody>
          <a:bodyPr wrap="square" lIns="0" tIns="0" rIns="0" bIns="0" rtlCol="0" anchor="t"/>
          <a:lstStyle/>
          <a:p>
            <a:pPr indent="0" marL="0">
              <a:buNone/>
            </a:pPr>
            <a:r>
              <a:rPr lang="en-US" sz="1200" b="1" dirty="0">
                <a:solidFill>
                  <a:srgbClr val="0A7A0A"/>
                </a:solidFill>
                <a:latin typeface="Calibri" pitchFamily="34" charset="0"/>
                <a:ea typeface="Calibri" pitchFamily="34" charset="-122"/>
                <a:cs typeface="Calibri" pitchFamily="34" charset="-120"/>
              </a:rPr>
              <a:t>✓ Disponible hoy</a:t>
            </a:r>
            <a:endParaRPr lang="en-US" sz="1200" dirty="0"/>
          </a:p>
        </p:txBody>
      </p:sp>
      <p:sp>
        <p:nvSpPr>
          <p:cNvPr id="9" name="Shape 6"/>
          <p:cNvSpPr/>
          <p:nvPr/>
        </p:nvSpPr>
        <p:spPr>
          <a:xfrm>
            <a:off x="3379394" y="1481328"/>
            <a:ext cx="2602154" cy="768096"/>
          </a:xfrm>
          <a:prstGeom prst="roundRect">
            <a:avLst>
              <a:gd name="adj" fmla="val 11905"/>
            </a:avLst>
          </a:prstGeom>
          <a:solidFill>
            <a:srgbClr val="E7F6E7"/>
          </a:solidFill>
          <a:ln w="9525">
            <a:solidFill>
              <a:srgbClr val="9ED69E"/>
            </a:solidFill>
            <a:prstDash val="solid"/>
          </a:ln>
        </p:spPr>
      </p:sp>
      <p:sp>
        <p:nvSpPr>
          <p:cNvPr id="10" name="Shape 7"/>
          <p:cNvSpPr/>
          <p:nvPr/>
        </p:nvSpPr>
        <p:spPr>
          <a:xfrm>
            <a:off x="3543986" y="1609344"/>
            <a:ext cx="512064" cy="512064"/>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3659200" y="1724558"/>
            <a:ext cx="281635" cy="281635"/>
          </a:xfrm>
          <a:prstGeom prst="rect">
            <a:avLst/>
          </a:prstGeom>
        </p:spPr>
      </p:pic>
      <p:sp>
        <p:nvSpPr>
          <p:cNvPr id="12" name="Text 8"/>
          <p:cNvSpPr txBox="1"/>
          <p:nvPr/>
        </p:nvSpPr>
        <p:spPr>
          <a:xfrm>
            <a:off x="4202354" y="1554480"/>
            <a:ext cx="1687754" cy="384048"/>
          </a:xfrm>
          <a:prstGeom prst="rect">
            <a:avLst/>
          </a:prstGeom>
          <a:noFill/>
          <a:ln/>
        </p:spPr>
        <p:txBody>
          <a:bodyPr wrap="square" lIns="0" tIns="0" rIns="0" bIns="0" rtlCol="0" anchor="ctr">
            <a:normAutofit/>
          </a:bodyPr>
          <a:lstStyle/>
          <a:p>
            <a:pPr indent="0" marL="0">
              <a:buNone/>
            </a:pPr>
            <a:r>
              <a:rPr lang="en-US" sz="1500" b="1" dirty="0">
                <a:solidFill>
                  <a:srgbClr val="1B1C22"/>
                </a:solidFill>
                <a:latin typeface="Calibri" pitchFamily="34" charset="0"/>
                <a:ea typeface="Calibri" pitchFamily="34" charset="-122"/>
                <a:cs typeface="Calibri" pitchFamily="34" charset="-120"/>
              </a:rPr>
              <a:t>Asistente</a:t>
            </a:r>
            <a:endParaRPr lang="en-US" sz="1500" dirty="0"/>
          </a:p>
        </p:txBody>
      </p:sp>
      <p:sp>
        <p:nvSpPr>
          <p:cNvPr id="13" name="Text 9"/>
          <p:cNvSpPr txBox="1"/>
          <p:nvPr/>
        </p:nvSpPr>
        <p:spPr>
          <a:xfrm>
            <a:off x="4202354" y="1920240"/>
            <a:ext cx="1687754" cy="274320"/>
          </a:xfrm>
          <a:prstGeom prst="rect">
            <a:avLst/>
          </a:prstGeom>
          <a:noFill/>
          <a:ln/>
        </p:spPr>
        <p:txBody>
          <a:bodyPr wrap="square" lIns="0" tIns="0" rIns="0" bIns="0" rtlCol="0" anchor="t"/>
          <a:lstStyle/>
          <a:p>
            <a:pPr indent="0" marL="0">
              <a:buNone/>
            </a:pPr>
            <a:r>
              <a:rPr lang="en-US" sz="1200" b="1" dirty="0">
                <a:solidFill>
                  <a:srgbClr val="0A7A0A"/>
                </a:solidFill>
                <a:latin typeface="Calibri" pitchFamily="34" charset="0"/>
                <a:ea typeface="Calibri" pitchFamily="34" charset="-122"/>
                <a:cs typeface="Calibri" pitchFamily="34" charset="-120"/>
              </a:rPr>
              <a:t>✓ Disponible hoy</a:t>
            </a:r>
            <a:endParaRPr lang="en-US" sz="1200" dirty="0"/>
          </a:p>
        </p:txBody>
      </p:sp>
      <p:sp>
        <p:nvSpPr>
          <p:cNvPr id="14" name="Shape 10"/>
          <p:cNvSpPr/>
          <p:nvPr/>
        </p:nvSpPr>
        <p:spPr>
          <a:xfrm>
            <a:off x="6210148" y="1481328"/>
            <a:ext cx="2602154" cy="768096"/>
          </a:xfrm>
          <a:prstGeom prst="roundRect">
            <a:avLst>
              <a:gd name="adj" fmla="val 11905"/>
            </a:avLst>
          </a:prstGeom>
          <a:solidFill>
            <a:srgbClr val="E7F6E7"/>
          </a:solidFill>
          <a:ln w="9525">
            <a:solidFill>
              <a:srgbClr val="9ED69E"/>
            </a:solidFill>
            <a:prstDash val="solid"/>
          </a:ln>
        </p:spPr>
      </p:sp>
      <p:sp>
        <p:nvSpPr>
          <p:cNvPr id="15" name="Shape 11"/>
          <p:cNvSpPr/>
          <p:nvPr/>
        </p:nvSpPr>
        <p:spPr>
          <a:xfrm>
            <a:off x="6374740" y="1609344"/>
            <a:ext cx="512064" cy="512064"/>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6489954" y="1724558"/>
            <a:ext cx="281635" cy="281635"/>
          </a:xfrm>
          <a:prstGeom prst="rect">
            <a:avLst/>
          </a:prstGeom>
        </p:spPr>
      </p:pic>
      <p:sp>
        <p:nvSpPr>
          <p:cNvPr id="17" name="Text 12"/>
          <p:cNvSpPr txBox="1"/>
          <p:nvPr/>
        </p:nvSpPr>
        <p:spPr>
          <a:xfrm>
            <a:off x="7033108" y="1554480"/>
            <a:ext cx="1687754" cy="384048"/>
          </a:xfrm>
          <a:prstGeom prst="rect">
            <a:avLst/>
          </a:prstGeom>
          <a:noFill/>
          <a:ln/>
        </p:spPr>
        <p:txBody>
          <a:bodyPr wrap="square" lIns="0" tIns="0" rIns="0" bIns="0" rtlCol="0" anchor="ctr">
            <a:normAutofit/>
          </a:bodyPr>
          <a:lstStyle/>
          <a:p>
            <a:pPr indent="0" marL="0">
              <a:buNone/>
            </a:pPr>
            <a:r>
              <a:rPr lang="en-US" sz="1500" b="1" dirty="0">
                <a:solidFill>
                  <a:srgbClr val="1B1C22"/>
                </a:solidFill>
                <a:latin typeface="Calibri" pitchFamily="34" charset="0"/>
                <a:ea typeface="Calibri" pitchFamily="34" charset="-122"/>
                <a:cs typeface="Calibri" pitchFamily="34" charset="-120"/>
              </a:rPr>
              <a:t>Recursos</a:t>
            </a:r>
            <a:endParaRPr lang="en-US" sz="1500" dirty="0"/>
          </a:p>
        </p:txBody>
      </p:sp>
      <p:sp>
        <p:nvSpPr>
          <p:cNvPr id="18" name="Text 13"/>
          <p:cNvSpPr txBox="1"/>
          <p:nvPr/>
        </p:nvSpPr>
        <p:spPr>
          <a:xfrm>
            <a:off x="7033108" y="1920240"/>
            <a:ext cx="1687754" cy="274320"/>
          </a:xfrm>
          <a:prstGeom prst="rect">
            <a:avLst/>
          </a:prstGeom>
          <a:noFill/>
          <a:ln/>
        </p:spPr>
        <p:txBody>
          <a:bodyPr wrap="square" lIns="0" tIns="0" rIns="0" bIns="0" rtlCol="0" anchor="t"/>
          <a:lstStyle/>
          <a:p>
            <a:pPr indent="0" marL="0">
              <a:buNone/>
            </a:pPr>
            <a:r>
              <a:rPr lang="en-US" sz="1200" b="1" dirty="0">
                <a:solidFill>
                  <a:srgbClr val="0A7A0A"/>
                </a:solidFill>
                <a:latin typeface="Calibri" pitchFamily="34" charset="0"/>
                <a:ea typeface="Calibri" pitchFamily="34" charset="-122"/>
                <a:cs typeface="Calibri" pitchFamily="34" charset="-120"/>
              </a:rPr>
              <a:t>✓ Disponible hoy</a:t>
            </a:r>
            <a:endParaRPr lang="en-US" sz="1200" dirty="0"/>
          </a:p>
        </p:txBody>
      </p:sp>
      <p:sp>
        <p:nvSpPr>
          <p:cNvPr id="19" name="Shape 14"/>
          <p:cNvSpPr/>
          <p:nvPr/>
        </p:nvSpPr>
        <p:spPr>
          <a:xfrm>
            <a:off x="9040901" y="1481328"/>
            <a:ext cx="2602154" cy="768096"/>
          </a:xfrm>
          <a:prstGeom prst="roundRect">
            <a:avLst>
              <a:gd name="adj" fmla="val 11905"/>
            </a:avLst>
          </a:prstGeom>
          <a:solidFill>
            <a:srgbClr val="E7F6E7"/>
          </a:solidFill>
          <a:ln w="9525">
            <a:solidFill>
              <a:srgbClr val="9ED69E"/>
            </a:solidFill>
            <a:prstDash val="solid"/>
          </a:ln>
        </p:spPr>
      </p:sp>
      <p:sp>
        <p:nvSpPr>
          <p:cNvPr id="20" name="Shape 15"/>
          <p:cNvSpPr/>
          <p:nvPr/>
        </p:nvSpPr>
        <p:spPr>
          <a:xfrm>
            <a:off x="9205493" y="1609344"/>
            <a:ext cx="512064" cy="512064"/>
          </a:xfrm>
          <a:prstGeom prst="ellipse">
            <a:avLst/>
          </a:prstGeom>
          <a:solidFill>
            <a:srgbClr val="FFFFFF"/>
          </a:solidFill>
          <a:ln w="12700">
            <a:solidFill>
              <a:srgbClr val="FFFFFF"/>
            </a:solidFill>
            <a:prstDash val="solid"/>
          </a:ln>
        </p:spPr>
      </p:sp>
      <p:pic>
        <p:nvPicPr>
          <p:cNvPr id="21" name="Image 3" descr="preencoded.png">    </p:cNvPr>
          <p:cNvPicPr>
            <a:picLocks noChangeAspect="1"/>
          </p:cNvPicPr>
          <p:nvPr/>
        </p:nvPicPr>
        <p:blipFill>
          <a:blip r:embed="rId4"/>
          <a:stretch>
            <a:fillRect/>
          </a:stretch>
        </p:blipFill>
        <p:spPr>
          <a:xfrm>
            <a:off x="9320708" y="1724558"/>
            <a:ext cx="281635" cy="281635"/>
          </a:xfrm>
          <a:prstGeom prst="rect">
            <a:avLst/>
          </a:prstGeom>
        </p:spPr>
      </p:pic>
      <p:sp>
        <p:nvSpPr>
          <p:cNvPr id="22" name="Text 16"/>
          <p:cNvSpPr txBox="1"/>
          <p:nvPr/>
        </p:nvSpPr>
        <p:spPr>
          <a:xfrm>
            <a:off x="9863861" y="1554480"/>
            <a:ext cx="1687754" cy="384048"/>
          </a:xfrm>
          <a:prstGeom prst="rect">
            <a:avLst/>
          </a:prstGeom>
          <a:noFill/>
          <a:ln/>
        </p:spPr>
        <p:txBody>
          <a:bodyPr wrap="square" lIns="0" tIns="0" rIns="0" bIns="0" rtlCol="0" anchor="ctr">
            <a:normAutofit/>
          </a:bodyPr>
          <a:lstStyle/>
          <a:p>
            <a:pPr indent="0" marL="0">
              <a:buNone/>
            </a:pPr>
            <a:r>
              <a:rPr lang="en-US" sz="1500" b="1" dirty="0">
                <a:solidFill>
                  <a:srgbClr val="1B1C22"/>
                </a:solidFill>
                <a:latin typeface="Calibri" pitchFamily="34" charset="0"/>
                <a:ea typeface="Calibri" pitchFamily="34" charset="-122"/>
                <a:cs typeface="Calibri" pitchFamily="34" charset="-120"/>
              </a:rPr>
              <a:t>Resumen</a:t>
            </a:r>
            <a:endParaRPr lang="en-US" sz="1500" dirty="0"/>
          </a:p>
        </p:txBody>
      </p:sp>
      <p:sp>
        <p:nvSpPr>
          <p:cNvPr id="23" name="Text 17"/>
          <p:cNvSpPr txBox="1"/>
          <p:nvPr/>
        </p:nvSpPr>
        <p:spPr>
          <a:xfrm>
            <a:off x="9863861" y="1920240"/>
            <a:ext cx="1687754" cy="274320"/>
          </a:xfrm>
          <a:prstGeom prst="rect">
            <a:avLst/>
          </a:prstGeom>
          <a:noFill/>
          <a:ln/>
        </p:spPr>
        <p:txBody>
          <a:bodyPr wrap="square" lIns="0" tIns="0" rIns="0" bIns="0" rtlCol="0" anchor="t"/>
          <a:lstStyle/>
          <a:p>
            <a:pPr indent="0" marL="0">
              <a:buNone/>
            </a:pPr>
            <a:r>
              <a:rPr lang="en-US" sz="1200" b="1" dirty="0">
                <a:solidFill>
                  <a:srgbClr val="0A7A0A"/>
                </a:solidFill>
                <a:latin typeface="Calibri" pitchFamily="34" charset="0"/>
                <a:ea typeface="Calibri" pitchFamily="34" charset="-122"/>
                <a:cs typeface="Calibri" pitchFamily="34" charset="-120"/>
              </a:rPr>
              <a:t>✓ Disponible hoy</a:t>
            </a:r>
            <a:endParaRPr lang="en-US" sz="1200" dirty="0"/>
          </a:p>
        </p:txBody>
      </p:sp>
      <p:sp>
        <p:nvSpPr>
          <p:cNvPr id="24" name="Shape 18"/>
          <p:cNvSpPr/>
          <p:nvPr/>
        </p:nvSpPr>
        <p:spPr>
          <a:xfrm>
            <a:off x="548640" y="2432304"/>
            <a:ext cx="2602154" cy="768096"/>
          </a:xfrm>
          <a:prstGeom prst="roundRect">
            <a:avLst>
              <a:gd name="adj" fmla="val 11905"/>
            </a:avLst>
          </a:prstGeom>
          <a:solidFill>
            <a:srgbClr val="E7F6E7"/>
          </a:solidFill>
          <a:ln w="9525">
            <a:solidFill>
              <a:srgbClr val="9ED69E"/>
            </a:solidFill>
            <a:prstDash val="solid"/>
          </a:ln>
        </p:spPr>
      </p:sp>
      <p:sp>
        <p:nvSpPr>
          <p:cNvPr id="25" name="Shape 19"/>
          <p:cNvSpPr/>
          <p:nvPr/>
        </p:nvSpPr>
        <p:spPr>
          <a:xfrm>
            <a:off x="713232" y="2560320"/>
            <a:ext cx="512064" cy="512064"/>
          </a:xfrm>
          <a:prstGeom prst="ellipse">
            <a:avLst/>
          </a:prstGeom>
          <a:solidFill>
            <a:srgbClr val="FFFFFF"/>
          </a:solidFill>
          <a:ln w="12700">
            <a:solidFill>
              <a:srgbClr val="FFFFFF"/>
            </a:solidFill>
            <a:prstDash val="solid"/>
          </a:ln>
        </p:spPr>
      </p:sp>
      <p:pic>
        <p:nvPicPr>
          <p:cNvPr id="26" name="Image 4" descr="preencoded.png">    </p:cNvPr>
          <p:cNvPicPr>
            <a:picLocks noChangeAspect="1"/>
          </p:cNvPicPr>
          <p:nvPr/>
        </p:nvPicPr>
        <p:blipFill>
          <a:blip r:embed="rId5"/>
          <a:stretch>
            <a:fillRect/>
          </a:stretch>
        </p:blipFill>
        <p:spPr>
          <a:xfrm>
            <a:off x="828446" y="2675534"/>
            <a:ext cx="281635" cy="281635"/>
          </a:xfrm>
          <a:prstGeom prst="rect">
            <a:avLst/>
          </a:prstGeom>
        </p:spPr>
      </p:pic>
      <p:sp>
        <p:nvSpPr>
          <p:cNvPr id="27" name="Text 20"/>
          <p:cNvSpPr txBox="1"/>
          <p:nvPr/>
        </p:nvSpPr>
        <p:spPr>
          <a:xfrm>
            <a:off x="1371600" y="2505456"/>
            <a:ext cx="1687754" cy="384048"/>
          </a:xfrm>
          <a:prstGeom prst="rect">
            <a:avLst/>
          </a:prstGeom>
          <a:noFill/>
          <a:ln/>
        </p:spPr>
        <p:txBody>
          <a:bodyPr wrap="square" lIns="0" tIns="0" rIns="0" bIns="0" rtlCol="0" anchor="ctr">
            <a:normAutofit/>
          </a:bodyPr>
          <a:lstStyle/>
          <a:p>
            <a:pPr indent="0" marL="0">
              <a:buNone/>
            </a:pPr>
            <a:r>
              <a:rPr lang="en-US" sz="1500" b="1" dirty="0">
                <a:solidFill>
                  <a:srgbClr val="1B1C22"/>
                </a:solidFill>
                <a:latin typeface="Calibri" pitchFamily="34" charset="0"/>
                <a:ea typeface="Calibri" pitchFamily="34" charset="-122"/>
                <a:cs typeface="Calibri" pitchFamily="34" charset="-120"/>
              </a:rPr>
              <a:t>Fases</a:t>
            </a:r>
            <a:endParaRPr lang="en-US" sz="1500" dirty="0"/>
          </a:p>
        </p:txBody>
      </p:sp>
      <p:sp>
        <p:nvSpPr>
          <p:cNvPr id="28" name="Text 21"/>
          <p:cNvSpPr txBox="1"/>
          <p:nvPr/>
        </p:nvSpPr>
        <p:spPr>
          <a:xfrm>
            <a:off x="1371600" y="2871216"/>
            <a:ext cx="1687754" cy="274320"/>
          </a:xfrm>
          <a:prstGeom prst="rect">
            <a:avLst/>
          </a:prstGeom>
          <a:noFill/>
          <a:ln/>
        </p:spPr>
        <p:txBody>
          <a:bodyPr wrap="square" lIns="0" tIns="0" rIns="0" bIns="0" rtlCol="0" anchor="t"/>
          <a:lstStyle/>
          <a:p>
            <a:pPr indent="0" marL="0">
              <a:buNone/>
            </a:pPr>
            <a:r>
              <a:rPr lang="en-US" sz="1200" b="1" dirty="0">
                <a:solidFill>
                  <a:srgbClr val="0A7A0A"/>
                </a:solidFill>
                <a:latin typeface="Calibri" pitchFamily="34" charset="0"/>
                <a:ea typeface="Calibri" pitchFamily="34" charset="-122"/>
                <a:cs typeface="Calibri" pitchFamily="34" charset="-120"/>
              </a:rPr>
              <a:t>✓ Disponible hoy</a:t>
            </a:r>
            <a:endParaRPr lang="en-US" sz="1200" dirty="0"/>
          </a:p>
        </p:txBody>
      </p:sp>
      <p:sp>
        <p:nvSpPr>
          <p:cNvPr id="29" name="Shape 22"/>
          <p:cNvSpPr/>
          <p:nvPr/>
        </p:nvSpPr>
        <p:spPr>
          <a:xfrm>
            <a:off x="3379394" y="2432304"/>
            <a:ext cx="2602154" cy="768096"/>
          </a:xfrm>
          <a:prstGeom prst="roundRect">
            <a:avLst>
              <a:gd name="adj" fmla="val 11905"/>
            </a:avLst>
          </a:prstGeom>
          <a:solidFill>
            <a:srgbClr val="E7F6E7"/>
          </a:solidFill>
          <a:ln w="9525">
            <a:solidFill>
              <a:srgbClr val="9ED69E"/>
            </a:solidFill>
            <a:prstDash val="solid"/>
          </a:ln>
        </p:spPr>
      </p:sp>
      <p:sp>
        <p:nvSpPr>
          <p:cNvPr id="30" name="Shape 23"/>
          <p:cNvSpPr/>
          <p:nvPr/>
        </p:nvSpPr>
        <p:spPr>
          <a:xfrm>
            <a:off x="3543986" y="2560320"/>
            <a:ext cx="512064" cy="512064"/>
          </a:xfrm>
          <a:prstGeom prst="ellipse">
            <a:avLst/>
          </a:prstGeom>
          <a:solidFill>
            <a:srgbClr val="FFFFFF"/>
          </a:solidFill>
          <a:ln w="12700">
            <a:solidFill>
              <a:srgbClr val="FFFFFF"/>
            </a:solidFill>
            <a:prstDash val="solid"/>
          </a:ln>
        </p:spPr>
      </p:sp>
      <p:pic>
        <p:nvPicPr>
          <p:cNvPr id="31" name="Image 5" descr="preencoded.png">    </p:cNvPr>
          <p:cNvPicPr>
            <a:picLocks noChangeAspect="1"/>
          </p:cNvPicPr>
          <p:nvPr/>
        </p:nvPicPr>
        <p:blipFill>
          <a:blip r:embed="rId6"/>
          <a:stretch>
            <a:fillRect/>
          </a:stretch>
        </p:blipFill>
        <p:spPr>
          <a:xfrm>
            <a:off x="3659200" y="2675534"/>
            <a:ext cx="281635" cy="281635"/>
          </a:xfrm>
          <a:prstGeom prst="rect">
            <a:avLst/>
          </a:prstGeom>
        </p:spPr>
      </p:pic>
      <p:sp>
        <p:nvSpPr>
          <p:cNvPr id="32" name="Text 24"/>
          <p:cNvSpPr txBox="1"/>
          <p:nvPr/>
        </p:nvSpPr>
        <p:spPr>
          <a:xfrm>
            <a:off x="4202354" y="2505456"/>
            <a:ext cx="1687754" cy="384048"/>
          </a:xfrm>
          <a:prstGeom prst="rect">
            <a:avLst/>
          </a:prstGeom>
          <a:noFill/>
          <a:ln/>
        </p:spPr>
        <p:txBody>
          <a:bodyPr wrap="square" lIns="0" tIns="0" rIns="0" bIns="0" rtlCol="0" anchor="ctr">
            <a:normAutofit/>
          </a:bodyPr>
          <a:lstStyle/>
          <a:p>
            <a:pPr indent="0" marL="0">
              <a:buNone/>
            </a:pPr>
            <a:r>
              <a:rPr lang="en-US" sz="1500" b="1" dirty="0">
                <a:solidFill>
                  <a:srgbClr val="1B1C22"/>
                </a:solidFill>
                <a:latin typeface="Calibri" pitchFamily="34" charset="0"/>
                <a:ea typeface="Calibri" pitchFamily="34" charset="-122"/>
                <a:cs typeface="Calibri" pitchFamily="34" charset="-120"/>
              </a:rPr>
              <a:t>Avance AWP</a:t>
            </a:r>
            <a:endParaRPr lang="en-US" sz="1500" dirty="0"/>
          </a:p>
        </p:txBody>
      </p:sp>
      <p:sp>
        <p:nvSpPr>
          <p:cNvPr id="33" name="Text 25"/>
          <p:cNvSpPr txBox="1"/>
          <p:nvPr/>
        </p:nvSpPr>
        <p:spPr>
          <a:xfrm>
            <a:off x="4202354" y="2871216"/>
            <a:ext cx="1687754" cy="274320"/>
          </a:xfrm>
          <a:prstGeom prst="rect">
            <a:avLst/>
          </a:prstGeom>
          <a:noFill/>
          <a:ln/>
        </p:spPr>
        <p:txBody>
          <a:bodyPr wrap="square" lIns="0" tIns="0" rIns="0" bIns="0" rtlCol="0" anchor="t"/>
          <a:lstStyle/>
          <a:p>
            <a:pPr indent="0" marL="0">
              <a:buNone/>
            </a:pPr>
            <a:r>
              <a:rPr lang="en-US" sz="1200" b="1" dirty="0">
                <a:solidFill>
                  <a:srgbClr val="0A7A0A"/>
                </a:solidFill>
                <a:latin typeface="Calibri" pitchFamily="34" charset="0"/>
                <a:ea typeface="Calibri" pitchFamily="34" charset="-122"/>
                <a:cs typeface="Calibri" pitchFamily="34" charset="-120"/>
              </a:rPr>
              <a:t>✓ Disponible hoy</a:t>
            </a:r>
            <a:endParaRPr lang="en-US" sz="1200" dirty="0"/>
          </a:p>
        </p:txBody>
      </p:sp>
      <p:sp>
        <p:nvSpPr>
          <p:cNvPr id="34" name="Shape 26"/>
          <p:cNvSpPr/>
          <p:nvPr/>
        </p:nvSpPr>
        <p:spPr>
          <a:xfrm>
            <a:off x="6210148" y="2432304"/>
            <a:ext cx="2602154" cy="768096"/>
          </a:xfrm>
          <a:prstGeom prst="roundRect">
            <a:avLst>
              <a:gd name="adj" fmla="val 11905"/>
            </a:avLst>
          </a:prstGeom>
          <a:solidFill>
            <a:srgbClr val="E7F6E7"/>
          </a:solidFill>
          <a:ln w="9525">
            <a:solidFill>
              <a:srgbClr val="9ED69E"/>
            </a:solidFill>
            <a:prstDash val="solid"/>
          </a:ln>
        </p:spPr>
      </p:sp>
      <p:sp>
        <p:nvSpPr>
          <p:cNvPr id="35" name="Shape 27"/>
          <p:cNvSpPr/>
          <p:nvPr/>
        </p:nvSpPr>
        <p:spPr>
          <a:xfrm>
            <a:off x="6374740" y="2560320"/>
            <a:ext cx="512064" cy="512064"/>
          </a:xfrm>
          <a:prstGeom prst="ellipse">
            <a:avLst/>
          </a:prstGeom>
          <a:solidFill>
            <a:srgbClr val="FFFFFF"/>
          </a:solidFill>
          <a:ln w="12700">
            <a:solidFill>
              <a:srgbClr val="FFFFFF"/>
            </a:solidFill>
            <a:prstDash val="solid"/>
          </a:ln>
        </p:spPr>
      </p:sp>
      <p:pic>
        <p:nvPicPr>
          <p:cNvPr id="36" name="Image 6" descr="preencoded.png">    </p:cNvPr>
          <p:cNvPicPr>
            <a:picLocks noChangeAspect="1"/>
          </p:cNvPicPr>
          <p:nvPr/>
        </p:nvPicPr>
        <p:blipFill>
          <a:blip r:embed="rId7"/>
          <a:stretch>
            <a:fillRect/>
          </a:stretch>
        </p:blipFill>
        <p:spPr>
          <a:xfrm>
            <a:off x="6489954" y="2675534"/>
            <a:ext cx="281635" cy="281635"/>
          </a:xfrm>
          <a:prstGeom prst="rect">
            <a:avLst/>
          </a:prstGeom>
        </p:spPr>
      </p:pic>
      <p:sp>
        <p:nvSpPr>
          <p:cNvPr id="37" name="Text 28"/>
          <p:cNvSpPr txBox="1"/>
          <p:nvPr/>
        </p:nvSpPr>
        <p:spPr>
          <a:xfrm>
            <a:off x="7033108" y="2505456"/>
            <a:ext cx="1687754" cy="384048"/>
          </a:xfrm>
          <a:prstGeom prst="rect">
            <a:avLst/>
          </a:prstGeom>
          <a:noFill/>
          <a:ln/>
        </p:spPr>
        <p:txBody>
          <a:bodyPr wrap="square" lIns="0" tIns="0" rIns="0" bIns="0" rtlCol="0" anchor="ctr">
            <a:normAutofit/>
          </a:bodyPr>
          <a:lstStyle/>
          <a:p>
            <a:pPr indent="0" marL="0">
              <a:buNone/>
            </a:pPr>
            <a:r>
              <a:rPr lang="en-US" sz="1500" b="1" dirty="0">
                <a:solidFill>
                  <a:srgbClr val="1B1C22"/>
                </a:solidFill>
                <a:latin typeface="Calibri" pitchFamily="34" charset="0"/>
                <a:ea typeface="Calibri" pitchFamily="34" charset="-122"/>
                <a:cs typeface="Calibri" pitchFamily="34" charset="-120"/>
              </a:rPr>
              <a:t>Hitos</a:t>
            </a:r>
            <a:endParaRPr lang="en-US" sz="1500" dirty="0"/>
          </a:p>
        </p:txBody>
      </p:sp>
      <p:sp>
        <p:nvSpPr>
          <p:cNvPr id="38" name="Text 29"/>
          <p:cNvSpPr txBox="1"/>
          <p:nvPr/>
        </p:nvSpPr>
        <p:spPr>
          <a:xfrm>
            <a:off x="7033108" y="2871216"/>
            <a:ext cx="1687754" cy="274320"/>
          </a:xfrm>
          <a:prstGeom prst="rect">
            <a:avLst/>
          </a:prstGeom>
          <a:noFill/>
          <a:ln/>
        </p:spPr>
        <p:txBody>
          <a:bodyPr wrap="square" lIns="0" tIns="0" rIns="0" bIns="0" rtlCol="0" anchor="t"/>
          <a:lstStyle/>
          <a:p>
            <a:pPr indent="0" marL="0">
              <a:buNone/>
            </a:pPr>
            <a:r>
              <a:rPr lang="en-US" sz="1200" b="1" dirty="0">
                <a:solidFill>
                  <a:srgbClr val="0A7A0A"/>
                </a:solidFill>
                <a:latin typeface="Calibri" pitchFamily="34" charset="0"/>
                <a:ea typeface="Calibri" pitchFamily="34" charset="-122"/>
                <a:cs typeface="Calibri" pitchFamily="34" charset="-120"/>
              </a:rPr>
              <a:t>✓ Disponible hoy</a:t>
            </a:r>
            <a:endParaRPr lang="en-US" sz="1200" dirty="0"/>
          </a:p>
        </p:txBody>
      </p:sp>
      <p:sp>
        <p:nvSpPr>
          <p:cNvPr id="39" name="Shape 30"/>
          <p:cNvSpPr/>
          <p:nvPr/>
        </p:nvSpPr>
        <p:spPr>
          <a:xfrm>
            <a:off x="9040901" y="2432304"/>
            <a:ext cx="2602154" cy="768096"/>
          </a:xfrm>
          <a:prstGeom prst="roundRect">
            <a:avLst>
              <a:gd name="adj" fmla="val 11905"/>
            </a:avLst>
          </a:prstGeom>
          <a:solidFill>
            <a:srgbClr val="F5F6FB"/>
          </a:solidFill>
          <a:ln w="9525">
            <a:solidFill>
              <a:srgbClr val="E3E5EE"/>
            </a:solidFill>
            <a:prstDash val="solid"/>
          </a:ln>
        </p:spPr>
      </p:sp>
      <p:sp>
        <p:nvSpPr>
          <p:cNvPr id="40" name="Shape 31"/>
          <p:cNvSpPr/>
          <p:nvPr/>
        </p:nvSpPr>
        <p:spPr>
          <a:xfrm>
            <a:off x="9205493" y="2560320"/>
            <a:ext cx="512064" cy="512064"/>
          </a:xfrm>
          <a:prstGeom prst="ellipse">
            <a:avLst/>
          </a:prstGeom>
          <a:solidFill>
            <a:srgbClr val="FFFFFF"/>
          </a:solidFill>
          <a:ln w="12700">
            <a:solidFill>
              <a:srgbClr val="FFFFFF"/>
            </a:solidFill>
            <a:prstDash val="solid"/>
          </a:ln>
        </p:spPr>
      </p:sp>
      <p:pic>
        <p:nvPicPr>
          <p:cNvPr id="41" name="Image 7" descr="preencoded.png">    </p:cNvPr>
          <p:cNvPicPr>
            <a:picLocks noChangeAspect="1"/>
          </p:cNvPicPr>
          <p:nvPr/>
        </p:nvPicPr>
        <p:blipFill>
          <a:blip r:embed="rId8"/>
          <a:stretch>
            <a:fillRect/>
          </a:stretch>
        </p:blipFill>
        <p:spPr>
          <a:xfrm>
            <a:off x="9320708" y="2675534"/>
            <a:ext cx="281635" cy="281635"/>
          </a:xfrm>
          <a:prstGeom prst="rect">
            <a:avLst/>
          </a:prstGeom>
        </p:spPr>
      </p:pic>
      <p:sp>
        <p:nvSpPr>
          <p:cNvPr id="42" name="Text 32"/>
          <p:cNvSpPr txBox="1"/>
          <p:nvPr/>
        </p:nvSpPr>
        <p:spPr>
          <a:xfrm>
            <a:off x="9863861" y="2505456"/>
            <a:ext cx="1687754" cy="384048"/>
          </a:xfrm>
          <a:prstGeom prst="rect">
            <a:avLst/>
          </a:prstGeom>
          <a:noFill/>
          <a:ln/>
        </p:spPr>
        <p:txBody>
          <a:bodyPr wrap="square" lIns="0" tIns="0" rIns="0" bIns="0" rtlCol="0" anchor="ctr">
            <a:normAutofit/>
          </a:bodyPr>
          <a:lstStyle/>
          <a:p>
            <a:pPr indent="0" marL="0">
              <a:buNone/>
            </a:pPr>
            <a:r>
              <a:rPr lang="en-US" sz="1500" b="1" dirty="0">
                <a:solidFill>
                  <a:srgbClr val="1B1C22"/>
                </a:solidFill>
                <a:latin typeface="Calibri" pitchFamily="34" charset="0"/>
                <a:ea typeface="Calibri" pitchFamily="34" charset="-122"/>
                <a:cs typeface="Calibri" pitchFamily="34" charset="-120"/>
              </a:rPr>
              <a:t>Paquetes</a:t>
            </a:r>
            <a:endParaRPr lang="en-US" sz="1500" dirty="0"/>
          </a:p>
        </p:txBody>
      </p:sp>
      <p:sp>
        <p:nvSpPr>
          <p:cNvPr id="43" name="Text 33"/>
          <p:cNvSpPr txBox="1"/>
          <p:nvPr/>
        </p:nvSpPr>
        <p:spPr>
          <a:xfrm>
            <a:off x="9863861" y="2871216"/>
            <a:ext cx="1687754" cy="274320"/>
          </a:xfrm>
          <a:prstGeom prst="rect">
            <a:avLst/>
          </a:prstGeom>
          <a:noFill/>
          <a:ln/>
        </p:spPr>
        <p:txBody>
          <a:bodyPr wrap="square" lIns="0" tIns="0" rIns="0" bIns="0" rtlCol="0" anchor="t"/>
          <a:lstStyle/>
          <a:p>
            <a:pPr indent="0" marL="0">
              <a:buNone/>
            </a:pPr>
            <a:r>
              <a:rPr lang="en-US" sz="1200" dirty="0">
                <a:solidFill>
                  <a:srgbClr val="5B5E6B"/>
                </a:solidFill>
                <a:latin typeface="Calibri" pitchFamily="34" charset="0"/>
                <a:ea typeface="Calibri" pitchFamily="34" charset="-122"/>
                <a:cs typeface="Calibri" pitchFamily="34" charset="-120"/>
              </a:rPr>
              <a:t>Etapa 3</a:t>
            </a:r>
            <a:endParaRPr lang="en-US" sz="1200" dirty="0"/>
          </a:p>
        </p:txBody>
      </p:sp>
      <p:sp>
        <p:nvSpPr>
          <p:cNvPr id="44" name="Shape 34"/>
          <p:cNvSpPr/>
          <p:nvPr/>
        </p:nvSpPr>
        <p:spPr>
          <a:xfrm>
            <a:off x="548640" y="3383280"/>
            <a:ext cx="2602154" cy="768096"/>
          </a:xfrm>
          <a:prstGeom prst="roundRect">
            <a:avLst>
              <a:gd name="adj" fmla="val 11905"/>
            </a:avLst>
          </a:prstGeom>
          <a:solidFill>
            <a:srgbClr val="F5F6FB"/>
          </a:solidFill>
          <a:ln w="9525">
            <a:solidFill>
              <a:srgbClr val="E3E5EE"/>
            </a:solidFill>
            <a:prstDash val="solid"/>
          </a:ln>
        </p:spPr>
      </p:sp>
      <p:sp>
        <p:nvSpPr>
          <p:cNvPr id="45" name="Shape 35"/>
          <p:cNvSpPr/>
          <p:nvPr/>
        </p:nvSpPr>
        <p:spPr>
          <a:xfrm>
            <a:off x="713232" y="3511296"/>
            <a:ext cx="512064" cy="512064"/>
          </a:xfrm>
          <a:prstGeom prst="ellipse">
            <a:avLst/>
          </a:prstGeom>
          <a:solidFill>
            <a:srgbClr val="FFFFFF"/>
          </a:solidFill>
          <a:ln w="12700">
            <a:solidFill>
              <a:srgbClr val="FFFFFF"/>
            </a:solidFill>
            <a:prstDash val="solid"/>
          </a:ln>
        </p:spPr>
      </p:sp>
      <p:pic>
        <p:nvPicPr>
          <p:cNvPr id="46" name="Image 8" descr="preencoded.png">    </p:cNvPr>
          <p:cNvPicPr>
            <a:picLocks noChangeAspect="1"/>
          </p:cNvPicPr>
          <p:nvPr/>
        </p:nvPicPr>
        <p:blipFill>
          <a:blip r:embed="rId9"/>
          <a:stretch>
            <a:fillRect/>
          </a:stretch>
        </p:blipFill>
        <p:spPr>
          <a:xfrm>
            <a:off x="828446" y="3626510"/>
            <a:ext cx="281635" cy="281635"/>
          </a:xfrm>
          <a:prstGeom prst="rect">
            <a:avLst/>
          </a:prstGeom>
        </p:spPr>
      </p:pic>
      <p:sp>
        <p:nvSpPr>
          <p:cNvPr id="47" name="Text 36"/>
          <p:cNvSpPr txBox="1"/>
          <p:nvPr/>
        </p:nvSpPr>
        <p:spPr>
          <a:xfrm>
            <a:off x="1371600" y="3456432"/>
            <a:ext cx="1687754" cy="384048"/>
          </a:xfrm>
          <a:prstGeom prst="rect">
            <a:avLst/>
          </a:prstGeom>
          <a:noFill/>
          <a:ln/>
        </p:spPr>
        <p:txBody>
          <a:bodyPr wrap="square" lIns="0" tIns="0" rIns="0" bIns="0" rtlCol="0" anchor="ctr">
            <a:normAutofit/>
          </a:bodyPr>
          <a:lstStyle/>
          <a:p>
            <a:pPr indent="0" marL="0">
              <a:buNone/>
            </a:pPr>
            <a:r>
              <a:rPr lang="en-US" sz="1500" b="1" dirty="0">
                <a:solidFill>
                  <a:srgbClr val="1B1C22"/>
                </a:solidFill>
                <a:latin typeface="Calibri" pitchFamily="34" charset="0"/>
                <a:ea typeface="Calibri" pitchFamily="34" charset="-122"/>
                <a:cs typeface="Calibri" pitchFamily="34" charset="-120"/>
              </a:rPr>
              <a:t>Path of Construction</a:t>
            </a:r>
            <a:endParaRPr lang="en-US" sz="1500" dirty="0"/>
          </a:p>
        </p:txBody>
      </p:sp>
      <p:sp>
        <p:nvSpPr>
          <p:cNvPr id="48" name="Text 37"/>
          <p:cNvSpPr txBox="1"/>
          <p:nvPr/>
        </p:nvSpPr>
        <p:spPr>
          <a:xfrm>
            <a:off x="1371600" y="3822192"/>
            <a:ext cx="1687754" cy="274320"/>
          </a:xfrm>
          <a:prstGeom prst="rect">
            <a:avLst/>
          </a:prstGeom>
          <a:noFill/>
          <a:ln/>
        </p:spPr>
        <p:txBody>
          <a:bodyPr wrap="square" lIns="0" tIns="0" rIns="0" bIns="0" rtlCol="0" anchor="t"/>
          <a:lstStyle/>
          <a:p>
            <a:pPr indent="0" marL="0">
              <a:buNone/>
            </a:pPr>
            <a:r>
              <a:rPr lang="en-US" sz="1200" dirty="0">
                <a:solidFill>
                  <a:srgbClr val="5B5E6B"/>
                </a:solidFill>
                <a:latin typeface="Calibri" pitchFamily="34" charset="0"/>
                <a:ea typeface="Calibri" pitchFamily="34" charset="-122"/>
                <a:cs typeface="Calibri" pitchFamily="34" charset="-120"/>
              </a:rPr>
              <a:t>Etapa 3</a:t>
            </a:r>
            <a:endParaRPr lang="en-US" sz="1200" dirty="0"/>
          </a:p>
        </p:txBody>
      </p:sp>
      <p:sp>
        <p:nvSpPr>
          <p:cNvPr id="49" name="Shape 38"/>
          <p:cNvSpPr/>
          <p:nvPr/>
        </p:nvSpPr>
        <p:spPr>
          <a:xfrm>
            <a:off x="3379394" y="3383280"/>
            <a:ext cx="2602154" cy="768096"/>
          </a:xfrm>
          <a:prstGeom prst="roundRect">
            <a:avLst>
              <a:gd name="adj" fmla="val 11905"/>
            </a:avLst>
          </a:prstGeom>
          <a:solidFill>
            <a:srgbClr val="F5F6FB"/>
          </a:solidFill>
          <a:ln w="9525">
            <a:solidFill>
              <a:srgbClr val="E3E5EE"/>
            </a:solidFill>
            <a:prstDash val="solid"/>
          </a:ln>
        </p:spPr>
      </p:sp>
      <p:sp>
        <p:nvSpPr>
          <p:cNvPr id="50" name="Shape 39"/>
          <p:cNvSpPr/>
          <p:nvPr/>
        </p:nvSpPr>
        <p:spPr>
          <a:xfrm>
            <a:off x="3543986" y="3511296"/>
            <a:ext cx="512064" cy="512064"/>
          </a:xfrm>
          <a:prstGeom prst="ellipse">
            <a:avLst/>
          </a:prstGeom>
          <a:solidFill>
            <a:srgbClr val="FFFFFF"/>
          </a:solidFill>
          <a:ln w="12700">
            <a:solidFill>
              <a:srgbClr val="FFFFFF"/>
            </a:solidFill>
            <a:prstDash val="solid"/>
          </a:ln>
        </p:spPr>
      </p:sp>
      <p:pic>
        <p:nvPicPr>
          <p:cNvPr id="51" name="Image 9" descr="preencoded.png">    </p:cNvPr>
          <p:cNvPicPr>
            <a:picLocks noChangeAspect="1"/>
          </p:cNvPicPr>
          <p:nvPr/>
        </p:nvPicPr>
        <p:blipFill>
          <a:blip r:embed="rId10"/>
          <a:stretch>
            <a:fillRect/>
          </a:stretch>
        </p:blipFill>
        <p:spPr>
          <a:xfrm>
            <a:off x="3659200" y="3626510"/>
            <a:ext cx="281635" cy="281635"/>
          </a:xfrm>
          <a:prstGeom prst="rect">
            <a:avLst/>
          </a:prstGeom>
        </p:spPr>
      </p:pic>
      <p:sp>
        <p:nvSpPr>
          <p:cNvPr id="52" name="Text 40"/>
          <p:cNvSpPr txBox="1"/>
          <p:nvPr/>
        </p:nvSpPr>
        <p:spPr>
          <a:xfrm>
            <a:off x="4202354" y="3456432"/>
            <a:ext cx="1687754" cy="384048"/>
          </a:xfrm>
          <a:prstGeom prst="rect">
            <a:avLst/>
          </a:prstGeom>
          <a:noFill/>
          <a:ln/>
        </p:spPr>
        <p:txBody>
          <a:bodyPr wrap="square" lIns="0" tIns="0" rIns="0" bIns="0" rtlCol="0" anchor="ctr">
            <a:normAutofit/>
          </a:bodyPr>
          <a:lstStyle/>
          <a:p>
            <a:pPr indent="0" marL="0">
              <a:buNone/>
            </a:pPr>
            <a:r>
              <a:rPr lang="en-US" sz="1500" b="1" dirty="0">
                <a:solidFill>
                  <a:srgbClr val="1B1C22"/>
                </a:solidFill>
                <a:latin typeface="Calibri" pitchFamily="34" charset="0"/>
                <a:ea typeface="Calibri" pitchFamily="34" charset="-122"/>
                <a:cs typeface="Calibri" pitchFamily="34" charset="-120"/>
              </a:rPr>
              <a:t>Restricciones</a:t>
            </a:r>
            <a:endParaRPr lang="en-US" sz="1500" dirty="0"/>
          </a:p>
        </p:txBody>
      </p:sp>
      <p:sp>
        <p:nvSpPr>
          <p:cNvPr id="53" name="Text 41"/>
          <p:cNvSpPr txBox="1"/>
          <p:nvPr/>
        </p:nvSpPr>
        <p:spPr>
          <a:xfrm>
            <a:off x="4202354" y="3822192"/>
            <a:ext cx="1687754" cy="274320"/>
          </a:xfrm>
          <a:prstGeom prst="rect">
            <a:avLst/>
          </a:prstGeom>
          <a:noFill/>
          <a:ln/>
        </p:spPr>
        <p:txBody>
          <a:bodyPr wrap="square" lIns="0" tIns="0" rIns="0" bIns="0" rtlCol="0" anchor="t"/>
          <a:lstStyle/>
          <a:p>
            <a:pPr indent="0" marL="0">
              <a:buNone/>
            </a:pPr>
            <a:r>
              <a:rPr lang="en-US" sz="1200" dirty="0">
                <a:solidFill>
                  <a:srgbClr val="5B5E6B"/>
                </a:solidFill>
                <a:latin typeface="Calibri" pitchFamily="34" charset="0"/>
                <a:ea typeface="Calibri" pitchFamily="34" charset="-122"/>
                <a:cs typeface="Calibri" pitchFamily="34" charset="-120"/>
              </a:rPr>
              <a:t>Etapa 3</a:t>
            </a:r>
            <a:endParaRPr lang="en-US" sz="1200" dirty="0"/>
          </a:p>
        </p:txBody>
      </p:sp>
      <p:sp>
        <p:nvSpPr>
          <p:cNvPr id="54" name="Shape 42"/>
          <p:cNvSpPr/>
          <p:nvPr/>
        </p:nvSpPr>
        <p:spPr>
          <a:xfrm>
            <a:off x="6210148" y="3383280"/>
            <a:ext cx="2602154" cy="768096"/>
          </a:xfrm>
          <a:prstGeom prst="roundRect">
            <a:avLst>
              <a:gd name="adj" fmla="val 11905"/>
            </a:avLst>
          </a:prstGeom>
          <a:solidFill>
            <a:srgbClr val="F5F6FB"/>
          </a:solidFill>
          <a:ln w="9525">
            <a:solidFill>
              <a:srgbClr val="E3E5EE"/>
            </a:solidFill>
            <a:prstDash val="solid"/>
          </a:ln>
        </p:spPr>
      </p:sp>
      <p:sp>
        <p:nvSpPr>
          <p:cNvPr id="55" name="Shape 43"/>
          <p:cNvSpPr/>
          <p:nvPr/>
        </p:nvSpPr>
        <p:spPr>
          <a:xfrm>
            <a:off x="6374740" y="3511296"/>
            <a:ext cx="512064" cy="512064"/>
          </a:xfrm>
          <a:prstGeom prst="ellipse">
            <a:avLst/>
          </a:prstGeom>
          <a:solidFill>
            <a:srgbClr val="FFFFFF"/>
          </a:solidFill>
          <a:ln w="12700">
            <a:solidFill>
              <a:srgbClr val="FFFFFF"/>
            </a:solidFill>
            <a:prstDash val="solid"/>
          </a:ln>
        </p:spPr>
      </p:sp>
      <p:pic>
        <p:nvPicPr>
          <p:cNvPr id="56" name="Image 10" descr="preencoded.png">    </p:cNvPr>
          <p:cNvPicPr>
            <a:picLocks noChangeAspect="1"/>
          </p:cNvPicPr>
          <p:nvPr/>
        </p:nvPicPr>
        <p:blipFill>
          <a:blip r:embed="rId11"/>
          <a:stretch>
            <a:fillRect/>
          </a:stretch>
        </p:blipFill>
        <p:spPr>
          <a:xfrm>
            <a:off x="6489954" y="3626510"/>
            <a:ext cx="281635" cy="281635"/>
          </a:xfrm>
          <a:prstGeom prst="rect">
            <a:avLst/>
          </a:prstGeom>
        </p:spPr>
      </p:pic>
      <p:sp>
        <p:nvSpPr>
          <p:cNvPr id="57" name="Text 44"/>
          <p:cNvSpPr txBox="1"/>
          <p:nvPr/>
        </p:nvSpPr>
        <p:spPr>
          <a:xfrm>
            <a:off x="7033108" y="3456432"/>
            <a:ext cx="1687754" cy="384048"/>
          </a:xfrm>
          <a:prstGeom prst="rect">
            <a:avLst/>
          </a:prstGeom>
          <a:noFill/>
          <a:ln/>
        </p:spPr>
        <p:txBody>
          <a:bodyPr wrap="square" lIns="0" tIns="0" rIns="0" bIns="0" rtlCol="0" anchor="ctr">
            <a:normAutofit/>
          </a:bodyPr>
          <a:lstStyle/>
          <a:p>
            <a:pPr indent="0" marL="0">
              <a:buNone/>
            </a:pPr>
            <a:r>
              <a:rPr lang="en-US" sz="1500" b="1" dirty="0">
                <a:solidFill>
                  <a:srgbClr val="1B1C22"/>
                </a:solidFill>
                <a:latin typeface="Calibri" pitchFamily="34" charset="0"/>
                <a:ea typeface="Calibri" pitchFamily="34" charset="-122"/>
                <a:cs typeface="Calibri" pitchFamily="34" charset="-120"/>
              </a:rPr>
              <a:t>Liberación de IWP</a:t>
            </a:r>
            <a:endParaRPr lang="en-US" sz="1500" dirty="0"/>
          </a:p>
        </p:txBody>
      </p:sp>
      <p:sp>
        <p:nvSpPr>
          <p:cNvPr id="58" name="Text 45"/>
          <p:cNvSpPr txBox="1"/>
          <p:nvPr/>
        </p:nvSpPr>
        <p:spPr>
          <a:xfrm>
            <a:off x="7033108" y="3822192"/>
            <a:ext cx="1687754" cy="274320"/>
          </a:xfrm>
          <a:prstGeom prst="rect">
            <a:avLst/>
          </a:prstGeom>
          <a:noFill/>
          <a:ln/>
        </p:spPr>
        <p:txBody>
          <a:bodyPr wrap="square" lIns="0" tIns="0" rIns="0" bIns="0" rtlCol="0" anchor="t"/>
          <a:lstStyle/>
          <a:p>
            <a:pPr indent="0" marL="0">
              <a:buNone/>
            </a:pPr>
            <a:r>
              <a:rPr lang="en-US" sz="1200" dirty="0">
                <a:solidFill>
                  <a:srgbClr val="5B5E6B"/>
                </a:solidFill>
                <a:latin typeface="Calibri" pitchFamily="34" charset="0"/>
                <a:ea typeface="Calibri" pitchFamily="34" charset="-122"/>
                <a:cs typeface="Calibri" pitchFamily="34" charset="-120"/>
              </a:rPr>
              <a:t>Etapa 3</a:t>
            </a:r>
            <a:endParaRPr lang="en-US" sz="1200" dirty="0"/>
          </a:p>
        </p:txBody>
      </p:sp>
      <p:sp>
        <p:nvSpPr>
          <p:cNvPr id="59" name="Shape 46"/>
          <p:cNvSpPr/>
          <p:nvPr/>
        </p:nvSpPr>
        <p:spPr>
          <a:xfrm>
            <a:off x="9040901" y="3383280"/>
            <a:ext cx="2602154" cy="768096"/>
          </a:xfrm>
          <a:prstGeom prst="roundRect">
            <a:avLst>
              <a:gd name="adj" fmla="val 11905"/>
            </a:avLst>
          </a:prstGeom>
          <a:solidFill>
            <a:srgbClr val="F5F6FB"/>
          </a:solidFill>
          <a:ln w="9525">
            <a:solidFill>
              <a:srgbClr val="E3E5EE"/>
            </a:solidFill>
            <a:prstDash val="solid"/>
          </a:ln>
        </p:spPr>
      </p:sp>
      <p:sp>
        <p:nvSpPr>
          <p:cNvPr id="60" name="Shape 47"/>
          <p:cNvSpPr/>
          <p:nvPr/>
        </p:nvSpPr>
        <p:spPr>
          <a:xfrm>
            <a:off x="9205493" y="3511296"/>
            <a:ext cx="512064" cy="512064"/>
          </a:xfrm>
          <a:prstGeom prst="ellipse">
            <a:avLst/>
          </a:prstGeom>
          <a:solidFill>
            <a:srgbClr val="FFFFFF"/>
          </a:solidFill>
          <a:ln w="12700">
            <a:solidFill>
              <a:srgbClr val="FFFFFF"/>
            </a:solidFill>
            <a:prstDash val="solid"/>
          </a:ln>
        </p:spPr>
      </p:sp>
      <p:pic>
        <p:nvPicPr>
          <p:cNvPr id="61" name="Image 11" descr="preencoded.png">    </p:cNvPr>
          <p:cNvPicPr>
            <a:picLocks noChangeAspect="1"/>
          </p:cNvPicPr>
          <p:nvPr/>
        </p:nvPicPr>
        <p:blipFill>
          <a:blip r:embed="rId12"/>
          <a:stretch>
            <a:fillRect/>
          </a:stretch>
        </p:blipFill>
        <p:spPr>
          <a:xfrm>
            <a:off x="9320708" y="3626510"/>
            <a:ext cx="281635" cy="281635"/>
          </a:xfrm>
          <a:prstGeom prst="rect">
            <a:avLst/>
          </a:prstGeom>
        </p:spPr>
      </p:pic>
      <p:sp>
        <p:nvSpPr>
          <p:cNvPr id="62" name="Text 48"/>
          <p:cNvSpPr txBox="1"/>
          <p:nvPr/>
        </p:nvSpPr>
        <p:spPr>
          <a:xfrm>
            <a:off x="9863861" y="3456432"/>
            <a:ext cx="1687754" cy="384048"/>
          </a:xfrm>
          <a:prstGeom prst="rect">
            <a:avLst/>
          </a:prstGeom>
          <a:noFill/>
          <a:ln/>
        </p:spPr>
        <p:txBody>
          <a:bodyPr wrap="square" lIns="0" tIns="0" rIns="0" bIns="0" rtlCol="0" anchor="ctr">
            <a:normAutofit/>
          </a:bodyPr>
          <a:lstStyle/>
          <a:p>
            <a:pPr indent="0" marL="0">
              <a:buNone/>
            </a:pPr>
            <a:r>
              <a:rPr lang="en-US" sz="1500" b="1" dirty="0">
                <a:solidFill>
                  <a:srgbClr val="1B1C22"/>
                </a:solidFill>
                <a:latin typeface="Calibri" pitchFamily="34" charset="0"/>
                <a:ea typeface="Calibri" pitchFamily="34" charset="-122"/>
                <a:cs typeface="Calibri" pitchFamily="34" charset="-120"/>
              </a:rPr>
              <a:t>Lookahead</a:t>
            </a:r>
            <a:endParaRPr lang="en-US" sz="1500" dirty="0"/>
          </a:p>
        </p:txBody>
      </p:sp>
      <p:sp>
        <p:nvSpPr>
          <p:cNvPr id="63" name="Text 49"/>
          <p:cNvSpPr txBox="1"/>
          <p:nvPr/>
        </p:nvSpPr>
        <p:spPr>
          <a:xfrm>
            <a:off x="9863861" y="3822192"/>
            <a:ext cx="1687754" cy="274320"/>
          </a:xfrm>
          <a:prstGeom prst="rect">
            <a:avLst/>
          </a:prstGeom>
          <a:noFill/>
          <a:ln/>
        </p:spPr>
        <p:txBody>
          <a:bodyPr wrap="square" lIns="0" tIns="0" rIns="0" bIns="0" rtlCol="0" anchor="t"/>
          <a:lstStyle/>
          <a:p>
            <a:pPr indent="0" marL="0">
              <a:buNone/>
            </a:pPr>
            <a:r>
              <a:rPr lang="en-US" sz="1200" dirty="0">
                <a:solidFill>
                  <a:srgbClr val="5B5E6B"/>
                </a:solidFill>
                <a:latin typeface="Calibri" pitchFamily="34" charset="0"/>
                <a:ea typeface="Calibri" pitchFamily="34" charset="-122"/>
                <a:cs typeface="Calibri" pitchFamily="34" charset="-120"/>
              </a:rPr>
              <a:t>Etapa 3</a:t>
            </a:r>
            <a:endParaRPr lang="en-US" sz="1200" dirty="0"/>
          </a:p>
        </p:txBody>
      </p:sp>
      <p:sp>
        <p:nvSpPr>
          <p:cNvPr id="64" name="Shape 50"/>
          <p:cNvSpPr/>
          <p:nvPr/>
        </p:nvSpPr>
        <p:spPr>
          <a:xfrm>
            <a:off x="548640" y="4334256"/>
            <a:ext cx="2602154" cy="768096"/>
          </a:xfrm>
          <a:prstGeom prst="roundRect">
            <a:avLst>
              <a:gd name="adj" fmla="val 11905"/>
            </a:avLst>
          </a:prstGeom>
          <a:solidFill>
            <a:srgbClr val="F5F6FB"/>
          </a:solidFill>
          <a:ln w="9525">
            <a:solidFill>
              <a:srgbClr val="E3E5EE"/>
            </a:solidFill>
            <a:prstDash val="solid"/>
          </a:ln>
        </p:spPr>
      </p:sp>
      <p:sp>
        <p:nvSpPr>
          <p:cNvPr id="65" name="Shape 51"/>
          <p:cNvSpPr/>
          <p:nvPr/>
        </p:nvSpPr>
        <p:spPr>
          <a:xfrm>
            <a:off x="713232" y="4462272"/>
            <a:ext cx="512064" cy="512064"/>
          </a:xfrm>
          <a:prstGeom prst="ellipse">
            <a:avLst/>
          </a:prstGeom>
          <a:solidFill>
            <a:srgbClr val="FFFFFF"/>
          </a:solidFill>
          <a:ln w="12700">
            <a:solidFill>
              <a:srgbClr val="FFFFFF"/>
            </a:solidFill>
            <a:prstDash val="solid"/>
          </a:ln>
        </p:spPr>
      </p:sp>
      <p:pic>
        <p:nvPicPr>
          <p:cNvPr id="66" name="Image 12" descr="preencoded.png">    </p:cNvPr>
          <p:cNvPicPr>
            <a:picLocks noChangeAspect="1"/>
          </p:cNvPicPr>
          <p:nvPr/>
        </p:nvPicPr>
        <p:blipFill>
          <a:blip r:embed="rId13"/>
          <a:stretch>
            <a:fillRect/>
          </a:stretch>
        </p:blipFill>
        <p:spPr>
          <a:xfrm>
            <a:off x="828446" y="4577486"/>
            <a:ext cx="281635" cy="281635"/>
          </a:xfrm>
          <a:prstGeom prst="rect">
            <a:avLst/>
          </a:prstGeom>
        </p:spPr>
      </p:pic>
      <p:sp>
        <p:nvSpPr>
          <p:cNvPr id="67" name="Text 52"/>
          <p:cNvSpPr txBox="1"/>
          <p:nvPr/>
        </p:nvSpPr>
        <p:spPr>
          <a:xfrm>
            <a:off x="1371600" y="4407408"/>
            <a:ext cx="1687754" cy="384048"/>
          </a:xfrm>
          <a:prstGeom prst="rect">
            <a:avLst/>
          </a:prstGeom>
          <a:noFill/>
          <a:ln/>
        </p:spPr>
        <p:txBody>
          <a:bodyPr wrap="square" lIns="0" tIns="0" rIns="0" bIns="0" rtlCol="0" anchor="ctr">
            <a:normAutofit/>
          </a:bodyPr>
          <a:lstStyle/>
          <a:p>
            <a:pPr indent="0" marL="0">
              <a:buNone/>
            </a:pPr>
            <a:r>
              <a:rPr lang="en-US" sz="1500" b="1" dirty="0">
                <a:solidFill>
                  <a:srgbClr val="1B1C22"/>
                </a:solidFill>
                <a:latin typeface="Calibri" pitchFamily="34" charset="0"/>
                <a:ea typeface="Calibri" pitchFamily="34" charset="-122"/>
                <a:cs typeface="Calibri" pitchFamily="34" charset="-120"/>
              </a:rPr>
              <a:t>Roles y RACI</a:t>
            </a:r>
            <a:endParaRPr lang="en-US" sz="1500" dirty="0"/>
          </a:p>
        </p:txBody>
      </p:sp>
      <p:sp>
        <p:nvSpPr>
          <p:cNvPr id="68" name="Text 53"/>
          <p:cNvSpPr txBox="1"/>
          <p:nvPr/>
        </p:nvSpPr>
        <p:spPr>
          <a:xfrm>
            <a:off x="1371600" y="4773168"/>
            <a:ext cx="1687754" cy="274320"/>
          </a:xfrm>
          <a:prstGeom prst="rect">
            <a:avLst/>
          </a:prstGeom>
          <a:noFill/>
          <a:ln/>
        </p:spPr>
        <p:txBody>
          <a:bodyPr wrap="square" lIns="0" tIns="0" rIns="0" bIns="0" rtlCol="0" anchor="t"/>
          <a:lstStyle/>
          <a:p>
            <a:pPr indent="0" marL="0">
              <a:buNone/>
            </a:pPr>
            <a:r>
              <a:rPr lang="en-US" sz="1200" dirty="0">
                <a:solidFill>
                  <a:srgbClr val="5B5E6B"/>
                </a:solidFill>
                <a:latin typeface="Calibri" pitchFamily="34" charset="0"/>
                <a:ea typeface="Calibri" pitchFamily="34" charset="-122"/>
                <a:cs typeface="Calibri" pitchFamily="34" charset="-120"/>
              </a:rPr>
              <a:t>Etapa 4</a:t>
            </a:r>
            <a:endParaRPr lang="en-US" sz="1200" dirty="0"/>
          </a:p>
        </p:txBody>
      </p:sp>
      <p:sp>
        <p:nvSpPr>
          <p:cNvPr id="69" name="Shape 54"/>
          <p:cNvSpPr/>
          <p:nvPr/>
        </p:nvSpPr>
        <p:spPr>
          <a:xfrm>
            <a:off x="3379394" y="4334256"/>
            <a:ext cx="2602154" cy="768096"/>
          </a:xfrm>
          <a:prstGeom prst="roundRect">
            <a:avLst>
              <a:gd name="adj" fmla="val 11905"/>
            </a:avLst>
          </a:prstGeom>
          <a:solidFill>
            <a:srgbClr val="F5F6FB"/>
          </a:solidFill>
          <a:ln w="9525">
            <a:solidFill>
              <a:srgbClr val="E3E5EE"/>
            </a:solidFill>
            <a:prstDash val="solid"/>
          </a:ln>
        </p:spPr>
      </p:sp>
      <p:sp>
        <p:nvSpPr>
          <p:cNvPr id="70" name="Shape 55"/>
          <p:cNvSpPr/>
          <p:nvPr/>
        </p:nvSpPr>
        <p:spPr>
          <a:xfrm>
            <a:off x="3543986" y="4462272"/>
            <a:ext cx="512064" cy="512064"/>
          </a:xfrm>
          <a:prstGeom prst="ellipse">
            <a:avLst/>
          </a:prstGeom>
          <a:solidFill>
            <a:srgbClr val="FFFFFF"/>
          </a:solidFill>
          <a:ln w="12700">
            <a:solidFill>
              <a:srgbClr val="FFFFFF"/>
            </a:solidFill>
            <a:prstDash val="solid"/>
          </a:ln>
        </p:spPr>
      </p:sp>
      <p:pic>
        <p:nvPicPr>
          <p:cNvPr id="71" name="Image 13" descr="preencoded.png">    </p:cNvPr>
          <p:cNvPicPr>
            <a:picLocks noChangeAspect="1"/>
          </p:cNvPicPr>
          <p:nvPr/>
        </p:nvPicPr>
        <p:blipFill>
          <a:blip r:embed="rId14"/>
          <a:stretch>
            <a:fillRect/>
          </a:stretch>
        </p:blipFill>
        <p:spPr>
          <a:xfrm>
            <a:off x="3659200" y="4577486"/>
            <a:ext cx="281635" cy="281635"/>
          </a:xfrm>
          <a:prstGeom prst="rect">
            <a:avLst/>
          </a:prstGeom>
        </p:spPr>
      </p:pic>
      <p:sp>
        <p:nvSpPr>
          <p:cNvPr id="72" name="Text 56"/>
          <p:cNvSpPr txBox="1"/>
          <p:nvPr/>
        </p:nvSpPr>
        <p:spPr>
          <a:xfrm>
            <a:off x="4202354" y="4407408"/>
            <a:ext cx="1687754" cy="384048"/>
          </a:xfrm>
          <a:prstGeom prst="rect">
            <a:avLst/>
          </a:prstGeom>
          <a:noFill/>
          <a:ln/>
        </p:spPr>
        <p:txBody>
          <a:bodyPr wrap="square" lIns="0" tIns="0" rIns="0" bIns="0" rtlCol="0" anchor="ctr">
            <a:normAutofit/>
          </a:bodyPr>
          <a:lstStyle/>
          <a:p>
            <a:pPr indent="0" marL="0">
              <a:buNone/>
            </a:pPr>
            <a:r>
              <a:rPr lang="en-US" sz="1500" b="1" dirty="0">
                <a:solidFill>
                  <a:srgbClr val="1B1C22"/>
                </a:solidFill>
                <a:latin typeface="Calibri" pitchFamily="34" charset="0"/>
                <a:ea typeface="Calibri" pitchFamily="34" charset="-122"/>
                <a:cs typeface="Calibri" pitchFamily="34" charset="-120"/>
              </a:rPr>
              <a:t>Riesgos</a:t>
            </a:r>
            <a:endParaRPr lang="en-US" sz="1500" dirty="0"/>
          </a:p>
        </p:txBody>
      </p:sp>
      <p:sp>
        <p:nvSpPr>
          <p:cNvPr id="73" name="Text 57"/>
          <p:cNvSpPr txBox="1"/>
          <p:nvPr/>
        </p:nvSpPr>
        <p:spPr>
          <a:xfrm>
            <a:off x="4202354" y="4773168"/>
            <a:ext cx="1687754" cy="274320"/>
          </a:xfrm>
          <a:prstGeom prst="rect">
            <a:avLst/>
          </a:prstGeom>
          <a:noFill/>
          <a:ln/>
        </p:spPr>
        <p:txBody>
          <a:bodyPr wrap="square" lIns="0" tIns="0" rIns="0" bIns="0" rtlCol="0" anchor="t"/>
          <a:lstStyle/>
          <a:p>
            <a:pPr indent="0" marL="0">
              <a:buNone/>
            </a:pPr>
            <a:r>
              <a:rPr lang="en-US" sz="1200" dirty="0">
                <a:solidFill>
                  <a:srgbClr val="5B5E6B"/>
                </a:solidFill>
                <a:latin typeface="Calibri" pitchFamily="34" charset="0"/>
                <a:ea typeface="Calibri" pitchFamily="34" charset="-122"/>
                <a:cs typeface="Calibri" pitchFamily="34" charset="-120"/>
              </a:rPr>
              <a:t>Etapa 4</a:t>
            </a:r>
            <a:endParaRPr lang="en-US" sz="1200" dirty="0"/>
          </a:p>
        </p:txBody>
      </p:sp>
      <p:sp>
        <p:nvSpPr>
          <p:cNvPr id="74" name="Shape 58"/>
          <p:cNvSpPr/>
          <p:nvPr/>
        </p:nvSpPr>
        <p:spPr>
          <a:xfrm>
            <a:off x="6210148" y="4334256"/>
            <a:ext cx="2602154" cy="768096"/>
          </a:xfrm>
          <a:prstGeom prst="roundRect">
            <a:avLst>
              <a:gd name="adj" fmla="val 11905"/>
            </a:avLst>
          </a:prstGeom>
          <a:solidFill>
            <a:srgbClr val="F5F6FB"/>
          </a:solidFill>
          <a:ln w="9525">
            <a:solidFill>
              <a:srgbClr val="E3E5EE"/>
            </a:solidFill>
            <a:prstDash val="solid"/>
          </a:ln>
        </p:spPr>
      </p:sp>
      <p:sp>
        <p:nvSpPr>
          <p:cNvPr id="75" name="Shape 59"/>
          <p:cNvSpPr/>
          <p:nvPr/>
        </p:nvSpPr>
        <p:spPr>
          <a:xfrm>
            <a:off x="6374740" y="4462272"/>
            <a:ext cx="512064" cy="512064"/>
          </a:xfrm>
          <a:prstGeom prst="ellipse">
            <a:avLst/>
          </a:prstGeom>
          <a:solidFill>
            <a:srgbClr val="FFFFFF"/>
          </a:solidFill>
          <a:ln w="12700">
            <a:solidFill>
              <a:srgbClr val="FFFFFF"/>
            </a:solidFill>
            <a:prstDash val="solid"/>
          </a:ln>
        </p:spPr>
      </p:sp>
      <p:pic>
        <p:nvPicPr>
          <p:cNvPr id="76" name="Image 14" descr="preencoded.png">    </p:cNvPr>
          <p:cNvPicPr>
            <a:picLocks noChangeAspect="1"/>
          </p:cNvPicPr>
          <p:nvPr/>
        </p:nvPicPr>
        <p:blipFill>
          <a:blip r:embed="rId15"/>
          <a:stretch>
            <a:fillRect/>
          </a:stretch>
        </p:blipFill>
        <p:spPr>
          <a:xfrm>
            <a:off x="6489954" y="4577486"/>
            <a:ext cx="281635" cy="281635"/>
          </a:xfrm>
          <a:prstGeom prst="rect">
            <a:avLst/>
          </a:prstGeom>
        </p:spPr>
      </p:pic>
      <p:sp>
        <p:nvSpPr>
          <p:cNvPr id="77" name="Text 60"/>
          <p:cNvSpPr txBox="1"/>
          <p:nvPr/>
        </p:nvSpPr>
        <p:spPr>
          <a:xfrm>
            <a:off x="7033108" y="4407408"/>
            <a:ext cx="1687754" cy="384048"/>
          </a:xfrm>
          <a:prstGeom prst="rect">
            <a:avLst/>
          </a:prstGeom>
          <a:noFill/>
          <a:ln/>
        </p:spPr>
        <p:txBody>
          <a:bodyPr wrap="square" lIns="0" tIns="0" rIns="0" bIns="0" rtlCol="0" anchor="ctr">
            <a:normAutofit/>
          </a:bodyPr>
          <a:lstStyle/>
          <a:p>
            <a:pPr indent="0" marL="0">
              <a:buNone/>
            </a:pPr>
            <a:r>
              <a:rPr lang="en-US" sz="1500" b="1" dirty="0">
                <a:solidFill>
                  <a:srgbClr val="1B1C22"/>
                </a:solidFill>
                <a:latin typeface="Calibri" pitchFamily="34" charset="0"/>
                <a:ea typeface="Calibri" pitchFamily="34" charset="-122"/>
                <a:cs typeface="Calibri" pitchFamily="34" charset="-120"/>
              </a:rPr>
              <a:t>Lecciones</a:t>
            </a:r>
            <a:endParaRPr lang="en-US" sz="1500" dirty="0"/>
          </a:p>
        </p:txBody>
      </p:sp>
      <p:sp>
        <p:nvSpPr>
          <p:cNvPr id="78" name="Text 61"/>
          <p:cNvSpPr txBox="1"/>
          <p:nvPr/>
        </p:nvSpPr>
        <p:spPr>
          <a:xfrm>
            <a:off x="7033108" y="4773168"/>
            <a:ext cx="1687754" cy="274320"/>
          </a:xfrm>
          <a:prstGeom prst="rect">
            <a:avLst/>
          </a:prstGeom>
          <a:noFill/>
          <a:ln/>
        </p:spPr>
        <p:txBody>
          <a:bodyPr wrap="square" lIns="0" tIns="0" rIns="0" bIns="0" rtlCol="0" anchor="t"/>
          <a:lstStyle/>
          <a:p>
            <a:pPr indent="0" marL="0">
              <a:buNone/>
            </a:pPr>
            <a:r>
              <a:rPr lang="en-US" sz="1200" dirty="0">
                <a:solidFill>
                  <a:srgbClr val="5B5E6B"/>
                </a:solidFill>
                <a:latin typeface="Calibri" pitchFamily="34" charset="0"/>
                <a:ea typeface="Calibri" pitchFamily="34" charset="-122"/>
                <a:cs typeface="Calibri" pitchFamily="34" charset="-120"/>
              </a:rPr>
              <a:t>Etapa 4</a:t>
            </a:r>
            <a:endParaRPr lang="en-US" sz="1200" dirty="0"/>
          </a:p>
        </p:txBody>
      </p:sp>
      <p:sp>
        <p:nvSpPr>
          <p:cNvPr id="79" name="Shape 62"/>
          <p:cNvSpPr/>
          <p:nvPr/>
        </p:nvSpPr>
        <p:spPr>
          <a:xfrm>
            <a:off x="9040901" y="4334256"/>
            <a:ext cx="2602154" cy="768096"/>
          </a:xfrm>
          <a:prstGeom prst="roundRect">
            <a:avLst>
              <a:gd name="adj" fmla="val 11905"/>
            </a:avLst>
          </a:prstGeom>
          <a:solidFill>
            <a:srgbClr val="F5F6FB"/>
          </a:solidFill>
          <a:ln w="9525">
            <a:solidFill>
              <a:srgbClr val="E3E5EE"/>
            </a:solidFill>
            <a:prstDash val="solid"/>
          </a:ln>
        </p:spPr>
      </p:sp>
      <p:sp>
        <p:nvSpPr>
          <p:cNvPr id="80" name="Shape 63"/>
          <p:cNvSpPr/>
          <p:nvPr/>
        </p:nvSpPr>
        <p:spPr>
          <a:xfrm>
            <a:off x="9205493" y="4462272"/>
            <a:ext cx="512064" cy="512064"/>
          </a:xfrm>
          <a:prstGeom prst="ellipse">
            <a:avLst/>
          </a:prstGeom>
          <a:solidFill>
            <a:srgbClr val="FFFFFF"/>
          </a:solidFill>
          <a:ln w="12700">
            <a:solidFill>
              <a:srgbClr val="FFFFFF"/>
            </a:solidFill>
            <a:prstDash val="solid"/>
          </a:ln>
        </p:spPr>
      </p:sp>
      <p:pic>
        <p:nvPicPr>
          <p:cNvPr id="81" name="Image 15" descr="preencoded.png">    </p:cNvPr>
          <p:cNvPicPr>
            <a:picLocks noChangeAspect="1"/>
          </p:cNvPicPr>
          <p:nvPr/>
        </p:nvPicPr>
        <p:blipFill>
          <a:blip r:embed="rId16"/>
          <a:stretch>
            <a:fillRect/>
          </a:stretch>
        </p:blipFill>
        <p:spPr>
          <a:xfrm>
            <a:off x="9320708" y="4577486"/>
            <a:ext cx="281635" cy="281635"/>
          </a:xfrm>
          <a:prstGeom prst="rect">
            <a:avLst/>
          </a:prstGeom>
        </p:spPr>
      </p:pic>
      <p:sp>
        <p:nvSpPr>
          <p:cNvPr id="82" name="Text 64"/>
          <p:cNvSpPr txBox="1"/>
          <p:nvPr/>
        </p:nvSpPr>
        <p:spPr>
          <a:xfrm>
            <a:off x="9863861" y="4407408"/>
            <a:ext cx="1687754" cy="384048"/>
          </a:xfrm>
          <a:prstGeom prst="rect">
            <a:avLst/>
          </a:prstGeom>
          <a:noFill/>
          <a:ln/>
        </p:spPr>
        <p:txBody>
          <a:bodyPr wrap="square" lIns="0" tIns="0" rIns="0" bIns="0" rtlCol="0" anchor="ctr">
            <a:normAutofit/>
          </a:bodyPr>
          <a:lstStyle/>
          <a:p>
            <a:pPr indent="0" marL="0">
              <a:buNone/>
            </a:pPr>
            <a:r>
              <a:rPr lang="en-US" sz="1500" b="1" dirty="0">
                <a:solidFill>
                  <a:srgbClr val="1B1C22"/>
                </a:solidFill>
                <a:latin typeface="Calibri" pitchFamily="34" charset="0"/>
                <a:ea typeface="Calibri" pitchFamily="34" charset="-122"/>
                <a:cs typeface="Calibri" pitchFamily="34" charset="-120"/>
              </a:rPr>
              <a:t>KPI</a:t>
            </a:r>
            <a:endParaRPr lang="en-US" sz="1500" dirty="0"/>
          </a:p>
        </p:txBody>
      </p:sp>
      <p:sp>
        <p:nvSpPr>
          <p:cNvPr id="83" name="Text 65"/>
          <p:cNvSpPr txBox="1"/>
          <p:nvPr/>
        </p:nvSpPr>
        <p:spPr>
          <a:xfrm>
            <a:off x="9863861" y="4773168"/>
            <a:ext cx="1687754" cy="274320"/>
          </a:xfrm>
          <a:prstGeom prst="rect">
            <a:avLst/>
          </a:prstGeom>
          <a:noFill/>
          <a:ln/>
        </p:spPr>
        <p:txBody>
          <a:bodyPr wrap="square" lIns="0" tIns="0" rIns="0" bIns="0" rtlCol="0" anchor="t"/>
          <a:lstStyle/>
          <a:p>
            <a:pPr indent="0" marL="0">
              <a:buNone/>
            </a:pPr>
            <a:r>
              <a:rPr lang="en-US" sz="1200" dirty="0">
                <a:solidFill>
                  <a:srgbClr val="5B5E6B"/>
                </a:solidFill>
                <a:latin typeface="Calibri" pitchFamily="34" charset="0"/>
                <a:ea typeface="Calibri" pitchFamily="34" charset="-122"/>
                <a:cs typeface="Calibri" pitchFamily="34" charset="-120"/>
              </a:rPr>
              <a:t>Etapa 4</a:t>
            </a:r>
            <a:endParaRPr lang="en-US" sz="1200" dirty="0"/>
          </a:p>
        </p:txBody>
      </p:sp>
      <p:sp>
        <p:nvSpPr>
          <p:cNvPr id="84" name="Shape 66"/>
          <p:cNvSpPr/>
          <p:nvPr/>
        </p:nvSpPr>
        <p:spPr>
          <a:xfrm>
            <a:off x="548640" y="5285232"/>
            <a:ext cx="2602154" cy="768096"/>
          </a:xfrm>
          <a:prstGeom prst="roundRect">
            <a:avLst>
              <a:gd name="adj" fmla="val 11905"/>
            </a:avLst>
          </a:prstGeom>
          <a:solidFill>
            <a:srgbClr val="F5F6FB"/>
          </a:solidFill>
          <a:ln w="9525">
            <a:solidFill>
              <a:srgbClr val="E3E5EE"/>
            </a:solidFill>
            <a:prstDash val="solid"/>
          </a:ln>
        </p:spPr>
      </p:sp>
      <p:sp>
        <p:nvSpPr>
          <p:cNvPr id="85" name="Shape 67"/>
          <p:cNvSpPr/>
          <p:nvPr/>
        </p:nvSpPr>
        <p:spPr>
          <a:xfrm>
            <a:off x="713232" y="5413248"/>
            <a:ext cx="512064" cy="512064"/>
          </a:xfrm>
          <a:prstGeom prst="ellipse">
            <a:avLst/>
          </a:prstGeom>
          <a:solidFill>
            <a:srgbClr val="FFFFFF"/>
          </a:solidFill>
          <a:ln w="12700">
            <a:solidFill>
              <a:srgbClr val="FFFFFF"/>
            </a:solidFill>
            <a:prstDash val="solid"/>
          </a:ln>
        </p:spPr>
      </p:sp>
      <p:pic>
        <p:nvPicPr>
          <p:cNvPr id="86" name="Image 16" descr="preencoded.png">    </p:cNvPr>
          <p:cNvPicPr>
            <a:picLocks noChangeAspect="1"/>
          </p:cNvPicPr>
          <p:nvPr/>
        </p:nvPicPr>
        <p:blipFill>
          <a:blip r:embed="rId17"/>
          <a:stretch>
            <a:fillRect/>
          </a:stretch>
        </p:blipFill>
        <p:spPr>
          <a:xfrm>
            <a:off x="828446" y="5528462"/>
            <a:ext cx="281635" cy="281635"/>
          </a:xfrm>
          <a:prstGeom prst="rect">
            <a:avLst/>
          </a:prstGeom>
        </p:spPr>
      </p:pic>
      <p:sp>
        <p:nvSpPr>
          <p:cNvPr id="87" name="Text 68"/>
          <p:cNvSpPr txBox="1"/>
          <p:nvPr/>
        </p:nvSpPr>
        <p:spPr>
          <a:xfrm>
            <a:off x="1371600" y="5358384"/>
            <a:ext cx="1687754" cy="384048"/>
          </a:xfrm>
          <a:prstGeom prst="rect">
            <a:avLst/>
          </a:prstGeom>
          <a:noFill/>
          <a:ln/>
        </p:spPr>
        <p:txBody>
          <a:bodyPr wrap="square" lIns="0" tIns="0" rIns="0" bIns="0" rtlCol="0" anchor="ctr">
            <a:normAutofit/>
          </a:bodyPr>
          <a:lstStyle/>
          <a:p>
            <a:pPr indent="0" marL="0">
              <a:buNone/>
            </a:pPr>
            <a:r>
              <a:rPr lang="en-US" sz="1500" b="1" dirty="0">
                <a:solidFill>
                  <a:srgbClr val="1B1C22"/>
                </a:solidFill>
                <a:latin typeface="Calibri" pitchFamily="34" charset="0"/>
                <a:ea typeface="Calibri" pitchFamily="34" charset="-122"/>
                <a:cs typeface="Calibri" pitchFamily="34" charset="-120"/>
              </a:rPr>
              <a:t>Documentos</a:t>
            </a:r>
            <a:endParaRPr lang="en-US" sz="1500" dirty="0"/>
          </a:p>
        </p:txBody>
      </p:sp>
      <p:sp>
        <p:nvSpPr>
          <p:cNvPr id="88" name="Text 69"/>
          <p:cNvSpPr txBox="1"/>
          <p:nvPr/>
        </p:nvSpPr>
        <p:spPr>
          <a:xfrm>
            <a:off x="1371600" y="5724144"/>
            <a:ext cx="1687754" cy="274320"/>
          </a:xfrm>
          <a:prstGeom prst="rect">
            <a:avLst/>
          </a:prstGeom>
          <a:noFill/>
          <a:ln/>
        </p:spPr>
        <p:txBody>
          <a:bodyPr wrap="square" lIns="0" tIns="0" rIns="0" bIns="0" rtlCol="0" anchor="t"/>
          <a:lstStyle/>
          <a:p>
            <a:pPr indent="0" marL="0">
              <a:buNone/>
            </a:pPr>
            <a:r>
              <a:rPr lang="en-US" sz="1200" dirty="0">
                <a:solidFill>
                  <a:srgbClr val="5B5E6B"/>
                </a:solidFill>
                <a:latin typeface="Calibri" pitchFamily="34" charset="0"/>
                <a:ea typeface="Calibri" pitchFamily="34" charset="-122"/>
                <a:cs typeface="Calibri" pitchFamily="34" charset="-120"/>
              </a:rPr>
              <a:t>Etapa 5</a:t>
            </a:r>
            <a:endParaRPr lang="en-US" sz="1200" dirty="0"/>
          </a:p>
        </p:txBody>
      </p:sp>
      <p:sp>
        <p:nvSpPr>
          <p:cNvPr id="89" name="Shape 70"/>
          <p:cNvSpPr/>
          <p:nvPr/>
        </p:nvSpPr>
        <p:spPr>
          <a:xfrm>
            <a:off x="3379394" y="5285232"/>
            <a:ext cx="2602154" cy="768096"/>
          </a:xfrm>
          <a:prstGeom prst="roundRect">
            <a:avLst>
              <a:gd name="adj" fmla="val 11905"/>
            </a:avLst>
          </a:prstGeom>
          <a:solidFill>
            <a:srgbClr val="F5F6FB"/>
          </a:solidFill>
          <a:ln w="9525">
            <a:solidFill>
              <a:srgbClr val="E3E5EE"/>
            </a:solidFill>
            <a:prstDash val="solid"/>
          </a:ln>
        </p:spPr>
      </p:sp>
      <p:sp>
        <p:nvSpPr>
          <p:cNvPr id="90" name="Shape 71"/>
          <p:cNvSpPr/>
          <p:nvPr/>
        </p:nvSpPr>
        <p:spPr>
          <a:xfrm>
            <a:off x="3543986" y="5413248"/>
            <a:ext cx="512064" cy="512064"/>
          </a:xfrm>
          <a:prstGeom prst="ellipse">
            <a:avLst/>
          </a:prstGeom>
          <a:solidFill>
            <a:srgbClr val="FFFFFF"/>
          </a:solidFill>
          <a:ln w="12700">
            <a:solidFill>
              <a:srgbClr val="FFFFFF"/>
            </a:solidFill>
            <a:prstDash val="solid"/>
          </a:ln>
        </p:spPr>
      </p:sp>
      <p:pic>
        <p:nvPicPr>
          <p:cNvPr id="91" name="Image 17" descr="preencoded.png">    </p:cNvPr>
          <p:cNvPicPr>
            <a:picLocks noChangeAspect="1"/>
          </p:cNvPicPr>
          <p:nvPr/>
        </p:nvPicPr>
        <p:blipFill>
          <a:blip r:embed="rId18"/>
          <a:stretch>
            <a:fillRect/>
          </a:stretch>
        </p:blipFill>
        <p:spPr>
          <a:xfrm>
            <a:off x="3659200" y="5528462"/>
            <a:ext cx="281635" cy="281635"/>
          </a:xfrm>
          <a:prstGeom prst="rect">
            <a:avLst/>
          </a:prstGeom>
        </p:spPr>
      </p:pic>
      <p:sp>
        <p:nvSpPr>
          <p:cNvPr id="92" name="Text 72"/>
          <p:cNvSpPr txBox="1"/>
          <p:nvPr/>
        </p:nvSpPr>
        <p:spPr>
          <a:xfrm>
            <a:off x="4202354" y="5358384"/>
            <a:ext cx="1687754" cy="384048"/>
          </a:xfrm>
          <a:prstGeom prst="rect">
            <a:avLst/>
          </a:prstGeom>
          <a:noFill/>
          <a:ln/>
        </p:spPr>
        <p:txBody>
          <a:bodyPr wrap="square" lIns="0" tIns="0" rIns="0" bIns="0" rtlCol="0" anchor="ctr">
            <a:normAutofit/>
          </a:bodyPr>
          <a:lstStyle/>
          <a:p>
            <a:pPr indent="0" marL="0">
              <a:buNone/>
            </a:pPr>
            <a:r>
              <a:rPr lang="en-US" sz="1500" b="1" dirty="0">
                <a:solidFill>
                  <a:srgbClr val="1B1C22"/>
                </a:solidFill>
                <a:latin typeface="Calibri" pitchFamily="34" charset="0"/>
                <a:ea typeface="Calibri" pitchFamily="34" charset="-122"/>
                <a:cs typeface="Calibri" pitchFamily="34" charset="-120"/>
              </a:rPr>
              <a:t>Importar / exportar</a:t>
            </a:r>
            <a:endParaRPr lang="en-US" sz="1500" dirty="0"/>
          </a:p>
        </p:txBody>
      </p:sp>
      <p:sp>
        <p:nvSpPr>
          <p:cNvPr id="93" name="Text 73"/>
          <p:cNvSpPr txBox="1"/>
          <p:nvPr/>
        </p:nvSpPr>
        <p:spPr>
          <a:xfrm>
            <a:off x="4202354" y="5724144"/>
            <a:ext cx="1687754" cy="274320"/>
          </a:xfrm>
          <a:prstGeom prst="rect">
            <a:avLst/>
          </a:prstGeom>
          <a:noFill/>
          <a:ln/>
        </p:spPr>
        <p:txBody>
          <a:bodyPr wrap="square" lIns="0" tIns="0" rIns="0" bIns="0" rtlCol="0" anchor="t"/>
          <a:lstStyle/>
          <a:p>
            <a:pPr indent="0" marL="0">
              <a:buNone/>
            </a:pPr>
            <a:r>
              <a:rPr lang="en-US" sz="1200" dirty="0">
                <a:solidFill>
                  <a:srgbClr val="5B5E6B"/>
                </a:solidFill>
                <a:latin typeface="Calibri" pitchFamily="34" charset="0"/>
                <a:ea typeface="Calibri" pitchFamily="34" charset="-122"/>
                <a:cs typeface="Calibri" pitchFamily="34" charset="-120"/>
              </a:rPr>
              <a:t>Etapa 6</a:t>
            </a:r>
            <a:endParaRPr lang="en-US" sz="1200" dirty="0"/>
          </a:p>
        </p:txBody>
      </p:sp>
      <p:sp>
        <p:nvSpPr>
          <p:cNvPr id="94" name="Shape 74"/>
          <p:cNvSpPr/>
          <p:nvPr/>
        </p:nvSpPr>
        <p:spPr>
          <a:xfrm>
            <a:off x="6210148" y="5285232"/>
            <a:ext cx="2602154" cy="768096"/>
          </a:xfrm>
          <a:prstGeom prst="roundRect">
            <a:avLst>
              <a:gd name="adj" fmla="val 11905"/>
            </a:avLst>
          </a:prstGeom>
          <a:solidFill>
            <a:srgbClr val="F5F6FB"/>
          </a:solidFill>
          <a:ln w="9525">
            <a:solidFill>
              <a:srgbClr val="E3E5EE"/>
            </a:solidFill>
            <a:prstDash val="solid"/>
          </a:ln>
        </p:spPr>
      </p:sp>
      <p:sp>
        <p:nvSpPr>
          <p:cNvPr id="95" name="Shape 75"/>
          <p:cNvSpPr/>
          <p:nvPr/>
        </p:nvSpPr>
        <p:spPr>
          <a:xfrm>
            <a:off x="6374740" y="5413248"/>
            <a:ext cx="512064" cy="512064"/>
          </a:xfrm>
          <a:prstGeom prst="ellipse">
            <a:avLst/>
          </a:prstGeom>
          <a:solidFill>
            <a:srgbClr val="FFFFFF"/>
          </a:solidFill>
          <a:ln w="12700">
            <a:solidFill>
              <a:srgbClr val="FFFFFF"/>
            </a:solidFill>
            <a:prstDash val="solid"/>
          </a:ln>
        </p:spPr>
      </p:sp>
      <p:pic>
        <p:nvPicPr>
          <p:cNvPr id="96" name="Image 18" descr="preencoded.png">    </p:cNvPr>
          <p:cNvPicPr>
            <a:picLocks noChangeAspect="1"/>
          </p:cNvPicPr>
          <p:nvPr/>
        </p:nvPicPr>
        <p:blipFill>
          <a:blip r:embed="rId19"/>
          <a:stretch>
            <a:fillRect/>
          </a:stretch>
        </p:blipFill>
        <p:spPr>
          <a:xfrm>
            <a:off x="6489954" y="5528462"/>
            <a:ext cx="281635" cy="281635"/>
          </a:xfrm>
          <a:prstGeom prst="rect">
            <a:avLst/>
          </a:prstGeom>
        </p:spPr>
      </p:pic>
      <p:sp>
        <p:nvSpPr>
          <p:cNvPr id="97" name="Text 76"/>
          <p:cNvSpPr txBox="1"/>
          <p:nvPr/>
        </p:nvSpPr>
        <p:spPr>
          <a:xfrm>
            <a:off x="7033108" y="5358384"/>
            <a:ext cx="1687754" cy="384048"/>
          </a:xfrm>
          <a:prstGeom prst="rect">
            <a:avLst/>
          </a:prstGeom>
          <a:noFill/>
          <a:ln/>
        </p:spPr>
        <p:txBody>
          <a:bodyPr wrap="square" lIns="0" tIns="0" rIns="0" bIns="0" rtlCol="0" anchor="ctr">
            <a:normAutofit/>
          </a:bodyPr>
          <a:lstStyle/>
          <a:p>
            <a:pPr indent="0" marL="0">
              <a:buNone/>
            </a:pPr>
            <a:r>
              <a:rPr lang="en-US" sz="1500" b="1" dirty="0">
                <a:solidFill>
                  <a:srgbClr val="1B1C22"/>
                </a:solidFill>
                <a:latin typeface="Calibri" pitchFamily="34" charset="0"/>
                <a:ea typeface="Calibri" pitchFamily="34" charset="-122"/>
                <a:cs typeface="Calibri" pitchFamily="34" charset="-120"/>
              </a:rPr>
              <a:t>Reportes PDF</a:t>
            </a:r>
            <a:endParaRPr lang="en-US" sz="1500" dirty="0"/>
          </a:p>
        </p:txBody>
      </p:sp>
      <p:sp>
        <p:nvSpPr>
          <p:cNvPr id="98" name="Text 77"/>
          <p:cNvSpPr txBox="1"/>
          <p:nvPr/>
        </p:nvSpPr>
        <p:spPr>
          <a:xfrm>
            <a:off x="7033108" y="5724144"/>
            <a:ext cx="1687754" cy="274320"/>
          </a:xfrm>
          <a:prstGeom prst="rect">
            <a:avLst/>
          </a:prstGeom>
          <a:noFill/>
          <a:ln/>
        </p:spPr>
        <p:txBody>
          <a:bodyPr wrap="square" lIns="0" tIns="0" rIns="0" bIns="0" rtlCol="0" anchor="t"/>
          <a:lstStyle/>
          <a:p>
            <a:pPr indent="0" marL="0">
              <a:buNone/>
            </a:pPr>
            <a:r>
              <a:rPr lang="en-US" sz="1200" dirty="0">
                <a:solidFill>
                  <a:srgbClr val="5B5E6B"/>
                </a:solidFill>
                <a:latin typeface="Calibri" pitchFamily="34" charset="0"/>
                <a:ea typeface="Calibri" pitchFamily="34" charset="-122"/>
                <a:cs typeface="Calibri" pitchFamily="34" charset="-120"/>
              </a:rPr>
              <a:t>Etapa 6</a:t>
            </a:r>
            <a:endParaRPr lang="en-US" sz="1200" dirty="0"/>
          </a:p>
        </p:txBody>
      </p:sp>
      <p:sp>
        <p:nvSpPr>
          <p:cNvPr id="99" name="Shape 78"/>
          <p:cNvSpPr/>
          <p:nvPr/>
        </p:nvSpPr>
        <p:spPr>
          <a:xfrm>
            <a:off x="9040901" y="5285232"/>
            <a:ext cx="2602154" cy="768096"/>
          </a:xfrm>
          <a:prstGeom prst="roundRect">
            <a:avLst>
              <a:gd name="adj" fmla="val 11905"/>
            </a:avLst>
          </a:prstGeom>
          <a:solidFill>
            <a:srgbClr val="F5F6FB"/>
          </a:solidFill>
          <a:ln w="9525">
            <a:solidFill>
              <a:srgbClr val="E3E5EE"/>
            </a:solidFill>
            <a:prstDash val="solid"/>
          </a:ln>
        </p:spPr>
      </p:sp>
      <p:sp>
        <p:nvSpPr>
          <p:cNvPr id="100" name="Shape 79"/>
          <p:cNvSpPr/>
          <p:nvPr/>
        </p:nvSpPr>
        <p:spPr>
          <a:xfrm>
            <a:off x="9205493" y="5413248"/>
            <a:ext cx="512064" cy="512064"/>
          </a:xfrm>
          <a:prstGeom prst="ellipse">
            <a:avLst/>
          </a:prstGeom>
          <a:solidFill>
            <a:srgbClr val="FFFFFF"/>
          </a:solidFill>
          <a:ln w="12700">
            <a:solidFill>
              <a:srgbClr val="FFFFFF"/>
            </a:solidFill>
            <a:prstDash val="solid"/>
          </a:ln>
        </p:spPr>
      </p:sp>
      <p:pic>
        <p:nvPicPr>
          <p:cNvPr id="101" name="Image 19" descr="preencoded.png">    </p:cNvPr>
          <p:cNvPicPr>
            <a:picLocks noChangeAspect="1"/>
          </p:cNvPicPr>
          <p:nvPr/>
        </p:nvPicPr>
        <p:blipFill>
          <a:blip r:embed="rId20"/>
          <a:stretch>
            <a:fillRect/>
          </a:stretch>
        </p:blipFill>
        <p:spPr>
          <a:xfrm>
            <a:off x="9320708" y="5528462"/>
            <a:ext cx="281635" cy="281635"/>
          </a:xfrm>
          <a:prstGeom prst="rect">
            <a:avLst/>
          </a:prstGeom>
        </p:spPr>
      </p:pic>
      <p:sp>
        <p:nvSpPr>
          <p:cNvPr id="102" name="Text 80"/>
          <p:cNvSpPr txBox="1"/>
          <p:nvPr/>
        </p:nvSpPr>
        <p:spPr>
          <a:xfrm>
            <a:off x="9863861" y="5358384"/>
            <a:ext cx="1687754" cy="384048"/>
          </a:xfrm>
          <a:prstGeom prst="rect">
            <a:avLst/>
          </a:prstGeom>
          <a:noFill/>
          <a:ln/>
        </p:spPr>
        <p:txBody>
          <a:bodyPr wrap="square" lIns="0" tIns="0" rIns="0" bIns="0" rtlCol="0" anchor="ctr">
            <a:normAutofit/>
          </a:bodyPr>
          <a:lstStyle/>
          <a:p>
            <a:pPr indent="0" marL="0">
              <a:buNone/>
            </a:pPr>
            <a:r>
              <a:rPr lang="en-US" sz="1500" b="1" dirty="0">
                <a:solidFill>
                  <a:srgbClr val="1B1C22"/>
                </a:solidFill>
                <a:latin typeface="Calibri" pitchFamily="34" charset="0"/>
                <a:ea typeface="Calibri" pitchFamily="34" charset="-122"/>
                <a:cs typeface="Calibri" pitchFamily="34" charset="-120"/>
              </a:rPr>
              <a:t>Proyecto de ejemplo</a:t>
            </a:r>
            <a:endParaRPr lang="en-US" sz="1500" dirty="0"/>
          </a:p>
        </p:txBody>
      </p:sp>
      <p:sp>
        <p:nvSpPr>
          <p:cNvPr id="103" name="Text 81"/>
          <p:cNvSpPr txBox="1"/>
          <p:nvPr/>
        </p:nvSpPr>
        <p:spPr>
          <a:xfrm>
            <a:off x="9863861" y="5724144"/>
            <a:ext cx="1687754" cy="274320"/>
          </a:xfrm>
          <a:prstGeom prst="rect">
            <a:avLst/>
          </a:prstGeom>
          <a:noFill/>
          <a:ln/>
        </p:spPr>
        <p:txBody>
          <a:bodyPr wrap="square" lIns="0" tIns="0" rIns="0" bIns="0" rtlCol="0" anchor="t"/>
          <a:lstStyle/>
          <a:p>
            <a:pPr indent="0" marL="0">
              <a:buNone/>
            </a:pPr>
            <a:r>
              <a:rPr lang="en-US" sz="1200" dirty="0">
                <a:solidFill>
                  <a:srgbClr val="5B5E6B"/>
                </a:solidFill>
                <a:latin typeface="Calibri" pitchFamily="34" charset="0"/>
                <a:ea typeface="Calibri" pitchFamily="34" charset="-122"/>
                <a:cs typeface="Calibri" pitchFamily="34" charset="-120"/>
              </a:rPr>
              <a:t>Etapa 6</a:t>
            </a:r>
            <a:endParaRPr lang="en-US" sz="1200" dirty="0"/>
          </a:p>
        </p:txBody>
      </p:sp>
      <p:sp>
        <p:nvSpPr>
          <p:cNvPr id="104" name="Text 8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Qué es la aplicación</a:t>
            </a:r>
            <a:endParaRPr lang="en-US" sz="1000" dirty="0"/>
          </a:p>
        </p:txBody>
      </p:sp>
      <p:sp>
        <p:nvSpPr>
          <p:cNvPr id="105" name="Text 8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Plan de construcción por etapas</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Cada etapa se publica, se prueba y se entrega con una lista de qué probar</a:t>
            </a:r>
            <a:endParaRPr lang="en-US" sz="1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828800"/>
                <a:gridCol w="4937760"/>
                <a:gridCol w="3017520"/>
                <a:gridCol w="1188720"/>
              </a:tblGrid>
              <a:tr h="56692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Etapa</a:t>
                      </a:r>
                      <a:endParaRPr lang="en-US" sz="14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Alcance</a:t>
                      </a:r>
                      <a:endParaRPr lang="en-US" sz="14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Plantillas cubiertas</a:t>
                      </a:r>
                      <a:endParaRPr lang="en-US" sz="14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Estado</a:t>
                      </a:r>
                      <a:endParaRPr lang="en-US" sz="14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r>
              <a:tr h="566928">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1 · Diseño</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Documento de diseño, maqueta navegable, esquema SQL con RLS probado, guía de Supabase</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Lista</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566928">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2 · Base</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Inicio de sesión, recorrido guiado, Recursos, portafolio, asistente, fases, avance AWP, hitos, dashboard</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Plan (checklist e hitos)</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Lista</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566928">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3 · Paquetes y ejecución</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CWA, CWP, EWP, PWP, IWP, Path of Construction, restricciones, liberación, lookahead</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7 plantillas Excel</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Siguiente</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566928">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4 · Control</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Roles y RACI, riesgos, lecciones, KPI, dashboards de portafolio y fases, calidad de datos</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4 plantillas Excel</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Planificada</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566928">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5 · Documentos</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Formularios por pasos y generación Word/PDF de IWP, CWP, EWP, procedimiento, acta, informe, perfiles</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7 plantillas Word</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Planificada</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566928">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6 · Importar y exportar</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Excel de ida y vuelta, reportes PDF, exportar dashboards, proyecto de ejemplo</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Todas</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Planificada</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Qué es la aplicación</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1F4B"/>
        </a:solidFill>
      </p:bgPr>
    </p:bg>
    <p:spTree>
      <p:nvGrpSpPr>
        <p:cNvPr id="1" name=""/>
        <p:cNvGrpSpPr/>
        <p:nvPr/>
      </p:nvGrpSpPr>
      <p:grpSpPr>
        <a:xfrm>
          <a:off x="0" y="0"/>
          <a:ext cx="0" cy="0"/>
          <a:chOff x="0" y="0"/>
          <a:chExt cx="0" cy="0"/>
        </a:xfrm>
      </p:grpSpPr>
      <p:sp>
        <p:nvSpPr>
          <p:cNvPr id="2" name="Text 0"/>
          <p:cNvSpPr txBox="1"/>
          <p:nvPr/>
        </p:nvSpPr>
        <p:spPr>
          <a:xfrm>
            <a:off x="548640" y="1188720"/>
            <a:ext cx="2743200" cy="1371600"/>
          </a:xfrm>
          <a:prstGeom prst="rect">
            <a:avLst/>
          </a:prstGeom>
          <a:noFill/>
          <a:ln/>
        </p:spPr>
        <p:txBody>
          <a:bodyPr wrap="square" lIns="0" tIns="0" rIns="0" bIns="0" rtlCol="0" anchor="t"/>
          <a:lstStyle/>
          <a:p>
            <a:pPr indent="0" marL="0">
              <a:buNone/>
            </a:pPr>
            <a:r>
              <a:rPr lang="en-US" sz="9600" b="1" dirty="0">
                <a:solidFill>
                  <a:srgbClr val="FFC107"/>
                </a:solidFill>
                <a:latin typeface="Calibri" pitchFamily="34" charset="0"/>
                <a:ea typeface="Calibri" pitchFamily="34" charset="-122"/>
                <a:cs typeface="Calibri" pitchFamily="34" charset="-120"/>
              </a:rPr>
              <a:t>02</a:t>
            </a:r>
            <a:endParaRPr lang="en-US" sz="9600" dirty="0"/>
          </a:p>
        </p:txBody>
      </p:sp>
      <p:sp>
        <p:nvSpPr>
          <p:cNvPr id="3" name="Text 1"/>
          <p:cNvSpPr txBox="1"/>
          <p:nvPr/>
        </p:nvSpPr>
        <p:spPr>
          <a:xfrm>
            <a:off x="548640" y="2697480"/>
            <a:ext cx="5852160" cy="73152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Acceso y sesión</a:t>
            </a:r>
            <a:endParaRPr lang="en-US" sz="3800" dirty="0"/>
          </a:p>
        </p:txBody>
      </p:sp>
      <p:sp>
        <p:nvSpPr>
          <p:cNvPr id="4" name="Text 2"/>
          <p:cNvSpPr txBox="1"/>
          <p:nvPr/>
        </p:nvSpPr>
        <p:spPr>
          <a:xfrm>
            <a:off x="548640" y="3566160"/>
            <a:ext cx="5486400" cy="1097280"/>
          </a:xfrm>
          <a:prstGeom prst="rect">
            <a:avLst/>
          </a:prstGeom>
          <a:noFill/>
          <a:ln/>
        </p:spPr>
        <p:txBody>
          <a:bodyPr wrap="square" lIns="0" tIns="0" rIns="0" bIns="0" rtlCol="0" anchor="t"/>
          <a:lstStyle/>
          <a:p>
            <a:pPr indent="0" marL="0">
              <a:buNone/>
            </a:pPr>
            <a:r>
              <a:rPr lang="en-US" sz="1800" dirty="0">
                <a:solidFill>
                  <a:srgbClr val="C5CAE9"/>
                </a:solidFill>
                <a:latin typeface="Calibri" pitchFamily="34" charset="0"/>
                <a:ea typeface="Calibri" pitchFamily="34" charset="-122"/>
                <a:cs typeface="Calibri" pitchFamily="34" charset="-120"/>
              </a:rPr>
              <a:t>Entrar, recuperar la contraseña y cerrar sesión</a:t>
            </a:r>
            <a:endParaRPr lang="en-US" sz="1800" dirty="0"/>
          </a:p>
        </p:txBody>
      </p:sp>
      <p:sp>
        <p:nvSpPr>
          <p:cNvPr id="5" name="Shape 3"/>
          <p:cNvSpPr/>
          <p:nvPr/>
        </p:nvSpPr>
        <p:spPr>
          <a:xfrm>
            <a:off x="6766560" y="1234440"/>
            <a:ext cx="4892040" cy="4480560"/>
          </a:xfrm>
          <a:prstGeom prst="roundRect">
            <a:avLst>
              <a:gd name="adj" fmla="val 2449"/>
            </a:avLst>
          </a:prstGeom>
          <a:solidFill>
            <a:srgbClr val="252B5E"/>
          </a:solidFill>
          <a:ln w="12700">
            <a:solidFill>
              <a:srgbClr val="3C4488"/>
            </a:solidFill>
            <a:prstDash val="solid"/>
          </a:ln>
        </p:spPr>
      </p:sp>
      <p:sp>
        <p:nvSpPr>
          <p:cNvPr id="6" name="Text 4"/>
          <p:cNvSpPr txBox="1"/>
          <p:nvPr/>
        </p:nvSpPr>
        <p:spPr>
          <a:xfrm>
            <a:off x="7132320" y="1508760"/>
            <a:ext cx="4206240" cy="320040"/>
          </a:xfrm>
          <a:prstGeom prst="rect">
            <a:avLst/>
          </a:prstGeom>
          <a:noFill/>
          <a:ln/>
        </p:spPr>
        <p:txBody>
          <a:bodyPr wrap="square" lIns="0" tIns="0" rIns="0" bIns="0" rtlCol="0" anchor="t"/>
          <a:lstStyle/>
          <a:p>
            <a:pPr indent="0" marL="0">
              <a:buNone/>
            </a:pPr>
            <a:r>
              <a:rPr lang="en-US" sz="1200" b="1" spc="200" kern="0" dirty="0">
                <a:solidFill>
                  <a:srgbClr val="FFC107"/>
                </a:solidFill>
                <a:latin typeface="Calibri" pitchFamily="34" charset="0"/>
                <a:ea typeface="Calibri" pitchFamily="34" charset="-122"/>
                <a:cs typeface="Calibri" pitchFamily="34" charset="-120"/>
              </a:rPr>
              <a:t>EN ESTA SECCIÓN</a:t>
            </a:r>
            <a:endParaRPr lang="en-US" sz="1200" dirty="0"/>
          </a:p>
        </p:txBody>
      </p:sp>
      <p:sp>
        <p:nvSpPr>
          <p:cNvPr id="7" name="Shape 5"/>
          <p:cNvSpPr/>
          <p:nvPr/>
        </p:nvSpPr>
        <p:spPr>
          <a:xfrm>
            <a:off x="7178040" y="2103120"/>
            <a:ext cx="146304" cy="146304"/>
          </a:xfrm>
          <a:prstGeom prst="ellipse">
            <a:avLst/>
          </a:prstGeom>
          <a:solidFill>
            <a:srgbClr val="FFC107"/>
          </a:solidFill>
          <a:ln w="12700">
            <a:solidFill>
              <a:srgbClr val="FFC107"/>
            </a:solidFill>
            <a:prstDash val="solid"/>
          </a:ln>
        </p:spPr>
      </p:sp>
      <p:sp>
        <p:nvSpPr>
          <p:cNvPr id="8" name="Text 6"/>
          <p:cNvSpPr txBox="1"/>
          <p:nvPr/>
        </p:nvSpPr>
        <p:spPr>
          <a:xfrm>
            <a:off x="7498080" y="2011680"/>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Pantalla de inicio de sesión</a:t>
            </a:r>
            <a:endParaRPr lang="en-US" sz="1700" dirty="0"/>
          </a:p>
        </p:txBody>
      </p:sp>
      <p:sp>
        <p:nvSpPr>
          <p:cNvPr id="9" name="Shape 7"/>
          <p:cNvSpPr/>
          <p:nvPr/>
        </p:nvSpPr>
        <p:spPr>
          <a:xfrm>
            <a:off x="7178040" y="2816352"/>
            <a:ext cx="146304" cy="146304"/>
          </a:xfrm>
          <a:prstGeom prst="ellipse">
            <a:avLst/>
          </a:prstGeom>
          <a:solidFill>
            <a:srgbClr val="FFC107"/>
          </a:solidFill>
          <a:ln w="12700">
            <a:solidFill>
              <a:srgbClr val="FFC107"/>
            </a:solidFill>
            <a:prstDash val="solid"/>
          </a:ln>
        </p:spPr>
      </p:sp>
      <p:sp>
        <p:nvSpPr>
          <p:cNvPr id="10" name="Text 8"/>
          <p:cNvSpPr txBox="1"/>
          <p:nvPr/>
        </p:nvSpPr>
        <p:spPr>
          <a:xfrm>
            <a:off x="7498080" y="2724912"/>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Mensajes de error claros</a:t>
            </a:r>
            <a:endParaRPr lang="en-US" sz="1700" dirty="0"/>
          </a:p>
        </p:txBody>
      </p:sp>
      <p:sp>
        <p:nvSpPr>
          <p:cNvPr id="11" name="Shape 9"/>
          <p:cNvSpPr/>
          <p:nvPr/>
        </p:nvSpPr>
        <p:spPr>
          <a:xfrm>
            <a:off x="7178040" y="3529584"/>
            <a:ext cx="146304" cy="146304"/>
          </a:xfrm>
          <a:prstGeom prst="ellipse">
            <a:avLst/>
          </a:prstGeom>
          <a:solidFill>
            <a:srgbClr val="FFC107"/>
          </a:solidFill>
          <a:ln w="12700">
            <a:solidFill>
              <a:srgbClr val="FFC107"/>
            </a:solidFill>
            <a:prstDash val="solid"/>
          </a:ln>
        </p:spPr>
      </p:sp>
      <p:sp>
        <p:nvSpPr>
          <p:cNvPr id="12" name="Text 10"/>
          <p:cNvSpPr txBox="1"/>
          <p:nvPr/>
        </p:nvSpPr>
        <p:spPr>
          <a:xfrm>
            <a:off x="7498080" y="3438144"/>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Recuperar la contraseña</a:t>
            </a:r>
            <a:endParaRPr lang="en-US" sz="1700" dirty="0"/>
          </a:p>
        </p:txBody>
      </p:sp>
      <p:sp>
        <p:nvSpPr>
          <p:cNvPr id="13" name="Shape 11"/>
          <p:cNvSpPr/>
          <p:nvPr/>
        </p:nvSpPr>
        <p:spPr>
          <a:xfrm>
            <a:off x="7178040" y="4242816"/>
            <a:ext cx="146304" cy="146304"/>
          </a:xfrm>
          <a:prstGeom prst="ellipse">
            <a:avLst/>
          </a:prstGeom>
          <a:solidFill>
            <a:srgbClr val="FFC107"/>
          </a:solidFill>
          <a:ln w="12700">
            <a:solidFill>
              <a:srgbClr val="FFC107"/>
            </a:solidFill>
            <a:prstDash val="solid"/>
          </a:ln>
        </p:spPr>
      </p:sp>
      <p:sp>
        <p:nvSpPr>
          <p:cNvPr id="14" name="Text 12"/>
          <p:cNvSpPr txBox="1"/>
          <p:nvPr/>
        </p:nvSpPr>
        <p:spPr>
          <a:xfrm>
            <a:off x="7498080" y="4151376"/>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Menú de usuario</a:t>
            </a:r>
            <a:endParaRPr lang="en-US" sz="1700" dirty="0"/>
          </a:p>
        </p:txBody>
      </p:sp>
      <p:sp>
        <p:nvSpPr>
          <p:cNvPr id="15" name="Text 13"/>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8C93C9"/>
                </a:solidFill>
                <a:latin typeface="Calibri" pitchFamily="34" charset="0"/>
                <a:ea typeface="Calibri" pitchFamily="34" charset="-122"/>
                <a:cs typeface="Calibri" pitchFamily="34" charset="-120"/>
              </a:rPr>
              <a:t>Aplicación AWP · Acceso y sesión</a:t>
            </a:r>
            <a:endParaRPr lang="en-US" sz="1000" dirty="0"/>
          </a:p>
        </p:txBody>
      </p:sp>
      <p:sp>
        <p:nvSpPr>
          <p:cNvPr id="16" name="Text 14"/>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8C93C9"/>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Pantalla de inicio de sesión</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Dirección: ehchavezm-hub.github.io/01-awp/app/</a:t>
            </a:r>
            <a:endParaRPr lang="en-US" sz="1500" dirty="0"/>
          </a:p>
        </p:txBody>
      </p:sp>
      <p:sp>
        <p:nvSpPr>
          <p:cNvPr id="4" name="Shape 2"/>
          <p:cNvSpPr/>
          <p:nvPr/>
        </p:nvSpPr>
        <p:spPr>
          <a:xfrm>
            <a:off x="4562856" y="1855460"/>
            <a:ext cx="7135063" cy="4061479"/>
          </a:xfrm>
          <a:prstGeom prst="roundRect">
            <a:avLst>
              <a:gd name="adj" fmla="val 1801"/>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entrar.jpg">    </p:cNvPr>
          <p:cNvPicPr>
            <a:picLocks noChangeAspect="1"/>
          </p:cNvPicPr>
          <p:nvPr/>
        </p:nvPicPr>
        <p:blipFill>
          <a:blip r:embed="rId1"/>
          <a:stretch>
            <a:fillRect/>
          </a:stretch>
        </p:blipFill>
        <p:spPr>
          <a:xfrm>
            <a:off x="4617720" y="1910324"/>
            <a:ext cx="7025335" cy="3951751"/>
          </a:xfrm>
          <a:prstGeom prst="rect">
            <a:avLst/>
          </a:prstGeom>
        </p:spPr>
      </p:pic>
      <p:sp>
        <p:nvSpPr>
          <p:cNvPr id="6" name="Shape 3"/>
          <p:cNvSpPr/>
          <p:nvPr/>
        </p:nvSpPr>
        <p:spPr>
          <a:xfrm>
            <a:off x="548640"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643280" y="1685696"/>
            <a:ext cx="231343" cy="231343"/>
          </a:xfrm>
          <a:prstGeom prst="rect">
            <a:avLst/>
          </a:prstGeom>
        </p:spPr>
      </p:pic>
      <p:sp>
        <p:nvSpPr>
          <p:cNvPr id="8" name="Text 4"/>
          <p:cNvSpPr txBox="1"/>
          <p:nvPr/>
        </p:nvSpPr>
        <p:spPr>
          <a:xfrm>
            <a:off x="1133856" y="157276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Correo y contraseña</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Los mismos del usuario creado en Supabase. El botón del ojo muestra u oculta la contraseña.</a:t>
            </a:r>
            <a:endParaRPr lang="en-US" sz="1500" dirty="0"/>
          </a:p>
        </p:txBody>
      </p:sp>
      <p:sp>
        <p:nvSpPr>
          <p:cNvPr id="9" name="Shape 5"/>
          <p:cNvSpPr/>
          <p:nvPr/>
        </p:nvSpPr>
        <p:spPr>
          <a:xfrm>
            <a:off x="548640" y="2768346"/>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643280" y="2862986"/>
            <a:ext cx="231343" cy="231343"/>
          </a:xfrm>
          <a:prstGeom prst="rect">
            <a:avLst/>
          </a:prstGeom>
        </p:spPr>
      </p:pic>
      <p:sp>
        <p:nvSpPr>
          <p:cNvPr id="11" name="Text 6"/>
          <p:cNvSpPr txBox="1"/>
          <p:nvPr/>
        </p:nvSpPr>
        <p:spPr>
          <a:xfrm>
            <a:off x="1133856" y="275005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Qué ofrece la app</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El panel izquierdo resume lo principal: checklist por etapa, hitos por fase, «Tu próximo paso» y plantillas.</a:t>
            </a:r>
            <a:endParaRPr lang="en-US" sz="1500" dirty="0"/>
          </a:p>
        </p:txBody>
      </p:sp>
      <p:sp>
        <p:nvSpPr>
          <p:cNvPr id="12" name="Shape 7"/>
          <p:cNvSpPr/>
          <p:nvPr/>
        </p:nvSpPr>
        <p:spPr>
          <a:xfrm>
            <a:off x="548640" y="3945636"/>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643280" y="4040276"/>
            <a:ext cx="231343" cy="231343"/>
          </a:xfrm>
          <a:prstGeom prst="rect">
            <a:avLst/>
          </a:prstGeom>
        </p:spPr>
      </p:pic>
      <p:sp>
        <p:nvSpPr>
          <p:cNvPr id="14" name="Text 8"/>
          <p:cNvSpPr txBox="1"/>
          <p:nvPr/>
        </p:nvSpPr>
        <p:spPr>
          <a:xfrm>
            <a:off x="1133856" y="392734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Recursos sin sesión</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El enlace inferior abre la biblioteca de plantillas sin necesidad de entrar.</a:t>
            </a:r>
            <a:endParaRPr lang="en-US" sz="1500" dirty="0"/>
          </a:p>
        </p:txBody>
      </p:sp>
      <p:sp>
        <p:nvSpPr>
          <p:cNvPr id="15" name="Shape 9"/>
          <p:cNvSpPr/>
          <p:nvPr/>
        </p:nvSpPr>
        <p:spPr>
          <a:xfrm>
            <a:off x="548640" y="5122926"/>
            <a:ext cx="420624" cy="420624"/>
          </a:xfrm>
          <a:prstGeom prst="ellipse">
            <a:avLst/>
          </a:prstGeom>
          <a:solidFill>
            <a:srgbClr val="E8EAF6"/>
          </a:solidFill>
          <a:ln w="12700">
            <a:solidFill>
              <a:srgbClr val="E8EAF6"/>
            </a:solidFill>
            <a:prstDash val="solid"/>
          </a:ln>
        </p:spPr>
      </p:sp>
      <p:pic>
        <p:nvPicPr>
          <p:cNvPr id="16" name="Image 4" descr="preencoded.png">    </p:cNvPr>
          <p:cNvPicPr>
            <a:picLocks noChangeAspect="1"/>
          </p:cNvPicPr>
          <p:nvPr/>
        </p:nvPicPr>
        <p:blipFill>
          <a:blip r:embed="rId5"/>
          <a:stretch>
            <a:fillRect/>
          </a:stretch>
        </p:blipFill>
        <p:spPr>
          <a:xfrm>
            <a:off x="643280" y="5217566"/>
            <a:ext cx="231343" cy="231343"/>
          </a:xfrm>
          <a:prstGeom prst="rect">
            <a:avLst/>
          </a:prstGeom>
        </p:spPr>
      </p:pic>
      <p:sp>
        <p:nvSpPr>
          <p:cNvPr id="17" name="Text 10"/>
          <p:cNvSpPr txBox="1"/>
          <p:nvPr/>
        </p:nvSpPr>
        <p:spPr>
          <a:xfrm>
            <a:off x="1133856" y="510463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Sesión recordada</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Al volver, entras directo: la sesión se mantiene en el navegador hasta que la cierres.</a:t>
            </a:r>
            <a:endParaRPr lang="en-US" sz="1500" dirty="0"/>
          </a:p>
        </p:txBody>
      </p:sp>
      <p:sp>
        <p:nvSpPr>
          <p:cNvPr id="18" name="Text 11"/>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Acceso y sesión</a:t>
            </a:r>
            <a:endParaRPr lang="en-US" sz="1000" dirty="0"/>
          </a:p>
        </p:txBody>
      </p:sp>
      <p:sp>
        <p:nvSpPr>
          <p:cNvPr id="19" name="Text 12"/>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Mensajes de error que explican qué hacer</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Nunca un código técnico: siempre la causa y la solución</a:t>
            </a:r>
            <a:endParaRPr lang="en-US" sz="1500" dirty="0"/>
          </a:p>
        </p:txBody>
      </p:sp>
      <p:sp>
        <p:nvSpPr>
          <p:cNvPr id="4" name="Shape 2"/>
          <p:cNvSpPr/>
          <p:nvPr/>
        </p:nvSpPr>
        <p:spPr>
          <a:xfrm>
            <a:off x="4562856" y="1855460"/>
            <a:ext cx="7135063" cy="4061479"/>
          </a:xfrm>
          <a:prstGeom prst="roundRect">
            <a:avLst>
              <a:gd name="adj" fmla="val 1801"/>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entrar_error.jpg">    </p:cNvPr>
          <p:cNvPicPr>
            <a:picLocks noChangeAspect="1"/>
          </p:cNvPicPr>
          <p:nvPr/>
        </p:nvPicPr>
        <p:blipFill>
          <a:blip r:embed="rId1"/>
          <a:stretch>
            <a:fillRect/>
          </a:stretch>
        </p:blipFill>
        <p:spPr>
          <a:xfrm>
            <a:off x="4617720" y="1910324"/>
            <a:ext cx="7025335" cy="3951751"/>
          </a:xfrm>
          <a:prstGeom prst="rect">
            <a:avLst/>
          </a:prstGeom>
        </p:spPr>
      </p:pic>
      <p:sp>
        <p:nvSpPr>
          <p:cNvPr id="6" name="Shape 3"/>
          <p:cNvSpPr/>
          <p:nvPr/>
        </p:nvSpPr>
        <p:spPr>
          <a:xfrm>
            <a:off x="548640"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643280" y="1685696"/>
            <a:ext cx="231343" cy="231343"/>
          </a:xfrm>
          <a:prstGeom prst="rect">
            <a:avLst/>
          </a:prstGeom>
        </p:spPr>
      </p:pic>
      <p:sp>
        <p:nvSpPr>
          <p:cNvPr id="8" name="Text 4"/>
          <p:cNvSpPr txBox="1"/>
          <p:nvPr/>
        </p:nvSpPr>
        <p:spPr>
          <a:xfrm>
            <a:off x="1133856" y="157276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Credenciales incorrectas</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«El correo o la contraseña no coinciden. Revisa mayúsculas y el correo.»</a:t>
            </a:r>
            <a:endParaRPr lang="en-US" sz="1500" dirty="0"/>
          </a:p>
        </p:txBody>
      </p:sp>
      <p:sp>
        <p:nvSpPr>
          <p:cNvPr id="9" name="Shape 5"/>
          <p:cNvSpPr/>
          <p:nvPr/>
        </p:nvSpPr>
        <p:spPr>
          <a:xfrm>
            <a:off x="548640" y="2768346"/>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643280" y="2862986"/>
            <a:ext cx="231343" cy="231343"/>
          </a:xfrm>
          <a:prstGeom prst="rect">
            <a:avLst/>
          </a:prstGeom>
        </p:spPr>
      </p:pic>
      <p:sp>
        <p:nvSpPr>
          <p:cNvPr id="11" name="Text 6"/>
          <p:cNvSpPr txBox="1"/>
          <p:nvPr/>
        </p:nvSpPr>
        <p:spPr>
          <a:xfrm>
            <a:off x="1133856" y="275005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Siguiente paso sugerido</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El mensaje ofrece «¿Olvidaste tu contraseña?» si no la recuerdas.</a:t>
            </a:r>
            <a:endParaRPr lang="en-US" sz="1500" dirty="0"/>
          </a:p>
        </p:txBody>
      </p:sp>
      <p:sp>
        <p:nvSpPr>
          <p:cNvPr id="12" name="Shape 7"/>
          <p:cNvSpPr/>
          <p:nvPr/>
        </p:nvSpPr>
        <p:spPr>
          <a:xfrm>
            <a:off x="548640" y="3945636"/>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643280" y="4040276"/>
            <a:ext cx="231343" cy="231343"/>
          </a:xfrm>
          <a:prstGeom prst="rect">
            <a:avLst/>
          </a:prstGeom>
        </p:spPr>
      </p:pic>
      <p:sp>
        <p:nvSpPr>
          <p:cNvPr id="14" name="Text 8"/>
          <p:cNvSpPr txBox="1"/>
          <p:nvPr/>
        </p:nvSpPr>
        <p:spPr>
          <a:xfrm>
            <a:off x="1133856" y="392734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Sin pistas para intrusos</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No dice si el correo existe o no: solo que la combinación no coincide.</a:t>
            </a:r>
            <a:endParaRPr lang="en-US" sz="1500" dirty="0"/>
          </a:p>
        </p:txBody>
      </p:sp>
      <p:sp>
        <p:nvSpPr>
          <p:cNvPr id="15" name="Shape 9"/>
          <p:cNvSpPr/>
          <p:nvPr/>
        </p:nvSpPr>
        <p:spPr>
          <a:xfrm>
            <a:off x="548640" y="5122926"/>
            <a:ext cx="420624" cy="420624"/>
          </a:xfrm>
          <a:prstGeom prst="ellipse">
            <a:avLst/>
          </a:prstGeom>
          <a:solidFill>
            <a:srgbClr val="E8EAF6"/>
          </a:solidFill>
          <a:ln w="12700">
            <a:solidFill>
              <a:srgbClr val="E8EAF6"/>
            </a:solidFill>
            <a:prstDash val="solid"/>
          </a:ln>
        </p:spPr>
      </p:sp>
      <p:pic>
        <p:nvPicPr>
          <p:cNvPr id="16" name="Image 4" descr="preencoded.png">    </p:cNvPr>
          <p:cNvPicPr>
            <a:picLocks noChangeAspect="1"/>
          </p:cNvPicPr>
          <p:nvPr/>
        </p:nvPicPr>
        <p:blipFill>
          <a:blip r:embed="rId5"/>
          <a:stretch>
            <a:fillRect/>
          </a:stretch>
        </p:blipFill>
        <p:spPr>
          <a:xfrm>
            <a:off x="643280" y="5217566"/>
            <a:ext cx="231343" cy="231343"/>
          </a:xfrm>
          <a:prstGeom prst="rect">
            <a:avLst/>
          </a:prstGeom>
        </p:spPr>
      </p:pic>
      <p:sp>
        <p:nvSpPr>
          <p:cNvPr id="17" name="Text 10"/>
          <p:cNvSpPr txBox="1"/>
          <p:nvPr/>
        </p:nvSpPr>
        <p:spPr>
          <a:xfrm>
            <a:off x="1133856" y="510463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Mismo estilo en toda la app</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Todos los errores, del formulario o de la base de datos, se traducen a mensajes en español.</a:t>
            </a:r>
            <a:endParaRPr lang="en-US" sz="1500" dirty="0"/>
          </a:p>
        </p:txBody>
      </p:sp>
      <p:sp>
        <p:nvSpPr>
          <p:cNvPr id="18" name="Text 11"/>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Acceso y sesión</a:t>
            </a:r>
            <a:endParaRPr lang="en-US" sz="1000" dirty="0"/>
          </a:p>
        </p:txBody>
      </p:sp>
      <p:sp>
        <p:nvSpPr>
          <p:cNvPr id="19" name="Text 12"/>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Recuperar la contraseña</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El enlace llega por correo y abre la pantalla «Nueva contraseña»</a:t>
            </a:r>
            <a:endParaRPr lang="en-US" sz="1500" dirty="0"/>
          </a:p>
        </p:txBody>
      </p:sp>
      <p:sp>
        <p:nvSpPr>
          <p:cNvPr id="4" name="Shape 2"/>
          <p:cNvSpPr/>
          <p:nvPr/>
        </p:nvSpPr>
        <p:spPr>
          <a:xfrm>
            <a:off x="4562856" y="1855460"/>
            <a:ext cx="7135063" cy="4061479"/>
          </a:xfrm>
          <a:prstGeom prst="roundRect">
            <a:avLst>
              <a:gd name="adj" fmla="val 1801"/>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entrar_olvide.jpg">    </p:cNvPr>
          <p:cNvPicPr>
            <a:picLocks noChangeAspect="1"/>
          </p:cNvPicPr>
          <p:nvPr/>
        </p:nvPicPr>
        <p:blipFill>
          <a:blip r:embed="rId1"/>
          <a:stretch>
            <a:fillRect/>
          </a:stretch>
        </p:blipFill>
        <p:spPr>
          <a:xfrm>
            <a:off x="4617720" y="1910324"/>
            <a:ext cx="7025335" cy="3951751"/>
          </a:xfrm>
          <a:prstGeom prst="rect">
            <a:avLst/>
          </a:prstGeom>
        </p:spPr>
      </p:pic>
      <p:sp>
        <p:nvSpPr>
          <p:cNvPr id="6" name="Shape 3"/>
          <p:cNvSpPr/>
          <p:nvPr/>
        </p:nvSpPr>
        <p:spPr>
          <a:xfrm>
            <a:off x="548640"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643280" y="1685696"/>
            <a:ext cx="231343" cy="231343"/>
          </a:xfrm>
          <a:prstGeom prst="rect">
            <a:avLst/>
          </a:prstGeom>
        </p:spPr>
      </p:pic>
      <p:sp>
        <p:nvSpPr>
          <p:cNvPr id="8" name="Text 4"/>
          <p:cNvSpPr txBox="1"/>
          <p:nvPr/>
        </p:nvSpPr>
        <p:spPr>
          <a:xfrm>
            <a:off x="1133856" y="157276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1. Pide el enlace</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Escribe tu correo y toca «¿Olvidaste tu contraseña?». Supabase envía un correo con un enlace.</a:t>
            </a:r>
            <a:endParaRPr lang="en-US" sz="1500" dirty="0"/>
          </a:p>
        </p:txBody>
      </p:sp>
      <p:sp>
        <p:nvSpPr>
          <p:cNvPr id="9" name="Shape 5"/>
          <p:cNvSpPr/>
          <p:nvPr/>
        </p:nvSpPr>
        <p:spPr>
          <a:xfrm>
            <a:off x="548640" y="2768346"/>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643280" y="2862986"/>
            <a:ext cx="231343" cy="231343"/>
          </a:xfrm>
          <a:prstGeom prst="rect">
            <a:avLst/>
          </a:prstGeom>
        </p:spPr>
      </p:pic>
      <p:sp>
        <p:nvSpPr>
          <p:cNvPr id="11" name="Text 6"/>
          <p:cNvSpPr txBox="1"/>
          <p:nvPr/>
        </p:nvSpPr>
        <p:spPr>
          <a:xfrm>
            <a:off x="1133856" y="275005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2. Define la nueva</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El enlace abre la aplicación en «Nueva contraseña». Escríbela dos veces.</a:t>
            </a:r>
            <a:endParaRPr lang="en-US" sz="1500" dirty="0"/>
          </a:p>
        </p:txBody>
      </p:sp>
      <p:sp>
        <p:nvSpPr>
          <p:cNvPr id="12" name="Shape 7"/>
          <p:cNvSpPr/>
          <p:nvPr/>
        </p:nvSpPr>
        <p:spPr>
          <a:xfrm>
            <a:off x="548640" y="3945636"/>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643280" y="4040276"/>
            <a:ext cx="231343" cy="231343"/>
          </a:xfrm>
          <a:prstGeom prst="rect">
            <a:avLst/>
          </a:prstGeom>
        </p:spPr>
      </p:pic>
      <p:sp>
        <p:nvSpPr>
          <p:cNvPr id="14" name="Text 8"/>
          <p:cNvSpPr txBox="1"/>
          <p:nvPr/>
        </p:nvSpPr>
        <p:spPr>
          <a:xfrm>
            <a:off x="1133856" y="392734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3. Entra</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Al guardar, quedas con la sesión iniciada y vas al portafolio.</a:t>
            </a:r>
            <a:endParaRPr lang="en-US" sz="1500" dirty="0"/>
          </a:p>
        </p:txBody>
      </p:sp>
      <p:sp>
        <p:nvSpPr>
          <p:cNvPr id="15" name="Shape 9"/>
          <p:cNvSpPr/>
          <p:nvPr/>
        </p:nvSpPr>
        <p:spPr>
          <a:xfrm>
            <a:off x="548640" y="5122926"/>
            <a:ext cx="420624" cy="420624"/>
          </a:xfrm>
          <a:prstGeom prst="ellipse">
            <a:avLst/>
          </a:prstGeom>
          <a:solidFill>
            <a:srgbClr val="E8EAF6"/>
          </a:solidFill>
          <a:ln w="12700">
            <a:solidFill>
              <a:srgbClr val="E8EAF6"/>
            </a:solidFill>
            <a:prstDash val="solid"/>
          </a:ln>
        </p:spPr>
      </p:sp>
      <p:pic>
        <p:nvPicPr>
          <p:cNvPr id="16" name="Image 4" descr="preencoded.png">    </p:cNvPr>
          <p:cNvPicPr>
            <a:picLocks noChangeAspect="1"/>
          </p:cNvPicPr>
          <p:nvPr/>
        </p:nvPicPr>
        <p:blipFill>
          <a:blip r:embed="rId5"/>
          <a:stretch>
            <a:fillRect/>
          </a:stretch>
        </p:blipFill>
        <p:spPr>
          <a:xfrm>
            <a:off x="643280" y="5217566"/>
            <a:ext cx="231343" cy="231343"/>
          </a:xfrm>
          <a:prstGeom prst="rect">
            <a:avLst/>
          </a:prstGeom>
        </p:spPr>
      </p:pic>
      <p:sp>
        <p:nvSpPr>
          <p:cNvPr id="17" name="Text 10"/>
          <p:cNvSpPr txBox="1"/>
          <p:nvPr/>
        </p:nvSpPr>
        <p:spPr>
          <a:xfrm>
            <a:off x="1133856" y="510463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Si no llega</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Revisa el correo no deseado; el enlace vence después de un tiempo y puedes pedir otro.</a:t>
            </a:r>
            <a:endParaRPr lang="en-US" sz="1500" dirty="0"/>
          </a:p>
        </p:txBody>
      </p:sp>
      <p:sp>
        <p:nvSpPr>
          <p:cNvPr id="18" name="Text 11"/>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Acceso y sesión</a:t>
            </a:r>
            <a:endParaRPr lang="en-US" sz="1000" dirty="0"/>
          </a:p>
        </p:txBody>
      </p:sp>
      <p:sp>
        <p:nvSpPr>
          <p:cNvPr id="19" name="Text 12"/>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Menú de usuario y cierre de sesión</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El círculo con tus iniciales, arriba a la derecha</a:t>
            </a:r>
            <a:endParaRPr lang="en-US" sz="1500" dirty="0"/>
          </a:p>
        </p:txBody>
      </p:sp>
      <p:sp>
        <p:nvSpPr>
          <p:cNvPr id="4" name="Shape 2"/>
          <p:cNvSpPr/>
          <p:nvPr/>
        </p:nvSpPr>
        <p:spPr>
          <a:xfrm>
            <a:off x="4562856" y="1855460"/>
            <a:ext cx="7135063" cy="4061479"/>
          </a:xfrm>
          <a:prstGeom prst="roundRect">
            <a:avLst>
              <a:gd name="adj" fmla="val 1801"/>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menu_usuario.jpg">    </p:cNvPr>
          <p:cNvPicPr>
            <a:picLocks noChangeAspect="1"/>
          </p:cNvPicPr>
          <p:nvPr/>
        </p:nvPicPr>
        <p:blipFill>
          <a:blip r:embed="rId1"/>
          <a:stretch>
            <a:fillRect/>
          </a:stretch>
        </p:blipFill>
        <p:spPr>
          <a:xfrm>
            <a:off x="4617720" y="1910324"/>
            <a:ext cx="7025335" cy="3951751"/>
          </a:xfrm>
          <a:prstGeom prst="rect">
            <a:avLst/>
          </a:prstGeom>
        </p:spPr>
      </p:pic>
      <p:sp>
        <p:nvSpPr>
          <p:cNvPr id="6" name="Shape 3"/>
          <p:cNvSpPr/>
          <p:nvPr/>
        </p:nvSpPr>
        <p:spPr>
          <a:xfrm>
            <a:off x="548640"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643280" y="1685696"/>
            <a:ext cx="231343" cy="231343"/>
          </a:xfrm>
          <a:prstGeom prst="rect">
            <a:avLst/>
          </a:prstGeom>
        </p:spPr>
      </p:pic>
      <p:sp>
        <p:nvSpPr>
          <p:cNvPr id="8" name="Text 4"/>
          <p:cNvSpPr txBox="1"/>
          <p:nvPr/>
        </p:nvSpPr>
        <p:spPr>
          <a:xfrm>
            <a:off x="1133856" y="157276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Con quién entraste</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Muestra el correo de la sesión activa.</a:t>
            </a:r>
            <a:endParaRPr lang="en-US" sz="1500" dirty="0"/>
          </a:p>
        </p:txBody>
      </p:sp>
      <p:sp>
        <p:nvSpPr>
          <p:cNvPr id="9" name="Shape 5"/>
          <p:cNvSpPr/>
          <p:nvPr/>
        </p:nvSpPr>
        <p:spPr>
          <a:xfrm>
            <a:off x="548640" y="2768346"/>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643280" y="2862986"/>
            <a:ext cx="231343" cy="231343"/>
          </a:xfrm>
          <a:prstGeom prst="rect">
            <a:avLst/>
          </a:prstGeom>
        </p:spPr>
      </p:pic>
      <p:sp>
        <p:nvSpPr>
          <p:cNvPr id="11" name="Text 6"/>
          <p:cNvSpPr txBox="1"/>
          <p:nvPr/>
        </p:nvSpPr>
        <p:spPr>
          <a:xfrm>
            <a:off x="1133856" y="275005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Ver el recorrido guiado</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Repite el tour de bienvenida cuando quieras.</a:t>
            </a:r>
            <a:endParaRPr lang="en-US" sz="1500" dirty="0"/>
          </a:p>
        </p:txBody>
      </p:sp>
      <p:sp>
        <p:nvSpPr>
          <p:cNvPr id="12" name="Shape 7"/>
          <p:cNvSpPr/>
          <p:nvPr/>
        </p:nvSpPr>
        <p:spPr>
          <a:xfrm>
            <a:off x="548640" y="3945636"/>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643280" y="4040276"/>
            <a:ext cx="231343" cy="231343"/>
          </a:xfrm>
          <a:prstGeom prst="rect">
            <a:avLst/>
          </a:prstGeom>
        </p:spPr>
      </p:pic>
      <p:sp>
        <p:nvSpPr>
          <p:cNvPr id="14" name="Text 8"/>
          <p:cNvSpPr txBox="1"/>
          <p:nvPr/>
        </p:nvSpPr>
        <p:spPr>
          <a:xfrm>
            <a:off x="1133856" y="392734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Recursos del kit</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Acceso directo a la biblioteca de plantillas.</a:t>
            </a:r>
            <a:endParaRPr lang="en-US" sz="1500" dirty="0"/>
          </a:p>
        </p:txBody>
      </p:sp>
      <p:sp>
        <p:nvSpPr>
          <p:cNvPr id="15" name="Shape 9"/>
          <p:cNvSpPr/>
          <p:nvPr/>
        </p:nvSpPr>
        <p:spPr>
          <a:xfrm>
            <a:off x="548640" y="5122926"/>
            <a:ext cx="420624" cy="420624"/>
          </a:xfrm>
          <a:prstGeom prst="ellipse">
            <a:avLst/>
          </a:prstGeom>
          <a:solidFill>
            <a:srgbClr val="E8EAF6"/>
          </a:solidFill>
          <a:ln w="12700">
            <a:solidFill>
              <a:srgbClr val="E8EAF6"/>
            </a:solidFill>
            <a:prstDash val="solid"/>
          </a:ln>
        </p:spPr>
      </p:sp>
      <p:pic>
        <p:nvPicPr>
          <p:cNvPr id="16" name="Image 4" descr="preencoded.png">    </p:cNvPr>
          <p:cNvPicPr>
            <a:picLocks noChangeAspect="1"/>
          </p:cNvPicPr>
          <p:nvPr/>
        </p:nvPicPr>
        <p:blipFill>
          <a:blip r:embed="rId5"/>
          <a:stretch>
            <a:fillRect/>
          </a:stretch>
        </p:blipFill>
        <p:spPr>
          <a:xfrm>
            <a:off x="643280" y="5217566"/>
            <a:ext cx="231343" cy="231343"/>
          </a:xfrm>
          <a:prstGeom prst="rect">
            <a:avLst/>
          </a:prstGeom>
        </p:spPr>
      </p:pic>
      <p:sp>
        <p:nvSpPr>
          <p:cNvPr id="17" name="Text 10"/>
          <p:cNvSpPr txBox="1"/>
          <p:nvPr/>
        </p:nvSpPr>
        <p:spPr>
          <a:xfrm>
            <a:off x="1133856" y="510463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Cerrar sesión</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Úsalo en computadoras compartidas: borra la sesión de ese navegador.</a:t>
            </a:r>
            <a:endParaRPr lang="en-US" sz="1500" dirty="0"/>
          </a:p>
        </p:txBody>
      </p:sp>
      <p:sp>
        <p:nvSpPr>
          <p:cNvPr id="18" name="Text 11"/>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Acceso y sesión</a:t>
            </a:r>
            <a:endParaRPr lang="en-US" sz="1000" dirty="0"/>
          </a:p>
        </p:txBody>
      </p:sp>
      <p:sp>
        <p:nvSpPr>
          <p:cNvPr id="19" name="Text 12"/>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1F4B"/>
        </a:solidFill>
      </p:bgPr>
    </p:bg>
    <p:spTree>
      <p:nvGrpSpPr>
        <p:cNvPr id="1" name=""/>
        <p:cNvGrpSpPr/>
        <p:nvPr/>
      </p:nvGrpSpPr>
      <p:grpSpPr>
        <a:xfrm>
          <a:off x="0" y="0"/>
          <a:ext cx="0" cy="0"/>
          <a:chOff x="0" y="0"/>
          <a:chExt cx="0" cy="0"/>
        </a:xfrm>
      </p:grpSpPr>
      <p:sp>
        <p:nvSpPr>
          <p:cNvPr id="2" name="Text 0"/>
          <p:cNvSpPr txBox="1"/>
          <p:nvPr/>
        </p:nvSpPr>
        <p:spPr>
          <a:xfrm>
            <a:off x="548640" y="1188720"/>
            <a:ext cx="2743200" cy="1371600"/>
          </a:xfrm>
          <a:prstGeom prst="rect">
            <a:avLst/>
          </a:prstGeom>
          <a:noFill/>
          <a:ln/>
        </p:spPr>
        <p:txBody>
          <a:bodyPr wrap="square" lIns="0" tIns="0" rIns="0" bIns="0" rtlCol="0" anchor="t"/>
          <a:lstStyle/>
          <a:p>
            <a:pPr indent="0" marL="0">
              <a:buNone/>
            </a:pPr>
            <a:r>
              <a:rPr lang="en-US" sz="9600" b="1" dirty="0">
                <a:solidFill>
                  <a:srgbClr val="FFC107"/>
                </a:solidFill>
                <a:latin typeface="Calibri" pitchFamily="34" charset="0"/>
                <a:ea typeface="Calibri" pitchFamily="34" charset="-122"/>
                <a:cs typeface="Calibri" pitchFamily="34" charset="-120"/>
              </a:rPr>
              <a:t>03</a:t>
            </a:r>
            <a:endParaRPr lang="en-US" sz="9600" dirty="0"/>
          </a:p>
        </p:txBody>
      </p:sp>
      <p:sp>
        <p:nvSpPr>
          <p:cNvPr id="3" name="Text 1"/>
          <p:cNvSpPr txBox="1"/>
          <p:nvPr/>
        </p:nvSpPr>
        <p:spPr>
          <a:xfrm>
            <a:off x="548640" y="2697480"/>
            <a:ext cx="5852160" cy="73152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Recorrido guiado</a:t>
            </a:r>
            <a:endParaRPr lang="en-US" sz="3800" dirty="0"/>
          </a:p>
        </p:txBody>
      </p:sp>
      <p:sp>
        <p:nvSpPr>
          <p:cNvPr id="4" name="Text 2"/>
          <p:cNvSpPr txBox="1"/>
          <p:nvPr/>
        </p:nvSpPr>
        <p:spPr>
          <a:xfrm>
            <a:off x="548640" y="3566160"/>
            <a:ext cx="5486400" cy="1097280"/>
          </a:xfrm>
          <a:prstGeom prst="rect">
            <a:avLst/>
          </a:prstGeom>
          <a:noFill/>
          <a:ln/>
        </p:spPr>
        <p:txBody>
          <a:bodyPr wrap="square" lIns="0" tIns="0" rIns="0" bIns="0" rtlCol="0" anchor="t"/>
          <a:lstStyle/>
          <a:p>
            <a:pPr indent="0" marL="0">
              <a:buNone/>
            </a:pPr>
            <a:r>
              <a:rPr lang="en-US" sz="1800" dirty="0">
                <a:solidFill>
                  <a:srgbClr val="C5CAE9"/>
                </a:solidFill>
                <a:latin typeface="Calibri" pitchFamily="34" charset="0"/>
                <a:ea typeface="Calibri" pitchFamily="34" charset="-122"/>
                <a:cs typeface="Calibri" pitchFamily="34" charset="-120"/>
              </a:rPr>
              <a:t>La primera vez, la aplicación se presenta sola</a:t>
            </a:r>
            <a:endParaRPr lang="en-US" sz="1800" dirty="0"/>
          </a:p>
        </p:txBody>
      </p:sp>
      <p:sp>
        <p:nvSpPr>
          <p:cNvPr id="5" name="Shape 3"/>
          <p:cNvSpPr/>
          <p:nvPr/>
        </p:nvSpPr>
        <p:spPr>
          <a:xfrm>
            <a:off x="6766560" y="1234440"/>
            <a:ext cx="4892040" cy="4480560"/>
          </a:xfrm>
          <a:prstGeom prst="roundRect">
            <a:avLst>
              <a:gd name="adj" fmla="val 2449"/>
            </a:avLst>
          </a:prstGeom>
          <a:solidFill>
            <a:srgbClr val="252B5E"/>
          </a:solidFill>
          <a:ln w="12700">
            <a:solidFill>
              <a:srgbClr val="3C4488"/>
            </a:solidFill>
            <a:prstDash val="solid"/>
          </a:ln>
        </p:spPr>
      </p:sp>
      <p:sp>
        <p:nvSpPr>
          <p:cNvPr id="6" name="Text 4"/>
          <p:cNvSpPr txBox="1"/>
          <p:nvPr/>
        </p:nvSpPr>
        <p:spPr>
          <a:xfrm>
            <a:off x="7132320" y="1508760"/>
            <a:ext cx="4206240" cy="320040"/>
          </a:xfrm>
          <a:prstGeom prst="rect">
            <a:avLst/>
          </a:prstGeom>
          <a:noFill/>
          <a:ln/>
        </p:spPr>
        <p:txBody>
          <a:bodyPr wrap="square" lIns="0" tIns="0" rIns="0" bIns="0" rtlCol="0" anchor="t"/>
          <a:lstStyle/>
          <a:p>
            <a:pPr indent="0" marL="0">
              <a:buNone/>
            </a:pPr>
            <a:r>
              <a:rPr lang="en-US" sz="1200" b="1" spc="200" kern="0" dirty="0">
                <a:solidFill>
                  <a:srgbClr val="FFC107"/>
                </a:solidFill>
                <a:latin typeface="Calibri" pitchFamily="34" charset="0"/>
                <a:ea typeface="Calibri" pitchFamily="34" charset="-122"/>
                <a:cs typeface="Calibri" pitchFamily="34" charset="-120"/>
              </a:rPr>
              <a:t>EN ESTA SECCIÓN</a:t>
            </a:r>
            <a:endParaRPr lang="en-US" sz="1200" dirty="0"/>
          </a:p>
        </p:txBody>
      </p:sp>
      <p:sp>
        <p:nvSpPr>
          <p:cNvPr id="7" name="Shape 5"/>
          <p:cNvSpPr/>
          <p:nvPr/>
        </p:nvSpPr>
        <p:spPr>
          <a:xfrm>
            <a:off x="7178040" y="2103120"/>
            <a:ext cx="146304" cy="146304"/>
          </a:xfrm>
          <a:prstGeom prst="ellipse">
            <a:avLst/>
          </a:prstGeom>
          <a:solidFill>
            <a:srgbClr val="FFC107"/>
          </a:solidFill>
          <a:ln w="12700">
            <a:solidFill>
              <a:srgbClr val="FFC107"/>
            </a:solidFill>
            <a:prstDash val="solid"/>
          </a:ln>
        </p:spPr>
      </p:sp>
      <p:sp>
        <p:nvSpPr>
          <p:cNvPr id="8" name="Text 6"/>
          <p:cNvSpPr txBox="1"/>
          <p:nvPr/>
        </p:nvSpPr>
        <p:spPr>
          <a:xfrm>
            <a:off x="7498080" y="2011680"/>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Seis paradas en un minuto</a:t>
            </a:r>
            <a:endParaRPr lang="en-US" sz="1700" dirty="0"/>
          </a:p>
        </p:txBody>
      </p:sp>
      <p:sp>
        <p:nvSpPr>
          <p:cNvPr id="9" name="Shape 7"/>
          <p:cNvSpPr/>
          <p:nvPr/>
        </p:nvSpPr>
        <p:spPr>
          <a:xfrm>
            <a:off x="7178040" y="2816352"/>
            <a:ext cx="146304" cy="146304"/>
          </a:xfrm>
          <a:prstGeom prst="ellipse">
            <a:avLst/>
          </a:prstGeom>
          <a:solidFill>
            <a:srgbClr val="FFC107"/>
          </a:solidFill>
          <a:ln w="12700">
            <a:solidFill>
              <a:srgbClr val="FFC107"/>
            </a:solidFill>
            <a:prstDash val="solid"/>
          </a:ln>
        </p:spPr>
      </p:sp>
      <p:sp>
        <p:nvSpPr>
          <p:cNvPr id="10" name="Text 8"/>
          <p:cNvSpPr txBox="1"/>
          <p:nvPr/>
        </p:nvSpPr>
        <p:spPr>
          <a:xfrm>
            <a:off x="7498080" y="2724912"/>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Se puede saltar o repetir</a:t>
            </a:r>
            <a:endParaRPr lang="en-US" sz="1700" dirty="0"/>
          </a:p>
        </p:txBody>
      </p:sp>
      <p:sp>
        <p:nvSpPr>
          <p:cNvPr id="11" name="Shape 9"/>
          <p:cNvSpPr/>
          <p:nvPr/>
        </p:nvSpPr>
        <p:spPr>
          <a:xfrm>
            <a:off x="7178040" y="3529584"/>
            <a:ext cx="146304" cy="146304"/>
          </a:xfrm>
          <a:prstGeom prst="ellipse">
            <a:avLst/>
          </a:prstGeom>
          <a:solidFill>
            <a:srgbClr val="FFC107"/>
          </a:solidFill>
          <a:ln w="12700">
            <a:solidFill>
              <a:srgbClr val="FFC107"/>
            </a:solidFill>
            <a:prstDash val="solid"/>
          </a:ln>
        </p:spPr>
      </p:sp>
      <p:sp>
        <p:nvSpPr>
          <p:cNvPr id="12" name="Text 10"/>
          <p:cNvSpPr txBox="1"/>
          <p:nvPr/>
        </p:nvSpPr>
        <p:spPr>
          <a:xfrm>
            <a:off x="7498080" y="3438144"/>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Se recuerda por usuario</a:t>
            </a:r>
            <a:endParaRPr lang="en-US" sz="1700" dirty="0"/>
          </a:p>
        </p:txBody>
      </p:sp>
      <p:sp>
        <p:nvSpPr>
          <p:cNvPr id="13" name="Text 11"/>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8C93C9"/>
                </a:solidFill>
                <a:latin typeface="Calibri" pitchFamily="34" charset="0"/>
                <a:ea typeface="Calibri" pitchFamily="34" charset="-122"/>
                <a:cs typeface="Calibri" pitchFamily="34" charset="-120"/>
              </a:rPr>
              <a:t>Aplicación AWP · Recorrido guiado</a:t>
            </a:r>
            <a:endParaRPr lang="en-US" sz="1000" dirty="0"/>
          </a:p>
        </p:txBody>
      </p:sp>
      <p:sp>
        <p:nvSpPr>
          <p:cNvPr id="14" name="Text 12"/>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8C93C9"/>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Bienvenida: la primera parada</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Aparece automáticamente la primera vez que entras</a:t>
            </a:r>
            <a:endParaRPr lang="en-US" sz="1500" dirty="0"/>
          </a:p>
        </p:txBody>
      </p:sp>
      <p:sp>
        <p:nvSpPr>
          <p:cNvPr id="4" name="Shape 2"/>
          <p:cNvSpPr/>
          <p:nvPr/>
        </p:nvSpPr>
        <p:spPr>
          <a:xfrm>
            <a:off x="4562856" y="1855460"/>
            <a:ext cx="7135063" cy="4061479"/>
          </a:xfrm>
          <a:prstGeom prst="roundRect">
            <a:avLst>
              <a:gd name="adj" fmla="val 1801"/>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tour_1.jpg">    </p:cNvPr>
          <p:cNvPicPr>
            <a:picLocks noChangeAspect="1"/>
          </p:cNvPicPr>
          <p:nvPr/>
        </p:nvPicPr>
        <p:blipFill>
          <a:blip r:embed="rId1"/>
          <a:stretch>
            <a:fillRect/>
          </a:stretch>
        </p:blipFill>
        <p:spPr>
          <a:xfrm>
            <a:off x="4617720" y="1910324"/>
            <a:ext cx="7025335" cy="3951751"/>
          </a:xfrm>
          <a:prstGeom prst="rect">
            <a:avLst/>
          </a:prstGeom>
        </p:spPr>
      </p:pic>
      <p:sp>
        <p:nvSpPr>
          <p:cNvPr id="6" name="Shape 3"/>
          <p:cNvSpPr/>
          <p:nvPr/>
        </p:nvSpPr>
        <p:spPr>
          <a:xfrm>
            <a:off x="548640"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643280" y="1685696"/>
            <a:ext cx="231343" cy="231343"/>
          </a:xfrm>
          <a:prstGeom prst="rect">
            <a:avLst/>
          </a:prstGeom>
        </p:spPr>
      </p:pic>
      <p:sp>
        <p:nvSpPr>
          <p:cNvPr id="8" name="Text 4"/>
          <p:cNvSpPr txBox="1"/>
          <p:nvPr/>
        </p:nvSpPr>
        <p:spPr>
          <a:xfrm>
            <a:off x="1133856" y="157276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Qué es la aplicación</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«Esta aplicación te acompaña a implementar AWP en tus proyectos. Te muestro lo principal en un minuto.»</a:t>
            </a:r>
            <a:endParaRPr lang="en-US" sz="1500" dirty="0"/>
          </a:p>
        </p:txBody>
      </p:sp>
      <p:sp>
        <p:nvSpPr>
          <p:cNvPr id="9" name="Shape 5"/>
          <p:cNvSpPr/>
          <p:nvPr/>
        </p:nvSpPr>
        <p:spPr>
          <a:xfrm>
            <a:off x="548640" y="2768346"/>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643280" y="2862986"/>
            <a:ext cx="231343" cy="231343"/>
          </a:xfrm>
          <a:prstGeom prst="rect">
            <a:avLst/>
          </a:prstGeom>
        </p:spPr>
      </p:pic>
      <p:sp>
        <p:nvSpPr>
          <p:cNvPr id="11" name="Text 6"/>
          <p:cNvSpPr txBox="1"/>
          <p:nvPr/>
        </p:nvSpPr>
        <p:spPr>
          <a:xfrm>
            <a:off x="1133856" y="275005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Resalta el elemento</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Cada parada ilumina la parte de la pantalla de la que habla, con un borde ámbar.</a:t>
            </a:r>
            <a:endParaRPr lang="en-US" sz="1500" dirty="0"/>
          </a:p>
        </p:txBody>
      </p:sp>
      <p:sp>
        <p:nvSpPr>
          <p:cNvPr id="12" name="Shape 7"/>
          <p:cNvSpPr/>
          <p:nvPr/>
        </p:nvSpPr>
        <p:spPr>
          <a:xfrm>
            <a:off x="548640" y="3945636"/>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643280" y="4040276"/>
            <a:ext cx="231343" cy="231343"/>
          </a:xfrm>
          <a:prstGeom prst="rect">
            <a:avLst/>
          </a:prstGeom>
        </p:spPr>
      </p:pic>
      <p:sp>
        <p:nvSpPr>
          <p:cNvPr id="14" name="Text 8"/>
          <p:cNvSpPr txBox="1"/>
          <p:nvPr/>
        </p:nvSpPr>
        <p:spPr>
          <a:xfrm>
            <a:off x="1133856" y="392734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Siguiente o Saltar</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Avanzas a tu ritmo; los puntos indican en qué parada vas.</a:t>
            </a:r>
            <a:endParaRPr lang="en-US" sz="1500" dirty="0"/>
          </a:p>
        </p:txBody>
      </p:sp>
      <p:sp>
        <p:nvSpPr>
          <p:cNvPr id="15" name="Shape 9"/>
          <p:cNvSpPr/>
          <p:nvPr/>
        </p:nvSpPr>
        <p:spPr>
          <a:xfrm>
            <a:off x="548640" y="5122926"/>
            <a:ext cx="420624" cy="420624"/>
          </a:xfrm>
          <a:prstGeom prst="ellipse">
            <a:avLst/>
          </a:prstGeom>
          <a:solidFill>
            <a:srgbClr val="E8EAF6"/>
          </a:solidFill>
          <a:ln w="12700">
            <a:solidFill>
              <a:srgbClr val="E8EAF6"/>
            </a:solidFill>
            <a:prstDash val="solid"/>
          </a:ln>
        </p:spPr>
      </p:sp>
      <p:pic>
        <p:nvPicPr>
          <p:cNvPr id="16" name="Image 4" descr="preencoded.png">    </p:cNvPr>
          <p:cNvPicPr>
            <a:picLocks noChangeAspect="1"/>
          </p:cNvPicPr>
          <p:nvPr/>
        </p:nvPicPr>
        <p:blipFill>
          <a:blip r:embed="rId5"/>
          <a:stretch>
            <a:fillRect/>
          </a:stretch>
        </p:blipFill>
        <p:spPr>
          <a:xfrm>
            <a:off x="643280" y="5217566"/>
            <a:ext cx="231343" cy="231343"/>
          </a:xfrm>
          <a:prstGeom prst="rect">
            <a:avLst/>
          </a:prstGeom>
        </p:spPr>
      </p:pic>
      <p:sp>
        <p:nvSpPr>
          <p:cNvPr id="17" name="Text 10"/>
          <p:cNvSpPr txBox="1"/>
          <p:nvPr/>
        </p:nvSpPr>
        <p:spPr>
          <a:xfrm>
            <a:off x="1133856" y="510463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Se recuerda</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Al terminar o saltar, queda marcado en tu perfil y no vuelve a aparecer solo.</a:t>
            </a:r>
            <a:endParaRPr lang="en-US" sz="1500" dirty="0"/>
          </a:p>
        </p:txBody>
      </p:sp>
      <p:sp>
        <p:nvSpPr>
          <p:cNvPr id="18" name="Text 11"/>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Recorrido guiado</a:t>
            </a:r>
            <a:endParaRPr lang="en-US" sz="1000" dirty="0"/>
          </a:p>
        </p:txBody>
      </p:sp>
      <p:sp>
        <p:nvSpPr>
          <p:cNvPr id="19" name="Text 12"/>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Paradas 2 a 4: portafolio, nuevo proyecto y recursos</a:t>
            </a:r>
            <a:endParaRPr lang="en-US" sz="2800" dirty="0"/>
          </a:p>
        </p:txBody>
      </p:sp>
      <p:sp>
        <p:nvSpPr>
          <p:cNvPr id="3" name="Shape 1"/>
          <p:cNvSpPr/>
          <p:nvPr/>
        </p:nvSpPr>
        <p:spPr>
          <a:xfrm>
            <a:off x="548640" y="1773936"/>
            <a:ext cx="3484778" cy="2008194"/>
          </a:xfrm>
          <a:prstGeom prst="roundRect">
            <a:avLst>
              <a:gd name="adj" fmla="val 3643"/>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4" name="Image 0" descr="/tmp/claude-0/-home-user-01-awp/0b94e63d-a2ea-5e41-b4e8-6fcedbe96518/scratchpad/ppt/img/tour_2.jpg">    </p:cNvPr>
          <p:cNvPicPr>
            <a:picLocks noChangeAspect="1"/>
          </p:cNvPicPr>
          <p:nvPr/>
        </p:nvPicPr>
        <p:blipFill>
          <a:blip r:embed="rId1"/>
          <a:stretch>
            <a:fillRect/>
          </a:stretch>
        </p:blipFill>
        <p:spPr>
          <a:xfrm>
            <a:off x="603504" y="1828800"/>
            <a:ext cx="3375050" cy="1898466"/>
          </a:xfrm>
          <a:prstGeom prst="rect">
            <a:avLst/>
          </a:prstGeom>
        </p:spPr>
      </p:pic>
      <p:sp>
        <p:nvSpPr>
          <p:cNvPr id="5" name="Shape 2"/>
          <p:cNvSpPr/>
          <p:nvPr/>
        </p:nvSpPr>
        <p:spPr>
          <a:xfrm>
            <a:off x="548640" y="4047306"/>
            <a:ext cx="3484778" cy="1987734"/>
          </a:xfrm>
          <a:prstGeom prst="roundRect">
            <a:avLst>
              <a:gd name="adj" fmla="val 4600"/>
            </a:avLst>
          </a:prstGeom>
          <a:solidFill>
            <a:srgbClr val="F5F6FB"/>
          </a:solidFill>
          <a:ln w="9525">
            <a:solidFill>
              <a:srgbClr val="E3E5EE"/>
            </a:solidFill>
            <a:prstDash val="solid"/>
          </a:ln>
        </p:spPr>
      </p:sp>
      <p:sp>
        <p:nvSpPr>
          <p:cNvPr id="6" name="Text 3"/>
          <p:cNvSpPr txBox="1"/>
          <p:nvPr/>
        </p:nvSpPr>
        <p:spPr>
          <a:xfrm>
            <a:off x="749808" y="4211898"/>
            <a:ext cx="3082442" cy="1713414"/>
          </a:xfrm>
          <a:prstGeom prst="rect">
            <a:avLst/>
          </a:prstGeom>
          <a:noFill/>
          <a:ln/>
        </p:spPr>
        <p:txBody>
          <a:bodyPr wrap="square" lIns="0" tIns="0" rIns="0" bIns="0" rtlCol="0" anchor="t">
            <a:normAutofit/>
          </a:bodyPr>
          <a:lstStyle/>
          <a:p>
            <a:pPr indent="0" marL="0">
              <a:spcAft>
                <a:spcPts val="400"/>
              </a:spcAft>
              <a:buNone/>
            </a:pPr>
            <a:r>
              <a:rPr lang="en-US" sz="1700" b="1" dirty="0">
                <a:solidFill>
                  <a:srgbClr val="283593"/>
                </a:solidFill>
                <a:latin typeface="Calibri" pitchFamily="34" charset="0"/>
                <a:ea typeface="Calibri" pitchFamily="34" charset="-122"/>
                <a:cs typeface="Calibri" pitchFamily="34" charset="-120"/>
              </a:rPr>
              <a:t>Tu portafolio</a:t>
            </a:r>
            <a:endParaRPr lang="en-US" sz="1700" dirty="0"/>
          </a:p>
          <a:p>
            <a:pPr indent="0" marL="0">
              <a:spcAft>
                <a:spcPts val="400"/>
              </a:spcAft>
              <a:buNone/>
            </a:pPr>
            <a:r>
              <a:rPr lang="en-US" sz="1500" dirty="0">
                <a:solidFill>
                  <a:srgbClr val="1B1C22"/>
                </a:solidFill>
                <a:latin typeface="Calibri" pitchFamily="34" charset="0"/>
                <a:ea typeface="Calibri" pitchFamily="34" charset="-122"/>
                <a:cs typeface="Calibri" pitchFamily="34" charset="-120"/>
              </a:rPr>
              <a:t>% AWP, hitos atrasados y próximo hito de cada proyecto</a:t>
            </a:r>
            <a:endParaRPr lang="en-US" sz="1700" dirty="0"/>
          </a:p>
        </p:txBody>
      </p:sp>
      <p:sp>
        <p:nvSpPr>
          <p:cNvPr id="7" name="Shape 4"/>
          <p:cNvSpPr/>
          <p:nvPr/>
        </p:nvSpPr>
        <p:spPr>
          <a:xfrm>
            <a:off x="4353458" y="1773936"/>
            <a:ext cx="3484778" cy="2008194"/>
          </a:xfrm>
          <a:prstGeom prst="roundRect">
            <a:avLst>
              <a:gd name="adj" fmla="val 3643"/>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8" name="Image 1" descr="/tmp/claude-0/-home-user-01-awp/0b94e63d-a2ea-5e41-b4e8-6fcedbe96518/scratchpad/ppt/img/tour_3.jpg">    </p:cNvPr>
          <p:cNvPicPr>
            <a:picLocks noChangeAspect="1"/>
          </p:cNvPicPr>
          <p:nvPr/>
        </p:nvPicPr>
        <p:blipFill>
          <a:blip r:embed="rId2"/>
          <a:stretch>
            <a:fillRect/>
          </a:stretch>
        </p:blipFill>
        <p:spPr>
          <a:xfrm>
            <a:off x="4408322" y="1828800"/>
            <a:ext cx="3375050" cy="1898466"/>
          </a:xfrm>
          <a:prstGeom prst="rect">
            <a:avLst/>
          </a:prstGeom>
        </p:spPr>
      </p:pic>
      <p:sp>
        <p:nvSpPr>
          <p:cNvPr id="9" name="Shape 5"/>
          <p:cNvSpPr/>
          <p:nvPr/>
        </p:nvSpPr>
        <p:spPr>
          <a:xfrm>
            <a:off x="4353458" y="4047306"/>
            <a:ext cx="3484778" cy="1987734"/>
          </a:xfrm>
          <a:prstGeom prst="roundRect">
            <a:avLst>
              <a:gd name="adj" fmla="val 4600"/>
            </a:avLst>
          </a:prstGeom>
          <a:solidFill>
            <a:srgbClr val="F5F6FB"/>
          </a:solidFill>
          <a:ln w="9525">
            <a:solidFill>
              <a:srgbClr val="E3E5EE"/>
            </a:solidFill>
            <a:prstDash val="solid"/>
          </a:ln>
        </p:spPr>
      </p:sp>
      <p:sp>
        <p:nvSpPr>
          <p:cNvPr id="10" name="Text 6"/>
          <p:cNvSpPr txBox="1"/>
          <p:nvPr/>
        </p:nvSpPr>
        <p:spPr>
          <a:xfrm>
            <a:off x="4554626" y="4211898"/>
            <a:ext cx="3082442" cy="1713414"/>
          </a:xfrm>
          <a:prstGeom prst="rect">
            <a:avLst/>
          </a:prstGeom>
          <a:noFill/>
          <a:ln/>
        </p:spPr>
        <p:txBody>
          <a:bodyPr wrap="square" lIns="0" tIns="0" rIns="0" bIns="0" rtlCol="0" anchor="t">
            <a:normAutofit/>
          </a:bodyPr>
          <a:lstStyle/>
          <a:p>
            <a:pPr indent="0" marL="0">
              <a:spcAft>
                <a:spcPts val="400"/>
              </a:spcAft>
              <a:buNone/>
            </a:pPr>
            <a:r>
              <a:rPr lang="en-US" sz="1700" b="1" dirty="0">
                <a:solidFill>
                  <a:srgbClr val="283593"/>
                </a:solidFill>
                <a:latin typeface="Calibri" pitchFamily="34" charset="0"/>
                <a:ea typeface="Calibri" pitchFamily="34" charset="-122"/>
                <a:cs typeface="Calibri" pitchFamily="34" charset="-120"/>
              </a:rPr>
              <a:t>Crea un proyecto paso a paso</a:t>
            </a:r>
            <a:endParaRPr lang="en-US" sz="1700" dirty="0"/>
          </a:p>
          <a:p>
            <a:pPr indent="0" marL="0">
              <a:spcAft>
                <a:spcPts val="400"/>
              </a:spcAft>
              <a:buNone/>
            </a:pPr>
            <a:r>
              <a:rPr lang="en-US" sz="1500" dirty="0">
                <a:solidFill>
                  <a:srgbClr val="1B1C22"/>
                </a:solidFill>
                <a:latin typeface="Calibri" pitchFamily="34" charset="0"/>
                <a:ea typeface="Calibri" pitchFamily="34" charset="-122"/>
                <a:cs typeface="Calibri" pitchFamily="34" charset="-120"/>
              </a:rPr>
              <a:t>asistente de 4 pasos con checklist e hitos cargados</a:t>
            </a:r>
            <a:endParaRPr lang="en-US" sz="1700" dirty="0"/>
          </a:p>
        </p:txBody>
      </p:sp>
      <p:sp>
        <p:nvSpPr>
          <p:cNvPr id="11" name="Shape 7"/>
          <p:cNvSpPr/>
          <p:nvPr/>
        </p:nvSpPr>
        <p:spPr>
          <a:xfrm>
            <a:off x="8158277" y="1773936"/>
            <a:ext cx="3484778" cy="2008194"/>
          </a:xfrm>
          <a:prstGeom prst="roundRect">
            <a:avLst>
              <a:gd name="adj" fmla="val 3643"/>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12" name="Image 2" descr="/tmp/claude-0/-home-user-01-awp/0b94e63d-a2ea-5e41-b4e8-6fcedbe96518/scratchpad/ppt/img/tour_4.jpg">    </p:cNvPr>
          <p:cNvPicPr>
            <a:picLocks noChangeAspect="1"/>
          </p:cNvPicPr>
          <p:nvPr/>
        </p:nvPicPr>
        <p:blipFill>
          <a:blip r:embed="rId3"/>
          <a:stretch>
            <a:fillRect/>
          </a:stretch>
        </p:blipFill>
        <p:spPr>
          <a:xfrm>
            <a:off x="8213141" y="1828800"/>
            <a:ext cx="3375050" cy="1898466"/>
          </a:xfrm>
          <a:prstGeom prst="rect">
            <a:avLst/>
          </a:prstGeom>
        </p:spPr>
      </p:pic>
      <p:sp>
        <p:nvSpPr>
          <p:cNvPr id="13" name="Shape 8"/>
          <p:cNvSpPr/>
          <p:nvPr/>
        </p:nvSpPr>
        <p:spPr>
          <a:xfrm>
            <a:off x="8158277" y="4047306"/>
            <a:ext cx="3484778" cy="1987734"/>
          </a:xfrm>
          <a:prstGeom prst="roundRect">
            <a:avLst>
              <a:gd name="adj" fmla="val 4600"/>
            </a:avLst>
          </a:prstGeom>
          <a:solidFill>
            <a:srgbClr val="F5F6FB"/>
          </a:solidFill>
          <a:ln w="9525">
            <a:solidFill>
              <a:srgbClr val="E3E5EE"/>
            </a:solidFill>
            <a:prstDash val="solid"/>
          </a:ln>
        </p:spPr>
      </p:sp>
      <p:sp>
        <p:nvSpPr>
          <p:cNvPr id="14" name="Text 9"/>
          <p:cNvSpPr txBox="1"/>
          <p:nvPr/>
        </p:nvSpPr>
        <p:spPr>
          <a:xfrm>
            <a:off x="8359445" y="4211898"/>
            <a:ext cx="3082442" cy="1713414"/>
          </a:xfrm>
          <a:prstGeom prst="rect">
            <a:avLst/>
          </a:prstGeom>
          <a:noFill/>
          <a:ln/>
        </p:spPr>
        <p:txBody>
          <a:bodyPr wrap="square" lIns="0" tIns="0" rIns="0" bIns="0" rtlCol="0" anchor="t">
            <a:normAutofit/>
          </a:bodyPr>
          <a:lstStyle/>
          <a:p>
            <a:pPr indent="0" marL="0">
              <a:spcAft>
                <a:spcPts val="400"/>
              </a:spcAft>
              <a:buNone/>
            </a:pPr>
            <a:r>
              <a:rPr lang="en-US" sz="1700" b="1" dirty="0">
                <a:solidFill>
                  <a:srgbClr val="283593"/>
                </a:solidFill>
                <a:latin typeface="Calibri" pitchFamily="34" charset="0"/>
                <a:ea typeface="Calibri" pitchFamily="34" charset="-122"/>
                <a:cs typeface="Calibri" pitchFamily="34" charset="-120"/>
              </a:rPr>
              <a:t>Recursos del kit</a:t>
            </a:r>
            <a:endParaRPr lang="en-US" sz="1700" dirty="0"/>
          </a:p>
          <a:p>
            <a:pPr indent="0" marL="0">
              <a:spcAft>
                <a:spcPts val="400"/>
              </a:spcAft>
              <a:buNone/>
            </a:pPr>
            <a:r>
              <a:rPr lang="en-US" sz="1500" dirty="0">
                <a:solidFill>
                  <a:srgbClr val="1B1C22"/>
                </a:solidFill>
                <a:latin typeface="Calibri" pitchFamily="34" charset="0"/>
                <a:ea typeface="Calibri" pitchFamily="34" charset="-122"/>
                <a:cs typeface="Calibri" pitchFamily="34" charset="-120"/>
              </a:rPr>
              <a:t>plantillas Word y Excel, plan y presentación</a:t>
            </a:r>
            <a:endParaRPr lang="en-US" sz="1700" dirty="0"/>
          </a:p>
        </p:txBody>
      </p:sp>
      <p:sp>
        <p:nvSpPr>
          <p:cNvPr id="15" name="Text 10"/>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Recorrido guiado</a:t>
            </a:r>
            <a:endParaRPr lang="en-US" sz="1000" dirty="0"/>
          </a:p>
        </p:txBody>
      </p:sp>
      <p:sp>
        <p:nvSpPr>
          <p:cNvPr id="16" name="Text 11"/>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Paradas 5 y 6, y cómo repetirlo</a:t>
            </a:r>
            <a:endParaRPr lang="en-US" sz="2800" dirty="0"/>
          </a:p>
        </p:txBody>
      </p:sp>
      <p:sp>
        <p:nvSpPr>
          <p:cNvPr id="3" name="Shape 1"/>
          <p:cNvSpPr/>
          <p:nvPr/>
        </p:nvSpPr>
        <p:spPr>
          <a:xfrm>
            <a:off x="548640" y="1773936"/>
            <a:ext cx="3484778" cy="2008194"/>
          </a:xfrm>
          <a:prstGeom prst="roundRect">
            <a:avLst>
              <a:gd name="adj" fmla="val 3643"/>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4" name="Image 0" descr="/tmp/claude-0/-home-user-01-awp/0b94e63d-a2ea-5e41-b4e8-6fcedbe96518/scratchpad/ppt/img/tour_5.jpg">    </p:cNvPr>
          <p:cNvPicPr>
            <a:picLocks noChangeAspect="1"/>
          </p:cNvPicPr>
          <p:nvPr/>
        </p:nvPicPr>
        <p:blipFill>
          <a:blip r:embed="rId1"/>
          <a:stretch>
            <a:fillRect/>
          </a:stretch>
        </p:blipFill>
        <p:spPr>
          <a:xfrm>
            <a:off x="603504" y="1828800"/>
            <a:ext cx="3375050" cy="1898466"/>
          </a:xfrm>
          <a:prstGeom prst="rect">
            <a:avLst/>
          </a:prstGeom>
        </p:spPr>
      </p:pic>
      <p:sp>
        <p:nvSpPr>
          <p:cNvPr id="5" name="Shape 2"/>
          <p:cNvSpPr/>
          <p:nvPr/>
        </p:nvSpPr>
        <p:spPr>
          <a:xfrm>
            <a:off x="548640" y="4047306"/>
            <a:ext cx="3484778" cy="1987734"/>
          </a:xfrm>
          <a:prstGeom prst="roundRect">
            <a:avLst>
              <a:gd name="adj" fmla="val 4600"/>
            </a:avLst>
          </a:prstGeom>
          <a:solidFill>
            <a:srgbClr val="F5F6FB"/>
          </a:solidFill>
          <a:ln w="9525">
            <a:solidFill>
              <a:srgbClr val="E3E5EE"/>
            </a:solidFill>
            <a:prstDash val="solid"/>
          </a:ln>
        </p:spPr>
      </p:sp>
      <p:sp>
        <p:nvSpPr>
          <p:cNvPr id="6" name="Text 3"/>
          <p:cNvSpPr txBox="1"/>
          <p:nvPr/>
        </p:nvSpPr>
        <p:spPr>
          <a:xfrm>
            <a:off x="749808" y="4211898"/>
            <a:ext cx="3082442" cy="1713414"/>
          </a:xfrm>
          <a:prstGeom prst="rect">
            <a:avLst/>
          </a:prstGeom>
          <a:noFill/>
          <a:ln/>
        </p:spPr>
        <p:txBody>
          <a:bodyPr wrap="square" lIns="0" tIns="0" rIns="0" bIns="0" rtlCol="0" anchor="t">
            <a:normAutofit/>
          </a:bodyPr>
          <a:lstStyle/>
          <a:p>
            <a:pPr indent="0" marL="0">
              <a:spcAft>
                <a:spcPts val="400"/>
              </a:spcAft>
              <a:buNone/>
            </a:pPr>
            <a:r>
              <a:rPr lang="en-US" sz="1700" b="1" dirty="0">
                <a:solidFill>
                  <a:srgbClr val="283593"/>
                </a:solidFill>
                <a:latin typeface="Calibri" pitchFamily="34" charset="0"/>
                <a:ea typeface="Calibri" pitchFamily="34" charset="-122"/>
                <a:cs typeface="Calibri" pitchFamily="34" charset="-120"/>
              </a:rPr>
              <a:t>Modo claro u oscuro</a:t>
            </a:r>
            <a:endParaRPr lang="en-US" sz="1700" dirty="0"/>
          </a:p>
          <a:p>
            <a:pPr indent="0" marL="0">
              <a:spcAft>
                <a:spcPts val="400"/>
              </a:spcAft>
              <a:buNone/>
            </a:pPr>
            <a:r>
              <a:rPr lang="en-US" sz="1500" dirty="0">
                <a:solidFill>
                  <a:srgbClr val="1B1C22"/>
                </a:solidFill>
                <a:latin typeface="Calibri" pitchFamily="34" charset="0"/>
                <a:ea typeface="Calibri" pitchFamily="34" charset="-122"/>
                <a:cs typeface="Calibri" pitchFamily="34" charset="-120"/>
              </a:rPr>
              <a:t>cámbialo cuando quieras; también se adapta al celular</a:t>
            </a:r>
            <a:endParaRPr lang="en-US" sz="1700" dirty="0"/>
          </a:p>
        </p:txBody>
      </p:sp>
      <p:sp>
        <p:nvSpPr>
          <p:cNvPr id="7" name="Shape 4"/>
          <p:cNvSpPr/>
          <p:nvPr/>
        </p:nvSpPr>
        <p:spPr>
          <a:xfrm>
            <a:off x="4353458" y="1773936"/>
            <a:ext cx="3484778" cy="2008194"/>
          </a:xfrm>
          <a:prstGeom prst="roundRect">
            <a:avLst>
              <a:gd name="adj" fmla="val 3643"/>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8" name="Image 1" descr="/tmp/claude-0/-home-user-01-awp/0b94e63d-a2ea-5e41-b4e8-6fcedbe96518/scratchpad/ppt/img/tour_6.jpg">    </p:cNvPr>
          <p:cNvPicPr>
            <a:picLocks noChangeAspect="1"/>
          </p:cNvPicPr>
          <p:nvPr/>
        </p:nvPicPr>
        <p:blipFill>
          <a:blip r:embed="rId2"/>
          <a:stretch>
            <a:fillRect/>
          </a:stretch>
        </p:blipFill>
        <p:spPr>
          <a:xfrm>
            <a:off x="4408322" y="1828800"/>
            <a:ext cx="3375050" cy="1898466"/>
          </a:xfrm>
          <a:prstGeom prst="rect">
            <a:avLst/>
          </a:prstGeom>
        </p:spPr>
      </p:pic>
      <p:sp>
        <p:nvSpPr>
          <p:cNvPr id="9" name="Shape 5"/>
          <p:cNvSpPr/>
          <p:nvPr/>
        </p:nvSpPr>
        <p:spPr>
          <a:xfrm>
            <a:off x="4353458" y="4047306"/>
            <a:ext cx="3484778" cy="1987734"/>
          </a:xfrm>
          <a:prstGeom prst="roundRect">
            <a:avLst>
              <a:gd name="adj" fmla="val 4600"/>
            </a:avLst>
          </a:prstGeom>
          <a:solidFill>
            <a:srgbClr val="F5F6FB"/>
          </a:solidFill>
          <a:ln w="9525">
            <a:solidFill>
              <a:srgbClr val="E3E5EE"/>
            </a:solidFill>
            <a:prstDash val="solid"/>
          </a:ln>
        </p:spPr>
      </p:sp>
      <p:sp>
        <p:nvSpPr>
          <p:cNvPr id="10" name="Text 6"/>
          <p:cNvSpPr txBox="1"/>
          <p:nvPr/>
        </p:nvSpPr>
        <p:spPr>
          <a:xfrm>
            <a:off x="4554626" y="4211898"/>
            <a:ext cx="3082442" cy="1713414"/>
          </a:xfrm>
          <a:prstGeom prst="rect">
            <a:avLst/>
          </a:prstGeom>
          <a:noFill/>
          <a:ln/>
        </p:spPr>
        <p:txBody>
          <a:bodyPr wrap="square" lIns="0" tIns="0" rIns="0" bIns="0" rtlCol="0" anchor="t">
            <a:normAutofit/>
          </a:bodyPr>
          <a:lstStyle/>
          <a:p>
            <a:pPr indent="0" marL="0">
              <a:spcAft>
                <a:spcPts val="400"/>
              </a:spcAft>
              <a:buNone/>
            </a:pPr>
            <a:r>
              <a:rPr lang="en-US" sz="1700" b="1" dirty="0">
                <a:solidFill>
                  <a:srgbClr val="283593"/>
                </a:solidFill>
                <a:latin typeface="Calibri" pitchFamily="34" charset="0"/>
                <a:ea typeface="Calibri" pitchFamily="34" charset="-122"/>
                <a:cs typeface="Calibri" pitchFamily="34" charset="-120"/>
              </a:rPr>
              <a:t>Ayuda siempre disponible</a:t>
            </a:r>
            <a:endParaRPr lang="en-US" sz="1700" dirty="0"/>
          </a:p>
          <a:p>
            <a:pPr indent="0" marL="0">
              <a:spcAft>
                <a:spcPts val="400"/>
              </a:spcAft>
              <a:buNone/>
            </a:pPr>
            <a:r>
              <a:rPr lang="en-US" sz="1500" dirty="0">
                <a:solidFill>
                  <a:srgbClr val="1B1C22"/>
                </a:solidFill>
                <a:latin typeface="Calibri" pitchFamily="34" charset="0"/>
                <a:ea typeface="Calibri" pitchFamily="34" charset="-122"/>
                <a:cs typeface="Calibri" pitchFamily="34" charset="-120"/>
              </a:rPr>
              <a:t>repite el recorrido desde el botón «?»</a:t>
            </a:r>
            <a:endParaRPr lang="en-US" sz="1700" dirty="0"/>
          </a:p>
        </p:txBody>
      </p:sp>
      <p:sp>
        <p:nvSpPr>
          <p:cNvPr id="11" name="Shape 7"/>
          <p:cNvSpPr/>
          <p:nvPr/>
        </p:nvSpPr>
        <p:spPr>
          <a:xfrm>
            <a:off x="8158277" y="1773936"/>
            <a:ext cx="3484778" cy="2008194"/>
          </a:xfrm>
          <a:prstGeom prst="roundRect">
            <a:avLst>
              <a:gd name="adj" fmla="val 3643"/>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12" name="Image 2" descr="/tmp/claude-0/-home-user-01-awp/0b94e63d-a2ea-5e41-b4e8-6fcedbe96518/scratchpad/ppt/img/menu_usuario.jpg">    </p:cNvPr>
          <p:cNvPicPr>
            <a:picLocks noChangeAspect="1"/>
          </p:cNvPicPr>
          <p:nvPr/>
        </p:nvPicPr>
        <p:blipFill>
          <a:blip r:embed="rId3"/>
          <a:stretch>
            <a:fillRect/>
          </a:stretch>
        </p:blipFill>
        <p:spPr>
          <a:xfrm>
            <a:off x="8213141" y="1828800"/>
            <a:ext cx="3375050" cy="1898466"/>
          </a:xfrm>
          <a:prstGeom prst="rect">
            <a:avLst/>
          </a:prstGeom>
        </p:spPr>
      </p:pic>
      <p:sp>
        <p:nvSpPr>
          <p:cNvPr id="13" name="Shape 8"/>
          <p:cNvSpPr/>
          <p:nvPr/>
        </p:nvSpPr>
        <p:spPr>
          <a:xfrm>
            <a:off x="8158277" y="4047306"/>
            <a:ext cx="3484778" cy="1987734"/>
          </a:xfrm>
          <a:prstGeom prst="roundRect">
            <a:avLst>
              <a:gd name="adj" fmla="val 4600"/>
            </a:avLst>
          </a:prstGeom>
          <a:solidFill>
            <a:srgbClr val="F5F6FB"/>
          </a:solidFill>
          <a:ln w="9525">
            <a:solidFill>
              <a:srgbClr val="E3E5EE"/>
            </a:solidFill>
            <a:prstDash val="solid"/>
          </a:ln>
        </p:spPr>
      </p:sp>
      <p:sp>
        <p:nvSpPr>
          <p:cNvPr id="14" name="Text 9"/>
          <p:cNvSpPr txBox="1"/>
          <p:nvPr/>
        </p:nvSpPr>
        <p:spPr>
          <a:xfrm>
            <a:off x="8359445" y="4211898"/>
            <a:ext cx="3082442" cy="1713414"/>
          </a:xfrm>
          <a:prstGeom prst="rect">
            <a:avLst/>
          </a:prstGeom>
          <a:noFill/>
          <a:ln/>
        </p:spPr>
        <p:txBody>
          <a:bodyPr wrap="square" lIns="0" tIns="0" rIns="0" bIns="0" rtlCol="0" anchor="t">
            <a:normAutofit/>
          </a:bodyPr>
          <a:lstStyle/>
          <a:p>
            <a:pPr indent="0" marL="0">
              <a:spcAft>
                <a:spcPts val="400"/>
              </a:spcAft>
              <a:buNone/>
            </a:pPr>
            <a:r>
              <a:rPr lang="en-US" sz="1700" b="1" dirty="0">
                <a:solidFill>
                  <a:srgbClr val="283593"/>
                </a:solidFill>
                <a:latin typeface="Calibri" pitchFamily="34" charset="0"/>
                <a:ea typeface="Calibri" pitchFamily="34" charset="-122"/>
                <a:cs typeface="Calibri" pitchFamily="34" charset="-120"/>
              </a:rPr>
              <a:t>También desde el menú de usuario</a:t>
            </a:r>
            <a:endParaRPr lang="en-US" sz="1700" dirty="0"/>
          </a:p>
          <a:p>
            <a:pPr indent="0" marL="0">
              <a:spcAft>
                <a:spcPts val="400"/>
              </a:spcAft>
              <a:buNone/>
            </a:pPr>
            <a:r>
              <a:rPr lang="en-US" sz="1500" dirty="0">
                <a:solidFill>
                  <a:srgbClr val="1B1C22"/>
                </a:solidFill>
                <a:latin typeface="Calibri" pitchFamily="34" charset="0"/>
                <a:ea typeface="Calibri" pitchFamily="34" charset="-122"/>
                <a:cs typeface="Calibri" pitchFamily="34" charset="-120"/>
              </a:rPr>
              <a:t>«Ver el recorrido guiado»</a:t>
            </a:r>
            <a:endParaRPr lang="en-US" sz="1700" dirty="0"/>
          </a:p>
        </p:txBody>
      </p:sp>
      <p:sp>
        <p:nvSpPr>
          <p:cNvPr id="15" name="Text 10"/>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Recorrido guiado</a:t>
            </a:r>
            <a:endParaRPr lang="en-US" sz="1000" dirty="0"/>
          </a:p>
        </p:txBody>
      </p:sp>
      <p:sp>
        <p:nvSpPr>
          <p:cNvPr id="16" name="Text 11"/>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A1F4B"/>
        </a:solidFill>
      </p:bgPr>
    </p:bg>
    <p:spTree>
      <p:nvGrpSpPr>
        <p:cNvPr id="1" name=""/>
        <p:cNvGrpSpPr/>
        <p:nvPr/>
      </p:nvGrpSpPr>
      <p:grpSpPr>
        <a:xfrm>
          <a:off x="0" y="0"/>
          <a:ext cx="0" cy="0"/>
          <a:chOff x="0" y="0"/>
          <a:chExt cx="0" cy="0"/>
        </a:xfrm>
      </p:grpSpPr>
      <p:sp>
        <p:nvSpPr>
          <p:cNvPr id="2" name="Text 0"/>
          <p:cNvSpPr txBox="1"/>
          <p:nvPr/>
        </p:nvSpPr>
        <p:spPr>
          <a:xfrm>
            <a:off x="548640" y="1188720"/>
            <a:ext cx="2743200" cy="1371600"/>
          </a:xfrm>
          <a:prstGeom prst="rect">
            <a:avLst/>
          </a:prstGeom>
          <a:noFill/>
          <a:ln/>
        </p:spPr>
        <p:txBody>
          <a:bodyPr wrap="square" lIns="0" tIns="0" rIns="0" bIns="0" rtlCol="0" anchor="t"/>
          <a:lstStyle/>
          <a:p>
            <a:pPr indent="0" marL="0">
              <a:buNone/>
            </a:pPr>
            <a:r>
              <a:rPr lang="en-US" sz="9600" b="1" dirty="0">
                <a:solidFill>
                  <a:srgbClr val="FFC107"/>
                </a:solidFill>
                <a:latin typeface="Calibri" pitchFamily="34" charset="0"/>
                <a:ea typeface="Calibri" pitchFamily="34" charset="-122"/>
                <a:cs typeface="Calibri" pitchFamily="34" charset="-120"/>
              </a:rPr>
              <a:t>04</a:t>
            </a:r>
            <a:endParaRPr lang="en-US" sz="9600" dirty="0"/>
          </a:p>
        </p:txBody>
      </p:sp>
      <p:sp>
        <p:nvSpPr>
          <p:cNvPr id="3" name="Text 1"/>
          <p:cNvSpPr txBox="1"/>
          <p:nvPr/>
        </p:nvSpPr>
        <p:spPr>
          <a:xfrm>
            <a:off x="548640" y="2697480"/>
            <a:ext cx="5852160" cy="73152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Recursos del kit</a:t>
            </a:r>
            <a:endParaRPr lang="en-US" sz="3800" dirty="0"/>
          </a:p>
        </p:txBody>
      </p:sp>
      <p:sp>
        <p:nvSpPr>
          <p:cNvPr id="4" name="Text 2"/>
          <p:cNvSpPr txBox="1"/>
          <p:nvPr/>
        </p:nvSpPr>
        <p:spPr>
          <a:xfrm>
            <a:off x="548640" y="3566160"/>
            <a:ext cx="5486400" cy="1097280"/>
          </a:xfrm>
          <a:prstGeom prst="rect">
            <a:avLst/>
          </a:prstGeom>
          <a:noFill/>
          <a:ln/>
        </p:spPr>
        <p:txBody>
          <a:bodyPr wrap="square" lIns="0" tIns="0" rIns="0" bIns="0" rtlCol="0" anchor="t"/>
          <a:lstStyle/>
          <a:p>
            <a:pPr indent="0" marL="0">
              <a:buNone/>
            </a:pPr>
            <a:r>
              <a:rPr lang="en-US" sz="1800" dirty="0">
                <a:solidFill>
                  <a:srgbClr val="C5CAE9"/>
                </a:solidFill>
                <a:latin typeface="Calibri" pitchFamily="34" charset="0"/>
                <a:ea typeface="Calibri" pitchFamily="34" charset="-122"/>
                <a:cs typeface="Calibri" pitchFamily="34" charset="-120"/>
              </a:rPr>
              <a:t>La biblioteca pública de plantillas y material de capacitación</a:t>
            </a:r>
            <a:endParaRPr lang="en-US" sz="1800" dirty="0"/>
          </a:p>
        </p:txBody>
      </p:sp>
      <p:sp>
        <p:nvSpPr>
          <p:cNvPr id="5" name="Shape 3"/>
          <p:cNvSpPr/>
          <p:nvPr/>
        </p:nvSpPr>
        <p:spPr>
          <a:xfrm>
            <a:off x="6766560" y="1234440"/>
            <a:ext cx="4892040" cy="4480560"/>
          </a:xfrm>
          <a:prstGeom prst="roundRect">
            <a:avLst>
              <a:gd name="adj" fmla="val 2449"/>
            </a:avLst>
          </a:prstGeom>
          <a:solidFill>
            <a:srgbClr val="252B5E"/>
          </a:solidFill>
          <a:ln w="12700">
            <a:solidFill>
              <a:srgbClr val="3C4488"/>
            </a:solidFill>
            <a:prstDash val="solid"/>
          </a:ln>
        </p:spPr>
      </p:sp>
      <p:sp>
        <p:nvSpPr>
          <p:cNvPr id="6" name="Text 4"/>
          <p:cNvSpPr txBox="1"/>
          <p:nvPr/>
        </p:nvSpPr>
        <p:spPr>
          <a:xfrm>
            <a:off x="7132320" y="1508760"/>
            <a:ext cx="4206240" cy="320040"/>
          </a:xfrm>
          <a:prstGeom prst="rect">
            <a:avLst/>
          </a:prstGeom>
          <a:noFill/>
          <a:ln/>
        </p:spPr>
        <p:txBody>
          <a:bodyPr wrap="square" lIns="0" tIns="0" rIns="0" bIns="0" rtlCol="0" anchor="t"/>
          <a:lstStyle/>
          <a:p>
            <a:pPr indent="0" marL="0">
              <a:buNone/>
            </a:pPr>
            <a:r>
              <a:rPr lang="en-US" sz="1200" b="1" spc="200" kern="0" dirty="0">
                <a:solidFill>
                  <a:srgbClr val="FFC107"/>
                </a:solidFill>
                <a:latin typeface="Calibri" pitchFamily="34" charset="0"/>
                <a:ea typeface="Calibri" pitchFamily="34" charset="-122"/>
                <a:cs typeface="Calibri" pitchFamily="34" charset="-120"/>
              </a:rPr>
              <a:t>EN ESTA SECCIÓN</a:t>
            </a:r>
            <a:endParaRPr lang="en-US" sz="1200" dirty="0"/>
          </a:p>
        </p:txBody>
      </p:sp>
      <p:sp>
        <p:nvSpPr>
          <p:cNvPr id="7" name="Shape 5"/>
          <p:cNvSpPr/>
          <p:nvPr/>
        </p:nvSpPr>
        <p:spPr>
          <a:xfrm>
            <a:off x="7178040" y="2103120"/>
            <a:ext cx="146304" cy="146304"/>
          </a:xfrm>
          <a:prstGeom prst="ellipse">
            <a:avLst/>
          </a:prstGeom>
          <a:solidFill>
            <a:srgbClr val="FFC107"/>
          </a:solidFill>
          <a:ln w="12700">
            <a:solidFill>
              <a:srgbClr val="FFC107"/>
            </a:solidFill>
            <a:prstDash val="solid"/>
          </a:ln>
        </p:spPr>
      </p:sp>
      <p:sp>
        <p:nvSpPr>
          <p:cNvPr id="8" name="Text 6"/>
          <p:cNvSpPr txBox="1"/>
          <p:nvPr/>
        </p:nvSpPr>
        <p:spPr>
          <a:xfrm>
            <a:off x="7498080" y="2011680"/>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Visible sin iniciar sesión</a:t>
            </a:r>
            <a:endParaRPr lang="en-US" sz="1700" dirty="0"/>
          </a:p>
        </p:txBody>
      </p:sp>
      <p:sp>
        <p:nvSpPr>
          <p:cNvPr id="9" name="Shape 7"/>
          <p:cNvSpPr/>
          <p:nvPr/>
        </p:nvSpPr>
        <p:spPr>
          <a:xfrm>
            <a:off x="7178040" y="2816352"/>
            <a:ext cx="146304" cy="146304"/>
          </a:xfrm>
          <a:prstGeom prst="ellipse">
            <a:avLst/>
          </a:prstGeom>
          <a:solidFill>
            <a:srgbClr val="FFC107"/>
          </a:solidFill>
          <a:ln w="12700">
            <a:solidFill>
              <a:srgbClr val="FFC107"/>
            </a:solidFill>
            <a:prstDash val="solid"/>
          </a:ln>
        </p:spPr>
      </p:sp>
      <p:sp>
        <p:nvSpPr>
          <p:cNvPr id="10" name="Text 8"/>
          <p:cNvSpPr txBox="1"/>
          <p:nvPr/>
        </p:nvSpPr>
        <p:spPr>
          <a:xfrm>
            <a:off x="7498080" y="2724912"/>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Buscador y categorías</a:t>
            </a:r>
            <a:endParaRPr lang="en-US" sz="1700" dirty="0"/>
          </a:p>
        </p:txBody>
      </p:sp>
      <p:sp>
        <p:nvSpPr>
          <p:cNvPr id="11" name="Shape 9"/>
          <p:cNvSpPr/>
          <p:nvPr/>
        </p:nvSpPr>
        <p:spPr>
          <a:xfrm>
            <a:off x="7178040" y="3529584"/>
            <a:ext cx="146304" cy="146304"/>
          </a:xfrm>
          <a:prstGeom prst="ellipse">
            <a:avLst/>
          </a:prstGeom>
          <a:solidFill>
            <a:srgbClr val="FFC107"/>
          </a:solidFill>
          <a:ln w="12700">
            <a:solidFill>
              <a:srgbClr val="FFC107"/>
            </a:solidFill>
            <a:prstDash val="solid"/>
          </a:ln>
        </p:spPr>
      </p:sp>
      <p:sp>
        <p:nvSpPr>
          <p:cNvPr id="12" name="Text 10"/>
          <p:cNvSpPr txBox="1"/>
          <p:nvPr/>
        </p:nvSpPr>
        <p:spPr>
          <a:xfrm>
            <a:off x="7498080" y="3438144"/>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Cada plantilla: para qué, cuándo y quién</a:t>
            </a:r>
            <a:endParaRPr lang="en-US" sz="1700" dirty="0"/>
          </a:p>
        </p:txBody>
      </p:sp>
      <p:sp>
        <p:nvSpPr>
          <p:cNvPr id="13" name="Shape 11"/>
          <p:cNvSpPr/>
          <p:nvPr/>
        </p:nvSpPr>
        <p:spPr>
          <a:xfrm>
            <a:off x="7178040" y="4242816"/>
            <a:ext cx="146304" cy="146304"/>
          </a:xfrm>
          <a:prstGeom prst="ellipse">
            <a:avLst/>
          </a:prstGeom>
          <a:solidFill>
            <a:srgbClr val="FFC107"/>
          </a:solidFill>
          <a:ln w="12700">
            <a:solidFill>
              <a:srgbClr val="FFC107"/>
            </a:solidFill>
            <a:prstDash val="solid"/>
          </a:ln>
        </p:spPr>
      </p:sp>
      <p:sp>
        <p:nvSpPr>
          <p:cNvPr id="14" name="Text 12"/>
          <p:cNvSpPr txBox="1"/>
          <p:nvPr/>
        </p:nvSpPr>
        <p:spPr>
          <a:xfrm>
            <a:off x="7498080" y="4151376"/>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La presentación de 122 láminas</a:t>
            </a:r>
            <a:endParaRPr lang="en-US" sz="1700" dirty="0"/>
          </a:p>
        </p:txBody>
      </p:sp>
      <p:sp>
        <p:nvSpPr>
          <p:cNvPr id="15" name="Text 13"/>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8C93C9"/>
                </a:solidFill>
                <a:latin typeface="Calibri" pitchFamily="34" charset="0"/>
                <a:ea typeface="Calibri" pitchFamily="34" charset="-122"/>
                <a:cs typeface="Calibri" pitchFamily="34" charset="-120"/>
              </a:rPr>
              <a:t>Aplicación AWP · Recursos del kit</a:t>
            </a:r>
            <a:endParaRPr lang="en-US" sz="1000" dirty="0"/>
          </a:p>
        </p:txBody>
      </p:sp>
      <p:sp>
        <p:nvSpPr>
          <p:cNvPr id="16" name="Text 14"/>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8C93C9"/>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Biblioteca de recursos</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Todas las plantillas del kit en un solo lugar, sin duplicar archivos</a:t>
            </a:r>
            <a:endParaRPr lang="en-US" sz="1500" dirty="0"/>
          </a:p>
        </p:txBody>
      </p:sp>
      <p:sp>
        <p:nvSpPr>
          <p:cNvPr id="4" name="Shape 2"/>
          <p:cNvSpPr/>
          <p:nvPr/>
        </p:nvSpPr>
        <p:spPr>
          <a:xfrm>
            <a:off x="4562856" y="1855460"/>
            <a:ext cx="7135063" cy="4061479"/>
          </a:xfrm>
          <a:prstGeom prst="roundRect">
            <a:avLst>
              <a:gd name="adj" fmla="val 1801"/>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recursos.jpg">    </p:cNvPr>
          <p:cNvPicPr>
            <a:picLocks noChangeAspect="1"/>
          </p:cNvPicPr>
          <p:nvPr/>
        </p:nvPicPr>
        <p:blipFill>
          <a:blip r:embed="rId1"/>
          <a:stretch>
            <a:fillRect/>
          </a:stretch>
        </p:blipFill>
        <p:spPr>
          <a:xfrm>
            <a:off x="4617720" y="1910324"/>
            <a:ext cx="7025335" cy="3951751"/>
          </a:xfrm>
          <a:prstGeom prst="rect">
            <a:avLst/>
          </a:prstGeom>
        </p:spPr>
      </p:pic>
      <p:sp>
        <p:nvSpPr>
          <p:cNvPr id="6" name="Shape 3"/>
          <p:cNvSpPr/>
          <p:nvPr/>
        </p:nvSpPr>
        <p:spPr>
          <a:xfrm>
            <a:off x="548640"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643280" y="1685696"/>
            <a:ext cx="231343" cy="231343"/>
          </a:xfrm>
          <a:prstGeom prst="rect">
            <a:avLst/>
          </a:prstGeom>
        </p:spPr>
      </p:pic>
      <p:sp>
        <p:nvSpPr>
          <p:cNvPr id="8" name="Text 4"/>
          <p:cNvSpPr txBox="1"/>
          <p:nvPr/>
        </p:nvSpPr>
        <p:spPr>
          <a:xfrm>
            <a:off x="1133856" y="157276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Pública</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Se abre sin iniciar sesión: útil para compartir plantillas con contratistas.</a:t>
            </a:r>
            <a:endParaRPr lang="en-US" sz="1500" dirty="0"/>
          </a:p>
        </p:txBody>
      </p:sp>
      <p:sp>
        <p:nvSpPr>
          <p:cNvPr id="9" name="Shape 5"/>
          <p:cNvSpPr/>
          <p:nvPr/>
        </p:nvSpPr>
        <p:spPr>
          <a:xfrm>
            <a:off x="548640" y="2768346"/>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643280" y="2862986"/>
            <a:ext cx="231343" cy="231343"/>
          </a:xfrm>
          <a:prstGeom prst="rect">
            <a:avLst/>
          </a:prstGeom>
        </p:spPr>
      </p:pic>
      <p:sp>
        <p:nvSpPr>
          <p:cNvPr id="11" name="Text 6"/>
          <p:cNvSpPr txBox="1"/>
          <p:nvPr/>
        </p:nvSpPr>
        <p:spPr>
          <a:xfrm>
            <a:off x="1133856" y="275005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Presentación destacada</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«Implementar AWP: guía práctica», 122 láminas en 13 módulos.</a:t>
            </a:r>
            <a:endParaRPr lang="en-US" sz="1500" dirty="0"/>
          </a:p>
        </p:txBody>
      </p:sp>
      <p:sp>
        <p:nvSpPr>
          <p:cNvPr id="12" name="Shape 7"/>
          <p:cNvSpPr/>
          <p:nvPr/>
        </p:nvSpPr>
        <p:spPr>
          <a:xfrm>
            <a:off x="548640" y="3945636"/>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643280" y="4040276"/>
            <a:ext cx="231343" cy="231343"/>
          </a:xfrm>
          <a:prstGeom prst="rect">
            <a:avLst/>
          </a:prstGeom>
        </p:spPr>
      </p:pic>
      <p:sp>
        <p:nvSpPr>
          <p:cNvPr id="14" name="Text 8"/>
          <p:cNvSpPr txBox="1"/>
          <p:nvPr/>
        </p:nvSpPr>
        <p:spPr>
          <a:xfrm>
            <a:off x="1133856" y="392734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24 recursos</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11 Excel, 7 Word, el plan de implementación, esta guía de la aplicación y páginas web de consulta.</a:t>
            </a:r>
            <a:endParaRPr lang="en-US" sz="1500" dirty="0"/>
          </a:p>
        </p:txBody>
      </p:sp>
      <p:sp>
        <p:nvSpPr>
          <p:cNvPr id="15" name="Shape 9"/>
          <p:cNvSpPr/>
          <p:nvPr/>
        </p:nvSpPr>
        <p:spPr>
          <a:xfrm>
            <a:off x="548640" y="5122926"/>
            <a:ext cx="420624" cy="420624"/>
          </a:xfrm>
          <a:prstGeom prst="ellipse">
            <a:avLst/>
          </a:prstGeom>
          <a:solidFill>
            <a:srgbClr val="E8EAF6"/>
          </a:solidFill>
          <a:ln w="12700">
            <a:solidFill>
              <a:srgbClr val="E8EAF6"/>
            </a:solidFill>
            <a:prstDash val="solid"/>
          </a:ln>
        </p:spPr>
      </p:sp>
      <p:pic>
        <p:nvPicPr>
          <p:cNvPr id="16" name="Image 4" descr="preencoded.png">    </p:cNvPr>
          <p:cNvPicPr>
            <a:picLocks noChangeAspect="1"/>
          </p:cNvPicPr>
          <p:nvPr/>
        </p:nvPicPr>
        <p:blipFill>
          <a:blip r:embed="rId5"/>
          <a:stretch>
            <a:fillRect/>
          </a:stretch>
        </p:blipFill>
        <p:spPr>
          <a:xfrm>
            <a:off x="643280" y="5217566"/>
            <a:ext cx="231343" cy="231343"/>
          </a:xfrm>
          <a:prstGeom prst="rect">
            <a:avLst/>
          </a:prstGeom>
        </p:spPr>
      </p:pic>
      <p:sp>
        <p:nvSpPr>
          <p:cNvPr id="17" name="Text 10"/>
          <p:cNvSpPr txBox="1"/>
          <p:nvPr/>
        </p:nvSpPr>
        <p:spPr>
          <a:xfrm>
            <a:off x="1133856" y="510463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Enlaces a la web del kit</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Los archivos se descargan desde donde ya se publican: siempre la última versión.</a:t>
            </a:r>
            <a:endParaRPr lang="en-US" sz="1500" dirty="0"/>
          </a:p>
        </p:txBody>
      </p:sp>
      <p:sp>
        <p:nvSpPr>
          <p:cNvPr id="18" name="Text 11"/>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Recursos del kit</a:t>
            </a:r>
            <a:endParaRPr lang="en-US" sz="1000" dirty="0"/>
          </a:p>
        </p:txBody>
      </p:sp>
      <p:sp>
        <p:nvSpPr>
          <p:cNvPr id="19" name="Text 12"/>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Categorías y buscador</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Filtra por uso o busca por nombre, sigla o palabra</a:t>
            </a:r>
            <a:endParaRPr lang="en-US" sz="1500" dirty="0"/>
          </a:p>
        </p:txBody>
      </p:sp>
      <p:sp>
        <p:nvSpPr>
          <p:cNvPr id="4" name="Shape 2"/>
          <p:cNvSpPr/>
          <p:nvPr/>
        </p:nvSpPr>
        <p:spPr>
          <a:xfrm>
            <a:off x="4562856" y="1855460"/>
            <a:ext cx="7135063" cy="4061479"/>
          </a:xfrm>
          <a:prstGeom prst="roundRect">
            <a:avLst>
              <a:gd name="adj" fmla="val 1801"/>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recursos_control.jpg">    </p:cNvPr>
          <p:cNvPicPr>
            <a:picLocks noChangeAspect="1"/>
          </p:cNvPicPr>
          <p:nvPr/>
        </p:nvPicPr>
        <p:blipFill>
          <a:blip r:embed="rId1"/>
          <a:stretch>
            <a:fillRect/>
          </a:stretch>
        </p:blipFill>
        <p:spPr>
          <a:xfrm>
            <a:off x="4617720" y="1910324"/>
            <a:ext cx="7025335" cy="3951751"/>
          </a:xfrm>
          <a:prstGeom prst="rect">
            <a:avLst/>
          </a:prstGeom>
        </p:spPr>
      </p:pic>
      <p:sp>
        <p:nvSpPr>
          <p:cNvPr id="6" name="Shape 3"/>
          <p:cNvSpPr/>
          <p:nvPr/>
        </p:nvSpPr>
        <p:spPr>
          <a:xfrm>
            <a:off x="548640"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643280" y="1685696"/>
            <a:ext cx="231343" cy="231343"/>
          </a:xfrm>
          <a:prstGeom prst="rect">
            <a:avLst/>
          </a:prstGeom>
        </p:spPr>
      </p:pic>
      <p:sp>
        <p:nvSpPr>
          <p:cNvPr id="8" name="Text 4"/>
          <p:cNvSpPr txBox="1"/>
          <p:nvPr/>
        </p:nvSpPr>
        <p:spPr>
          <a:xfrm>
            <a:off x="1133856" y="157276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Planificación</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Plan, CWA, Path of Construction, programa de liberación, lookahead, plantillas CWP, EWP, IWP, acta de taller.</a:t>
            </a:r>
            <a:endParaRPr lang="en-US" sz="1500" dirty="0"/>
          </a:p>
        </p:txBody>
      </p:sp>
      <p:sp>
        <p:nvSpPr>
          <p:cNvPr id="9" name="Shape 5"/>
          <p:cNvSpPr/>
          <p:nvPr/>
        </p:nvSpPr>
        <p:spPr>
          <a:xfrm>
            <a:off x="548640" y="2768346"/>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643280" y="2862986"/>
            <a:ext cx="231343" cy="231343"/>
          </a:xfrm>
          <a:prstGeom prst="rect">
            <a:avLst/>
          </a:prstGeom>
        </p:spPr>
      </p:pic>
      <p:sp>
        <p:nvSpPr>
          <p:cNvPr id="11" name="Text 6"/>
          <p:cNvSpPr txBox="1"/>
          <p:nvPr/>
        </p:nvSpPr>
        <p:spPr>
          <a:xfrm>
            <a:off x="1133856" y="275005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Control</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Restricciones, paquetes, checklist de liberación, KPI, riesgos, lecciones, informe de cierre, procedimiento.</a:t>
            </a:r>
            <a:endParaRPr lang="en-US" sz="1500" dirty="0"/>
          </a:p>
        </p:txBody>
      </p:sp>
      <p:sp>
        <p:nvSpPr>
          <p:cNvPr id="12" name="Shape 7"/>
          <p:cNvSpPr/>
          <p:nvPr/>
        </p:nvSpPr>
        <p:spPr>
          <a:xfrm>
            <a:off x="548640" y="3945636"/>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643280" y="4040276"/>
            <a:ext cx="231343" cy="231343"/>
          </a:xfrm>
          <a:prstGeom prst="rect">
            <a:avLst/>
          </a:prstGeom>
        </p:spPr>
      </p:pic>
      <p:sp>
        <p:nvSpPr>
          <p:cNvPr id="14" name="Text 8"/>
          <p:cNvSpPr txBox="1"/>
          <p:nvPr/>
        </p:nvSpPr>
        <p:spPr>
          <a:xfrm>
            <a:off x="1133856" y="392734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Organización</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Matriz de roles RACI y perfiles de puesto AWP.</a:t>
            </a:r>
            <a:endParaRPr lang="en-US" sz="1500" dirty="0"/>
          </a:p>
        </p:txBody>
      </p:sp>
      <p:sp>
        <p:nvSpPr>
          <p:cNvPr id="15" name="Shape 9"/>
          <p:cNvSpPr/>
          <p:nvPr/>
        </p:nvSpPr>
        <p:spPr>
          <a:xfrm>
            <a:off x="548640" y="5122926"/>
            <a:ext cx="420624" cy="420624"/>
          </a:xfrm>
          <a:prstGeom prst="ellipse">
            <a:avLst/>
          </a:prstGeom>
          <a:solidFill>
            <a:srgbClr val="E8EAF6"/>
          </a:solidFill>
          <a:ln w="12700">
            <a:solidFill>
              <a:srgbClr val="E8EAF6"/>
            </a:solidFill>
            <a:prstDash val="solid"/>
          </a:ln>
        </p:spPr>
      </p:sp>
      <p:pic>
        <p:nvPicPr>
          <p:cNvPr id="16" name="Image 4" descr="preencoded.png">    </p:cNvPr>
          <p:cNvPicPr>
            <a:picLocks noChangeAspect="1"/>
          </p:cNvPicPr>
          <p:nvPr/>
        </p:nvPicPr>
        <p:blipFill>
          <a:blip r:embed="rId5"/>
          <a:stretch>
            <a:fillRect/>
          </a:stretch>
        </p:blipFill>
        <p:spPr>
          <a:xfrm>
            <a:off x="643280" y="5217566"/>
            <a:ext cx="231343" cy="231343"/>
          </a:xfrm>
          <a:prstGeom prst="rect">
            <a:avLst/>
          </a:prstGeom>
        </p:spPr>
      </p:pic>
      <p:sp>
        <p:nvSpPr>
          <p:cNvPr id="17" name="Text 10"/>
          <p:cNvSpPr txBox="1"/>
          <p:nvPr/>
        </p:nvSpPr>
        <p:spPr>
          <a:xfrm>
            <a:off x="1133856" y="510463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Capacitación</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Presentación, páginas del plan en la web y glosario.</a:t>
            </a:r>
            <a:endParaRPr lang="en-US" sz="1500" dirty="0"/>
          </a:p>
        </p:txBody>
      </p:sp>
      <p:sp>
        <p:nvSpPr>
          <p:cNvPr id="18" name="Text 11"/>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Recursos del kit</a:t>
            </a:r>
            <a:endParaRPr lang="en-US" sz="1000" dirty="0"/>
          </a:p>
        </p:txBody>
      </p:sp>
      <p:sp>
        <p:nvSpPr>
          <p:cNvPr id="19" name="Text 12"/>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Anatomía de una tarjeta de recurso</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Cada plantilla responde tres preguntas antes de descargarla</a:t>
            </a:r>
            <a:endParaRPr lang="en-US" sz="1500" dirty="0"/>
          </a:p>
        </p:txBody>
      </p:sp>
      <p:sp>
        <p:nvSpPr>
          <p:cNvPr id="4" name="Shape 2"/>
          <p:cNvSpPr/>
          <p:nvPr/>
        </p:nvSpPr>
        <p:spPr>
          <a:xfrm>
            <a:off x="548640" y="1944975"/>
            <a:ext cx="5596128" cy="3919026"/>
          </a:xfrm>
          <a:prstGeom prst="roundRect">
            <a:avLst>
              <a:gd name="adj" fmla="val 1867"/>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recursos_tarjeta.jpg">    </p:cNvPr>
          <p:cNvPicPr>
            <a:picLocks noChangeAspect="1"/>
          </p:cNvPicPr>
          <p:nvPr/>
        </p:nvPicPr>
        <p:blipFill>
          <a:blip r:embed="rId1"/>
          <a:stretch>
            <a:fillRect/>
          </a:stretch>
        </p:blipFill>
        <p:spPr>
          <a:xfrm>
            <a:off x="603504" y="1999839"/>
            <a:ext cx="5486400" cy="3809298"/>
          </a:xfrm>
          <a:prstGeom prst="rect">
            <a:avLst/>
          </a:prstGeom>
        </p:spPr>
      </p:pic>
      <p:sp>
        <p:nvSpPr>
          <p:cNvPr id="6" name="Shape 3"/>
          <p:cNvSpPr/>
          <p:nvPr/>
        </p:nvSpPr>
        <p:spPr>
          <a:xfrm>
            <a:off x="6592824"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6687464" y="1685696"/>
            <a:ext cx="231343" cy="231343"/>
          </a:xfrm>
          <a:prstGeom prst="rect">
            <a:avLst/>
          </a:prstGeom>
        </p:spPr>
      </p:pic>
      <p:sp>
        <p:nvSpPr>
          <p:cNvPr id="8" name="Text 4"/>
          <p:cNvSpPr txBox="1"/>
          <p:nvPr/>
        </p:nvSpPr>
        <p:spPr>
          <a:xfrm>
            <a:off x="7178040" y="1572768"/>
            <a:ext cx="4465015" cy="859536"/>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Tipo y categoría</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Ícono verde para Excel, azul para Word, naranja para PowerPoint, gris para páginas web.</a:t>
            </a:r>
            <a:endParaRPr lang="en-US" sz="1500" dirty="0"/>
          </a:p>
        </p:txBody>
      </p:sp>
      <p:sp>
        <p:nvSpPr>
          <p:cNvPr id="9" name="Shape 5"/>
          <p:cNvSpPr/>
          <p:nvPr/>
        </p:nvSpPr>
        <p:spPr>
          <a:xfrm>
            <a:off x="6592824" y="2523744"/>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6687464" y="2618384"/>
            <a:ext cx="231343" cy="231343"/>
          </a:xfrm>
          <a:prstGeom prst="rect">
            <a:avLst/>
          </a:prstGeom>
        </p:spPr>
      </p:pic>
      <p:sp>
        <p:nvSpPr>
          <p:cNvPr id="11" name="Text 6"/>
          <p:cNvSpPr txBox="1"/>
          <p:nvPr/>
        </p:nvSpPr>
        <p:spPr>
          <a:xfrm>
            <a:off x="7178040" y="2505456"/>
            <a:ext cx="4465015" cy="859536"/>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Para qué</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Qué registra la plantilla y qué calcula (por ejemplo, días de atraso y situación).</a:t>
            </a:r>
            <a:endParaRPr lang="en-US" sz="1500" dirty="0"/>
          </a:p>
        </p:txBody>
      </p:sp>
      <p:sp>
        <p:nvSpPr>
          <p:cNvPr id="12" name="Shape 7"/>
          <p:cNvSpPr/>
          <p:nvPr/>
        </p:nvSpPr>
        <p:spPr>
          <a:xfrm>
            <a:off x="6592824" y="3456432"/>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6687464" y="3551072"/>
            <a:ext cx="231343" cy="231343"/>
          </a:xfrm>
          <a:prstGeom prst="rect">
            <a:avLst/>
          </a:prstGeom>
        </p:spPr>
      </p:pic>
      <p:sp>
        <p:nvSpPr>
          <p:cNvPr id="14" name="Text 8"/>
          <p:cNvSpPr txBox="1"/>
          <p:nvPr/>
        </p:nvSpPr>
        <p:spPr>
          <a:xfrm>
            <a:off x="7178040" y="3438144"/>
            <a:ext cx="4465015" cy="859536"/>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Cuándo</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En qué momento del proyecto se usa y con qué frecuencia.</a:t>
            </a:r>
            <a:endParaRPr lang="en-US" sz="1500" dirty="0"/>
          </a:p>
        </p:txBody>
      </p:sp>
      <p:sp>
        <p:nvSpPr>
          <p:cNvPr id="15" name="Shape 9"/>
          <p:cNvSpPr/>
          <p:nvPr/>
        </p:nvSpPr>
        <p:spPr>
          <a:xfrm>
            <a:off x="6592824" y="4389120"/>
            <a:ext cx="420624" cy="420624"/>
          </a:xfrm>
          <a:prstGeom prst="ellipse">
            <a:avLst/>
          </a:prstGeom>
          <a:solidFill>
            <a:srgbClr val="E8EAF6"/>
          </a:solidFill>
          <a:ln w="12700">
            <a:solidFill>
              <a:srgbClr val="E8EAF6"/>
            </a:solidFill>
            <a:prstDash val="solid"/>
          </a:ln>
        </p:spPr>
      </p:sp>
      <p:pic>
        <p:nvPicPr>
          <p:cNvPr id="16" name="Image 4" descr="preencoded.png">    </p:cNvPr>
          <p:cNvPicPr>
            <a:picLocks noChangeAspect="1"/>
          </p:cNvPicPr>
          <p:nvPr/>
        </p:nvPicPr>
        <p:blipFill>
          <a:blip r:embed="rId5"/>
          <a:stretch>
            <a:fillRect/>
          </a:stretch>
        </p:blipFill>
        <p:spPr>
          <a:xfrm>
            <a:off x="6687464" y="4483760"/>
            <a:ext cx="231343" cy="231343"/>
          </a:xfrm>
          <a:prstGeom prst="rect">
            <a:avLst/>
          </a:prstGeom>
        </p:spPr>
      </p:pic>
      <p:sp>
        <p:nvSpPr>
          <p:cNvPr id="17" name="Text 10"/>
          <p:cNvSpPr txBox="1"/>
          <p:nvPr/>
        </p:nvSpPr>
        <p:spPr>
          <a:xfrm>
            <a:off x="7178040" y="4370832"/>
            <a:ext cx="4465015" cy="859536"/>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Quién</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Qué rol la llena y quién la consolida.</a:t>
            </a:r>
            <a:endParaRPr lang="en-US" sz="1500" dirty="0"/>
          </a:p>
        </p:txBody>
      </p:sp>
      <p:sp>
        <p:nvSpPr>
          <p:cNvPr id="18" name="Shape 11"/>
          <p:cNvSpPr/>
          <p:nvPr/>
        </p:nvSpPr>
        <p:spPr>
          <a:xfrm>
            <a:off x="6592824" y="5321808"/>
            <a:ext cx="420624" cy="420624"/>
          </a:xfrm>
          <a:prstGeom prst="ellipse">
            <a:avLst/>
          </a:prstGeom>
          <a:solidFill>
            <a:srgbClr val="E8EAF6"/>
          </a:solidFill>
          <a:ln w="12700">
            <a:solidFill>
              <a:srgbClr val="E8EAF6"/>
            </a:solidFill>
            <a:prstDash val="solid"/>
          </a:ln>
        </p:spPr>
      </p:sp>
      <p:pic>
        <p:nvPicPr>
          <p:cNvPr id="19" name="Image 5" descr="preencoded.png">    </p:cNvPr>
          <p:cNvPicPr>
            <a:picLocks noChangeAspect="1"/>
          </p:cNvPicPr>
          <p:nvPr/>
        </p:nvPicPr>
        <p:blipFill>
          <a:blip r:embed="rId6"/>
          <a:stretch>
            <a:fillRect/>
          </a:stretch>
        </p:blipFill>
        <p:spPr>
          <a:xfrm>
            <a:off x="6687464" y="5416448"/>
            <a:ext cx="231343" cy="231343"/>
          </a:xfrm>
          <a:prstGeom prst="rect">
            <a:avLst/>
          </a:prstGeom>
        </p:spPr>
      </p:pic>
      <p:sp>
        <p:nvSpPr>
          <p:cNvPr id="20" name="Text 12"/>
          <p:cNvSpPr txBox="1"/>
          <p:nvPr/>
        </p:nvSpPr>
        <p:spPr>
          <a:xfrm>
            <a:off x="7178040" y="5303520"/>
            <a:ext cx="4465015" cy="859536"/>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Descargar y llenar en la app</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«Llenar en la aplicación» indica la etapa en que llega su formulario.</a:t>
            </a:r>
            <a:endParaRPr lang="en-US" sz="1500" dirty="0"/>
          </a:p>
        </p:txBody>
      </p:sp>
      <p:sp>
        <p:nvSpPr>
          <p:cNvPr id="21" name="Text 13"/>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Recursos del kit</a:t>
            </a:r>
            <a:endParaRPr lang="en-US" sz="1000" dirty="0"/>
          </a:p>
        </p:txBody>
      </p:sp>
      <p:sp>
        <p:nvSpPr>
          <p:cNvPr id="22" name="Text 14"/>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Las 11 plantillas Excel</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Qué registra cada una y en qué etapa tendrá su formulario en la aplicación</a:t>
            </a:r>
            <a:endParaRPr lang="en-US" sz="15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3108960"/>
                <a:gridCol w="6766560"/>
                <a:gridCol w="1097280"/>
              </a:tblGrid>
              <a:tr h="3886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Plantilla</a:t>
                      </a:r>
                      <a:endParaRPr lang="en-US" sz="12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Qué registra y calcula</a:t>
                      </a:r>
                      <a:endParaRPr lang="en-US" sz="12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Etapa</a:t>
                      </a:r>
                      <a:endParaRPr lang="en-US" sz="12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r>
              <a:tr h="388620">
                <a:tc>
                  <a:txBody>
                    <a:bodyPr/>
                    <a:lstStyle/>
                    <a:p>
                      <a:pPr indent="0" marL="0">
                        <a:buNone/>
                      </a:pPr>
                      <a:r>
                        <a:rPr lang="en-US" sz="1150" b="1" dirty="0">
                          <a:solidFill>
                            <a:srgbClr val="1B1C22"/>
                          </a:solidFill>
                          <a:latin typeface="Calibri" pitchFamily="34" charset="0"/>
                          <a:ea typeface="Calibri" pitchFamily="34" charset="-122"/>
                          <a:cs typeface="Calibri" pitchFamily="34" charset="-120"/>
                        </a:rPr>
                        <a:t>Registro_Restricciones</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Restricciones de CWP e IWP, responsable, fechas; días de atraso y situación</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388620">
                <a:tc>
                  <a:txBody>
                    <a:bodyPr/>
                    <a:lstStyle/>
                    <a:p>
                      <a:pPr indent="0" marL="0">
                        <a:buNone/>
                      </a:pPr>
                      <a:r>
                        <a:rPr lang="en-US" sz="1150" b="1" dirty="0">
                          <a:solidFill>
                            <a:srgbClr val="1B1C22"/>
                          </a:solidFill>
                          <a:latin typeface="Calibri" pitchFamily="34" charset="0"/>
                          <a:ea typeface="Calibri" pitchFamily="34" charset="-122"/>
                          <a:cs typeface="Calibri" pitchFamily="34" charset="-120"/>
                        </a:rPr>
                        <a:t>Seguimiento_Paquetes</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CWA, CWP, EWP, PWP e IWP con fechas plan y real, % avance, HH y situación</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388620">
                <a:tc>
                  <a:txBody>
                    <a:bodyPr/>
                    <a:lstStyle/>
                    <a:p>
                      <a:pPr indent="0" marL="0">
                        <a:buNone/>
                      </a:pPr>
                      <a:r>
                        <a:rPr lang="en-US" sz="1150" b="1" dirty="0">
                          <a:solidFill>
                            <a:srgbClr val="1B1C22"/>
                          </a:solidFill>
                          <a:latin typeface="Calibri" pitchFamily="34" charset="0"/>
                          <a:ea typeface="Calibri" pitchFamily="34" charset="-122"/>
                          <a:cs typeface="Calibri" pitchFamily="34" charset="-120"/>
                        </a:rPr>
                        <a:t>Definicion_CWA</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Áreas de construcción, límites, HH, secuencia y 10 criterios de calidad</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388620">
                <a:tc>
                  <a:txBody>
                    <a:bodyPr/>
                    <a:lstStyle/>
                    <a:p>
                      <a:pPr indent="0" marL="0">
                        <a:buNone/>
                      </a:pPr>
                      <a:r>
                        <a:rPr lang="en-US" sz="1150" b="1" dirty="0">
                          <a:solidFill>
                            <a:srgbClr val="1B1C22"/>
                          </a:solidFill>
                          <a:latin typeface="Calibri" pitchFamily="34" charset="0"/>
                          <a:ea typeface="Calibri" pitchFamily="34" charset="-122"/>
                          <a:cs typeface="Calibri" pitchFamily="34" charset="-120"/>
                        </a:rPr>
                        <a:t>Path_of_Construction</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Secuencia de CWP, fechas requeridas de EWP, CWP y RAS; barras por mes</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388620">
                <a:tc>
                  <a:txBody>
                    <a:bodyPr/>
                    <a:lstStyle/>
                    <a:p>
                      <a:pPr indent="0" marL="0">
                        <a:buNone/>
                      </a:pPr>
                      <a:r>
                        <a:rPr lang="en-US" sz="1150" b="1" dirty="0">
                          <a:solidFill>
                            <a:srgbClr val="1B1C22"/>
                          </a:solidFill>
                          <a:latin typeface="Calibri" pitchFamily="34" charset="0"/>
                          <a:ea typeface="Calibri" pitchFamily="34" charset="-122"/>
                          <a:cs typeface="Calibri" pitchFamily="34" charset="-120"/>
                        </a:rPr>
                        <a:t>Programa_Liberacion_IWP</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Plazos por IWP (iniciado, restricciones, liberación) y situación</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388620">
                <a:tc>
                  <a:txBody>
                    <a:bodyPr/>
                    <a:lstStyle/>
                    <a:p>
                      <a:pPr indent="0" marL="0">
                        <a:buNone/>
                      </a:pPr>
                      <a:r>
                        <a:rPr lang="en-US" sz="1150" b="1" dirty="0">
                          <a:solidFill>
                            <a:srgbClr val="1B1C22"/>
                          </a:solidFill>
                          <a:latin typeface="Calibri" pitchFamily="34" charset="0"/>
                          <a:ea typeface="Calibri" pitchFamily="34" charset="-122"/>
                          <a:cs typeface="Calibri" pitchFamily="34" charset="-120"/>
                        </a:rPr>
                        <a:t>Lookahead_3_Semanas</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18 días de programación, PPC y causas de no cumplimiento</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388620">
                <a:tc>
                  <a:txBody>
                    <a:bodyPr/>
                    <a:lstStyle/>
                    <a:p>
                      <a:pPr indent="0" marL="0">
                        <a:buNone/>
                      </a:pPr>
                      <a:r>
                        <a:rPr lang="en-US" sz="1150" b="1" dirty="0">
                          <a:solidFill>
                            <a:srgbClr val="1B1C22"/>
                          </a:solidFill>
                          <a:latin typeface="Calibri" pitchFamily="34" charset="0"/>
                          <a:ea typeface="Calibri" pitchFamily="34" charset="-122"/>
                          <a:cs typeface="Calibri" pitchFamily="34" charset="-120"/>
                        </a:rPr>
                        <a:t>Checklist_Liberacion_IWP</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24 criterios con resultado LIBERAR / NO LIBERAR</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388620">
                <a:tc>
                  <a:txBody>
                    <a:bodyPr/>
                    <a:lstStyle/>
                    <a:p>
                      <a:pPr indent="0" marL="0">
                        <a:buNone/>
                      </a:pPr>
                      <a:r>
                        <a:rPr lang="en-US" sz="1150" b="1" dirty="0">
                          <a:solidFill>
                            <a:srgbClr val="1B1C22"/>
                          </a:solidFill>
                          <a:latin typeface="Calibri" pitchFamily="34" charset="0"/>
                          <a:ea typeface="Calibri" pitchFamily="34" charset="-122"/>
                          <a:cs typeface="Calibri" pitchFamily="34" charset="-120"/>
                        </a:rPr>
                        <a:t>Matriz_Roles_RACI</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37 actividades × 16 roles con verificación de una sola A</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388620">
                <a:tc>
                  <a:txBody>
                    <a:bodyPr/>
                    <a:lstStyle/>
                    <a:p>
                      <a:pPr indent="0" marL="0">
                        <a:buNone/>
                      </a:pPr>
                      <a:r>
                        <a:rPr lang="en-US" sz="1150" b="1" dirty="0">
                          <a:solidFill>
                            <a:srgbClr val="1B1C22"/>
                          </a:solidFill>
                          <a:latin typeface="Calibri" pitchFamily="34" charset="0"/>
                          <a:ea typeface="Calibri" pitchFamily="34" charset="-122"/>
                          <a:cs typeface="Calibri" pitchFamily="34" charset="-120"/>
                        </a:rPr>
                        <a:t>Tablero_KPI</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23 datos semanales por fase → K01–K13 con semáforo</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388620">
                <a:tc>
                  <a:txBody>
                    <a:bodyPr/>
                    <a:lstStyle/>
                    <a:p>
                      <a:pPr indent="0" marL="0">
                        <a:buNone/>
                      </a:pPr>
                      <a:r>
                        <a:rPr lang="en-US" sz="1150" b="1" dirty="0">
                          <a:solidFill>
                            <a:srgbClr val="1B1C22"/>
                          </a:solidFill>
                          <a:latin typeface="Calibri" pitchFamily="34" charset="0"/>
                          <a:ea typeface="Calibri" pitchFamily="34" charset="-122"/>
                          <a:cs typeface="Calibri" pitchFamily="34" charset="-120"/>
                        </a:rPr>
                        <a:t>Registro_Riesgos</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Probabilidad × impacto, mitigación, riesgo residual y mapa de calor</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388620">
                <a:tc>
                  <a:txBody>
                    <a:bodyPr/>
                    <a:lstStyle/>
                    <a:p>
                      <a:pPr indent="0" marL="0">
                        <a:buNone/>
                      </a:pPr>
                      <a:r>
                        <a:rPr lang="en-US" sz="1150" b="1" dirty="0">
                          <a:solidFill>
                            <a:srgbClr val="1B1C22"/>
                          </a:solidFill>
                          <a:latin typeface="Calibri" pitchFamily="34" charset="0"/>
                          <a:ea typeface="Calibri" pitchFamily="34" charset="-122"/>
                          <a:cs typeface="Calibri" pitchFamily="34" charset="-120"/>
                        </a:rPr>
                        <a:t>Registro_Lecciones_Aprendidas</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Evento, causa raíz, lección, acción y fase de aplicación</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Recursos del kit</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Las 7 plantillas Word y el plan</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Tendrán formularios por pasos que generan el documento Word y PDF (Etapa 5)</a:t>
            </a:r>
            <a:endParaRPr lang="en-US" sz="15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3108960"/>
                <a:gridCol w="1828800"/>
                <a:gridCol w="6035040"/>
              </a:tblGrid>
              <a:tr h="5181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Documento</a:t>
                      </a:r>
                      <a:endParaRPr lang="en-US" sz="13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Código</a:t>
                      </a:r>
                      <a:endParaRPr lang="en-US" sz="13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Secciones principales</a:t>
                      </a:r>
                      <a:endParaRPr lang="en-US" sz="13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Plantilla_IWP</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PT-AWP-FOR-IWP</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12 secciones: alcance, secuencia, materiales, HSE, calidad, restricciones, liberación y cierre</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Plantilla_CWP</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PT-AWP-FOR-CWP</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13 secciones: alcance, EWP, PWP, estimación, división en IWP, estrategia, interfaces</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Plantilla_EWP</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PT-AWP-FOR-EWP</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7 secciones: entregables, MTO, constructabilidad, RFI, emisión y aprobación</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Procedimiento_Gestion_Restricciones</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PT-AWP-PRO-001</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12 secciones: tipos, procedimiento semanal, escalamiento, plazos por fase</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Acta_Taller_Path_of_Construction</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PT-AWP-FOR-IPP</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Participantes, insumos, secuencia acordada, decisiones y acciones</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Informe_Cierre_Fase_AWP</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PT-AWP-INF-CIE</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KPI, hitos H1–H10, paquetes, restricciones, lecciones y recomendaciones</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Perfiles_Puesto_AWP</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PT-AWP-PER-001</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AWP Champion, Líder de WFP, planificador, coordinador de IM y formación</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Plan_Implementacion_AWP</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Hoy alimenta los módulos Avance AWP e Hitos</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Recursos del kit</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La presentación de capacitación</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«Implementar AWP: guía práctica de implementación» · 122 láminas · 13 módulos</a:t>
            </a:r>
            <a:endParaRPr lang="en-US" sz="1500" dirty="0"/>
          </a:p>
        </p:txBody>
      </p:sp>
      <p:sp>
        <p:nvSpPr>
          <p:cNvPr id="4" name="Shape 2"/>
          <p:cNvSpPr/>
          <p:nvPr/>
        </p:nvSpPr>
        <p:spPr>
          <a:xfrm>
            <a:off x="548640" y="2476762"/>
            <a:ext cx="7242048" cy="2855452"/>
          </a:xfrm>
          <a:prstGeom prst="roundRect">
            <a:avLst>
              <a:gd name="adj" fmla="val 2562"/>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recursos_presentacion.jpg">    </p:cNvPr>
          <p:cNvPicPr>
            <a:picLocks noChangeAspect="1"/>
          </p:cNvPicPr>
          <p:nvPr/>
        </p:nvPicPr>
        <p:blipFill>
          <a:blip r:embed="rId1"/>
          <a:stretch>
            <a:fillRect/>
          </a:stretch>
        </p:blipFill>
        <p:spPr>
          <a:xfrm>
            <a:off x="603504" y="2531626"/>
            <a:ext cx="7132320" cy="2745724"/>
          </a:xfrm>
          <a:prstGeom prst="rect">
            <a:avLst/>
          </a:prstGeom>
        </p:spPr>
      </p:pic>
      <p:sp>
        <p:nvSpPr>
          <p:cNvPr id="6" name="Shape 3"/>
          <p:cNvSpPr/>
          <p:nvPr/>
        </p:nvSpPr>
        <p:spPr>
          <a:xfrm>
            <a:off x="8238744"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8333384" y="1685696"/>
            <a:ext cx="231343" cy="231343"/>
          </a:xfrm>
          <a:prstGeom prst="rect">
            <a:avLst/>
          </a:prstGeom>
        </p:spPr>
      </p:pic>
      <p:sp>
        <p:nvSpPr>
          <p:cNvPr id="8" name="Text 4"/>
          <p:cNvSpPr txBox="1"/>
          <p:nvPr/>
        </p:nvSpPr>
        <p:spPr>
          <a:xfrm>
            <a:off x="8823960" y="1572768"/>
            <a:ext cx="2819095" cy="109270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Cuándo usarla</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Arranque del proyecto y de cada fase; inducción del personal nuevo.</a:t>
            </a:r>
            <a:endParaRPr lang="en-US" sz="1500" dirty="0"/>
          </a:p>
        </p:txBody>
      </p:sp>
      <p:sp>
        <p:nvSpPr>
          <p:cNvPr id="9" name="Shape 5"/>
          <p:cNvSpPr/>
          <p:nvPr/>
        </p:nvSpPr>
        <p:spPr>
          <a:xfrm>
            <a:off x="8238744" y="2756916"/>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8333384" y="2851556"/>
            <a:ext cx="231343" cy="231343"/>
          </a:xfrm>
          <a:prstGeom prst="rect">
            <a:avLst/>
          </a:prstGeom>
        </p:spPr>
      </p:pic>
      <p:sp>
        <p:nvSpPr>
          <p:cNvPr id="11" name="Text 6"/>
          <p:cNvSpPr txBox="1"/>
          <p:nvPr/>
        </p:nvSpPr>
        <p:spPr>
          <a:xfrm>
            <a:off x="8823960" y="2738628"/>
            <a:ext cx="2819095" cy="109270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Quién la presenta</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El AWP Champion.</a:t>
            </a:r>
            <a:endParaRPr lang="en-US" sz="1500" dirty="0"/>
          </a:p>
        </p:txBody>
      </p:sp>
      <p:sp>
        <p:nvSpPr>
          <p:cNvPr id="12" name="Shape 7"/>
          <p:cNvSpPr/>
          <p:nvPr/>
        </p:nvSpPr>
        <p:spPr>
          <a:xfrm>
            <a:off x="8238744" y="3922776"/>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8333384" y="4017416"/>
            <a:ext cx="231343" cy="231343"/>
          </a:xfrm>
          <a:prstGeom prst="rect">
            <a:avLst/>
          </a:prstGeom>
        </p:spPr>
      </p:pic>
      <p:sp>
        <p:nvSpPr>
          <p:cNvPr id="14" name="Text 8"/>
          <p:cNvSpPr txBox="1"/>
          <p:nvPr/>
        </p:nvSpPr>
        <p:spPr>
          <a:xfrm>
            <a:off x="8823960" y="3904488"/>
            <a:ext cx="2819095" cy="109270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Módulo ↔ aplicación</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Cada módulo indica sus láminas y el módulo de la app relacionado.</a:t>
            </a:r>
            <a:endParaRPr lang="en-US" sz="1500" dirty="0"/>
          </a:p>
        </p:txBody>
      </p:sp>
      <p:sp>
        <p:nvSpPr>
          <p:cNvPr id="15" name="Shape 9"/>
          <p:cNvSpPr/>
          <p:nvPr/>
        </p:nvSpPr>
        <p:spPr>
          <a:xfrm>
            <a:off x="8238744" y="5088636"/>
            <a:ext cx="420624" cy="420624"/>
          </a:xfrm>
          <a:prstGeom prst="ellipse">
            <a:avLst/>
          </a:prstGeom>
          <a:solidFill>
            <a:srgbClr val="E8EAF6"/>
          </a:solidFill>
          <a:ln w="12700">
            <a:solidFill>
              <a:srgbClr val="E8EAF6"/>
            </a:solidFill>
            <a:prstDash val="solid"/>
          </a:ln>
        </p:spPr>
      </p:sp>
      <p:pic>
        <p:nvPicPr>
          <p:cNvPr id="16" name="Image 4" descr="preencoded.png">    </p:cNvPr>
          <p:cNvPicPr>
            <a:picLocks noChangeAspect="1"/>
          </p:cNvPicPr>
          <p:nvPr/>
        </p:nvPicPr>
        <p:blipFill>
          <a:blip r:embed="rId5"/>
          <a:stretch>
            <a:fillRect/>
          </a:stretch>
        </p:blipFill>
        <p:spPr>
          <a:xfrm>
            <a:off x="8333384" y="5183276"/>
            <a:ext cx="231343" cy="231343"/>
          </a:xfrm>
          <a:prstGeom prst="rect">
            <a:avLst/>
          </a:prstGeom>
        </p:spPr>
      </p:pic>
      <p:sp>
        <p:nvSpPr>
          <p:cNvPr id="17" name="Text 10"/>
          <p:cNvSpPr txBox="1"/>
          <p:nvPr/>
        </p:nvSpPr>
        <p:spPr>
          <a:xfrm>
            <a:off x="8823960" y="5070348"/>
            <a:ext cx="2819095" cy="109270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Equivalencia</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Sus «Fase 1–4» son las etapas del ciclo de vida de la app.</a:t>
            </a:r>
            <a:endParaRPr lang="en-US" sz="1500" dirty="0"/>
          </a:p>
        </p:txBody>
      </p:sp>
      <p:sp>
        <p:nvSpPr>
          <p:cNvPr id="18" name="Text 11"/>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Recursos del kit</a:t>
            </a:r>
            <a:endParaRPr lang="en-US" sz="1000" dirty="0"/>
          </a:p>
        </p:txBody>
      </p:sp>
      <p:sp>
        <p:nvSpPr>
          <p:cNvPr id="19" name="Text 12"/>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A1F4B"/>
        </a:solidFill>
      </p:bgPr>
    </p:bg>
    <p:spTree>
      <p:nvGrpSpPr>
        <p:cNvPr id="1" name=""/>
        <p:cNvGrpSpPr/>
        <p:nvPr/>
      </p:nvGrpSpPr>
      <p:grpSpPr>
        <a:xfrm>
          <a:off x="0" y="0"/>
          <a:ext cx="0" cy="0"/>
          <a:chOff x="0" y="0"/>
          <a:chExt cx="0" cy="0"/>
        </a:xfrm>
      </p:grpSpPr>
      <p:sp>
        <p:nvSpPr>
          <p:cNvPr id="2" name="Text 0"/>
          <p:cNvSpPr txBox="1"/>
          <p:nvPr/>
        </p:nvSpPr>
        <p:spPr>
          <a:xfrm>
            <a:off x="548640" y="1188720"/>
            <a:ext cx="2743200" cy="1371600"/>
          </a:xfrm>
          <a:prstGeom prst="rect">
            <a:avLst/>
          </a:prstGeom>
          <a:noFill/>
          <a:ln/>
        </p:spPr>
        <p:txBody>
          <a:bodyPr wrap="square" lIns="0" tIns="0" rIns="0" bIns="0" rtlCol="0" anchor="t"/>
          <a:lstStyle/>
          <a:p>
            <a:pPr indent="0" marL="0">
              <a:buNone/>
            </a:pPr>
            <a:r>
              <a:rPr lang="en-US" sz="9600" b="1" dirty="0">
                <a:solidFill>
                  <a:srgbClr val="FFC107"/>
                </a:solidFill>
                <a:latin typeface="Calibri" pitchFamily="34" charset="0"/>
                <a:ea typeface="Calibri" pitchFamily="34" charset="-122"/>
                <a:cs typeface="Calibri" pitchFamily="34" charset="-120"/>
              </a:rPr>
              <a:t>05</a:t>
            </a:r>
            <a:endParaRPr lang="en-US" sz="9600" dirty="0"/>
          </a:p>
        </p:txBody>
      </p:sp>
      <p:sp>
        <p:nvSpPr>
          <p:cNvPr id="3" name="Text 1"/>
          <p:cNvSpPr txBox="1"/>
          <p:nvPr/>
        </p:nvSpPr>
        <p:spPr>
          <a:xfrm>
            <a:off x="548640" y="2697480"/>
            <a:ext cx="5852160" cy="73152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Portafolio</a:t>
            </a:r>
            <a:endParaRPr lang="en-US" sz="3800" dirty="0"/>
          </a:p>
        </p:txBody>
      </p:sp>
      <p:sp>
        <p:nvSpPr>
          <p:cNvPr id="4" name="Text 2"/>
          <p:cNvSpPr txBox="1"/>
          <p:nvPr/>
        </p:nvSpPr>
        <p:spPr>
          <a:xfrm>
            <a:off x="548640" y="3566160"/>
            <a:ext cx="5486400" cy="1097280"/>
          </a:xfrm>
          <a:prstGeom prst="rect">
            <a:avLst/>
          </a:prstGeom>
          <a:noFill/>
          <a:ln/>
        </p:spPr>
        <p:txBody>
          <a:bodyPr wrap="square" lIns="0" tIns="0" rIns="0" bIns="0" rtlCol="0" anchor="t"/>
          <a:lstStyle/>
          <a:p>
            <a:pPr indent="0" marL="0">
              <a:buNone/>
            </a:pPr>
            <a:r>
              <a:rPr lang="en-US" sz="1800" dirty="0">
                <a:solidFill>
                  <a:srgbClr val="C5CAE9"/>
                </a:solidFill>
                <a:latin typeface="Calibri" pitchFamily="34" charset="0"/>
                <a:ea typeface="Calibri" pitchFamily="34" charset="-122"/>
                <a:cs typeface="Calibri" pitchFamily="34" charset="-120"/>
              </a:rPr>
              <a:t>Todos tus proyectos en una pantalla</a:t>
            </a:r>
            <a:endParaRPr lang="en-US" sz="1800" dirty="0"/>
          </a:p>
        </p:txBody>
      </p:sp>
      <p:sp>
        <p:nvSpPr>
          <p:cNvPr id="5" name="Shape 3"/>
          <p:cNvSpPr/>
          <p:nvPr/>
        </p:nvSpPr>
        <p:spPr>
          <a:xfrm>
            <a:off x="6766560" y="1234440"/>
            <a:ext cx="4892040" cy="4480560"/>
          </a:xfrm>
          <a:prstGeom prst="roundRect">
            <a:avLst>
              <a:gd name="adj" fmla="val 2449"/>
            </a:avLst>
          </a:prstGeom>
          <a:solidFill>
            <a:srgbClr val="252B5E"/>
          </a:solidFill>
          <a:ln w="12700">
            <a:solidFill>
              <a:srgbClr val="3C4488"/>
            </a:solidFill>
            <a:prstDash val="solid"/>
          </a:ln>
        </p:spPr>
      </p:sp>
      <p:sp>
        <p:nvSpPr>
          <p:cNvPr id="6" name="Text 4"/>
          <p:cNvSpPr txBox="1"/>
          <p:nvPr/>
        </p:nvSpPr>
        <p:spPr>
          <a:xfrm>
            <a:off x="7132320" y="1508760"/>
            <a:ext cx="4206240" cy="320040"/>
          </a:xfrm>
          <a:prstGeom prst="rect">
            <a:avLst/>
          </a:prstGeom>
          <a:noFill/>
          <a:ln/>
        </p:spPr>
        <p:txBody>
          <a:bodyPr wrap="square" lIns="0" tIns="0" rIns="0" bIns="0" rtlCol="0" anchor="t"/>
          <a:lstStyle/>
          <a:p>
            <a:pPr indent="0" marL="0">
              <a:buNone/>
            </a:pPr>
            <a:r>
              <a:rPr lang="en-US" sz="1200" b="1" spc="200" kern="0" dirty="0">
                <a:solidFill>
                  <a:srgbClr val="FFC107"/>
                </a:solidFill>
                <a:latin typeface="Calibri" pitchFamily="34" charset="0"/>
                <a:ea typeface="Calibri" pitchFamily="34" charset="-122"/>
                <a:cs typeface="Calibri" pitchFamily="34" charset="-120"/>
              </a:rPr>
              <a:t>EN ESTA SECCIÓN</a:t>
            </a:r>
            <a:endParaRPr lang="en-US" sz="1200" dirty="0"/>
          </a:p>
        </p:txBody>
      </p:sp>
      <p:sp>
        <p:nvSpPr>
          <p:cNvPr id="7" name="Shape 5"/>
          <p:cNvSpPr/>
          <p:nvPr/>
        </p:nvSpPr>
        <p:spPr>
          <a:xfrm>
            <a:off x="7178040" y="2103120"/>
            <a:ext cx="146304" cy="146304"/>
          </a:xfrm>
          <a:prstGeom prst="ellipse">
            <a:avLst/>
          </a:prstGeom>
          <a:solidFill>
            <a:srgbClr val="FFC107"/>
          </a:solidFill>
          <a:ln w="12700">
            <a:solidFill>
              <a:srgbClr val="FFC107"/>
            </a:solidFill>
            <a:prstDash val="solid"/>
          </a:ln>
        </p:spPr>
      </p:sp>
      <p:sp>
        <p:nvSpPr>
          <p:cNvPr id="8" name="Text 6"/>
          <p:cNvSpPr txBox="1"/>
          <p:nvPr/>
        </p:nvSpPr>
        <p:spPr>
          <a:xfrm>
            <a:off x="7498080" y="2011680"/>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Indicadores del portafolio</a:t>
            </a:r>
            <a:endParaRPr lang="en-US" sz="1700" dirty="0"/>
          </a:p>
        </p:txBody>
      </p:sp>
      <p:sp>
        <p:nvSpPr>
          <p:cNvPr id="9" name="Shape 7"/>
          <p:cNvSpPr/>
          <p:nvPr/>
        </p:nvSpPr>
        <p:spPr>
          <a:xfrm>
            <a:off x="7178040" y="2816352"/>
            <a:ext cx="146304" cy="146304"/>
          </a:xfrm>
          <a:prstGeom prst="ellipse">
            <a:avLst/>
          </a:prstGeom>
          <a:solidFill>
            <a:srgbClr val="FFC107"/>
          </a:solidFill>
          <a:ln w="12700">
            <a:solidFill>
              <a:srgbClr val="FFC107"/>
            </a:solidFill>
            <a:prstDash val="solid"/>
          </a:ln>
        </p:spPr>
      </p:sp>
      <p:sp>
        <p:nvSpPr>
          <p:cNvPr id="10" name="Text 8"/>
          <p:cNvSpPr txBox="1"/>
          <p:nvPr/>
        </p:nvSpPr>
        <p:spPr>
          <a:xfrm>
            <a:off x="7498080" y="2724912"/>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Tarjeta de cada proyecto</a:t>
            </a:r>
            <a:endParaRPr lang="en-US" sz="1700" dirty="0"/>
          </a:p>
        </p:txBody>
      </p:sp>
      <p:sp>
        <p:nvSpPr>
          <p:cNvPr id="11" name="Shape 9"/>
          <p:cNvSpPr/>
          <p:nvPr/>
        </p:nvSpPr>
        <p:spPr>
          <a:xfrm>
            <a:off x="7178040" y="3529584"/>
            <a:ext cx="146304" cy="146304"/>
          </a:xfrm>
          <a:prstGeom prst="ellipse">
            <a:avLst/>
          </a:prstGeom>
          <a:solidFill>
            <a:srgbClr val="FFC107"/>
          </a:solidFill>
          <a:ln w="12700">
            <a:solidFill>
              <a:srgbClr val="FFC107"/>
            </a:solidFill>
            <a:prstDash val="solid"/>
          </a:ln>
        </p:spPr>
      </p:sp>
      <p:sp>
        <p:nvSpPr>
          <p:cNvPr id="12" name="Text 10"/>
          <p:cNvSpPr txBox="1"/>
          <p:nvPr/>
        </p:nvSpPr>
        <p:spPr>
          <a:xfrm>
            <a:off x="7498080" y="3438144"/>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Semáforo común</a:t>
            </a:r>
            <a:endParaRPr lang="en-US" sz="1700" dirty="0"/>
          </a:p>
        </p:txBody>
      </p:sp>
      <p:sp>
        <p:nvSpPr>
          <p:cNvPr id="13" name="Shape 11"/>
          <p:cNvSpPr/>
          <p:nvPr/>
        </p:nvSpPr>
        <p:spPr>
          <a:xfrm>
            <a:off x="7178040" y="4242816"/>
            <a:ext cx="146304" cy="146304"/>
          </a:xfrm>
          <a:prstGeom prst="ellipse">
            <a:avLst/>
          </a:prstGeom>
          <a:solidFill>
            <a:srgbClr val="FFC107"/>
          </a:solidFill>
          <a:ln w="12700">
            <a:solidFill>
              <a:srgbClr val="FFC107"/>
            </a:solidFill>
            <a:prstDash val="solid"/>
          </a:ln>
        </p:spPr>
      </p:sp>
      <p:sp>
        <p:nvSpPr>
          <p:cNvPr id="14" name="Text 12"/>
          <p:cNvSpPr txBox="1"/>
          <p:nvPr/>
        </p:nvSpPr>
        <p:spPr>
          <a:xfrm>
            <a:off x="7498080" y="4151376"/>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Filtros y comparación</a:t>
            </a:r>
            <a:endParaRPr lang="en-US" sz="1700" dirty="0"/>
          </a:p>
        </p:txBody>
      </p:sp>
      <p:sp>
        <p:nvSpPr>
          <p:cNvPr id="15" name="Text 13"/>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8C93C9"/>
                </a:solidFill>
                <a:latin typeface="Calibri" pitchFamily="34" charset="0"/>
                <a:ea typeface="Calibri" pitchFamily="34" charset="-122"/>
                <a:cs typeface="Calibri" pitchFamily="34" charset="-120"/>
              </a:rPr>
              <a:t>Aplicación AWP · Portafolio</a:t>
            </a:r>
            <a:endParaRPr lang="en-US" sz="1000" dirty="0"/>
          </a:p>
        </p:txBody>
      </p:sp>
      <p:sp>
        <p:nvSpPr>
          <p:cNvPr id="16" name="Text 14"/>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8C93C9"/>
                </a:solidFill>
                <a:latin typeface="Calibri" pitchFamily="34" charset="0"/>
                <a:ea typeface="Calibri" pitchFamily="34" charset="-122"/>
                <a:cs typeface="Calibri" pitchFamily="34" charset="-120"/>
              </a:rPr>
              <a:t>31</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El primer día: portafolio vacío</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Una pantalla vacía que explica y lleva a la acción</a:t>
            </a:r>
            <a:endParaRPr lang="en-US" sz="1500" dirty="0"/>
          </a:p>
        </p:txBody>
      </p:sp>
      <p:sp>
        <p:nvSpPr>
          <p:cNvPr id="4" name="Shape 2"/>
          <p:cNvSpPr/>
          <p:nvPr/>
        </p:nvSpPr>
        <p:spPr>
          <a:xfrm>
            <a:off x="4562856" y="1855460"/>
            <a:ext cx="7135063" cy="4061479"/>
          </a:xfrm>
          <a:prstGeom prst="roundRect">
            <a:avLst>
              <a:gd name="adj" fmla="val 1801"/>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portafolio_vacio.jpg">    </p:cNvPr>
          <p:cNvPicPr>
            <a:picLocks noChangeAspect="1"/>
          </p:cNvPicPr>
          <p:nvPr/>
        </p:nvPicPr>
        <p:blipFill>
          <a:blip r:embed="rId1"/>
          <a:stretch>
            <a:fillRect/>
          </a:stretch>
        </p:blipFill>
        <p:spPr>
          <a:xfrm>
            <a:off x="4617720" y="1910324"/>
            <a:ext cx="7025335" cy="3951751"/>
          </a:xfrm>
          <a:prstGeom prst="rect">
            <a:avLst/>
          </a:prstGeom>
        </p:spPr>
      </p:pic>
      <p:sp>
        <p:nvSpPr>
          <p:cNvPr id="6" name="Shape 3"/>
          <p:cNvSpPr/>
          <p:nvPr/>
        </p:nvSpPr>
        <p:spPr>
          <a:xfrm>
            <a:off x="548640"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643280" y="1685696"/>
            <a:ext cx="231343" cy="231343"/>
          </a:xfrm>
          <a:prstGeom prst="rect">
            <a:avLst/>
          </a:prstGeom>
        </p:spPr>
      </p:pic>
      <p:sp>
        <p:nvSpPr>
          <p:cNvPr id="8" name="Text 4"/>
          <p:cNvSpPr txBox="1"/>
          <p:nvPr/>
        </p:nvSpPr>
        <p:spPr>
          <a:xfrm>
            <a:off x="1133856" y="157276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Qué es un proyecto</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Reúne sus fases, el checklist AWP, los hitos H0–H10 y, más adelante, paquetes, restricciones, riesgos y KPI.</a:t>
            </a:r>
            <a:endParaRPr lang="en-US" sz="1500" dirty="0"/>
          </a:p>
        </p:txBody>
      </p:sp>
      <p:sp>
        <p:nvSpPr>
          <p:cNvPr id="9" name="Shape 5"/>
          <p:cNvSpPr/>
          <p:nvPr/>
        </p:nvSpPr>
        <p:spPr>
          <a:xfrm>
            <a:off x="548640" y="2768346"/>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643280" y="2862986"/>
            <a:ext cx="231343" cy="231343"/>
          </a:xfrm>
          <a:prstGeom prst="rect">
            <a:avLst/>
          </a:prstGeom>
        </p:spPr>
      </p:pic>
      <p:sp>
        <p:nvSpPr>
          <p:cNvPr id="11" name="Text 6"/>
          <p:cNvSpPr txBox="1"/>
          <p:nvPr/>
        </p:nvSpPr>
        <p:spPr>
          <a:xfrm>
            <a:off x="1133856" y="275005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Crear mi primer proyecto</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Abre el asistente de 4 pasos.</a:t>
            </a:r>
            <a:endParaRPr lang="en-US" sz="1500" dirty="0"/>
          </a:p>
        </p:txBody>
      </p:sp>
      <p:sp>
        <p:nvSpPr>
          <p:cNvPr id="12" name="Shape 7"/>
          <p:cNvSpPr/>
          <p:nvPr/>
        </p:nvSpPr>
        <p:spPr>
          <a:xfrm>
            <a:off x="548640" y="3945636"/>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643280" y="4040276"/>
            <a:ext cx="231343" cy="231343"/>
          </a:xfrm>
          <a:prstGeom prst="rect">
            <a:avLst/>
          </a:prstGeom>
        </p:spPr>
      </p:pic>
      <p:sp>
        <p:nvSpPr>
          <p:cNvPr id="14" name="Text 8"/>
          <p:cNvSpPr txBox="1"/>
          <p:nvPr/>
        </p:nvSpPr>
        <p:spPr>
          <a:xfrm>
            <a:off x="1133856" y="392734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Ver los recursos del kit</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Para revisar las plantillas antes de empezar.</a:t>
            </a:r>
            <a:endParaRPr lang="en-US" sz="1500" dirty="0"/>
          </a:p>
        </p:txBody>
      </p:sp>
      <p:sp>
        <p:nvSpPr>
          <p:cNvPr id="15" name="Shape 9"/>
          <p:cNvSpPr/>
          <p:nvPr/>
        </p:nvSpPr>
        <p:spPr>
          <a:xfrm>
            <a:off x="548640" y="5122926"/>
            <a:ext cx="420624" cy="420624"/>
          </a:xfrm>
          <a:prstGeom prst="ellipse">
            <a:avLst/>
          </a:prstGeom>
          <a:solidFill>
            <a:srgbClr val="E8EAF6"/>
          </a:solidFill>
          <a:ln w="12700">
            <a:solidFill>
              <a:srgbClr val="E8EAF6"/>
            </a:solidFill>
            <a:prstDash val="solid"/>
          </a:ln>
        </p:spPr>
      </p:sp>
      <p:pic>
        <p:nvPicPr>
          <p:cNvPr id="16" name="Image 4" descr="preencoded.png">    </p:cNvPr>
          <p:cNvPicPr>
            <a:picLocks noChangeAspect="1"/>
          </p:cNvPicPr>
          <p:nvPr/>
        </p:nvPicPr>
        <p:blipFill>
          <a:blip r:embed="rId5"/>
          <a:stretch>
            <a:fillRect/>
          </a:stretch>
        </p:blipFill>
        <p:spPr>
          <a:xfrm>
            <a:off x="643280" y="5217566"/>
            <a:ext cx="231343" cy="231343"/>
          </a:xfrm>
          <a:prstGeom prst="rect">
            <a:avLst/>
          </a:prstGeom>
        </p:spPr>
      </p:pic>
      <p:sp>
        <p:nvSpPr>
          <p:cNvPr id="17" name="Text 10"/>
          <p:cNvSpPr txBox="1"/>
          <p:nvPr/>
        </p:nvSpPr>
        <p:spPr>
          <a:xfrm>
            <a:off x="1133856" y="510463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Nuevo proyecto</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El mismo asistente, siempre disponible arriba a la derecha.</a:t>
            </a:r>
            <a:endParaRPr lang="en-US" sz="1500" dirty="0"/>
          </a:p>
        </p:txBody>
      </p:sp>
      <p:sp>
        <p:nvSpPr>
          <p:cNvPr id="18" name="Text 11"/>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Portafolio</a:t>
            </a:r>
            <a:endParaRPr lang="en-US" sz="1000" dirty="0"/>
          </a:p>
        </p:txBody>
      </p:sp>
      <p:sp>
        <p:nvSpPr>
          <p:cNvPr id="19" name="Text 12"/>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Vista general del portafolio</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Tres proyectos de ejemplo en distintos momentos de su implementación</a:t>
            </a:r>
            <a:endParaRPr lang="en-US" sz="1500" dirty="0"/>
          </a:p>
        </p:txBody>
      </p:sp>
      <p:sp>
        <p:nvSpPr>
          <p:cNvPr id="4" name="Shape 2"/>
          <p:cNvSpPr/>
          <p:nvPr/>
        </p:nvSpPr>
        <p:spPr>
          <a:xfrm>
            <a:off x="4562856" y="1855460"/>
            <a:ext cx="7135063" cy="4061479"/>
          </a:xfrm>
          <a:prstGeom prst="roundRect">
            <a:avLst>
              <a:gd name="adj" fmla="val 1801"/>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portafolio.jpg">    </p:cNvPr>
          <p:cNvPicPr>
            <a:picLocks noChangeAspect="1"/>
          </p:cNvPicPr>
          <p:nvPr/>
        </p:nvPicPr>
        <p:blipFill>
          <a:blip r:embed="rId1"/>
          <a:stretch>
            <a:fillRect/>
          </a:stretch>
        </p:blipFill>
        <p:spPr>
          <a:xfrm>
            <a:off x="4617720" y="1910324"/>
            <a:ext cx="7025335" cy="3951751"/>
          </a:xfrm>
          <a:prstGeom prst="rect">
            <a:avLst/>
          </a:prstGeom>
        </p:spPr>
      </p:pic>
      <p:sp>
        <p:nvSpPr>
          <p:cNvPr id="6" name="Shape 3"/>
          <p:cNvSpPr/>
          <p:nvPr/>
        </p:nvSpPr>
        <p:spPr>
          <a:xfrm>
            <a:off x="548640"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643280" y="1685696"/>
            <a:ext cx="231343" cy="231343"/>
          </a:xfrm>
          <a:prstGeom prst="rect">
            <a:avLst/>
          </a:prstGeom>
        </p:spPr>
      </p:pic>
      <p:sp>
        <p:nvSpPr>
          <p:cNvPr id="8" name="Text 4"/>
          <p:cNvSpPr txBox="1"/>
          <p:nvPr/>
        </p:nvSpPr>
        <p:spPr>
          <a:xfrm>
            <a:off x="1133856" y="157276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Filtros</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Buscar, estado, fase actual, tipo, responsable y archivados.</a:t>
            </a:r>
            <a:endParaRPr lang="en-US" sz="1500" dirty="0"/>
          </a:p>
        </p:txBody>
      </p:sp>
      <p:sp>
        <p:nvSpPr>
          <p:cNvPr id="9" name="Shape 5"/>
          <p:cNvSpPr/>
          <p:nvPr/>
        </p:nvSpPr>
        <p:spPr>
          <a:xfrm>
            <a:off x="548640" y="2768346"/>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643280" y="2862986"/>
            <a:ext cx="231343" cy="231343"/>
          </a:xfrm>
          <a:prstGeom prst="rect">
            <a:avLst/>
          </a:prstGeom>
        </p:spPr>
      </p:pic>
      <p:sp>
        <p:nvSpPr>
          <p:cNvPr id="11" name="Text 6"/>
          <p:cNvSpPr txBox="1"/>
          <p:nvPr/>
        </p:nvSpPr>
        <p:spPr>
          <a:xfrm>
            <a:off x="1133856" y="275005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Indicadores</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Cinco cifras del portafolio completo.</a:t>
            </a:r>
            <a:endParaRPr lang="en-US" sz="1500" dirty="0"/>
          </a:p>
        </p:txBody>
      </p:sp>
      <p:sp>
        <p:nvSpPr>
          <p:cNvPr id="12" name="Shape 7"/>
          <p:cNvSpPr/>
          <p:nvPr/>
        </p:nvSpPr>
        <p:spPr>
          <a:xfrm>
            <a:off x="548640" y="3945636"/>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643280" y="4040276"/>
            <a:ext cx="231343" cy="231343"/>
          </a:xfrm>
          <a:prstGeom prst="rect">
            <a:avLst/>
          </a:prstGeom>
        </p:spPr>
      </p:pic>
      <p:sp>
        <p:nvSpPr>
          <p:cNvPr id="14" name="Text 8"/>
          <p:cNvSpPr txBox="1"/>
          <p:nvPr/>
        </p:nvSpPr>
        <p:spPr>
          <a:xfrm>
            <a:off x="1133856" y="392734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Tarjetas</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Una por proyecto, con su anillo de avance y su semáforo.</a:t>
            </a:r>
            <a:endParaRPr lang="en-US" sz="1500" dirty="0"/>
          </a:p>
        </p:txBody>
      </p:sp>
      <p:sp>
        <p:nvSpPr>
          <p:cNvPr id="15" name="Shape 9"/>
          <p:cNvSpPr/>
          <p:nvPr/>
        </p:nvSpPr>
        <p:spPr>
          <a:xfrm>
            <a:off x="548640" y="5122926"/>
            <a:ext cx="420624" cy="420624"/>
          </a:xfrm>
          <a:prstGeom prst="ellipse">
            <a:avLst/>
          </a:prstGeom>
          <a:solidFill>
            <a:srgbClr val="E8EAF6"/>
          </a:solidFill>
          <a:ln w="12700">
            <a:solidFill>
              <a:srgbClr val="E8EAF6"/>
            </a:solidFill>
            <a:prstDash val="solid"/>
          </a:ln>
        </p:spPr>
      </p:sp>
      <p:pic>
        <p:nvPicPr>
          <p:cNvPr id="16" name="Image 4" descr="preencoded.png">    </p:cNvPr>
          <p:cNvPicPr>
            <a:picLocks noChangeAspect="1"/>
          </p:cNvPicPr>
          <p:nvPr/>
        </p:nvPicPr>
        <p:blipFill>
          <a:blip r:embed="rId5"/>
          <a:stretch>
            <a:fillRect/>
          </a:stretch>
        </p:blipFill>
        <p:spPr>
          <a:xfrm>
            <a:off x="643280" y="5217566"/>
            <a:ext cx="231343" cy="231343"/>
          </a:xfrm>
          <a:prstGeom prst="rect">
            <a:avLst/>
          </a:prstGeom>
        </p:spPr>
      </p:pic>
      <p:sp>
        <p:nvSpPr>
          <p:cNvPr id="17" name="Text 10"/>
          <p:cNvSpPr txBox="1"/>
          <p:nvPr/>
        </p:nvSpPr>
        <p:spPr>
          <a:xfrm>
            <a:off x="1133856" y="510463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Comparación</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Barras de % AWP contra el avance esperado y tabla resumen.</a:t>
            </a:r>
            <a:endParaRPr lang="en-US" sz="1500" dirty="0"/>
          </a:p>
        </p:txBody>
      </p:sp>
      <p:sp>
        <p:nvSpPr>
          <p:cNvPr id="18" name="Text 11"/>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Portafolio</a:t>
            </a:r>
            <a:endParaRPr lang="en-US" sz="1000" dirty="0"/>
          </a:p>
        </p:txBody>
      </p:sp>
      <p:sp>
        <p:nvSpPr>
          <p:cNvPr id="19" name="Text 12"/>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33</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Los cinco indicadores del portafolio</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Cifras del conjunto de proyectos activos, según los filtros elegidos</a:t>
            </a:r>
            <a:endParaRPr lang="en-US" sz="1500" dirty="0"/>
          </a:p>
        </p:txBody>
      </p:sp>
      <p:sp>
        <p:nvSpPr>
          <p:cNvPr id="4" name="Shape 2"/>
          <p:cNvSpPr/>
          <p:nvPr/>
        </p:nvSpPr>
        <p:spPr>
          <a:xfrm>
            <a:off x="737464" y="1517904"/>
            <a:ext cx="10716768" cy="1226829"/>
          </a:xfrm>
          <a:prstGeom prst="roundRect">
            <a:avLst>
              <a:gd name="adj" fmla="val 5963"/>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portafolio_indicadores.jpg">    </p:cNvPr>
          <p:cNvPicPr>
            <a:picLocks noChangeAspect="1"/>
          </p:cNvPicPr>
          <p:nvPr/>
        </p:nvPicPr>
        <p:blipFill>
          <a:blip r:embed="rId1"/>
          <a:stretch>
            <a:fillRect/>
          </a:stretch>
        </p:blipFill>
        <p:spPr>
          <a:xfrm>
            <a:off x="792328" y="1572768"/>
            <a:ext cx="10607040" cy="1117101"/>
          </a:xfrm>
          <a:prstGeom prst="rect">
            <a:avLst/>
          </a:prstGeom>
        </p:spPr>
      </p:pic>
      <p:sp>
        <p:nvSpPr>
          <p:cNvPr id="6" name="Shape 3"/>
          <p:cNvSpPr/>
          <p:nvPr/>
        </p:nvSpPr>
        <p:spPr>
          <a:xfrm>
            <a:off x="548640" y="3055629"/>
            <a:ext cx="2036003" cy="2011680"/>
          </a:xfrm>
          <a:prstGeom prst="roundRect">
            <a:avLst>
              <a:gd name="adj" fmla="val 4545"/>
            </a:avLst>
          </a:prstGeom>
          <a:solidFill>
            <a:srgbClr val="F5F6FB"/>
          </a:solidFill>
          <a:ln w="9525">
            <a:solidFill>
              <a:srgbClr val="E3E5EE"/>
            </a:solidFill>
            <a:prstDash val="solid"/>
          </a:ln>
        </p:spPr>
      </p:sp>
      <p:sp>
        <p:nvSpPr>
          <p:cNvPr id="7" name="Shape 4"/>
          <p:cNvSpPr/>
          <p:nvPr/>
        </p:nvSpPr>
        <p:spPr>
          <a:xfrm>
            <a:off x="731520" y="3238509"/>
            <a:ext cx="420624" cy="420624"/>
          </a:xfrm>
          <a:prstGeom prst="ellipse">
            <a:avLst/>
          </a:prstGeom>
          <a:solidFill>
            <a:srgbClr val="E8EAF6"/>
          </a:solidFill>
          <a:ln w="12700">
            <a:solidFill>
              <a:srgbClr val="E8EAF6"/>
            </a:solidFill>
            <a:prstDash val="solid"/>
          </a:ln>
        </p:spPr>
      </p:sp>
      <p:pic>
        <p:nvPicPr>
          <p:cNvPr id="8" name="Image 1" descr="preencoded.png">    </p:cNvPr>
          <p:cNvPicPr>
            <a:picLocks noChangeAspect="1"/>
          </p:cNvPicPr>
          <p:nvPr/>
        </p:nvPicPr>
        <p:blipFill>
          <a:blip r:embed="rId2"/>
          <a:stretch>
            <a:fillRect/>
          </a:stretch>
        </p:blipFill>
        <p:spPr>
          <a:xfrm>
            <a:off x="826160" y="3333150"/>
            <a:ext cx="231343" cy="231343"/>
          </a:xfrm>
          <a:prstGeom prst="rect">
            <a:avLst/>
          </a:prstGeom>
        </p:spPr>
      </p:pic>
      <p:sp>
        <p:nvSpPr>
          <p:cNvPr id="9" name="Text 5"/>
          <p:cNvSpPr txBox="1"/>
          <p:nvPr/>
        </p:nvSpPr>
        <p:spPr>
          <a:xfrm>
            <a:off x="731520" y="3787149"/>
            <a:ext cx="1670243" cy="1143000"/>
          </a:xfrm>
          <a:prstGeom prst="rect">
            <a:avLst/>
          </a:prstGeom>
          <a:noFill/>
          <a:ln/>
        </p:spPr>
        <p:txBody>
          <a:bodyPr wrap="square" lIns="0" tIns="0" rIns="0" bIns="0" rtlCol="0" anchor="t">
            <a:normAutofit/>
          </a:bodyPr>
          <a:lstStyle/>
          <a:p>
            <a:pPr indent="0" marL="0">
              <a:buNone/>
            </a:pPr>
            <a:r>
              <a:rPr lang="en-US" sz="1400" b="1" dirty="0">
                <a:solidFill>
                  <a:srgbClr val="1B1C22"/>
                </a:solidFill>
                <a:latin typeface="Calibri" pitchFamily="34" charset="0"/>
                <a:ea typeface="Calibri" pitchFamily="34" charset="-122"/>
                <a:cs typeface="Calibri" pitchFamily="34" charset="-120"/>
              </a:rPr>
              <a:t>Proyectos activos</a:t>
            </a:r>
            <a:endParaRPr lang="en-US" sz="1400" dirty="0"/>
          </a:p>
          <a:p>
            <a:pPr indent="0" marL="0">
              <a:buNone/>
            </a:pPr>
            <a:r>
              <a:rPr lang="en-US" sz="1250" dirty="0">
                <a:solidFill>
                  <a:srgbClr val="5B5E6B"/>
                </a:solidFill>
                <a:latin typeface="Calibri" pitchFamily="34" charset="0"/>
                <a:ea typeface="Calibri" pitchFamily="34" charset="-122"/>
                <a:cs typeface="Calibri" pitchFamily="34" charset="-120"/>
              </a:rPr>
              <a:t>Los no archivados; debajo, cuántos están cerrados.</a:t>
            </a:r>
            <a:endParaRPr lang="en-US" sz="1400" dirty="0"/>
          </a:p>
        </p:txBody>
      </p:sp>
      <p:sp>
        <p:nvSpPr>
          <p:cNvPr id="10" name="Shape 6"/>
          <p:cNvSpPr/>
          <p:nvPr/>
        </p:nvSpPr>
        <p:spPr>
          <a:xfrm>
            <a:off x="2813243" y="3055629"/>
            <a:ext cx="2036003" cy="2011680"/>
          </a:xfrm>
          <a:prstGeom prst="roundRect">
            <a:avLst>
              <a:gd name="adj" fmla="val 4545"/>
            </a:avLst>
          </a:prstGeom>
          <a:solidFill>
            <a:srgbClr val="F5F6FB"/>
          </a:solidFill>
          <a:ln w="9525">
            <a:solidFill>
              <a:srgbClr val="E3E5EE"/>
            </a:solidFill>
            <a:prstDash val="solid"/>
          </a:ln>
        </p:spPr>
      </p:sp>
      <p:sp>
        <p:nvSpPr>
          <p:cNvPr id="11" name="Shape 7"/>
          <p:cNvSpPr/>
          <p:nvPr/>
        </p:nvSpPr>
        <p:spPr>
          <a:xfrm>
            <a:off x="2996123" y="3238509"/>
            <a:ext cx="420624" cy="420624"/>
          </a:xfrm>
          <a:prstGeom prst="ellipse">
            <a:avLst/>
          </a:prstGeom>
          <a:solidFill>
            <a:srgbClr val="E8EAF6"/>
          </a:solidFill>
          <a:ln w="12700">
            <a:solidFill>
              <a:srgbClr val="E8EAF6"/>
            </a:solidFill>
            <a:prstDash val="solid"/>
          </a:ln>
        </p:spPr>
      </p:sp>
      <p:pic>
        <p:nvPicPr>
          <p:cNvPr id="12" name="Image 2" descr="preencoded.png">    </p:cNvPr>
          <p:cNvPicPr>
            <a:picLocks noChangeAspect="1"/>
          </p:cNvPicPr>
          <p:nvPr/>
        </p:nvPicPr>
        <p:blipFill>
          <a:blip r:embed="rId3"/>
          <a:stretch>
            <a:fillRect/>
          </a:stretch>
        </p:blipFill>
        <p:spPr>
          <a:xfrm>
            <a:off x="3090763" y="3333150"/>
            <a:ext cx="231343" cy="231343"/>
          </a:xfrm>
          <a:prstGeom prst="rect">
            <a:avLst/>
          </a:prstGeom>
        </p:spPr>
      </p:pic>
      <p:sp>
        <p:nvSpPr>
          <p:cNvPr id="13" name="Text 8"/>
          <p:cNvSpPr txBox="1"/>
          <p:nvPr/>
        </p:nvSpPr>
        <p:spPr>
          <a:xfrm>
            <a:off x="2996123" y="3787149"/>
            <a:ext cx="1670243" cy="1143000"/>
          </a:xfrm>
          <a:prstGeom prst="rect">
            <a:avLst/>
          </a:prstGeom>
          <a:noFill/>
          <a:ln/>
        </p:spPr>
        <p:txBody>
          <a:bodyPr wrap="square" lIns="0" tIns="0" rIns="0" bIns="0" rtlCol="0" anchor="t">
            <a:normAutofit/>
          </a:bodyPr>
          <a:lstStyle/>
          <a:p>
            <a:pPr indent="0" marL="0">
              <a:buNone/>
            </a:pPr>
            <a:r>
              <a:rPr lang="en-US" sz="1400" b="1" dirty="0">
                <a:solidFill>
                  <a:srgbClr val="1B1C22"/>
                </a:solidFill>
                <a:latin typeface="Calibri" pitchFamily="34" charset="0"/>
                <a:ea typeface="Calibri" pitchFamily="34" charset="-122"/>
                <a:cs typeface="Calibri" pitchFamily="34" charset="-120"/>
              </a:rPr>
              <a:t>Implementación AWP</a:t>
            </a:r>
            <a:endParaRPr lang="en-US" sz="1400" dirty="0"/>
          </a:p>
          <a:p>
            <a:pPr indent="0" marL="0">
              <a:buNone/>
            </a:pPr>
            <a:r>
              <a:rPr lang="en-US" sz="1250" dirty="0">
                <a:solidFill>
                  <a:srgbClr val="5B5E6B"/>
                </a:solidFill>
                <a:latin typeface="Calibri" pitchFamily="34" charset="0"/>
                <a:ea typeface="Calibri" pitchFamily="34" charset="-122"/>
                <a:cs typeface="Calibri" pitchFamily="34" charset="-120"/>
              </a:rPr>
              <a:t>Promedio del % de checklist de los proyectos.</a:t>
            </a:r>
            <a:endParaRPr lang="en-US" sz="1400" dirty="0"/>
          </a:p>
        </p:txBody>
      </p:sp>
      <p:sp>
        <p:nvSpPr>
          <p:cNvPr id="14" name="Shape 9"/>
          <p:cNvSpPr/>
          <p:nvPr/>
        </p:nvSpPr>
        <p:spPr>
          <a:xfrm>
            <a:off x="5077846" y="3055629"/>
            <a:ext cx="2036003" cy="2011680"/>
          </a:xfrm>
          <a:prstGeom prst="roundRect">
            <a:avLst>
              <a:gd name="adj" fmla="val 4545"/>
            </a:avLst>
          </a:prstGeom>
          <a:solidFill>
            <a:srgbClr val="F5F6FB"/>
          </a:solidFill>
          <a:ln w="9525">
            <a:solidFill>
              <a:srgbClr val="E3E5EE"/>
            </a:solidFill>
            <a:prstDash val="solid"/>
          </a:ln>
        </p:spPr>
      </p:sp>
      <p:sp>
        <p:nvSpPr>
          <p:cNvPr id="15" name="Shape 10"/>
          <p:cNvSpPr/>
          <p:nvPr/>
        </p:nvSpPr>
        <p:spPr>
          <a:xfrm>
            <a:off x="5260726" y="3238509"/>
            <a:ext cx="420624" cy="420624"/>
          </a:xfrm>
          <a:prstGeom prst="ellipse">
            <a:avLst/>
          </a:prstGeom>
          <a:solidFill>
            <a:srgbClr val="E8EAF6"/>
          </a:solidFill>
          <a:ln w="12700">
            <a:solidFill>
              <a:srgbClr val="E8EAF6"/>
            </a:solidFill>
            <a:prstDash val="solid"/>
          </a:ln>
        </p:spPr>
      </p:sp>
      <p:pic>
        <p:nvPicPr>
          <p:cNvPr id="16" name="Image 3" descr="preencoded.png">    </p:cNvPr>
          <p:cNvPicPr>
            <a:picLocks noChangeAspect="1"/>
          </p:cNvPicPr>
          <p:nvPr/>
        </p:nvPicPr>
        <p:blipFill>
          <a:blip r:embed="rId4"/>
          <a:stretch>
            <a:fillRect/>
          </a:stretch>
        </p:blipFill>
        <p:spPr>
          <a:xfrm>
            <a:off x="5355366" y="3333150"/>
            <a:ext cx="231343" cy="231343"/>
          </a:xfrm>
          <a:prstGeom prst="rect">
            <a:avLst/>
          </a:prstGeom>
        </p:spPr>
      </p:pic>
      <p:sp>
        <p:nvSpPr>
          <p:cNvPr id="17" name="Text 11"/>
          <p:cNvSpPr txBox="1"/>
          <p:nvPr/>
        </p:nvSpPr>
        <p:spPr>
          <a:xfrm>
            <a:off x="5260726" y="3787149"/>
            <a:ext cx="1670243" cy="1143000"/>
          </a:xfrm>
          <a:prstGeom prst="rect">
            <a:avLst/>
          </a:prstGeom>
          <a:noFill/>
          <a:ln/>
        </p:spPr>
        <p:txBody>
          <a:bodyPr wrap="square" lIns="0" tIns="0" rIns="0" bIns="0" rtlCol="0" anchor="t">
            <a:normAutofit/>
          </a:bodyPr>
          <a:lstStyle/>
          <a:p>
            <a:pPr indent="0" marL="0">
              <a:buNone/>
            </a:pPr>
            <a:r>
              <a:rPr lang="en-US" sz="1400" b="1" dirty="0">
                <a:solidFill>
                  <a:srgbClr val="1B1C22"/>
                </a:solidFill>
                <a:latin typeface="Calibri" pitchFamily="34" charset="0"/>
                <a:ea typeface="Calibri" pitchFamily="34" charset="-122"/>
                <a:cs typeface="Calibri" pitchFamily="34" charset="-120"/>
              </a:rPr>
              <a:t>Hitos atrasados</a:t>
            </a:r>
            <a:endParaRPr lang="en-US" sz="1400" dirty="0"/>
          </a:p>
          <a:p>
            <a:pPr indent="0" marL="0">
              <a:buNone/>
            </a:pPr>
            <a:r>
              <a:rPr lang="en-US" sz="1250" dirty="0">
                <a:solidFill>
                  <a:srgbClr val="5B5E6B"/>
                </a:solidFill>
                <a:latin typeface="Calibri" pitchFamily="34" charset="0"/>
                <a:ea typeface="Calibri" pitchFamily="34" charset="-122"/>
                <a:cs typeface="Calibri" pitchFamily="34" charset="-120"/>
              </a:rPr>
              <a:t>Hitos pendientes con fecha plan vencida, y en cuántos proyectos.</a:t>
            </a:r>
            <a:endParaRPr lang="en-US" sz="1400" dirty="0"/>
          </a:p>
        </p:txBody>
      </p:sp>
      <p:sp>
        <p:nvSpPr>
          <p:cNvPr id="18" name="Shape 12"/>
          <p:cNvSpPr/>
          <p:nvPr/>
        </p:nvSpPr>
        <p:spPr>
          <a:xfrm>
            <a:off x="7342449" y="3055629"/>
            <a:ext cx="2036003" cy="2011680"/>
          </a:xfrm>
          <a:prstGeom prst="roundRect">
            <a:avLst>
              <a:gd name="adj" fmla="val 4545"/>
            </a:avLst>
          </a:prstGeom>
          <a:solidFill>
            <a:srgbClr val="F5F6FB"/>
          </a:solidFill>
          <a:ln w="9525">
            <a:solidFill>
              <a:srgbClr val="E3E5EE"/>
            </a:solidFill>
            <a:prstDash val="solid"/>
          </a:ln>
        </p:spPr>
      </p:sp>
      <p:sp>
        <p:nvSpPr>
          <p:cNvPr id="19" name="Shape 13"/>
          <p:cNvSpPr/>
          <p:nvPr/>
        </p:nvSpPr>
        <p:spPr>
          <a:xfrm>
            <a:off x="7525329" y="3238509"/>
            <a:ext cx="420624" cy="420624"/>
          </a:xfrm>
          <a:prstGeom prst="ellipse">
            <a:avLst/>
          </a:prstGeom>
          <a:solidFill>
            <a:srgbClr val="E8EAF6"/>
          </a:solidFill>
          <a:ln w="12700">
            <a:solidFill>
              <a:srgbClr val="E8EAF6"/>
            </a:solidFill>
            <a:prstDash val="solid"/>
          </a:ln>
        </p:spPr>
      </p:sp>
      <p:pic>
        <p:nvPicPr>
          <p:cNvPr id="20" name="Image 4" descr="preencoded.png">    </p:cNvPr>
          <p:cNvPicPr>
            <a:picLocks noChangeAspect="1"/>
          </p:cNvPicPr>
          <p:nvPr/>
        </p:nvPicPr>
        <p:blipFill>
          <a:blip r:embed="rId5"/>
          <a:stretch>
            <a:fillRect/>
          </a:stretch>
        </p:blipFill>
        <p:spPr>
          <a:xfrm>
            <a:off x="7619970" y="3333150"/>
            <a:ext cx="231343" cy="231343"/>
          </a:xfrm>
          <a:prstGeom prst="rect">
            <a:avLst/>
          </a:prstGeom>
        </p:spPr>
      </p:pic>
      <p:sp>
        <p:nvSpPr>
          <p:cNvPr id="21" name="Text 14"/>
          <p:cNvSpPr txBox="1"/>
          <p:nvPr/>
        </p:nvSpPr>
        <p:spPr>
          <a:xfrm>
            <a:off x="7525329" y="3787149"/>
            <a:ext cx="1670243" cy="1143000"/>
          </a:xfrm>
          <a:prstGeom prst="rect">
            <a:avLst/>
          </a:prstGeom>
          <a:noFill/>
          <a:ln/>
        </p:spPr>
        <p:txBody>
          <a:bodyPr wrap="square" lIns="0" tIns="0" rIns="0" bIns="0" rtlCol="0" anchor="t">
            <a:normAutofit/>
          </a:bodyPr>
          <a:lstStyle/>
          <a:p>
            <a:pPr indent="0" marL="0">
              <a:buNone/>
            </a:pPr>
            <a:r>
              <a:rPr lang="en-US" sz="1400" b="1" dirty="0">
                <a:solidFill>
                  <a:srgbClr val="1B1C22"/>
                </a:solidFill>
                <a:latin typeface="Calibri" pitchFamily="34" charset="0"/>
                <a:ea typeface="Calibri" pitchFamily="34" charset="-122"/>
                <a:cs typeface="Calibri" pitchFamily="34" charset="-120"/>
              </a:rPr>
              <a:t>Restricciones vencidas</a:t>
            </a:r>
            <a:endParaRPr lang="en-US" sz="1400" dirty="0"/>
          </a:p>
          <a:p>
            <a:pPr indent="0" marL="0">
              <a:buNone/>
            </a:pPr>
            <a:r>
              <a:rPr lang="en-US" sz="1250" dirty="0">
                <a:solidFill>
                  <a:srgbClr val="5B5E6B"/>
                </a:solidFill>
                <a:latin typeface="Calibri" pitchFamily="34" charset="0"/>
                <a:ea typeface="Calibri" pitchFamily="34" charset="-122"/>
                <a:cs typeface="Calibri" pitchFamily="34" charset="-120"/>
              </a:rPr>
              <a:t>Se registran desde la Etapa 3.</a:t>
            </a:r>
            <a:endParaRPr lang="en-US" sz="1400" dirty="0"/>
          </a:p>
        </p:txBody>
      </p:sp>
      <p:sp>
        <p:nvSpPr>
          <p:cNvPr id="22" name="Shape 15"/>
          <p:cNvSpPr/>
          <p:nvPr/>
        </p:nvSpPr>
        <p:spPr>
          <a:xfrm>
            <a:off x="9607052" y="3055629"/>
            <a:ext cx="2036003" cy="2011680"/>
          </a:xfrm>
          <a:prstGeom prst="roundRect">
            <a:avLst>
              <a:gd name="adj" fmla="val 4545"/>
            </a:avLst>
          </a:prstGeom>
          <a:solidFill>
            <a:srgbClr val="F5F6FB"/>
          </a:solidFill>
          <a:ln w="9525">
            <a:solidFill>
              <a:srgbClr val="E3E5EE"/>
            </a:solidFill>
            <a:prstDash val="solid"/>
          </a:ln>
        </p:spPr>
      </p:sp>
      <p:sp>
        <p:nvSpPr>
          <p:cNvPr id="23" name="Shape 16"/>
          <p:cNvSpPr/>
          <p:nvPr/>
        </p:nvSpPr>
        <p:spPr>
          <a:xfrm>
            <a:off x="9789932" y="3238509"/>
            <a:ext cx="420624" cy="420624"/>
          </a:xfrm>
          <a:prstGeom prst="ellipse">
            <a:avLst/>
          </a:prstGeom>
          <a:solidFill>
            <a:srgbClr val="E8EAF6"/>
          </a:solidFill>
          <a:ln w="12700">
            <a:solidFill>
              <a:srgbClr val="E8EAF6"/>
            </a:solidFill>
            <a:prstDash val="solid"/>
          </a:ln>
        </p:spPr>
      </p:sp>
      <p:pic>
        <p:nvPicPr>
          <p:cNvPr id="24" name="Image 5" descr="preencoded.png">    </p:cNvPr>
          <p:cNvPicPr>
            <a:picLocks noChangeAspect="1"/>
          </p:cNvPicPr>
          <p:nvPr/>
        </p:nvPicPr>
        <p:blipFill>
          <a:blip r:embed="rId6"/>
          <a:stretch>
            <a:fillRect/>
          </a:stretch>
        </p:blipFill>
        <p:spPr>
          <a:xfrm>
            <a:off x="9884573" y="3333150"/>
            <a:ext cx="231343" cy="231343"/>
          </a:xfrm>
          <a:prstGeom prst="rect">
            <a:avLst/>
          </a:prstGeom>
        </p:spPr>
      </p:pic>
      <p:sp>
        <p:nvSpPr>
          <p:cNvPr id="25" name="Text 17"/>
          <p:cNvSpPr txBox="1"/>
          <p:nvPr/>
        </p:nvSpPr>
        <p:spPr>
          <a:xfrm>
            <a:off x="9789932" y="3787149"/>
            <a:ext cx="1670243" cy="1143000"/>
          </a:xfrm>
          <a:prstGeom prst="rect">
            <a:avLst/>
          </a:prstGeom>
          <a:noFill/>
          <a:ln/>
        </p:spPr>
        <p:txBody>
          <a:bodyPr wrap="square" lIns="0" tIns="0" rIns="0" bIns="0" rtlCol="0" anchor="t">
            <a:normAutofit/>
          </a:bodyPr>
          <a:lstStyle/>
          <a:p>
            <a:pPr indent="0" marL="0">
              <a:buNone/>
            </a:pPr>
            <a:r>
              <a:rPr lang="en-US" sz="1400" b="1" dirty="0">
                <a:solidFill>
                  <a:srgbClr val="1B1C22"/>
                </a:solidFill>
                <a:latin typeface="Calibri" pitchFamily="34" charset="0"/>
                <a:ea typeface="Calibri" pitchFamily="34" charset="-122"/>
                <a:cs typeface="Calibri" pitchFamily="34" charset="-120"/>
              </a:rPr>
              <a:t>Riesgos altos</a:t>
            </a:r>
            <a:endParaRPr lang="en-US" sz="1400" dirty="0"/>
          </a:p>
          <a:p>
            <a:pPr indent="0" marL="0">
              <a:buNone/>
            </a:pPr>
            <a:r>
              <a:rPr lang="en-US" sz="1250" dirty="0">
                <a:solidFill>
                  <a:srgbClr val="5B5E6B"/>
                </a:solidFill>
                <a:latin typeface="Calibri" pitchFamily="34" charset="0"/>
                <a:ea typeface="Calibri" pitchFamily="34" charset="-122"/>
                <a:cs typeface="Calibri" pitchFamily="34" charset="-120"/>
              </a:rPr>
              <a:t>Probabilidad × impacto ≥ 12; desde la Etapa 4.</a:t>
            </a:r>
            <a:endParaRPr lang="en-US" sz="1400" dirty="0"/>
          </a:p>
        </p:txBody>
      </p:sp>
      <p:sp>
        <p:nvSpPr>
          <p:cNvPr id="26" name="Text 18"/>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Portafolio</a:t>
            </a:r>
            <a:endParaRPr lang="en-US" sz="1000" dirty="0"/>
          </a:p>
        </p:txBody>
      </p:sp>
      <p:sp>
        <p:nvSpPr>
          <p:cNvPr id="27" name="Text 19"/>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34</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La tarjeta de cada proyecto</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Todo lo importante de un proyecto en un vistazo</a:t>
            </a:r>
            <a:endParaRPr lang="en-US" sz="1500" dirty="0"/>
          </a:p>
        </p:txBody>
      </p:sp>
      <p:sp>
        <p:nvSpPr>
          <p:cNvPr id="4" name="Shape 2"/>
          <p:cNvSpPr/>
          <p:nvPr/>
        </p:nvSpPr>
        <p:spPr>
          <a:xfrm>
            <a:off x="548640" y="1978750"/>
            <a:ext cx="4315968" cy="3851475"/>
          </a:xfrm>
          <a:prstGeom prst="roundRect">
            <a:avLst>
              <a:gd name="adj" fmla="val 1899"/>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portafolio_tarjeta.jpg">    </p:cNvPr>
          <p:cNvPicPr>
            <a:picLocks noChangeAspect="1"/>
          </p:cNvPicPr>
          <p:nvPr/>
        </p:nvPicPr>
        <p:blipFill>
          <a:blip r:embed="rId1"/>
          <a:stretch>
            <a:fillRect/>
          </a:stretch>
        </p:blipFill>
        <p:spPr>
          <a:xfrm>
            <a:off x="603504" y="2033614"/>
            <a:ext cx="4206240" cy="3741747"/>
          </a:xfrm>
          <a:prstGeom prst="rect">
            <a:avLst/>
          </a:prstGeom>
        </p:spPr>
      </p:pic>
      <p:sp>
        <p:nvSpPr>
          <p:cNvPr id="6" name="Shape 3"/>
          <p:cNvSpPr/>
          <p:nvPr/>
        </p:nvSpPr>
        <p:spPr>
          <a:xfrm>
            <a:off x="5312664"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5407304" y="1685696"/>
            <a:ext cx="231343" cy="231343"/>
          </a:xfrm>
          <a:prstGeom prst="rect">
            <a:avLst/>
          </a:prstGeom>
        </p:spPr>
      </p:pic>
      <p:sp>
        <p:nvSpPr>
          <p:cNvPr id="8" name="Text 4"/>
          <p:cNvSpPr txBox="1"/>
          <p:nvPr/>
        </p:nvSpPr>
        <p:spPr>
          <a:xfrm>
            <a:off x="5897880" y="1572768"/>
            <a:ext cx="5745175" cy="859536"/>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Anillo de avance</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 del checklist AWP completado; su color sigue al semáforo.</a:t>
            </a:r>
            <a:endParaRPr lang="en-US" sz="1500" dirty="0"/>
          </a:p>
        </p:txBody>
      </p:sp>
      <p:sp>
        <p:nvSpPr>
          <p:cNvPr id="9" name="Shape 5"/>
          <p:cNvSpPr/>
          <p:nvPr/>
        </p:nvSpPr>
        <p:spPr>
          <a:xfrm>
            <a:off x="5312664" y="2523744"/>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5407304" y="2618384"/>
            <a:ext cx="231343" cy="231343"/>
          </a:xfrm>
          <a:prstGeom prst="rect">
            <a:avLst/>
          </a:prstGeom>
        </p:spPr>
      </p:pic>
      <p:sp>
        <p:nvSpPr>
          <p:cNvPr id="11" name="Text 6"/>
          <p:cNvSpPr txBox="1"/>
          <p:nvPr/>
        </p:nvSpPr>
        <p:spPr>
          <a:xfrm>
            <a:off x="5897880" y="2505456"/>
            <a:ext cx="5745175" cy="859536"/>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Código y fase actual</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La fase en ejecución (o la próxima a empezar).</a:t>
            </a:r>
            <a:endParaRPr lang="en-US" sz="1500" dirty="0"/>
          </a:p>
        </p:txBody>
      </p:sp>
      <p:sp>
        <p:nvSpPr>
          <p:cNvPr id="12" name="Shape 7"/>
          <p:cNvSpPr/>
          <p:nvPr/>
        </p:nvSpPr>
        <p:spPr>
          <a:xfrm>
            <a:off x="5312664" y="3456432"/>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5407304" y="3551072"/>
            <a:ext cx="231343" cy="231343"/>
          </a:xfrm>
          <a:prstGeom prst="rect">
            <a:avLst/>
          </a:prstGeom>
        </p:spPr>
      </p:pic>
      <p:sp>
        <p:nvSpPr>
          <p:cNvPr id="14" name="Text 8"/>
          <p:cNvSpPr txBox="1"/>
          <p:nvPr/>
        </p:nvSpPr>
        <p:spPr>
          <a:xfrm>
            <a:off x="5897880" y="3438144"/>
            <a:ext cx="5745175" cy="859536"/>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Semáforo y estado</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«Al día», «Atención» o «Requiere acción», más el estado del proyecto.</a:t>
            </a:r>
            <a:endParaRPr lang="en-US" sz="1500" dirty="0"/>
          </a:p>
        </p:txBody>
      </p:sp>
      <p:sp>
        <p:nvSpPr>
          <p:cNvPr id="15" name="Shape 9"/>
          <p:cNvSpPr/>
          <p:nvPr/>
        </p:nvSpPr>
        <p:spPr>
          <a:xfrm>
            <a:off x="5312664" y="4389120"/>
            <a:ext cx="420624" cy="420624"/>
          </a:xfrm>
          <a:prstGeom prst="ellipse">
            <a:avLst/>
          </a:prstGeom>
          <a:solidFill>
            <a:srgbClr val="E8EAF6"/>
          </a:solidFill>
          <a:ln w="12700">
            <a:solidFill>
              <a:srgbClr val="E8EAF6"/>
            </a:solidFill>
            <a:prstDash val="solid"/>
          </a:ln>
        </p:spPr>
      </p:sp>
      <p:pic>
        <p:nvPicPr>
          <p:cNvPr id="16" name="Image 4" descr="preencoded.png">    </p:cNvPr>
          <p:cNvPicPr>
            <a:picLocks noChangeAspect="1"/>
          </p:cNvPicPr>
          <p:nvPr/>
        </p:nvPicPr>
        <p:blipFill>
          <a:blip r:embed="rId5"/>
          <a:stretch>
            <a:fillRect/>
          </a:stretch>
        </p:blipFill>
        <p:spPr>
          <a:xfrm>
            <a:off x="5407304" y="4483760"/>
            <a:ext cx="231343" cy="231343"/>
          </a:xfrm>
          <a:prstGeom prst="rect">
            <a:avLst/>
          </a:prstGeom>
        </p:spPr>
      </p:pic>
      <p:sp>
        <p:nvSpPr>
          <p:cNvPr id="17" name="Text 10"/>
          <p:cNvSpPr txBox="1"/>
          <p:nvPr/>
        </p:nvSpPr>
        <p:spPr>
          <a:xfrm>
            <a:off x="5897880" y="4370832"/>
            <a:ext cx="5745175" cy="859536"/>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Tres cifras de alerta</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Hitos atrasados, restricciones vencidas y riesgos altos.</a:t>
            </a:r>
            <a:endParaRPr lang="en-US" sz="1500" dirty="0"/>
          </a:p>
        </p:txBody>
      </p:sp>
      <p:sp>
        <p:nvSpPr>
          <p:cNvPr id="18" name="Shape 11"/>
          <p:cNvSpPr/>
          <p:nvPr/>
        </p:nvSpPr>
        <p:spPr>
          <a:xfrm>
            <a:off x="5312664" y="5321808"/>
            <a:ext cx="420624" cy="420624"/>
          </a:xfrm>
          <a:prstGeom prst="ellipse">
            <a:avLst/>
          </a:prstGeom>
          <a:solidFill>
            <a:srgbClr val="E8EAF6"/>
          </a:solidFill>
          <a:ln w="12700">
            <a:solidFill>
              <a:srgbClr val="E8EAF6"/>
            </a:solidFill>
            <a:prstDash val="solid"/>
          </a:ln>
        </p:spPr>
      </p:sp>
      <p:pic>
        <p:nvPicPr>
          <p:cNvPr id="19" name="Image 5" descr="preencoded.png">    </p:cNvPr>
          <p:cNvPicPr>
            <a:picLocks noChangeAspect="1"/>
          </p:cNvPicPr>
          <p:nvPr/>
        </p:nvPicPr>
        <p:blipFill>
          <a:blip r:embed="rId6"/>
          <a:stretch>
            <a:fillRect/>
          </a:stretch>
        </p:blipFill>
        <p:spPr>
          <a:xfrm>
            <a:off x="5407304" y="5416448"/>
            <a:ext cx="231343" cy="231343"/>
          </a:xfrm>
          <a:prstGeom prst="rect">
            <a:avLst/>
          </a:prstGeom>
        </p:spPr>
      </p:pic>
      <p:sp>
        <p:nvSpPr>
          <p:cNvPr id="20" name="Text 12"/>
          <p:cNvSpPr txBox="1"/>
          <p:nvPr/>
        </p:nvSpPr>
        <p:spPr>
          <a:xfrm>
            <a:off x="5897880" y="5303520"/>
            <a:ext cx="5745175" cy="859536"/>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Próximo hito</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El siguiente hito pendiente con su fecha plan. Toca la tarjeta para abrir el proyecto.</a:t>
            </a:r>
            <a:endParaRPr lang="en-US" sz="1500" dirty="0"/>
          </a:p>
        </p:txBody>
      </p:sp>
      <p:sp>
        <p:nvSpPr>
          <p:cNvPr id="21" name="Text 13"/>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Portafolio</a:t>
            </a:r>
            <a:endParaRPr lang="en-US" sz="1000" dirty="0"/>
          </a:p>
        </p:txBody>
      </p:sp>
      <p:sp>
        <p:nvSpPr>
          <p:cNvPr id="22" name="Text 14"/>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35</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El semáforo: una regla común para todos</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Siempre con color, ícono y texto: nunca solo color</a:t>
            </a:r>
            <a:endParaRPr lang="en-US" sz="1500" dirty="0"/>
          </a:p>
        </p:txBody>
      </p:sp>
      <p:sp>
        <p:nvSpPr>
          <p:cNvPr id="4" name="Shape 2"/>
          <p:cNvSpPr/>
          <p:nvPr/>
        </p:nvSpPr>
        <p:spPr>
          <a:xfrm>
            <a:off x="548640" y="1600200"/>
            <a:ext cx="3515258" cy="3931920"/>
          </a:xfrm>
          <a:prstGeom prst="roundRect">
            <a:avLst>
              <a:gd name="adj" fmla="val 3121"/>
            </a:avLst>
          </a:prstGeom>
          <a:solidFill>
            <a:srgbClr val="F5F6FB"/>
          </a:solidFill>
          <a:ln w="9525">
            <a:solidFill>
              <a:srgbClr val="E3E5EE"/>
            </a:solidFill>
            <a:prstDash val="solid"/>
          </a:ln>
        </p:spPr>
      </p:sp>
      <p:sp>
        <p:nvSpPr>
          <p:cNvPr id="5" name="Shape 3"/>
          <p:cNvSpPr/>
          <p:nvPr/>
        </p:nvSpPr>
        <p:spPr>
          <a:xfrm>
            <a:off x="1757629" y="1874520"/>
            <a:ext cx="1097280" cy="1097280"/>
          </a:xfrm>
          <a:prstGeom prst="ellipse">
            <a:avLst/>
          </a:prstGeom>
          <a:solidFill>
            <a:srgbClr val="D03B3B"/>
          </a:solidFill>
          <a:ln w="12700">
            <a:solidFill>
              <a:srgbClr val="D03B3B"/>
            </a:solidFill>
            <a:prstDash val="solid"/>
          </a:ln>
        </p:spPr>
      </p:sp>
      <p:pic>
        <p:nvPicPr>
          <p:cNvPr id="6" name="Image 0" descr="preencoded.png">    </p:cNvPr>
          <p:cNvPicPr>
            <a:picLocks noChangeAspect="1"/>
          </p:cNvPicPr>
          <p:nvPr/>
        </p:nvPicPr>
        <p:blipFill>
          <a:blip r:embed="rId1"/>
          <a:stretch>
            <a:fillRect/>
          </a:stretch>
        </p:blipFill>
        <p:spPr>
          <a:xfrm>
            <a:off x="2004517" y="2121408"/>
            <a:ext cx="603504" cy="603504"/>
          </a:xfrm>
          <a:prstGeom prst="rect">
            <a:avLst/>
          </a:prstGeom>
        </p:spPr>
      </p:pic>
      <p:sp>
        <p:nvSpPr>
          <p:cNvPr id="7" name="Text 4"/>
          <p:cNvSpPr txBox="1"/>
          <p:nvPr/>
        </p:nvSpPr>
        <p:spPr>
          <a:xfrm>
            <a:off x="822960" y="3154680"/>
            <a:ext cx="2966618" cy="502920"/>
          </a:xfrm>
          <a:prstGeom prst="rect">
            <a:avLst/>
          </a:prstGeom>
          <a:noFill/>
          <a:ln/>
        </p:spPr>
        <p:txBody>
          <a:bodyPr wrap="square" lIns="0" tIns="0" rIns="0" bIns="0" rtlCol="0" anchor="t"/>
          <a:lstStyle/>
          <a:p>
            <a:pPr algn="ctr" indent="0" marL="0">
              <a:buNone/>
            </a:pPr>
            <a:r>
              <a:rPr lang="en-US" sz="2200" b="1" dirty="0">
                <a:solidFill>
                  <a:srgbClr val="D03B3B"/>
                </a:solidFill>
                <a:latin typeface="Calibri" pitchFamily="34" charset="0"/>
                <a:ea typeface="Calibri" pitchFamily="34" charset="-122"/>
                <a:cs typeface="Calibri" pitchFamily="34" charset="-120"/>
              </a:rPr>
              <a:t>Requiere acción</a:t>
            </a:r>
            <a:endParaRPr lang="en-US" sz="2200" dirty="0"/>
          </a:p>
        </p:txBody>
      </p:sp>
      <p:sp>
        <p:nvSpPr>
          <p:cNvPr id="8" name="Text 5"/>
          <p:cNvSpPr txBox="1"/>
          <p:nvPr/>
        </p:nvSpPr>
        <p:spPr>
          <a:xfrm>
            <a:off x="868680" y="3749040"/>
            <a:ext cx="2875178" cy="1005840"/>
          </a:xfrm>
          <a:prstGeom prst="rect">
            <a:avLst/>
          </a:prstGeom>
          <a:noFill/>
          <a:ln/>
        </p:spPr>
        <p:txBody>
          <a:bodyPr wrap="square" lIns="0" tIns="0" rIns="0" bIns="0" rtlCol="0" anchor="t"/>
          <a:lstStyle/>
          <a:p>
            <a:pPr algn="ctr" indent="0" marL="0">
              <a:buNone/>
            </a:pPr>
            <a:r>
              <a:rPr lang="en-US" sz="1500" dirty="0">
                <a:solidFill>
                  <a:srgbClr val="1B1C22"/>
                </a:solidFill>
                <a:latin typeface="Calibri" pitchFamily="34" charset="0"/>
                <a:ea typeface="Calibri" pitchFamily="34" charset="-122"/>
                <a:cs typeface="Calibri" pitchFamily="34" charset="-120"/>
              </a:rPr>
              <a:t>2 o más hitos atrasados, o al menos una restricción vencida.</a:t>
            </a:r>
            <a:endParaRPr lang="en-US" sz="1500" dirty="0"/>
          </a:p>
        </p:txBody>
      </p:sp>
      <p:sp>
        <p:nvSpPr>
          <p:cNvPr id="9" name="Text 6"/>
          <p:cNvSpPr txBox="1"/>
          <p:nvPr/>
        </p:nvSpPr>
        <p:spPr>
          <a:xfrm>
            <a:off x="868680" y="4800600"/>
            <a:ext cx="2875178" cy="594360"/>
          </a:xfrm>
          <a:prstGeom prst="rect">
            <a:avLst/>
          </a:prstGeom>
          <a:noFill/>
          <a:ln/>
        </p:spPr>
        <p:txBody>
          <a:bodyPr wrap="square" lIns="0" tIns="0" rIns="0" bIns="0" rtlCol="0" anchor="t"/>
          <a:lstStyle/>
          <a:p>
            <a:pPr algn="ctr" indent="0" marL="0">
              <a:buNone/>
            </a:pPr>
            <a:r>
              <a:rPr lang="en-US" sz="1250" i="1" dirty="0">
                <a:solidFill>
                  <a:srgbClr val="5B5E6B"/>
                </a:solidFill>
                <a:latin typeface="Calibri" pitchFamily="34" charset="0"/>
                <a:ea typeface="Calibri" pitchFamily="34" charset="-122"/>
                <a:cs typeface="Calibri" pitchFamily="34" charset="-120"/>
              </a:rPr>
              <a:t>Ejemplo: PTN con 6 hitos atrasados.</a:t>
            </a:r>
            <a:endParaRPr lang="en-US" sz="1250" dirty="0"/>
          </a:p>
        </p:txBody>
      </p:sp>
      <p:sp>
        <p:nvSpPr>
          <p:cNvPr id="10" name="Shape 7"/>
          <p:cNvSpPr/>
          <p:nvPr/>
        </p:nvSpPr>
        <p:spPr>
          <a:xfrm>
            <a:off x="4338218" y="1600200"/>
            <a:ext cx="3515258" cy="3931920"/>
          </a:xfrm>
          <a:prstGeom prst="roundRect">
            <a:avLst>
              <a:gd name="adj" fmla="val 3121"/>
            </a:avLst>
          </a:prstGeom>
          <a:solidFill>
            <a:srgbClr val="F5F6FB"/>
          </a:solidFill>
          <a:ln w="9525">
            <a:solidFill>
              <a:srgbClr val="E3E5EE"/>
            </a:solidFill>
            <a:prstDash val="solid"/>
          </a:ln>
        </p:spPr>
      </p:sp>
      <p:sp>
        <p:nvSpPr>
          <p:cNvPr id="11" name="Shape 8"/>
          <p:cNvSpPr/>
          <p:nvPr/>
        </p:nvSpPr>
        <p:spPr>
          <a:xfrm>
            <a:off x="5547208" y="1874520"/>
            <a:ext cx="1097280" cy="1097280"/>
          </a:xfrm>
          <a:prstGeom prst="ellipse">
            <a:avLst/>
          </a:prstGeom>
          <a:solidFill>
            <a:srgbClr val="FAB219"/>
          </a:solidFill>
          <a:ln w="12700">
            <a:solidFill>
              <a:srgbClr val="FAB219"/>
            </a:solidFill>
            <a:prstDash val="solid"/>
          </a:ln>
        </p:spPr>
      </p:sp>
      <p:pic>
        <p:nvPicPr>
          <p:cNvPr id="12" name="Image 1" descr="preencoded.png">    </p:cNvPr>
          <p:cNvPicPr>
            <a:picLocks noChangeAspect="1"/>
          </p:cNvPicPr>
          <p:nvPr/>
        </p:nvPicPr>
        <p:blipFill>
          <a:blip r:embed="rId2"/>
          <a:stretch>
            <a:fillRect/>
          </a:stretch>
        </p:blipFill>
        <p:spPr>
          <a:xfrm>
            <a:off x="5794096" y="2121408"/>
            <a:ext cx="603504" cy="603504"/>
          </a:xfrm>
          <a:prstGeom prst="rect">
            <a:avLst/>
          </a:prstGeom>
        </p:spPr>
      </p:pic>
      <p:sp>
        <p:nvSpPr>
          <p:cNvPr id="13" name="Text 9"/>
          <p:cNvSpPr txBox="1"/>
          <p:nvPr/>
        </p:nvSpPr>
        <p:spPr>
          <a:xfrm>
            <a:off x="4612538" y="3154680"/>
            <a:ext cx="2966618" cy="502920"/>
          </a:xfrm>
          <a:prstGeom prst="rect">
            <a:avLst/>
          </a:prstGeom>
          <a:noFill/>
          <a:ln/>
        </p:spPr>
        <p:txBody>
          <a:bodyPr wrap="square" lIns="0" tIns="0" rIns="0" bIns="0" rtlCol="0" anchor="t"/>
          <a:lstStyle/>
          <a:p>
            <a:pPr algn="ctr" indent="0" marL="0">
              <a:buNone/>
            </a:pPr>
            <a:r>
              <a:rPr lang="en-US" sz="2200" b="1" dirty="0">
                <a:solidFill>
                  <a:srgbClr val="B7860B"/>
                </a:solidFill>
                <a:latin typeface="Calibri" pitchFamily="34" charset="0"/>
                <a:ea typeface="Calibri" pitchFamily="34" charset="-122"/>
                <a:cs typeface="Calibri" pitchFamily="34" charset="-120"/>
              </a:rPr>
              <a:t>Atención</a:t>
            </a:r>
            <a:endParaRPr lang="en-US" sz="2200" dirty="0"/>
          </a:p>
        </p:txBody>
      </p:sp>
      <p:sp>
        <p:nvSpPr>
          <p:cNvPr id="14" name="Text 10"/>
          <p:cNvSpPr txBox="1"/>
          <p:nvPr/>
        </p:nvSpPr>
        <p:spPr>
          <a:xfrm>
            <a:off x="4658258" y="3749040"/>
            <a:ext cx="2875178" cy="1005840"/>
          </a:xfrm>
          <a:prstGeom prst="rect">
            <a:avLst/>
          </a:prstGeom>
          <a:noFill/>
          <a:ln/>
        </p:spPr>
        <p:txBody>
          <a:bodyPr wrap="square" lIns="0" tIns="0" rIns="0" bIns="0" rtlCol="0" anchor="t"/>
          <a:lstStyle/>
          <a:p>
            <a:pPr algn="ctr" indent="0" marL="0">
              <a:buNone/>
            </a:pPr>
            <a:r>
              <a:rPr lang="en-US" sz="1500" dirty="0">
                <a:solidFill>
                  <a:srgbClr val="1B1C22"/>
                </a:solidFill>
                <a:latin typeface="Calibri" pitchFamily="34" charset="0"/>
                <a:ea typeface="Calibri" pitchFamily="34" charset="-122"/>
                <a:cs typeface="Calibri" pitchFamily="34" charset="-120"/>
              </a:rPr>
              <a:t>1 hito atrasado, o un hito que vence en los próximos 7 días.</a:t>
            </a:r>
            <a:endParaRPr lang="en-US" sz="1500" dirty="0"/>
          </a:p>
        </p:txBody>
      </p:sp>
      <p:sp>
        <p:nvSpPr>
          <p:cNvPr id="15" name="Text 11"/>
          <p:cNvSpPr txBox="1"/>
          <p:nvPr/>
        </p:nvSpPr>
        <p:spPr>
          <a:xfrm>
            <a:off x="4658258" y="4800600"/>
            <a:ext cx="2875178" cy="594360"/>
          </a:xfrm>
          <a:prstGeom prst="rect">
            <a:avLst/>
          </a:prstGeom>
          <a:noFill/>
          <a:ln/>
        </p:spPr>
        <p:txBody>
          <a:bodyPr wrap="square" lIns="0" tIns="0" rIns="0" bIns="0" rtlCol="0" anchor="t"/>
          <a:lstStyle/>
          <a:p>
            <a:pPr algn="ctr" indent="0" marL="0">
              <a:buNone/>
            </a:pPr>
            <a:r>
              <a:rPr lang="en-US" sz="1250" i="1" dirty="0">
                <a:solidFill>
                  <a:srgbClr val="5B5E6B"/>
                </a:solidFill>
                <a:latin typeface="Calibri" pitchFamily="34" charset="0"/>
                <a:ea typeface="Calibri" pitchFamily="34" charset="-122"/>
                <a:cs typeface="Calibri" pitchFamily="34" charset="-120"/>
              </a:rPr>
              <a:t>Ejemplo: HRE, con H1 a pocos días de su fecha plan.</a:t>
            </a:r>
            <a:endParaRPr lang="en-US" sz="1250" dirty="0"/>
          </a:p>
        </p:txBody>
      </p:sp>
      <p:sp>
        <p:nvSpPr>
          <p:cNvPr id="16" name="Shape 12"/>
          <p:cNvSpPr/>
          <p:nvPr/>
        </p:nvSpPr>
        <p:spPr>
          <a:xfrm>
            <a:off x="8127797" y="1600200"/>
            <a:ext cx="3515258" cy="3931920"/>
          </a:xfrm>
          <a:prstGeom prst="roundRect">
            <a:avLst>
              <a:gd name="adj" fmla="val 3121"/>
            </a:avLst>
          </a:prstGeom>
          <a:solidFill>
            <a:srgbClr val="F5F6FB"/>
          </a:solidFill>
          <a:ln w="9525">
            <a:solidFill>
              <a:srgbClr val="E3E5EE"/>
            </a:solidFill>
            <a:prstDash val="solid"/>
          </a:ln>
        </p:spPr>
      </p:sp>
      <p:sp>
        <p:nvSpPr>
          <p:cNvPr id="17" name="Shape 13"/>
          <p:cNvSpPr/>
          <p:nvPr/>
        </p:nvSpPr>
        <p:spPr>
          <a:xfrm>
            <a:off x="9336786" y="1874520"/>
            <a:ext cx="1097280" cy="1097280"/>
          </a:xfrm>
          <a:prstGeom prst="ellipse">
            <a:avLst/>
          </a:prstGeom>
          <a:solidFill>
            <a:srgbClr val="0CA30C"/>
          </a:solidFill>
          <a:ln w="12700">
            <a:solidFill>
              <a:srgbClr val="0CA30C"/>
            </a:solidFill>
            <a:prstDash val="solid"/>
          </a:ln>
        </p:spPr>
      </p:sp>
      <p:pic>
        <p:nvPicPr>
          <p:cNvPr id="18" name="Image 2" descr="preencoded.png">    </p:cNvPr>
          <p:cNvPicPr>
            <a:picLocks noChangeAspect="1"/>
          </p:cNvPicPr>
          <p:nvPr/>
        </p:nvPicPr>
        <p:blipFill>
          <a:blip r:embed="rId3"/>
          <a:stretch>
            <a:fillRect/>
          </a:stretch>
        </p:blipFill>
        <p:spPr>
          <a:xfrm>
            <a:off x="9583674" y="2121408"/>
            <a:ext cx="603504" cy="603504"/>
          </a:xfrm>
          <a:prstGeom prst="rect">
            <a:avLst/>
          </a:prstGeom>
        </p:spPr>
      </p:pic>
      <p:sp>
        <p:nvSpPr>
          <p:cNvPr id="19" name="Text 14"/>
          <p:cNvSpPr txBox="1"/>
          <p:nvPr/>
        </p:nvSpPr>
        <p:spPr>
          <a:xfrm>
            <a:off x="8402117" y="3154680"/>
            <a:ext cx="2966618" cy="502920"/>
          </a:xfrm>
          <a:prstGeom prst="rect">
            <a:avLst/>
          </a:prstGeom>
          <a:noFill/>
          <a:ln/>
        </p:spPr>
        <p:txBody>
          <a:bodyPr wrap="square" lIns="0" tIns="0" rIns="0" bIns="0" rtlCol="0" anchor="t"/>
          <a:lstStyle/>
          <a:p>
            <a:pPr algn="ctr" indent="0" marL="0">
              <a:buNone/>
            </a:pPr>
            <a:r>
              <a:rPr lang="en-US" sz="2200" b="1" dirty="0">
                <a:solidFill>
                  <a:srgbClr val="0CA30C"/>
                </a:solidFill>
                <a:latin typeface="Calibri" pitchFamily="34" charset="0"/>
                <a:ea typeface="Calibri" pitchFamily="34" charset="-122"/>
                <a:cs typeface="Calibri" pitchFamily="34" charset="-120"/>
              </a:rPr>
              <a:t>Al día</a:t>
            </a:r>
            <a:endParaRPr lang="en-US" sz="2200" dirty="0"/>
          </a:p>
        </p:txBody>
      </p:sp>
      <p:sp>
        <p:nvSpPr>
          <p:cNvPr id="20" name="Text 15"/>
          <p:cNvSpPr txBox="1"/>
          <p:nvPr/>
        </p:nvSpPr>
        <p:spPr>
          <a:xfrm>
            <a:off x="8447837" y="3749040"/>
            <a:ext cx="2875178" cy="1005840"/>
          </a:xfrm>
          <a:prstGeom prst="rect">
            <a:avLst/>
          </a:prstGeom>
          <a:noFill/>
          <a:ln/>
        </p:spPr>
        <p:txBody>
          <a:bodyPr wrap="square" lIns="0" tIns="0" rIns="0" bIns="0" rtlCol="0" anchor="t"/>
          <a:lstStyle/>
          <a:p>
            <a:pPr algn="ctr" indent="0" marL="0">
              <a:buNone/>
            </a:pPr>
            <a:r>
              <a:rPr lang="en-US" sz="1500" dirty="0">
                <a:solidFill>
                  <a:srgbClr val="1B1C22"/>
                </a:solidFill>
                <a:latin typeface="Calibri" pitchFamily="34" charset="0"/>
                <a:ea typeface="Calibri" pitchFamily="34" charset="-122"/>
                <a:cs typeface="Calibri" pitchFamily="34" charset="-120"/>
              </a:rPr>
              <a:t>Ningún hito atrasado ni por vencer en 7 días, y ninguna restricción vencida.</a:t>
            </a:r>
            <a:endParaRPr lang="en-US" sz="1500" dirty="0"/>
          </a:p>
        </p:txBody>
      </p:sp>
      <p:sp>
        <p:nvSpPr>
          <p:cNvPr id="21" name="Text 16"/>
          <p:cNvSpPr txBox="1"/>
          <p:nvPr/>
        </p:nvSpPr>
        <p:spPr>
          <a:xfrm>
            <a:off x="8447837" y="4800600"/>
            <a:ext cx="2875178" cy="594360"/>
          </a:xfrm>
          <a:prstGeom prst="rect">
            <a:avLst/>
          </a:prstGeom>
          <a:noFill/>
          <a:ln/>
        </p:spPr>
        <p:txBody>
          <a:bodyPr wrap="square" lIns="0" tIns="0" rIns="0" bIns="0" rtlCol="0" anchor="t"/>
          <a:lstStyle/>
          <a:p>
            <a:pPr algn="ctr" indent="0" marL="0">
              <a:buNone/>
            </a:pPr>
            <a:r>
              <a:rPr lang="en-US" sz="1250" i="1" dirty="0">
                <a:solidFill>
                  <a:srgbClr val="5B5E6B"/>
                </a:solidFill>
                <a:latin typeface="Calibri" pitchFamily="34" charset="0"/>
                <a:ea typeface="Calibri" pitchFamily="34" charset="-122"/>
                <a:cs typeface="Calibri" pitchFamily="34" charset="-120"/>
              </a:rPr>
              <a:t>Lo que buscamos cada lunes.</a:t>
            </a:r>
            <a:endParaRPr lang="en-US" sz="1250" dirty="0"/>
          </a:p>
        </p:txBody>
      </p:sp>
      <p:sp>
        <p:nvSpPr>
          <p:cNvPr id="22" name="Text 17"/>
          <p:cNvSpPr txBox="1"/>
          <p:nvPr/>
        </p:nvSpPr>
        <p:spPr>
          <a:xfrm>
            <a:off x="548640" y="5760720"/>
            <a:ext cx="11094415" cy="457200"/>
          </a:xfrm>
          <a:prstGeom prst="rect">
            <a:avLst/>
          </a:prstGeom>
          <a:noFill/>
          <a:ln/>
        </p:spPr>
        <p:txBody>
          <a:bodyPr wrap="square" lIns="0" tIns="0" rIns="0" bIns="0" rtlCol="0" anchor="t"/>
          <a:lstStyle/>
          <a:p>
            <a:pPr algn="ctr" indent="0" marL="0">
              <a:buNone/>
            </a:pPr>
            <a:r>
              <a:rPr lang="en-US" sz="1300" dirty="0">
                <a:solidFill>
                  <a:srgbClr val="5B5E6B"/>
                </a:solidFill>
                <a:latin typeface="Calibri" pitchFamily="34" charset="0"/>
                <a:ea typeface="Calibri" pitchFamily="34" charset="-122"/>
                <a:cs typeface="Calibri" pitchFamily="34" charset="-120"/>
              </a:rPr>
              <a:t>La fecha de comparación es hoy, o la fecha de corte del proyecto si está definida. Las restricciones vencidas se registran desde la Etapa 3.</a:t>
            </a:r>
            <a:endParaRPr lang="en-US" sz="1300" dirty="0"/>
          </a:p>
        </p:txBody>
      </p:sp>
      <p:sp>
        <p:nvSpPr>
          <p:cNvPr id="23" name="Text 18"/>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Portafolio</a:t>
            </a:r>
            <a:endParaRPr lang="en-US" sz="1000" dirty="0"/>
          </a:p>
        </p:txBody>
      </p:sp>
      <p:sp>
        <p:nvSpPr>
          <p:cNvPr id="24" name="Text 19"/>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36</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Filtros del portafolio</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Todos los indicadores, tarjetas y gráficos responden a los filtros</a:t>
            </a:r>
            <a:endParaRPr lang="en-US" sz="1500" dirty="0"/>
          </a:p>
        </p:txBody>
      </p:sp>
      <p:sp>
        <p:nvSpPr>
          <p:cNvPr id="4" name="Shape 2"/>
          <p:cNvSpPr/>
          <p:nvPr/>
        </p:nvSpPr>
        <p:spPr>
          <a:xfrm>
            <a:off x="737464" y="1517904"/>
            <a:ext cx="10716768" cy="793004"/>
          </a:xfrm>
          <a:prstGeom prst="roundRect">
            <a:avLst>
              <a:gd name="adj" fmla="val 9225"/>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portafolio_filtros.jpg">    </p:cNvPr>
          <p:cNvPicPr>
            <a:picLocks noChangeAspect="1"/>
          </p:cNvPicPr>
          <p:nvPr/>
        </p:nvPicPr>
        <p:blipFill>
          <a:blip r:embed="rId1"/>
          <a:stretch>
            <a:fillRect/>
          </a:stretch>
        </p:blipFill>
        <p:spPr>
          <a:xfrm>
            <a:off x="792328" y="1572768"/>
            <a:ext cx="10607040" cy="683276"/>
          </a:xfrm>
          <a:prstGeom prst="rect">
            <a:avLst/>
          </a:prstGeom>
        </p:spPr>
      </p:pic>
      <p:sp>
        <p:nvSpPr>
          <p:cNvPr id="6" name="Shape 3"/>
          <p:cNvSpPr/>
          <p:nvPr/>
        </p:nvSpPr>
        <p:spPr>
          <a:xfrm>
            <a:off x="548640" y="2621804"/>
            <a:ext cx="1658569" cy="2011680"/>
          </a:xfrm>
          <a:prstGeom prst="roundRect">
            <a:avLst>
              <a:gd name="adj" fmla="val 5513"/>
            </a:avLst>
          </a:prstGeom>
          <a:solidFill>
            <a:srgbClr val="F5F6FB"/>
          </a:solidFill>
          <a:ln w="9525">
            <a:solidFill>
              <a:srgbClr val="E3E5EE"/>
            </a:solidFill>
            <a:prstDash val="solid"/>
          </a:ln>
        </p:spPr>
      </p:sp>
      <p:sp>
        <p:nvSpPr>
          <p:cNvPr id="7" name="Shape 4"/>
          <p:cNvSpPr/>
          <p:nvPr/>
        </p:nvSpPr>
        <p:spPr>
          <a:xfrm>
            <a:off x="731520" y="2804684"/>
            <a:ext cx="420624" cy="420624"/>
          </a:xfrm>
          <a:prstGeom prst="ellipse">
            <a:avLst/>
          </a:prstGeom>
          <a:solidFill>
            <a:srgbClr val="E8EAF6"/>
          </a:solidFill>
          <a:ln w="12700">
            <a:solidFill>
              <a:srgbClr val="E8EAF6"/>
            </a:solidFill>
            <a:prstDash val="solid"/>
          </a:ln>
        </p:spPr>
      </p:sp>
      <p:pic>
        <p:nvPicPr>
          <p:cNvPr id="8" name="Image 1" descr="preencoded.png">    </p:cNvPr>
          <p:cNvPicPr>
            <a:picLocks noChangeAspect="1"/>
          </p:cNvPicPr>
          <p:nvPr/>
        </p:nvPicPr>
        <p:blipFill>
          <a:blip r:embed="rId2"/>
          <a:stretch>
            <a:fillRect/>
          </a:stretch>
        </p:blipFill>
        <p:spPr>
          <a:xfrm>
            <a:off x="826160" y="2899324"/>
            <a:ext cx="231343" cy="231343"/>
          </a:xfrm>
          <a:prstGeom prst="rect">
            <a:avLst/>
          </a:prstGeom>
        </p:spPr>
      </p:pic>
      <p:sp>
        <p:nvSpPr>
          <p:cNvPr id="9" name="Text 5"/>
          <p:cNvSpPr txBox="1"/>
          <p:nvPr/>
        </p:nvSpPr>
        <p:spPr>
          <a:xfrm>
            <a:off x="731520" y="3353324"/>
            <a:ext cx="1292809" cy="1143000"/>
          </a:xfrm>
          <a:prstGeom prst="rect">
            <a:avLst/>
          </a:prstGeom>
          <a:noFill/>
          <a:ln/>
        </p:spPr>
        <p:txBody>
          <a:bodyPr wrap="square" lIns="0" tIns="0" rIns="0" bIns="0" rtlCol="0" anchor="t">
            <a:normAutofit/>
          </a:bodyPr>
          <a:lstStyle/>
          <a:p>
            <a:pPr indent="0" marL="0">
              <a:buNone/>
            </a:pPr>
            <a:r>
              <a:rPr lang="en-US" sz="1400" b="1" dirty="0">
                <a:solidFill>
                  <a:srgbClr val="1B1C22"/>
                </a:solidFill>
                <a:latin typeface="Calibri" pitchFamily="34" charset="0"/>
                <a:ea typeface="Calibri" pitchFamily="34" charset="-122"/>
                <a:cs typeface="Calibri" pitchFamily="34" charset="-120"/>
              </a:rPr>
              <a:t>Buscar</a:t>
            </a:r>
            <a:endParaRPr lang="en-US" sz="1400" dirty="0"/>
          </a:p>
          <a:p>
            <a:pPr indent="0" marL="0">
              <a:buNone/>
            </a:pPr>
            <a:r>
              <a:rPr lang="en-US" sz="1250" dirty="0">
                <a:solidFill>
                  <a:srgbClr val="5B5E6B"/>
                </a:solidFill>
                <a:latin typeface="Calibri" pitchFamily="34" charset="0"/>
                <a:ea typeface="Calibri" pitchFamily="34" charset="-122"/>
                <a:cs typeface="Calibri" pitchFamily="34" charset="-120"/>
              </a:rPr>
              <a:t>Código, nombre o cliente.</a:t>
            </a:r>
            <a:endParaRPr lang="en-US" sz="1400" dirty="0"/>
          </a:p>
        </p:txBody>
      </p:sp>
      <p:sp>
        <p:nvSpPr>
          <p:cNvPr id="10" name="Shape 6"/>
          <p:cNvSpPr/>
          <p:nvPr/>
        </p:nvSpPr>
        <p:spPr>
          <a:xfrm>
            <a:off x="2435809" y="2621804"/>
            <a:ext cx="1658569" cy="2011680"/>
          </a:xfrm>
          <a:prstGeom prst="roundRect">
            <a:avLst>
              <a:gd name="adj" fmla="val 5513"/>
            </a:avLst>
          </a:prstGeom>
          <a:solidFill>
            <a:srgbClr val="F5F6FB"/>
          </a:solidFill>
          <a:ln w="9525">
            <a:solidFill>
              <a:srgbClr val="E3E5EE"/>
            </a:solidFill>
            <a:prstDash val="solid"/>
          </a:ln>
        </p:spPr>
      </p:sp>
      <p:sp>
        <p:nvSpPr>
          <p:cNvPr id="11" name="Shape 7"/>
          <p:cNvSpPr/>
          <p:nvPr/>
        </p:nvSpPr>
        <p:spPr>
          <a:xfrm>
            <a:off x="2618689" y="2804684"/>
            <a:ext cx="420624" cy="420624"/>
          </a:xfrm>
          <a:prstGeom prst="ellipse">
            <a:avLst/>
          </a:prstGeom>
          <a:solidFill>
            <a:srgbClr val="E8EAF6"/>
          </a:solidFill>
          <a:ln w="12700">
            <a:solidFill>
              <a:srgbClr val="E8EAF6"/>
            </a:solidFill>
            <a:prstDash val="solid"/>
          </a:ln>
        </p:spPr>
      </p:sp>
      <p:pic>
        <p:nvPicPr>
          <p:cNvPr id="12" name="Image 2" descr="preencoded.png">    </p:cNvPr>
          <p:cNvPicPr>
            <a:picLocks noChangeAspect="1"/>
          </p:cNvPicPr>
          <p:nvPr/>
        </p:nvPicPr>
        <p:blipFill>
          <a:blip r:embed="rId3"/>
          <a:stretch>
            <a:fillRect/>
          </a:stretch>
        </p:blipFill>
        <p:spPr>
          <a:xfrm>
            <a:off x="2713330" y="2899324"/>
            <a:ext cx="231343" cy="231343"/>
          </a:xfrm>
          <a:prstGeom prst="rect">
            <a:avLst/>
          </a:prstGeom>
        </p:spPr>
      </p:pic>
      <p:sp>
        <p:nvSpPr>
          <p:cNvPr id="13" name="Text 8"/>
          <p:cNvSpPr txBox="1"/>
          <p:nvPr/>
        </p:nvSpPr>
        <p:spPr>
          <a:xfrm>
            <a:off x="2618689" y="3353324"/>
            <a:ext cx="1292809" cy="1143000"/>
          </a:xfrm>
          <a:prstGeom prst="rect">
            <a:avLst/>
          </a:prstGeom>
          <a:noFill/>
          <a:ln/>
        </p:spPr>
        <p:txBody>
          <a:bodyPr wrap="square" lIns="0" tIns="0" rIns="0" bIns="0" rtlCol="0" anchor="t">
            <a:normAutofit/>
          </a:bodyPr>
          <a:lstStyle/>
          <a:p>
            <a:pPr indent="0" marL="0">
              <a:buNone/>
            </a:pPr>
            <a:r>
              <a:rPr lang="en-US" sz="1400" b="1" dirty="0">
                <a:solidFill>
                  <a:srgbClr val="1B1C22"/>
                </a:solidFill>
                <a:latin typeface="Calibri" pitchFamily="34" charset="0"/>
                <a:ea typeface="Calibri" pitchFamily="34" charset="-122"/>
                <a:cs typeface="Calibri" pitchFamily="34" charset="-120"/>
              </a:rPr>
              <a:t>Estado</a:t>
            </a:r>
            <a:endParaRPr lang="en-US" sz="1400" dirty="0"/>
          </a:p>
          <a:p>
            <a:pPr indent="0" marL="0">
              <a:buNone/>
            </a:pPr>
            <a:r>
              <a:rPr lang="en-US" sz="1250" dirty="0">
                <a:solidFill>
                  <a:srgbClr val="5B5E6B"/>
                </a:solidFill>
                <a:latin typeface="Calibri" pitchFamily="34" charset="0"/>
                <a:ea typeface="Calibri" pitchFamily="34" charset="-122"/>
                <a:cs typeface="Calibri" pitchFamily="34" charset="-120"/>
              </a:rPr>
              <a:t>Planificado, En ejecución, En pausa, Cerrado.</a:t>
            </a:r>
            <a:endParaRPr lang="en-US" sz="1400" dirty="0"/>
          </a:p>
        </p:txBody>
      </p:sp>
      <p:sp>
        <p:nvSpPr>
          <p:cNvPr id="14" name="Shape 9"/>
          <p:cNvSpPr/>
          <p:nvPr/>
        </p:nvSpPr>
        <p:spPr>
          <a:xfrm>
            <a:off x="4322978" y="2621804"/>
            <a:ext cx="1658569" cy="2011680"/>
          </a:xfrm>
          <a:prstGeom prst="roundRect">
            <a:avLst>
              <a:gd name="adj" fmla="val 5513"/>
            </a:avLst>
          </a:prstGeom>
          <a:solidFill>
            <a:srgbClr val="F5F6FB"/>
          </a:solidFill>
          <a:ln w="9525">
            <a:solidFill>
              <a:srgbClr val="E3E5EE"/>
            </a:solidFill>
            <a:prstDash val="solid"/>
          </a:ln>
        </p:spPr>
      </p:sp>
      <p:sp>
        <p:nvSpPr>
          <p:cNvPr id="15" name="Shape 10"/>
          <p:cNvSpPr/>
          <p:nvPr/>
        </p:nvSpPr>
        <p:spPr>
          <a:xfrm>
            <a:off x="4505858" y="2804684"/>
            <a:ext cx="420624" cy="420624"/>
          </a:xfrm>
          <a:prstGeom prst="ellipse">
            <a:avLst/>
          </a:prstGeom>
          <a:solidFill>
            <a:srgbClr val="E8EAF6"/>
          </a:solidFill>
          <a:ln w="12700">
            <a:solidFill>
              <a:srgbClr val="E8EAF6"/>
            </a:solidFill>
            <a:prstDash val="solid"/>
          </a:ln>
        </p:spPr>
      </p:sp>
      <p:pic>
        <p:nvPicPr>
          <p:cNvPr id="16" name="Image 3" descr="preencoded.png">    </p:cNvPr>
          <p:cNvPicPr>
            <a:picLocks noChangeAspect="1"/>
          </p:cNvPicPr>
          <p:nvPr/>
        </p:nvPicPr>
        <p:blipFill>
          <a:blip r:embed="rId4"/>
          <a:stretch>
            <a:fillRect/>
          </a:stretch>
        </p:blipFill>
        <p:spPr>
          <a:xfrm>
            <a:off x="4600499" y="2899324"/>
            <a:ext cx="231343" cy="231343"/>
          </a:xfrm>
          <a:prstGeom prst="rect">
            <a:avLst/>
          </a:prstGeom>
        </p:spPr>
      </p:pic>
      <p:sp>
        <p:nvSpPr>
          <p:cNvPr id="17" name="Text 11"/>
          <p:cNvSpPr txBox="1"/>
          <p:nvPr/>
        </p:nvSpPr>
        <p:spPr>
          <a:xfrm>
            <a:off x="4505858" y="3353324"/>
            <a:ext cx="1292809" cy="1143000"/>
          </a:xfrm>
          <a:prstGeom prst="rect">
            <a:avLst/>
          </a:prstGeom>
          <a:noFill/>
          <a:ln/>
        </p:spPr>
        <p:txBody>
          <a:bodyPr wrap="square" lIns="0" tIns="0" rIns="0" bIns="0" rtlCol="0" anchor="t">
            <a:normAutofit/>
          </a:bodyPr>
          <a:lstStyle/>
          <a:p>
            <a:pPr indent="0" marL="0">
              <a:buNone/>
            </a:pPr>
            <a:r>
              <a:rPr lang="en-US" sz="1400" b="1" dirty="0">
                <a:solidFill>
                  <a:srgbClr val="1B1C22"/>
                </a:solidFill>
                <a:latin typeface="Calibri" pitchFamily="34" charset="0"/>
                <a:ea typeface="Calibri" pitchFamily="34" charset="-122"/>
                <a:cs typeface="Calibri" pitchFamily="34" charset="-120"/>
              </a:rPr>
              <a:t>Fase actual</a:t>
            </a:r>
            <a:endParaRPr lang="en-US" sz="1400" dirty="0"/>
          </a:p>
          <a:p>
            <a:pPr indent="0" marL="0">
              <a:buNone/>
            </a:pPr>
            <a:r>
              <a:rPr lang="en-US" sz="1250" dirty="0">
                <a:solidFill>
                  <a:srgbClr val="5B5E6B"/>
                </a:solidFill>
                <a:latin typeface="Calibri" pitchFamily="34" charset="0"/>
                <a:ea typeface="Calibri" pitchFamily="34" charset="-122"/>
                <a:cs typeface="Calibri" pitchFamily="34" charset="-120"/>
              </a:rPr>
              <a:t>Fase 1, 2, 3…</a:t>
            </a:r>
            <a:endParaRPr lang="en-US" sz="1400" dirty="0"/>
          </a:p>
        </p:txBody>
      </p:sp>
      <p:sp>
        <p:nvSpPr>
          <p:cNvPr id="18" name="Shape 12"/>
          <p:cNvSpPr/>
          <p:nvPr/>
        </p:nvSpPr>
        <p:spPr>
          <a:xfrm>
            <a:off x="6210148" y="2621804"/>
            <a:ext cx="1658569" cy="2011680"/>
          </a:xfrm>
          <a:prstGeom prst="roundRect">
            <a:avLst>
              <a:gd name="adj" fmla="val 5513"/>
            </a:avLst>
          </a:prstGeom>
          <a:solidFill>
            <a:srgbClr val="F5F6FB"/>
          </a:solidFill>
          <a:ln w="9525">
            <a:solidFill>
              <a:srgbClr val="E3E5EE"/>
            </a:solidFill>
            <a:prstDash val="solid"/>
          </a:ln>
        </p:spPr>
      </p:sp>
      <p:sp>
        <p:nvSpPr>
          <p:cNvPr id="19" name="Shape 13"/>
          <p:cNvSpPr/>
          <p:nvPr/>
        </p:nvSpPr>
        <p:spPr>
          <a:xfrm>
            <a:off x="6393028" y="2804684"/>
            <a:ext cx="420624" cy="420624"/>
          </a:xfrm>
          <a:prstGeom prst="ellipse">
            <a:avLst/>
          </a:prstGeom>
          <a:solidFill>
            <a:srgbClr val="E8EAF6"/>
          </a:solidFill>
          <a:ln w="12700">
            <a:solidFill>
              <a:srgbClr val="E8EAF6"/>
            </a:solidFill>
            <a:prstDash val="solid"/>
          </a:ln>
        </p:spPr>
      </p:sp>
      <p:pic>
        <p:nvPicPr>
          <p:cNvPr id="20" name="Image 4" descr="preencoded.png">    </p:cNvPr>
          <p:cNvPicPr>
            <a:picLocks noChangeAspect="1"/>
          </p:cNvPicPr>
          <p:nvPr/>
        </p:nvPicPr>
        <p:blipFill>
          <a:blip r:embed="rId5"/>
          <a:stretch>
            <a:fillRect/>
          </a:stretch>
        </p:blipFill>
        <p:spPr>
          <a:xfrm>
            <a:off x="6487668" y="2899324"/>
            <a:ext cx="231343" cy="231343"/>
          </a:xfrm>
          <a:prstGeom prst="rect">
            <a:avLst/>
          </a:prstGeom>
        </p:spPr>
      </p:pic>
      <p:sp>
        <p:nvSpPr>
          <p:cNvPr id="21" name="Text 14"/>
          <p:cNvSpPr txBox="1"/>
          <p:nvPr/>
        </p:nvSpPr>
        <p:spPr>
          <a:xfrm>
            <a:off x="6393028" y="3353324"/>
            <a:ext cx="1292809" cy="1143000"/>
          </a:xfrm>
          <a:prstGeom prst="rect">
            <a:avLst/>
          </a:prstGeom>
          <a:noFill/>
          <a:ln/>
        </p:spPr>
        <p:txBody>
          <a:bodyPr wrap="square" lIns="0" tIns="0" rIns="0" bIns="0" rtlCol="0" anchor="t">
            <a:normAutofit/>
          </a:bodyPr>
          <a:lstStyle/>
          <a:p>
            <a:pPr indent="0" marL="0">
              <a:buNone/>
            </a:pPr>
            <a:r>
              <a:rPr lang="en-US" sz="1400" b="1" dirty="0">
                <a:solidFill>
                  <a:srgbClr val="1B1C22"/>
                </a:solidFill>
                <a:latin typeface="Calibri" pitchFamily="34" charset="0"/>
                <a:ea typeface="Calibri" pitchFamily="34" charset="-122"/>
                <a:cs typeface="Calibri" pitchFamily="34" charset="-120"/>
              </a:rPr>
              <a:t>Tipo</a:t>
            </a:r>
            <a:endParaRPr lang="en-US" sz="1400" dirty="0"/>
          </a:p>
          <a:p>
            <a:pPr indent="0" marL="0">
              <a:buNone/>
            </a:pPr>
            <a:r>
              <a:rPr lang="en-US" sz="1250" dirty="0">
                <a:solidFill>
                  <a:srgbClr val="5B5E6B"/>
                </a:solidFill>
                <a:latin typeface="Calibri" pitchFamily="34" charset="0"/>
                <a:ea typeface="Calibri" pitchFamily="34" charset="-122"/>
                <a:cs typeface="Calibri" pitchFamily="34" charset="-120"/>
              </a:rPr>
              <a:t>Industrial, Minería, Energía, Infraestructura, Edificación, Hospitalario, Logístico, Otro.</a:t>
            </a:r>
            <a:endParaRPr lang="en-US" sz="1400" dirty="0"/>
          </a:p>
        </p:txBody>
      </p:sp>
      <p:sp>
        <p:nvSpPr>
          <p:cNvPr id="22" name="Shape 15"/>
          <p:cNvSpPr/>
          <p:nvPr/>
        </p:nvSpPr>
        <p:spPr>
          <a:xfrm>
            <a:off x="8097317" y="2621804"/>
            <a:ext cx="1658569" cy="2011680"/>
          </a:xfrm>
          <a:prstGeom prst="roundRect">
            <a:avLst>
              <a:gd name="adj" fmla="val 5513"/>
            </a:avLst>
          </a:prstGeom>
          <a:solidFill>
            <a:srgbClr val="F5F6FB"/>
          </a:solidFill>
          <a:ln w="9525">
            <a:solidFill>
              <a:srgbClr val="E3E5EE"/>
            </a:solidFill>
            <a:prstDash val="solid"/>
          </a:ln>
        </p:spPr>
      </p:sp>
      <p:sp>
        <p:nvSpPr>
          <p:cNvPr id="23" name="Shape 16"/>
          <p:cNvSpPr/>
          <p:nvPr/>
        </p:nvSpPr>
        <p:spPr>
          <a:xfrm>
            <a:off x="8280197" y="2804684"/>
            <a:ext cx="420624" cy="420624"/>
          </a:xfrm>
          <a:prstGeom prst="ellipse">
            <a:avLst/>
          </a:prstGeom>
          <a:solidFill>
            <a:srgbClr val="E8EAF6"/>
          </a:solidFill>
          <a:ln w="12700">
            <a:solidFill>
              <a:srgbClr val="E8EAF6"/>
            </a:solidFill>
            <a:prstDash val="solid"/>
          </a:ln>
        </p:spPr>
      </p:sp>
      <p:pic>
        <p:nvPicPr>
          <p:cNvPr id="24" name="Image 5" descr="preencoded.png">    </p:cNvPr>
          <p:cNvPicPr>
            <a:picLocks noChangeAspect="1"/>
          </p:cNvPicPr>
          <p:nvPr/>
        </p:nvPicPr>
        <p:blipFill>
          <a:blip r:embed="rId6"/>
          <a:stretch>
            <a:fillRect/>
          </a:stretch>
        </p:blipFill>
        <p:spPr>
          <a:xfrm>
            <a:off x="8374837" y="2899324"/>
            <a:ext cx="231343" cy="231343"/>
          </a:xfrm>
          <a:prstGeom prst="rect">
            <a:avLst/>
          </a:prstGeom>
        </p:spPr>
      </p:pic>
      <p:sp>
        <p:nvSpPr>
          <p:cNvPr id="25" name="Text 17"/>
          <p:cNvSpPr txBox="1"/>
          <p:nvPr/>
        </p:nvSpPr>
        <p:spPr>
          <a:xfrm>
            <a:off x="8280197" y="3353324"/>
            <a:ext cx="1292809" cy="1143000"/>
          </a:xfrm>
          <a:prstGeom prst="rect">
            <a:avLst/>
          </a:prstGeom>
          <a:noFill/>
          <a:ln/>
        </p:spPr>
        <p:txBody>
          <a:bodyPr wrap="square" lIns="0" tIns="0" rIns="0" bIns="0" rtlCol="0" anchor="t">
            <a:normAutofit/>
          </a:bodyPr>
          <a:lstStyle/>
          <a:p>
            <a:pPr indent="0" marL="0">
              <a:buNone/>
            </a:pPr>
            <a:r>
              <a:rPr lang="en-US" sz="1400" b="1" dirty="0">
                <a:solidFill>
                  <a:srgbClr val="1B1C22"/>
                </a:solidFill>
                <a:latin typeface="Calibri" pitchFamily="34" charset="0"/>
                <a:ea typeface="Calibri" pitchFamily="34" charset="-122"/>
                <a:cs typeface="Calibri" pitchFamily="34" charset="-120"/>
              </a:rPr>
              <a:t>Responsable</a:t>
            </a:r>
            <a:endParaRPr lang="en-US" sz="1400" dirty="0"/>
          </a:p>
          <a:p>
            <a:pPr indent="0" marL="0">
              <a:buNone/>
            </a:pPr>
            <a:r>
              <a:rPr lang="en-US" sz="1250" dirty="0">
                <a:solidFill>
                  <a:srgbClr val="5B5E6B"/>
                </a:solidFill>
                <a:latin typeface="Calibri" pitchFamily="34" charset="0"/>
                <a:ea typeface="Calibri" pitchFamily="34" charset="-122"/>
                <a:cs typeface="Calibri" pitchFamily="34" charset="-120"/>
              </a:rPr>
              <a:t>Responsable del proyecto.</a:t>
            </a:r>
            <a:endParaRPr lang="en-US" sz="1400" dirty="0"/>
          </a:p>
        </p:txBody>
      </p:sp>
      <p:sp>
        <p:nvSpPr>
          <p:cNvPr id="26" name="Shape 18"/>
          <p:cNvSpPr/>
          <p:nvPr/>
        </p:nvSpPr>
        <p:spPr>
          <a:xfrm>
            <a:off x="9984486" y="2621804"/>
            <a:ext cx="1658569" cy="2011680"/>
          </a:xfrm>
          <a:prstGeom prst="roundRect">
            <a:avLst>
              <a:gd name="adj" fmla="val 5513"/>
            </a:avLst>
          </a:prstGeom>
          <a:solidFill>
            <a:srgbClr val="F5F6FB"/>
          </a:solidFill>
          <a:ln w="9525">
            <a:solidFill>
              <a:srgbClr val="E3E5EE"/>
            </a:solidFill>
            <a:prstDash val="solid"/>
          </a:ln>
        </p:spPr>
      </p:sp>
      <p:sp>
        <p:nvSpPr>
          <p:cNvPr id="27" name="Shape 19"/>
          <p:cNvSpPr/>
          <p:nvPr/>
        </p:nvSpPr>
        <p:spPr>
          <a:xfrm>
            <a:off x="10167366" y="2804684"/>
            <a:ext cx="420624" cy="420624"/>
          </a:xfrm>
          <a:prstGeom prst="ellipse">
            <a:avLst/>
          </a:prstGeom>
          <a:solidFill>
            <a:srgbClr val="E8EAF6"/>
          </a:solidFill>
          <a:ln w="12700">
            <a:solidFill>
              <a:srgbClr val="E8EAF6"/>
            </a:solidFill>
            <a:prstDash val="solid"/>
          </a:ln>
        </p:spPr>
      </p:sp>
      <p:pic>
        <p:nvPicPr>
          <p:cNvPr id="28" name="Image 6" descr="preencoded.png">    </p:cNvPr>
          <p:cNvPicPr>
            <a:picLocks noChangeAspect="1"/>
          </p:cNvPicPr>
          <p:nvPr/>
        </p:nvPicPr>
        <p:blipFill>
          <a:blip r:embed="rId7"/>
          <a:stretch>
            <a:fillRect/>
          </a:stretch>
        </p:blipFill>
        <p:spPr>
          <a:xfrm>
            <a:off x="10262006" y="2899324"/>
            <a:ext cx="231343" cy="231343"/>
          </a:xfrm>
          <a:prstGeom prst="rect">
            <a:avLst/>
          </a:prstGeom>
        </p:spPr>
      </p:pic>
      <p:sp>
        <p:nvSpPr>
          <p:cNvPr id="29" name="Text 20"/>
          <p:cNvSpPr txBox="1"/>
          <p:nvPr/>
        </p:nvSpPr>
        <p:spPr>
          <a:xfrm>
            <a:off x="10167366" y="3353324"/>
            <a:ext cx="1292809" cy="1143000"/>
          </a:xfrm>
          <a:prstGeom prst="rect">
            <a:avLst/>
          </a:prstGeom>
          <a:noFill/>
          <a:ln/>
        </p:spPr>
        <p:txBody>
          <a:bodyPr wrap="square" lIns="0" tIns="0" rIns="0" bIns="0" rtlCol="0" anchor="t">
            <a:normAutofit/>
          </a:bodyPr>
          <a:lstStyle/>
          <a:p>
            <a:pPr indent="0" marL="0">
              <a:buNone/>
            </a:pPr>
            <a:r>
              <a:rPr lang="en-US" sz="1400" b="1" dirty="0">
                <a:solidFill>
                  <a:srgbClr val="1B1C22"/>
                </a:solidFill>
                <a:latin typeface="Calibri" pitchFamily="34" charset="0"/>
                <a:ea typeface="Calibri" pitchFamily="34" charset="-122"/>
                <a:cs typeface="Calibri" pitchFamily="34" charset="-120"/>
              </a:rPr>
              <a:t>Ver archivados</a:t>
            </a:r>
            <a:endParaRPr lang="en-US" sz="1400" dirty="0"/>
          </a:p>
          <a:p>
            <a:pPr indent="0" marL="0">
              <a:buNone/>
            </a:pPr>
            <a:r>
              <a:rPr lang="en-US" sz="1250" dirty="0">
                <a:solidFill>
                  <a:srgbClr val="5B5E6B"/>
                </a:solidFill>
                <a:latin typeface="Calibri" pitchFamily="34" charset="0"/>
                <a:ea typeface="Calibri" pitchFamily="34" charset="-122"/>
                <a:cs typeface="Calibri" pitchFamily="34" charset="-120"/>
              </a:rPr>
              <a:t>Muestra también los proyectos archivados.</a:t>
            </a:r>
            <a:endParaRPr lang="en-US" sz="1400" dirty="0"/>
          </a:p>
        </p:txBody>
      </p:sp>
      <p:sp>
        <p:nvSpPr>
          <p:cNvPr id="30" name="Text 21"/>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Portafolio</a:t>
            </a:r>
            <a:endParaRPr lang="en-US" sz="1000" dirty="0"/>
          </a:p>
        </p:txBody>
      </p:sp>
      <p:sp>
        <p:nvSpPr>
          <p:cNvPr id="31" name="Text 22"/>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37</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Comparación entre proyectos</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El título del gráfico es la conclusión; debajo, «Cómo leerlo»</a:t>
            </a:r>
            <a:endParaRPr lang="en-US" sz="1500" dirty="0"/>
          </a:p>
        </p:txBody>
      </p:sp>
      <p:sp>
        <p:nvSpPr>
          <p:cNvPr id="4" name="Shape 2"/>
          <p:cNvSpPr/>
          <p:nvPr/>
        </p:nvSpPr>
        <p:spPr>
          <a:xfrm>
            <a:off x="548640" y="1909699"/>
            <a:ext cx="7242048" cy="3989578"/>
          </a:xfrm>
          <a:prstGeom prst="roundRect">
            <a:avLst>
              <a:gd name="adj" fmla="val 1834"/>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portafolio_comparacion.jpg">    </p:cNvPr>
          <p:cNvPicPr>
            <a:picLocks noChangeAspect="1"/>
          </p:cNvPicPr>
          <p:nvPr/>
        </p:nvPicPr>
        <p:blipFill>
          <a:blip r:embed="rId1"/>
          <a:stretch>
            <a:fillRect/>
          </a:stretch>
        </p:blipFill>
        <p:spPr>
          <a:xfrm>
            <a:off x="603504" y="1964563"/>
            <a:ext cx="7132320" cy="3879850"/>
          </a:xfrm>
          <a:prstGeom prst="rect">
            <a:avLst/>
          </a:prstGeom>
        </p:spPr>
      </p:pic>
      <p:sp>
        <p:nvSpPr>
          <p:cNvPr id="6" name="Shape 3"/>
          <p:cNvSpPr/>
          <p:nvPr/>
        </p:nvSpPr>
        <p:spPr>
          <a:xfrm>
            <a:off x="8238744"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8333384" y="1685696"/>
            <a:ext cx="231343" cy="231343"/>
          </a:xfrm>
          <a:prstGeom prst="rect">
            <a:avLst/>
          </a:prstGeom>
        </p:spPr>
      </p:pic>
      <p:sp>
        <p:nvSpPr>
          <p:cNvPr id="8" name="Text 4"/>
          <p:cNvSpPr txBox="1"/>
          <p:nvPr/>
        </p:nvSpPr>
        <p:spPr>
          <a:xfrm>
            <a:off x="8823960" y="1572768"/>
            <a:ext cx="2819095" cy="109270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Barra</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 del checklist AWP completado de cada proyecto.</a:t>
            </a:r>
            <a:endParaRPr lang="en-US" sz="1500" dirty="0"/>
          </a:p>
        </p:txBody>
      </p:sp>
      <p:sp>
        <p:nvSpPr>
          <p:cNvPr id="9" name="Shape 5"/>
          <p:cNvSpPr/>
          <p:nvPr/>
        </p:nvSpPr>
        <p:spPr>
          <a:xfrm>
            <a:off x="8238744" y="2756916"/>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8333384" y="2851556"/>
            <a:ext cx="231343" cy="231343"/>
          </a:xfrm>
          <a:prstGeom prst="rect">
            <a:avLst/>
          </a:prstGeom>
        </p:spPr>
      </p:pic>
      <p:sp>
        <p:nvSpPr>
          <p:cNvPr id="11" name="Text 6"/>
          <p:cNvSpPr txBox="1"/>
          <p:nvPr/>
        </p:nvSpPr>
        <p:spPr>
          <a:xfrm>
            <a:off x="8823960" y="2738628"/>
            <a:ext cx="2819095" cy="109270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Línea discontinua</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Avance esperado a la fecha: % de hitos cuya fecha plan ya pasó.</a:t>
            </a:r>
            <a:endParaRPr lang="en-US" sz="1500" dirty="0"/>
          </a:p>
        </p:txBody>
      </p:sp>
      <p:sp>
        <p:nvSpPr>
          <p:cNvPr id="12" name="Shape 7"/>
          <p:cNvSpPr/>
          <p:nvPr/>
        </p:nvSpPr>
        <p:spPr>
          <a:xfrm>
            <a:off x="8238744" y="3922776"/>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8333384" y="4017416"/>
            <a:ext cx="231343" cy="231343"/>
          </a:xfrm>
          <a:prstGeom prst="rect">
            <a:avLst/>
          </a:prstGeom>
        </p:spPr>
      </p:pic>
      <p:sp>
        <p:nvSpPr>
          <p:cNvPr id="14" name="Text 8"/>
          <p:cNvSpPr txBox="1"/>
          <p:nvPr/>
        </p:nvSpPr>
        <p:spPr>
          <a:xfrm>
            <a:off x="8823960" y="3904488"/>
            <a:ext cx="2819095" cy="109270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Color</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El del semáforo del proyecto.</a:t>
            </a:r>
            <a:endParaRPr lang="en-US" sz="1500" dirty="0"/>
          </a:p>
        </p:txBody>
      </p:sp>
      <p:sp>
        <p:nvSpPr>
          <p:cNvPr id="15" name="Shape 9"/>
          <p:cNvSpPr/>
          <p:nvPr/>
        </p:nvSpPr>
        <p:spPr>
          <a:xfrm>
            <a:off x="8238744" y="5088636"/>
            <a:ext cx="420624" cy="420624"/>
          </a:xfrm>
          <a:prstGeom prst="ellipse">
            <a:avLst/>
          </a:prstGeom>
          <a:solidFill>
            <a:srgbClr val="E8EAF6"/>
          </a:solidFill>
          <a:ln w="12700">
            <a:solidFill>
              <a:srgbClr val="E8EAF6"/>
            </a:solidFill>
            <a:prstDash val="solid"/>
          </a:ln>
        </p:spPr>
      </p:sp>
      <p:pic>
        <p:nvPicPr>
          <p:cNvPr id="16" name="Image 4" descr="preencoded.png">    </p:cNvPr>
          <p:cNvPicPr>
            <a:picLocks noChangeAspect="1"/>
          </p:cNvPicPr>
          <p:nvPr/>
        </p:nvPicPr>
        <p:blipFill>
          <a:blip r:embed="rId5"/>
          <a:stretch>
            <a:fillRect/>
          </a:stretch>
        </p:blipFill>
        <p:spPr>
          <a:xfrm>
            <a:off x="8333384" y="5183276"/>
            <a:ext cx="231343" cy="231343"/>
          </a:xfrm>
          <a:prstGeom prst="rect">
            <a:avLst/>
          </a:prstGeom>
        </p:spPr>
      </p:pic>
      <p:sp>
        <p:nvSpPr>
          <p:cNvPr id="17" name="Text 10"/>
          <p:cNvSpPr txBox="1"/>
          <p:nvPr/>
        </p:nvSpPr>
        <p:spPr>
          <a:xfrm>
            <a:off x="8823960" y="5070348"/>
            <a:ext cx="2819095" cy="109270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Interacción</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Pasa el cursor para ver el detalle; toca una barra para abrir el proyecto.</a:t>
            </a:r>
            <a:endParaRPr lang="en-US" sz="1500" dirty="0"/>
          </a:p>
        </p:txBody>
      </p:sp>
      <p:sp>
        <p:nvSpPr>
          <p:cNvPr id="18" name="Text 11"/>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Portafolio</a:t>
            </a:r>
            <a:endParaRPr lang="en-US" sz="1000" dirty="0"/>
          </a:p>
        </p:txBody>
      </p:sp>
      <p:sp>
        <p:nvSpPr>
          <p:cNvPr id="19" name="Text 12"/>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38</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Resumen comparativo</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La misma información en una tabla, útil para reuniones de portafolio</a:t>
            </a:r>
            <a:endParaRPr lang="en-US" sz="1500" dirty="0"/>
          </a:p>
        </p:txBody>
      </p:sp>
      <p:sp>
        <p:nvSpPr>
          <p:cNvPr id="4" name="Shape 2"/>
          <p:cNvSpPr/>
          <p:nvPr/>
        </p:nvSpPr>
        <p:spPr>
          <a:xfrm>
            <a:off x="548640" y="1517904"/>
            <a:ext cx="4475502" cy="4773168"/>
          </a:xfrm>
          <a:prstGeom prst="roundRect">
            <a:avLst>
              <a:gd name="adj" fmla="val 1634"/>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portafolio_tabla.jpg">    </p:cNvPr>
          <p:cNvPicPr>
            <a:picLocks noChangeAspect="1"/>
          </p:cNvPicPr>
          <p:nvPr/>
        </p:nvPicPr>
        <p:blipFill>
          <a:blip r:embed="rId1"/>
          <a:stretch>
            <a:fillRect/>
          </a:stretch>
        </p:blipFill>
        <p:spPr>
          <a:xfrm>
            <a:off x="603504" y="1572768"/>
            <a:ext cx="4365774" cy="4663440"/>
          </a:xfrm>
          <a:prstGeom prst="rect">
            <a:avLst/>
          </a:prstGeom>
        </p:spPr>
      </p:pic>
      <p:sp>
        <p:nvSpPr>
          <p:cNvPr id="6" name="Shape 3"/>
          <p:cNvSpPr/>
          <p:nvPr/>
        </p:nvSpPr>
        <p:spPr>
          <a:xfrm>
            <a:off x="5472198"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5566838" y="1685696"/>
            <a:ext cx="231343" cy="231343"/>
          </a:xfrm>
          <a:prstGeom prst="rect">
            <a:avLst/>
          </a:prstGeom>
        </p:spPr>
      </p:pic>
      <p:sp>
        <p:nvSpPr>
          <p:cNvPr id="8" name="Text 4"/>
          <p:cNvSpPr txBox="1"/>
          <p:nvPr/>
        </p:nvSpPr>
        <p:spPr>
          <a:xfrm>
            <a:off x="6057414" y="1572768"/>
            <a:ext cx="5585642" cy="148132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Una fila por proyecto</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Código, nombre, barra de % AWP, hitos atrasados y semáforo.</a:t>
            </a:r>
            <a:endParaRPr lang="en-US" sz="1500" dirty="0"/>
          </a:p>
        </p:txBody>
      </p:sp>
      <p:sp>
        <p:nvSpPr>
          <p:cNvPr id="9" name="Shape 5"/>
          <p:cNvSpPr/>
          <p:nvPr/>
        </p:nvSpPr>
        <p:spPr>
          <a:xfrm>
            <a:off x="5472198" y="3145536"/>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5566838" y="3240176"/>
            <a:ext cx="231343" cy="231343"/>
          </a:xfrm>
          <a:prstGeom prst="rect">
            <a:avLst/>
          </a:prstGeom>
        </p:spPr>
      </p:pic>
      <p:sp>
        <p:nvSpPr>
          <p:cNvPr id="11" name="Text 6"/>
          <p:cNvSpPr txBox="1"/>
          <p:nvPr/>
        </p:nvSpPr>
        <p:spPr>
          <a:xfrm>
            <a:off x="6057414" y="3127248"/>
            <a:ext cx="5585642" cy="148132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Regla visible</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La tabla recuerda la regla del semáforo en su encabezado.</a:t>
            </a:r>
            <a:endParaRPr lang="en-US" sz="1500" dirty="0"/>
          </a:p>
        </p:txBody>
      </p:sp>
      <p:sp>
        <p:nvSpPr>
          <p:cNvPr id="12" name="Shape 7"/>
          <p:cNvSpPr/>
          <p:nvPr/>
        </p:nvSpPr>
        <p:spPr>
          <a:xfrm>
            <a:off x="5472198" y="4700016"/>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5566838" y="4794656"/>
            <a:ext cx="231343" cy="231343"/>
          </a:xfrm>
          <a:prstGeom prst="rect">
            <a:avLst/>
          </a:prstGeom>
        </p:spPr>
      </p:pic>
      <p:sp>
        <p:nvSpPr>
          <p:cNvPr id="14" name="Text 8"/>
          <p:cNvSpPr txBox="1"/>
          <p:nvPr/>
        </p:nvSpPr>
        <p:spPr>
          <a:xfrm>
            <a:off x="6057414" y="4681728"/>
            <a:ext cx="5585642" cy="148132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Uso sugerido</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Proyéctala en la reunión mensual de portafolio y empieza por los rojos.</a:t>
            </a:r>
            <a:endParaRPr lang="en-US" sz="1500" dirty="0"/>
          </a:p>
        </p:txBody>
      </p:sp>
      <p:sp>
        <p:nvSpPr>
          <p:cNvPr id="15" name="Text 9"/>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Portafolio</a:t>
            </a:r>
            <a:endParaRPr lang="en-US" sz="1000" dirty="0"/>
          </a:p>
        </p:txBody>
      </p:sp>
      <p:sp>
        <p:nvSpPr>
          <p:cNvPr id="16" name="Text 10"/>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39</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A1F4B"/>
        </a:solidFill>
      </p:bgPr>
    </p:bg>
    <p:spTree>
      <p:nvGrpSpPr>
        <p:cNvPr id="1" name=""/>
        <p:cNvGrpSpPr/>
        <p:nvPr/>
      </p:nvGrpSpPr>
      <p:grpSpPr>
        <a:xfrm>
          <a:off x="0" y="0"/>
          <a:ext cx="0" cy="0"/>
          <a:chOff x="0" y="0"/>
          <a:chExt cx="0" cy="0"/>
        </a:xfrm>
      </p:grpSpPr>
      <p:sp>
        <p:nvSpPr>
          <p:cNvPr id="2" name="Text 0"/>
          <p:cNvSpPr txBox="1"/>
          <p:nvPr/>
        </p:nvSpPr>
        <p:spPr>
          <a:xfrm>
            <a:off x="548640" y="1188720"/>
            <a:ext cx="2743200" cy="1371600"/>
          </a:xfrm>
          <a:prstGeom prst="rect">
            <a:avLst/>
          </a:prstGeom>
          <a:noFill/>
          <a:ln/>
        </p:spPr>
        <p:txBody>
          <a:bodyPr wrap="square" lIns="0" tIns="0" rIns="0" bIns="0" rtlCol="0" anchor="t"/>
          <a:lstStyle/>
          <a:p>
            <a:pPr indent="0" marL="0">
              <a:buNone/>
            </a:pPr>
            <a:r>
              <a:rPr lang="en-US" sz="9600" b="1" dirty="0">
                <a:solidFill>
                  <a:srgbClr val="FFC107"/>
                </a:solidFill>
                <a:latin typeface="Calibri" pitchFamily="34" charset="0"/>
                <a:ea typeface="Calibri" pitchFamily="34" charset="-122"/>
                <a:cs typeface="Calibri" pitchFamily="34" charset="-120"/>
              </a:rPr>
              <a:t>06</a:t>
            </a:r>
            <a:endParaRPr lang="en-US" sz="9600" dirty="0"/>
          </a:p>
        </p:txBody>
      </p:sp>
      <p:sp>
        <p:nvSpPr>
          <p:cNvPr id="3" name="Text 1"/>
          <p:cNvSpPr txBox="1"/>
          <p:nvPr/>
        </p:nvSpPr>
        <p:spPr>
          <a:xfrm>
            <a:off x="548640" y="2697480"/>
            <a:ext cx="5852160" cy="132588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Asistente de proyecto</a:t>
            </a:r>
            <a:endParaRPr lang="en-US" sz="3800" dirty="0"/>
          </a:p>
        </p:txBody>
      </p:sp>
      <p:sp>
        <p:nvSpPr>
          <p:cNvPr id="4" name="Text 2"/>
          <p:cNvSpPr txBox="1"/>
          <p:nvPr/>
        </p:nvSpPr>
        <p:spPr>
          <a:xfrm>
            <a:off x="548640" y="4160520"/>
            <a:ext cx="5486400" cy="1097280"/>
          </a:xfrm>
          <a:prstGeom prst="rect">
            <a:avLst/>
          </a:prstGeom>
          <a:noFill/>
          <a:ln/>
        </p:spPr>
        <p:txBody>
          <a:bodyPr wrap="square" lIns="0" tIns="0" rIns="0" bIns="0" rtlCol="0" anchor="t"/>
          <a:lstStyle/>
          <a:p>
            <a:pPr indent="0" marL="0">
              <a:buNone/>
            </a:pPr>
            <a:r>
              <a:rPr lang="en-US" sz="1800" dirty="0">
                <a:solidFill>
                  <a:srgbClr val="C5CAE9"/>
                </a:solidFill>
                <a:latin typeface="Calibri" pitchFamily="34" charset="0"/>
                <a:ea typeface="Calibri" pitchFamily="34" charset="-122"/>
                <a:cs typeface="Calibri" pitchFamily="34" charset="-120"/>
              </a:rPr>
              <a:t>Un proyecto completo en cuatro pasos</a:t>
            </a:r>
            <a:endParaRPr lang="en-US" sz="1800" dirty="0"/>
          </a:p>
        </p:txBody>
      </p:sp>
      <p:sp>
        <p:nvSpPr>
          <p:cNvPr id="5" name="Shape 3"/>
          <p:cNvSpPr/>
          <p:nvPr/>
        </p:nvSpPr>
        <p:spPr>
          <a:xfrm>
            <a:off x="6766560" y="1234440"/>
            <a:ext cx="4892040" cy="4480560"/>
          </a:xfrm>
          <a:prstGeom prst="roundRect">
            <a:avLst>
              <a:gd name="adj" fmla="val 2449"/>
            </a:avLst>
          </a:prstGeom>
          <a:solidFill>
            <a:srgbClr val="252B5E"/>
          </a:solidFill>
          <a:ln w="12700">
            <a:solidFill>
              <a:srgbClr val="3C4488"/>
            </a:solidFill>
            <a:prstDash val="solid"/>
          </a:ln>
        </p:spPr>
      </p:sp>
      <p:sp>
        <p:nvSpPr>
          <p:cNvPr id="6" name="Text 4"/>
          <p:cNvSpPr txBox="1"/>
          <p:nvPr/>
        </p:nvSpPr>
        <p:spPr>
          <a:xfrm>
            <a:off x="7132320" y="1508760"/>
            <a:ext cx="4206240" cy="320040"/>
          </a:xfrm>
          <a:prstGeom prst="rect">
            <a:avLst/>
          </a:prstGeom>
          <a:noFill/>
          <a:ln/>
        </p:spPr>
        <p:txBody>
          <a:bodyPr wrap="square" lIns="0" tIns="0" rIns="0" bIns="0" rtlCol="0" anchor="t"/>
          <a:lstStyle/>
          <a:p>
            <a:pPr indent="0" marL="0">
              <a:buNone/>
            </a:pPr>
            <a:r>
              <a:rPr lang="en-US" sz="1200" b="1" spc="200" kern="0" dirty="0">
                <a:solidFill>
                  <a:srgbClr val="FFC107"/>
                </a:solidFill>
                <a:latin typeface="Calibri" pitchFamily="34" charset="0"/>
                <a:ea typeface="Calibri" pitchFamily="34" charset="-122"/>
                <a:cs typeface="Calibri" pitchFamily="34" charset="-120"/>
              </a:rPr>
              <a:t>EN ESTA SECCIÓN</a:t>
            </a:r>
            <a:endParaRPr lang="en-US" sz="1200" dirty="0"/>
          </a:p>
        </p:txBody>
      </p:sp>
      <p:sp>
        <p:nvSpPr>
          <p:cNvPr id="7" name="Shape 5"/>
          <p:cNvSpPr/>
          <p:nvPr/>
        </p:nvSpPr>
        <p:spPr>
          <a:xfrm>
            <a:off x="7178040" y="2103120"/>
            <a:ext cx="146304" cy="146304"/>
          </a:xfrm>
          <a:prstGeom prst="ellipse">
            <a:avLst/>
          </a:prstGeom>
          <a:solidFill>
            <a:srgbClr val="FFC107"/>
          </a:solidFill>
          <a:ln w="12700">
            <a:solidFill>
              <a:srgbClr val="FFC107"/>
            </a:solidFill>
            <a:prstDash val="solid"/>
          </a:ln>
        </p:spPr>
      </p:sp>
      <p:sp>
        <p:nvSpPr>
          <p:cNvPr id="8" name="Text 6"/>
          <p:cNvSpPr txBox="1"/>
          <p:nvPr/>
        </p:nvSpPr>
        <p:spPr>
          <a:xfrm>
            <a:off x="7498080" y="2011680"/>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Datos generales</a:t>
            </a:r>
            <a:endParaRPr lang="en-US" sz="1700" dirty="0"/>
          </a:p>
        </p:txBody>
      </p:sp>
      <p:sp>
        <p:nvSpPr>
          <p:cNvPr id="9" name="Shape 7"/>
          <p:cNvSpPr/>
          <p:nvPr/>
        </p:nvSpPr>
        <p:spPr>
          <a:xfrm>
            <a:off x="7178040" y="2816352"/>
            <a:ext cx="146304" cy="146304"/>
          </a:xfrm>
          <a:prstGeom prst="ellipse">
            <a:avLst/>
          </a:prstGeom>
          <a:solidFill>
            <a:srgbClr val="FFC107"/>
          </a:solidFill>
          <a:ln w="12700">
            <a:solidFill>
              <a:srgbClr val="FFC107"/>
            </a:solidFill>
            <a:prstDash val="solid"/>
          </a:ln>
        </p:spPr>
      </p:sp>
      <p:sp>
        <p:nvSpPr>
          <p:cNvPr id="10" name="Text 8"/>
          <p:cNvSpPr txBox="1"/>
          <p:nvPr/>
        </p:nvSpPr>
        <p:spPr>
          <a:xfrm>
            <a:off x="7498080" y="2724912"/>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Fases propuestas del kit</a:t>
            </a:r>
            <a:endParaRPr lang="en-US" sz="1700" dirty="0"/>
          </a:p>
        </p:txBody>
      </p:sp>
      <p:sp>
        <p:nvSpPr>
          <p:cNvPr id="11" name="Shape 9"/>
          <p:cNvSpPr/>
          <p:nvPr/>
        </p:nvSpPr>
        <p:spPr>
          <a:xfrm>
            <a:off x="7178040" y="3529584"/>
            <a:ext cx="146304" cy="146304"/>
          </a:xfrm>
          <a:prstGeom prst="ellipse">
            <a:avLst/>
          </a:prstGeom>
          <a:solidFill>
            <a:srgbClr val="FFC107"/>
          </a:solidFill>
          <a:ln w="12700">
            <a:solidFill>
              <a:srgbClr val="FFC107"/>
            </a:solidFill>
            <a:prstDash val="solid"/>
          </a:ln>
        </p:spPr>
      </p:sp>
      <p:sp>
        <p:nvSpPr>
          <p:cNvPr id="12" name="Text 10"/>
          <p:cNvSpPr txBox="1"/>
          <p:nvPr/>
        </p:nvSpPr>
        <p:spPr>
          <a:xfrm>
            <a:off x="7498080" y="3438144"/>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Roles AWP</a:t>
            </a:r>
            <a:endParaRPr lang="en-US" sz="1700" dirty="0"/>
          </a:p>
        </p:txBody>
      </p:sp>
      <p:sp>
        <p:nvSpPr>
          <p:cNvPr id="13" name="Shape 11"/>
          <p:cNvSpPr/>
          <p:nvPr/>
        </p:nvSpPr>
        <p:spPr>
          <a:xfrm>
            <a:off x="7178040" y="4242816"/>
            <a:ext cx="146304" cy="146304"/>
          </a:xfrm>
          <a:prstGeom prst="ellipse">
            <a:avLst/>
          </a:prstGeom>
          <a:solidFill>
            <a:srgbClr val="FFC107"/>
          </a:solidFill>
          <a:ln w="12700">
            <a:solidFill>
              <a:srgbClr val="FFC107"/>
            </a:solidFill>
            <a:prstDash val="solid"/>
          </a:ln>
        </p:spPr>
      </p:sp>
      <p:sp>
        <p:nvSpPr>
          <p:cNvPr id="14" name="Text 12"/>
          <p:cNvSpPr txBox="1"/>
          <p:nvPr/>
        </p:nvSpPr>
        <p:spPr>
          <a:xfrm>
            <a:off x="7498080" y="4151376"/>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Hitos H0–H10</a:t>
            </a:r>
            <a:endParaRPr lang="en-US" sz="1700" dirty="0"/>
          </a:p>
        </p:txBody>
      </p:sp>
      <p:sp>
        <p:nvSpPr>
          <p:cNvPr id="15" name="Shape 13"/>
          <p:cNvSpPr/>
          <p:nvPr/>
        </p:nvSpPr>
        <p:spPr>
          <a:xfrm>
            <a:off x="7178040" y="4956048"/>
            <a:ext cx="146304" cy="146304"/>
          </a:xfrm>
          <a:prstGeom prst="ellipse">
            <a:avLst/>
          </a:prstGeom>
          <a:solidFill>
            <a:srgbClr val="FFC107"/>
          </a:solidFill>
          <a:ln w="12700">
            <a:solidFill>
              <a:srgbClr val="FFC107"/>
            </a:solidFill>
            <a:prstDash val="solid"/>
          </a:ln>
        </p:spPr>
      </p:sp>
      <p:sp>
        <p:nvSpPr>
          <p:cNvPr id="16" name="Text 14"/>
          <p:cNvSpPr txBox="1"/>
          <p:nvPr/>
        </p:nvSpPr>
        <p:spPr>
          <a:xfrm>
            <a:off x="7498080" y="4864608"/>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Lo que se crea automáticamente</a:t>
            </a:r>
            <a:endParaRPr lang="en-US" sz="1700" dirty="0"/>
          </a:p>
        </p:txBody>
      </p:sp>
      <p:sp>
        <p:nvSpPr>
          <p:cNvPr id="17" name="Text 15"/>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8C93C9"/>
                </a:solidFill>
                <a:latin typeface="Calibri" pitchFamily="34" charset="0"/>
                <a:ea typeface="Calibri" pitchFamily="34" charset="-122"/>
                <a:cs typeface="Calibri" pitchFamily="34" charset="-120"/>
              </a:rPr>
              <a:t>Aplicación AWP · Asistente de proyecto</a:t>
            </a:r>
            <a:endParaRPr lang="en-US" sz="1000" dirty="0"/>
          </a:p>
        </p:txBody>
      </p:sp>
      <p:sp>
        <p:nvSpPr>
          <p:cNvPr id="18" name="Text 16"/>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8C93C9"/>
                </a:solidFill>
                <a:latin typeface="Calibri" pitchFamily="34" charset="0"/>
                <a:ea typeface="Calibri" pitchFamily="34" charset="-122"/>
                <a:cs typeface="Calibri" pitchFamily="34" charset="-120"/>
              </a:rPr>
              <a:t>40</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El asistente en cuatro pasos</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Tu avance se guarda solo: puedes cerrar y continuar después, incluso desde otro dispositivo</a:t>
            </a:r>
            <a:endParaRPr lang="en-US" sz="1500" dirty="0"/>
          </a:p>
        </p:txBody>
      </p:sp>
      <p:sp>
        <p:nvSpPr>
          <p:cNvPr id="4" name="Shape 2"/>
          <p:cNvSpPr/>
          <p:nvPr/>
        </p:nvSpPr>
        <p:spPr>
          <a:xfrm>
            <a:off x="1849717" y="2103120"/>
            <a:ext cx="8492261" cy="0"/>
          </a:xfrm>
          <a:prstGeom prst="line">
            <a:avLst/>
          </a:prstGeom>
          <a:noFill/>
          <a:ln w="31750">
            <a:solidFill>
              <a:srgbClr val="C5CAE9"/>
            </a:solidFill>
            <a:prstDash val="solid"/>
          </a:ln>
        </p:spPr>
      </p:sp>
      <p:sp>
        <p:nvSpPr>
          <p:cNvPr id="5" name="Shape 3"/>
          <p:cNvSpPr/>
          <p:nvPr/>
        </p:nvSpPr>
        <p:spPr>
          <a:xfrm>
            <a:off x="1483957" y="1737360"/>
            <a:ext cx="731520" cy="731520"/>
          </a:xfrm>
          <a:prstGeom prst="ellipse">
            <a:avLst/>
          </a:prstGeom>
          <a:solidFill>
            <a:srgbClr val="3F51B5"/>
          </a:solidFill>
          <a:ln w="38100">
            <a:solidFill>
              <a:srgbClr val="FFFFFF"/>
            </a:solidFill>
            <a:prstDash val="solid"/>
          </a:ln>
        </p:spPr>
      </p:sp>
      <p:sp>
        <p:nvSpPr>
          <p:cNvPr id="6" name="Text 4"/>
          <p:cNvSpPr txBox="1"/>
          <p:nvPr/>
        </p:nvSpPr>
        <p:spPr>
          <a:xfrm>
            <a:off x="1483957" y="17373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Shape 5"/>
          <p:cNvSpPr/>
          <p:nvPr/>
        </p:nvSpPr>
        <p:spPr>
          <a:xfrm>
            <a:off x="548640" y="2743200"/>
            <a:ext cx="2602154" cy="3291840"/>
          </a:xfrm>
          <a:prstGeom prst="roundRect">
            <a:avLst>
              <a:gd name="adj" fmla="val 3514"/>
            </a:avLst>
          </a:prstGeom>
          <a:solidFill>
            <a:srgbClr val="F5F6FB"/>
          </a:solidFill>
          <a:ln w="9525">
            <a:solidFill>
              <a:srgbClr val="E3E5EE"/>
            </a:solidFill>
            <a:prstDash val="solid"/>
          </a:ln>
        </p:spPr>
      </p:sp>
      <p:sp>
        <p:nvSpPr>
          <p:cNvPr id="8" name="Text 6"/>
          <p:cNvSpPr txBox="1"/>
          <p:nvPr/>
        </p:nvSpPr>
        <p:spPr>
          <a:xfrm>
            <a:off x="731520" y="2907792"/>
            <a:ext cx="2236394" cy="731520"/>
          </a:xfrm>
          <a:prstGeom prst="rect">
            <a:avLst/>
          </a:prstGeom>
          <a:noFill/>
          <a:ln/>
        </p:spPr>
        <p:txBody>
          <a:bodyPr wrap="square" lIns="0" tIns="0" rIns="0" bIns="0" rtlCol="0" anchor="t">
            <a:normAutofit/>
          </a:bodyPr>
          <a:lstStyle/>
          <a:p>
            <a:pPr indent="0" marL="0">
              <a:buNone/>
            </a:pPr>
            <a:r>
              <a:rPr lang="en-US" sz="1700" b="1" dirty="0">
                <a:solidFill>
                  <a:srgbClr val="283593"/>
                </a:solidFill>
                <a:latin typeface="Calibri" pitchFamily="34" charset="0"/>
                <a:ea typeface="Calibri" pitchFamily="34" charset="-122"/>
                <a:cs typeface="Calibri" pitchFamily="34" charset="-120"/>
              </a:rPr>
              <a:t>1 · Datos generales</a:t>
            </a:r>
            <a:endParaRPr lang="en-US" sz="1700" dirty="0"/>
          </a:p>
        </p:txBody>
      </p:sp>
      <p:sp>
        <p:nvSpPr>
          <p:cNvPr id="9" name="Text 7"/>
          <p:cNvSpPr txBox="1"/>
          <p:nvPr/>
        </p:nvSpPr>
        <p:spPr>
          <a:xfrm>
            <a:off x="731520" y="3657600"/>
            <a:ext cx="2236394" cy="2286000"/>
          </a:xfrm>
          <a:prstGeom prst="rect">
            <a:avLst/>
          </a:prstGeom>
          <a:noFill/>
          <a:ln/>
        </p:spPr>
        <p:txBody>
          <a:bodyPr wrap="square" lIns="0" tIns="0" rIns="0" bIns="0" rtlCol="0" anchor="t">
            <a:normAutofit/>
          </a:bodyPr>
          <a:lstStyle/>
          <a:p>
            <a:pPr indent="0" marL="0">
              <a:buNone/>
            </a:pPr>
            <a:r>
              <a:rPr lang="en-US" sz="1600" dirty="0">
                <a:solidFill>
                  <a:srgbClr val="1B1C22"/>
                </a:solidFill>
                <a:latin typeface="Calibri" pitchFamily="34" charset="0"/>
                <a:ea typeface="Calibri" pitchFamily="34" charset="-122"/>
                <a:cs typeface="Calibri" pitchFamily="34" charset="-120"/>
              </a:rPr>
              <a:t>Código, nombre, cliente, ubicación, tipo, responsable, fechas de inicio y fin, estado y descripción.</a:t>
            </a:r>
            <a:endParaRPr lang="en-US" sz="1600" dirty="0"/>
          </a:p>
        </p:txBody>
      </p:sp>
      <p:sp>
        <p:nvSpPr>
          <p:cNvPr id="10" name="Shape 8"/>
          <p:cNvSpPr/>
          <p:nvPr/>
        </p:nvSpPr>
        <p:spPr>
          <a:xfrm>
            <a:off x="4314711" y="1737360"/>
            <a:ext cx="731520" cy="731520"/>
          </a:xfrm>
          <a:prstGeom prst="ellipse">
            <a:avLst/>
          </a:prstGeom>
          <a:solidFill>
            <a:srgbClr val="3F51B5"/>
          </a:solidFill>
          <a:ln w="38100">
            <a:solidFill>
              <a:srgbClr val="FFFFFF"/>
            </a:solidFill>
            <a:prstDash val="solid"/>
          </a:ln>
        </p:spPr>
      </p:sp>
      <p:sp>
        <p:nvSpPr>
          <p:cNvPr id="11" name="Text 9"/>
          <p:cNvSpPr txBox="1"/>
          <p:nvPr/>
        </p:nvSpPr>
        <p:spPr>
          <a:xfrm>
            <a:off x="4314711" y="17373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2" name="Shape 10"/>
          <p:cNvSpPr/>
          <p:nvPr/>
        </p:nvSpPr>
        <p:spPr>
          <a:xfrm>
            <a:off x="3379394" y="2743200"/>
            <a:ext cx="2602154" cy="3291840"/>
          </a:xfrm>
          <a:prstGeom prst="roundRect">
            <a:avLst>
              <a:gd name="adj" fmla="val 3514"/>
            </a:avLst>
          </a:prstGeom>
          <a:solidFill>
            <a:srgbClr val="F5F6FB"/>
          </a:solidFill>
          <a:ln w="9525">
            <a:solidFill>
              <a:srgbClr val="E3E5EE"/>
            </a:solidFill>
            <a:prstDash val="solid"/>
          </a:ln>
        </p:spPr>
      </p:sp>
      <p:sp>
        <p:nvSpPr>
          <p:cNvPr id="13" name="Text 11"/>
          <p:cNvSpPr txBox="1"/>
          <p:nvPr/>
        </p:nvSpPr>
        <p:spPr>
          <a:xfrm>
            <a:off x="3562274" y="2907792"/>
            <a:ext cx="2236394" cy="731520"/>
          </a:xfrm>
          <a:prstGeom prst="rect">
            <a:avLst/>
          </a:prstGeom>
          <a:noFill/>
          <a:ln/>
        </p:spPr>
        <p:txBody>
          <a:bodyPr wrap="square" lIns="0" tIns="0" rIns="0" bIns="0" rtlCol="0" anchor="t">
            <a:normAutofit/>
          </a:bodyPr>
          <a:lstStyle/>
          <a:p>
            <a:pPr indent="0" marL="0">
              <a:buNone/>
            </a:pPr>
            <a:r>
              <a:rPr lang="en-US" sz="1700" b="1" dirty="0">
                <a:solidFill>
                  <a:srgbClr val="283593"/>
                </a:solidFill>
                <a:latin typeface="Calibri" pitchFamily="34" charset="0"/>
                <a:ea typeface="Calibri" pitchFamily="34" charset="-122"/>
                <a:cs typeface="Calibri" pitchFamily="34" charset="-120"/>
              </a:rPr>
              <a:t>2 · Fases</a:t>
            </a:r>
            <a:endParaRPr lang="en-US" sz="1700" dirty="0"/>
          </a:p>
        </p:txBody>
      </p:sp>
      <p:sp>
        <p:nvSpPr>
          <p:cNvPr id="14" name="Text 12"/>
          <p:cNvSpPr txBox="1"/>
          <p:nvPr/>
        </p:nvSpPr>
        <p:spPr>
          <a:xfrm>
            <a:off x="3562274" y="3657600"/>
            <a:ext cx="2236394" cy="2286000"/>
          </a:xfrm>
          <a:prstGeom prst="rect">
            <a:avLst/>
          </a:prstGeom>
          <a:noFill/>
          <a:ln/>
        </p:spPr>
        <p:txBody>
          <a:bodyPr wrap="square" lIns="0" tIns="0" rIns="0" bIns="0" rtlCol="0" anchor="t">
            <a:normAutofit/>
          </a:bodyPr>
          <a:lstStyle/>
          <a:p>
            <a:pPr indent="0" marL="0">
              <a:buNone/>
            </a:pPr>
            <a:r>
              <a:rPr lang="en-US" sz="1600" dirty="0">
                <a:solidFill>
                  <a:srgbClr val="1B1C22"/>
                </a:solidFill>
                <a:latin typeface="Calibri" pitchFamily="34" charset="0"/>
                <a:ea typeface="Calibri" pitchFamily="34" charset="-122"/>
                <a:cs typeface="Calibri" pitchFamily="34" charset="-120"/>
              </a:rPr>
              <a:t>Propone las 3 fases del proyecto tipo con fechas proporcionales, madurez objetivo y plazos de liberación de IWP.</a:t>
            </a:r>
            <a:endParaRPr lang="en-US" sz="1600" dirty="0"/>
          </a:p>
        </p:txBody>
      </p:sp>
      <p:sp>
        <p:nvSpPr>
          <p:cNvPr id="15" name="Shape 13"/>
          <p:cNvSpPr/>
          <p:nvPr/>
        </p:nvSpPr>
        <p:spPr>
          <a:xfrm>
            <a:off x="7145465" y="1737360"/>
            <a:ext cx="731520" cy="731520"/>
          </a:xfrm>
          <a:prstGeom prst="ellipse">
            <a:avLst/>
          </a:prstGeom>
          <a:solidFill>
            <a:srgbClr val="3F51B5"/>
          </a:solidFill>
          <a:ln w="38100">
            <a:solidFill>
              <a:srgbClr val="FFFFFF"/>
            </a:solidFill>
            <a:prstDash val="solid"/>
          </a:ln>
        </p:spPr>
      </p:sp>
      <p:sp>
        <p:nvSpPr>
          <p:cNvPr id="16" name="Text 14"/>
          <p:cNvSpPr txBox="1"/>
          <p:nvPr/>
        </p:nvSpPr>
        <p:spPr>
          <a:xfrm>
            <a:off x="7145465" y="17373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7" name="Shape 15"/>
          <p:cNvSpPr/>
          <p:nvPr/>
        </p:nvSpPr>
        <p:spPr>
          <a:xfrm>
            <a:off x="6210148" y="2743200"/>
            <a:ext cx="2602154" cy="3291840"/>
          </a:xfrm>
          <a:prstGeom prst="roundRect">
            <a:avLst>
              <a:gd name="adj" fmla="val 3514"/>
            </a:avLst>
          </a:prstGeom>
          <a:solidFill>
            <a:srgbClr val="F5F6FB"/>
          </a:solidFill>
          <a:ln w="9525">
            <a:solidFill>
              <a:srgbClr val="E3E5EE"/>
            </a:solidFill>
            <a:prstDash val="solid"/>
          </a:ln>
        </p:spPr>
      </p:sp>
      <p:sp>
        <p:nvSpPr>
          <p:cNvPr id="18" name="Text 16"/>
          <p:cNvSpPr txBox="1"/>
          <p:nvPr/>
        </p:nvSpPr>
        <p:spPr>
          <a:xfrm>
            <a:off x="6393028" y="2907792"/>
            <a:ext cx="2236394" cy="731520"/>
          </a:xfrm>
          <a:prstGeom prst="rect">
            <a:avLst/>
          </a:prstGeom>
          <a:noFill/>
          <a:ln/>
        </p:spPr>
        <p:txBody>
          <a:bodyPr wrap="square" lIns="0" tIns="0" rIns="0" bIns="0" rtlCol="0" anchor="t">
            <a:normAutofit/>
          </a:bodyPr>
          <a:lstStyle/>
          <a:p>
            <a:pPr indent="0" marL="0">
              <a:buNone/>
            </a:pPr>
            <a:r>
              <a:rPr lang="en-US" sz="1700" b="1" dirty="0">
                <a:solidFill>
                  <a:srgbClr val="283593"/>
                </a:solidFill>
                <a:latin typeface="Calibri" pitchFamily="34" charset="0"/>
                <a:ea typeface="Calibri" pitchFamily="34" charset="-122"/>
                <a:cs typeface="Calibri" pitchFamily="34" charset="-120"/>
              </a:rPr>
              <a:t>3 · Roles</a:t>
            </a:r>
            <a:endParaRPr lang="en-US" sz="1700" dirty="0"/>
          </a:p>
        </p:txBody>
      </p:sp>
      <p:sp>
        <p:nvSpPr>
          <p:cNvPr id="19" name="Text 17"/>
          <p:cNvSpPr txBox="1"/>
          <p:nvPr/>
        </p:nvSpPr>
        <p:spPr>
          <a:xfrm>
            <a:off x="6393028" y="3657600"/>
            <a:ext cx="2236394" cy="2286000"/>
          </a:xfrm>
          <a:prstGeom prst="rect">
            <a:avLst/>
          </a:prstGeom>
          <a:noFill/>
          <a:ln/>
        </p:spPr>
        <p:txBody>
          <a:bodyPr wrap="square" lIns="0" tIns="0" rIns="0" bIns="0" rtlCol="0" anchor="t">
            <a:normAutofit/>
          </a:bodyPr>
          <a:lstStyle/>
          <a:p>
            <a:pPr indent="0" marL="0">
              <a:buNone/>
            </a:pPr>
            <a:r>
              <a:rPr lang="en-US" sz="1600" dirty="0">
                <a:solidFill>
                  <a:srgbClr val="1B1C22"/>
                </a:solidFill>
                <a:latin typeface="Calibri" pitchFamily="34" charset="0"/>
                <a:ea typeface="Calibri" pitchFamily="34" charset="-122"/>
                <a:cs typeface="Calibri" pitchFamily="34" charset="-120"/>
              </a:rPr>
              <a:t>Una persona por cada uno de los 16 roles AWP. Obligatorios: AWP Champion, Líder de WFP y Gerente de Construcción.</a:t>
            </a:r>
            <a:endParaRPr lang="en-US" sz="1600" dirty="0"/>
          </a:p>
        </p:txBody>
      </p:sp>
      <p:sp>
        <p:nvSpPr>
          <p:cNvPr id="20" name="Shape 18"/>
          <p:cNvSpPr/>
          <p:nvPr/>
        </p:nvSpPr>
        <p:spPr>
          <a:xfrm>
            <a:off x="9976218" y="1737360"/>
            <a:ext cx="731520" cy="731520"/>
          </a:xfrm>
          <a:prstGeom prst="ellipse">
            <a:avLst/>
          </a:prstGeom>
          <a:solidFill>
            <a:srgbClr val="FFC107"/>
          </a:solidFill>
          <a:ln w="38100">
            <a:solidFill>
              <a:srgbClr val="FFFFFF"/>
            </a:solidFill>
            <a:prstDash val="solid"/>
          </a:ln>
        </p:spPr>
      </p:sp>
      <p:sp>
        <p:nvSpPr>
          <p:cNvPr id="21" name="Text 19"/>
          <p:cNvSpPr txBox="1"/>
          <p:nvPr/>
        </p:nvSpPr>
        <p:spPr>
          <a:xfrm>
            <a:off x="9976218" y="1737360"/>
            <a:ext cx="731520" cy="731520"/>
          </a:xfrm>
          <a:prstGeom prst="rect">
            <a:avLst/>
          </a:prstGeom>
          <a:noFill/>
          <a:ln/>
        </p:spPr>
        <p:txBody>
          <a:bodyPr wrap="square" lIns="0" tIns="0" rIns="0" bIns="0" rtlCol="0" anchor="ctr"/>
          <a:lstStyle/>
          <a:p>
            <a:pPr algn="ctr" indent="0" marL="0">
              <a:buNone/>
            </a:pPr>
            <a:r>
              <a:rPr lang="en-US" sz="2200" b="1" dirty="0">
                <a:solidFill>
                  <a:srgbClr val="1A1F4B"/>
                </a:solidFill>
                <a:latin typeface="Calibri" pitchFamily="34" charset="0"/>
                <a:ea typeface="Calibri" pitchFamily="34" charset="-122"/>
                <a:cs typeface="Calibri" pitchFamily="34" charset="-120"/>
              </a:rPr>
              <a:t>4</a:t>
            </a:r>
            <a:endParaRPr lang="en-US" sz="2200" dirty="0"/>
          </a:p>
        </p:txBody>
      </p:sp>
      <p:sp>
        <p:nvSpPr>
          <p:cNvPr id="22" name="Shape 20"/>
          <p:cNvSpPr/>
          <p:nvPr/>
        </p:nvSpPr>
        <p:spPr>
          <a:xfrm>
            <a:off x="9040901" y="2743200"/>
            <a:ext cx="2602154" cy="3291840"/>
          </a:xfrm>
          <a:prstGeom prst="roundRect">
            <a:avLst>
              <a:gd name="adj" fmla="val 3514"/>
            </a:avLst>
          </a:prstGeom>
          <a:solidFill>
            <a:srgbClr val="F5F6FB"/>
          </a:solidFill>
          <a:ln w="9525">
            <a:solidFill>
              <a:srgbClr val="E3E5EE"/>
            </a:solidFill>
            <a:prstDash val="solid"/>
          </a:ln>
        </p:spPr>
      </p:sp>
      <p:sp>
        <p:nvSpPr>
          <p:cNvPr id="23" name="Text 21"/>
          <p:cNvSpPr txBox="1"/>
          <p:nvPr/>
        </p:nvSpPr>
        <p:spPr>
          <a:xfrm>
            <a:off x="9223781" y="2907792"/>
            <a:ext cx="2236394" cy="731520"/>
          </a:xfrm>
          <a:prstGeom prst="rect">
            <a:avLst/>
          </a:prstGeom>
          <a:noFill/>
          <a:ln/>
        </p:spPr>
        <p:txBody>
          <a:bodyPr wrap="square" lIns="0" tIns="0" rIns="0" bIns="0" rtlCol="0" anchor="t">
            <a:normAutofit/>
          </a:bodyPr>
          <a:lstStyle/>
          <a:p>
            <a:pPr indent="0" marL="0">
              <a:buNone/>
            </a:pPr>
            <a:r>
              <a:rPr lang="en-US" sz="1700" b="1" dirty="0">
                <a:solidFill>
                  <a:srgbClr val="283593"/>
                </a:solidFill>
                <a:latin typeface="Calibri" pitchFamily="34" charset="0"/>
                <a:ea typeface="Calibri" pitchFamily="34" charset="-122"/>
                <a:cs typeface="Calibri" pitchFamily="34" charset="-120"/>
              </a:rPr>
              <a:t>4 · Hitos</a:t>
            </a:r>
            <a:endParaRPr lang="en-US" sz="1700" dirty="0"/>
          </a:p>
        </p:txBody>
      </p:sp>
      <p:sp>
        <p:nvSpPr>
          <p:cNvPr id="24" name="Text 22"/>
          <p:cNvSpPr txBox="1"/>
          <p:nvPr/>
        </p:nvSpPr>
        <p:spPr>
          <a:xfrm>
            <a:off x="9223781" y="3657600"/>
            <a:ext cx="2236394" cy="2286000"/>
          </a:xfrm>
          <a:prstGeom prst="rect">
            <a:avLst/>
          </a:prstGeom>
          <a:noFill/>
          <a:ln/>
        </p:spPr>
        <p:txBody>
          <a:bodyPr wrap="square" lIns="0" tIns="0" rIns="0" bIns="0" rtlCol="0" anchor="t">
            <a:normAutofit/>
          </a:bodyPr>
          <a:lstStyle/>
          <a:p>
            <a:pPr indent="0" marL="0">
              <a:buNone/>
            </a:pPr>
            <a:r>
              <a:rPr lang="en-US" sz="1600" dirty="0">
                <a:solidFill>
                  <a:srgbClr val="1B1C22"/>
                </a:solidFill>
                <a:latin typeface="Calibri" pitchFamily="34" charset="0"/>
                <a:ea typeface="Calibri" pitchFamily="34" charset="-122"/>
                <a:cs typeface="Calibri" pitchFamily="34" charset="-120"/>
              </a:rPr>
              <a:t>Propone H0 para el programa y H1–H10 para cada fase, con fechas relativas a la fase. Todas editables.</a:t>
            </a:r>
            <a:endParaRPr lang="en-US" sz="1600" dirty="0"/>
          </a:p>
        </p:txBody>
      </p:sp>
      <p:sp>
        <p:nvSpPr>
          <p:cNvPr id="25" name="Text 23"/>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Asistente de proyecto</a:t>
            </a:r>
            <a:endParaRPr lang="en-US" sz="1000" dirty="0"/>
          </a:p>
        </p:txBody>
      </p:sp>
      <p:sp>
        <p:nvSpPr>
          <p:cNvPr id="26" name="Text 24"/>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41</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Paso 1 · Datos generales</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Los campos con * son obligatorios</a:t>
            </a:r>
            <a:endParaRPr lang="en-US" sz="1500" dirty="0"/>
          </a:p>
        </p:txBody>
      </p:sp>
      <p:sp>
        <p:nvSpPr>
          <p:cNvPr id="4" name="Shape 2"/>
          <p:cNvSpPr/>
          <p:nvPr/>
        </p:nvSpPr>
        <p:spPr>
          <a:xfrm>
            <a:off x="4562856" y="1855460"/>
            <a:ext cx="7135063" cy="4061479"/>
          </a:xfrm>
          <a:prstGeom prst="roundRect">
            <a:avLst>
              <a:gd name="adj" fmla="val 1801"/>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asis_1_datos.jpg">    </p:cNvPr>
          <p:cNvPicPr>
            <a:picLocks noChangeAspect="1"/>
          </p:cNvPicPr>
          <p:nvPr/>
        </p:nvPicPr>
        <p:blipFill>
          <a:blip r:embed="rId1"/>
          <a:stretch>
            <a:fillRect/>
          </a:stretch>
        </p:blipFill>
        <p:spPr>
          <a:xfrm>
            <a:off x="4617720" y="1910324"/>
            <a:ext cx="7025335" cy="3951751"/>
          </a:xfrm>
          <a:prstGeom prst="rect">
            <a:avLst/>
          </a:prstGeom>
        </p:spPr>
      </p:pic>
      <p:sp>
        <p:nvSpPr>
          <p:cNvPr id="6" name="Shape 3"/>
          <p:cNvSpPr/>
          <p:nvPr/>
        </p:nvSpPr>
        <p:spPr>
          <a:xfrm>
            <a:off x="548640"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643280" y="1685696"/>
            <a:ext cx="231343" cy="231343"/>
          </a:xfrm>
          <a:prstGeom prst="rect">
            <a:avLst/>
          </a:prstGeom>
        </p:spPr>
      </p:pic>
      <p:sp>
        <p:nvSpPr>
          <p:cNvPr id="8" name="Text 4"/>
          <p:cNvSpPr txBox="1"/>
          <p:nvPr/>
        </p:nvSpPr>
        <p:spPr>
          <a:xfrm>
            <a:off x="1133856" y="1572768"/>
            <a:ext cx="3209544" cy="868680"/>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Código *</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Corto y único, hasta 15 letras, números o guiones. Aparece en reportes y archivos. Ejemplo: PTN.</a:t>
            </a:r>
            <a:endParaRPr lang="en-US" sz="1500" dirty="0"/>
          </a:p>
        </p:txBody>
      </p:sp>
      <p:sp>
        <p:nvSpPr>
          <p:cNvPr id="9" name="Shape 5"/>
          <p:cNvSpPr/>
          <p:nvPr/>
        </p:nvSpPr>
        <p:spPr>
          <a:xfrm>
            <a:off x="548640" y="2532888"/>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643280" y="2627528"/>
            <a:ext cx="231343" cy="231343"/>
          </a:xfrm>
          <a:prstGeom prst="rect">
            <a:avLst/>
          </a:prstGeom>
        </p:spPr>
      </p:pic>
      <p:sp>
        <p:nvSpPr>
          <p:cNvPr id="11" name="Text 6"/>
          <p:cNvSpPr txBox="1"/>
          <p:nvPr/>
        </p:nvSpPr>
        <p:spPr>
          <a:xfrm>
            <a:off x="1133856" y="2514600"/>
            <a:ext cx="3209544" cy="868680"/>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Nombre, cliente y ubicación</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El nombre es obligatorio; cliente y ubicación ayudan a filtrar.</a:t>
            </a:r>
            <a:endParaRPr lang="en-US" sz="1500" dirty="0"/>
          </a:p>
        </p:txBody>
      </p:sp>
      <p:sp>
        <p:nvSpPr>
          <p:cNvPr id="12" name="Shape 7"/>
          <p:cNvSpPr/>
          <p:nvPr/>
        </p:nvSpPr>
        <p:spPr>
          <a:xfrm>
            <a:off x="548640" y="3474720"/>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643280" y="3569360"/>
            <a:ext cx="231343" cy="231343"/>
          </a:xfrm>
          <a:prstGeom prst="rect">
            <a:avLst/>
          </a:prstGeom>
        </p:spPr>
      </p:pic>
      <p:sp>
        <p:nvSpPr>
          <p:cNvPr id="14" name="Text 8"/>
          <p:cNvSpPr txBox="1"/>
          <p:nvPr/>
        </p:nvSpPr>
        <p:spPr>
          <a:xfrm>
            <a:off x="1133856" y="3456432"/>
            <a:ext cx="3209544" cy="868680"/>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Tipo y responsable</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8 tipos de proyecto. El responsable suele ser el Gerente de Proyecto.</a:t>
            </a:r>
            <a:endParaRPr lang="en-US" sz="1500" dirty="0"/>
          </a:p>
        </p:txBody>
      </p:sp>
      <p:sp>
        <p:nvSpPr>
          <p:cNvPr id="15" name="Shape 9"/>
          <p:cNvSpPr/>
          <p:nvPr/>
        </p:nvSpPr>
        <p:spPr>
          <a:xfrm>
            <a:off x="548640" y="4416552"/>
            <a:ext cx="420624" cy="420624"/>
          </a:xfrm>
          <a:prstGeom prst="ellipse">
            <a:avLst/>
          </a:prstGeom>
          <a:solidFill>
            <a:srgbClr val="E8EAF6"/>
          </a:solidFill>
          <a:ln w="12700">
            <a:solidFill>
              <a:srgbClr val="E8EAF6"/>
            </a:solidFill>
            <a:prstDash val="solid"/>
          </a:ln>
        </p:spPr>
      </p:sp>
      <p:pic>
        <p:nvPicPr>
          <p:cNvPr id="16" name="Image 4" descr="preencoded.png">    </p:cNvPr>
          <p:cNvPicPr>
            <a:picLocks noChangeAspect="1"/>
          </p:cNvPicPr>
          <p:nvPr/>
        </p:nvPicPr>
        <p:blipFill>
          <a:blip r:embed="rId5"/>
          <a:stretch>
            <a:fillRect/>
          </a:stretch>
        </p:blipFill>
        <p:spPr>
          <a:xfrm>
            <a:off x="643280" y="4511192"/>
            <a:ext cx="231343" cy="231343"/>
          </a:xfrm>
          <a:prstGeom prst="rect">
            <a:avLst/>
          </a:prstGeom>
        </p:spPr>
      </p:pic>
      <p:sp>
        <p:nvSpPr>
          <p:cNvPr id="17" name="Text 10"/>
          <p:cNvSpPr txBox="1"/>
          <p:nvPr/>
        </p:nvSpPr>
        <p:spPr>
          <a:xfrm>
            <a:off x="1133856" y="4398264"/>
            <a:ext cx="3209544" cy="868680"/>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Inicio * y fin estimado *</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Con estas fechas se proponen las fases y los hitos.</a:t>
            </a:r>
            <a:endParaRPr lang="en-US" sz="1500" dirty="0"/>
          </a:p>
        </p:txBody>
      </p:sp>
      <p:sp>
        <p:nvSpPr>
          <p:cNvPr id="18" name="Shape 11"/>
          <p:cNvSpPr/>
          <p:nvPr/>
        </p:nvSpPr>
        <p:spPr>
          <a:xfrm>
            <a:off x="548640" y="5358384"/>
            <a:ext cx="420624" cy="420624"/>
          </a:xfrm>
          <a:prstGeom prst="ellipse">
            <a:avLst/>
          </a:prstGeom>
          <a:solidFill>
            <a:srgbClr val="E8EAF6"/>
          </a:solidFill>
          <a:ln w="12700">
            <a:solidFill>
              <a:srgbClr val="E8EAF6"/>
            </a:solidFill>
            <a:prstDash val="solid"/>
          </a:ln>
        </p:spPr>
      </p:sp>
      <p:pic>
        <p:nvPicPr>
          <p:cNvPr id="19" name="Image 5" descr="preencoded.png">    </p:cNvPr>
          <p:cNvPicPr>
            <a:picLocks noChangeAspect="1"/>
          </p:cNvPicPr>
          <p:nvPr/>
        </p:nvPicPr>
        <p:blipFill>
          <a:blip r:embed="rId6"/>
          <a:stretch>
            <a:fillRect/>
          </a:stretch>
        </p:blipFill>
        <p:spPr>
          <a:xfrm>
            <a:off x="643280" y="5453024"/>
            <a:ext cx="231343" cy="231343"/>
          </a:xfrm>
          <a:prstGeom prst="rect">
            <a:avLst/>
          </a:prstGeom>
        </p:spPr>
      </p:pic>
      <p:sp>
        <p:nvSpPr>
          <p:cNvPr id="20" name="Text 12"/>
          <p:cNvSpPr txBox="1"/>
          <p:nvPr/>
        </p:nvSpPr>
        <p:spPr>
          <a:xfrm>
            <a:off x="1133856" y="5340096"/>
            <a:ext cx="3209544" cy="868680"/>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Estado</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Planificado, En ejecución, En pausa o Cerrado.</a:t>
            </a:r>
            <a:endParaRPr lang="en-US" sz="1500" dirty="0"/>
          </a:p>
        </p:txBody>
      </p:sp>
      <p:sp>
        <p:nvSpPr>
          <p:cNvPr id="21" name="Text 13"/>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Asistente de proyecto</a:t>
            </a:r>
            <a:endParaRPr lang="en-US" sz="1000" dirty="0"/>
          </a:p>
        </p:txBody>
      </p:sp>
      <p:sp>
        <p:nvSpPr>
          <p:cNvPr id="22" name="Text 14"/>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42</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Validaciones que enseñan</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Cada campo en rojo explica qué falta y da un ejemplo</a:t>
            </a:r>
            <a:endParaRPr lang="en-US" sz="1500" dirty="0"/>
          </a:p>
        </p:txBody>
      </p:sp>
      <p:sp>
        <p:nvSpPr>
          <p:cNvPr id="4" name="Shape 2"/>
          <p:cNvSpPr/>
          <p:nvPr/>
        </p:nvSpPr>
        <p:spPr>
          <a:xfrm>
            <a:off x="4562856" y="1855460"/>
            <a:ext cx="7135063" cy="4061479"/>
          </a:xfrm>
          <a:prstGeom prst="roundRect">
            <a:avLst>
              <a:gd name="adj" fmla="val 1801"/>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asis_1_errores.jpg">    </p:cNvPr>
          <p:cNvPicPr>
            <a:picLocks noChangeAspect="1"/>
          </p:cNvPicPr>
          <p:nvPr/>
        </p:nvPicPr>
        <p:blipFill>
          <a:blip r:embed="rId1"/>
          <a:stretch>
            <a:fillRect/>
          </a:stretch>
        </p:blipFill>
        <p:spPr>
          <a:xfrm>
            <a:off x="4617720" y="1910324"/>
            <a:ext cx="7025335" cy="3951751"/>
          </a:xfrm>
          <a:prstGeom prst="rect">
            <a:avLst/>
          </a:prstGeom>
        </p:spPr>
      </p:pic>
      <p:sp>
        <p:nvSpPr>
          <p:cNvPr id="6" name="Shape 3"/>
          <p:cNvSpPr/>
          <p:nvPr/>
        </p:nvSpPr>
        <p:spPr>
          <a:xfrm>
            <a:off x="548640"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643280" y="1685696"/>
            <a:ext cx="231343" cy="231343"/>
          </a:xfrm>
          <a:prstGeom prst="rect">
            <a:avLst/>
          </a:prstGeom>
        </p:spPr>
      </p:pic>
      <p:sp>
        <p:nvSpPr>
          <p:cNvPr id="8" name="Text 4"/>
          <p:cNvSpPr txBox="1"/>
          <p:nvPr/>
        </p:nvSpPr>
        <p:spPr>
          <a:xfrm>
            <a:off x="1133856" y="157276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Código</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«Escribe un código corto para el proyecto, por ejemplo PTN.» Si ya existe: «Ya tienes un proyecto con ese código.»</a:t>
            </a:r>
            <a:endParaRPr lang="en-US" sz="1500" dirty="0"/>
          </a:p>
        </p:txBody>
      </p:sp>
      <p:sp>
        <p:nvSpPr>
          <p:cNvPr id="9" name="Shape 5"/>
          <p:cNvSpPr/>
          <p:nvPr/>
        </p:nvSpPr>
        <p:spPr>
          <a:xfrm>
            <a:off x="548640" y="2768346"/>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643280" y="2862986"/>
            <a:ext cx="231343" cy="231343"/>
          </a:xfrm>
          <a:prstGeom prst="rect">
            <a:avLst/>
          </a:prstGeom>
        </p:spPr>
      </p:pic>
      <p:sp>
        <p:nvSpPr>
          <p:cNvPr id="11" name="Text 6"/>
          <p:cNvSpPr txBox="1"/>
          <p:nvPr/>
        </p:nvSpPr>
        <p:spPr>
          <a:xfrm>
            <a:off x="1133856" y="275005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Nombre</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«El nombre es obligatorio. Ejemplo: Planta de tratamiento Norte.»</a:t>
            </a:r>
            <a:endParaRPr lang="en-US" sz="1500" dirty="0"/>
          </a:p>
        </p:txBody>
      </p:sp>
      <p:sp>
        <p:nvSpPr>
          <p:cNvPr id="12" name="Shape 7"/>
          <p:cNvSpPr/>
          <p:nvPr/>
        </p:nvSpPr>
        <p:spPr>
          <a:xfrm>
            <a:off x="548640" y="3945636"/>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643280" y="4040276"/>
            <a:ext cx="231343" cy="231343"/>
          </a:xfrm>
          <a:prstGeom prst="rect">
            <a:avLst/>
          </a:prstGeom>
        </p:spPr>
      </p:pic>
      <p:sp>
        <p:nvSpPr>
          <p:cNvPr id="14" name="Text 8"/>
          <p:cNvSpPr txBox="1"/>
          <p:nvPr/>
        </p:nvSpPr>
        <p:spPr>
          <a:xfrm>
            <a:off x="1133856" y="392734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Fechas</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«Indica la fecha de inicio: sirve para proponer las fases y los hitos.» El fin debe ser posterior al inicio.</a:t>
            </a:r>
            <a:endParaRPr lang="en-US" sz="1500" dirty="0"/>
          </a:p>
        </p:txBody>
      </p:sp>
      <p:sp>
        <p:nvSpPr>
          <p:cNvPr id="15" name="Shape 9"/>
          <p:cNvSpPr/>
          <p:nvPr/>
        </p:nvSpPr>
        <p:spPr>
          <a:xfrm>
            <a:off x="548640" y="5122926"/>
            <a:ext cx="420624" cy="420624"/>
          </a:xfrm>
          <a:prstGeom prst="ellipse">
            <a:avLst/>
          </a:prstGeom>
          <a:solidFill>
            <a:srgbClr val="E8EAF6"/>
          </a:solidFill>
          <a:ln w="12700">
            <a:solidFill>
              <a:srgbClr val="E8EAF6"/>
            </a:solidFill>
            <a:prstDash val="solid"/>
          </a:ln>
        </p:spPr>
      </p:sp>
      <p:pic>
        <p:nvPicPr>
          <p:cNvPr id="16" name="Image 4" descr="preencoded.png">    </p:cNvPr>
          <p:cNvPicPr>
            <a:picLocks noChangeAspect="1"/>
          </p:cNvPicPr>
          <p:nvPr/>
        </p:nvPicPr>
        <p:blipFill>
          <a:blip r:embed="rId5"/>
          <a:stretch>
            <a:fillRect/>
          </a:stretch>
        </p:blipFill>
        <p:spPr>
          <a:xfrm>
            <a:off x="643280" y="5217566"/>
            <a:ext cx="231343" cy="231343"/>
          </a:xfrm>
          <a:prstGeom prst="rect">
            <a:avLst/>
          </a:prstGeom>
        </p:spPr>
      </p:pic>
      <p:sp>
        <p:nvSpPr>
          <p:cNvPr id="17" name="Text 10"/>
          <p:cNvSpPr txBox="1"/>
          <p:nvPr/>
        </p:nvSpPr>
        <p:spPr>
          <a:xfrm>
            <a:off x="1133856" y="510463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Se corrigen al escribir</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Cada campo deja de marcarse en rojo en cuanto lo completas bien.</a:t>
            </a:r>
            <a:endParaRPr lang="en-US" sz="1500" dirty="0"/>
          </a:p>
        </p:txBody>
      </p:sp>
      <p:sp>
        <p:nvSpPr>
          <p:cNvPr id="18" name="Text 11"/>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Asistente de proyecto</a:t>
            </a:r>
            <a:endParaRPr lang="en-US" sz="1000" dirty="0"/>
          </a:p>
        </p:txBody>
      </p:sp>
      <p:sp>
        <p:nvSpPr>
          <p:cNvPr id="19" name="Text 12"/>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43</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Paso 2 · Fases propuestas del kit</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Tres fases del proyecto tipo con fechas proporcionales a tu proyecto</a:t>
            </a:r>
            <a:endParaRPr lang="en-US" sz="1500" dirty="0"/>
          </a:p>
        </p:txBody>
      </p:sp>
      <p:sp>
        <p:nvSpPr>
          <p:cNvPr id="4" name="Shape 2"/>
          <p:cNvSpPr/>
          <p:nvPr/>
        </p:nvSpPr>
        <p:spPr>
          <a:xfrm>
            <a:off x="4562856" y="1855460"/>
            <a:ext cx="7135063" cy="4061479"/>
          </a:xfrm>
          <a:prstGeom prst="roundRect">
            <a:avLst>
              <a:gd name="adj" fmla="val 1801"/>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asis_2_fases.jpg">    </p:cNvPr>
          <p:cNvPicPr>
            <a:picLocks noChangeAspect="1"/>
          </p:cNvPicPr>
          <p:nvPr/>
        </p:nvPicPr>
        <p:blipFill>
          <a:blip r:embed="rId1"/>
          <a:stretch>
            <a:fillRect/>
          </a:stretch>
        </p:blipFill>
        <p:spPr>
          <a:xfrm>
            <a:off x="4617720" y="1910324"/>
            <a:ext cx="7025335" cy="3951751"/>
          </a:xfrm>
          <a:prstGeom prst="rect">
            <a:avLst/>
          </a:prstGeom>
        </p:spPr>
      </p:pic>
      <p:sp>
        <p:nvSpPr>
          <p:cNvPr id="6" name="Shape 3"/>
          <p:cNvSpPr/>
          <p:nvPr/>
        </p:nvSpPr>
        <p:spPr>
          <a:xfrm>
            <a:off x="548640"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643280" y="1685696"/>
            <a:ext cx="231343" cy="231343"/>
          </a:xfrm>
          <a:prstGeom prst="rect">
            <a:avLst/>
          </a:prstGeom>
        </p:spPr>
      </p:pic>
      <p:sp>
        <p:nvSpPr>
          <p:cNvPr id="8" name="Text 4"/>
          <p:cNvSpPr txBox="1"/>
          <p:nvPr/>
        </p:nvSpPr>
        <p:spPr>
          <a:xfrm>
            <a:off x="1133856" y="157276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Fase 1 · Infraestructura y obras tempranas</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Madurez objetivo 2 (básico). Piloto de AWP con plazos más cortos.</a:t>
            </a:r>
            <a:endParaRPr lang="en-US" sz="1500" dirty="0"/>
          </a:p>
        </p:txBody>
      </p:sp>
      <p:sp>
        <p:nvSpPr>
          <p:cNvPr id="9" name="Shape 5"/>
          <p:cNvSpPr/>
          <p:nvPr/>
        </p:nvSpPr>
        <p:spPr>
          <a:xfrm>
            <a:off x="548640" y="2768346"/>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643280" y="2862986"/>
            <a:ext cx="231343" cy="231343"/>
          </a:xfrm>
          <a:prstGeom prst="rect">
            <a:avLst/>
          </a:prstGeom>
        </p:spPr>
      </p:pic>
      <p:sp>
        <p:nvSpPr>
          <p:cNvPr id="11" name="Text 6"/>
          <p:cNvSpPr txBox="1"/>
          <p:nvPr/>
        </p:nvSpPr>
        <p:spPr>
          <a:xfrm>
            <a:off x="1133856" y="275005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Fase 2 · Instalación principal</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Madurez objetivo 3 (integrado). La fase más grande.</a:t>
            </a:r>
            <a:endParaRPr lang="en-US" sz="1500" dirty="0"/>
          </a:p>
        </p:txBody>
      </p:sp>
      <p:sp>
        <p:nvSpPr>
          <p:cNvPr id="12" name="Shape 7"/>
          <p:cNvSpPr/>
          <p:nvPr/>
        </p:nvSpPr>
        <p:spPr>
          <a:xfrm>
            <a:off x="548640" y="3945636"/>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643280" y="4040276"/>
            <a:ext cx="231343" cy="231343"/>
          </a:xfrm>
          <a:prstGeom prst="rect">
            <a:avLst/>
          </a:prstGeom>
        </p:spPr>
      </p:pic>
      <p:sp>
        <p:nvSpPr>
          <p:cNvPr id="14" name="Text 8"/>
          <p:cNvSpPr txBox="1"/>
          <p:nvPr/>
        </p:nvSpPr>
        <p:spPr>
          <a:xfrm>
            <a:off x="1133856" y="392734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Fase 3 · Edificaciones complementarias</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Madurez objetivo 4 (optimizado). Aplica lo aprendido.</a:t>
            </a:r>
            <a:endParaRPr lang="en-US" sz="1500" dirty="0"/>
          </a:p>
        </p:txBody>
      </p:sp>
      <p:sp>
        <p:nvSpPr>
          <p:cNvPr id="15" name="Shape 9"/>
          <p:cNvSpPr/>
          <p:nvPr/>
        </p:nvSpPr>
        <p:spPr>
          <a:xfrm>
            <a:off x="548640" y="5122926"/>
            <a:ext cx="420624" cy="420624"/>
          </a:xfrm>
          <a:prstGeom prst="ellipse">
            <a:avLst/>
          </a:prstGeom>
          <a:solidFill>
            <a:srgbClr val="E8EAF6"/>
          </a:solidFill>
          <a:ln w="12700">
            <a:solidFill>
              <a:srgbClr val="E8EAF6"/>
            </a:solidFill>
            <a:prstDash val="solid"/>
          </a:ln>
        </p:spPr>
      </p:sp>
      <p:pic>
        <p:nvPicPr>
          <p:cNvPr id="16" name="Image 4" descr="preencoded.png">    </p:cNvPr>
          <p:cNvPicPr>
            <a:picLocks noChangeAspect="1"/>
          </p:cNvPicPr>
          <p:nvPr/>
        </p:nvPicPr>
        <p:blipFill>
          <a:blip r:embed="rId5"/>
          <a:stretch>
            <a:fillRect/>
          </a:stretch>
        </p:blipFill>
        <p:spPr>
          <a:xfrm>
            <a:off x="643280" y="5217566"/>
            <a:ext cx="231343" cy="231343"/>
          </a:xfrm>
          <a:prstGeom prst="rect">
            <a:avLst/>
          </a:prstGeom>
        </p:spPr>
      </p:pic>
      <p:sp>
        <p:nvSpPr>
          <p:cNvPr id="17" name="Text 10"/>
          <p:cNvSpPr txBox="1"/>
          <p:nvPr/>
        </p:nvSpPr>
        <p:spPr>
          <a:xfrm>
            <a:off x="1133856" y="510463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Todo editable</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Cambia nombres, fechas, alcance y plazos; quita o agrega fases.</a:t>
            </a:r>
            <a:endParaRPr lang="en-US" sz="1500" dirty="0"/>
          </a:p>
        </p:txBody>
      </p:sp>
      <p:sp>
        <p:nvSpPr>
          <p:cNvPr id="18" name="Text 11"/>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Asistente de proyecto</a:t>
            </a:r>
            <a:endParaRPr lang="en-US" sz="1000" dirty="0"/>
          </a:p>
        </p:txBody>
      </p:sp>
      <p:sp>
        <p:nvSpPr>
          <p:cNvPr id="19" name="Text 12"/>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44</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Cómo se proponen las fases</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Posición relativa dentro del proyecto (proyecto tipo de 36 meses) y parámetros de cada fase</a:t>
            </a:r>
            <a:endParaRPr lang="en-US" sz="15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377440"/>
                <a:gridCol w="2560320"/>
                <a:gridCol w="1645920"/>
                <a:gridCol w="3108960"/>
                <a:gridCol w="1280160"/>
              </a:tblGrid>
              <a:tr h="731520">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Fase</a:t>
                      </a:r>
                      <a:endParaRPr lang="en-US" sz="15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Inicio → fin (mes del proyecto tipo)</a:t>
                      </a:r>
                      <a:endParaRPr lang="en-US" sz="15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Madurez objetivo</a:t>
                      </a:r>
                      <a:endParaRPr lang="en-US" sz="15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Plazos de liberación de IWP (semanas)</a:t>
                      </a:r>
                      <a:endParaRPr lang="en-US" sz="15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Meta de backlog</a:t>
                      </a:r>
                      <a:endParaRPr lang="en-US" sz="15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r>
              <a:tr h="731520">
                <a:tc>
                  <a:txBody>
                    <a:bodyPr/>
                    <a:lstStyle/>
                    <a:p>
                      <a:pPr indent="0" marL="0">
                        <a:buNone/>
                      </a:pPr>
                      <a:r>
                        <a:rPr lang="en-US" sz="1500" b="1" dirty="0">
                          <a:solidFill>
                            <a:srgbClr val="1B1C22"/>
                          </a:solidFill>
                          <a:latin typeface="Calibri" pitchFamily="34" charset="0"/>
                          <a:ea typeface="Calibri" pitchFamily="34" charset="-122"/>
                          <a:cs typeface="Calibri" pitchFamily="34" charset="-120"/>
                        </a:rPr>
                        <a:t>Fase 1 · Infraestructura y obras tempranas</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M2 → M14</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2 · básico</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8 / 6 / 5 / 3 / 2</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2 semanas</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731520">
                <a:tc>
                  <a:txBody>
                    <a:bodyPr/>
                    <a:lstStyle/>
                    <a:p>
                      <a:pPr indent="0" marL="0">
                        <a:buNone/>
                      </a:pPr>
                      <a:r>
                        <a:rPr lang="en-US" sz="1500" b="1" dirty="0">
                          <a:solidFill>
                            <a:srgbClr val="1B1C22"/>
                          </a:solidFill>
                          <a:latin typeface="Calibri" pitchFamily="34" charset="0"/>
                          <a:ea typeface="Calibri" pitchFamily="34" charset="-122"/>
                          <a:cs typeface="Calibri" pitchFamily="34" charset="-120"/>
                        </a:rPr>
                        <a:t>Fase 2 · Instalación principal</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M5 → M30</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3 · integrado</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12 / 10 / 8 / 4 / 2</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2 semanas</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731520">
                <a:tc>
                  <a:txBody>
                    <a:bodyPr/>
                    <a:lstStyle/>
                    <a:p>
                      <a:pPr indent="0" marL="0">
                        <a:buNone/>
                      </a:pPr>
                      <a:r>
                        <a:rPr lang="en-US" sz="1500" b="1" dirty="0">
                          <a:solidFill>
                            <a:srgbClr val="1B1C22"/>
                          </a:solidFill>
                          <a:latin typeface="Calibri" pitchFamily="34" charset="0"/>
                          <a:ea typeface="Calibri" pitchFamily="34" charset="-122"/>
                          <a:cs typeface="Calibri" pitchFamily="34" charset="-120"/>
                        </a:rPr>
                        <a:t>Fase 3 · Edificaciones complementarias y ampliación</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M15 → M36</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4 · optimizado</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8 / 6 / 5 / 3 / 2</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3 semanas</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bl>
          </a:graphicData>
        </a:graphic>
      </p:graphicFrame>
      <p:sp>
        <p:nvSpPr>
          <p:cNvPr id="5" name="Shape 2"/>
          <p:cNvSpPr/>
          <p:nvPr/>
        </p:nvSpPr>
        <p:spPr>
          <a:xfrm>
            <a:off x="548640" y="5760720"/>
            <a:ext cx="365760" cy="365760"/>
          </a:xfrm>
          <a:prstGeom prst="ellipse">
            <a:avLst/>
          </a:prstGeom>
          <a:solidFill>
            <a:srgbClr val="E8EAF6"/>
          </a:solidFill>
          <a:ln w="12700">
            <a:solidFill>
              <a:srgbClr val="E8EAF6"/>
            </a:solidFill>
            <a:prstDash val="solid"/>
          </a:ln>
        </p:spPr>
      </p:sp>
      <p:pic>
        <p:nvPicPr>
          <p:cNvPr id="6" name="Image 0" descr="preencoded.png">    </p:cNvPr>
          <p:cNvPicPr>
            <a:picLocks noChangeAspect="1"/>
          </p:cNvPicPr>
          <p:nvPr/>
        </p:nvPicPr>
        <p:blipFill>
          <a:blip r:embed="rId1"/>
          <a:stretch>
            <a:fillRect/>
          </a:stretch>
        </p:blipFill>
        <p:spPr>
          <a:xfrm>
            <a:off x="630936" y="5843016"/>
            <a:ext cx="201168" cy="201168"/>
          </a:xfrm>
          <a:prstGeom prst="rect">
            <a:avLst/>
          </a:prstGeom>
        </p:spPr>
      </p:pic>
      <p:sp>
        <p:nvSpPr>
          <p:cNvPr id="7" name="Text 3"/>
          <p:cNvSpPr txBox="1"/>
          <p:nvPr/>
        </p:nvSpPr>
        <p:spPr>
          <a:xfrm>
            <a:off x="1051560" y="5715000"/>
            <a:ext cx="10591495" cy="548640"/>
          </a:xfrm>
          <a:prstGeom prst="rect">
            <a:avLst/>
          </a:prstGeom>
          <a:noFill/>
          <a:ln/>
        </p:spPr>
        <p:txBody>
          <a:bodyPr wrap="square" lIns="0" tIns="0" rIns="0" bIns="0" rtlCol="0" anchor="ctr"/>
          <a:lstStyle/>
          <a:p>
            <a:pPr indent="0" marL="0">
              <a:buNone/>
            </a:pPr>
            <a:r>
              <a:rPr lang="en-US" sz="1200" dirty="0">
                <a:solidFill>
                  <a:srgbClr val="5B5E6B"/>
                </a:solidFill>
                <a:latin typeface="Calibri" pitchFamily="34" charset="0"/>
                <a:ea typeface="Calibri" pitchFamily="34" charset="-122"/>
                <a:cs typeface="Calibri" pitchFamily="34" charset="-120"/>
              </a:rPr>
              <a:t>Ejemplo: para un proyecto de 05/01/2026 a 20/12/2028, la Fase 1 queda del 03/06/2026 al 03/01/2027. Los niveles de madurez van de 1 (inicial) a 5 (excelencia).</a:t>
            </a:r>
            <a:endParaRPr lang="en-US" sz="1200" dirty="0"/>
          </a:p>
        </p:txBody>
      </p:sp>
      <p:sp>
        <p:nvSpPr>
          <p:cNvPr id="8" name="Text 4"/>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Asistente de proyecto</a:t>
            </a:r>
            <a:endParaRPr lang="en-US" sz="1000" dirty="0"/>
          </a:p>
        </p:txBody>
      </p:sp>
      <p:sp>
        <p:nvSpPr>
          <p:cNvPr id="9" name="Text 5"/>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45</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Los plazos de liberación de IWP</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Semanas antes de la ejecución del IWP en que debe cumplirse cada paso (Fase 2 del proyecto tipo)</a:t>
            </a:r>
            <a:endParaRPr lang="en-US" sz="1500" dirty="0"/>
          </a:p>
        </p:txBody>
      </p:sp>
      <p:sp>
        <p:nvSpPr>
          <p:cNvPr id="4" name="Shape 2"/>
          <p:cNvSpPr/>
          <p:nvPr/>
        </p:nvSpPr>
        <p:spPr>
          <a:xfrm>
            <a:off x="914400" y="2926080"/>
            <a:ext cx="10362895" cy="0"/>
          </a:xfrm>
          <a:prstGeom prst="line">
            <a:avLst/>
          </a:prstGeom>
          <a:noFill/>
          <a:ln w="50800">
            <a:solidFill>
              <a:srgbClr val="C5CAE9"/>
            </a:solidFill>
            <a:prstDash val="solid"/>
          </a:ln>
        </p:spPr>
      </p:sp>
      <p:sp>
        <p:nvSpPr>
          <p:cNvPr id="5" name="Shape 3"/>
          <p:cNvSpPr/>
          <p:nvPr/>
        </p:nvSpPr>
        <p:spPr>
          <a:xfrm>
            <a:off x="621792" y="2633472"/>
            <a:ext cx="585216" cy="585216"/>
          </a:xfrm>
          <a:prstGeom prst="ellipse">
            <a:avLst/>
          </a:prstGeom>
          <a:solidFill>
            <a:srgbClr val="3F51B5"/>
          </a:solidFill>
          <a:ln w="38100">
            <a:solidFill>
              <a:srgbClr val="FFFFFF"/>
            </a:solidFill>
            <a:prstDash val="solid"/>
          </a:ln>
        </p:spPr>
      </p:sp>
      <p:sp>
        <p:nvSpPr>
          <p:cNvPr id="6" name="Text 4"/>
          <p:cNvSpPr txBox="1"/>
          <p:nvPr/>
        </p:nvSpPr>
        <p:spPr>
          <a:xfrm>
            <a:off x="621792" y="2633472"/>
            <a:ext cx="585216"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7" name="Text 5"/>
          <p:cNvSpPr txBox="1"/>
          <p:nvPr/>
        </p:nvSpPr>
        <p:spPr>
          <a:xfrm>
            <a:off x="548640" y="1463040"/>
            <a:ext cx="1874520" cy="1188720"/>
          </a:xfrm>
          <a:prstGeom prst="rect">
            <a:avLst/>
          </a:prstGeom>
          <a:noFill/>
          <a:ln/>
        </p:spPr>
        <p:txBody>
          <a:bodyPr wrap="square" lIns="0" tIns="0" rIns="0" bIns="0" rtlCol="0" anchor="b"/>
          <a:lstStyle/>
          <a:p>
            <a:pPr algn="ctr" indent="0" marL="0">
              <a:buNone/>
            </a:pPr>
            <a:r>
              <a:rPr lang="en-US" sz="1200" dirty="0">
                <a:solidFill>
                  <a:srgbClr val="5B5E6B"/>
                </a:solidFill>
                <a:latin typeface="Calibri" pitchFamily="34" charset="0"/>
                <a:ea typeface="Calibri" pitchFamily="34" charset="-122"/>
                <a:cs typeface="Calibri" pitchFamily="34" charset="-120"/>
              </a:rPr>
              <a:t>12 semanas antes</a:t>
            </a:r>
            <a:endParaRPr lang="en-US" sz="1200" dirty="0"/>
          </a:p>
          <a:p>
            <a:pPr algn="ctr" indent="0" marL="0">
              <a:buNone/>
            </a:pPr>
            <a:r>
              <a:rPr lang="en-US" sz="1500" b="1" dirty="0">
                <a:solidFill>
                  <a:srgbClr val="1B1C22"/>
                </a:solidFill>
                <a:latin typeface="Calibri" pitchFamily="34" charset="0"/>
                <a:ea typeface="Calibri" pitchFamily="34" charset="-122"/>
                <a:cs typeface="Calibri" pitchFamily="34" charset="-120"/>
              </a:rPr>
              <a:t>IWP iniciado</a:t>
            </a:r>
            <a:endParaRPr lang="en-US" sz="1200" dirty="0"/>
          </a:p>
          <a:p>
            <a:pPr algn="ctr" indent="0" marL="0">
              <a:buNone/>
            </a:pPr>
            <a:r>
              <a:rPr lang="en-US" sz="1200" dirty="0">
                <a:solidFill>
                  <a:srgbClr val="5B5E6B"/>
                </a:solidFill>
                <a:latin typeface="Calibri" pitchFamily="34" charset="0"/>
                <a:ea typeface="Calibri" pitchFamily="34" charset="-122"/>
                <a:cs typeface="Calibri" pitchFamily="34" charset="-120"/>
              </a:rPr>
              <a:t>El planificador abre el IWP dentro de su CWP.</a:t>
            </a:r>
            <a:endParaRPr lang="en-US" sz="1200" dirty="0"/>
          </a:p>
        </p:txBody>
      </p:sp>
      <p:sp>
        <p:nvSpPr>
          <p:cNvPr id="8" name="Shape 6"/>
          <p:cNvSpPr/>
          <p:nvPr/>
        </p:nvSpPr>
        <p:spPr>
          <a:xfrm>
            <a:off x="2348941" y="2633472"/>
            <a:ext cx="585216" cy="585216"/>
          </a:xfrm>
          <a:prstGeom prst="ellipse">
            <a:avLst/>
          </a:prstGeom>
          <a:solidFill>
            <a:srgbClr val="3F51B5"/>
          </a:solidFill>
          <a:ln w="38100">
            <a:solidFill>
              <a:srgbClr val="FFFFFF"/>
            </a:solidFill>
            <a:prstDash val="solid"/>
          </a:ln>
        </p:spPr>
      </p:sp>
      <p:sp>
        <p:nvSpPr>
          <p:cNvPr id="9" name="Text 7"/>
          <p:cNvSpPr txBox="1"/>
          <p:nvPr/>
        </p:nvSpPr>
        <p:spPr>
          <a:xfrm>
            <a:off x="2348941" y="2633472"/>
            <a:ext cx="585216"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10" name="Text 8"/>
          <p:cNvSpPr txBox="1"/>
          <p:nvPr/>
        </p:nvSpPr>
        <p:spPr>
          <a:xfrm>
            <a:off x="1704289" y="3429000"/>
            <a:ext cx="1874520" cy="1188720"/>
          </a:xfrm>
          <a:prstGeom prst="rect">
            <a:avLst/>
          </a:prstGeom>
          <a:noFill/>
          <a:ln/>
        </p:spPr>
        <p:txBody>
          <a:bodyPr wrap="square" lIns="0" tIns="0" rIns="0" bIns="0" rtlCol="0" anchor="t"/>
          <a:lstStyle/>
          <a:p>
            <a:pPr algn="ctr" indent="0" marL="0">
              <a:buNone/>
            </a:pPr>
            <a:r>
              <a:rPr lang="en-US" sz="1200" dirty="0">
                <a:solidFill>
                  <a:srgbClr val="5B5E6B"/>
                </a:solidFill>
                <a:latin typeface="Calibri" pitchFamily="34" charset="0"/>
                <a:ea typeface="Calibri" pitchFamily="34" charset="-122"/>
                <a:cs typeface="Calibri" pitchFamily="34" charset="-120"/>
              </a:rPr>
              <a:t>10 semanas antes</a:t>
            </a:r>
            <a:endParaRPr lang="en-US" sz="1200" dirty="0"/>
          </a:p>
          <a:p>
            <a:pPr algn="ctr" indent="0" marL="0">
              <a:buNone/>
            </a:pPr>
            <a:r>
              <a:rPr lang="en-US" sz="1500" b="1" dirty="0">
                <a:solidFill>
                  <a:srgbClr val="1B1C22"/>
                </a:solidFill>
                <a:latin typeface="Calibri" pitchFamily="34" charset="0"/>
                <a:ea typeface="Calibri" pitchFamily="34" charset="-122"/>
                <a:cs typeface="Calibri" pitchFamily="34" charset="-120"/>
              </a:rPr>
              <a:t>Restricciones identificadas</a:t>
            </a:r>
            <a:endParaRPr lang="en-US" sz="1200" dirty="0"/>
          </a:p>
          <a:p>
            <a:pPr algn="ctr" indent="0" marL="0">
              <a:buNone/>
            </a:pPr>
            <a:r>
              <a:rPr lang="en-US" sz="1200" dirty="0">
                <a:solidFill>
                  <a:srgbClr val="5B5E6B"/>
                </a:solidFill>
                <a:latin typeface="Calibri" pitchFamily="34" charset="0"/>
                <a:ea typeface="Calibri" pitchFamily="34" charset="-122"/>
                <a:cs typeface="Calibri" pitchFamily="34" charset="-120"/>
              </a:rPr>
              <a:t>Todas las restricciones del IWP están en el registro.</a:t>
            </a:r>
            <a:endParaRPr lang="en-US" sz="1200" dirty="0"/>
          </a:p>
        </p:txBody>
      </p:sp>
      <p:sp>
        <p:nvSpPr>
          <p:cNvPr id="11" name="Shape 9"/>
          <p:cNvSpPr/>
          <p:nvPr/>
        </p:nvSpPr>
        <p:spPr>
          <a:xfrm>
            <a:off x="4076090" y="2633472"/>
            <a:ext cx="585216" cy="585216"/>
          </a:xfrm>
          <a:prstGeom prst="ellipse">
            <a:avLst/>
          </a:prstGeom>
          <a:solidFill>
            <a:srgbClr val="3F51B5"/>
          </a:solidFill>
          <a:ln w="38100">
            <a:solidFill>
              <a:srgbClr val="FFFFFF"/>
            </a:solidFill>
            <a:prstDash val="solid"/>
          </a:ln>
        </p:spPr>
      </p:sp>
      <p:sp>
        <p:nvSpPr>
          <p:cNvPr id="12" name="Text 10"/>
          <p:cNvSpPr txBox="1"/>
          <p:nvPr/>
        </p:nvSpPr>
        <p:spPr>
          <a:xfrm>
            <a:off x="4076090" y="2633472"/>
            <a:ext cx="585216"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13" name="Text 11"/>
          <p:cNvSpPr txBox="1"/>
          <p:nvPr/>
        </p:nvSpPr>
        <p:spPr>
          <a:xfrm>
            <a:off x="3431438" y="1463040"/>
            <a:ext cx="1874520" cy="1188720"/>
          </a:xfrm>
          <a:prstGeom prst="rect">
            <a:avLst/>
          </a:prstGeom>
          <a:noFill/>
          <a:ln/>
        </p:spPr>
        <p:txBody>
          <a:bodyPr wrap="square" lIns="0" tIns="0" rIns="0" bIns="0" rtlCol="0" anchor="b"/>
          <a:lstStyle/>
          <a:p>
            <a:pPr algn="ctr" indent="0" marL="0">
              <a:buNone/>
            </a:pPr>
            <a:r>
              <a:rPr lang="en-US" sz="1200" dirty="0">
                <a:solidFill>
                  <a:srgbClr val="5B5E6B"/>
                </a:solidFill>
                <a:latin typeface="Calibri" pitchFamily="34" charset="0"/>
                <a:ea typeface="Calibri" pitchFamily="34" charset="-122"/>
                <a:cs typeface="Calibri" pitchFamily="34" charset="-120"/>
              </a:rPr>
              <a:t>8 semanas antes</a:t>
            </a:r>
            <a:endParaRPr lang="en-US" sz="1200" dirty="0"/>
          </a:p>
          <a:p>
            <a:pPr algn="ctr" indent="0" marL="0">
              <a:buNone/>
            </a:pPr>
            <a:r>
              <a:rPr lang="en-US" sz="1500" b="1" dirty="0">
                <a:solidFill>
                  <a:srgbClr val="1B1C22"/>
                </a:solidFill>
                <a:latin typeface="Calibri" pitchFamily="34" charset="0"/>
                <a:ea typeface="Calibri" pitchFamily="34" charset="-122"/>
                <a:cs typeface="Calibri" pitchFamily="34" charset="-120"/>
              </a:rPr>
              <a:t>Restricciones asignadas</a:t>
            </a:r>
            <a:endParaRPr lang="en-US" sz="1200" dirty="0"/>
          </a:p>
          <a:p>
            <a:pPr algn="ctr" indent="0" marL="0">
              <a:buNone/>
            </a:pPr>
            <a:r>
              <a:rPr lang="en-US" sz="1200" dirty="0">
                <a:solidFill>
                  <a:srgbClr val="5B5E6B"/>
                </a:solidFill>
                <a:latin typeface="Calibri" pitchFamily="34" charset="0"/>
                <a:ea typeface="Calibri" pitchFamily="34" charset="-122"/>
                <a:cs typeface="Calibri" pitchFamily="34" charset="-120"/>
              </a:rPr>
              <a:t>Cada una tiene responsable y fecha requerida.</a:t>
            </a:r>
            <a:endParaRPr lang="en-US" sz="1200" dirty="0"/>
          </a:p>
        </p:txBody>
      </p:sp>
      <p:sp>
        <p:nvSpPr>
          <p:cNvPr id="14" name="Shape 12"/>
          <p:cNvSpPr/>
          <p:nvPr/>
        </p:nvSpPr>
        <p:spPr>
          <a:xfrm>
            <a:off x="7530389" y="2633472"/>
            <a:ext cx="585216" cy="585216"/>
          </a:xfrm>
          <a:prstGeom prst="ellipse">
            <a:avLst/>
          </a:prstGeom>
          <a:solidFill>
            <a:srgbClr val="3F51B5"/>
          </a:solidFill>
          <a:ln w="38100">
            <a:solidFill>
              <a:srgbClr val="FFFFFF"/>
            </a:solidFill>
            <a:prstDash val="solid"/>
          </a:ln>
        </p:spPr>
      </p:sp>
      <p:sp>
        <p:nvSpPr>
          <p:cNvPr id="15" name="Text 13"/>
          <p:cNvSpPr txBox="1"/>
          <p:nvPr/>
        </p:nvSpPr>
        <p:spPr>
          <a:xfrm>
            <a:off x="7530389" y="2633472"/>
            <a:ext cx="585216"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6885737" y="3429000"/>
            <a:ext cx="1874520" cy="1188720"/>
          </a:xfrm>
          <a:prstGeom prst="rect">
            <a:avLst/>
          </a:prstGeom>
          <a:noFill/>
          <a:ln/>
        </p:spPr>
        <p:txBody>
          <a:bodyPr wrap="square" lIns="0" tIns="0" rIns="0" bIns="0" rtlCol="0" anchor="t"/>
          <a:lstStyle/>
          <a:p>
            <a:pPr algn="ctr" indent="0" marL="0">
              <a:buNone/>
            </a:pPr>
            <a:r>
              <a:rPr lang="en-US" sz="1200" dirty="0">
                <a:solidFill>
                  <a:srgbClr val="5B5E6B"/>
                </a:solidFill>
                <a:latin typeface="Calibri" pitchFamily="34" charset="0"/>
                <a:ea typeface="Calibri" pitchFamily="34" charset="-122"/>
                <a:cs typeface="Calibri" pitchFamily="34" charset="-120"/>
              </a:rPr>
              <a:t>4 semanas antes</a:t>
            </a:r>
            <a:endParaRPr lang="en-US" sz="1200" dirty="0"/>
          </a:p>
          <a:p>
            <a:pPr algn="ctr" indent="0" marL="0">
              <a:buNone/>
            </a:pPr>
            <a:r>
              <a:rPr lang="en-US" sz="1500" b="1" dirty="0">
                <a:solidFill>
                  <a:srgbClr val="1B1C22"/>
                </a:solidFill>
                <a:latin typeface="Calibri" pitchFamily="34" charset="0"/>
                <a:ea typeface="Calibri" pitchFamily="34" charset="-122"/>
                <a:cs typeface="Calibri" pitchFamily="34" charset="-120"/>
              </a:rPr>
              <a:t>Restricciones levantadas</a:t>
            </a:r>
            <a:endParaRPr lang="en-US" sz="1200" dirty="0"/>
          </a:p>
          <a:p>
            <a:pPr algn="ctr" indent="0" marL="0">
              <a:buNone/>
            </a:pPr>
            <a:r>
              <a:rPr lang="en-US" sz="1200" dirty="0">
                <a:solidFill>
                  <a:srgbClr val="5B5E6B"/>
                </a:solidFill>
                <a:latin typeface="Calibri" pitchFamily="34" charset="0"/>
                <a:ea typeface="Calibri" pitchFamily="34" charset="-122"/>
                <a:cs typeface="Calibri" pitchFamily="34" charset="-120"/>
              </a:rPr>
              <a:t>No queda ninguna abierta.</a:t>
            </a:r>
            <a:endParaRPr lang="en-US" sz="1200" dirty="0"/>
          </a:p>
        </p:txBody>
      </p:sp>
      <p:sp>
        <p:nvSpPr>
          <p:cNvPr id="17" name="Shape 15"/>
          <p:cNvSpPr/>
          <p:nvPr/>
        </p:nvSpPr>
        <p:spPr>
          <a:xfrm>
            <a:off x="9257538" y="2633472"/>
            <a:ext cx="585216" cy="585216"/>
          </a:xfrm>
          <a:prstGeom prst="ellipse">
            <a:avLst/>
          </a:prstGeom>
          <a:solidFill>
            <a:srgbClr val="FFC107"/>
          </a:solidFill>
          <a:ln w="38100">
            <a:solidFill>
              <a:srgbClr val="FFFFFF"/>
            </a:solidFill>
            <a:prstDash val="solid"/>
          </a:ln>
        </p:spPr>
      </p:sp>
      <p:sp>
        <p:nvSpPr>
          <p:cNvPr id="18" name="Text 16"/>
          <p:cNvSpPr txBox="1"/>
          <p:nvPr/>
        </p:nvSpPr>
        <p:spPr>
          <a:xfrm>
            <a:off x="9257538" y="2633472"/>
            <a:ext cx="585216" cy="585216"/>
          </a:xfrm>
          <a:prstGeom prst="rect">
            <a:avLst/>
          </a:prstGeom>
          <a:noFill/>
          <a:ln/>
        </p:spPr>
        <p:txBody>
          <a:bodyPr wrap="square" lIns="0" tIns="0" rIns="0" bIns="0" rtlCol="0" anchor="ctr"/>
          <a:lstStyle/>
          <a:p>
            <a:pPr algn="ctr" indent="0" marL="0">
              <a:buNone/>
            </a:pPr>
            <a:r>
              <a:rPr lang="en-US" sz="1400" b="1" dirty="0">
                <a:solidFill>
                  <a:srgbClr val="1A1F4B"/>
                </a:solidFill>
                <a:latin typeface="Calibri" pitchFamily="34" charset="0"/>
                <a:ea typeface="Calibri" pitchFamily="34" charset="-122"/>
                <a:cs typeface="Calibri" pitchFamily="34" charset="-120"/>
              </a:rPr>
              <a:t>−2</a:t>
            </a:r>
            <a:endParaRPr lang="en-US" sz="1400" dirty="0"/>
          </a:p>
        </p:txBody>
      </p:sp>
      <p:sp>
        <p:nvSpPr>
          <p:cNvPr id="19" name="Text 17"/>
          <p:cNvSpPr txBox="1"/>
          <p:nvPr/>
        </p:nvSpPr>
        <p:spPr>
          <a:xfrm>
            <a:off x="8612886" y="1463040"/>
            <a:ext cx="1874520" cy="1188720"/>
          </a:xfrm>
          <a:prstGeom prst="rect">
            <a:avLst/>
          </a:prstGeom>
          <a:noFill/>
          <a:ln/>
        </p:spPr>
        <p:txBody>
          <a:bodyPr wrap="square" lIns="0" tIns="0" rIns="0" bIns="0" rtlCol="0" anchor="b"/>
          <a:lstStyle/>
          <a:p>
            <a:pPr algn="ctr" indent="0" marL="0">
              <a:buNone/>
            </a:pPr>
            <a:r>
              <a:rPr lang="en-US" sz="1200" dirty="0">
                <a:solidFill>
                  <a:srgbClr val="5B5E6B"/>
                </a:solidFill>
                <a:latin typeface="Calibri" pitchFamily="34" charset="0"/>
                <a:ea typeface="Calibri" pitchFamily="34" charset="-122"/>
                <a:cs typeface="Calibri" pitchFamily="34" charset="-120"/>
              </a:rPr>
              <a:t>2 semanas antes</a:t>
            </a:r>
            <a:endParaRPr lang="en-US" sz="1200" dirty="0"/>
          </a:p>
          <a:p>
            <a:pPr algn="ctr" indent="0" marL="0">
              <a:buNone/>
            </a:pPr>
            <a:r>
              <a:rPr lang="en-US" sz="1500" b="1" dirty="0">
                <a:solidFill>
                  <a:srgbClr val="1B1C22"/>
                </a:solidFill>
                <a:latin typeface="Calibri" pitchFamily="34" charset="0"/>
                <a:ea typeface="Calibri" pitchFamily="34" charset="-122"/>
                <a:cs typeface="Calibri" pitchFamily="34" charset="-120"/>
              </a:rPr>
              <a:t>Liberación</a:t>
            </a:r>
            <a:endParaRPr lang="en-US" sz="1200" dirty="0"/>
          </a:p>
          <a:p>
            <a:pPr algn="ctr" indent="0" marL="0">
              <a:buNone/>
            </a:pPr>
            <a:r>
              <a:rPr lang="en-US" sz="1200" dirty="0">
                <a:solidFill>
                  <a:srgbClr val="5B5E6B"/>
                </a:solidFill>
                <a:latin typeface="Calibri" pitchFamily="34" charset="0"/>
                <a:ea typeface="Calibri" pitchFamily="34" charset="-122"/>
                <a:cs typeface="Calibri" pitchFamily="34" charset="-120"/>
              </a:rPr>
              <a:t>Checklist firmado; el IWP entra al backlog.</a:t>
            </a:r>
            <a:endParaRPr lang="en-US" sz="1200" dirty="0"/>
          </a:p>
        </p:txBody>
      </p:sp>
      <p:sp>
        <p:nvSpPr>
          <p:cNvPr id="20" name="Shape 18"/>
          <p:cNvSpPr/>
          <p:nvPr/>
        </p:nvSpPr>
        <p:spPr>
          <a:xfrm>
            <a:off x="10984687" y="2633472"/>
            <a:ext cx="585216" cy="585216"/>
          </a:xfrm>
          <a:prstGeom prst="ellipse">
            <a:avLst/>
          </a:prstGeom>
          <a:solidFill>
            <a:srgbClr val="0CA30C"/>
          </a:solidFill>
          <a:ln w="38100">
            <a:solidFill>
              <a:srgbClr val="FFFFFF"/>
            </a:solidFill>
            <a:prstDash val="solid"/>
          </a:ln>
        </p:spPr>
      </p:sp>
      <p:sp>
        <p:nvSpPr>
          <p:cNvPr id="21" name="Text 19"/>
          <p:cNvSpPr txBox="1"/>
          <p:nvPr/>
        </p:nvSpPr>
        <p:spPr>
          <a:xfrm>
            <a:off x="10984687" y="2633472"/>
            <a:ext cx="585216"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a:t>
            </a:r>
            <a:endParaRPr lang="en-US" sz="1400" dirty="0"/>
          </a:p>
        </p:txBody>
      </p:sp>
      <p:sp>
        <p:nvSpPr>
          <p:cNvPr id="22" name="Text 20"/>
          <p:cNvSpPr txBox="1"/>
          <p:nvPr/>
        </p:nvSpPr>
        <p:spPr>
          <a:xfrm>
            <a:off x="9768535" y="3429000"/>
            <a:ext cx="1874520" cy="1188720"/>
          </a:xfrm>
          <a:prstGeom prst="rect">
            <a:avLst/>
          </a:prstGeom>
          <a:noFill/>
          <a:ln/>
        </p:spPr>
        <p:txBody>
          <a:bodyPr wrap="square" lIns="0" tIns="0" rIns="0" bIns="0" rtlCol="0" anchor="t"/>
          <a:lstStyle/>
          <a:p>
            <a:pPr algn="ctr" indent="0" marL="0">
              <a:buNone/>
            </a:pPr>
            <a:r>
              <a:rPr lang="en-US" sz="1200" dirty="0">
                <a:solidFill>
                  <a:srgbClr val="5B5E6B"/>
                </a:solidFill>
                <a:latin typeface="Calibri" pitchFamily="34" charset="0"/>
                <a:ea typeface="Calibri" pitchFamily="34" charset="-122"/>
                <a:cs typeface="Calibri" pitchFamily="34" charset="-120"/>
              </a:rPr>
              <a:t>Semana 0</a:t>
            </a:r>
            <a:endParaRPr lang="en-US" sz="1200" dirty="0"/>
          </a:p>
          <a:p>
            <a:pPr algn="ctr" indent="0" marL="0">
              <a:buNone/>
            </a:pPr>
            <a:r>
              <a:rPr lang="en-US" sz="1500" b="1" dirty="0">
                <a:solidFill>
                  <a:srgbClr val="1B1C22"/>
                </a:solidFill>
                <a:latin typeface="Calibri" pitchFamily="34" charset="0"/>
                <a:ea typeface="Calibri" pitchFamily="34" charset="-122"/>
                <a:cs typeface="Calibri" pitchFamily="34" charset="-120"/>
              </a:rPr>
              <a:t>Ejecución</a:t>
            </a:r>
            <a:endParaRPr lang="en-US" sz="1200" dirty="0"/>
          </a:p>
          <a:p>
            <a:pPr algn="ctr" indent="0" marL="0">
              <a:buNone/>
            </a:pPr>
            <a:r>
              <a:rPr lang="en-US" sz="1200" dirty="0">
                <a:solidFill>
                  <a:srgbClr val="5B5E6B"/>
                </a:solidFill>
                <a:latin typeface="Calibri" pitchFamily="34" charset="0"/>
                <a:ea typeface="Calibri" pitchFamily="34" charset="-122"/>
                <a:cs typeface="Calibri" pitchFamily="34" charset="-120"/>
              </a:rPr>
              <a:t>La cuadrilla empieza el trabajo.</a:t>
            </a:r>
            <a:endParaRPr lang="en-US" sz="12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097280" y="4983480"/>
          <a:ext cx="9997135" cy="914400"/>
        </p:xfrm>
        <a:graphic>
          <a:graphicData uri="http://schemas.openxmlformats.org/drawingml/2006/table">
            <a:tbl>
              <a:tblPr/>
              <a:tblGrid>
                <a:gridCol w="1428162"/>
                <a:gridCol w="1428162"/>
                <a:gridCol w="1428162"/>
                <a:gridCol w="1428162"/>
                <a:gridCol w="1428162"/>
                <a:gridCol w="1428162"/>
                <a:gridCol w="1428162"/>
              </a:tblGrid>
              <a:tr h="329184">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Fase</a:t>
                      </a:r>
                      <a:endParaRPr lang="en-US" sz="1300" dirty="0">
                        <a:latin typeface="Calibri" charset="0"/>
                        <a:ea typeface="Calibri" charset="0"/>
                        <a:cs typeface="Calibri" charset="0"/>
                      </a:endParaRPr>
                    </a:p>
                  </a:txBody>
                  <a:tcPr marL="91440" marR="91440" marT="45720" marB="4572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Iniciado</a:t>
                      </a:r>
                      <a:endParaRPr lang="en-US" sz="1300" dirty="0">
                        <a:latin typeface="Calibri" charset="0"/>
                        <a:ea typeface="Calibri" charset="0"/>
                        <a:cs typeface="Calibri" charset="0"/>
                      </a:endParaRPr>
                    </a:p>
                  </a:txBody>
                  <a:tcPr marL="91440" marR="91440" marT="45720" marB="4572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Identificadas</a:t>
                      </a:r>
                      <a:endParaRPr lang="en-US" sz="1300" dirty="0">
                        <a:latin typeface="Calibri" charset="0"/>
                        <a:ea typeface="Calibri" charset="0"/>
                        <a:cs typeface="Calibri" charset="0"/>
                      </a:endParaRPr>
                    </a:p>
                  </a:txBody>
                  <a:tcPr marL="91440" marR="91440" marT="45720" marB="4572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Asignadas</a:t>
                      </a:r>
                      <a:endParaRPr lang="en-US" sz="1300" dirty="0">
                        <a:latin typeface="Calibri" charset="0"/>
                        <a:ea typeface="Calibri" charset="0"/>
                        <a:cs typeface="Calibri" charset="0"/>
                      </a:endParaRPr>
                    </a:p>
                  </a:txBody>
                  <a:tcPr marL="91440" marR="91440" marT="45720" marB="4572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Levantadas</a:t>
                      </a:r>
                      <a:endParaRPr lang="en-US" sz="1300" dirty="0">
                        <a:latin typeface="Calibri" charset="0"/>
                        <a:ea typeface="Calibri" charset="0"/>
                        <a:cs typeface="Calibri" charset="0"/>
                      </a:endParaRPr>
                    </a:p>
                  </a:txBody>
                  <a:tcPr marL="91440" marR="91440" marT="45720" marB="4572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Liberación</a:t>
                      </a:r>
                      <a:endParaRPr lang="en-US" sz="1300" dirty="0">
                        <a:latin typeface="Calibri" charset="0"/>
                        <a:ea typeface="Calibri" charset="0"/>
                        <a:cs typeface="Calibri" charset="0"/>
                      </a:endParaRPr>
                    </a:p>
                  </a:txBody>
                  <a:tcPr marL="91440" marR="91440" marT="45720" marB="4572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Backlog</a:t>
                      </a:r>
                      <a:endParaRPr lang="en-US" sz="1300" dirty="0">
                        <a:latin typeface="Calibri" charset="0"/>
                        <a:ea typeface="Calibri" charset="0"/>
                        <a:cs typeface="Calibri" charset="0"/>
                      </a:endParaRPr>
                    </a:p>
                  </a:txBody>
                  <a:tcPr marL="91440" marR="91440" marT="45720" marB="4572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r>
              <a:tr h="329184">
                <a:tc>
                  <a:txBody>
                    <a:bodyPr/>
                    <a:lstStyle/>
                    <a:p>
                      <a:pPr algn="ctr" indent="0" marL="0">
                        <a:buNone/>
                      </a:pPr>
                      <a:r>
                        <a:rPr lang="en-US" sz="1300" dirty="0">
                          <a:solidFill>
                            <a:srgbClr val="1B1C22"/>
                          </a:solidFill>
                          <a:latin typeface="Calibri" pitchFamily="34" charset="0"/>
                          <a:ea typeface="Calibri" pitchFamily="34" charset="-122"/>
                          <a:cs typeface="Calibri" pitchFamily="34" charset="-120"/>
                        </a:rPr>
                        <a:t>Fase 1 y Fase 3</a:t>
                      </a:r>
                      <a:endParaRPr lang="en-US" sz="1300" dirty="0">
                        <a:latin typeface="Calibri" charset="0"/>
                        <a:ea typeface="Calibri" charset="0"/>
                        <a:cs typeface="Calibri" charset="0"/>
                      </a:endParaRPr>
                    </a:p>
                  </a:txBody>
                  <a:tcPr marL="91440" marR="91440" marT="45720" marB="4572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algn="ctr" indent="0" marL="0">
                        <a:buNone/>
                      </a:pPr>
                      <a:r>
                        <a:rPr lang="en-US" sz="1300" dirty="0">
                          <a:solidFill>
                            <a:srgbClr val="1B1C22"/>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91440" marR="91440" marT="45720" marB="4572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algn="ctr" indent="0" marL="0">
                        <a:buNone/>
                      </a:pPr>
                      <a:r>
                        <a:rPr lang="en-US" sz="1300" dirty="0">
                          <a:solidFill>
                            <a:srgbClr val="1B1C22"/>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91440" marR="91440" marT="45720" marB="4572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algn="ctr" indent="0" marL="0">
                        <a:buNone/>
                      </a:pPr>
                      <a:r>
                        <a:rPr lang="en-US" sz="1300" dirty="0">
                          <a:solidFill>
                            <a:srgbClr val="1B1C22"/>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45720" marB="4572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algn="ctr" indent="0" marL="0">
                        <a:buNone/>
                      </a:pPr>
                      <a:r>
                        <a:rPr lang="en-US" sz="1300" dirty="0">
                          <a:solidFill>
                            <a:srgbClr val="1B1C22"/>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algn="ctr" indent="0" marL="0">
                        <a:buNone/>
                      </a:pPr>
                      <a:r>
                        <a:rPr lang="en-US" sz="1300" dirty="0">
                          <a:solidFill>
                            <a:srgbClr val="1B1C22"/>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algn="ctr" indent="0" marL="0">
                        <a:buNone/>
                      </a:pPr>
                      <a:r>
                        <a:rPr lang="en-US" sz="1300" dirty="0">
                          <a:solidFill>
                            <a:srgbClr val="1B1C22"/>
                          </a:solidFill>
                          <a:latin typeface="Calibri" pitchFamily="34" charset="0"/>
                          <a:ea typeface="Calibri" pitchFamily="34" charset="-122"/>
                          <a:cs typeface="Calibri" pitchFamily="34" charset="-120"/>
                        </a:rPr>
                        <a:t>2 / 3 sem</a:t>
                      </a:r>
                      <a:endParaRPr lang="en-US" sz="1300" dirty="0">
                        <a:latin typeface="Calibri" charset="0"/>
                        <a:ea typeface="Calibri" charset="0"/>
                        <a:cs typeface="Calibri" charset="0"/>
                      </a:endParaRPr>
                    </a:p>
                  </a:txBody>
                  <a:tcPr marL="91440" marR="91440" marT="45720" marB="4572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329184">
                <a:tc>
                  <a:txBody>
                    <a:bodyPr/>
                    <a:lstStyle/>
                    <a:p>
                      <a:pPr algn="ctr" indent="0" marL="0">
                        <a:buNone/>
                      </a:pPr>
                      <a:r>
                        <a:rPr lang="en-US" sz="1300" dirty="0">
                          <a:solidFill>
                            <a:srgbClr val="1B1C22"/>
                          </a:solidFill>
                          <a:latin typeface="Calibri" pitchFamily="34" charset="0"/>
                          <a:ea typeface="Calibri" pitchFamily="34" charset="-122"/>
                          <a:cs typeface="Calibri" pitchFamily="34" charset="-120"/>
                        </a:rPr>
                        <a:t>Fase 2</a:t>
                      </a:r>
                      <a:endParaRPr lang="en-US" sz="1300" dirty="0">
                        <a:latin typeface="Calibri" charset="0"/>
                        <a:ea typeface="Calibri" charset="0"/>
                        <a:cs typeface="Calibri" charset="0"/>
                      </a:endParaRPr>
                    </a:p>
                  </a:txBody>
                  <a:tcPr marL="91440" marR="91440" marT="45720" marB="4572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1C22"/>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91440" marR="91440" marT="45720" marB="4572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1C22"/>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91440" marR="91440" marT="45720" marB="4572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1C22"/>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91440" marR="91440" marT="45720" marB="4572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1C22"/>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1C22"/>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1C22"/>
                          </a:solidFill>
                          <a:latin typeface="Calibri" pitchFamily="34" charset="0"/>
                          <a:ea typeface="Calibri" pitchFamily="34" charset="-122"/>
                          <a:cs typeface="Calibri" pitchFamily="34" charset="-120"/>
                        </a:rPr>
                        <a:t>2 sem</a:t>
                      </a:r>
                      <a:endParaRPr lang="en-US" sz="1300" dirty="0">
                        <a:latin typeface="Calibri" charset="0"/>
                        <a:ea typeface="Calibri" charset="0"/>
                        <a:cs typeface="Calibri" charset="0"/>
                      </a:endParaRPr>
                    </a:p>
                  </a:txBody>
                  <a:tcPr marL="91440" marR="91440" marT="45720" marB="4572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bl>
          </a:graphicData>
        </a:graphic>
      </p:graphicFrame>
      <p:sp>
        <p:nvSpPr>
          <p:cNvPr id="24" name="Text 21"/>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Asistente de proyecto</a:t>
            </a:r>
            <a:endParaRPr lang="en-US" sz="1000" dirty="0"/>
          </a:p>
        </p:txBody>
      </p:sp>
      <p:sp>
        <p:nvSpPr>
          <p:cNvPr id="25" name="Text 22"/>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46</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Paso 3 · Roles AWP</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Quién ocupa cada rol del kit; puedes completarlo después</a:t>
            </a:r>
            <a:endParaRPr lang="en-US" sz="1500" dirty="0"/>
          </a:p>
        </p:txBody>
      </p:sp>
      <p:sp>
        <p:nvSpPr>
          <p:cNvPr id="4" name="Shape 2"/>
          <p:cNvSpPr/>
          <p:nvPr/>
        </p:nvSpPr>
        <p:spPr>
          <a:xfrm>
            <a:off x="4562856" y="1855460"/>
            <a:ext cx="7135063" cy="4061479"/>
          </a:xfrm>
          <a:prstGeom prst="roundRect">
            <a:avLst>
              <a:gd name="adj" fmla="val 1801"/>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asis_3_roles.jpg">    </p:cNvPr>
          <p:cNvPicPr>
            <a:picLocks noChangeAspect="1"/>
          </p:cNvPicPr>
          <p:nvPr/>
        </p:nvPicPr>
        <p:blipFill>
          <a:blip r:embed="rId1"/>
          <a:stretch>
            <a:fillRect/>
          </a:stretch>
        </p:blipFill>
        <p:spPr>
          <a:xfrm>
            <a:off x="4617720" y="1910324"/>
            <a:ext cx="7025335" cy="3951751"/>
          </a:xfrm>
          <a:prstGeom prst="rect">
            <a:avLst/>
          </a:prstGeom>
        </p:spPr>
      </p:pic>
      <p:sp>
        <p:nvSpPr>
          <p:cNvPr id="6" name="Shape 3"/>
          <p:cNvSpPr/>
          <p:nvPr/>
        </p:nvSpPr>
        <p:spPr>
          <a:xfrm>
            <a:off x="548640"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643280" y="1685696"/>
            <a:ext cx="231343" cy="231343"/>
          </a:xfrm>
          <a:prstGeom prst="rect">
            <a:avLst/>
          </a:prstGeom>
        </p:spPr>
      </p:pic>
      <p:sp>
        <p:nvSpPr>
          <p:cNvPr id="8" name="Text 4"/>
          <p:cNvSpPr txBox="1"/>
          <p:nvPr/>
        </p:nvSpPr>
        <p:spPr>
          <a:xfrm>
            <a:off x="1133856" y="157276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16 roles del kit</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Cada fila muestra el nombre del rol y su código (CLI, GP, CHA, LWF, WFP…).</a:t>
            </a:r>
            <a:endParaRPr lang="en-US" sz="1500" dirty="0"/>
          </a:p>
        </p:txBody>
      </p:sp>
      <p:sp>
        <p:nvSpPr>
          <p:cNvPr id="9" name="Shape 5"/>
          <p:cNvSpPr/>
          <p:nvPr/>
        </p:nvSpPr>
        <p:spPr>
          <a:xfrm>
            <a:off x="548640" y="2768346"/>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643280" y="2862986"/>
            <a:ext cx="231343" cy="231343"/>
          </a:xfrm>
          <a:prstGeom prst="rect">
            <a:avLst/>
          </a:prstGeom>
        </p:spPr>
      </p:pic>
      <p:sp>
        <p:nvSpPr>
          <p:cNvPr id="11" name="Text 6"/>
          <p:cNvSpPr txBox="1"/>
          <p:nvPr/>
        </p:nvSpPr>
        <p:spPr>
          <a:xfrm>
            <a:off x="1133856" y="275005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Nombre, organización y correo</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Solo el nombre es necesario; organización ayuda a distinguir cliente y contratista.</a:t>
            </a:r>
            <a:endParaRPr lang="en-US" sz="1500" dirty="0"/>
          </a:p>
        </p:txBody>
      </p:sp>
      <p:sp>
        <p:nvSpPr>
          <p:cNvPr id="12" name="Shape 7"/>
          <p:cNvSpPr/>
          <p:nvPr/>
        </p:nvSpPr>
        <p:spPr>
          <a:xfrm>
            <a:off x="548640" y="3945636"/>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643280" y="4040276"/>
            <a:ext cx="231343" cy="231343"/>
          </a:xfrm>
          <a:prstGeom prst="rect">
            <a:avLst/>
          </a:prstGeom>
        </p:spPr>
      </p:pic>
      <p:sp>
        <p:nvSpPr>
          <p:cNvPr id="14" name="Text 8"/>
          <p:cNvSpPr txBox="1"/>
          <p:nvPr/>
        </p:nvSpPr>
        <p:spPr>
          <a:xfrm>
            <a:off x="1133856" y="392734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Tres roles clave (*)</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AWP Champion, Líder de WFP y Gerente de Construcción.</a:t>
            </a:r>
            <a:endParaRPr lang="en-US" sz="1500" dirty="0"/>
          </a:p>
        </p:txBody>
      </p:sp>
      <p:sp>
        <p:nvSpPr>
          <p:cNvPr id="15" name="Shape 9"/>
          <p:cNvSpPr/>
          <p:nvPr/>
        </p:nvSpPr>
        <p:spPr>
          <a:xfrm>
            <a:off x="548640" y="5122926"/>
            <a:ext cx="420624" cy="420624"/>
          </a:xfrm>
          <a:prstGeom prst="ellipse">
            <a:avLst/>
          </a:prstGeom>
          <a:solidFill>
            <a:srgbClr val="E8EAF6"/>
          </a:solidFill>
          <a:ln w="12700">
            <a:solidFill>
              <a:srgbClr val="E8EAF6"/>
            </a:solidFill>
            <a:prstDash val="solid"/>
          </a:ln>
        </p:spPr>
      </p:sp>
      <p:pic>
        <p:nvPicPr>
          <p:cNvPr id="16" name="Image 4" descr="preencoded.png">    </p:cNvPr>
          <p:cNvPicPr>
            <a:picLocks noChangeAspect="1"/>
          </p:cNvPicPr>
          <p:nvPr/>
        </p:nvPicPr>
        <p:blipFill>
          <a:blip r:embed="rId5"/>
          <a:stretch>
            <a:fillRect/>
          </a:stretch>
        </p:blipFill>
        <p:spPr>
          <a:xfrm>
            <a:off x="643280" y="5217566"/>
            <a:ext cx="231343" cy="231343"/>
          </a:xfrm>
          <a:prstGeom prst="rect">
            <a:avLst/>
          </a:prstGeom>
        </p:spPr>
      </p:pic>
      <p:sp>
        <p:nvSpPr>
          <p:cNvPr id="17" name="Text 10"/>
          <p:cNvSpPr txBox="1"/>
          <p:nvPr/>
        </p:nvSpPr>
        <p:spPr>
          <a:xfrm>
            <a:off x="1133856" y="510463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Correo validado</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Si lo escribes, debe tener un formato válido.</a:t>
            </a:r>
            <a:endParaRPr lang="en-US" sz="1500" dirty="0"/>
          </a:p>
        </p:txBody>
      </p:sp>
      <p:sp>
        <p:nvSpPr>
          <p:cNvPr id="18" name="Text 11"/>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Asistente de proyecto</a:t>
            </a:r>
            <a:endParaRPr lang="en-US" sz="1000" dirty="0"/>
          </a:p>
        </p:txBody>
      </p:sp>
      <p:sp>
        <p:nvSpPr>
          <p:cNvPr id="19" name="Text 12"/>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47</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Los tres roles clave para arrancar</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«Este rol es clave para arrancar: escribe quién lo ocupa (puedes cambiarlo después).»</a:t>
            </a:r>
            <a:endParaRPr lang="en-US" sz="1500" dirty="0"/>
          </a:p>
        </p:txBody>
      </p:sp>
      <p:sp>
        <p:nvSpPr>
          <p:cNvPr id="4" name="Shape 2"/>
          <p:cNvSpPr/>
          <p:nvPr/>
        </p:nvSpPr>
        <p:spPr>
          <a:xfrm>
            <a:off x="4562856" y="1855460"/>
            <a:ext cx="7135063" cy="4061479"/>
          </a:xfrm>
          <a:prstGeom prst="roundRect">
            <a:avLst>
              <a:gd name="adj" fmla="val 1801"/>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asis_3_errores.jpg">    </p:cNvPr>
          <p:cNvPicPr>
            <a:picLocks noChangeAspect="1"/>
          </p:cNvPicPr>
          <p:nvPr/>
        </p:nvPicPr>
        <p:blipFill>
          <a:blip r:embed="rId1"/>
          <a:stretch>
            <a:fillRect/>
          </a:stretch>
        </p:blipFill>
        <p:spPr>
          <a:xfrm>
            <a:off x="4617720" y="1910324"/>
            <a:ext cx="7025335" cy="3951751"/>
          </a:xfrm>
          <a:prstGeom prst="rect">
            <a:avLst/>
          </a:prstGeom>
        </p:spPr>
      </p:pic>
      <p:sp>
        <p:nvSpPr>
          <p:cNvPr id="6" name="Shape 3"/>
          <p:cNvSpPr/>
          <p:nvPr/>
        </p:nvSpPr>
        <p:spPr>
          <a:xfrm>
            <a:off x="548640"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643280" y="1685696"/>
            <a:ext cx="231343" cy="231343"/>
          </a:xfrm>
          <a:prstGeom prst="rect">
            <a:avLst/>
          </a:prstGeom>
        </p:spPr>
      </p:pic>
      <p:sp>
        <p:nvSpPr>
          <p:cNvPr id="8" name="Text 4"/>
          <p:cNvSpPr txBox="1"/>
          <p:nvPr/>
        </p:nvSpPr>
        <p:spPr>
          <a:xfrm>
            <a:off x="1133856" y="1572768"/>
            <a:ext cx="3209544" cy="149656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AWP Champion (CHA)</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Lidera la implementación; define estrategia, procedimientos y plantillas; forma al equipo. A tiempo completo.</a:t>
            </a:r>
            <a:endParaRPr lang="en-US" sz="1500" dirty="0"/>
          </a:p>
        </p:txBody>
      </p:sp>
      <p:sp>
        <p:nvSpPr>
          <p:cNvPr id="9" name="Shape 5"/>
          <p:cNvSpPr/>
          <p:nvPr/>
        </p:nvSpPr>
        <p:spPr>
          <a:xfrm>
            <a:off x="548640" y="3160776"/>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643280" y="3255416"/>
            <a:ext cx="231343" cy="231343"/>
          </a:xfrm>
          <a:prstGeom prst="rect">
            <a:avLst/>
          </a:prstGeom>
        </p:spPr>
      </p:pic>
      <p:sp>
        <p:nvSpPr>
          <p:cNvPr id="11" name="Text 6"/>
          <p:cNvSpPr txBox="1"/>
          <p:nvPr/>
        </p:nvSpPr>
        <p:spPr>
          <a:xfrm>
            <a:off x="1133856" y="3142488"/>
            <a:ext cx="3209544" cy="149656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Líder de WFP (LWF)</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Coordina a los planificadores, dirige la reunión semanal de restricciones y controla el backlog.</a:t>
            </a:r>
            <a:endParaRPr lang="en-US" sz="1500" dirty="0"/>
          </a:p>
        </p:txBody>
      </p:sp>
      <p:sp>
        <p:nvSpPr>
          <p:cNvPr id="12" name="Shape 7"/>
          <p:cNvSpPr/>
          <p:nvPr/>
        </p:nvSpPr>
        <p:spPr>
          <a:xfrm>
            <a:off x="548640" y="4730496"/>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643280" y="4825136"/>
            <a:ext cx="231343" cy="231343"/>
          </a:xfrm>
          <a:prstGeom prst="rect">
            <a:avLst/>
          </a:prstGeom>
        </p:spPr>
      </p:pic>
      <p:sp>
        <p:nvSpPr>
          <p:cNvPr id="14" name="Text 8"/>
          <p:cNvSpPr txBox="1"/>
          <p:nvPr/>
        </p:nvSpPr>
        <p:spPr>
          <a:xfrm>
            <a:off x="1133856" y="4712208"/>
            <a:ext cx="3209544" cy="149656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Gerente de Construcción (CON)</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Lidera el Path of Construction, aprueba CWP y decide la secuencia de ejecución.</a:t>
            </a:r>
            <a:endParaRPr lang="en-US" sz="1500" dirty="0"/>
          </a:p>
        </p:txBody>
      </p:sp>
      <p:sp>
        <p:nvSpPr>
          <p:cNvPr id="15" name="Text 9"/>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Asistente de proyecto</a:t>
            </a:r>
            <a:endParaRPr lang="en-US" sz="1000" dirty="0"/>
          </a:p>
        </p:txBody>
      </p:sp>
      <p:sp>
        <p:nvSpPr>
          <p:cNvPr id="16" name="Text 10"/>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48</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Los 16 roles AWP (1 de 2)</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Catálogo del kit: código, rol y responsabilidades principales</a:t>
            </a:r>
            <a:endParaRPr lang="en-US" sz="15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005840"/>
                <a:gridCol w="2834640"/>
                <a:gridCol w="7132320"/>
              </a:tblGrid>
              <a:tr h="5181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Código</a:t>
                      </a:r>
                      <a:endParaRPr lang="en-US" sz="13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Rol</a:t>
                      </a:r>
                      <a:endParaRPr lang="en-US" sz="13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Responsabilidades principales</a:t>
                      </a:r>
                      <a:endParaRPr lang="en-US" sz="13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CLI</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Gerente del proyecto del cliente</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Patrocina AWP; aprueba el plan, el PoC y los hitos; exige AWP en los contratos; revisa KPI mensuales.</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GP</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Gerente de Proyecto</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Responsable final de la implementación; asigna recursos; resuelve restricciones escaladas.</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CHA</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AWP Champion</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Lidera la implementación; procedimientos y plantillas; forma al equipo; facilita talleres PoC; audita.</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LWF</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Líder de WFP</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Coordina planificadores; reunión semanal de restricciones; backlog y liberación de IWP.</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WFP</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Planificador de frente de trabajo</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Divide CWP en IWP; sigue restricciones; arma y libera IWP; registra avance y causas.</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ING</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Líder de Ingeniería</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Emite EWP en la secuencia del PoC; modelo 3D con atributos AWP; responde RFI.</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PRO</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Líder de Procura</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Estructura los PWP; fechas RAS alineadas; estado de materiales por CWP/IWP.</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MAT</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Gestor de materiales</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Recibe, almacena, reserva y despacha materiales por IWP; confirma disponibilidad.</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Asistente de proyecto</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49</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Los 16 roles AWP (2 de 2)</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Catálogo del kit: código, rol y responsabilidades principales</a:t>
            </a:r>
            <a:endParaRPr lang="en-US" sz="15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005840"/>
                <a:gridCol w="2834640"/>
                <a:gridCol w="7132320"/>
              </a:tblGrid>
              <a:tr h="5181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Código</a:t>
                      </a:r>
                      <a:endParaRPr lang="en-US" sz="13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Rol</a:t>
                      </a:r>
                      <a:endParaRPr lang="en-US" sz="13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Responsabilidades principales</a:t>
                      </a:r>
                      <a:endParaRPr lang="en-US" sz="13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CON</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Gerente de Construcción</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Lidera el PoC; aprueba CWP; decide la secuencia; prioriza restricciones críticas.</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SUP</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Superintendente / capataz general</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Selecciona IWP del backlog para el lookahead; los ejecuta con sus capataces.</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CTR</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Controles del proyecto</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Integra CWP (nivel 3) e IWP (nivel 5) en el cronograma; mide avance; calcula KPI.</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IM</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Coordinador de gestión de información</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Codificación y atributos; integra modelo 3D, cronograma, materiales y documentos.</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HSE</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Líder de HSE</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Incorpora JHA y permisos en CWP e IWP; valida seguridad antes de liberar.</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CAL</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Líder de calidad (QA/QC)</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ITP y registros de inspección en CWP e IWP; cierre de calidad de cada IWP.</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COM</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Líder de comisionamiento</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Sistemas y secuencia de puesta en marcha; relaciona IWP con sistemas; SWP y TOP.</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SUB</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Subcontratista de especialidad</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Aplica AWP en su alcance; aporta planificadores; cumple el lookahead.</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Asistente de proyecto</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50</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Paso 4 · Hitos H0–H10</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H0 para el programa y H1–H10 para cada fase, con fechas relativas a la fase</a:t>
            </a:r>
            <a:endParaRPr lang="en-US" sz="1500" dirty="0"/>
          </a:p>
        </p:txBody>
      </p:sp>
      <p:sp>
        <p:nvSpPr>
          <p:cNvPr id="4" name="Shape 2"/>
          <p:cNvSpPr/>
          <p:nvPr/>
        </p:nvSpPr>
        <p:spPr>
          <a:xfrm>
            <a:off x="4562856" y="1855460"/>
            <a:ext cx="7135063" cy="4061479"/>
          </a:xfrm>
          <a:prstGeom prst="roundRect">
            <a:avLst>
              <a:gd name="adj" fmla="val 1801"/>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asis_4_hitos.jpg">    </p:cNvPr>
          <p:cNvPicPr>
            <a:picLocks noChangeAspect="1"/>
          </p:cNvPicPr>
          <p:nvPr/>
        </p:nvPicPr>
        <p:blipFill>
          <a:blip r:embed="rId1"/>
          <a:stretch>
            <a:fillRect/>
          </a:stretch>
        </p:blipFill>
        <p:spPr>
          <a:xfrm>
            <a:off x="4617720" y="1910324"/>
            <a:ext cx="7025335" cy="3951751"/>
          </a:xfrm>
          <a:prstGeom prst="rect">
            <a:avLst/>
          </a:prstGeom>
        </p:spPr>
      </p:pic>
      <p:sp>
        <p:nvSpPr>
          <p:cNvPr id="6" name="Shape 3"/>
          <p:cNvSpPr/>
          <p:nvPr/>
        </p:nvSpPr>
        <p:spPr>
          <a:xfrm>
            <a:off x="548640"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643280" y="1685696"/>
            <a:ext cx="231343" cy="231343"/>
          </a:xfrm>
          <a:prstGeom prst="rect">
            <a:avLst/>
          </a:prstGeom>
        </p:spPr>
      </p:pic>
      <p:sp>
        <p:nvSpPr>
          <p:cNvPr id="8" name="Text 4"/>
          <p:cNvSpPr txBox="1"/>
          <p:nvPr/>
        </p:nvSpPr>
        <p:spPr>
          <a:xfrm>
            <a:off x="1133856" y="157276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H0 del programa</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Estrategia AWP aprobada: 30 días después del inicio del proyecto.</a:t>
            </a:r>
            <a:endParaRPr lang="en-US" sz="1500" dirty="0"/>
          </a:p>
        </p:txBody>
      </p:sp>
      <p:sp>
        <p:nvSpPr>
          <p:cNvPr id="9" name="Shape 5"/>
          <p:cNvSpPr/>
          <p:nvPr/>
        </p:nvSpPr>
        <p:spPr>
          <a:xfrm>
            <a:off x="548640" y="2768346"/>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643280" y="2862986"/>
            <a:ext cx="231343" cy="231343"/>
          </a:xfrm>
          <a:prstGeom prst="rect">
            <a:avLst/>
          </a:prstGeom>
        </p:spPr>
      </p:pic>
      <p:sp>
        <p:nvSpPr>
          <p:cNvPr id="11" name="Text 6"/>
          <p:cNvSpPr txBox="1"/>
          <p:nvPr/>
        </p:nvSpPr>
        <p:spPr>
          <a:xfrm>
            <a:off x="1133856" y="275005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H1–H10 por fase</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Se ubican en proporción a la duración de cada fase: H1 al inicio, H10 al final.</a:t>
            </a:r>
            <a:endParaRPr lang="en-US" sz="1500" dirty="0"/>
          </a:p>
        </p:txBody>
      </p:sp>
      <p:sp>
        <p:nvSpPr>
          <p:cNvPr id="12" name="Shape 7"/>
          <p:cNvSpPr/>
          <p:nvPr/>
        </p:nvSpPr>
        <p:spPr>
          <a:xfrm>
            <a:off x="548640" y="3945636"/>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643280" y="4040276"/>
            <a:ext cx="231343" cy="231343"/>
          </a:xfrm>
          <a:prstGeom prst="rect">
            <a:avLst/>
          </a:prstGeom>
        </p:spPr>
      </p:pic>
      <p:sp>
        <p:nvSpPr>
          <p:cNvPr id="14" name="Text 8"/>
          <p:cNvSpPr txBox="1"/>
          <p:nvPr/>
        </p:nvSpPr>
        <p:spPr>
          <a:xfrm>
            <a:off x="1133856" y="392734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Criterio visible</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Cada hito muestra su criterio de cumplimiento para decidir la fecha con criterio.</a:t>
            </a:r>
            <a:endParaRPr lang="en-US" sz="1500" dirty="0"/>
          </a:p>
        </p:txBody>
      </p:sp>
      <p:sp>
        <p:nvSpPr>
          <p:cNvPr id="15" name="Shape 9"/>
          <p:cNvSpPr/>
          <p:nvPr/>
        </p:nvSpPr>
        <p:spPr>
          <a:xfrm>
            <a:off x="548640" y="5122926"/>
            <a:ext cx="420624" cy="420624"/>
          </a:xfrm>
          <a:prstGeom prst="ellipse">
            <a:avLst/>
          </a:prstGeom>
          <a:solidFill>
            <a:srgbClr val="E8EAF6"/>
          </a:solidFill>
          <a:ln w="12700">
            <a:solidFill>
              <a:srgbClr val="E8EAF6"/>
            </a:solidFill>
            <a:prstDash val="solid"/>
          </a:ln>
        </p:spPr>
      </p:sp>
      <p:pic>
        <p:nvPicPr>
          <p:cNvPr id="16" name="Image 4" descr="preencoded.png">    </p:cNvPr>
          <p:cNvPicPr>
            <a:picLocks noChangeAspect="1"/>
          </p:cNvPicPr>
          <p:nvPr/>
        </p:nvPicPr>
        <p:blipFill>
          <a:blip r:embed="rId5"/>
          <a:stretch>
            <a:fillRect/>
          </a:stretch>
        </p:blipFill>
        <p:spPr>
          <a:xfrm>
            <a:off x="643280" y="5217566"/>
            <a:ext cx="231343" cy="231343"/>
          </a:xfrm>
          <a:prstGeom prst="rect">
            <a:avLst/>
          </a:prstGeom>
        </p:spPr>
      </p:pic>
      <p:sp>
        <p:nvSpPr>
          <p:cNvPr id="17" name="Text 10"/>
          <p:cNvSpPr txBox="1"/>
          <p:nvPr/>
        </p:nvSpPr>
        <p:spPr>
          <a:xfrm>
            <a:off x="1133856" y="510463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Editable</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Ajusta cualquier fecha plan; todas deben tener fecha para crear el proyecto.</a:t>
            </a:r>
            <a:endParaRPr lang="en-US" sz="1500" dirty="0"/>
          </a:p>
        </p:txBody>
      </p:sp>
      <p:sp>
        <p:nvSpPr>
          <p:cNvPr id="18" name="Text 11"/>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Asistente de proyecto</a:t>
            </a:r>
            <a:endParaRPr lang="en-US" sz="1000" dirty="0"/>
          </a:p>
        </p:txBody>
      </p:sp>
      <p:sp>
        <p:nvSpPr>
          <p:cNvPr id="19" name="Text 12"/>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51</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Qué crea el asistente al terminar</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Con un clic en «Crear proyecto», todo queda listo para trabajar</a:t>
            </a:r>
            <a:endParaRPr lang="en-US" sz="1500" dirty="0"/>
          </a:p>
        </p:txBody>
      </p:sp>
      <p:sp>
        <p:nvSpPr>
          <p:cNvPr id="4" name="Shape 2"/>
          <p:cNvSpPr/>
          <p:nvPr/>
        </p:nvSpPr>
        <p:spPr>
          <a:xfrm>
            <a:off x="548640" y="1600200"/>
            <a:ext cx="2567864" cy="3931920"/>
          </a:xfrm>
          <a:prstGeom prst="roundRect">
            <a:avLst>
              <a:gd name="adj" fmla="val 3561"/>
            </a:avLst>
          </a:prstGeom>
          <a:solidFill>
            <a:srgbClr val="F5F6FB"/>
          </a:solidFill>
          <a:ln w="9525">
            <a:solidFill>
              <a:srgbClr val="E3E5EE"/>
            </a:solidFill>
            <a:prstDash val="solid"/>
          </a:ln>
        </p:spPr>
      </p:sp>
      <p:sp>
        <p:nvSpPr>
          <p:cNvPr id="5" name="Text 3"/>
          <p:cNvSpPr txBox="1"/>
          <p:nvPr/>
        </p:nvSpPr>
        <p:spPr>
          <a:xfrm>
            <a:off x="777240" y="1920240"/>
            <a:ext cx="2110664" cy="1097280"/>
          </a:xfrm>
          <a:prstGeom prst="rect">
            <a:avLst/>
          </a:prstGeom>
          <a:noFill/>
          <a:ln/>
        </p:spPr>
        <p:txBody>
          <a:bodyPr wrap="square" lIns="0" tIns="0" rIns="0" bIns="0" rtlCol="0" anchor="ctr"/>
          <a:lstStyle/>
          <a:p>
            <a:pPr indent="0" marL="0">
              <a:buNone/>
            </a:pPr>
            <a:r>
              <a:rPr lang="en-US" sz="5800" b="1" dirty="0">
                <a:solidFill>
                  <a:srgbClr val="3F51B5"/>
                </a:solidFill>
                <a:latin typeface="Calibri" pitchFamily="34" charset="0"/>
                <a:ea typeface="Calibri" pitchFamily="34" charset="-122"/>
                <a:cs typeface="Calibri" pitchFamily="34" charset="-120"/>
              </a:rPr>
              <a:t>3</a:t>
            </a:r>
            <a:endParaRPr lang="en-US" sz="5800" dirty="0"/>
          </a:p>
        </p:txBody>
      </p:sp>
      <p:sp>
        <p:nvSpPr>
          <p:cNvPr id="6" name="Text 4"/>
          <p:cNvSpPr txBox="1"/>
          <p:nvPr/>
        </p:nvSpPr>
        <p:spPr>
          <a:xfrm>
            <a:off x="777240" y="3108960"/>
            <a:ext cx="2110664" cy="685800"/>
          </a:xfrm>
          <a:prstGeom prst="rect">
            <a:avLst/>
          </a:prstGeom>
          <a:noFill/>
          <a:ln/>
        </p:spPr>
        <p:txBody>
          <a:bodyPr wrap="square" lIns="0" tIns="0" rIns="0" bIns="0" rtlCol="0" anchor="t">
            <a:normAutofit/>
          </a:bodyPr>
          <a:lstStyle/>
          <a:p>
            <a:pPr indent="0" marL="0">
              <a:buNone/>
            </a:pPr>
            <a:r>
              <a:rPr lang="en-US" sz="1600" b="1" dirty="0">
                <a:solidFill>
                  <a:srgbClr val="1B1C22"/>
                </a:solidFill>
                <a:latin typeface="Calibri" pitchFamily="34" charset="0"/>
                <a:ea typeface="Calibri" pitchFamily="34" charset="-122"/>
                <a:cs typeface="Calibri" pitchFamily="34" charset="-120"/>
              </a:rPr>
              <a:t>fases</a:t>
            </a:r>
            <a:endParaRPr lang="en-US" sz="1600" dirty="0"/>
          </a:p>
        </p:txBody>
      </p:sp>
      <p:sp>
        <p:nvSpPr>
          <p:cNvPr id="7" name="Text 5"/>
          <p:cNvSpPr txBox="1"/>
          <p:nvPr/>
        </p:nvSpPr>
        <p:spPr>
          <a:xfrm>
            <a:off x="777240" y="3840480"/>
            <a:ext cx="2110664" cy="155448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Con fechas, madurez objetivo, plazos de liberación y meta de backlog.</a:t>
            </a:r>
            <a:endParaRPr lang="en-US" sz="1500" dirty="0"/>
          </a:p>
        </p:txBody>
      </p:sp>
      <p:sp>
        <p:nvSpPr>
          <p:cNvPr id="8" name="Shape 6"/>
          <p:cNvSpPr/>
          <p:nvPr/>
        </p:nvSpPr>
        <p:spPr>
          <a:xfrm>
            <a:off x="3390824" y="1600200"/>
            <a:ext cx="2567864" cy="3931920"/>
          </a:xfrm>
          <a:prstGeom prst="roundRect">
            <a:avLst>
              <a:gd name="adj" fmla="val 3561"/>
            </a:avLst>
          </a:prstGeom>
          <a:solidFill>
            <a:srgbClr val="F5F6FB"/>
          </a:solidFill>
          <a:ln w="9525">
            <a:solidFill>
              <a:srgbClr val="E3E5EE"/>
            </a:solidFill>
            <a:prstDash val="solid"/>
          </a:ln>
        </p:spPr>
      </p:sp>
      <p:sp>
        <p:nvSpPr>
          <p:cNvPr id="9" name="Text 7"/>
          <p:cNvSpPr txBox="1"/>
          <p:nvPr/>
        </p:nvSpPr>
        <p:spPr>
          <a:xfrm>
            <a:off x="3619424" y="1920240"/>
            <a:ext cx="2110664" cy="1097280"/>
          </a:xfrm>
          <a:prstGeom prst="rect">
            <a:avLst/>
          </a:prstGeom>
          <a:noFill/>
          <a:ln/>
        </p:spPr>
        <p:txBody>
          <a:bodyPr wrap="square" lIns="0" tIns="0" rIns="0" bIns="0" rtlCol="0" anchor="ctr"/>
          <a:lstStyle/>
          <a:p>
            <a:pPr indent="0" marL="0">
              <a:buNone/>
            </a:pPr>
            <a:r>
              <a:rPr lang="en-US" sz="5800" b="1" dirty="0">
                <a:solidFill>
                  <a:srgbClr val="3F51B5"/>
                </a:solidFill>
                <a:latin typeface="Calibri" pitchFamily="34" charset="0"/>
                <a:ea typeface="Calibri" pitchFamily="34" charset="-122"/>
                <a:cs typeface="Calibri" pitchFamily="34" charset="-120"/>
              </a:rPr>
              <a:t>31</a:t>
            </a:r>
            <a:endParaRPr lang="en-US" sz="5800" dirty="0"/>
          </a:p>
        </p:txBody>
      </p:sp>
      <p:sp>
        <p:nvSpPr>
          <p:cNvPr id="10" name="Text 8"/>
          <p:cNvSpPr txBox="1"/>
          <p:nvPr/>
        </p:nvSpPr>
        <p:spPr>
          <a:xfrm>
            <a:off x="3619424" y="3108960"/>
            <a:ext cx="2110664" cy="685800"/>
          </a:xfrm>
          <a:prstGeom prst="rect">
            <a:avLst/>
          </a:prstGeom>
          <a:noFill/>
          <a:ln/>
        </p:spPr>
        <p:txBody>
          <a:bodyPr wrap="square" lIns="0" tIns="0" rIns="0" bIns="0" rtlCol="0" anchor="t">
            <a:normAutofit/>
          </a:bodyPr>
          <a:lstStyle/>
          <a:p>
            <a:pPr indent="0" marL="0">
              <a:buNone/>
            </a:pPr>
            <a:r>
              <a:rPr lang="en-US" sz="1600" b="1" dirty="0">
                <a:solidFill>
                  <a:srgbClr val="1B1C22"/>
                </a:solidFill>
                <a:latin typeface="Calibri" pitchFamily="34" charset="0"/>
                <a:ea typeface="Calibri" pitchFamily="34" charset="-122"/>
                <a:cs typeface="Calibri" pitchFamily="34" charset="-120"/>
              </a:rPr>
              <a:t>hitos</a:t>
            </a:r>
            <a:endParaRPr lang="en-US" sz="1600" dirty="0"/>
          </a:p>
        </p:txBody>
      </p:sp>
      <p:sp>
        <p:nvSpPr>
          <p:cNvPr id="11" name="Text 9"/>
          <p:cNvSpPr txBox="1"/>
          <p:nvPr/>
        </p:nvSpPr>
        <p:spPr>
          <a:xfrm>
            <a:off x="3619424" y="3840480"/>
            <a:ext cx="2110664" cy="155448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H0 del programa + H1–H10 en cada una de las 3 fases, con criterio y evidencia esperada.</a:t>
            </a:r>
            <a:endParaRPr lang="en-US" sz="1500" dirty="0"/>
          </a:p>
        </p:txBody>
      </p:sp>
      <p:sp>
        <p:nvSpPr>
          <p:cNvPr id="12" name="Shape 10"/>
          <p:cNvSpPr/>
          <p:nvPr/>
        </p:nvSpPr>
        <p:spPr>
          <a:xfrm>
            <a:off x="6233008" y="1600200"/>
            <a:ext cx="2567864" cy="3931920"/>
          </a:xfrm>
          <a:prstGeom prst="roundRect">
            <a:avLst>
              <a:gd name="adj" fmla="val 3561"/>
            </a:avLst>
          </a:prstGeom>
          <a:solidFill>
            <a:srgbClr val="F5F6FB"/>
          </a:solidFill>
          <a:ln w="9525">
            <a:solidFill>
              <a:srgbClr val="E3E5EE"/>
            </a:solidFill>
            <a:prstDash val="solid"/>
          </a:ln>
        </p:spPr>
      </p:sp>
      <p:sp>
        <p:nvSpPr>
          <p:cNvPr id="13" name="Text 11"/>
          <p:cNvSpPr txBox="1"/>
          <p:nvPr/>
        </p:nvSpPr>
        <p:spPr>
          <a:xfrm>
            <a:off x="6461608" y="1920240"/>
            <a:ext cx="2110664" cy="1097280"/>
          </a:xfrm>
          <a:prstGeom prst="rect">
            <a:avLst/>
          </a:prstGeom>
          <a:noFill/>
          <a:ln/>
        </p:spPr>
        <p:txBody>
          <a:bodyPr wrap="square" lIns="0" tIns="0" rIns="0" bIns="0" rtlCol="0" anchor="ctr"/>
          <a:lstStyle/>
          <a:p>
            <a:pPr indent="0" marL="0">
              <a:buNone/>
            </a:pPr>
            <a:r>
              <a:rPr lang="en-US" sz="5800" b="1" dirty="0">
                <a:solidFill>
                  <a:srgbClr val="3F51B5"/>
                </a:solidFill>
                <a:latin typeface="Calibri" pitchFamily="34" charset="0"/>
                <a:ea typeface="Calibri" pitchFamily="34" charset="-122"/>
                <a:cs typeface="Calibri" pitchFamily="34" charset="-120"/>
              </a:rPr>
              <a:t>30</a:t>
            </a:r>
            <a:endParaRPr lang="en-US" sz="5800" dirty="0"/>
          </a:p>
        </p:txBody>
      </p:sp>
      <p:sp>
        <p:nvSpPr>
          <p:cNvPr id="14" name="Text 12"/>
          <p:cNvSpPr txBox="1"/>
          <p:nvPr/>
        </p:nvSpPr>
        <p:spPr>
          <a:xfrm>
            <a:off x="6461608" y="3108960"/>
            <a:ext cx="2110664" cy="685800"/>
          </a:xfrm>
          <a:prstGeom prst="rect">
            <a:avLst/>
          </a:prstGeom>
          <a:noFill/>
          <a:ln/>
        </p:spPr>
        <p:txBody>
          <a:bodyPr wrap="square" lIns="0" tIns="0" rIns="0" bIns="0" rtlCol="0" anchor="t">
            <a:normAutofit/>
          </a:bodyPr>
          <a:lstStyle/>
          <a:p>
            <a:pPr indent="0" marL="0">
              <a:buNone/>
            </a:pPr>
            <a:r>
              <a:rPr lang="en-US" sz="1600" b="1" dirty="0">
                <a:solidFill>
                  <a:srgbClr val="1B1C22"/>
                </a:solidFill>
                <a:latin typeface="Calibri" pitchFamily="34" charset="0"/>
                <a:ea typeface="Calibri" pitchFamily="34" charset="-122"/>
                <a:cs typeface="Calibri" pitchFamily="34" charset="-120"/>
              </a:rPr>
              <a:t>actividades del checklist</a:t>
            </a:r>
            <a:endParaRPr lang="en-US" sz="1600" dirty="0"/>
          </a:p>
        </p:txBody>
      </p:sp>
      <p:sp>
        <p:nvSpPr>
          <p:cNvPr id="15" name="Text 13"/>
          <p:cNvSpPr txBox="1"/>
          <p:nvPr/>
        </p:nvSpPr>
        <p:spPr>
          <a:xfrm>
            <a:off x="6461608" y="3840480"/>
            <a:ext cx="2110664" cy="155448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Las 5 etapas del ciclo de vida, todas en «Pendiente».</a:t>
            </a:r>
            <a:endParaRPr lang="en-US" sz="1500" dirty="0"/>
          </a:p>
        </p:txBody>
      </p:sp>
      <p:sp>
        <p:nvSpPr>
          <p:cNvPr id="16" name="Shape 14"/>
          <p:cNvSpPr/>
          <p:nvPr/>
        </p:nvSpPr>
        <p:spPr>
          <a:xfrm>
            <a:off x="9075191" y="1600200"/>
            <a:ext cx="2567864" cy="3931920"/>
          </a:xfrm>
          <a:prstGeom prst="roundRect">
            <a:avLst>
              <a:gd name="adj" fmla="val 3561"/>
            </a:avLst>
          </a:prstGeom>
          <a:solidFill>
            <a:srgbClr val="F5F6FB"/>
          </a:solidFill>
          <a:ln w="9525">
            <a:solidFill>
              <a:srgbClr val="E3E5EE"/>
            </a:solidFill>
            <a:prstDash val="solid"/>
          </a:ln>
        </p:spPr>
      </p:sp>
      <p:sp>
        <p:nvSpPr>
          <p:cNvPr id="17" name="Text 15"/>
          <p:cNvSpPr txBox="1"/>
          <p:nvPr/>
        </p:nvSpPr>
        <p:spPr>
          <a:xfrm>
            <a:off x="9303791" y="1920240"/>
            <a:ext cx="2110664" cy="1097280"/>
          </a:xfrm>
          <a:prstGeom prst="rect">
            <a:avLst/>
          </a:prstGeom>
          <a:noFill/>
          <a:ln/>
        </p:spPr>
        <p:txBody>
          <a:bodyPr wrap="square" lIns="0" tIns="0" rIns="0" bIns="0" rtlCol="0" anchor="ctr"/>
          <a:lstStyle/>
          <a:p>
            <a:pPr indent="0" marL="0">
              <a:buNone/>
            </a:pPr>
            <a:r>
              <a:rPr lang="en-US" sz="5800" b="1" dirty="0">
                <a:solidFill>
                  <a:srgbClr val="3F51B5"/>
                </a:solidFill>
                <a:latin typeface="Calibri" pitchFamily="34" charset="0"/>
                <a:ea typeface="Calibri" pitchFamily="34" charset="-122"/>
                <a:cs typeface="Calibri" pitchFamily="34" charset="-120"/>
              </a:rPr>
              <a:t>37</a:t>
            </a:r>
            <a:endParaRPr lang="en-US" sz="5800" dirty="0"/>
          </a:p>
        </p:txBody>
      </p:sp>
      <p:sp>
        <p:nvSpPr>
          <p:cNvPr id="18" name="Text 16"/>
          <p:cNvSpPr txBox="1"/>
          <p:nvPr/>
        </p:nvSpPr>
        <p:spPr>
          <a:xfrm>
            <a:off x="9303791" y="3108960"/>
            <a:ext cx="2110664" cy="685800"/>
          </a:xfrm>
          <a:prstGeom prst="rect">
            <a:avLst/>
          </a:prstGeom>
          <a:noFill/>
          <a:ln/>
        </p:spPr>
        <p:txBody>
          <a:bodyPr wrap="square" lIns="0" tIns="0" rIns="0" bIns="0" rtlCol="0" anchor="t">
            <a:normAutofit/>
          </a:bodyPr>
          <a:lstStyle/>
          <a:p>
            <a:pPr indent="0" marL="0">
              <a:buNone/>
            </a:pPr>
            <a:r>
              <a:rPr lang="en-US" sz="1600" b="1" dirty="0">
                <a:solidFill>
                  <a:srgbClr val="1B1C22"/>
                </a:solidFill>
                <a:latin typeface="Calibri" pitchFamily="34" charset="0"/>
                <a:ea typeface="Calibri" pitchFamily="34" charset="-122"/>
                <a:cs typeface="Calibri" pitchFamily="34" charset="-120"/>
              </a:rPr>
              <a:t>filas de la matriz RACI</a:t>
            </a:r>
            <a:endParaRPr lang="en-US" sz="1600" dirty="0"/>
          </a:p>
        </p:txBody>
      </p:sp>
      <p:sp>
        <p:nvSpPr>
          <p:cNvPr id="19" name="Text 17"/>
          <p:cNvSpPr txBox="1"/>
          <p:nvPr/>
        </p:nvSpPr>
        <p:spPr>
          <a:xfrm>
            <a:off x="9303791" y="3840480"/>
            <a:ext cx="2110664" cy="155448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La propuesta del kit, lista para ajustar en la Etapa 4.</a:t>
            </a:r>
            <a:endParaRPr lang="en-US" sz="1500" dirty="0"/>
          </a:p>
        </p:txBody>
      </p:sp>
      <p:sp>
        <p:nvSpPr>
          <p:cNvPr id="20" name="Shape 18"/>
          <p:cNvSpPr/>
          <p:nvPr/>
        </p:nvSpPr>
        <p:spPr>
          <a:xfrm>
            <a:off x="548640" y="5806440"/>
            <a:ext cx="384048" cy="384048"/>
          </a:xfrm>
          <a:prstGeom prst="ellipse">
            <a:avLst/>
          </a:prstGeom>
          <a:solidFill>
            <a:srgbClr val="E8EAF6"/>
          </a:solidFill>
          <a:ln w="12700">
            <a:solidFill>
              <a:srgbClr val="E8EAF6"/>
            </a:solidFill>
            <a:prstDash val="solid"/>
          </a:ln>
        </p:spPr>
      </p:sp>
      <p:pic>
        <p:nvPicPr>
          <p:cNvPr id="21" name="Image 0" descr="preencoded.png">    </p:cNvPr>
          <p:cNvPicPr>
            <a:picLocks noChangeAspect="1"/>
          </p:cNvPicPr>
          <p:nvPr/>
        </p:nvPicPr>
        <p:blipFill>
          <a:blip r:embed="rId1"/>
          <a:stretch>
            <a:fillRect/>
          </a:stretch>
        </p:blipFill>
        <p:spPr>
          <a:xfrm>
            <a:off x="635051" y="5892851"/>
            <a:ext cx="211226" cy="211226"/>
          </a:xfrm>
          <a:prstGeom prst="rect">
            <a:avLst/>
          </a:prstGeom>
        </p:spPr>
      </p:pic>
      <p:sp>
        <p:nvSpPr>
          <p:cNvPr id="22" name="Text 19"/>
          <p:cNvSpPr txBox="1"/>
          <p:nvPr/>
        </p:nvSpPr>
        <p:spPr>
          <a:xfrm>
            <a:off x="1097280" y="5715000"/>
            <a:ext cx="10545775" cy="566928"/>
          </a:xfrm>
          <a:prstGeom prst="rect">
            <a:avLst/>
          </a:prstGeom>
          <a:noFill/>
          <a:ln/>
        </p:spPr>
        <p:txBody>
          <a:bodyPr wrap="square" lIns="0" tIns="0" rIns="0" bIns="0" rtlCol="0" anchor="ctr"/>
          <a:lstStyle/>
          <a:p>
            <a:pPr indent="0" marL="0">
              <a:buNone/>
            </a:pPr>
            <a:r>
              <a:rPr lang="en-US" sz="1300" dirty="0">
                <a:solidFill>
                  <a:srgbClr val="5B5E6B"/>
                </a:solidFill>
                <a:latin typeface="Calibri" pitchFamily="34" charset="0"/>
                <a:ea typeface="Calibri" pitchFamily="34" charset="-122"/>
                <a:cs typeface="Calibri" pitchFamily="34" charset="-120"/>
              </a:rPr>
              <a:t>Además: las personas del equipo con su rol, tu usuario como propietario del proyecto y una celebración con confeti. Si algo falla, el proyecto a medio crear se borra solo.</a:t>
            </a:r>
            <a:endParaRPr lang="en-US" sz="1300" dirty="0"/>
          </a:p>
        </p:txBody>
      </p:sp>
      <p:sp>
        <p:nvSpPr>
          <p:cNvPr id="23" name="Text 20"/>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Asistente de proyecto</a:t>
            </a:r>
            <a:endParaRPr lang="en-US" sz="1000" dirty="0"/>
          </a:p>
        </p:txBody>
      </p:sp>
      <p:sp>
        <p:nvSpPr>
          <p:cNvPr id="24" name="Text 21"/>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52</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Borrador automático</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Nunca pierdes lo que escribiste</a:t>
            </a:r>
            <a:endParaRPr lang="en-US" sz="1500" dirty="0"/>
          </a:p>
        </p:txBody>
      </p:sp>
      <p:sp>
        <p:nvSpPr>
          <p:cNvPr id="4" name="Shape 2"/>
          <p:cNvSpPr/>
          <p:nvPr/>
        </p:nvSpPr>
        <p:spPr>
          <a:xfrm>
            <a:off x="548640" y="1554480"/>
            <a:ext cx="5410048" cy="2217420"/>
          </a:xfrm>
          <a:prstGeom prst="roundRect">
            <a:avLst>
              <a:gd name="adj" fmla="val 4124"/>
            </a:avLst>
          </a:prstGeom>
          <a:solidFill>
            <a:srgbClr val="F5F6FB"/>
          </a:solidFill>
          <a:ln w="9525">
            <a:solidFill>
              <a:srgbClr val="E3E5EE"/>
            </a:solidFill>
            <a:prstDash val="solid"/>
          </a:ln>
        </p:spPr>
      </p:sp>
      <p:sp>
        <p:nvSpPr>
          <p:cNvPr id="5" name="Shape 3"/>
          <p:cNvSpPr/>
          <p:nvPr/>
        </p:nvSpPr>
        <p:spPr>
          <a:xfrm>
            <a:off x="777240" y="1783080"/>
            <a:ext cx="548640" cy="548640"/>
          </a:xfrm>
          <a:prstGeom prst="ellipse">
            <a:avLst/>
          </a:prstGeom>
          <a:solidFill>
            <a:srgbClr val="E8EAF6"/>
          </a:solidFill>
          <a:ln w="12700">
            <a:solidFill>
              <a:srgbClr val="E8EAF6"/>
            </a:solidFill>
            <a:prstDash val="solid"/>
          </a:ln>
        </p:spPr>
      </p:sp>
      <p:pic>
        <p:nvPicPr>
          <p:cNvPr id="6" name="Image 0" descr="preencoded.png">    </p:cNvPr>
          <p:cNvPicPr>
            <a:picLocks noChangeAspect="1"/>
          </p:cNvPicPr>
          <p:nvPr/>
        </p:nvPicPr>
        <p:blipFill>
          <a:blip r:embed="rId1"/>
          <a:stretch>
            <a:fillRect/>
          </a:stretch>
        </p:blipFill>
        <p:spPr>
          <a:xfrm>
            <a:off x="900684" y="1906524"/>
            <a:ext cx="301752" cy="301752"/>
          </a:xfrm>
          <a:prstGeom prst="rect">
            <a:avLst/>
          </a:prstGeom>
        </p:spPr>
      </p:pic>
      <p:sp>
        <p:nvSpPr>
          <p:cNvPr id="7" name="Text 4"/>
          <p:cNvSpPr txBox="1"/>
          <p:nvPr/>
        </p:nvSpPr>
        <p:spPr>
          <a:xfrm>
            <a:off x="1508760" y="1783080"/>
            <a:ext cx="422132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Guardado continuo</a:t>
            </a:r>
            <a:endParaRPr lang="en-US" sz="1700" dirty="0"/>
          </a:p>
        </p:txBody>
      </p:sp>
      <p:sp>
        <p:nvSpPr>
          <p:cNvPr id="8" name="Text 5"/>
          <p:cNvSpPr txBox="1"/>
          <p:nvPr/>
        </p:nvSpPr>
        <p:spPr>
          <a:xfrm>
            <a:off x="777240" y="2468880"/>
            <a:ext cx="4952848" cy="1165860"/>
          </a:xfrm>
          <a:prstGeom prst="rect">
            <a:avLst/>
          </a:prstGeom>
          <a:noFill/>
          <a:ln/>
        </p:spPr>
        <p:txBody>
          <a:bodyPr wrap="square" lIns="0" tIns="0" rIns="0" bIns="0" rtlCol="0" anchor="t">
            <a:normAutofit/>
          </a:bodyPr>
          <a:lstStyle/>
          <a:p>
            <a:pPr indent="0" marL="0">
              <a:buNone/>
            </a:pPr>
            <a:r>
              <a:rPr lang="en-US" sz="1700" dirty="0">
                <a:solidFill>
                  <a:srgbClr val="5B5E6B"/>
                </a:solidFill>
                <a:latin typeface="Calibri" pitchFamily="34" charset="0"/>
                <a:ea typeface="Calibri" pitchFamily="34" charset="-122"/>
                <a:cs typeface="Calibri" pitchFamily="34" charset="-120"/>
              </a:rPr>
              <a:t>Cada cambio se guarda en el navegador al instante y en tu cuenta cada 1,5 segundos.</a:t>
            </a:r>
            <a:endParaRPr lang="en-US" sz="1700" dirty="0"/>
          </a:p>
        </p:txBody>
      </p:sp>
      <p:sp>
        <p:nvSpPr>
          <p:cNvPr id="9" name="Shape 6"/>
          <p:cNvSpPr/>
          <p:nvPr/>
        </p:nvSpPr>
        <p:spPr>
          <a:xfrm>
            <a:off x="6233008" y="1554480"/>
            <a:ext cx="5410048" cy="2217420"/>
          </a:xfrm>
          <a:prstGeom prst="roundRect">
            <a:avLst>
              <a:gd name="adj" fmla="val 4124"/>
            </a:avLst>
          </a:prstGeom>
          <a:solidFill>
            <a:srgbClr val="F5F6FB"/>
          </a:solidFill>
          <a:ln w="9525">
            <a:solidFill>
              <a:srgbClr val="E3E5EE"/>
            </a:solidFill>
            <a:prstDash val="solid"/>
          </a:ln>
        </p:spPr>
      </p:sp>
      <p:sp>
        <p:nvSpPr>
          <p:cNvPr id="10" name="Shape 7"/>
          <p:cNvSpPr/>
          <p:nvPr/>
        </p:nvSpPr>
        <p:spPr>
          <a:xfrm>
            <a:off x="6461608" y="1783080"/>
            <a:ext cx="548640" cy="548640"/>
          </a:xfrm>
          <a:prstGeom prst="ellipse">
            <a:avLst/>
          </a:prstGeom>
          <a:solidFill>
            <a:srgbClr val="E8EAF6"/>
          </a:solidFill>
          <a:ln w="12700">
            <a:solidFill>
              <a:srgbClr val="E8EAF6"/>
            </a:solidFill>
            <a:prstDash val="solid"/>
          </a:ln>
        </p:spPr>
      </p:sp>
      <p:pic>
        <p:nvPicPr>
          <p:cNvPr id="11" name="Image 1" descr="preencoded.png">    </p:cNvPr>
          <p:cNvPicPr>
            <a:picLocks noChangeAspect="1"/>
          </p:cNvPicPr>
          <p:nvPr/>
        </p:nvPicPr>
        <p:blipFill>
          <a:blip r:embed="rId2"/>
          <a:stretch>
            <a:fillRect/>
          </a:stretch>
        </p:blipFill>
        <p:spPr>
          <a:xfrm>
            <a:off x="6585052" y="1906524"/>
            <a:ext cx="301752" cy="301752"/>
          </a:xfrm>
          <a:prstGeom prst="rect">
            <a:avLst/>
          </a:prstGeom>
        </p:spPr>
      </p:pic>
      <p:sp>
        <p:nvSpPr>
          <p:cNvPr id="12" name="Text 8"/>
          <p:cNvSpPr txBox="1"/>
          <p:nvPr/>
        </p:nvSpPr>
        <p:spPr>
          <a:xfrm>
            <a:off x="7193128" y="1783080"/>
            <a:ext cx="422132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Continúa en otro equipo</a:t>
            </a:r>
            <a:endParaRPr lang="en-US" sz="1700" dirty="0"/>
          </a:p>
        </p:txBody>
      </p:sp>
      <p:sp>
        <p:nvSpPr>
          <p:cNvPr id="13" name="Text 9"/>
          <p:cNvSpPr txBox="1"/>
          <p:nvPr/>
        </p:nvSpPr>
        <p:spPr>
          <a:xfrm>
            <a:off x="6461608" y="2468880"/>
            <a:ext cx="4952848" cy="1165860"/>
          </a:xfrm>
          <a:prstGeom prst="rect">
            <a:avLst/>
          </a:prstGeom>
          <a:noFill/>
          <a:ln/>
        </p:spPr>
        <p:txBody>
          <a:bodyPr wrap="square" lIns="0" tIns="0" rIns="0" bIns="0" rtlCol="0" anchor="t">
            <a:normAutofit/>
          </a:bodyPr>
          <a:lstStyle/>
          <a:p>
            <a:pPr indent="0" marL="0">
              <a:buNone/>
            </a:pPr>
            <a:r>
              <a:rPr lang="en-US" sz="1700" dirty="0">
                <a:solidFill>
                  <a:srgbClr val="5B5E6B"/>
                </a:solidFill>
                <a:latin typeface="Calibri" pitchFamily="34" charset="0"/>
                <a:ea typeface="Calibri" pitchFamily="34" charset="-122"/>
                <a:cs typeface="Calibri" pitchFamily="34" charset="-120"/>
              </a:rPr>
              <a:t>Empieza en la oficina y termina en el celular: el borrador está en tu cuenta.</a:t>
            </a:r>
            <a:endParaRPr lang="en-US" sz="1700" dirty="0"/>
          </a:p>
        </p:txBody>
      </p:sp>
      <p:sp>
        <p:nvSpPr>
          <p:cNvPr id="14" name="Shape 10"/>
          <p:cNvSpPr/>
          <p:nvPr/>
        </p:nvSpPr>
        <p:spPr>
          <a:xfrm>
            <a:off x="548640" y="4046220"/>
            <a:ext cx="5410048" cy="2217420"/>
          </a:xfrm>
          <a:prstGeom prst="roundRect">
            <a:avLst>
              <a:gd name="adj" fmla="val 4124"/>
            </a:avLst>
          </a:prstGeom>
          <a:solidFill>
            <a:srgbClr val="F5F6FB"/>
          </a:solidFill>
          <a:ln w="9525">
            <a:solidFill>
              <a:srgbClr val="E3E5EE"/>
            </a:solidFill>
            <a:prstDash val="solid"/>
          </a:ln>
        </p:spPr>
      </p:sp>
      <p:sp>
        <p:nvSpPr>
          <p:cNvPr id="15" name="Shape 11"/>
          <p:cNvSpPr/>
          <p:nvPr/>
        </p:nvSpPr>
        <p:spPr>
          <a:xfrm>
            <a:off x="777240" y="4274820"/>
            <a:ext cx="548640" cy="548640"/>
          </a:xfrm>
          <a:prstGeom prst="ellipse">
            <a:avLst/>
          </a:prstGeom>
          <a:solidFill>
            <a:srgbClr val="E8EAF6"/>
          </a:solidFill>
          <a:ln w="12700">
            <a:solidFill>
              <a:srgbClr val="E8EAF6"/>
            </a:solidFill>
            <a:prstDash val="solid"/>
          </a:ln>
        </p:spPr>
      </p:sp>
      <p:pic>
        <p:nvPicPr>
          <p:cNvPr id="16" name="Image 2" descr="preencoded.png">    </p:cNvPr>
          <p:cNvPicPr>
            <a:picLocks noChangeAspect="1"/>
          </p:cNvPicPr>
          <p:nvPr/>
        </p:nvPicPr>
        <p:blipFill>
          <a:blip r:embed="rId3"/>
          <a:stretch>
            <a:fillRect/>
          </a:stretch>
        </p:blipFill>
        <p:spPr>
          <a:xfrm>
            <a:off x="900684" y="4398264"/>
            <a:ext cx="301752" cy="301752"/>
          </a:xfrm>
          <a:prstGeom prst="rect">
            <a:avLst/>
          </a:prstGeom>
        </p:spPr>
      </p:pic>
      <p:sp>
        <p:nvSpPr>
          <p:cNvPr id="17" name="Text 12"/>
          <p:cNvSpPr txBox="1"/>
          <p:nvPr/>
        </p:nvSpPr>
        <p:spPr>
          <a:xfrm>
            <a:off x="1508760" y="4274820"/>
            <a:ext cx="422132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Recuperar el borrador</a:t>
            </a:r>
            <a:endParaRPr lang="en-US" sz="1700" dirty="0"/>
          </a:p>
        </p:txBody>
      </p:sp>
      <p:sp>
        <p:nvSpPr>
          <p:cNvPr id="18" name="Text 13"/>
          <p:cNvSpPr txBox="1"/>
          <p:nvPr/>
        </p:nvSpPr>
        <p:spPr>
          <a:xfrm>
            <a:off x="777240" y="4960620"/>
            <a:ext cx="4952848" cy="1165860"/>
          </a:xfrm>
          <a:prstGeom prst="rect">
            <a:avLst/>
          </a:prstGeom>
          <a:noFill/>
          <a:ln/>
        </p:spPr>
        <p:txBody>
          <a:bodyPr wrap="square" lIns="0" tIns="0" rIns="0" bIns="0" rtlCol="0" anchor="t">
            <a:normAutofit/>
          </a:bodyPr>
          <a:lstStyle/>
          <a:p>
            <a:pPr indent="0" marL="0">
              <a:buNone/>
            </a:pPr>
            <a:r>
              <a:rPr lang="en-US" sz="1700" dirty="0">
                <a:solidFill>
                  <a:srgbClr val="5B5E6B"/>
                </a:solidFill>
                <a:latin typeface="Calibri" pitchFamily="34" charset="0"/>
                <a:ea typeface="Calibri" pitchFamily="34" charset="-122"/>
                <a:cs typeface="Calibri" pitchFamily="34" charset="-120"/>
              </a:rPr>
              <a:t>Si vuelves al asistente, un aviso ofrece continuar donde lo dejaste o empezar de cero.</a:t>
            </a:r>
            <a:endParaRPr lang="en-US" sz="1700" dirty="0"/>
          </a:p>
        </p:txBody>
      </p:sp>
      <p:sp>
        <p:nvSpPr>
          <p:cNvPr id="19" name="Shape 14"/>
          <p:cNvSpPr/>
          <p:nvPr/>
        </p:nvSpPr>
        <p:spPr>
          <a:xfrm>
            <a:off x="6233008" y="4046220"/>
            <a:ext cx="5410048" cy="2217420"/>
          </a:xfrm>
          <a:prstGeom prst="roundRect">
            <a:avLst>
              <a:gd name="adj" fmla="val 4124"/>
            </a:avLst>
          </a:prstGeom>
          <a:solidFill>
            <a:srgbClr val="F5F6FB"/>
          </a:solidFill>
          <a:ln w="9525">
            <a:solidFill>
              <a:srgbClr val="E3E5EE"/>
            </a:solidFill>
            <a:prstDash val="solid"/>
          </a:ln>
        </p:spPr>
      </p:sp>
      <p:sp>
        <p:nvSpPr>
          <p:cNvPr id="20" name="Shape 15"/>
          <p:cNvSpPr/>
          <p:nvPr/>
        </p:nvSpPr>
        <p:spPr>
          <a:xfrm>
            <a:off x="6461608" y="4274820"/>
            <a:ext cx="548640" cy="548640"/>
          </a:xfrm>
          <a:prstGeom prst="ellipse">
            <a:avLst/>
          </a:prstGeom>
          <a:solidFill>
            <a:srgbClr val="E8EAF6"/>
          </a:solidFill>
          <a:ln w="12700">
            <a:solidFill>
              <a:srgbClr val="E8EAF6"/>
            </a:solidFill>
            <a:prstDash val="solid"/>
          </a:ln>
        </p:spPr>
      </p:sp>
      <p:pic>
        <p:nvPicPr>
          <p:cNvPr id="21" name="Image 3" descr="preencoded.png">    </p:cNvPr>
          <p:cNvPicPr>
            <a:picLocks noChangeAspect="1"/>
          </p:cNvPicPr>
          <p:nvPr/>
        </p:nvPicPr>
        <p:blipFill>
          <a:blip r:embed="rId4"/>
          <a:stretch>
            <a:fillRect/>
          </a:stretch>
        </p:blipFill>
        <p:spPr>
          <a:xfrm>
            <a:off x="6585052" y="4398264"/>
            <a:ext cx="301752" cy="301752"/>
          </a:xfrm>
          <a:prstGeom prst="rect">
            <a:avLst/>
          </a:prstGeom>
        </p:spPr>
      </p:pic>
      <p:sp>
        <p:nvSpPr>
          <p:cNvPr id="22" name="Text 16"/>
          <p:cNvSpPr txBox="1"/>
          <p:nvPr/>
        </p:nvSpPr>
        <p:spPr>
          <a:xfrm>
            <a:off x="7193128" y="4274820"/>
            <a:ext cx="422132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Se borra al crear</a:t>
            </a:r>
            <a:endParaRPr lang="en-US" sz="1700" dirty="0"/>
          </a:p>
        </p:txBody>
      </p:sp>
      <p:sp>
        <p:nvSpPr>
          <p:cNvPr id="23" name="Text 17"/>
          <p:cNvSpPr txBox="1"/>
          <p:nvPr/>
        </p:nvSpPr>
        <p:spPr>
          <a:xfrm>
            <a:off x="6461608" y="4960620"/>
            <a:ext cx="4952848" cy="1165860"/>
          </a:xfrm>
          <a:prstGeom prst="rect">
            <a:avLst/>
          </a:prstGeom>
          <a:noFill/>
          <a:ln/>
        </p:spPr>
        <p:txBody>
          <a:bodyPr wrap="square" lIns="0" tIns="0" rIns="0" bIns="0" rtlCol="0" anchor="t">
            <a:normAutofit/>
          </a:bodyPr>
          <a:lstStyle/>
          <a:p>
            <a:pPr indent="0" marL="0">
              <a:buNone/>
            </a:pPr>
            <a:r>
              <a:rPr lang="en-US" sz="1700" dirty="0">
                <a:solidFill>
                  <a:srgbClr val="5B5E6B"/>
                </a:solidFill>
                <a:latin typeface="Calibri" pitchFamily="34" charset="0"/>
                <a:ea typeface="Calibri" pitchFamily="34" charset="-122"/>
                <a:cs typeface="Calibri" pitchFamily="34" charset="-120"/>
              </a:rPr>
              <a:t>Al crear el proyecto, el borrador desaparece.</a:t>
            </a:r>
            <a:endParaRPr lang="en-US" sz="1700" dirty="0"/>
          </a:p>
        </p:txBody>
      </p:sp>
      <p:sp>
        <p:nvSpPr>
          <p:cNvPr id="24" name="Text 18"/>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Asistente de proyecto</a:t>
            </a:r>
            <a:endParaRPr lang="en-US" sz="1000" dirty="0"/>
          </a:p>
        </p:txBody>
      </p:sp>
      <p:sp>
        <p:nvSpPr>
          <p:cNvPr id="25" name="Text 19"/>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53</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A1F4B"/>
        </a:solidFill>
      </p:bgPr>
    </p:bg>
    <p:spTree>
      <p:nvGrpSpPr>
        <p:cNvPr id="1" name=""/>
        <p:cNvGrpSpPr/>
        <p:nvPr/>
      </p:nvGrpSpPr>
      <p:grpSpPr>
        <a:xfrm>
          <a:off x="0" y="0"/>
          <a:ext cx="0" cy="0"/>
          <a:chOff x="0" y="0"/>
          <a:chExt cx="0" cy="0"/>
        </a:xfrm>
      </p:grpSpPr>
      <p:sp>
        <p:nvSpPr>
          <p:cNvPr id="2" name="Text 0"/>
          <p:cNvSpPr txBox="1"/>
          <p:nvPr/>
        </p:nvSpPr>
        <p:spPr>
          <a:xfrm>
            <a:off x="548640" y="1188720"/>
            <a:ext cx="2743200" cy="1371600"/>
          </a:xfrm>
          <a:prstGeom prst="rect">
            <a:avLst/>
          </a:prstGeom>
          <a:noFill/>
          <a:ln/>
        </p:spPr>
        <p:txBody>
          <a:bodyPr wrap="square" lIns="0" tIns="0" rIns="0" bIns="0" rtlCol="0" anchor="t"/>
          <a:lstStyle/>
          <a:p>
            <a:pPr indent="0" marL="0">
              <a:buNone/>
            </a:pPr>
            <a:r>
              <a:rPr lang="en-US" sz="9600" b="1" dirty="0">
                <a:solidFill>
                  <a:srgbClr val="FFC107"/>
                </a:solidFill>
                <a:latin typeface="Calibri" pitchFamily="34" charset="0"/>
                <a:ea typeface="Calibri" pitchFamily="34" charset="-122"/>
                <a:cs typeface="Calibri" pitchFamily="34" charset="-120"/>
              </a:rPr>
              <a:t>07</a:t>
            </a:r>
            <a:endParaRPr lang="en-US" sz="9600" dirty="0"/>
          </a:p>
        </p:txBody>
      </p:sp>
      <p:sp>
        <p:nvSpPr>
          <p:cNvPr id="3" name="Text 1"/>
          <p:cNvSpPr txBox="1"/>
          <p:nvPr/>
        </p:nvSpPr>
        <p:spPr>
          <a:xfrm>
            <a:off x="548640" y="2697480"/>
            <a:ext cx="5852160" cy="132588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Dashboard del proyecto</a:t>
            </a:r>
            <a:endParaRPr lang="en-US" sz="3800" dirty="0"/>
          </a:p>
        </p:txBody>
      </p:sp>
      <p:sp>
        <p:nvSpPr>
          <p:cNvPr id="4" name="Text 2"/>
          <p:cNvSpPr txBox="1"/>
          <p:nvPr/>
        </p:nvSpPr>
        <p:spPr>
          <a:xfrm>
            <a:off x="548640" y="4160520"/>
            <a:ext cx="5486400" cy="1097280"/>
          </a:xfrm>
          <a:prstGeom prst="rect">
            <a:avLst/>
          </a:prstGeom>
          <a:noFill/>
          <a:ln/>
        </p:spPr>
        <p:txBody>
          <a:bodyPr wrap="square" lIns="0" tIns="0" rIns="0" bIns="0" rtlCol="0" anchor="t"/>
          <a:lstStyle/>
          <a:p>
            <a:pPr indent="0" marL="0">
              <a:buNone/>
            </a:pPr>
            <a:r>
              <a:rPr lang="en-US" sz="1800" dirty="0">
                <a:solidFill>
                  <a:srgbClr val="C5CAE9"/>
                </a:solidFill>
                <a:latin typeface="Calibri" pitchFamily="34" charset="0"/>
                <a:ea typeface="Calibri" pitchFamily="34" charset="-122"/>
                <a:cs typeface="Calibri" pitchFamily="34" charset="-120"/>
              </a:rPr>
              <a:t>Qué hacer a continuación y cómo vas</a:t>
            </a:r>
            <a:endParaRPr lang="en-US" sz="1800" dirty="0"/>
          </a:p>
        </p:txBody>
      </p:sp>
      <p:sp>
        <p:nvSpPr>
          <p:cNvPr id="5" name="Shape 3"/>
          <p:cNvSpPr/>
          <p:nvPr/>
        </p:nvSpPr>
        <p:spPr>
          <a:xfrm>
            <a:off x="6766560" y="1234440"/>
            <a:ext cx="4892040" cy="4480560"/>
          </a:xfrm>
          <a:prstGeom prst="roundRect">
            <a:avLst>
              <a:gd name="adj" fmla="val 2449"/>
            </a:avLst>
          </a:prstGeom>
          <a:solidFill>
            <a:srgbClr val="252B5E"/>
          </a:solidFill>
          <a:ln w="12700">
            <a:solidFill>
              <a:srgbClr val="3C4488"/>
            </a:solidFill>
            <a:prstDash val="solid"/>
          </a:ln>
        </p:spPr>
      </p:sp>
      <p:sp>
        <p:nvSpPr>
          <p:cNvPr id="6" name="Text 4"/>
          <p:cNvSpPr txBox="1"/>
          <p:nvPr/>
        </p:nvSpPr>
        <p:spPr>
          <a:xfrm>
            <a:off x="7132320" y="1508760"/>
            <a:ext cx="4206240" cy="320040"/>
          </a:xfrm>
          <a:prstGeom prst="rect">
            <a:avLst/>
          </a:prstGeom>
          <a:noFill/>
          <a:ln/>
        </p:spPr>
        <p:txBody>
          <a:bodyPr wrap="square" lIns="0" tIns="0" rIns="0" bIns="0" rtlCol="0" anchor="t"/>
          <a:lstStyle/>
          <a:p>
            <a:pPr indent="0" marL="0">
              <a:buNone/>
            </a:pPr>
            <a:r>
              <a:rPr lang="en-US" sz="1200" b="1" spc="200" kern="0" dirty="0">
                <a:solidFill>
                  <a:srgbClr val="FFC107"/>
                </a:solidFill>
                <a:latin typeface="Calibri" pitchFamily="34" charset="0"/>
                <a:ea typeface="Calibri" pitchFamily="34" charset="-122"/>
                <a:cs typeface="Calibri" pitchFamily="34" charset="-120"/>
              </a:rPr>
              <a:t>EN ESTA SECCIÓN</a:t>
            </a:r>
            <a:endParaRPr lang="en-US" sz="1200" dirty="0"/>
          </a:p>
        </p:txBody>
      </p:sp>
      <p:sp>
        <p:nvSpPr>
          <p:cNvPr id="7" name="Shape 5"/>
          <p:cNvSpPr/>
          <p:nvPr/>
        </p:nvSpPr>
        <p:spPr>
          <a:xfrm>
            <a:off x="7178040" y="2103120"/>
            <a:ext cx="146304" cy="146304"/>
          </a:xfrm>
          <a:prstGeom prst="ellipse">
            <a:avLst/>
          </a:prstGeom>
          <a:solidFill>
            <a:srgbClr val="FFC107"/>
          </a:solidFill>
          <a:ln w="12700">
            <a:solidFill>
              <a:srgbClr val="FFC107"/>
            </a:solidFill>
            <a:prstDash val="solid"/>
          </a:ln>
        </p:spPr>
      </p:sp>
      <p:sp>
        <p:nvSpPr>
          <p:cNvPr id="8" name="Text 6"/>
          <p:cNvSpPr txBox="1"/>
          <p:nvPr/>
        </p:nvSpPr>
        <p:spPr>
          <a:xfrm>
            <a:off x="7498080" y="2011680"/>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Navegación y ayuda del módulo</a:t>
            </a:r>
            <a:endParaRPr lang="en-US" sz="1700" dirty="0"/>
          </a:p>
        </p:txBody>
      </p:sp>
      <p:sp>
        <p:nvSpPr>
          <p:cNvPr id="9" name="Shape 7"/>
          <p:cNvSpPr/>
          <p:nvPr/>
        </p:nvSpPr>
        <p:spPr>
          <a:xfrm>
            <a:off x="7178040" y="2816352"/>
            <a:ext cx="146304" cy="146304"/>
          </a:xfrm>
          <a:prstGeom prst="ellipse">
            <a:avLst/>
          </a:prstGeom>
          <a:solidFill>
            <a:srgbClr val="FFC107"/>
          </a:solidFill>
          <a:ln w="12700">
            <a:solidFill>
              <a:srgbClr val="FFC107"/>
            </a:solidFill>
            <a:prstDash val="solid"/>
          </a:ln>
        </p:spPr>
      </p:sp>
      <p:sp>
        <p:nvSpPr>
          <p:cNvPr id="10" name="Text 8"/>
          <p:cNvSpPr txBox="1"/>
          <p:nvPr/>
        </p:nvSpPr>
        <p:spPr>
          <a:xfrm>
            <a:off x="7498080" y="2724912"/>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«Tu próximo paso»</a:t>
            </a:r>
            <a:endParaRPr lang="en-US" sz="1700" dirty="0"/>
          </a:p>
        </p:txBody>
      </p:sp>
      <p:sp>
        <p:nvSpPr>
          <p:cNvPr id="11" name="Shape 9"/>
          <p:cNvSpPr/>
          <p:nvPr/>
        </p:nvSpPr>
        <p:spPr>
          <a:xfrm>
            <a:off x="7178040" y="3529584"/>
            <a:ext cx="146304" cy="146304"/>
          </a:xfrm>
          <a:prstGeom prst="ellipse">
            <a:avLst/>
          </a:prstGeom>
          <a:solidFill>
            <a:srgbClr val="FFC107"/>
          </a:solidFill>
          <a:ln w="12700">
            <a:solidFill>
              <a:srgbClr val="FFC107"/>
            </a:solidFill>
            <a:prstDash val="solid"/>
          </a:ln>
        </p:spPr>
      </p:sp>
      <p:sp>
        <p:nvSpPr>
          <p:cNvPr id="12" name="Text 10"/>
          <p:cNvSpPr txBox="1"/>
          <p:nvPr/>
        </p:nvSpPr>
        <p:spPr>
          <a:xfrm>
            <a:off x="7498080" y="3438144"/>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Avance por etapa y por fase</a:t>
            </a:r>
            <a:endParaRPr lang="en-US" sz="1700" dirty="0"/>
          </a:p>
        </p:txBody>
      </p:sp>
      <p:sp>
        <p:nvSpPr>
          <p:cNvPr id="13" name="Shape 11"/>
          <p:cNvSpPr/>
          <p:nvPr/>
        </p:nvSpPr>
        <p:spPr>
          <a:xfrm>
            <a:off x="7178040" y="4242816"/>
            <a:ext cx="146304" cy="146304"/>
          </a:xfrm>
          <a:prstGeom prst="ellipse">
            <a:avLst/>
          </a:prstGeom>
          <a:solidFill>
            <a:srgbClr val="FFC107"/>
          </a:solidFill>
          <a:ln w="12700">
            <a:solidFill>
              <a:srgbClr val="FFC107"/>
            </a:solidFill>
            <a:prstDash val="solid"/>
          </a:ln>
        </p:spPr>
      </p:sp>
      <p:sp>
        <p:nvSpPr>
          <p:cNvPr id="14" name="Text 12"/>
          <p:cNvSpPr txBox="1"/>
          <p:nvPr/>
        </p:nvSpPr>
        <p:spPr>
          <a:xfrm>
            <a:off x="7498080" y="4151376"/>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Línea de tiempo de hitos</a:t>
            </a:r>
            <a:endParaRPr lang="en-US" sz="1700" dirty="0"/>
          </a:p>
        </p:txBody>
      </p:sp>
      <p:sp>
        <p:nvSpPr>
          <p:cNvPr id="15" name="Shape 13"/>
          <p:cNvSpPr/>
          <p:nvPr/>
        </p:nvSpPr>
        <p:spPr>
          <a:xfrm>
            <a:off x="7178040" y="4956048"/>
            <a:ext cx="146304" cy="146304"/>
          </a:xfrm>
          <a:prstGeom prst="ellipse">
            <a:avLst/>
          </a:prstGeom>
          <a:solidFill>
            <a:srgbClr val="FFC107"/>
          </a:solidFill>
          <a:ln w="12700">
            <a:solidFill>
              <a:srgbClr val="FFC107"/>
            </a:solidFill>
            <a:prstDash val="solid"/>
          </a:ln>
        </p:spPr>
      </p:sp>
      <p:sp>
        <p:nvSpPr>
          <p:cNvPr id="16" name="Text 14"/>
          <p:cNvSpPr txBox="1"/>
          <p:nvPr/>
        </p:nvSpPr>
        <p:spPr>
          <a:xfrm>
            <a:off x="7498080" y="4864608"/>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Tendencia, insignias y actividad</a:t>
            </a:r>
            <a:endParaRPr lang="en-US" sz="1700" dirty="0"/>
          </a:p>
        </p:txBody>
      </p:sp>
      <p:sp>
        <p:nvSpPr>
          <p:cNvPr id="17" name="Text 15"/>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8C93C9"/>
                </a:solidFill>
                <a:latin typeface="Calibri" pitchFamily="34" charset="0"/>
                <a:ea typeface="Calibri" pitchFamily="34" charset="-122"/>
                <a:cs typeface="Calibri" pitchFamily="34" charset="-120"/>
              </a:rPr>
              <a:t>Aplicación AWP · Dashboard del proyecto</a:t>
            </a:r>
            <a:endParaRPr lang="en-US" sz="1000" dirty="0"/>
          </a:p>
        </p:txBody>
      </p:sp>
      <p:sp>
        <p:nvSpPr>
          <p:cNvPr id="18" name="Text 16"/>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8C93C9"/>
                </a:solidFill>
                <a:latin typeface="Calibri" pitchFamily="34" charset="0"/>
                <a:ea typeface="Calibri" pitchFamily="34" charset="-122"/>
                <a:cs typeface="Calibri" pitchFamily="34" charset="-120"/>
              </a:rPr>
              <a:t>54</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Vista general del proyecto</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Planta de tratamiento de agua Norte (PTN), a 9 meses de su inicio</a:t>
            </a:r>
            <a:endParaRPr lang="en-US" sz="1500" dirty="0"/>
          </a:p>
        </p:txBody>
      </p:sp>
      <p:sp>
        <p:nvSpPr>
          <p:cNvPr id="4" name="Shape 2"/>
          <p:cNvSpPr/>
          <p:nvPr/>
        </p:nvSpPr>
        <p:spPr>
          <a:xfrm>
            <a:off x="4562856" y="1855460"/>
            <a:ext cx="7135063" cy="4061479"/>
          </a:xfrm>
          <a:prstGeom prst="roundRect">
            <a:avLst>
              <a:gd name="adj" fmla="val 1801"/>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proyecto.jpg">    </p:cNvPr>
          <p:cNvPicPr>
            <a:picLocks noChangeAspect="1"/>
          </p:cNvPicPr>
          <p:nvPr/>
        </p:nvPicPr>
        <p:blipFill>
          <a:blip r:embed="rId1"/>
          <a:stretch>
            <a:fillRect/>
          </a:stretch>
        </p:blipFill>
        <p:spPr>
          <a:xfrm>
            <a:off x="4617720" y="1910324"/>
            <a:ext cx="7025335" cy="3951751"/>
          </a:xfrm>
          <a:prstGeom prst="rect">
            <a:avLst/>
          </a:prstGeom>
        </p:spPr>
      </p:pic>
      <p:sp>
        <p:nvSpPr>
          <p:cNvPr id="6" name="Shape 3"/>
          <p:cNvSpPr/>
          <p:nvPr/>
        </p:nvSpPr>
        <p:spPr>
          <a:xfrm>
            <a:off x="548640"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643280" y="1685696"/>
            <a:ext cx="231343" cy="231343"/>
          </a:xfrm>
          <a:prstGeom prst="rect">
            <a:avLst/>
          </a:prstGeom>
        </p:spPr>
      </p:pic>
      <p:sp>
        <p:nvSpPr>
          <p:cNvPr id="8" name="Text 4"/>
          <p:cNvSpPr txBox="1"/>
          <p:nvPr/>
        </p:nvSpPr>
        <p:spPr>
          <a:xfrm>
            <a:off x="1133856" y="157276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Cabecera</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Ruta de migas, nombre, cliente, ubicación, fase en ejecución, semáforo y «Editar proyecto».</a:t>
            </a:r>
            <a:endParaRPr lang="en-US" sz="1500" dirty="0"/>
          </a:p>
        </p:txBody>
      </p:sp>
      <p:sp>
        <p:nvSpPr>
          <p:cNvPr id="9" name="Shape 5"/>
          <p:cNvSpPr/>
          <p:nvPr/>
        </p:nvSpPr>
        <p:spPr>
          <a:xfrm>
            <a:off x="548640" y="2768346"/>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643280" y="2862986"/>
            <a:ext cx="231343" cy="231343"/>
          </a:xfrm>
          <a:prstGeom prst="rect">
            <a:avLst/>
          </a:prstGeom>
        </p:spPr>
      </p:pic>
      <p:sp>
        <p:nvSpPr>
          <p:cNvPr id="11" name="Text 6"/>
          <p:cNvSpPr txBox="1"/>
          <p:nvPr/>
        </p:nvSpPr>
        <p:spPr>
          <a:xfrm>
            <a:off x="1133856" y="275005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Menú lateral</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Módulos agrupados en Proyecto, Planificación, Ejecución y Control.</a:t>
            </a:r>
            <a:endParaRPr lang="en-US" sz="1500" dirty="0"/>
          </a:p>
        </p:txBody>
      </p:sp>
      <p:sp>
        <p:nvSpPr>
          <p:cNvPr id="12" name="Shape 7"/>
          <p:cNvSpPr/>
          <p:nvPr/>
        </p:nvSpPr>
        <p:spPr>
          <a:xfrm>
            <a:off x="548640" y="3945636"/>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643280" y="4040276"/>
            <a:ext cx="231343" cy="231343"/>
          </a:xfrm>
          <a:prstGeom prst="rect">
            <a:avLst/>
          </a:prstGeom>
        </p:spPr>
      </p:pic>
      <p:sp>
        <p:nvSpPr>
          <p:cNvPr id="14" name="Text 8"/>
          <p:cNvSpPr txBox="1"/>
          <p:nvPr/>
        </p:nvSpPr>
        <p:spPr>
          <a:xfrm>
            <a:off x="1133856" y="392734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«Tu próximo paso»</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La acción más urgente, con un botón que lleva a hacerla.</a:t>
            </a:r>
            <a:endParaRPr lang="en-US" sz="1500" dirty="0"/>
          </a:p>
        </p:txBody>
      </p:sp>
      <p:sp>
        <p:nvSpPr>
          <p:cNvPr id="15" name="Shape 9"/>
          <p:cNvSpPr/>
          <p:nvPr/>
        </p:nvSpPr>
        <p:spPr>
          <a:xfrm>
            <a:off x="548640" y="5122926"/>
            <a:ext cx="420624" cy="420624"/>
          </a:xfrm>
          <a:prstGeom prst="ellipse">
            <a:avLst/>
          </a:prstGeom>
          <a:solidFill>
            <a:srgbClr val="E8EAF6"/>
          </a:solidFill>
          <a:ln w="12700">
            <a:solidFill>
              <a:srgbClr val="E8EAF6"/>
            </a:solidFill>
            <a:prstDash val="solid"/>
          </a:ln>
        </p:spPr>
      </p:sp>
      <p:pic>
        <p:nvPicPr>
          <p:cNvPr id="16" name="Image 4" descr="preencoded.png">    </p:cNvPr>
          <p:cNvPicPr>
            <a:picLocks noChangeAspect="1"/>
          </p:cNvPicPr>
          <p:nvPr/>
        </p:nvPicPr>
        <p:blipFill>
          <a:blip r:embed="rId5"/>
          <a:stretch>
            <a:fillRect/>
          </a:stretch>
        </p:blipFill>
        <p:spPr>
          <a:xfrm>
            <a:off x="643280" y="5217566"/>
            <a:ext cx="231343" cy="231343"/>
          </a:xfrm>
          <a:prstGeom prst="rect">
            <a:avLst/>
          </a:prstGeom>
        </p:spPr>
      </p:pic>
      <p:sp>
        <p:nvSpPr>
          <p:cNvPr id="17" name="Text 10"/>
          <p:cNvSpPr txBox="1"/>
          <p:nvPr/>
        </p:nvSpPr>
        <p:spPr>
          <a:xfrm>
            <a:off x="1133856" y="510463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Gráficos</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Anillos por etapa, avance por fase, hitos en el tiempo, tendencia, insignias y actividad.</a:t>
            </a:r>
            <a:endParaRPr lang="en-US" sz="1500" dirty="0"/>
          </a:p>
        </p:txBody>
      </p:sp>
      <p:sp>
        <p:nvSpPr>
          <p:cNvPr id="18" name="Text 11"/>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Dashboard del proyecto</a:t>
            </a:r>
            <a:endParaRPr lang="en-US" sz="1000" dirty="0"/>
          </a:p>
        </p:txBody>
      </p:sp>
      <p:sp>
        <p:nvSpPr>
          <p:cNvPr id="19" name="Text 12"/>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55</a:t>
            </a:r>
            <a:endParaRPr lang="en-US"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Menú lateral de módulos</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Los módulos futuros ya se ven, con la etapa en que llegan</a:t>
            </a:r>
            <a:endParaRPr lang="en-US" sz="1500" dirty="0"/>
          </a:p>
        </p:txBody>
      </p:sp>
      <p:sp>
        <p:nvSpPr>
          <p:cNvPr id="4" name="Shape 2"/>
          <p:cNvSpPr/>
          <p:nvPr/>
        </p:nvSpPr>
        <p:spPr>
          <a:xfrm>
            <a:off x="548640" y="1517904"/>
            <a:ext cx="1590318" cy="4773168"/>
          </a:xfrm>
          <a:prstGeom prst="roundRect">
            <a:avLst>
              <a:gd name="adj" fmla="val 4600"/>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proyecto_lateral.jpg">    </p:cNvPr>
          <p:cNvPicPr>
            <a:picLocks noChangeAspect="1"/>
          </p:cNvPicPr>
          <p:nvPr/>
        </p:nvPicPr>
        <p:blipFill>
          <a:blip r:embed="rId1"/>
          <a:stretch>
            <a:fillRect/>
          </a:stretch>
        </p:blipFill>
        <p:spPr>
          <a:xfrm>
            <a:off x="603504" y="1572768"/>
            <a:ext cx="1480590" cy="4663440"/>
          </a:xfrm>
          <a:prstGeom prst="rect">
            <a:avLst/>
          </a:prstGeom>
        </p:spPr>
      </p:pic>
      <p:sp>
        <p:nvSpPr>
          <p:cNvPr id="6" name="Shape 3"/>
          <p:cNvSpPr/>
          <p:nvPr/>
        </p:nvSpPr>
        <p:spPr>
          <a:xfrm>
            <a:off x="2587014"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2681654" y="1685696"/>
            <a:ext cx="231343" cy="231343"/>
          </a:xfrm>
          <a:prstGeom prst="rect">
            <a:avLst/>
          </a:prstGeom>
        </p:spPr>
      </p:pic>
      <p:sp>
        <p:nvSpPr>
          <p:cNvPr id="8" name="Text 4"/>
          <p:cNvSpPr txBox="1"/>
          <p:nvPr/>
        </p:nvSpPr>
        <p:spPr>
          <a:xfrm>
            <a:off x="3172230" y="1572768"/>
            <a:ext cx="8470825" cy="859536"/>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Proyecto</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Resumen, Fases, Avance AWP e Hitos: disponibles hoy.</a:t>
            </a:r>
            <a:endParaRPr lang="en-US" sz="1500" dirty="0"/>
          </a:p>
        </p:txBody>
      </p:sp>
      <p:sp>
        <p:nvSpPr>
          <p:cNvPr id="9" name="Shape 5"/>
          <p:cNvSpPr/>
          <p:nvPr/>
        </p:nvSpPr>
        <p:spPr>
          <a:xfrm>
            <a:off x="2587014" y="2523744"/>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2681654" y="2618384"/>
            <a:ext cx="231343" cy="231343"/>
          </a:xfrm>
          <a:prstGeom prst="rect">
            <a:avLst/>
          </a:prstGeom>
        </p:spPr>
      </p:pic>
      <p:sp>
        <p:nvSpPr>
          <p:cNvPr id="11" name="Text 6"/>
          <p:cNvSpPr txBox="1"/>
          <p:nvPr/>
        </p:nvSpPr>
        <p:spPr>
          <a:xfrm>
            <a:off x="3172230" y="2505456"/>
            <a:ext cx="8470825" cy="859536"/>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Planificación</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Paquetes y Path of Construction: Etapa 3.</a:t>
            </a:r>
            <a:endParaRPr lang="en-US" sz="1500" dirty="0"/>
          </a:p>
        </p:txBody>
      </p:sp>
      <p:sp>
        <p:nvSpPr>
          <p:cNvPr id="12" name="Shape 7"/>
          <p:cNvSpPr/>
          <p:nvPr/>
        </p:nvSpPr>
        <p:spPr>
          <a:xfrm>
            <a:off x="2587014" y="3456432"/>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2681654" y="3551072"/>
            <a:ext cx="231343" cy="231343"/>
          </a:xfrm>
          <a:prstGeom prst="rect">
            <a:avLst/>
          </a:prstGeom>
        </p:spPr>
      </p:pic>
      <p:sp>
        <p:nvSpPr>
          <p:cNvPr id="14" name="Text 8"/>
          <p:cNvSpPr txBox="1"/>
          <p:nvPr/>
        </p:nvSpPr>
        <p:spPr>
          <a:xfrm>
            <a:off x="3172230" y="3438144"/>
            <a:ext cx="8470825" cy="859536"/>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Ejecución</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Restricciones, Liberación de IWP y Lookahead: Etapa 3.</a:t>
            </a:r>
            <a:endParaRPr lang="en-US" sz="1500" dirty="0"/>
          </a:p>
        </p:txBody>
      </p:sp>
      <p:sp>
        <p:nvSpPr>
          <p:cNvPr id="15" name="Shape 9"/>
          <p:cNvSpPr/>
          <p:nvPr/>
        </p:nvSpPr>
        <p:spPr>
          <a:xfrm>
            <a:off x="2587014" y="4389120"/>
            <a:ext cx="420624" cy="420624"/>
          </a:xfrm>
          <a:prstGeom prst="ellipse">
            <a:avLst/>
          </a:prstGeom>
          <a:solidFill>
            <a:srgbClr val="E8EAF6"/>
          </a:solidFill>
          <a:ln w="12700">
            <a:solidFill>
              <a:srgbClr val="E8EAF6"/>
            </a:solidFill>
            <a:prstDash val="solid"/>
          </a:ln>
        </p:spPr>
      </p:sp>
      <p:pic>
        <p:nvPicPr>
          <p:cNvPr id="16" name="Image 4" descr="preencoded.png">    </p:cNvPr>
          <p:cNvPicPr>
            <a:picLocks noChangeAspect="1"/>
          </p:cNvPicPr>
          <p:nvPr/>
        </p:nvPicPr>
        <p:blipFill>
          <a:blip r:embed="rId5"/>
          <a:stretch>
            <a:fillRect/>
          </a:stretch>
        </p:blipFill>
        <p:spPr>
          <a:xfrm>
            <a:off x="2681654" y="4483760"/>
            <a:ext cx="231343" cy="231343"/>
          </a:xfrm>
          <a:prstGeom prst="rect">
            <a:avLst/>
          </a:prstGeom>
        </p:spPr>
      </p:pic>
      <p:sp>
        <p:nvSpPr>
          <p:cNvPr id="17" name="Text 10"/>
          <p:cNvSpPr txBox="1"/>
          <p:nvPr/>
        </p:nvSpPr>
        <p:spPr>
          <a:xfrm>
            <a:off x="3172230" y="4370832"/>
            <a:ext cx="8470825" cy="859536"/>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Control</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Roles y RACI, Riesgos, Lecciones y KPI: Etapa 4. Documentos: Etapa 5.</a:t>
            </a:r>
            <a:endParaRPr lang="en-US" sz="1500" dirty="0"/>
          </a:p>
        </p:txBody>
      </p:sp>
      <p:sp>
        <p:nvSpPr>
          <p:cNvPr id="18" name="Shape 11"/>
          <p:cNvSpPr/>
          <p:nvPr/>
        </p:nvSpPr>
        <p:spPr>
          <a:xfrm>
            <a:off x="2587014" y="5321808"/>
            <a:ext cx="420624" cy="420624"/>
          </a:xfrm>
          <a:prstGeom prst="ellipse">
            <a:avLst/>
          </a:prstGeom>
          <a:solidFill>
            <a:srgbClr val="E8EAF6"/>
          </a:solidFill>
          <a:ln w="12700">
            <a:solidFill>
              <a:srgbClr val="E8EAF6"/>
            </a:solidFill>
            <a:prstDash val="solid"/>
          </a:ln>
        </p:spPr>
      </p:sp>
      <p:pic>
        <p:nvPicPr>
          <p:cNvPr id="19" name="Image 5" descr="preencoded.png">    </p:cNvPr>
          <p:cNvPicPr>
            <a:picLocks noChangeAspect="1"/>
          </p:cNvPicPr>
          <p:nvPr/>
        </p:nvPicPr>
        <p:blipFill>
          <a:blip r:embed="rId6"/>
          <a:stretch>
            <a:fillRect/>
          </a:stretch>
        </p:blipFill>
        <p:spPr>
          <a:xfrm>
            <a:off x="2681654" y="5416448"/>
            <a:ext cx="231343" cy="231343"/>
          </a:xfrm>
          <a:prstGeom prst="rect">
            <a:avLst/>
          </a:prstGeom>
        </p:spPr>
      </p:pic>
      <p:sp>
        <p:nvSpPr>
          <p:cNvPr id="20" name="Text 12"/>
          <p:cNvSpPr txBox="1"/>
          <p:nvPr/>
        </p:nvSpPr>
        <p:spPr>
          <a:xfrm>
            <a:off x="3172230" y="5303520"/>
            <a:ext cx="8470825" cy="859536"/>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En el celular</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El menú se convierte en pestañas horizontales bajo la cabecera.</a:t>
            </a:r>
            <a:endParaRPr lang="en-US" sz="1500" dirty="0"/>
          </a:p>
        </p:txBody>
      </p:sp>
      <p:sp>
        <p:nvSpPr>
          <p:cNvPr id="21" name="Text 13"/>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Dashboard del proyecto</a:t>
            </a:r>
            <a:endParaRPr lang="en-US" sz="1000" dirty="0"/>
          </a:p>
        </p:txBody>
      </p:sp>
      <p:sp>
        <p:nvSpPr>
          <p:cNvPr id="22" name="Text 14"/>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56</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«¿Qué es esto y para qué sirve?»</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Cada módulo explica su propósito con un ejemplo y un consejo práctico</a:t>
            </a:r>
            <a:endParaRPr lang="en-US" sz="1500" dirty="0"/>
          </a:p>
        </p:txBody>
      </p:sp>
      <p:sp>
        <p:nvSpPr>
          <p:cNvPr id="4" name="Shape 2"/>
          <p:cNvSpPr/>
          <p:nvPr/>
        </p:nvSpPr>
        <p:spPr>
          <a:xfrm>
            <a:off x="548640" y="3250910"/>
            <a:ext cx="7059168" cy="1307157"/>
          </a:xfrm>
          <a:prstGeom prst="roundRect">
            <a:avLst>
              <a:gd name="adj" fmla="val 5596"/>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proyecto_ayuda.jpg">    </p:cNvPr>
          <p:cNvPicPr>
            <a:picLocks noChangeAspect="1"/>
          </p:cNvPicPr>
          <p:nvPr/>
        </p:nvPicPr>
        <p:blipFill>
          <a:blip r:embed="rId1"/>
          <a:stretch>
            <a:fillRect/>
          </a:stretch>
        </p:blipFill>
        <p:spPr>
          <a:xfrm>
            <a:off x="603504" y="3305774"/>
            <a:ext cx="6949440" cy="1197429"/>
          </a:xfrm>
          <a:prstGeom prst="rect">
            <a:avLst/>
          </a:prstGeom>
        </p:spPr>
      </p:pic>
      <p:sp>
        <p:nvSpPr>
          <p:cNvPr id="6" name="Shape 3"/>
          <p:cNvSpPr/>
          <p:nvPr/>
        </p:nvSpPr>
        <p:spPr>
          <a:xfrm>
            <a:off x="8055864"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8150504" y="1685696"/>
            <a:ext cx="231343" cy="231343"/>
          </a:xfrm>
          <a:prstGeom prst="rect">
            <a:avLst/>
          </a:prstGeom>
        </p:spPr>
      </p:pic>
      <p:sp>
        <p:nvSpPr>
          <p:cNvPr id="8" name="Text 4"/>
          <p:cNvSpPr txBox="1"/>
          <p:nvPr/>
        </p:nvSpPr>
        <p:spPr>
          <a:xfrm>
            <a:off x="8641080" y="1572768"/>
            <a:ext cx="3001975" cy="859536"/>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Qué es</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Una frase: «El dashboard del proyecto: cuánto avanzó la implementación, qué hitos vienen y qué hacer a continuación».</a:t>
            </a:r>
            <a:endParaRPr lang="en-US" sz="1500" dirty="0"/>
          </a:p>
        </p:txBody>
      </p:sp>
      <p:sp>
        <p:nvSpPr>
          <p:cNvPr id="9" name="Shape 5"/>
          <p:cNvSpPr/>
          <p:nvPr/>
        </p:nvSpPr>
        <p:spPr>
          <a:xfrm>
            <a:off x="8055864" y="2523744"/>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8150504" y="2618384"/>
            <a:ext cx="231343" cy="231343"/>
          </a:xfrm>
          <a:prstGeom prst="rect">
            <a:avLst/>
          </a:prstGeom>
        </p:spPr>
      </p:pic>
      <p:sp>
        <p:nvSpPr>
          <p:cNvPr id="11" name="Text 6"/>
          <p:cNvSpPr txBox="1"/>
          <p:nvPr/>
        </p:nvSpPr>
        <p:spPr>
          <a:xfrm>
            <a:off x="8641080" y="2505456"/>
            <a:ext cx="3001975" cy="859536"/>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Ejemplo</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Un caso concreto del proyecto tipo.</a:t>
            </a:r>
            <a:endParaRPr lang="en-US" sz="1500" dirty="0"/>
          </a:p>
        </p:txBody>
      </p:sp>
      <p:sp>
        <p:nvSpPr>
          <p:cNvPr id="12" name="Shape 7"/>
          <p:cNvSpPr/>
          <p:nvPr/>
        </p:nvSpPr>
        <p:spPr>
          <a:xfrm>
            <a:off x="8055864" y="3456432"/>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8150504" y="3551072"/>
            <a:ext cx="231343" cy="231343"/>
          </a:xfrm>
          <a:prstGeom prst="rect">
            <a:avLst/>
          </a:prstGeom>
        </p:spPr>
      </p:pic>
      <p:sp>
        <p:nvSpPr>
          <p:cNvPr id="14" name="Text 8"/>
          <p:cNvSpPr txBox="1"/>
          <p:nvPr/>
        </p:nvSpPr>
        <p:spPr>
          <a:xfrm>
            <a:off x="8641080" y="3438144"/>
            <a:ext cx="3001975" cy="859536"/>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Consejo práctico</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«Empieza cada semana por Tu próximo paso.»</a:t>
            </a:r>
            <a:endParaRPr lang="en-US" sz="1500" dirty="0"/>
          </a:p>
        </p:txBody>
      </p:sp>
      <p:sp>
        <p:nvSpPr>
          <p:cNvPr id="15" name="Shape 9"/>
          <p:cNvSpPr/>
          <p:nvPr/>
        </p:nvSpPr>
        <p:spPr>
          <a:xfrm>
            <a:off x="8055864" y="4389120"/>
            <a:ext cx="420624" cy="420624"/>
          </a:xfrm>
          <a:prstGeom prst="ellipse">
            <a:avLst/>
          </a:prstGeom>
          <a:solidFill>
            <a:srgbClr val="E8EAF6"/>
          </a:solidFill>
          <a:ln w="12700">
            <a:solidFill>
              <a:srgbClr val="E8EAF6"/>
            </a:solidFill>
            <a:prstDash val="solid"/>
          </a:ln>
        </p:spPr>
      </p:sp>
      <p:pic>
        <p:nvPicPr>
          <p:cNvPr id="16" name="Image 4" descr="preencoded.png">    </p:cNvPr>
          <p:cNvPicPr>
            <a:picLocks noChangeAspect="1"/>
          </p:cNvPicPr>
          <p:nvPr/>
        </p:nvPicPr>
        <p:blipFill>
          <a:blip r:embed="rId5"/>
          <a:stretch>
            <a:fillRect/>
          </a:stretch>
        </p:blipFill>
        <p:spPr>
          <a:xfrm>
            <a:off x="8150504" y="4483760"/>
            <a:ext cx="231343" cy="231343"/>
          </a:xfrm>
          <a:prstGeom prst="rect">
            <a:avLst/>
          </a:prstGeom>
        </p:spPr>
      </p:pic>
      <p:sp>
        <p:nvSpPr>
          <p:cNvPr id="17" name="Text 10"/>
          <p:cNvSpPr txBox="1"/>
          <p:nvPr/>
        </p:nvSpPr>
        <p:spPr>
          <a:xfrm>
            <a:off x="8641080" y="4370832"/>
            <a:ext cx="3001975" cy="859536"/>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Enlaces de contexto</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Plantilla o documento del kit y módulo de la presentación relacionados.</a:t>
            </a:r>
            <a:endParaRPr lang="en-US" sz="1500" dirty="0"/>
          </a:p>
        </p:txBody>
      </p:sp>
      <p:sp>
        <p:nvSpPr>
          <p:cNvPr id="18" name="Shape 11"/>
          <p:cNvSpPr/>
          <p:nvPr/>
        </p:nvSpPr>
        <p:spPr>
          <a:xfrm>
            <a:off x="8055864" y="5321808"/>
            <a:ext cx="420624" cy="420624"/>
          </a:xfrm>
          <a:prstGeom prst="ellipse">
            <a:avLst/>
          </a:prstGeom>
          <a:solidFill>
            <a:srgbClr val="E8EAF6"/>
          </a:solidFill>
          <a:ln w="12700">
            <a:solidFill>
              <a:srgbClr val="E8EAF6"/>
            </a:solidFill>
            <a:prstDash val="solid"/>
          </a:ln>
        </p:spPr>
      </p:sp>
      <p:pic>
        <p:nvPicPr>
          <p:cNvPr id="19" name="Image 5" descr="preencoded.png">    </p:cNvPr>
          <p:cNvPicPr>
            <a:picLocks noChangeAspect="1"/>
          </p:cNvPicPr>
          <p:nvPr/>
        </p:nvPicPr>
        <p:blipFill>
          <a:blip r:embed="rId6"/>
          <a:stretch>
            <a:fillRect/>
          </a:stretch>
        </p:blipFill>
        <p:spPr>
          <a:xfrm>
            <a:off x="8150504" y="5416448"/>
            <a:ext cx="231343" cy="231343"/>
          </a:xfrm>
          <a:prstGeom prst="rect">
            <a:avLst/>
          </a:prstGeom>
        </p:spPr>
      </p:pic>
      <p:sp>
        <p:nvSpPr>
          <p:cNvPr id="20" name="Text 12"/>
          <p:cNvSpPr txBox="1"/>
          <p:nvPr/>
        </p:nvSpPr>
        <p:spPr>
          <a:xfrm>
            <a:off x="8641080" y="5303520"/>
            <a:ext cx="3001975" cy="859536"/>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Se puede cerrar</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Queda plegado y la aplicación lo recuerda.</a:t>
            </a:r>
            <a:endParaRPr lang="en-US" sz="1500" dirty="0"/>
          </a:p>
        </p:txBody>
      </p:sp>
      <p:sp>
        <p:nvSpPr>
          <p:cNvPr id="21" name="Text 13"/>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Dashboard del proyecto</a:t>
            </a:r>
            <a:endParaRPr lang="en-US" sz="1000" dirty="0"/>
          </a:p>
        </p:txBody>
      </p:sp>
      <p:sp>
        <p:nvSpPr>
          <p:cNvPr id="22" name="Text 14"/>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57</a:t>
            </a:r>
            <a:endParaRPr lang="en-US" sz="1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«Tu próximo paso»</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Una sola acción, la más urgente, con un botón para hacerla</a:t>
            </a:r>
            <a:endParaRPr lang="en-US" sz="1500" dirty="0"/>
          </a:p>
        </p:txBody>
      </p:sp>
      <p:sp>
        <p:nvSpPr>
          <p:cNvPr id="4" name="Shape 2"/>
          <p:cNvSpPr/>
          <p:nvPr/>
        </p:nvSpPr>
        <p:spPr>
          <a:xfrm>
            <a:off x="737464" y="1517904"/>
            <a:ext cx="10716768" cy="1226259"/>
          </a:xfrm>
          <a:prstGeom prst="roundRect">
            <a:avLst>
              <a:gd name="adj" fmla="val 5965"/>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proyecto_proximo.jpg">    </p:cNvPr>
          <p:cNvPicPr>
            <a:picLocks noChangeAspect="1"/>
          </p:cNvPicPr>
          <p:nvPr/>
        </p:nvPicPr>
        <p:blipFill>
          <a:blip r:embed="rId1"/>
          <a:stretch>
            <a:fillRect/>
          </a:stretch>
        </p:blipFill>
        <p:spPr>
          <a:xfrm>
            <a:off x="792328" y="1572768"/>
            <a:ext cx="10607040" cy="1116531"/>
          </a:xfrm>
          <a:prstGeom prst="rect">
            <a:avLst/>
          </a:prstGeom>
        </p:spPr>
      </p:pic>
      <p:sp>
        <p:nvSpPr>
          <p:cNvPr id="6" name="Shape 3"/>
          <p:cNvSpPr/>
          <p:nvPr/>
        </p:nvSpPr>
        <p:spPr>
          <a:xfrm>
            <a:off x="548640" y="3055059"/>
            <a:ext cx="2602154" cy="2011680"/>
          </a:xfrm>
          <a:prstGeom prst="roundRect">
            <a:avLst>
              <a:gd name="adj" fmla="val 4545"/>
            </a:avLst>
          </a:prstGeom>
          <a:solidFill>
            <a:srgbClr val="F5F6FB"/>
          </a:solidFill>
          <a:ln w="9525">
            <a:solidFill>
              <a:srgbClr val="E3E5EE"/>
            </a:solidFill>
            <a:prstDash val="solid"/>
          </a:ln>
        </p:spPr>
      </p:sp>
      <p:sp>
        <p:nvSpPr>
          <p:cNvPr id="7" name="Shape 4"/>
          <p:cNvSpPr/>
          <p:nvPr/>
        </p:nvSpPr>
        <p:spPr>
          <a:xfrm>
            <a:off x="731520" y="3237939"/>
            <a:ext cx="420624" cy="420624"/>
          </a:xfrm>
          <a:prstGeom prst="ellipse">
            <a:avLst/>
          </a:prstGeom>
          <a:solidFill>
            <a:srgbClr val="E8EAF6"/>
          </a:solidFill>
          <a:ln w="12700">
            <a:solidFill>
              <a:srgbClr val="E8EAF6"/>
            </a:solidFill>
            <a:prstDash val="solid"/>
          </a:ln>
        </p:spPr>
      </p:sp>
      <p:pic>
        <p:nvPicPr>
          <p:cNvPr id="8" name="Image 1" descr="preencoded.png">    </p:cNvPr>
          <p:cNvPicPr>
            <a:picLocks noChangeAspect="1"/>
          </p:cNvPicPr>
          <p:nvPr/>
        </p:nvPicPr>
        <p:blipFill>
          <a:blip r:embed="rId2"/>
          <a:stretch>
            <a:fillRect/>
          </a:stretch>
        </p:blipFill>
        <p:spPr>
          <a:xfrm>
            <a:off x="826160" y="3332579"/>
            <a:ext cx="231343" cy="231343"/>
          </a:xfrm>
          <a:prstGeom prst="rect">
            <a:avLst/>
          </a:prstGeom>
        </p:spPr>
      </p:pic>
      <p:sp>
        <p:nvSpPr>
          <p:cNvPr id="9" name="Text 5"/>
          <p:cNvSpPr txBox="1"/>
          <p:nvPr/>
        </p:nvSpPr>
        <p:spPr>
          <a:xfrm>
            <a:off x="731520" y="3786579"/>
            <a:ext cx="2236394" cy="1143000"/>
          </a:xfrm>
          <a:prstGeom prst="rect">
            <a:avLst/>
          </a:prstGeom>
          <a:noFill/>
          <a:ln/>
        </p:spPr>
        <p:txBody>
          <a:bodyPr wrap="square" lIns="0" tIns="0" rIns="0" bIns="0" rtlCol="0" anchor="t">
            <a:normAutofit/>
          </a:bodyPr>
          <a:lstStyle/>
          <a:p>
            <a:pPr indent="0" marL="0">
              <a:buNone/>
            </a:pPr>
            <a:r>
              <a:rPr lang="en-US" sz="1550" b="1" dirty="0">
                <a:solidFill>
                  <a:srgbClr val="1B1C22"/>
                </a:solidFill>
                <a:latin typeface="Calibri" pitchFamily="34" charset="0"/>
                <a:ea typeface="Calibri" pitchFamily="34" charset="-122"/>
                <a:cs typeface="Calibri" pitchFamily="34" charset="-120"/>
              </a:rPr>
              <a:t>Qué</a:t>
            </a:r>
            <a:endParaRPr lang="en-US" sz="1550" dirty="0"/>
          </a:p>
          <a:p>
            <a:pPr indent="0" marL="0">
              <a:buNone/>
            </a:pPr>
            <a:r>
              <a:rPr lang="en-US" sz="1400" dirty="0">
                <a:solidFill>
                  <a:srgbClr val="5B5E6B"/>
                </a:solidFill>
                <a:latin typeface="Calibri" pitchFamily="34" charset="0"/>
                <a:ea typeface="Calibri" pitchFamily="34" charset="-122"/>
                <a:cs typeface="Calibri" pitchFamily="34" charset="-120"/>
              </a:rPr>
              <a:t>«Revisa el hito H1 · CWA definidas de la Fase 2».</a:t>
            </a:r>
            <a:endParaRPr lang="en-US" sz="1550" dirty="0"/>
          </a:p>
        </p:txBody>
      </p:sp>
      <p:sp>
        <p:nvSpPr>
          <p:cNvPr id="10" name="Shape 6"/>
          <p:cNvSpPr/>
          <p:nvPr/>
        </p:nvSpPr>
        <p:spPr>
          <a:xfrm>
            <a:off x="3379394" y="3055059"/>
            <a:ext cx="2602154" cy="2011680"/>
          </a:xfrm>
          <a:prstGeom prst="roundRect">
            <a:avLst>
              <a:gd name="adj" fmla="val 4545"/>
            </a:avLst>
          </a:prstGeom>
          <a:solidFill>
            <a:srgbClr val="F5F6FB"/>
          </a:solidFill>
          <a:ln w="9525">
            <a:solidFill>
              <a:srgbClr val="E3E5EE"/>
            </a:solidFill>
            <a:prstDash val="solid"/>
          </a:ln>
        </p:spPr>
      </p:sp>
      <p:sp>
        <p:nvSpPr>
          <p:cNvPr id="11" name="Shape 7"/>
          <p:cNvSpPr/>
          <p:nvPr/>
        </p:nvSpPr>
        <p:spPr>
          <a:xfrm>
            <a:off x="3562274" y="3237939"/>
            <a:ext cx="420624" cy="420624"/>
          </a:xfrm>
          <a:prstGeom prst="ellipse">
            <a:avLst/>
          </a:prstGeom>
          <a:solidFill>
            <a:srgbClr val="E8EAF6"/>
          </a:solidFill>
          <a:ln w="12700">
            <a:solidFill>
              <a:srgbClr val="E8EAF6"/>
            </a:solidFill>
            <a:prstDash val="solid"/>
          </a:ln>
        </p:spPr>
      </p:sp>
      <p:pic>
        <p:nvPicPr>
          <p:cNvPr id="12" name="Image 2" descr="preencoded.png">    </p:cNvPr>
          <p:cNvPicPr>
            <a:picLocks noChangeAspect="1"/>
          </p:cNvPicPr>
          <p:nvPr/>
        </p:nvPicPr>
        <p:blipFill>
          <a:blip r:embed="rId3"/>
          <a:stretch>
            <a:fillRect/>
          </a:stretch>
        </p:blipFill>
        <p:spPr>
          <a:xfrm>
            <a:off x="3656914" y="3332579"/>
            <a:ext cx="231343" cy="231343"/>
          </a:xfrm>
          <a:prstGeom prst="rect">
            <a:avLst/>
          </a:prstGeom>
        </p:spPr>
      </p:pic>
      <p:sp>
        <p:nvSpPr>
          <p:cNvPr id="13" name="Text 8"/>
          <p:cNvSpPr txBox="1"/>
          <p:nvPr/>
        </p:nvSpPr>
        <p:spPr>
          <a:xfrm>
            <a:off x="3562274" y="3786579"/>
            <a:ext cx="2236394" cy="1143000"/>
          </a:xfrm>
          <a:prstGeom prst="rect">
            <a:avLst/>
          </a:prstGeom>
          <a:noFill/>
          <a:ln/>
        </p:spPr>
        <p:txBody>
          <a:bodyPr wrap="square" lIns="0" tIns="0" rIns="0" bIns="0" rtlCol="0" anchor="t">
            <a:normAutofit/>
          </a:bodyPr>
          <a:lstStyle/>
          <a:p>
            <a:pPr indent="0" marL="0">
              <a:buNone/>
            </a:pPr>
            <a:r>
              <a:rPr lang="en-US" sz="1550" b="1" dirty="0">
                <a:solidFill>
                  <a:srgbClr val="1B1C22"/>
                </a:solidFill>
                <a:latin typeface="Calibri" pitchFamily="34" charset="0"/>
                <a:ea typeface="Calibri" pitchFamily="34" charset="-122"/>
                <a:cs typeface="Calibri" pitchFamily="34" charset="-120"/>
              </a:rPr>
              <a:t>Por qué</a:t>
            </a:r>
            <a:endParaRPr lang="en-US" sz="1550" dirty="0"/>
          </a:p>
          <a:p>
            <a:pPr indent="0" marL="0">
              <a:buNone/>
            </a:pPr>
            <a:r>
              <a:rPr lang="en-US" sz="1400" dirty="0">
                <a:solidFill>
                  <a:srgbClr val="5B5E6B"/>
                </a:solidFill>
                <a:latin typeface="Calibri" pitchFamily="34" charset="0"/>
                <a:ea typeface="Calibri" pitchFamily="34" charset="-122"/>
                <a:cs typeface="Calibri" pitchFamily="34" charset="-120"/>
              </a:rPr>
              <a:t>«Debía cumplirse el 04/06/2026 (hace 117 días). Hay 6 hitos atrasados.»</a:t>
            </a:r>
            <a:endParaRPr lang="en-US" sz="1550" dirty="0"/>
          </a:p>
        </p:txBody>
      </p:sp>
      <p:sp>
        <p:nvSpPr>
          <p:cNvPr id="14" name="Shape 9"/>
          <p:cNvSpPr/>
          <p:nvPr/>
        </p:nvSpPr>
        <p:spPr>
          <a:xfrm>
            <a:off x="6210148" y="3055059"/>
            <a:ext cx="2602154" cy="2011680"/>
          </a:xfrm>
          <a:prstGeom prst="roundRect">
            <a:avLst>
              <a:gd name="adj" fmla="val 4545"/>
            </a:avLst>
          </a:prstGeom>
          <a:solidFill>
            <a:srgbClr val="F5F6FB"/>
          </a:solidFill>
          <a:ln w="9525">
            <a:solidFill>
              <a:srgbClr val="E3E5EE"/>
            </a:solidFill>
            <a:prstDash val="solid"/>
          </a:ln>
        </p:spPr>
      </p:sp>
      <p:sp>
        <p:nvSpPr>
          <p:cNvPr id="15" name="Shape 10"/>
          <p:cNvSpPr/>
          <p:nvPr/>
        </p:nvSpPr>
        <p:spPr>
          <a:xfrm>
            <a:off x="6393028" y="3237939"/>
            <a:ext cx="420624" cy="420624"/>
          </a:xfrm>
          <a:prstGeom prst="ellipse">
            <a:avLst/>
          </a:prstGeom>
          <a:solidFill>
            <a:srgbClr val="E8EAF6"/>
          </a:solidFill>
          <a:ln w="12700">
            <a:solidFill>
              <a:srgbClr val="E8EAF6"/>
            </a:solidFill>
            <a:prstDash val="solid"/>
          </a:ln>
        </p:spPr>
      </p:sp>
      <p:pic>
        <p:nvPicPr>
          <p:cNvPr id="16" name="Image 3" descr="preencoded.png">    </p:cNvPr>
          <p:cNvPicPr>
            <a:picLocks noChangeAspect="1"/>
          </p:cNvPicPr>
          <p:nvPr/>
        </p:nvPicPr>
        <p:blipFill>
          <a:blip r:embed="rId4"/>
          <a:stretch>
            <a:fillRect/>
          </a:stretch>
        </p:blipFill>
        <p:spPr>
          <a:xfrm>
            <a:off x="6487668" y="3332579"/>
            <a:ext cx="231343" cy="231343"/>
          </a:xfrm>
          <a:prstGeom prst="rect">
            <a:avLst/>
          </a:prstGeom>
        </p:spPr>
      </p:pic>
      <p:sp>
        <p:nvSpPr>
          <p:cNvPr id="17" name="Text 11"/>
          <p:cNvSpPr txBox="1"/>
          <p:nvPr/>
        </p:nvSpPr>
        <p:spPr>
          <a:xfrm>
            <a:off x="6393028" y="3786579"/>
            <a:ext cx="2236394" cy="1143000"/>
          </a:xfrm>
          <a:prstGeom prst="rect">
            <a:avLst/>
          </a:prstGeom>
          <a:noFill/>
          <a:ln/>
        </p:spPr>
        <p:txBody>
          <a:bodyPr wrap="square" lIns="0" tIns="0" rIns="0" bIns="0" rtlCol="0" anchor="t">
            <a:normAutofit/>
          </a:bodyPr>
          <a:lstStyle/>
          <a:p>
            <a:pPr indent="0" marL="0">
              <a:buNone/>
            </a:pPr>
            <a:r>
              <a:rPr lang="en-US" sz="1550" b="1" dirty="0">
                <a:solidFill>
                  <a:srgbClr val="1B1C22"/>
                </a:solidFill>
                <a:latin typeface="Calibri" pitchFamily="34" charset="0"/>
                <a:ea typeface="Calibri" pitchFamily="34" charset="-122"/>
                <a:cs typeface="Calibri" pitchFamily="34" charset="-120"/>
              </a:rPr>
              <a:t>Cómo</a:t>
            </a:r>
            <a:endParaRPr lang="en-US" sz="1550" dirty="0"/>
          </a:p>
          <a:p>
            <a:pPr indent="0" marL="0">
              <a:buNone/>
            </a:pPr>
            <a:r>
              <a:rPr lang="en-US" sz="1400" dirty="0">
                <a:solidFill>
                  <a:srgbClr val="5B5E6B"/>
                </a:solidFill>
                <a:latin typeface="Calibri" pitchFamily="34" charset="0"/>
                <a:ea typeface="Calibri" pitchFamily="34" charset="-122"/>
                <a:cs typeface="Calibri" pitchFamily="34" charset="-120"/>
              </a:rPr>
              <a:t>«Registra la evidencia si ya se cumplió o actualiza su fecha plan.»</a:t>
            </a:r>
            <a:endParaRPr lang="en-US" sz="1550" dirty="0"/>
          </a:p>
        </p:txBody>
      </p:sp>
      <p:sp>
        <p:nvSpPr>
          <p:cNvPr id="18" name="Shape 12"/>
          <p:cNvSpPr/>
          <p:nvPr/>
        </p:nvSpPr>
        <p:spPr>
          <a:xfrm>
            <a:off x="9040901" y="3055059"/>
            <a:ext cx="2602154" cy="2011680"/>
          </a:xfrm>
          <a:prstGeom prst="roundRect">
            <a:avLst>
              <a:gd name="adj" fmla="val 4545"/>
            </a:avLst>
          </a:prstGeom>
          <a:solidFill>
            <a:srgbClr val="F5F6FB"/>
          </a:solidFill>
          <a:ln w="9525">
            <a:solidFill>
              <a:srgbClr val="E3E5EE"/>
            </a:solidFill>
            <a:prstDash val="solid"/>
          </a:ln>
        </p:spPr>
      </p:sp>
      <p:sp>
        <p:nvSpPr>
          <p:cNvPr id="19" name="Shape 13"/>
          <p:cNvSpPr/>
          <p:nvPr/>
        </p:nvSpPr>
        <p:spPr>
          <a:xfrm>
            <a:off x="9223781" y="3237939"/>
            <a:ext cx="420624" cy="420624"/>
          </a:xfrm>
          <a:prstGeom prst="ellipse">
            <a:avLst/>
          </a:prstGeom>
          <a:solidFill>
            <a:srgbClr val="E8EAF6"/>
          </a:solidFill>
          <a:ln w="12700">
            <a:solidFill>
              <a:srgbClr val="E8EAF6"/>
            </a:solidFill>
            <a:prstDash val="solid"/>
          </a:ln>
        </p:spPr>
      </p:sp>
      <p:pic>
        <p:nvPicPr>
          <p:cNvPr id="20" name="Image 4" descr="preencoded.png">    </p:cNvPr>
          <p:cNvPicPr>
            <a:picLocks noChangeAspect="1"/>
          </p:cNvPicPr>
          <p:nvPr/>
        </p:nvPicPr>
        <p:blipFill>
          <a:blip r:embed="rId5"/>
          <a:stretch>
            <a:fillRect/>
          </a:stretch>
        </p:blipFill>
        <p:spPr>
          <a:xfrm>
            <a:off x="9318422" y="3332579"/>
            <a:ext cx="231343" cy="231343"/>
          </a:xfrm>
          <a:prstGeom prst="rect">
            <a:avLst/>
          </a:prstGeom>
        </p:spPr>
      </p:pic>
      <p:sp>
        <p:nvSpPr>
          <p:cNvPr id="21" name="Text 14"/>
          <p:cNvSpPr txBox="1"/>
          <p:nvPr/>
        </p:nvSpPr>
        <p:spPr>
          <a:xfrm>
            <a:off x="9223781" y="3786579"/>
            <a:ext cx="2236394" cy="1143000"/>
          </a:xfrm>
          <a:prstGeom prst="rect">
            <a:avLst/>
          </a:prstGeom>
          <a:noFill/>
          <a:ln/>
        </p:spPr>
        <p:txBody>
          <a:bodyPr wrap="square" lIns="0" tIns="0" rIns="0" bIns="0" rtlCol="0" anchor="t">
            <a:normAutofit/>
          </a:bodyPr>
          <a:lstStyle/>
          <a:p>
            <a:pPr indent="0" marL="0">
              <a:buNone/>
            </a:pPr>
            <a:r>
              <a:rPr lang="en-US" sz="1550" b="1" dirty="0">
                <a:solidFill>
                  <a:srgbClr val="1B1C22"/>
                </a:solidFill>
                <a:latin typeface="Calibri" pitchFamily="34" charset="0"/>
                <a:ea typeface="Calibri" pitchFamily="34" charset="-122"/>
                <a:cs typeface="Calibri" pitchFamily="34" charset="-120"/>
              </a:rPr>
              <a:t>Botón</a:t>
            </a:r>
            <a:endParaRPr lang="en-US" sz="1550" dirty="0"/>
          </a:p>
          <a:p>
            <a:pPr indent="0" marL="0">
              <a:buNone/>
            </a:pPr>
            <a:r>
              <a:rPr lang="en-US" sz="1400" dirty="0">
                <a:solidFill>
                  <a:srgbClr val="5B5E6B"/>
                </a:solidFill>
                <a:latin typeface="Calibri" pitchFamily="34" charset="0"/>
                <a:ea typeface="Calibri" pitchFamily="34" charset="-122"/>
                <a:cs typeface="Calibri" pitchFamily="34" charset="-120"/>
              </a:rPr>
              <a:t>«Ver hitos» abre la lista ya filtrada en atrasados.</a:t>
            </a:r>
            <a:endParaRPr lang="en-US" sz="1550" dirty="0"/>
          </a:p>
        </p:txBody>
      </p:sp>
      <p:sp>
        <p:nvSpPr>
          <p:cNvPr id="22" name="Text 15"/>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Dashboard del proyecto</a:t>
            </a:r>
            <a:endParaRPr lang="en-US" sz="1000" dirty="0"/>
          </a:p>
        </p:txBody>
      </p:sp>
      <p:sp>
        <p:nvSpPr>
          <p:cNvPr id="23" name="Text 16"/>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58</a:t>
            </a:r>
            <a:endParaRPr lang="en-US" sz="1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Cómo decide «Tu próximo paso»</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Reglas en orden de prioridad: se muestra la primera que se cumple</a:t>
            </a:r>
            <a:endParaRPr lang="en-US" sz="1500" dirty="0"/>
          </a:p>
        </p:txBody>
      </p:sp>
      <p:sp>
        <p:nvSpPr>
          <p:cNvPr id="4" name="Shape 2"/>
          <p:cNvSpPr/>
          <p:nvPr/>
        </p:nvSpPr>
        <p:spPr>
          <a:xfrm>
            <a:off x="548640" y="1572768"/>
            <a:ext cx="11094415" cy="731520"/>
          </a:xfrm>
          <a:prstGeom prst="roundRect">
            <a:avLst>
              <a:gd name="adj" fmla="val 10000"/>
            </a:avLst>
          </a:prstGeom>
          <a:solidFill>
            <a:srgbClr val="F5F6FB"/>
          </a:solidFill>
          <a:ln w="9525">
            <a:solidFill>
              <a:srgbClr val="E3E5EE"/>
            </a:solidFill>
            <a:prstDash val="solid"/>
          </a:ln>
        </p:spPr>
      </p:sp>
      <p:sp>
        <p:nvSpPr>
          <p:cNvPr id="5" name="Shape 3"/>
          <p:cNvSpPr/>
          <p:nvPr/>
        </p:nvSpPr>
        <p:spPr>
          <a:xfrm>
            <a:off x="713232" y="1700784"/>
            <a:ext cx="475488" cy="475488"/>
          </a:xfrm>
          <a:prstGeom prst="ellipse">
            <a:avLst/>
          </a:prstGeom>
          <a:solidFill>
            <a:srgbClr val="3F51B5"/>
          </a:solidFill>
          <a:ln w="12700">
            <a:solidFill>
              <a:srgbClr val="3F51B5"/>
            </a:solidFill>
            <a:prstDash val="solid"/>
          </a:ln>
        </p:spPr>
      </p:sp>
      <p:sp>
        <p:nvSpPr>
          <p:cNvPr id="6" name="Text 4"/>
          <p:cNvSpPr txBox="1"/>
          <p:nvPr/>
        </p:nvSpPr>
        <p:spPr>
          <a:xfrm>
            <a:off x="713232" y="170078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1417320" y="1572768"/>
            <a:ext cx="3749040" cy="731520"/>
          </a:xfrm>
          <a:prstGeom prst="rect">
            <a:avLst/>
          </a:prstGeom>
          <a:noFill/>
          <a:ln/>
        </p:spPr>
        <p:txBody>
          <a:bodyPr wrap="square" lIns="0" tIns="0" rIns="0" bIns="0" rtlCol="0" anchor="ctr"/>
          <a:lstStyle/>
          <a:p>
            <a:pPr indent="0" marL="0">
              <a:buNone/>
            </a:pPr>
            <a:r>
              <a:rPr lang="en-US" sz="1400" dirty="0">
                <a:solidFill>
                  <a:srgbClr val="5B5E6B"/>
                </a:solidFill>
                <a:latin typeface="Calibri" pitchFamily="34" charset="0"/>
                <a:ea typeface="Calibri" pitchFamily="34" charset="-122"/>
                <a:cs typeface="Calibri" pitchFamily="34" charset="-120"/>
              </a:rPr>
              <a:t>Si… </a:t>
            </a:r>
            <a:pPr indent="0" marL="0">
              <a:buNone/>
            </a:pPr>
            <a:r>
              <a:rPr lang="en-US" sz="1400" b="1" dirty="0">
                <a:solidFill>
                  <a:srgbClr val="1B1C22"/>
                </a:solidFill>
                <a:latin typeface="Calibri" pitchFamily="34" charset="0"/>
                <a:ea typeface="Calibri" pitchFamily="34" charset="-122"/>
                <a:cs typeface="Calibri" pitchFamily="34" charset="-120"/>
              </a:rPr>
              <a:t>El proyecto no tiene fases</a:t>
            </a:r>
            <a:endParaRPr lang="en-US" sz="1400" dirty="0"/>
          </a:p>
        </p:txBody>
      </p:sp>
      <p:pic>
        <p:nvPicPr>
          <p:cNvPr id="8" name="Image 0" descr="preencoded.png">    </p:cNvPr>
          <p:cNvPicPr>
            <a:picLocks noChangeAspect="1"/>
          </p:cNvPicPr>
          <p:nvPr/>
        </p:nvPicPr>
        <p:blipFill>
          <a:blip r:embed="rId1"/>
          <a:stretch>
            <a:fillRect/>
          </a:stretch>
        </p:blipFill>
        <p:spPr>
          <a:xfrm>
            <a:off x="5212080" y="1801368"/>
            <a:ext cx="274320" cy="274320"/>
          </a:xfrm>
          <a:prstGeom prst="rect">
            <a:avLst/>
          </a:prstGeom>
        </p:spPr>
      </p:pic>
      <p:sp>
        <p:nvSpPr>
          <p:cNvPr id="9" name="Text 6"/>
          <p:cNvSpPr txBox="1"/>
          <p:nvPr/>
        </p:nvSpPr>
        <p:spPr>
          <a:xfrm>
            <a:off x="5623560" y="1572768"/>
            <a:ext cx="4297680" cy="731520"/>
          </a:xfrm>
          <a:prstGeom prst="rect">
            <a:avLst/>
          </a:prstGeom>
          <a:noFill/>
          <a:ln/>
        </p:spPr>
        <p:txBody>
          <a:bodyPr wrap="square" lIns="0" tIns="0" rIns="0" bIns="0" rtlCol="0" anchor="ctr"/>
          <a:lstStyle/>
          <a:p>
            <a:pPr indent="0" marL="0">
              <a:buNone/>
            </a:pPr>
            <a:r>
              <a:rPr lang="en-US" sz="1350" dirty="0">
                <a:solidFill>
                  <a:srgbClr val="1B1C22"/>
                </a:solidFill>
                <a:latin typeface="Calibri" pitchFamily="34" charset="0"/>
                <a:ea typeface="Calibri" pitchFamily="34" charset="-122"/>
                <a:cs typeface="Calibri" pitchFamily="34" charset="-120"/>
              </a:rPr>
              <a:t>«Agrega las fases del proyecto»</a:t>
            </a:r>
            <a:endParaRPr lang="en-US" sz="1350" dirty="0"/>
          </a:p>
        </p:txBody>
      </p:sp>
      <p:sp>
        <p:nvSpPr>
          <p:cNvPr id="10" name="Shape 7"/>
          <p:cNvSpPr/>
          <p:nvPr/>
        </p:nvSpPr>
        <p:spPr>
          <a:xfrm>
            <a:off x="10042855" y="1755648"/>
            <a:ext cx="1417320" cy="365760"/>
          </a:xfrm>
          <a:prstGeom prst="roundRect">
            <a:avLst>
              <a:gd name="adj" fmla="val 50000"/>
            </a:avLst>
          </a:prstGeom>
          <a:solidFill>
            <a:srgbClr val="E8EAF6"/>
          </a:solidFill>
          <a:ln w="12700">
            <a:solidFill>
              <a:srgbClr val="E8EAF6"/>
            </a:solidFill>
            <a:prstDash val="solid"/>
          </a:ln>
        </p:spPr>
      </p:sp>
      <p:sp>
        <p:nvSpPr>
          <p:cNvPr id="11" name="Text 8"/>
          <p:cNvSpPr txBox="1"/>
          <p:nvPr/>
        </p:nvSpPr>
        <p:spPr>
          <a:xfrm>
            <a:off x="10042855" y="1755648"/>
            <a:ext cx="1417320" cy="365760"/>
          </a:xfrm>
          <a:prstGeom prst="rect">
            <a:avLst/>
          </a:prstGeom>
          <a:noFill/>
          <a:ln/>
        </p:spPr>
        <p:txBody>
          <a:bodyPr wrap="square" lIns="0" tIns="0" rIns="0" bIns="0" rtlCol="0" anchor="ctr"/>
          <a:lstStyle/>
          <a:p>
            <a:pPr algn="ctr" indent="0" marL="0">
              <a:buNone/>
            </a:pPr>
            <a:r>
              <a:rPr lang="en-US" sz="1150" b="1" dirty="0">
                <a:solidFill>
                  <a:srgbClr val="283593"/>
                </a:solidFill>
                <a:latin typeface="Calibri" pitchFamily="34" charset="0"/>
                <a:ea typeface="Calibri" pitchFamily="34" charset="-122"/>
                <a:cs typeface="Calibri" pitchFamily="34" charset="-120"/>
              </a:rPr>
              <a:t>Fases</a:t>
            </a:r>
            <a:endParaRPr lang="en-US" sz="1150" dirty="0"/>
          </a:p>
        </p:txBody>
      </p:sp>
      <p:sp>
        <p:nvSpPr>
          <p:cNvPr id="12" name="Shape 9"/>
          <p:cNvSpPr/>
          <p:nvPr/>
        </p:nvSpPr>
        <p:spPr>
          <a:xfrm>
            <a:off x="548640" y="2377440"/>
            <a:ext cx="11094415" cy="731520"/>
          </a:xfrm>
          <a:prstGeom prst="roundRect">
            <a:avLst>
              <a:gd name="adj" fmla="val 10000"/>
            </a:avLst>
          </a:prstGeom>
          <a:solidFill>
            <a:srgbClr val="FFFFFF"/>
          </a:solidFill>
          <a:ln w="9525">
            <a:solidFill>
              <a:srgbClr val="E3E5EE"/>
            </a:solidFill>
            <a:prstDash val="solid"/>
          </a:ln>
        </p:spPr>
      </p:sp>
      <p:sp>
        <p:nvSpPr>
          <p:cNvPr id="13" name="Shape 10"/>
          <p:cNvSpPr/>
          <p:nvPr/>
        </p:nvSpPr>
        <p:spPr>
          <a:xfrm>
            <a:off x="713232" y="2505456"/>
            <a:ext cx="475488" cy="475488"/>
          </a:xfrm>
          <a:prstGeom prst="ellipse">
            <a:avLst/>
          </a:prstGeom>
          <a:solidFill>
            <a:srgbClr val="3F51B5"/>
          </a:solidFill>
          <a:ln w="12700">
            <a:solidFill>
              <a:srgbClr val="3F51B5"/>
            </a:solidFill>
            <a:prstDash val="solid"/>
          </a:ln>
        </p:spPr>
      </p:sp>
      <p:sp>
        <p:nvSpPr>
          <p:cNvPr id="14" name="Text 11"/>
          <p:cNvSpPr txBox="1"/>
          <p:nvPr/>
        </p:nvSpPr>
        <p:spPr>
          <a:xfrm>
            <a:off x="713232" y="2505456"/>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2"/>
          <p:cNvSpPr txBox="1"/>
          <p:nvPr/>
        </p:nvSpPr>
        <p:spPr>
          <a:xfrm>
            <a:off x="1417320" y="2377440"/>
            <a:ext cx="3749040" cy="731520"/>
          </a:xfrm>
          <a:prstGeom prst="rect">
            <a:avLst/>
          </a:prstGeom>
          <a:noFill/>
          <a:ln/>
        </p:spPr>
        <p:txBody>
          <a:bodyPr wrap="square" lIns="0" tIns="0" rIns="0" bIns="0" rtlCol="0" anchor="ctr"/>
          <a:lstStyle/>
          <a:p>
            <a:pPr indent="0" marL="0">
              <a:buNone/>
            </a:pPr>
            <a:r>
              <a:rPr lang="en-US" sz="1400" dirty="0">
                <a:solidFill>
                  <a:srgbClr val="5B5E6B"/>
                </a:solidFill>
                <a:latin typeface="Calibri" pitchFamily="34" charset="0"/>
                <a:ea typeface="Calibri" pitchFamily="34" charset="-122"/>
                <a:cs typeface="Calibri" pitchFamily="34" charset="-120"/>
              </a:rPr>
              <a:t>Si… </a:t>
            </a:r>
            <a:pPr indent="0" marL="0">
              <a:buNone/>
            </a:pPr>
            <a:r>
              <a:rPr lang="en-US" sz="1400" b="1" dirty="0">
                <a:solidFill>
                  <a:srgbClr val="1B1C22"/>
                </a:solidFill>
                <a:latin typeface="Calibri" pitchFamily="34" charset="0"/>
                <a:ea typeface="Calibri" pitchFamily="34" charset="-122"/>
                <a:cs typeface="Calibri" pitchFamily="34" charset="-120"/>
              </a:rPr>
              <a:t>Nadie ocupa el rol de AWP Champion</a:t>
            </a:r>
            <a:endParaRPr lang="en-US" sz="1400" dirty="0"/>
          </a:p>
        </p:txBody>
      </p:sp>
      <p:pic>
        <p:nvPicPr>
          <p:cNvPr id="16" name="Image 1" descr="preencoded.png">    </p:cNvPr>
          <p:cNvPicPr>
            <a:picLocks noChangeAspect="1"/>
          </p:cNvPicPr>
          <p:nvPr/>
        </p:nvPicPr>
        <p:blipFill>
          <a:blip r:embed="rId2"/>
          <a:stretch>
            <a:fillRect/>
          </a:stretch>
        </p:blipFill>
        <p:spPr>
          <a:xfrm>
            <a:off x="5212080" y="2606040"/>
            <a:ext cx="274320" cy="274320"/>
          </a:xfrm>
          <a:prstGeom prst="rect">
            <a:avLst/>
          </a:prstGeom>
        </p:spPr>
      </p:pic>
      <p:sp>
        <p:nvSpPr>
          <p:cNvPr id="17" name="Text 13"/>
          <p:cNvSpPr txBox="1"/>
          <p:nvPr/>
        </p:nvSpPr>
        <p:spPr>
          <a:xfrm>
            <a:off x="5623560" y="2377440"/>
            <a:ext cx="4297680" cy="731520"/>
          </a:xfrm>
          <a:prstGeom prst="rect">
            <a:avLst/>
          </a:prstGeom>
          <a:noFill/>
          <a:ln/>
        </p:spPr>
        <p:txBody>
          <a:bodyPr wrap="square" lIns="0" tIns="0" rIns="0" bIns="0" rtlCol="0" anchor="ctr"/>
          <a:lstStyle/>
          <a:p>
            <a:pPr indent="0" marL="0">
              <a:buNone/>
            </a:pPr>
            <a:r>
              <a:rPr lang="en-US" sz="1350" dirty="0">
                <a:solidFill>
                  <a:srgbClr val="1B1C22"/>
                </a:solidFill>
                <a:latin typeface="Calibri" pitchFamily="34" charset="0"/>
                <a:ea typeface="Calibri" pitchFamily="34" charset="-122"/>
                <a:cs typeface="Calibri" pitchFamily="34" charset="-120"/>
              </a:rPr>
              <a:t>«Designa al AWP Champion» (primer nombramiento del plan, hito H0)</a:t>
            </a:r>
            <a:endParaRPr lang="en-US" sz="1350" dirty="0"/>
          </a:p>
        </p:txBody>
      </p:sp>
      <p:sp>
        <p:nvSpPr>
          <p:cNvPr id="18" name="Shape 14"/>
          <p:cNvSpPr/>
          <p:nvPr/>
        </p:nvSpPr>
        <p:spPr>
          <a:xfrm>
            <a:off x="10042855" y="2560320"/>
            <a:ext cx="1417320" cy="365760"/>
          </a:xfrm>
          <a:prstGeom prst="roundRect">
            <a:avLst>
              <a:gd name="adj" fmla="val 50000"/>
            </a:avLst>
          </a:prstGeom>
          <a:solidFill>
            <a:srgbClr val="E8EAF6"/>
          </a:solidFill>
          <a:ln w="12700">
            <a:solidFill>
              <a:srgbClr val="E8EAF6"/>
            </a:solidFill>
            <a:prstDash val="solid"/>
          </a:ln>
        </p:spPr>
      </p:sp>
      <p:sp>
        <p:nvSpPr>
          <p:cNvPr id="19" name="Text 15"/>
          <p:cNvSpPr txBox="1"/>
          <p:nvPr/>
        </p:nvSpPr>
        <p:spPr>
          <a:xfrm>
            <a:off x="10042855" y="2560320"/>
            <a:ext cx="1417320" cy="365760"/>
          </a:xfrm>
          <a:prstGeom prst="rect">
            <a:avLst/>
          </a:prstGeom>
          <a:noFill/>
          <a:ln/>
        </p:spPr>
        <p:txBody>
          <a:bodyPr wrap="square" lIns="0" tIns="0" rIns="0" bIns="0" rtlCol="0" anchor="ctr"/>
          <a:lstStyle/>
          <a:p>
            <a:pPr algn="ctr" indent="0" marL="0">
              <a:buNone/>
            </a:pPr>
            <a:r>
              <a:rPr lang="en-US" sz="1150" b="1" dirty="0">
                <a:solidFill>
                  <a:srgbClr val="283593"/>
                </a:solidFill>
                <a:latin typeface="Calibri" pitchFamily="34" charset="0"/>
                <a:ea typeface="Calibri" pitchFamily="34" charset="-122"/>
                <a:cs typeface="Calibri" pitchFamily="34" charset="-120"/>
              </a:rPr>
              <a:t>Equipo</a:t>
            </a:r>
            <a:endParaRPr lang="en-US" sz="1150" dirty="0"/>
          </a:p>
        </p:txBody>
      </p:sp>
      <p:sp>
        <p:nvSpPr>
          <p:cNvPr id="20" name="Shape 16"/>
          <p:cNvSpPr/>
          <p:nvPr/>
        </p:nvSpPr>
        <p:spPr>
          <a:xfrm>
            <a:off x="548640" y="3182112"/>
            <a:ext cx="11094415" cy="731520"/>
          </a:xfrm>
          <a:prstGeom prst="roundRect">
            <a:avLst>
              <a:gd name="adj" fmla="val 10000"/>
            </a:avLst>
          </a:prstGeom>
          <a:solidFill>
            <a:srgbClr val="F5F6FB"/>
          </a:solidFill>
          <a:ln w="9525">
            <a:solidFill>
              <a:srgbClr val="E3E5EE"/>
            </a:solidFill>
            <a:prstDash val="solid"/>
          </a:ln>
        </p:spPr>
      </p:sp>
      <p:sp>
        <p:nvSpPr>
          <p:cNvPr id="21" name="Shape 17"/>
          <p:cNvSpPr/>
          <p:nvPr/>
        </p:nvSpPr>
        <p:spPr>
          <a:xfrm>
            <a:off x="713232" y="3310128"/>
            <a:ext cx="475488" cy="475488"/>
          </a:xfrm>
          <a:prstGeom prst="ellipse">
            <a:avLst/>
          </a:prstGeom>
          <a:solidFill>
            <a:srgbClr val="D03B3B"/>
          </a:solidFill>
          <a:ln w="12700">
            <a:solidFill>
              <a:srgbClr val="3F51B5"/>
            </a:solidFill>
            <a:prstDash val="solid"/>
          </a:ln>
        </p:spPr>
      </p:sp>
      <p:sp>
        <p:nvSpPr>
          <p:cNvPr id="22" name="Text 18"/>
          <p:cNvSpPr txBox="1"/>
          <p:nvPr/>
        </p:nvSpPr>
        <p:spPr>
          <a:xfrm>
            <a:off x="713232" y="33101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3" name="Text 19"/>
          <p:cNvSpPr txBox="1"/>
          <p:nvPr/>
        </p:nvSpPr>
        <p:spPr>
          <a:xfrm>
            <a:off x="1417320" y="3182112"/>
            <a:ext cx="3749040" cy="731520"/>
          </a:xfrm>
          <a:prstGeom prst="rect">
            <a:avLst/>
          </a:prstGeom>
          <a:noFill/>
          <a:ln/>
        </p:spPr>
        <p:txBody>
          <a:bodyPr wrap="square" lIns="0" tIns="0" rIns="0" bIns="0" rtlCol="0" anchor="ctr"/>
          <a:lstStyle/>
          <a:p>
            <a:pPr indent="0" marL="0">
              <a:buNone/>
            </a:pPr>
            <a:r>
              <a:rPr lang="en-US" sz="1400" dirty="0">
                <a:solidFill>
                  <a:srgbClr val="5B5E6B"/>
                </a:solidFill>
                <a:latin typeface="Calibri" pitchFamily="34" charset="0"/>
                <a:ea typeface="Calibri" pitchFamily="34" charset="-122"/>
                <a:cs typeface="Calibri" pitchFamily="34" charset="-120"/>
              </a:rPr>
              <a:t>Si… </a:t>
            </a:r>
            <a:pPr indent="0" marL="0">
              <a:buNone/>
            </a:pPr>
            <a:r>
              <a:rPr lang="en-US" sz="1400" b="1" dirty="0">
                <a:solidFill>
                  <a:srgbClr val="1B1C22"/>
                </a:solidFill>
                <a:latin typeface="Calibri" pitchFamily="34" charset="0"/>
                <a:ea typeface="Calibri" pitchFamily="34" charset="-122"/>
                <a:cs typeface="Calibri" pitchFamily="34" charset="-120"/>
              </a:rPr>
              <a:t>Hay hitos pendientes con fecha plan vencida</a:t>
            </a:r>
            <a:endParaRPr lang="en-US" sz="1400" dirty="0"/>
          </a:p>
        </p:txBody>
      </p:sp>
      <p:pic>
        <p:nvPicPr>
          <p:cNvPr id="24" name="Image 2" descr="preencoded.png">    </p:cNvPr>
          <p:cNvPicPr>
            <a:picLocks noChangeAspect="1"/>
          </p:cNvPicPr>
          <p:nvPr/>
        </p:nvPicPr>
        <p:blipFill>
          <a:blip r:embed="rId3"/>
          <a:stretch>
            <a:fillRect/>
          </a:stretch>
        </p:blipFill>
        <p:spPr>
          <a:xfrm>
            <a:off x="5212080" y="3410712"/>
            <a:ext cx="274320" cy="274320"/>
          </a:xfrm>
          <a:prstGeom prst="rect">
            <a:avLst/>
          </a:prstGeom>
        </p:spPr>
      </p:pic>
      <p:sp>
        <p:nvSpPr>
          <p:cNvPr id="25" name="Text 20"/>
          <p:cNvSpPr txBox="1"/>
          <p:nvPr/>
        </p:nvSpPr>
        <p:spPr>
          <a:xfrm>
            <a:off x="5623560" y="3182112"/>
            <a:ext cx="4297680" cy="731520"/>
          </a:xfrm>
          <a:prstGeom prst="rect">
            <a:avLst/>
          </a:prstGeom>
          <a:noFill/>
          <a:ln/>
        </p:spPr>
        <p:txBody>
          <a:bodyPr wrap="square" lIns="0" tIns="0" rIns="0" bIns="0" rtlCol="0" anchor="ctr"/>
          <a:lstStyle/>
          <a:p>
            <a:pPr indent="0" marL="0">
              <a:buNone/>
            </a:pPr>
            <a:r>
              <a:rPr lang="en-US" sz="1350" dirty="0">
                <a:solidFill>
                  <a:srgbClr val="1B1C22"/>
                </a:solidFill>
                <a:latin typeface="Calibri" pitchFamily="34" charset="0"/>
                <a:ea typeface="Calibri" pitchFamily="34" charset="-122"/>
                <a:cs typeface="Calibri" pitchFamily="34" charset="-120"/>
              </a:rPr>
              <a:t>«Revisa el hito Hx…» empezando por el más antiguo, con los días de atraso</a:t>
            </a:r>
            <a:endParaRPr lang="en-US" sz="1350" dirty="0"/>
          </a:p>
        </p:txBody>
      </p:sp>
      <p:sp>
        <p:nvSpPr>
          <p:cNvPr id="26" name="Shape 21"/>
          <p:cNvSpPr/>
          <p:nvPr/>
        </p:nvSpPr>
        <p:spPr>
          <a:xfrm>
            <a:off x="10042855" y="3364992"/>
            <a:ext cx="1417320" cy="365760"/>
          </a:xfrm>
          <a:prstGeom prst="roundRect">
            <a:avLst>
              <a:gd name="adj" fmla="val 50000"/>
            </a:avLst>
          </a:prstGeom>
          <a:solidFill>
            <a:srgbClr val="E8EAF6"/>
          </a:solidFill>
          <a:ln w="12700">
            <a:solidFill>
              <a:srgbClr val="E8EAF6"/>
            </a:solidFill>
            <a:prstDash val="solid"/>
          </a:ln>
        </p:spPr>
      </p:sp>
      <p:sp>
        <p:nvSpPr>
          <p:cNvPr id="27" name="Text 22"/>
          <p:cNvSpPr txBox="1"/>
          <p:nvPr/>
        </p:nvSpPr>
        <p:spPr>
          <a:xfrm>
            <a:off x="10042855" y="3364992"/>
            <a:ext cx="1417320" cy="365760"/>
          </a:xfrm>
          <a:prstGeom prst="rect">
            <a:avLst/>
          </a:prstGeom>
          <a:noFill/>
          <a:ln/>
        </p:spPr>
        <p:txBody>
          <a:bodyPr wrap="square" lIns="0" tIns="0" rIns="0" bIns="0" rtlCol="0" anchor="ctr"/>
          <a:lstStyle/>
          <a:p>
            <a:pPr algn="ctr" indent="0" marL="0">
              <a:buNone/>
            </a:pPr>
            <a:r>
              <a:rPr lang="en-US" sz="1150" b="1" dirty="0">
                <a:solidFill>
                  <a:srgbClr val="283593"/>
                </a:solidFill>
                <a:latin typeface="Calibri" pitchFamily="34" charset="0"/>
                <a:ea typeface="Calibri" pitchFamily="34" charset="-122"/>
                <a:cs typeface="Calibri" pitchFamily="34" charset="-120"/>
              </a:rPr>
              <a:t>Hitos atrasados</a:t>
            </a:r>
            <a:endParaRPr lang="en-US" sz="1150" dirty="0"/>
          </a:p>
        </p:txBody>
      </p:sp>
      <p:sp>
        <p:nvSpPr>
          <p:cNvPr id="28" name="Shape 23"/>
          <p:cNvSpPr/>
          <p:nvPr/>
        </p:nvSpPr>
        <p:spPr>
          <a:xfrm>
            <a:off x="548640" y="3986784"/>
            <a:ext cx="11094415" cy="731520"/>
          </a:xfrm>
          <a:prstGeom prst="roundRect">
            <a:avLst>
              <a:gd name="adj" fmla="val 10000"/>
            </a:avLst>
          </a:prstGeom>
          <a:solidFill>
            <a:srgbClr val="FFFFFF"/>
          </a:solidFill>
          <a:ln w="9525">
            <a:solidFill>
              <a:srgbClr val="E3E5EE"/>
            </a:solidFill>
            <a:prstDash val="solid"/>
          </a:ln>
        </p:spPr>
      </p:sp>
      <p:sp>
        <p:nvSpPr>
          <p:cNvPr id="29" name="Shape 24"/>
          <p:cNvSpPr/>
          <p:nvPr/>
        </p:nvSpPr>
        <p:spPr>
          <a:xfrm>
            <a:off x="713232" y="4114800"/>
            <a:ext cx="475488" cy="475488"/>
          </a:xfrm>
          <a:prstGeom prst="ellipse">
            <a:avLst/>
          </a:prstGeom>
          <a:solidFill>
            <a:srgbClr val="3F51B5"/>
          </a:solidFill>
          <a:ln w="12700">
            <a:solidFill>
              <a:srgbClr val="3F51B5"/>
            </a:solidFill>
            <a:prstDash val="solid"/>
          </a:ln>
        </p:spPr>
      </p:sp>
      <p:sp>
        <p:nvSpPr>
          <p:cNvPr id="30" name="Text 25"/>
          <p:cNvSpPr txBox="1"/>
          <p:nvPr/>
        </p:nvSpPr>
        <p:spPr>
          <a:xfrm>
            <a:off x="713232" y="411480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31" name="Text 26"/>
          <p:cNvSpPr txBox="1"/>
          <p:nvPr/>
        </p:nvSpPr>
        <p:spPr>
          <a:xfrm>
            <a:off x="1417320" y="3986784"/>
            <a:ext cx="3749040" cy="731520"/>
          </a:xfrm>
          <a:prstGeom prst="rect">
            <a:avLst/>
          </a:prstGeom>
          <a:noFill/>
          <a:ln/>
        </p:spPr>
        <p:txBody>
          <a:bodyPr wrap="square" lIns="0" tIns="0" rIns="0" bIns="0" rtlCol="0" anchor="ctr"/>
          <a:lstStyle/>
          <a:p>
            <a:pPr indent="0" marL="0">
              <a:buNone/>
            </a:pPr>
            <a:r>
              <a:rPr lang="en-US" sz="1400" dirty="0">
                <a:solidFill>
                  <a:srgbClr val="5B5E6B"/>
                </a:solidFill>
                <a:latin typeface="Calibri" pitchFamily="34" charset="0"/>
                <a:ea typeface="Calibri" pitchFamily="34" charset="-122"/>
                <a:cs typeface="Calibri" pitchFamily="34" charset="-120"/>
              </a:rPr>
              <a:t>Si… </a:t>
            </a:r>
            <a:pPr indent="0" marL="0">
              <a:buNone/>
            </a:pPr>
            <a:r>
              <a:rPr lang="en-US" sz="1400" b="1" dirty="0">
                <a:solidFill>
                  <a:srgbClr val="1B1C22"/>
                </a:solidFill>
                <a:latin typeface="Calibri" pitchFamily="34" charset="0"/>
                <a:ea typeface="Calibri" pitchFamily="34" charset="-122"/>
                <a:cs typeface="Calibri" pitchFamily="34" charset="-120"/>
              </a:rPr>
              <a:t>Queda alguna actividad del checklist</a:t>
            </a:r>
            <a:endParaRPr lang="en-US" sz="1400" dirty="0"/>
          </a:p>
        </p:txBody>
      </p:sp>
      <p:pic>
        <p:nvPicPr>
          <p:cNvPr id="32" name="Image 3" descr="preencoded.png">    </p:cNvPr>
          <p:cNvPicPr>
            <a:picLocks noChangeAspect="1"/>
          </p:cNvPicPr>
          <p:nvPr/>
        </p:nvPicPr>
        <p:blipFill>
          <a:blip r:embed="rId4"/>
          <a:stretch>
            <a:fillRect/>
          </a:stretch>
        </p:blipFill>
        <p:spPr>
          <a:xfrm>
            <a:off x="5212080" y="4215384"/>
            <a:ext cx="274320" cy="274320"/>
          </a:xfrm>
          <a:prstGeom prst="rect">
            <a:avLst/>
          </a:prstGeom>
        </p:spPr>
      </p:pic>
      <p:sp>
        <p:nvSpPr>
          <p:cNvPr id="33" name="Text 27"/>
          <p:cNvSpPr txBox="1"/>
          <p:nvPr/>
        </p:nvSpPr>
        <p:spPr>
          <a:xfrm>
            <a:off x="5623560" y="3986784"/>
            <a:ext cx="4297680" cy="731520"/>
          </a:xfrm>
          <a:prstGeom prst="rect">
            <a:avLst/>
          </a:prstGeom>
          <a:noFill/>
          <a:ln/>
        </p:spPr>
        <p:txBody>
          <a:bodyPr wrap="square" lIns="0" tIns="0" rIns="0" bIns="0" rtlCol="0" anchor="ctr"/>
          <a:lstStyle/>
          <a:p>
            <a:pPr indent="0" marL="0">
              <a:buNone/>
            </a:pPr>
            <a:r>
              <a:rPr lang="en-US" sz="1350" dirty="0">
                <a:solidFill>
                  <a:srgbClr val="1B1C22"/>
                </a:solidFill>
                <a:latin typeface="Calibri" pitchFamily="34" charset="0"/>
                <a:ea typeface="Calibri" pitchFamily="34" charset="-122"/>
                <a:cs typeface="Calibri" pitchFamily="34" charset="-120"/>
              </a:rPr>
              <a:t>«Termina…» (si está en curso) o «Sigue con…» la siguiente, etapa por etapa</a:t>
            </a:r>
            <a:endParaRPr lang="en-US" sz="1350" dirty="0"/>
          </a:p>
        </p:txBody>
      </p:sp>
      <p:sp>
        <p:nvSpPr>
          <p:cNvPr id="34" name="Shape 28"/>
          <p:cNvSpPr/>
          <p:nvPr/>
        </p:nvSpPr>
        <p:spPr>
          <a:xfrm>
            <a:off x="10042855" y="4169664"/>
            <a:ext cx="1417320" cy="365760"/>
          </a:xfrm>
          <a:prstGeom prst="roundRect">
            <a:avLst>
              <a:gd name="adj" fmla="val 50000"/>
            </a:avLst>
          </a:prstGeom>
          <a:solidFill>
            <a:srgbClr val="E8EAF6"/>
          </a:solidFill>
          <a:ln w="12700">
            <a:solidFill>
              <a:srgbClr val="E8EAF6"/>
            </a:solidFill>
            <a:prstDash val="solid"/>
          </a:ln>
        </p:spPr>
      </p:sp>
      <p:sp>
        <p:nvSpPr>
          <p:cNvPr id="35" name="Text 29"/>
          <p:cNvSpPr txBox="1"/>
          <p:nvPr/>
        </p:nvSpPr>
        <p:spPr>
          <a:xfrm>
            <a:off x="10042855" y="4169664"/>
            <a:ext cx="1417320" cy="365760"/>
          </a:xfrm>
          <a:prstGeom prst="rect">
            <a:avLst/>
          </a:prstGeom>
          <a:noFill/>
          <a:ln/>
        </p:spPr>
        <p:txBody>
          <a:bodyPr wrap="square" lIns="0" tIns="0" rIns="0" bIns="0" rtlCol="0" anchor="ctr"/>
          <a:lstStyle/>
          <a:p>
            <a:pPr algn="ctr" indent="0" marL="0">
              <a:buNone/>
            </a:pPr>
            <a:r>
              <a:rPr lang="en-US" sz="1150" b="1" dirty="0">
                <a:solidFill>
                  <a:srgbClr val="283593"/>
                </a:solidFill>
                <a:latin typeface="Calibri" pitchFamily="34" charset="0"/>
                <a:ea typeface="Calibri" pitchFamily="34" charset="-122"/>
                <a:cs typeface="Calibri" pitchFamily="34" charset="-120"/>
              </a:rPr>
              <a:t>Avance AWP</a:t>
            </a:r>
            <a:endParaRPr lang="en-US" sz="1150" dirty="0"/>
          </a:p>
        </p:txBody>
      </p:sp>
      <p:sp>
        <p:nvSpPr>
          <p:cNvPr id="36" name="Shape 30"/>
          <p:cNvSpPr/>
          <p:nvPr/>
        </p:nvSpPr>
        <p:spPr>
          <a:xfrm>
            <a:off x="548640" y="4791456"/>
            <a:ext cx="11094415" cy="731520"/>
          </a:xfrm>
          <a:prstGeom prst="roundRect">
            <a:avLst>
              <a:gd name="adj" fmla="val 10000"/>
            </a:avLst>
          </a:prstGeom>
          <a:solidFill>
            <a:srgbClr val="F5F6FB"/>
          </a:solidFill>
          <a:ln w="9525">
            <a:solidFill>
              <a:srgbClr val="E3E5EE"/>
            </a:solidFill>
            <a:prstDash val="solid"/>
          </a:ln>
        </p:spPr>
      </p:sp>
      <p:sp>
        <p:nvSpPr>
          <p:cNvPr id="37" name="Shape 31"/>
          <p:cNvSpPr/>
          <p:nvPr/>
        </p:nvSpPr>
        <p:spPr>
          <a:xfrm>
            <a:off x="713232" y="4919472"/>
            <a:ext cx="475488" cy="475488"/>
          </a:xfrm>
          <a:prstGeom prst="ellipse">
            <a:avLst/>
          </a:prstGeom>
          <a:solidFill>
            <a:srgbClr val="3F51B5"/>
          </a:solidFill>
          <a:ln w="12700">
            <a:solidFill>
              <a:srgbClr val="3F51B5"/>
            </a:solidFill>
            <a:prstDash val="solid"/>
          </a:ln>
        </p:spPr>
      </p:sp>
      <p:sp>
        <p:nvSpPr>
          <p:cNvPr id="38" name="Text 32"/>
          <p:cNvSpPr txBox="1"/>
          <p:nvPr/>
        </p:nvSpPr>
        <p:spPr>
          <a:xfrm>
            <a:off x="713232" y="4919472"/>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9" name="Text 33"/>
          <p:cNvSpPr txBox="1"/>
          <p:nvPr/>
        </p:nvSpPr>
        <p:spPr>
          <a:xfrm>
            <a:off x="1417320" y="4791456"/>
            <a:ext cx="3749040" cy="731520"/>
          </a:xfrm>
          <a:prstGeom prst="rect">
            <a:avLst/>
          </a:prstGeom>
          <a:noFill/>
          <a:ln/>
        </p:spPr>
        <p:txBody>
          <a:bodyPr wrap="square" lIns="0" tIns="0" rIns="0" bIns="0" rtlCol="0" anchor="ctr"/>
          <a:lstStyle/>
          <a:p>
            <a:pPr indent="0" marL="0">
              <a:buNone/>
            </a:pPr>
            <a:r>
              <a:rPr lang="en-US" sz="1400" dirty="0">
                <a:solidFill>
                  <a:srgbClr val="5B5E6B"/>
                </a:solidFill>
                <a:latin typeface="Calibri" pitchFamily="34" charset="0"/>
                <a:ea typeface="Calibri" pitchFamily="34" charset="-122"/>
                <a:cs typeface="Calibri" pitchFamily="34" charset="-120"/>
              </a:rPr>
              <a:t>Si… </a:t>
            </a:r>
            <a:pPr indent="0" marL="0">
              <a:buNone/>
            </a:pPr>
            <a:r>
              <a:rPr lang="en-US" sz="1400" b="1" dirty="0">
                <a:solidFill>
                  <a:srgbClr val="1B1C22"/>
                </a:solidFill>
                <a:latin typeface="Calibri" pitchFamily="34" charset="0"/>
                <a:ea typeface="Calibri" pitchFamily="34" charset="-122"/>
                <a:cs typeface="Calibri" pitchFamily="34" charset="-120"/>
              </a:rPr>
              <a:t>Hay hitos que vencen en los próximos 30 días</a:t>
            </a:r>
            <a:endParaRPr lang="en-US" sz="1400" dirty="0"/>
          </a:p>
        </p:txBody>
      </p:sp>
      <p:pic>
        <p:nvPicPr>
          <p:cNvPr id="40" name="Image 4" descr="preencoded.png">    </p:cNvPr>
          <p:cNvPicPr>
            <a:picLocks noChangeAspect="1"/>
          </p:cNvPicPr>
          <p:nvPr/>
        </p:nvPicPr>
        <p:blipFill>
          <a:blip r:embed="rId5"/>
          <a:stretch>
            <a:fillRect/>
          </a:stretch>
        </p:blipFill>
        <p:spPr>
          <a:xfrm>
            <a:off x="5212080" y="5020056"/>
            <a:ext cx="274320" cy="274320"/>
          </a:xfrm>
          <a:prstGeom prst="rect">
            <a:avLst/>
          </a:prstGeom>
        </p:spPr>
      </p:pic>
      <p:sp>
        <p:nvSpPr>
          <p:cNvPr id="41" name="Text 34"/>
          <p:cNvSpPr txBox="1"/>
          <p:nvPr/>
        </p:nvSpPr>
        <p:spPr>
          <a:xfrm>
            <a:off x="5623560" y="4791456"/>
            <a:ext cx="4297680" cy="731520"/>
          </a:xfrm>
          <a:prstGeom prst="rect">
            <a:avLst/>
          </a:prstGeom>
          <a:noFill/>
          <a:ln/>
        </p:spPr>
        <p:txBody>
          <a:bodyPr wrap="square" lIns="0" tIns="0" rIns="0" bIns="0" rtlCol="0" anchor="ctr"/>
          <a:lstStyle/>
          <a:p>
            <a:pPr indent="0" marL="0">
              <a:buNone/>
            </a:pPr>
            <a:r>
              <a:rPr lang="en-US" sz="1350" dirty="0">
                <a:solidFill>
                  <a:srgbClr val="1B1C22"/>
                </a:solidFill>
                <a:latin typeface="Calibri" pitchFamily="34" charset="0"/>
                <a:ea typeface="Calibri" pitchFamily="34" charset="-122"/>
                <a:cs typeface="Calibri" pitchFamily="34" charset="-120"/>
              </a:rPr>
              <a:t>«Prepara la evidencia del hito Hx…» con su criterio</a:t>
            </a:r>
            <a:endParaRPr lang="en-US" sz="1350" dirty="0"/>
          </a:p>
        </p:txBody>
      </p:sp>
      <p:sp>
        <p:nvSpPr>
          <p:cNvPr id="42" name="Shape 35"/>
          <p:cNvSpPr/>
          <p:nvPr/>
        </p:nvSpPr>
        <p:spPr>
          <a:xfrm>
            <a:off x="10042855" y="4974336"/>
            <a:ext cx="1417320" cy="365760"/>
          </a:xfrm>
          <a:prstGeom prst="roundRect">
            <a:avLst>
              <a:gd name="adj" fmla="val 50000"/>
            </a:avLst>
          </a:prstGeom>
          <a:solidFill>
            <a:srgbClr val="E8EAF6"/>
          </a:solidFill>
          <a:ln w="12700">
            <a:solidFill>
              <a:srgbClr val="E8EAF6"/>
            </a:solidFill>
            <a:prstDash val="solid"/>
          </a:ln>
        </p:spPr>
      </p:sp>
      <p:sp>
        <p:nvSpPr>
          <p:cNvPr id="43" name="Text 36"/>
          <p:cNvSpPr txBox="1"/>
          <p:nvPr/>
        </p:nvSpPr>
        <p:spPr>
          <a:xfrm>
            <a:off x="10042855" y="4974336"/>
            <a:ext cx="1417320" cy="365760"/>
          </a:xfrm>
          <a:prstGeom prst="rect">
            <a:avLst/>
          </a:prstGeom>
          <a:noFill/>
          <a:ln/>
        </p:spPr>
        <p:txBody>
          <a:bodyPr wrap="square" lIns="0" tIns="0" rIns="0" bIns="0" rtlCol="0" anchor="ctr"/>
          <a:lstStyle/>
          <a:p>
            <a:pPr algn="ctr" indent="0" marL="0">
              <a:buNone/>
            </a:pPr>
            <a:r>
              <a:rPr lang="en-US" sz="1150" b="1" dirty="0">
                <a:solidFill>
                  <a:srgbClr val="283593"/>
                </a:solidFill>
                <a:latin typeface="Calibri" pitchFamily="34" charset="0"/>
                <a:ea typeface="Calibri" pitchFamily="34" charset="-122"/>
                <a:cs typeface="Calibri" pitchFamily="34" charset="-120"/>
              </a:rPr>
              <a:t>Hitos</a:t>
            </a:r>
            <a:endParaRPr lang="en-US" sz="1150" dirty="0"/>
          </a:p>
        </p:txBody>
      </p:sp>
      <p:sp>
        <p:nvSpPr>
          <p:cNvPr id="44" name="Shape 37"/>
          <p:cNvSpPr/>
          <p:nvPr/>
        </p:nvSpPr>
        <p:spPr>
          <a:xfrm>
            <a:off x="548640" y="5596128"/>
            <a:ext cx="11094415" cy="731520"/>
          </a:xfrm>
          <a:prstGeom prst="roundRect">
            <a:avLst>
              <a:gd name="adj" fmla="val 10000"/>
            </a:avLst>
          </a:prstGeom>
          <a:solidFill>
            <a:srgbClr val="FFFFFF"/>
          </a:solidFill>
          <a:ln w="9525">
            <a:solidFill>
              <a:srgbClr val="E3E5EE"/>
            </a:solidFill>
            <a:prstDash val="solid"/>
          </a:ln>
        </p:spPr>
      </p:sp>
      <p:sp>
        <p:nvSpPr>
          <p:cNvPr id="45" name="Shape 38"/>
          <p:cNvSpPr/>
          <p:nvPr/>
        </p:nvSpPr>
        <p:spPr>
          <a:xfrm>
            <a:off x="713232" y="5724144"/>
            <a:ext cx="475488" cy="475488"/>
          </a:xfrm>
          <a:prstGeom prst="ellipse">
            <a:avLst/>
          </a:prstGeom>
          <a:solidFill>
            <a:srgbClr val="0CA30C"/>
          </a:solidFill>
          <a:ln w="12700">
            <a:solidFill>
              <a:srgbClr val="3F51B5"/>
            </a:solidFill>
            <a:prstDash val="solid"/>
          </a:ln>
        </p:spPr>
      </p:sp>
      <p:sp>
        <p:nvSpPr>
          <p:cNvPr id="46" name="Text 39"/>
          <p:cNvSpPr txBox="1"/>
          <p:nvPr/>
        </p:nvSpPr>
        <p:spPr>
          <a:xfrm>
            <a:off x="713232" y="572414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47" name="Text 40"/>
          <p:cNvSpPr txBox="1"/>
          <p:nvPr/>
        </p:nvSpPr>
        <p:spPr>
          <a:xfrm>
            <a:off x="1417320" y="5596128"/>
            <a:ext cx="3749040" cy="731520"/>
          </a:xfrm>
          <a:prstGeom prst="rect">
            <a:avLst/>
          </a:prstGeom>
          <a:noFill/>
          <a:ln/>
        </p:spPr>
        <p:txBody>
          <a:bodyPr wrap="square" lIns="0" tIns="0" rIns="0" bIns="0" rtlCol="0" anchor="ctr"/>
          <a:lstStyle/>
          <a:p>
            <a:pPr indent="0" marL="0">
              <a:buNone/>
            </a:pPr>
            <a:r>
              <a:rPr lang="en-US" sz="1400" dirty="0">
                <a:solidFill>
                  <a:srgbClr val="5B5E6B"/>
                </a:solidFill>
                <a:latin typeface="Calibri" pitchFamily="34" charset="0"/>
                <a:ea typeface="Calibri" pitchFamily="34" charset="-122"/>
                <a:cs typeface="Calibri" pitchFamily="34" charset="-120"/>
              </a:rPr>
              <a:t>Si… </a:t>
            </a:r>
            <a:pPr indent="0" marL="0">
              <a:buNone/>
            </a:pPr>
            <a:r>
              <a:rPr lang="en-US" sz="1400" b="1" dirty="0">
                <a:solidFill>
                  <a:srgbClr val="1B1C22"/>
                </a:solidFill>
                <a:latin typeface="Calibri" pitchFamily="34" charset="0"/>
                <a:ea typeface="Calibri" pitchFamily="34" charset="-122"/>
                <a:cs typeface="Calibri" pitchFamily="34" charset="-120"/>
              </a:rPr>
              <a:t>Nada de lo anterior</a:t>
            </a:r>
            <a:endParaRPr lang="en-US" sz="1400" dirty="0"/>
          </a:p>
        </p:txBody>
      </p:sp>
      <p:pic>
        <p:nvPicPr>
          <p:cNvPr id="48" name="Image 5" descr="preencoded.png">    </p:cNvPr>
          <p:cNvPicPr>
            <a:picLocks noChangeAspect="1"/>
          </p:cNvPicPr>
          <p:nvPr/>
        </p:nvPicPr>
        <p:blipFill>
          <a:blip r:embed="rId6"/>
          <a:stretch>
            <a:fillRect/>
          </a:stretch>
        </p:blipFill>
        <p:spPr>
          <a:xfrm>
            <a:off x="5212080" y="5824728"/>
            <a:ext cx="274320" cy="274320"/>
          </a:xfrm>
          <a:prstGeom prst="rect">
            <a:avLst/>
          </a:prstGeom>
        </p:spPr>
      </p:pic>
      <p:sp>
        <p:nvSpPr>
          <p:cNvPr id="49" name="Text 41"/>
          <p:cNvSpPr txBox="1"/>
          <p:nvPr/>
        </p:nvSpPr>
        <p:spPr>
          <a:xfrm>
            <a:off x="5623560" y="5596128"/>
            <a:ext cx="4297680" cy="731520"/>
          </a:xfrm>
          <a:prstGeom prst="rect">
            <a:avLst/>
          </a:prstGeom>
          <a:noFill/>
          <a:ln/>
        </p:spPr>
        <p:txBody>
          <a:bodyPr wrap="square" lIns="0" tIns="0" rIns="0" bIns="0" rtlCol="0" anchor="ctr"/>
          <a:lstStyle/>
          <a:p>
            <a:pPr indent="0" marL="0">
              <a:buNone/>
            </a:pPr>
            <a:r>
              <a:rPr lang="en-US" sz="1350" dirty="0">
                <a:solidFill>
                  <a:srgbClr val="1B1C22"/>
                </a:solidFill>
                <a:latin typeface="Calibri" pitchFamily="34" charset="0"/>
                <a:ea typeface="Calibri" pitchFamily="34" charset="-122"/>
                <a:cs typeface="Calibri" pitchFamily="34" charset="-120"/>
              </a:rPr>
              <a:t>«¡Todo al día!» y la recomendación de mantener los datos al día</a:t>
            </a:r>
            <a:endParaRPr lang="en-US" sz="1350" dirty="0"/>
          </a:p>
        </p:txBody>
      </p:sp>
      <p:sp>
        <p:nvSpPr>
          <p:cNvPr id="50" name="Shape 42"/>
          <p:cNvSpPr/>
          <p:nvPr/>
        </p:nvSpPr>
        <p:spPr>
          <a:xfrm>
            <a:off x="10042855" y="5779008"/>
            <a:ext cx="1417320" cy="365760"/>
          </a:xfrm>
          <a:prstGeom prst="roundRect">
            <a:avLst>
              <a:gd name="adj" fmla="val 50000"/>
            </a:avLst>
          </a:prstGeom>
          <a:solidFill>
            <a:srgbClr val="E8EAF6"/>
          </a:solidFill>
          <a:ln w="12700">
            <a:solidFill>
              <a:srgbClr val="E8EAF6"/>
            </a:solidFill>
            <a:prstDash val="solid"/>
          </a:ln>
        </p:spPr>
      </p:sp>
      <p:sp>
        <p:nvSpPr>
          <p:cNvPr id="51" name="Text 43"/>
          <p:cNvSpPr txBox="1"/>
          <p:nvPr/>
        </p:nvSpPr>
        <p:spPr>
          <a:xfrm>
            <a:off x="10042855" y="5779008"/>
            <a:ext cx="1417320" cy="365760"/>
          </a:xfrm>
          <a:prstGeom prst="rect">
            <a:avLst/>
          </a:prstGeom>
          <a:noFill/>
          <a:ln/>
        </p:spPr>
        <p:txBody>
          <a:bodyPr wrap="square" lIns="0" tIns="0" rIns="0" bIns="0" rtlCol="0" anchor="ctr"/>
          <a:lstStyle/>
          <a:p>
            <a:pPr algn="ctr" indent="0" marL="0">
              <a:buNone/>
            </a:pPr>
            <a:r>
              <a:rPr lang="en-US" sz="1150" b="1" dirty="0">
                <a:solidFill>
                  <a:srgbClr val="283593"/>
                </a:solidFill>
                <a:latin typeface="Calibri" pitchFamily="34" charset="0"/>
                <a:ea typeface="Calibri" pitchFamily="34" charset="-122"/>
                <a:cs typeface="Calibri" pitchFamily="34" charset="-120"/>
              </a:rPr>
              <a:t>Hitos</a:t>
            </a:r>
            <a:endParaRPr lang="en-US" sz="1150" dirty="0"/>
          </a:p>
        </p:txBody>
      </p:sp>
      <p:sp>
        <p:nvSpPr>
          <p:cNvPr id="52" name="Text 44"/>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Dashboard del proyecto</a:t>
            </a:r>
            <a:endParaRPr lang="en-US" sz="1000" dirty="0"/>
          </a:p>
        </p:txBody>
      </p:sp>
      <p:sp>
        <p:nvSpPr>
          <p:cNvPr id="53" name="Text 45"/>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59</a:t>
            </a:r>
            <a:endParaRPr lang="en-US" sz="1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Avance por etapa del ciclo de vida</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Un anillo por etapa; el título resume la conclusión</a:t>
            </a:r>
            <a:endParaRPr lang="en-US" sz="1500" dirty="0"/>
          </a:p>
        </p:txBody>
      </p:sp>
      <p:sp>
        <p:nvSpPr>
          <p:cNvPr id="4" name="Shape 2"/>
          <p:cNvSpPr/>
          <p:nvPr/>
        </p:nvSpPr>
        <p:spPr>
          <a:xfrm>
            <a:off x="548640" y="2225525"/>
            <a:ext cx="6693408" cy="3357926"/>
          </a:xfrm>
          <a:prstGeom prst="roundRect">
            <a:avLst>
              <a:gd name="adj" fmla="val 2178"/>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proyecto_anillos.jpg">    </p:cNvPr>
          <p:cNvPicPr>
            <a:picLocks noChangeAspect="1"/>
          </p:cNvPicPr>
          <p:nvPr/>
        </p:nvPicPr>
        <p:blipFill>
          <a:blip r:embed="rId1"/>
          <a:stretch>
            <a:fillRect/>
          </a:stretch>
        </p:blipFill>
        <p:spPr>
          <a:xfrm>
            <a:off x="603504" y="2280389"/>
            <a:ext cx="6583680" cy="3248198"/>
          </a:xfrm>
          <a:prstGeom prst="rect">
            <a:avLst/>
          </a:prstGeom>
        </p:spPr>
      </p:pic>
      <p:sp>
        <p:nvSpPr>
          <p:cNvPr id="6" name="Shape 3"/>
          <p:cNvSpPr/>
          <p:nvPr/>
        </p:nvSpPr>
        <p:spPr>
          <a:xfrm>
            <a:off x="7690104"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7784744" y="1685696"/>
            <a:ext cx="231343" cy="231343"/>
          </a:xfrm>
          <a:prstGeom prst="rect">
            <a:avLst/>
          </a:prstGeom>
        </p:spPr>
      </p:pic>
      <p:sp>
        <p:nvSpPr>
          <p:cNvPr id="8" name="Text 4"/>
          <p:cNvSpPr txBox="1"/>
          <p:nvPr/>
        </p:nvSpPr>
        <p:spPr>
          <a:xfrm>
            <a:off x="8275320" y="1572768"/>
            <a:ext cx="3367735" cy="109270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Cada anillo</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 del checklist completado en esa etapa y «x de y actividades».</a:t>
            </a:r>
            <a:endParaRPr lang="en-US" sz="1500" dirty="0"/>
          </a:p>
        </p:txBody>
      </p:sp>
      <p:sp>
        <p:nvSpPr>
          <p:cNvPr id="9" name="Shape 5"/>
          <p:cNvSpPr/>
          <p:nvPr/>
        </p:nvSpPr>
        <p:spPr>
          <a:xfrm>
            <a:off x="7690104" y="2756916"/>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7784744" y="2851556"/>
            <a:ext cx="231343" cy="231343"/>
          </a:xfrm>
          <a:prstGeom prst="rect">
            <a:avLst/>
          </a:prstGeom>
        </p:spPr>
      </p:pic>
      <p:sp>
        <p:nvSpPr>
          <p:cNvPr id="11" name="Text 6"/>
          <p:cNvSpPr txBox="1"/>
          <p:nvPr/>
        </p:nvSpPr>
        <p:spPr>
          <a:xfrm>
            <a:off x="8275320" y="2738628"/>
            <a:ext cx="3367735" cy="109270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Toca un anillo</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Abre el checklist en la pestaña de esa etapa.</a:t>
            </a:r>
            <a:endParaRPr lang="en-US" sz="1500" dirty="0"/>
          </a:p>
        </p:txBody>
      </p:sp>
      <p:sp>
        <p:nvSpPr>
          <p:cNvPr id="12" name="Shape 7"/>
          <p:cNvSpPr/>
          <p:nvPr/>
        </p:nvSpPr>
        <p:spPr>
          <a:xfrm>
            <a:off x="7690104" y="3922776"/>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7784744" y="4017416"/>
            <a:ext cx="231343" cy="231343"/>
          </a:xfrm>
          <a:prstGeom prst="rect">
            <a:avLst/>
          </a:prstGeom>
        </p:spPr>
      </p:pic>
      <p:sp>
        <p:nvSpPr>
          <p:cNvPr id="14" name="Text 8"/>
          <p:cNvSpPr txBox="1"/>
          <p:nvPr/>
        </p:nvSpPr>
        <p:spPr>
          <a:xfrm>
            <a:off x="8275320" y="3904488"/>
            <a:ext cx="3367735" cy="109270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Título = conclusión</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«La implementación va en 43 %; comisionamiento al 0 %»: el total y la etapa más atrasada.</a:t>
            </a:r>
            <a:endParaRPr lang="en-US" sz="1500" dirty="0"/>
          </a:p>
        </p:txBody>
      </p:sp>
      <p:sp>
        <p:nvSpPr>
          <p:cNvPr id="15" name="Shape 9"/>
          <p:cNvSpPr/>
          <p:nvPr/>
        </p:nvSpPr>
        <p:spPr>
          <a:xfrm>
            <a:off x="7690104" y="5088636"/>
            <a:ext cx="420624" cy="420624"/>
          </a:xfrm>
          <a:prstGeom prst="ellipse">
            <a:avLst/>
          </a:prstGeom>
          <a:solidFill>
            <a:srgbClr val="E8EAF6"/>
          </a:solidFill>
          <a:ln w="12700">
            <a:solidFill>
              <a:srgbClr val="E8EAF6"/>
            </a:solidFill>
            <a:prstDash val="solid"/>
          </a:ln>
        </p:spPr>
      </p:sp>
      <p:pic>
        <p:nvPicPr>
          <p:cNvPr id="16" name="Image 4" descr="preencoded.png">    </p:cNvPr>
          <p:cNvPicPr>
            <a:picLocks noChangeAspect="1"/>
          </p:cNvPicPr>
          <p:nvPr/>
        </p:nvPicPr>
        <p:blipFill>
          <a:blip r:embed="rId5"/>
          <a:stretch>
            <a:fillRect/>
          </a:stretch>
        </p:blipFill>
        <p:spPr>
          <a:xfrm>
            <a:off x="7784744" y="5183276"/>
            <a:ext cx="231343" cy="231343"/>
          </a:xfrm>
          <a:prstGeom prst="rect">
            <a:avLst/>
          </a:prstGeom>
        </p:spPr>
      </p:pic>
      <p:sp>
        <p:nvSpPr>
          <p:cNvPr id="17" name="Text 10"/>
          <p:cNvSpPr txBox="1"/>
          <p:nvPr/>
        </p:nvSpPr>
        <p:spPr>
          <a:xfrm>
            <a:off x="8275320" y="5070348"/>
            <a:ext cx="3367735" cy="109270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Las en curso cuentan la mitad</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Reconoce el trabajo empezado sin darlo por terminado.</a:t>
            </a:r>
            <a:endParaRPr lang="en-US" sz="1500" dirty="0"/>
          </a:p>
        </p:txBody>
      </p:sp>
      <p:sp>
        <p:nvSpPr>
          <p:cNvPr id="18" name="Text 11"/>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Dashboard del proyecto</a:t>
            </a:r>
            <a:endParaRPr lang="en-US" sz="1000" dirty="0"/>
          </a:p>
        </p:txBody>
      </p:sp>
      <p:sp>
        <p:nvSpPr>
          <p:cNvPr id="19" name="Text 12"/>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60</a:t>
            </a:r>
            <a:endParaRPr lang="en-US" sz="1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Cómo se calcula el % de implementación AWP</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La misma fórmula en el dashboard, el portafolio y la base de datos</a:t>
            </a:r>
            <a:endParaRPr lang="en-US" sz="1500" dirty="0"/>
          </a:p>
        </p:txBody>
      </p:sp>
      <p:sp>
        <p:nvSpPr>
          <p:cNvPr id="4" name="Shape 2"/>
          <p:cNvSpPr/>
          <p:nvPr/>
        </p:nvSpPr>
        <p:spPr>
          <a:xfrm>
            <a:off x="548640" y="1600200"/>
            <a:ext cx="11094415" cy="1234440"/>
          </a:xfrm>
          <a:prstGeom prst="roundRect">
            <a:avLst>
              <a:gd name="adj" fmla="val 8889"/>
            </a:avLst>
          </a:prstGeom>
          <a:solidFill>
            <a:srgbClr val="1A1F4B"/>
          </a:solidFill>
          <a:ln w="12700">
            <a:solidFill>
              <a:srgbClr val="1A1F4B"/>
            </a:solidFill>
            <a:prstDash val="solid"/>
          </a:ln>
        </p:spPr>
      </p:sp>
      <p:sp>
        <p:nvSpPr>
          <p:cNvPr id="5" name="Text 3"/>
          <p:cNvSpPr txBox="1"/>
          <p:nvPr/>
        </p:nvSpPr>
        <p:spPr>
          <a:xfrm>
            <a:off x="822960" y="1600200"/>
            <a:ext cx="10545775" cy="123444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 AWP = (completadas + ½ × en curso) ÷ actividades aplicables</a:t>
            </a:r>
            <a:endParaRPr lang="en-US" sz="2800" dirty="0"/>
          </a:p>
        </p:txBody>
      </p:sp>
      <p:sp>
        <p:nvSpPr>
          <p:cNvPr id="6" name="Shape 4"/>
          <p:cNvSpPr/>
          <p:nvPr/>
        </p:nvSpPr>
        <p:spPr>
          <a:xfrm>
            <a:off x="548640" y="3108960"/>
            <a:ext cx="5410048" cy="1417320"/>
          </a:xfrm>
          <a:prstGeom prst="roundRect">
            <a:avLst>
              <a:gd name="adj" fmla="val 6452"/>
            </a:avLst>
          </a:prstGeom>
          <a:solidFill>
            <a:srgbClr val="F5F6FB"/>
          </a:solidFill>
          <a:ln w="9525">
            <a:solidFill>
              <a:srgbClr val="E3E5EE"/>
            </a:solidFill>
            <a:prstDash val="solid"/>
          </a:ln>
        </p:spPr>
      </p:sp>
      <p:sp>
        <p:nvSpPr>
          <p:cNvPr id="7" name="Text 5"/>
          <p:cNvSpPr txBox="1"/>
          <p:nvPr/>
        </p:nvSpPr>
        <p:spPr>
          <a:xfrm>
            <a:off x="822960" y="3291840"/>
            <a:ext cx="4861408" cy="1097280"/>
          </a:xfrm>
          <a:prstGeom prst="rect">
            <a:avLst/>
          </a:prstGeom>
          <a:noFill/>
          <a:ln/>
        </p:spPr>
        <p:txBody>
          <a:bodyPr wrap="square" lIns="0" tIns="0" rIns="0" bIns="0" rtlCol="0" anchor="t"/>
          <a:lstStyle/>
          <a:p>
            <a:pPr indent="0" marL="0">
              <a:spcAft>
                <a:spcPts val="400"/>
              </a:spcAft>
              <a:buNone/>
            </a:pPr>
            <a:r>
              <a:rPr lang="en-US" sz="1600" b="1" dirty="0">
                <a:solidFill>
                  <a:srgbClr val="283593"/>
                </a:solidFill>
                <a:latin typeface="Calibri" pitchFamily="34" charset="0"/>
                <a:ea typeface="Calibri" pitchFamily="34" charset="-122"/>
                <a:cs typeface="Calibri" pitchFamily="34" charset="-120"/>
              </a:rPr>
              <a:t>Actividades aplicables</a:t>
            </a:r>
            <a:endParaRPr lang="en-US" sz="1600" dirty="0"/>
          </a:p>
          <a:p>
            <a:pPr indent="0" marL="0">
              <a:spcAft>
                <a:spcPts val="400"/>
              </a:spcAft>
              <a:buNone/>
            </a:pPr>
            <a:r>
              <a:rPr lang="en-US" sz="1400" dirty="0">
                <a:solidFill>
                  <a:srgbClr val="1B1C22"/>
                </a:solidFill>
                <a:latin typeface="Calibri" pitchFamily="34" charset="0"/>
                <a:ea typeface="Calibri" pitchFamily="34" charset="-122"/>
                <a:cs typeface="Calibri" pitchFamily="34" charset="-120"/>
              </a:rPr>
              <a:t>Las 30 del checklist menos las marcadas «No aplica» (que exigen un comentario).</a:t>
            </a:r>
            <a:endParaRPr lang="en-US" sz="1600" dirty="0"/>
          </a:p>
        </p:txBody>
      </p:sp>
      <p:sp>
        <p:nvSpPr>
          <p:cNvPr id="8" name="Shape 6"/>
          <p:cNvSpPr/>
          <p:nvPr/>
        </p:nvSpPr>
        <p:spPr>
          <a:xfrm>
            <a:off x="6233008" y="3108960"/>
            <a:ext cx="5410048" cy="1417320"/>
          </a:xfrm>
          <a:prstGeom prst="roundRect">
            <a:avLst>
              <a:gd name="adj" fmla="val 6452"/>
            </a:avLst>
          </a:prstGeom>
          <a:solidFill>
            <a:srgbClr val="F5F6FB"/>
          </a:solidFill>
          <a:ln w="9525">
            <a:solidFill>
              <a:srgbClr val="E3E5EE"/>
            </a:solidFill>
            <a:prstDash val="solid"/>
          </a:ln>
        </p:spPr>
      </p:sp>
      <p:sp>
        <p:nvSpPr>
          <p:cNvPr id="9" name="Text 7"/>
          <p:cNvSpPr txBox="1"/>
          <p:nvPr/>
        </p:nvSpPr>
        <p:spPr>
          <a:xfrm>
            <a:off x="6507328" y="3291840"/>
            <a:ext cx="4861408" cy="1097280"/>
          </a:xfrm>
          <a:prstGeom prst="rect">
            <a:avLst/>
          </a:prstGeom>
          <a:noFill/>
          <a:ln/>
        </p:spPr>
        <p:txBody>
          <a:bodyPr wrap="square" lIns="0" tIns="0" rIns="0" bIns="0" rtlCol="0" anchor="t"/>
          <a:lstStyle/>
          <a:p>
            <a:pPr indent="0" marL="0">
              <a:spcAft>
                <a:spcPts val="400"/>
              </a:spcAft>
              <a:buNone/>
            </a:pPr>
            <a:r>
              <a:rPr lang="en-US" sz="1600" b="1" dirty="0">
                <a:solidFill>
                  <a:srgbClr val="283593"/>
                </a:solidFill>
                <a:latin typeface="Calibri" pitchFamily="34" charset="0"/>
                <a:ea typeface="Calibri" pitchFamily="34" charset="-122"/>
                <a:cs typeface="Calibri" pitchFamily="34" charset="-120"/>
              </a:rPr>
              <a:t>Ejemplo PTN</a:t>
            </a:r>
            <a:endParaRPr lang="en-US" sz="1600" dirty="0"/>
          </a:p>
          <a:p>
            <a:pPr indent="0" marL="0">
              <a:spcAft>
                <a:spcPts val="400"/>
              </a:spcAft>
              <a:buNone/>
            </a:pPr>
            <a:r>
              <a:rPr lang="en-US" sz="1400" dirty="0">
                <a:solidFill>
                  <a:srgbClr val="1B1C22"/>
                </a:solidFill>
                <a:latin typeface="Calibri" pitchFamily="34" charset="0"/>
                <a:ea typeface="Calibri" pitchFamily="34" charset="-122"/>
                <a:cs typeface="Calibri" pitchFamily="34" charset="-120"/>
              </a:rPr>
              <a:t>FEL: 7 completadas + 1 en curso de 8 → (7 + 0,5) ÷ 8 = 94 %. Total: 11 completadas + 4 en curso de 30 → 43 %.</a:t>
            </a:r>
            <a:endParaRPr lang="en-US" sz="1600" dirty="0"/>
          </a:p>
        </p:txBody>
      </p:sp>
      <p:sp>
        <p:nvSpPr>
          <p:cNvPr id="10" name="Shape 8"/>
          <p:cNvSpPr/>
          <p:nvPr/>
        </p:nvSpPr>
        <p:spPr>
          <a:xfrm>
            <a:off x="548640" y="4709160"/>
            <a:ext cx="5410048" cy="1417320"/>
          </a:xfrm>
          <a:prstGeom prst="roundRect">
            <a:avLst>
              <a:gd name="adj" fmla="val 6452"/>
            </a:avLst>
          </a:prstGeom>
          <a:solidFill>
            <a:srgbClr val="F5F6FB"/>
          </a:solidFill>
          <a:ln w="9525">
            <a:solidFill>
              <a:srgbClr val="E3E5EE"/>
            </a:solidFill>
            <a:prstDash val="solid"/>
          </a:ln>
        </p:spPr>
      </p:sp>
      <p:sp>
        <p:nvSpPr>
          <p:cNvPr id="11" name="Text 9"/>
          <p:cNvSpPr txBox="1"/>
          <p:nvPr/>
        </p:nvSpPr>
        <p:spPr>
          <a:xfrm>
            <a:off x="822960" y="4892040"/>
            <a:ext cx="4861408" cy="1097280"/>
          </a:xfrm>
          <a:prstGeom prst="rect">
            <a:avLst/>
          </a:prstGeom>
          <a:noFill/>
          <a:ln/>
        </p:spPr>
        <p:txBody>
          <a:bodyPr wrap="square" lIns="0" tIns="0" rIns="0" bIns="0" rtlCol="0" anchor="t"/>
          <a:lstStyle/>
          <a:p>
            <a:pPr indent="0" marL="0">
              <a:spcAft>
                <a:spcPts val="400"/>
              </a:spcAft>
              <a:buNone/>
            </a:pPr>
            <a:r>
              <a:rPr lang="en-US" sz="1600" b="1" dirty="0">
                <a:solidFill>
                  <a:srgbClr val="283593"/>
                </a:solidFill>
                <a:latin typeface="Calibri" pitchFamily="34" charset="0"/>
                <a:ea typeface="Calibri" pitchFamily="34" charset="-122"/>
                <a:cs typeface="Calibri" pitchFamily="34" charset="-120"/>
              </a:rPr>
              <a:t>Por etapa y total</a:t>
            </a:r>
            <a:endParaRPr lang="en-US" sz="1600" dirty="0"/>
          </a:p>
          <a:p>
            <a:pPr indent="0" marL="0">
              <a:spcAft>
                <a:spcPts val="400"/>
              </a:spcAft>
              <a:buNone/>
            </a:pPr>
            <a:r>
              <a:rPr lang="en-US" sz="1400" dirty="0">
                <a:solidFill>
                  <a:srgbClr val="1B1C22"/>
                </a:solidFill>
                <a:latin typeface="Calibri" pitchFamily="34" charset="0"/>
                <a:ea typeface="Calibri" pitchFamily="34" charset="-122"/>
                <a:cs typeface="Calibri" pitchFamily="34" charset="-120"/>
              </a:rPr>
              <a:t>El anillo de cada etapa usa sus actividades; el total usa las 30.</a:t>
            </a:r>
            <a:endParaRPr lang="en-US" sz="1600" dirty="0"/>
          </a:p>
        </p:txBody>
      </p:sp>
      <p:sp>
        <p:nvSpPr>
          <p:cNvPr id="12" name="Shape 10"/>
          <p:cNvSpPr/>
          <p:nvPr/>
        </p:nvSpPr>
        <p:spPr>
          <a:xfrm>
            <a:off x="6233008" y="4709160"/>
            <a:ext cx="5410048" cy="1417320"/>
          </a:xfrm>
          <a:prstGeom prst="roundRect">
            <a:avLst>
              <a:gd name="adj" fmla="val 6452"/>
            </a:avLst>
          </a:prstGeom>
          <a:solidFill>
            <a:srgbClr val="F5F6FB"/>
          </a:solidFill>
          <a:ln w="9525">
            <a:solidFill>
              <a:srgbClr val="E3E5EE"/>
            </a:solidFill>
            <a:prstDash val="solid"/>
          </a:ln>
        </p:spPr>
      </p:sp>
      <p:sp>
        <p:nvSpPr>
          <p:cNvPr id="13" name="Text 11"/>
          <p:cNvSpPr txBox="1"/>
          <p:nvPr/>
        </p:nvSpPr>
        <p:spPr>
          <a:xfrm>
            <a:off x="6507328" y="4892040"/>
            <a:ext cx="4861408" cy="1097280"/>
          </a:xfrm>
          <a:prstGeom prst="rect">
            <a:avLst/>
          </a:prstGeom>
          <a:noFill/>
          <a:ln/>
        </p:spPr>
        <p:txBody>
          <a:bodyPr wrap="square" lIns="0" tIns="0" rIns="0" bIns="0" rtlCol="0" anchor="t"/>
          <a:lstStyle/>
          <a:p>
            <a:pPr indent="0" marL="0">
              <a:spcAft>
                <a:spcPts val="400"/>
              </a:spcAft>
              <a:buNone/>
            </a:pPr>
            <a:r>
              <a:rPr lang="en-US" sz="1600" b="1" dirty="0">
                <a:solidFill>
                  <a:srgbClr val="283593"/>
                </a:solidFill>
                <a:latin typeface="Calibri" pitchFamily="34" charset="0"/>
                <a:ea typeface="Calibri" pitchFamily="34" charset="-122"/>
                <a:cs typeface="Calibri" pitchFamily="34" charset="-120"/>
              </a:rPr>
              <a:t>Promedio del portafolio</a:t>
            </a:r>
            <a:endParaRPr lang="en-US" sz="1600" dirty="0"/>
          </a:p>
          <a:p>
            <a:pPr indent="0" marL="0">
              <a:spcAft>
                <a:spcPts val="400"/>
              </a:spcAft>
              <a:buNone/>
            </a:pPr>
            <a:r>
              <a:rPr lang="en-US" sz="1400" dirty="0">
                <a:solidFill>
                  <a:srgbClr val="1B1C22"/>
                </a:solidFill>
                <a:latin typeface="Calibri" pitchFamily="34" charset="0"/>
                <a:ea typeface="Calibri" pitchFamily="34" charset="-122"/>
                <a:cs typeface="Calibri" pitchFamily="34" charset="-120"/>
              </a:rPr>
              <a:t>El indicador «Implementación AWP» del portafolio promedia el % de cada proyecto.</a:t>
            </a:r>
            <a:endParaRPr lang="en-US" sz="1600" dirty="0"/>
          </a:p>
        </p:txBody>
      </p:sp>
      <p:sp>
        <p:nvSpPr>
          <p:cNvPr id="14" name="Text 1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Dashboard del proyecto</a:t>
            </a:r>
            <a:endParaRPr lang="en-US" sz="1000" dirty="0"/>
          </a:p>
        </p:txBody>
      </p:sp>
      <p:sp>
        <p:nvSpPr>
          <p:cNvPr id="15" name="Text 1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61</a:t>
            </a:r>
            <a:endParaRPr lang="en-US" sz="1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Avance por fase frente a lo esperado</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Hitos cumplidos de cada fase contra los que ya deberían estarlo</a:t>
            </a:r>
            <a:endParaRPr lang="en-US" sz="1500" dirty="0"/>
          </a:p>
        </p:txBody>
      </p:sp>
      <p:sp>
        <p:nvSpPr>
          <p:cNvPr id="4" name="Shape 2"/>
          <p:cNvSpPr/>
          <p:nvPr/>
        </p:nvSpPr>
        <p:spPr>
          <a:xfrm>
            <a:off x="548640" y="1908725"/>
            <a:ext cx="4133088" cy="3991525"/>
          </a:xfrm>
          <a:prstGeom prst="roundRect">
            <a:avLst>
              <a:gd name="adj" fmla="val 1833"/>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proyecto_fases.jpg">    </p:cNvPr>
          <p:cNvPicPr>
            <a:picLocks noChangeAspect="1"/>
          </p:cNvPicPr>
          <p:nvPr/>
        </p:nvPicPr>
        <p:blipFill>
          <a:blip r:embed="rId1"/>
          <a:stretch>
            <a:fillRect/>
          </a:stretch>
        </p:blipFill>
        <p:spPr>
          <a:xfrm>
            <a:off x="603504" y="1963589"/>
            <a:ext cx="4023360" cy="3881797"/>
          </a:xfrm>
          <a:prstGeom prst="rect">
            <a:avLst/>
          </a:prstGeom>
        </p:spPr>
      </p:pic>
      <p:sp>
        <p:nvSpPr>
          <p:cNvPr id="6" name="Shape 3"/>
          <p:cNvSpPr/>
          <p:nvPr/>
        </p:nvSpPr>
        <p:spPr>
          <a:xfrm>
            <a:off x="5129784"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5224424" y="1685696"/>
            <a:ext cx="231343" cy="231343"/>
          </a:xfrm>
          <a:prstGeom prst="rect">
            <a:avLst/>
          </a:prstGeom>
        </p:spPr>
      </p:pic>
      <p:sp>
        <p:nvSpPr>
          <p:cNvPr id="8" name="Text 4"/>
          <p:cNvSpPr txBox="1"/>
          <p:nvPr/>
        </p:nvSpPr>
        <p:spPr>
          <a:xfrm>
            <a:off x="5715000" y="1572768"/>
            <a:ext cx="5928055" cy="109270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Barra</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 de hitos cumplidos de la fase, con el color de la fase (1 azul, 2 naranja, 3 verde).</a:t>
            </a:r>
            <a:endParaRPr lang="en-US" sz="1500" dirty="0"/>
          </a:p>
        </p:txBody>
      </p:sp>
      <p:sp>
        <p:nvSpPr>
          <p:cNvPr id="9" name="Shape 5"/>
          <p:cNvSpPr/>
          <p:nvPr/>
        </p:nvSpPr>
        <p:spPr>
          <a:xfrm>
            <a:off x="5129784" y="2756916"/>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5224424" y="2851556"/>
            <a:ext cx="231343" cy="231343"/>
          </a:xfrm>
          <a:prstGeom prst="rect">
            <a:avLst/>
          </a:prstGeom>
        </p:spPr>
      </p:pic>
      <p:sp>
        <p:nvSpPr>
          <p:cNvPr id="11" name="Text 6"/>
          <p:cNvSpPr txBox="1"/>
          <p:nvPr/>
        </p:nvSpPr>
        <p:spPr>
          <a:xfrm>
            <a:off x="5715000" y="2738628"/>
            <a:ext cx="5928055" cy="109270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Línea discontinua</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 de hitos cuya fecha plan ya pasó: el avance esperado a la fecha.</a:t>
            </a:r>
            <a:endParaRPr lang="en-US" sz="1500" dirty="0"/>
          </a:p>
        </p:txBody>
      </p:sp>
      <p:sp>
        <p:nvSpPr>
          <p:cNvPr id="12" name="Shape 7"/>
          <p:cNvSpPr/>
          <p:nvPr/>
        </p:nvSpPr>
        <p:spPr>
          <a:xfrm>
            <a:off x="5129784" y="3922776"/>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5224424" y="4017416"/>
            <a:ext cx="231343" cy="231343"/>
          </a:xfrm>
          <a:prstGeom prst="rect">
            <a:avLst/>
          </a:prstGeom>
        </p:spPr>
      </p:pic>
      <p:sp>
        <p:nvSpPr>
          <p:cNvPr id="14" name="Text 8"/>
          <p:cNvSpPr txBox="1"/>
          <p:nvPr/>
        </p:nvSpPr>
        <p:spPr>
          <a:xfrm>
            <a:off x="5715000" y="3904488"/>
            <a:ext cx="5928055" cy="109270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Conclusión</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«La Fase 1 va 30 puntos por detrás de sus hitos planificados».</a:t>
            </a:r>
            <a:endParaRPr lang="en-US" sz="1500" dirty="0"/>
          </a:p>
        </p:txBody>
      </p:sp>
      <p:sp>
        <p:nvSpPr>
          <p:cNvPr id="15" name="Shape 9"/>
          <p:cNvSpPr/>
          <p:nvPr/>
        </p:nvSpPr>
        <p:spPr>
          <a:xfrm>
            <a:off x="5129784" y="5088636"/>
            <a:ext cx="420624" cy="420624"/>
          </a:xfrm>
          <a:prstGeom prst="ellipse">
            <a:avLst/>
          </a:prstGeom>
          <a:solidFill>
            <a:srgbClr val="E8EAF6"/>
          </a:solidFill>
          <a:ln w="12700">
            <a:solidFill>
              <a:srgbClr val="E8EAF6"/>
            </a:solidFill>
            <a:prstDash val="solid"/>
          </a:ln>
        </p:spPr>
      </p:sp>
      <p:pic>
        <p:nvPicPr>
          <p:cNvPr id="16" name="Image 4" descr="preencoded.png">    </p:cNvPr>
          <p:cNvPicPr>
            <a:picLocks noChangeAspect="1"/>
          </p:cNvPicPr>
          <p:nvPr/>
        </p:nvPicPr>
        <p:blipFill>
          <a:blip r:embed="rId5"/>
          <a:stretch>
            <a:fillRect/>
          </a:stretch>
        </p:blipFill>
        <p:spPr>
          <a:xfrm>
            <a:off x="5224424" y="5183276"/>
            <a:ext cx="231343" cy="231343"/>
          </a:xfrm>
          <a:prstGeom prst="rect">
            <a:avLst/>
          </a:prstGeom>
        </p:spPr>
      </p:pic>
      <p:sp>
        <p:nvSpPr>
          <p:cNvPr id="17" name="Text 10"/>
          <p:cNvSpPr txBox="1"/>
          <p:nvPr/>
        </p:nvSpPr>
        <p:spPr>
          <a:xfrm>
            <a:off x="5715000" y="5070348"/>
            <a:ext cx="5928055" cy="109270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Colores fijos</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Cada fase conserva su color en todos los gráficos, validado para daltonismo.</a:t>
            </a:r>
            <a:endParaRPr lang="en-US" sz="1500" dirty="0"/>
          </a:p>
        </p:txBody>
      </p:sp>
      <p:sp>
        <p:nvSpPr>
          <p:cNvPr id="18" name="Text 11"/>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Dashboard del proyecto</a:t>
            </a:r>
            <a:endParaRPr lang="en-US" sz="1000" dirty="0"/>
          </a:p>
        </p:txBody>
      </p:sp>
      <p:sp>
        <p:nvSpPr>
          <p:cNvPr id="19" name="Text 12"/>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62</a:t>
            </a:r>
            <a:endParaRPr lang="en-US" sz="1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Línea de tiempo de hitos</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Todos los hitos del proyecto en el tiempo, con la línea «Hoy»</a:t>
            </a:r>
            <a:endParaRPr lang="en-US" sz="1500" dirty="0"/>
          </a:p>
        </p:txBody>
      </p:sp>
      <p:sp>
        <p:nvSpPr>
          <p:cNvPr id="4" name="Shape 2"/>
          <p:cNvSpPr/>
          <p:nvPr/>
        </p:nvSpPr>
        <p:spPr>
          <a:xfrm>
            <a:off x="2514143" y="1517904"/>
            <a:ext cx="7163410" cy="2761488"/>
          </a:xfrm>
          <a:prstGeom prst="roundRect">
            <a:avLst>
              <a:gd name="adj" fmla="val 2649"/>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proyecto_linea.jpg">    </p:cNvPr>
          <p:cNvPicPr>
            <a:picLocks noChangeAspect="1"/>
          </p:cNvPicPr>
          <p:nvPr/>
        </p:nvPicPr>
        <p:blipFill>
          <a:blip r:embed="rId1"/>
          <a:stretch>
            <a:fillRect/>
          </a:stretch>
        </p:blipFill>
        <p:spPr>
          <a:xfrm>
            <a:off x="2569007" y="1572768"/>
            <a:ext cx="7053682" cy="2651760"/>
          </a:xfrm>
          <a:prstGeom prst="rect">
            <a:avLst/>
          </a:prstGeom>
        </p:spPr>
      </p:pic>
      <p:sp>
        <p:nvSpPr>
          <p:cNvPr id="6" name="Shape 3"/>
          <p:cNvSpPr/>
          <p:nvPr/>
        </p:nvSpPr>
        <p:spPr>
          <a:xfrm>
            <a:off x="548640" y="4590288"/>
            <a:ext cx="2602154" cy="1673352"/>
          </a:xfrm>
          <a:prstGeom prst="roundRect">
            <a:avLst>
              <a:gd name="adj" fmla="val 5464"/>
            </a:avLst>
          </a:prstGeom>
          <a:solidFill>
            <a:srgbClr val="F5F6FB"/>
          </a:solidFill>
          <a:ln w="9525">
            <a:solidFill>
              <a:srgbClr val="E3E5EE"/>
            </a:solidFill>
            <a:prstDash val="solid"/>
          </a:ln>
        </p:spPr>
      </p:sp>
      <p:sp>
        <p:nvSpPr>
          <p:cNvPr id="7" name="Shape 4"/>
          <p:cNvSpPr/>
          <p:nvPr/>
        </p:nvSpPr>
        <p:spPr>
          <a:xfrm>
            <a:off x="731520" y="4773168"/>
            <a:ext cx="420624" cy="420624"/>
          </a:xfrm>
          <a:prstGeom prst="ellipse">
            <a:avLst/>
          </a:prstGeom>
          <a:solidFill>
            <a:srgbClr val="E8EAF6"/>
          </a:solidFill>
          <a:ln w="12700">
            <a:solidFill>
              <a:srgbClr val="E8EAF6"/>
            </a:solidFill>
            <a:prstDash val="solid"/>
          </a:ln>
        </p:spPr>
      </p:sp>
      <p:pic>
        <p:nvPicPr>
          <p:cNvPr id="8" name="Image 1" descr="preencoded.png">    </p:cNvPr>
          <p:cNvPicPr>
            <a:picLocks noChangeAspect="1"/>
          </p:cNvPicPr>
          <p:nvPr/>
        </p:nvPicPr>
        <p:blipFill>
          <a:blip r:embed="rId2"/>
          <a:stretch>
            <a:fillRect/>
          </a:stretch>
        </p:blipFill>
        <p:spPr>
          <a:xfrm>
            <a:off x="826160" y="4867808"/>
            <a:ext cx="231343" cy="231343"/>
          </a:xfrm>
          <a:prstGeom prst="rect">
            <a:avLst/>
          </a:prstGeom>
        </p:spPr>
      </p:pic>
      <p:sp>
        <p:nvSpPr>
          <p:cNvPr id="9" name="Text 5"/>
          <p:cNvSpPr txBox="1"/>
          <p:nvPr/>
        </p:nvSpPr>
        <p:spPr>
          <a:xfrm>
            <a:off x="731520" y="5321808"/>
            <a:ext cx="2236394" cy="804672"/>
          </a:xfrm>
          <a:prstGeom prst="rect">
            <a:avLst/>
          </a:prstGeom>
          <a:noFill/>
          <a:ln/>
        </p:spPr>
        <p:txBody>
          <a:bodyPr wrap="square" lIns="0" tIns="0" rIns="0" bIns="0" rtlCol="0" anchor="t">
            <a:normAutofit/>
          </a:bodyPr>
          <a:lstStyle/>
          <a:p>
            <a:pPr indent="0" marL="0">
              <a:buNone/>
            </a:pPr>
            <a:r>
              <a:rPr lang="en-US" sz="1550" b="1" dirty="0">
                <a:solidFill>
                  <a:srgbClr val="1B1C22"/>
                </a:solidFill>
                <a:latin typeface="Calibri" pitchFamily="34" charset="0"/>
                <a:ea typeface="Calibri" pitchFamily="34" charset="-122"/>
                <a:cs typeface="Calibri" pitchFamily="34" charset="-120"/>
              </a:rPr>
              <a:t>Círculo vacío</a:t>
            </a:r>
            <a:endParaRPr lang="en-US" sz="1550" dirty="0"/>
          </a:p>
          <a:p>
            <a:pPr indent="0" marL="0">
              <a:buNone/>
            </a:pPr>
            <a:r>
              <a:rPr lang="en-US" sz="1400" dirty="0">
                <a:solidFill>
                  <a:srgbClr val="5B5E6B"/>
                </a:solidFill>
                <a:latin typeface="Calibri" pitchFamily="34" charset="0"/>
                <a:ea typeface="Calibri" pitchFamily="34" charset="-122"/>
                <a:cs typeface="Calibri" pitchFamily="34" charset="-120"/>
              </a:rPr>
              <a:t>Fecha plan de un hito ya cumplido.</a:t>
            </a:r>
            <a:endParaRPr lang="en-US" sz="1550" dirty="0"/>
          </a:p>
        </p:txBody>
      </p:sp>
      <p:sp>
        <p:nvSpPr>
          <p:cNvPr id="10" name="Shape 6"/>
          <p:cNvSpPr/>
          <p:nvPr/>
        </p:nvSpPr>
        <p:spPr>
          <a:xfrm>
            <a:off x="3379394" y="4590288"/>
            <a:ext cx="2602154" cy="1673352"/>
          </a:xfrm>
          <a:prstGeom prst="roundRect">
            <a:avLst>
              <a:gd name="adj" fmla="val 5464"/>
            </a:avLst>
          </a:prstGeom>
          <a:solidFill>
            <a:srgbClr val="F5F6FB"/>
          </a:solidFill>
          <a:ln w="9525">
            <a:solidFill>
              <a:srgbClr val="E3E5EE"/>
            </a:solidFill>
            <a:prstDash val="solid"/>
          </a:ln>
        </p:spPr>
      </p:sp>
      <p:sp>
        <p:nvSpPr>
          <p:cNvPr id="11" name="Shape 7"/>
          <p:cNvSpPr/>
          <p:nvPr/>
        </p:nvSpPr>
        <p:spPr>
          <a:xfrm>
            <a:off x="3562274" y="4773168"/>
            <a:ext cx="420624" cy="420624"/>
          </a:xfrm>
          <a:prstGeom prst="ellipse">
            <a:avLst/>
          </a:prstGeom>
          <a:solidFill>
            <a:srgbClr val="E8EAF6"/>
          </a:solidFill>
          <a:ln w="12700">
            <a:solidFill>
              <a:srgbClr val="E8EAF6"/>
            </a:solidFill>
            <a:prstDash val="solid"/>
          </a:ln>
        </p:spPr>
      </p:sp>
      <p:pic>
        <p:nvPicPr>
          <p:cNvPr id="12" name="Image 2" descr="preencoded.png">    </p:cNvPr>
          <p:cNvPicPr>
            <a:picLocks noChangeAspect="1"/>
          </p:cNvPicPr>
          <p:nvPr/>
        </p:nvPicPr>
        <p:blipFill>
          <a:blip r:embed="rId3"/>
          <a:stretch>
            <a:fillRect/>
          </a:stretch>
        </p:blipFill>
        <p:spPr>
          <a:xfrm>
            <a:off x="3656914" y="4867808"/>
            <a:ext cx="231343" cy="231343"/>
          </a:xfrm>
          <a:prstGeom prst="rect">
            <a:avLst/>
          </a:prstGeom>
        </p:spPr>
      </p:pic>
      <p:sp>
        <p:nvSpPr>
          <p:cNvPr id="13" name="Text 8"/>
          <p:cNvSpPr txBox="1"/>
          <p:nvPr/>
        </p:nvSpPr>
        <p:spPr>
          <a:xfrm>
            <a:off x="3562274" y="5321808"/>
            <a:ext cx="2236394" cy="804672"/>
          </a:xfrm>
          <a:prstGeom prst="rect">
            <a:avLst/>
          </a:prstGeom>
          <a:noFill/>
          <a:ln/>
        </p:spPr>
        <p:txBody>
          <a:bodyPr wrap="square" lIns="0" tIns="0" rIns="0" bIns="0" rtlCol="0" anchor="t">
            <a:normAutofit/>
          </a:bodyPr>
          <a:lstStyle/>
          <a:p>
            <a:pPr indent="0" marL="0">
              <a:buNone/>
            </a:pPr>
            <a:r>
              <a:rPr lang="en-US" sz="1550" b="1" dirty="0">
                <a:solidFill>
                  <a:srgbClr val="1B1C22"/>
                </a:solidFill>
                <a:latin typeface="Calibri" pitchFamily="34" charset="0"/>
                <a:ea typeface="Calibri" pitchFamily="34" charset="-122"/>
                <a:cs typeface="Calibri" pitchFamily="34" charset="-120"/>
              </a:rPr>
              <a:t>Círculo lleno</a:t>
            </a:r>
            <a:endParaRPr lang="en-US" sz="1550" dirty="0"/>
          </a:p>
          <a:p>
            <a:pPr indent="0" marL="0">
              <a:buNone/>
            </a:pPr>
            <a:r>
              <a:rPr lang="en-US" sz="1400" dirty="0">
                <a:solidFill>
                  <a:srgbClr val="5B5E6B"/>
                </a:solidFill>
                <a:latin typeface="Calibri" pitchFamily="34" charset="0"/>
                <a:ea typeface="Calibri" pitchFamily="34" charset="-122"/>
                <a:cs typeface="Calibri" pitchFamily="34" charset="-120"/>
              </a:rPr>
              <a:t>Fecha real: verde si fue a tiempo, rojo si con atraso.</a:t>
            </a:r>
            <a:endParaRPr lang="en-US" sz="1550" dirty="0"/>
          </a:p>
        </p:txBody>
      </p:sp>
      <p:sp>
        <p:nvSpPr>
          <p:cNvPr id="14" name="Shape 9"/>
          <p:cNvSpPr/>
          <p:nvPr/>
        </p:nvSpPr>
        <p:spPr>
          <a:xfrm>
            <a:off x="6210148" y="4590288"/>
            <a:ext cx="2602154" cy="1673352"/>
          </a:xfrm>
          <a:prstGeom prst="roundRect">
            <a:avLst>
              <a:gd name="adj" fmla="val 5464"/>
            </a:avLst>
          </a:prstGeom>
          <a:solidFill>
            <a:srgbClr val="F5F6FB"/>
          </a:solidFill>
          <a:ln w="9525">
            <a:solidFill>
              <a:srgbClr val="E3E5EE"/>
            </a:solidFill>
            <a:prstDash val="solid"/>
          </a:ln>
        </p:spPr>
      </p:sp>
      <p:sp>
        <p:nvSpPr>
          <p:cNvPr id="15" name="Shape 10"/>
          <p:cNvSpPr/>
          <p:nvPr/>
        </p:nvSpPr>
        <p:spPr>
          <a:xfrm>
            <a:off x="6393028" y="4773168"/>
            <a:ext cx="420624" cy="420624"/>
          </a:xfrm>
          <a:prstGeom prst="ellipse">
            <a:avLst/>
          </a:prstGeom>
          <a:solidFill>
            <a:srgbClr val="E8EAF6"/>
          </a:solidFill>
          <a:ln w="12700">
            <a:solidFill>
              <a:srgbClr val="E8EAF6"/>
            </a:solidFill>
            <a:prstDash val="solid"/>
          </a:ln>
        </p:spPr>
      </p:sp>
      <p:pic>
        <p:nvPicPr>
          <p:cNvPr id="16" name="Image 3" descr="preencoded.png">    </p:cNvPr>
          <p:cNvPicPr>
            <a:picLocks noChangeAspect="1"/>
          </p:cNvPicPr>
          <p:nvPr/>
        </p:nvPicPr>
        <p:blipFill>
          <a:blip r:embed="rId4"/>
          <a:stretch>
            <a:fillRect/>
          </a:stretch>
        </p:blipFill>
        <p:spPr>
          <a:xfrm>
            <a:off x="6487668" y="4867808"/>
            <a:ext cx="231343" cy="231343"/>
          </a:xfrm>
          <a:prstGeom prst="rect">
            <a:avLst/>
          </a:prstGeom>
        </p:spPr>
      </p:pic>
      <p:sp>
        <p:nvSpPr>
          <p:cNvPr id="17" name="Text 11"/>
          <p:cNvSpPr txBox="1"/>
          <p:nvPr/>
        </p:nvSpPr>
        <p:spPr>
          <a:xfrm>
            <a:off x="6393028" y="5321808"/>
            <a:ext cx="2236394" cy="804672"/>
          </a:xfrm>
          <a:prstGeom prst="rect">
            <a:avLst/>
          </a:prstGeom>
          <a:noFill/>
          <a:ln/>
        </p:spPr>
        <p:txBody>
          <a:bodyPr wrap="square" lIns="0" tIns="0" rIns="0" bIns="0" rtlCol="0" anchor="t">
            <a:normAutofit/>
          </a:bodyPr>
          <a:lstStyle/>
          <a:p>
            <a:pPr indent="0" marL="0">
              <a:buNone/>
            </a:pPr>
            <a:r>
              <a:rPr lang="en-US" sz="1550" b="1" dirty="0">
                <a:solidFill>
                  <a:srgbClr val="1B1C22"/>
                </a:solidFill>
                <a:latin typeface="Calibri" pitchFamily="34" charset="0"/>
                <a:ea typeface="Calibri" pitchFamily="34" charset="-122"/>
                <a:cs typeface="Calibri" pitchFamily="34" charset="-120"/>
              </a:rPr>
              <a:t>Rombo</a:t>
            </a:r>
            <a:endParaRPr lang="en-US" sz="1550" dirty="0"/>
          </a:p>
          <a:p>
            <a:pPr indent="0" marL="0">
              <a:buNone/>
            </a:pPr>
            <a:r>
              <a:rPr lang="en-US" sz="1400" dirty="0">
                <a:solidFill>
                  <a:srgbClr val="5B5E6B"/>
                </a:solidFill>
                <a:latin typeface="Calibri" pitchFamily="34" charset="0"/>
                <a:ea typeface="Calibri" pitchFamily="34" charset="-122"/>
                <a:cs typeface="Calibri" pitchFamily="34" charset="-120"/>
              </a:rPr>
              <a:t>Hito pendiente: ámbar a tiempo, rojo atrasado.</a:t>
            </a:r>
            <a:endParaRPr lang="en-US" sz="1550" dirty="0"/>
          </a:p>
        </p:txBody>
      </p:sp>
      <p:sp>
        <p:nvSpPr>
          <p:cNvPr id="18" name="Shape 12"/>
          <p:cNvSpPr/>
          <p:nvPr/>
        </p:nvSpPr>
        <p:spPr>
          <a:xfrm>
            <a:off x="9040901" y="4590288"/>
            <a:ext cx="2602154" cy="1673352"/>
          </a:xfrm>
          <a:prstGeom prst="roundRect">
            <a:avLst>
              <a:gd name="adj" fmla="val 5464"/>
            </a:avLst>
          </a:prstGeom>
          <a:solidFill>
            <a:srgbClr val="F5F6FB"/>
          </a:solidFill>
          <a:ln w="9525">
            <a:solidFill>
              <a:srgbClr val="E3E5EE"/>
            </a:solidFill>
            <a:prstDash val="solid"/>
          </a:ln>
        </p:spPr>
      </p:sp>
      <p:sp>
        <p:nvSpPr>
          <p:cNvPr id="19" name="Shape 13"/>
          <p:cNvSpPr/>
          <p:nvPr/>
        </p:nvSpPr>
        <p:spPr>
          <a:xfrm>
            <a:off x="9223781" y="4773168"/>
            <a:ext cx="420624" cy="420624"/>
          </a:xfrm>
          <a:prstGeom prst="ellipse">
            <a:avLst/>
          </a:prstGeom>
          <a:solidFill>
            <a:srgbClr val="E8EAF6"/>
          </a:solidFill>
          <a:ln w="12700">
            <a:solidFill>
              <a:srgbClr val="E8EAF6"/>
            </a:solidFill>
            <a:prstDash val="solid"/>
          </a:ln>
        </p:spPr>
      </p:sp>
      <p:pic>
        <p:nvPicPr>
          <p:cNvPr id="20" name="Image 4" descr="preencoded.png">    </p:cNvPr>
          <p:cNvPicPr>
            <a:picLocks noChangeAspect="1"/>
          </p:cNvPicPr>
          <p:nvPr/>
        </p:nvPicPr>
        <p:blipFill>
          <a:blip r:embed="rId5"/>
          <a:stretch>
            <a:fillRect/>
          </a:stretch>
        </p:blipFill>
        <p:spPr>
          <a:xfrm>
            <a:off x="9318422" y="4867808"/>
            <a:ext cx="231343" cy="231343"/>
          </a:xfrm>
          <a:prstGeom prst="rect">
            <a:avLst/>
          </a:prstGeom>
        </p:spPr>
      </p:pic>
      <p:sp>
        <p:nvSpPr>
          <p:cNvPr id="21" name="Text 14"/>
          <p:cNvSpPr txBox="1"/>
          <p:nvPr/>
        </p:nvSpPr>
        <p:spPr>
          <a:xfrm>
            <a:off x="9223781" y="5321808"/>
            <a:ext cx="2236394" cy="804672"/>
          </a:xfrm>
          <a:prstGeom prst="rect">
            <a:avLst/>
          </a:prstGeom>
          <a:noFill/>
          <a:ln/>
        </p:spPr>
        <p:txBody>
          <a:bodyPr wrap="square" lIns="0" tIns="0" rIns="0" bIns="0" rtlCol="0" anchor="t">
            <a:normAutofit/>
          </a:bodyPr>
          <a:lstStyle/>
          <a:p>
            <a:pPr indent="0" marL="0">
              <a:buNone/>
            </a:pPr>
            <a:r>
              <a:rPr lang="en-US" sz="1550" b="1" dirty="0">
                <a:solidFill>
                  <a:srgbClr val="1B1C22"/>
                </a:solidFill>
                <a:latin typeface="Calibri" pitchFamily="34" charset="0"/>
                <a:ea typeface="Calibri" pitchFamily="34" charset="-122"/>
                <a:cs typeface="Calibri" pitchFamily="34" charset="-120"/>
              </a:rPr>
              <a:t>Interacción</a:t>
            </a:r>
            <a:endParaRPr lang="en-US" sz="1550" dirty="0"/>
          </a:p>
          <a:p>
            <a:pPr indent="0" marL="0">
              <a:buNone/>
            </a:pPr>
            <a:r>
              <a:rPr lang="en-US" sz="1400" dirty="0">
                <a:solidFill>
                  <a:srgbClr val="5B5E6B"/>
                </a:solidFill>
                <a:latin typeface="Calibri" pitchFamily="34" charset="0"/>
                <a:ea typeface="Calibri" pitchFamily="34" charset="-122"/>
                <a:cs typeface="Calibri" pitchFamily="34" charset="-120"/>
              </a:rPr>
              <a:t>Pasa el cursor para ver plan y real; toca para abrirlo.</a:t>
            </a:r>
            <a:endParaRPr lang="en-US" sz="1550" dirty="0"/>
          </a:p>
        </p:txBody>
      </p:sp>
      <p:sp>
        <p:nvSpPr>
          <p:cNvPr id="22" name="Text 15"/>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Dashboard del proyecto</a:t>
            </a:r>
            <a:endParaRPr lang="en-US" sz="1000" dirty="0"/>
          </a:p>
        </p:txBody>
      </p:sp>
      <p:sp>
        <p:nvSpPr>
          <p:cNvPr id="23" name="Text 16"/>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63</a:t>
            </a:r>
            <a:endParaRPr lang="en-US" sz="1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Hitos atrasados y próximos</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Las dos listas que conviene revisar cada lunes</a:t>
            </a:r>
            <a:endParaRPr lang="en-US" sz="1500" dirty="0"/>
          </a:p>
        </p:txBody>
      </p:sp>
      <p:sp>
        <p:nvSpPr>
          <p:cNvPr id="4" name="Shape 2"/>
          <p:cNvSpPr/>
          <p:nvPr/>
        </p:nvSpPr>
        <p:spPr>
          <a:xfrm>
            <a:off x="1858282" y="1545336"/>
            <a:ext cx="2699324" cy="3675888"/>
          </a:xfrm>
          <a:prstGeom prst="roundRect">
            <a:avLst>
              <a:gd name="adj" fmla="val 2710"/>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proyecto_atrasados.jpg">    </p:cNvPr>
          <p:cNvPicPr>
            <a:picLocks noChangeAspect="1"/>
          </p:cNvPicPr>
          <p:nvPr/>
        </p:nvPicPr>
        <p:blipFill>
          <a:blip r:embed="rId1"/>
          <a:stretch>
            <a:fillRect/>
          </a:stretch>
        </p:blipFill>
        <p:spPr>
          <a:xfrm>
            <a:off x="1913146" y="1600200"/>
            <a:ext cx="2589596" cy="3566160"/>
          </a:xfrm>
          <a:prstGeom prst="rect">
            <a:avLst/>
          </a:prstGeom>
        </p:spPr>
      </p:pic>
      <p:sp>
        <p:nvSpPr>
          <p:cNvPr id="6" name="Text 3"/>
          <p:cNvSpPr txBox="1"/>
          <p:nvPr/>
        </p:nvSpPr>
        <p:spPr>
          <a:xfrm>
            <a:off x="548640" y="5440680"/>
            <a:ext cx="5318608" cy="868680"/>
          </a:xfrm>
          <a:prstGeom prst="rect">
            <a:avLst/>
          </a:prstGeom>
          <a:noFill/>
          <a:ln/>
        </p:spPr>
        <p:txBody>
          <a:bodyPr wrap="square" lIns="0" tIns="0" rIns="0" bIns="0" rtlCol="0" anchor="t">
            <a:normAutofit/>
          </a:bodyPr>
          <a:lstStyle/>
          <a:p>
            <a:pPr indent="0" marL="0">
              <a:buNone/>
            </a:pPr>
            <a:r>
              <a:rPr lang="en-US" sz="1400" dirty="0">
                <a:solidFill>
                  <a:srgbClr val="1B1C22"/>
                </a:solidFill>
                <a:latin typeface="Calibri" pitchFamily="34" charset="0"/>
                <a:ea typeface="Calibri" pitchFamily="34" charset="-122"/>
                <a:cs typeface="Calibri" pitchFamily="34" charset="-120"/>
              </a:rPr>
              <a:t>Atrasados: pendientes con fecha plan vencida, del más antiguo al más reciente, con los días de atraso. Toca uno para registrar su evidencia o replanificarlo.</a:t>
            </a:r>
            <a:endParaRPr lang="en-US" sz="1400" dirty="0"/>
          </a:p>
        </p:txBody>
      </p:sp>
      <p:sp>
        <p:nvSpPr>
          <p:cNvPr id="7" name="Shape 4"/>
          <p:cNvSpPr/>
          <p:nvPr/>
        </p:nvSpPr>
        <p:spPr>
          <a:xfrm>
            <a:off x="7638948" y="1545336"/>
            <a:ext cx="2689607" cy="3675888"/>
          </a:xfrm>
          <a:prstGeom prst="roundRect">
            <a:avLst>
              <a:gd name="adj" fmla="val 2720"/>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8" name="Image 1" descr="/tmp/claude-0/-home-user-01-awp/0b94e63d-a2ea-5e41-b4e8-6fcedbe96518/scratchpad/ppt/img/proyecto_proximos.jpg">    </p:cNvPr>
          <p:cNvPicPr>
            <a:picLocks noChangeAspect="1"/>
          </p:cNvPicPr>
          <p:nvPr/>
        </p:nvPicPr>
        <p:blipFill>
          <a:blip r:embed="rId2"/>
          <a:stretch>
            <a:fillRect/>
          </a:stretch>
        </p:blipFill>
        <p:spPr>
          <a:xfrm>
            <a:off x="7693812" y="1600200"/>
            <a:ext cx="2579879" cy="3566160"/>
          </a:xfrm>
          <a:prstGeom prst="rect">
            <a:avLst/>
          </a:prstGeom>
        </p:spPr>
      </p:pic>
      <p:sp>
        <p:nvSpPr>
          <p:cNvPr id="9" name="Text 5"/>
          <p:cNvSpPr txBox="1"/>
          <p:nvPr/>
        </p:nvSpPr>
        <p:spPr>
          <a:xfrm>
            <a:off x="6324448" y="5440680"/>
            <a:ext cx="5318608" cy="868680"/>
          </a:xfrm>
          <a:prstGeom prst="rect">
            <a:avLst/>
          </a:prstGeom>
          <a:noFill/>
          <a:ln/>
        </p:spPr>
        <p:txBody>
          <a:bodyPr wrap="square" lIns="0" tIns="0" rIns="0" bIns="0" rtlCol="0" anchor="t">
            <a:normAutofit/>
          </a:bodyPr>
          <a:lstStyle/>
          <a:p>
            <a:pPr indent="0" marL="0">
              <a:buNone/>
            </a:pPr>
            <a:r>
              <a:rPr lang="en-US" sz="1400" dirty="0">
                <a:solidFill>
                  <a:srgbClr val="1B1C22"/>
                </a:solidFill>
                <a:latin typeface="Calibri" pitchFamily="34" charset="0"/>
                <a:ea typeface="Calibri" pitchFamily="34" charset="-122"/>
                <a:cs typeface="Calibri" pitchFamily="34" charset="-120"/>
              </a:rPr>
              <a:t>Próximos 30 días: hitos que vencen pronto, con los días que faltan. Prepara con tiempo la evidencia que exige cada criterio.</a:t>
            </a:r>
            <a:endParaRPr lang="en-US" sz="1400" dirty="0"/>
          </a:p>
        </p:txBody>
      </p:sp>
      <p:sp>
        <p:nvSpPr>
          <p:cNvPr id="10" name="Text 6"/>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Dashboard del proyecto</a:t>
            </a:r>
            <a:endParaRPr lang="en-US" sz="1000" dirty="0"/>
          </a:p>
        </p:txBody>
      </p:sp>
      <p:sp>
        <p:nvSpPr>
          <p:cNvPr id="11" name="Text 7"/>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64</a:t>
            </a:r>
            <a:endParaRPr lang="en-US" sz="1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Tendencia de la implementación</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Una foto semanal de los indicadores, tomada al abrir el proyecto</a:t>
            </a:r>
            <a:endParaRPr lang="en-US" sz="1500" dirty="0"/>
          </a:p>
        </p:txBody>
      </p:sp>
      <p:sp>
        <p:nvSpPr>
          <p:cNvPr id="4" name="Shape 2"/>
          <p:cNvSpPr/>
          <p:nvPr/>
        </p:nvSpPr>
        <p:spPr>
          <a:xfrm>
            <a:off x="548640" y="1517904"/>
            <a:ext cx="3496122" cy="4773168"/>
          </a:xfrm>
          <a:prstGeom prst="roundRect">
            <a:avLst>
              <a:gd name="adj" fmla="val 2092"/>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proyecto_tendencia.jpg">    </p:cNvPr>
          <p:cNvPicPr>
            <a:picLocks noChangeAspect="1"/>
          </p:cNvPicPr>
          <p:nvPr/>
        </p:nvPicPr>
        <p:blipFill>
          <a:blip r:embed="rId1"/>
          <a:stretch>
            <a:fillRect/>
          </a:stretch>
        </p:blipFill>
        <p:spPr>
          <a:xfrm>
            <a:off x="603504" y="1572768"/>
            <a:ext cx="3386394" cy="4663440"/>
          </a:xfrm>
          <a:prstGeom prst="rect">
            <a:avLst/>
          </a:prstGeom>
        </p:spPr>
      </p:pic>
      <p:sp>
        <p:nvSpPr>
          <p:cNvPr id="6" name="Shape 3"/>
          <p:cNvSpPr/>
          <p:nvPr/>
        </p:nvSpPr>
        <p:spPr>
          <a:xfrm>
            <a:off x="4492818"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4587459" y="1685696"/>
            <a:ext cx="231343" cy="231343"/>
          </a:xfrm>
          <a:prstGeom prst="rect">
            <a:avLst/>
          </a:prstGeom>
        </p:spPr>
      </p:pic>
      <p:sp>
        <p:nvSpPr>
          <p:cNvPr id="8" name="Text 4"/>
          <p:cNvSpPr txBox="1"/>
          <p:nvPr/>
        </p:nvSpPr>
        <p:spPr>
          <a:xfrm>
            <a:off x="5078034" y="1572768"/>
            <a:ext cx="6565021" cy="109270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Instantánea semanal</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Al abrir el proyecto se guarda la foto de la semana (lunes): % AWP, hitos atrasados y más.</a:t>
            </a:r>
            <a:endParaRPr lang="en-US" sz="1500" dirty="0"/>
          </a:p>
        </p:txBody>
      </p:sp>
      <p:sp>
        <p:nvSpPr>
          <p:cNvPr id="9" name="Shape 5"/>
          <p:cNvSpPr/>
          <p:nvPr/>
        </p:nvSpPr>
        <p:spPr>
          <a:xfrm>
            <a:off x="4492818" y="2756916"/>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4587459" y="2851556"/>
            <a:ext cx="231343" cy="231343"/>
          </a:xfrm>
          <a:prstGeom prst="rect">
            <a:avLst/>
          </a:prstGeom>
        </p:spPr>
      </p:pic>
      <p:sp>
        <p:nvSpPr>
          <p:cNvPr id="11" name="Text 6"/>
          <p:cNvSpPr txBox="1"/>
          <p:nvPr/>
        </p:nvSpPr>
        <p:spPr>
          <a:xfrm>
            <a:off x="5078034" y="2738628"/>
            <a:ext cx="6565021" cy="109270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Evolución</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El gráfico muestra el % de implementación semana a semana.</a:t>
            </a:r>
            <a:endParaRPr lang="en-US" sz="1500" dirty="0"/>
          </a:p>
        </p:txBody>
      </p:sp>
      <p:sp>
        <p:nvSpPr>
          <p:cNvPr id="12" name="Shape 7"/>
          <p:cNvSpPr/>
          <p:nvPr/>
        </p:nvSpPr>
        <p:spPr>
          <a:xfrm>
            <a:off x="4492818" y="3922776"/>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4587459" y="4017416"/>
            <a:ext cx="231343" cy="231343"/>
          </a:xfrm>
          <a:prstGeom prst="rect">
            <a:avLst/>
          </a:prstGeom>
        </p:spPr>
      </p:pic>
      <p:sp>
        <p:nvSpPr>
          <p:cNvPr id="14" name="Text 8"/>
          <p:cNvSpPr txBox="1"/>
          <p:nvPr/>
        </p:nvSpPr>
        <p:spPr>
          <a:xfrm>
            <a:off x="5078034" y="3904488"/>
            <a:ext cx="6565021" cy="109270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Conclusión</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«La implementación subió 30 puntos» desde la primera foto.</a:t>
            </a:r>
            <a:endParaRPr lang="en-US" sz="1500" dirty="0"/>
          </a:p>
        </p:txBody>
      </p:sp>
      <p:sp>
        <p:nvSpPr>
          <p:cNvPr id="15" name="Shape 9"/>
          <p:cNvSpPr/>
          <p:nvPr/>
        </p:nvSpPr>
        <p:spPr>
          <a:xfrm>
            <a:off x="4492818" y="5088636"/>
            <a:ext cx="420624" cy="420624"/>
          </a:xfrm>
          <a:prstGeom prst="ellipse">
            <a:avLst/>
          </a:prstGeom>
          <a:solidFill>
            <a:srgbClr val="E8EAF6"/>
          </a:solidFill>
          <a:ln w="12700">
            <a:solidFill>
              <a:srgbClr val="E8EAF6"/>
            </a:solidFill>
            <a:prstDash val="solid"/>
          </a:ln>
        </p:spPr>
      </p:sp>
      <p:pic>
        <p:nvPicPr>
          <p:cNvPr id="16" name="Image 4" descr="preencoded.png">    </p:cNvPr>
          <p:cNvPicPr>
            <a:picLocks noChangeAspect="1"/>
          </p:cNvPicPr>
          <p:nvPr/>
        </p:nvPicPr>
        <p:blipFill>
          <a:blip r:embed="rId5"/>
          <a:stretch>
            <a:fillRect/>
          </a:stretch>
        </p:blipFill>
        <p:spPr>
          <a:xfrm>
            <a:off x="4587459" y="5183276"/>
            <a:ext cx="231343" cy="231343"/>
          </a:xfrm>
          <a:prstGeom prst="rect">
            <a:avLst/>
          </a:prstGeom>
        </p:spPr>
      </p:pic>
      <p:sp>
        <p:nvSpPr>
          <p:cNvPr id="17" name="Text 10"/>
          <p:cNvSpPr txBox="1"/>
          <p:nvPr/>
        </p:nvSpPr>
        <p:spPr>
          <a:xfrm>
            <a:off x="5078034" y="5070348"/>
            <a:ext cx="6565021" cy="109270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Semanas sin foto</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Si nadie abre el proyecto en una semana, esa semana no tiene foto.</a:t>
            </a:r>
            <a:endParaRPr lang="en-US" sz="1500" dirty="0"/>
          </a:p>
        </p:txBody>
      </p:sp>
      <p:sp>
        <p:nvSpPr>
          <p:cNvPr id="18" name="Text 11"/>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Dashboard del proyecto</a:t>
            </a:r>
            <a:endParaRPr lang="en-US" sz="1000" dirty="0"/>
          </a:p>
        </p:txBody>
      </p:sp>
      <p:sp>
        <p:nvSpPr>
          <p:cNvPr id="19" name="Text 12"/>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65</a:t>
            </a:r>
            <a:endParaRPr lang="en-US" sz="10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Insignias del proyecto</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Logros que celebran los avances reales de la implementación</a:t>
            </a:r>
            <a:endParaRPr lang="en-US" sz="1500" dirty="0"/>
          </a:p>
        </p:txBody>
      </p:sp>
      <p:sp>
        <p:nvSpPr>
          <p:cNvPr id="4" name="Shape 2"/>
          <p:cNvSpPr/>
          <p:nvPr/>
        </p:nvSpPr>
        <p:spPr>
          <a:xfrm>
            <a:off x="548640" y="1583104"/>
            <a:ext cx="4315968" cy="4642769"/>
          </a:xfrm>
          <a:prstGeom prst="roundRect">
            <a:avLst>
              <a:gd name="adj" fmla="val 1695"/>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proyecto_min_insignias.jpg">    </p:cNvPr>
          <p:cNvPicPr>
            <a:picLocks noChangeAspect="1"/>
          </p:cNvPicPr>
          <p:nvPr/>
        </p:nvPicPr>
        <p:blipFill>
          <a:blip r:embed="rId1"/>
          <a:stretch>
            <a:fillRect/>
          </a:stretch>
        </p:blipFill>
        <p:spPr>
          <a:xfrm>
            <a:off x="603504" y="1637968"/>
            <a:ext cx="4206240" cy="4533041"/>
          </a:xfrm>
          <a:prstGeom prst="rect">
            <a:avLst/>
          </a:prstGeom>
        </p:spPr>
      </p:pic>
      <p:sp>
        <p:nvSpPr>
          <p:cNvPr id="6" name="Shape 3"/>
          <p:cNvSpPr/>
          <p:nvPr/>
        </p:nvSpPr>
        <p:spPr>
          <a:xfrm>
            <a:off x="5312664"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5407304" y="1685696"/>
            <a:ext cx="231343" cy="231343"/>
          </a:xfrm>
          <a:prstGeom prst="rect">
            <a:avLst/>
          </a:prstGeom>
        </p:spPr>
      </p:pic>
      <p:sp>
        <p:nvSpPr>
          <p:cNvPr id="8" name="Text 4"/>
          <p:cNvSpPr txBox="1"/>
          <p:nvPr/>
        </p:nvSpPr>
        <p:spPr>
          <a:xfrm>
            <a:off x="5897880" y="1572768"/>
            <a:ext cx="5745175" cy="148132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Se ganan solas</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Al cumplir hitos o completar etapas, la insignia se enciende y aparece un aviso.</a:t>
            </a:r>
            <a:endParaRPr lang="en-US" sz="1500" dirty="0"/>
          </a:p>
        </p:txBody>
      </p:sp>
      <p:sp>
        <p:nvSpPr>
          <p:cNvPr id="9" name="Shape 5"/>
          <p:cNvSpPr/>
          <p:nvPr/>
        </p:nvSpPr>
        <p:spPr>
          <a:xfrm>
            <a:off x="5312664" y="3145536"/>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5407304" y="3240176"/>
            <a:ext cx="231343" cy="231343"/>
          </a:xfrm>
          <a:prstGeom prst="rect">
            <a:avLst/>
          </a:prstGeom>
        </p:spPr>
      </p:pic>
      <p:sp>
        <p:nvSpPr>
          <p:cNvPr id="11" name="Text 6"/>
          <p:cNvSpPr txBox="1"/>
          <p:nvPr/>
        </p:nvSpPr>
        <p:spPr>
          <a:xfrm>
            <a:off x="5897880" y="3127248"/>
            <a:ext cx="5745175" cy="148132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Cómo obtenerla</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Pasa el cursor sobre una insignia gris para ver qué hace falta.</a:t>
            </a:r>
            <a:endParaRPr lang="en-US" sz="1500" dirty="0"/>
          </a:p>
        </p:txBody>
      </p:sp>
      <p:sp>
        <p:nvSpPr>
          <p:cNvPr id="12" name="Shape 7"/>
          <p:cNvSpPr/>
          <p:nvPr/>
        </p:nvSpPr>
        <p:spPr>
          <a:xfrm>
            <a:off x="5312664" y="4700016"/>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5407304" y="4794656"/>
            <a:ext cx="231343" cy="231343"/>
          </a:xfrm>
          <a:prstGeom prst="rect">
            <a:avLst/>
          </a:prstGeom>
        </p:spPr>
      </p:pic>
      <p:sp>
        <p:nvSpPr>
          <p:cNvPr id="14" name="Text 8"/>
          <p:cNvSpPr txBox="1"/>
          <p:nvPr/>
        </p:nvSpPr>
        <p:spPr>
          <a:xfrm>
            <a:off x="5897880" y="4681728"/>
            <a:ext cx="5745175" cy="148132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12 insignias</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El proyecto de ejemplo de la concentradora lleva 9 de 12.</a:t>
            </a:r>
            <a:endParaRPr lang="en-US" sz="1500" dirty="0"/>
          </a:p>
        </p:txBody>
      </p:sp>
      <p:sp>
        <p:nvSpPr>
          <p:cNvPr id="15" name="Text 9"/>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Dashboard del proyecto</a:t>
            </a:r>
            <a:endParaRPr lang="en-US" sz="1000" dirty="0"/>
          </a:p>
        </p:txBody>
      </p:sp>
      <p:sp>
        <p:nvSpPr>
          <p:cNvPr id="16" name="Text 10"/>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66</a:t>
            </a:r>
            <a:endParaRPr lang="en-US" sz="1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Las 12 insignias y cómo se obtienen</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Todas se basan en hitos cumplidos o en etapas completas del checklist</a:t>
            </a:r>
            <a:endParaRPr lang="en-US" sz="15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103120"/>
                <a:gridCol w="3383280"/>
                <a:gridCol w="2103120"/>
                <a:gridCol w="3383280"/>
              </a:tblGrid>
              <a:tr h="56692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Insignia</a:t>
                      </a:r>
                      <a:endParaRPr lang="en-US" sz="14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Cómo se obtiene</a:t>
                      </a:r>
                      <a:endParaRPr lang="en-US" sz="14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Insignia</a:t>
                      </a:r>
                      <a:endParaRPr lang="en-US" sz="14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Cómo se obtiene</a:t>
                      </a:r>
                      <a:endParaRPr lang="en-US" sz="14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r>
              <a:tr h="566928">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Primer paso</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Crear el proyecto con sus fases</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Ingeniería completa</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Completar las actividades de ingeniería</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566928">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Equipo formado</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Asignar CHA, LWF y CON</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Primer IWP liberado</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Cumplir el hito H7</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566928">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FEL completa</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Completar la planificación temprana</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Backlog estable</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Cumplir el hito H8</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566928">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Áreas definidas</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Cumplir H1 (CWA definidas)</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Construcción completa</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Completar las actividades de construcción</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566928">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Ruta trazada</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Cumplir H2 (PoC aprobado)</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Fase cerrada</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Cumplir H10 (cierre AWP de la fase)</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566928">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Paquetes alineados</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Cumplir H3 (CWP, EWP y PWP)</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AWP implementado</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Completar las 5 etapas del checklist</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Dashboard del proyecto</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67</a:t>
            </a:r>
            <a:endParaRPr lang="en-US" sz="10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Actividad reciente</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Quién cambió qué y cuándo, registrado automáticamente</a:t>
            </a:r>
            <a:endParaRPr lang="en-US" sz="1500" dirty="0"/>
          </a:p>
        </p:txBody>
      </p:sp>
      <p:sp>
        <p:nvSpPr>
          <p:cNvPr id="4" name="Shape 2"/>
          <p:cNvSpPr/>
          <p:nvPr/>
        </p:nvSpPr>
        <p:spPr>
          <a:xfrm>
            <a:off x="548640" y="1583104"/>
            <a:ext cx="4315968" cy="4642769"/>
          </a:xfrm>
          <a:prstGeom prst="roundRect">
            <a:avLst>
              <a:gd name="adj" fmla="val 1695"/>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proyecto_actividad.jpg">    </p:cNvPr>
          <p:cNvPicPr>
            <a:picLocks noChangeAspect="1"/>
          </p:cNvPicPr>
          <p:nvPr/>
        </p:nvPicPr>
        <p:blipFill>
          <a:blip r:embed="rId1"/>
          <a:stretch>
            <a:fillRect/>
          </a:stretch>
        </p:blipFill>
        <p:spPr>
          <a:xfrm>
            <a:off x="603504" y="1637968"/>
            <a:ext cx="4206240" cy="4533041"/>
          </a:xfrm>
          <a:prstGeom prst="rect">
            <a:avLst/>
          </a:prstGeom>
        </p:spPr>
      </p:pic>
      <p:sp>
        <p:nvSpPr>
          <p:cNvPr id="6" name="Shape 3"/>
          <p:cNvSpPr/>
          <p:nvPr/>
        </p:nvSpPr>
        <p:spPr>
          <a:xfrm>
            <a:off x="5312664"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5407304" y="1685696"/>
            <a:ext cx="231343" cy="231343"/>
          </a:xfrm>
          <a:prstGeom prst="rect">
            <a:avLst/>
          </a:prstGeom>
        </p:spPr>
      </p:pic>
      <p:sp>
        <p:nvSpPr>
          <p:cNvPr id="8" name="Text 4"/>
          <p:cNvSpPr txBox="1"/>
          <p:nvPr/>
        </p:nvSpPr>
        <p:spPr>
          <a:xfrm>
            <a:off x="5897880" y="1572768"/>
            <a:ext cx="5745175" cy="109270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Auditoría automática</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Cada alta, cambio o baja queda registrada con usuario y fecha, sin que nadie la escriba.</a:t>
            </a:r>
            <a:endParaRPr lang="en-US" sz="1500" dirty="0"/>
          </a:p>
        </p:txBody>
      </p:sp>
      <p:sp>
        <p:nvSpPr>
          <p:cNvPr id="9" name="Shape 5"/>
          <p:cNvSpPr/>
          <p:nvPr/>
        </p:nvSpPr>
        <p:spPr>
          <a:xfrm>
            <a:off x="5312664" y="2756916"/>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5407304" y="2851556"/>
            <a:ext cx="231343" cy="231343"/>
          </a:xfrm>
          <a:prstGeom prst="rect">
            <a:avLst/>
          </a:prstGeom>
        </p:spPr>
      </p:pic>
      <p:sp>
        <p:nvSpPr>
          <p:cNvPr id="11" name="Text 6"/>
          <p:cNvSpPr txBox="1"/>
          <p:nvPr/>
        </p:nvSpPr>
        <p:spPr>
          <a:xfrm>
            <a:off x="5897880" y="2738628"/>
            <a:ext cx="5745175" cy="109270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En lenguaje claro</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«Tú actualizaste un hito: estado Cumplido · hace un momento».</a:t>
            </a:r>
            <a:endParaRPr lang="en-US" sz="1500" dirty="0"/>
          </a:p>
        </p:txBody>
      </p:sp>
      <p:sp>
        <p:nvSpPr>
          <p:cNvPr id="12" name="Shape 7"/>
          <p:cNvSpPr/>
          <p:nvPr/>
        </p:nvSpPr>
        <p:spPr>
          <a:xfrm>
            <a:off x="5312664" y="3922776"/>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5407304" y="4017416"/>
            <a:ext cx="231343" cy="231343"/>
          </a:xfrm>
          <a:prstGeom prst="rect">
            <a:avLst/>
          </a:prstGeom>
        </p:spPr>
      </p:pic>
      <p:sp>
        <p:nvSpPr>
          <p:cNvPr id="14" name="Text 8"/>
          <p:cNvSpPr txBox="1"/>
          <p:nvPr/>
        </p:nvSpPr>
        <p:spPr>
          <a:xfrm>
            <a:off x="5897880" y="3904488"/>
            <a:ext cx="5745175" cy="109270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Inviolable</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Nadie puede editar ni borrar la auditoría desde la aplicación.</a:t>
            </a:r>
            <a:endParaRPr lang="en-US" sz="1500" dirty="0"/>
          </a:p>
        </p:txBody>
      </p:sp>
      <p:sp>
        <p:nvSpPr>
          <p:cNvPr id="15" name="Shape 9"/>
          <p:cNvSpPr/>
          <p:nvPr/>
        </p:nvSpPr>
        <p:spPr>
          <a:xfrm>
            <a:off x="5312664" y="5088636"/>
            <a:ext cx="420624" cy="420624"/>
          </a:xfrm>
          <a:prstGeom prst="ellipse">
            <a:avLst/>
          </a:prstGeom>
          <a:solidFill>
            <a:srgbClr val="E8EAF6"/>
          </a:solidFill>
          <a:ln w="12700">
            <a:solidFill>
              <a:srgbClr val="E8EAF6"/>
            </a:solidFill>
            <a:prstDash val="solid"/>
          </a:ln>
        </p:spPr>
      </p:sp>
      <p:pic>
        <p:nvPicPr>
          <p:cNvPr id="16" name="Image 4" descr="preencoded.png">    </p:cNvPr>
          <p:cNvPicPr>
            <a:picLocks noChangeAspect="1"/>
          </p:cNvPicPr>
          <p:nvPr/>
        </p:nvPicPr>
        <p:blipFill>
          <a:blip r:embed="rId5"/>
          <a:stretch>
            <a:fillRect/>
          </a:stretch>
        </p:blipFill>
        <p:spPr>
          <a:xfrm>
            <a:off x="5407304" y="5183276"/>
            <a:ext cx="231343" cy="231343"/>
          </a:xfrm>
          <a:prstGeom prst="rect">
            <a:avLst/>
          </a:prstGeom>
        </p:spPr>
      </p:pic>
      <p:sp>
        <p:nvSpPr>
          <p:cNvPr id="17" name="Text 10"/>
          <p:cNvSpPr txBox="1"/>
          <p:nvPr/>
        </p:nvSpPr>
        <p:spPr>
          <a:xfrm>
            <a:off x="5897880" y="5070348"/>
            <a:ext cx="5745175" cy="109270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Para equipos</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Cuando haya más usuarios por proyecto, mostrará el nombre de cada uno.</a:t>
            </a:r>
            <a:endParaRPr lang="en-US" sz="1500" dirty="0"/>
          </a:p>
        </p:txBody>
      </p:sp>
      <p:sp>
        <p:nvSpPr>
          <p:cNvPr id="18" name="Text 11"/>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Dashboard del proyecto</a:t>
            </a:r>
            <a:endParaRPr lang="en-US" sz="1000" dirty="0"/>
          </a:p>
        </p:txBody>
      </p:sp>
      <p:sp>
        <p:nvSpPr>
          <p:cNvPr id="19" name="Text 12"/>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68</a:t>
            </a:r>
            <a:endParaRPr lang="en-US" sz="10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Un proyecto más avanzado</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Ampliación de la concentradora Sur (MIN): 86 % de implementación</a:t>
            </a:r>
            <a:endParaRPr lang="en-US" sz="1500" dirty="0"/>
          </a:p>
        </p:txBody>
      </p:sp>
      <p:sp>
        <p:nvSpPr>
          <p:cNvPr id="4" name="Shape 2"/>
          <p:cNvSpPr/>
          <p:nvPr/>
        </p:nvSpPr>
        <p:spPr>
          <a:xfrm>
            <a:off x="4562856" y="1855460"/>
            <a:ext cx="7135063" cy="4061479"/>
          </a:xfrm>
          <a:prstGeom prst="roundRect">
            <a:avLst>
              <a:gd name="adj" fmla="val 1801"/>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proyecto_min.jpg">    </p:cNvPr>
          <p:cNvPicPr>
            <a:picLocks noChangeAspect="1"/>
          </p:cNvPicPr>
          <p:nvPr/>
        </p:nvPicPr>
        <p:blipFill>
          <a:blip r:embed="rId1"/>
          <a:stretch>
            <a:fillRect/>
          </a:stretch>
        </p:blipFill>
        <p:spPr>
          <a:xfrm>
            <a:off x="4617720" y="1910324"/>
            <a:ext cx="7025335" cy="3951751"/>
          </a:xfrm>
          <a:prstGeom prst="rect">
            <a:avLst/>
          </a:prstGeom>
        </p:spPr>
      </p:pic>
      <p:sp>
        <p:nvSpPr>
          <p:cNvPr id="6" name="Shape 3"/>
          <p:cNvSpPr/>
          <p:nvPr/>
        </p:nvSpPr>
        <p:spPr>
          <a:xfrm>
            <a:off x="548640"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643280" y="1685696"/>
            <a:ext cx="231343" cy="231343"/>
          </a:xfrm>
          <a:prstGeom prst="rect">
            <a:avLst/>
          </a:prstGeom>
        </p:spPr>
      </p:pic>
      <p:sp>
        <p:nvSpPr>
          <p:cNvPr id="8" name="Text 4"/>
          <p:cNvSpPr txBox="1"/>
          <p:nvPr/>
        </p:nvSpPr>
        <p:spPr>
          <a:xfrm>
            <a:off x="1133856" y="157276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Tres etapas completas</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FEL, Ingeniería y Procura al 100 %; construcción 79 %; comisionamiento 38 %.</a:t>
            </a:r>
            <a:endParaRPr lang="en-US" sz="1500" dirty="0"/>
          </a:p>
        </p:txBody>
      </p:sp>
      <p:sp>
        <p:nvSpPr>
          <p:cNvPr id="9" name="Shape 5"/>
          <p:cNvSpPr/>
          <p:nvPr/>
        </p:nvSpPr>
        <p:spPr>
          <a:xfrm>
            <a:off x="548640" y="2768346"/>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643280" y="2862986"/>
            <a:ext cx="231343" cy="231343"/>
          </a:xfrm>
          <a:prstGeom prst="rect">
            <a:avLst/>
          </a:prstGeom>
        </p:spPr>
      </p:pic>
      <p:sp>
        <p:nvSpPr>
          <p:cNvPr id="11" name="Text 6"/>
          <p:cNvSpPr txBox="1"/>
          <p:nvPr/>
        </p:nvSpPr>
        <p:spPr>
          <a:xfrm>
            <a:off x="1133856" y="275005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Próximo paso</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«Revisa el hito H10 · Cierre AWP de la fase de la Fase 1».</a:t>
            </a:r>
            <a:endParaRPr lang="en-US" sz="1500" dirty="0"/>
          </a:p>
        </p:txBody>
      </p:sp>
      <p:sp>
        <p:nvSpPr>
          <p:cNvPr id="12" name="Shape 7"/>
          <p:cNvSpPr/>
          <p:nvPr/>
        </p:nvSpPr>
        <p:spPr>
          <a:xfrm>
            <a:off x="548640" y="3945636"/>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643280" y="4040276"/>
            <a:ext cx="231343" cy="231343"/>
          </a:xfrm>
          <a:prstGeom prst="rect">
            <a:avLst/>
          </a:prstGeom>
        </p:spPr>
      </p:pic>
      <p:sp>
        <p:nvSpPr>
          <p:cNvPr id="14" name="Text 8"/>
          <p:cNvSpPr txBox="1"/>
          <p:nvPr/>
        </p:nvSpPr>
        <p:spPr>
          <a:xfrm>
            <a:off x="1133856" y="392734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Dos fases en ejecución</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Fase 1 cerca de su cierre y Fase 2 a mitad de camino.</a:t>
            </a:r>
            <a:endParaRPr lang="en-US" sz="1500" dirty="0"/>
          </a:p>
        </p:txBody>
      </p:sp>
      <p:sp>
        <p:nvSpPr>
          <p:cNvPr id="15" name="Shape 9"/>
          <p:cNvSpPr/>
          <p:nvPr/>
        </p:nvSpPr>
        <p:spPr>
          <a:xfrm>
            <a:off x="548640" y="5122926"/>
            <a:ext cx="420624" cy="420624"/>
          </a:xfrm>
          <a:prstGeom prst="ellipse">
            <a:avLst/>
          </a:prstGeom>
          <a:solidFill>
            <a:srgbClr val="E8EAF6"/>
          </a:solidFill>
          <a:ln w="12700">
            <a:solidFill>
              <a:srgbClr val="E8EAF6"/>
            </a:solidFill>
            <a:prstDash val="solid"/>
          </a:ln>
        </p:spPr>
      </p:sp>
      <p:pic>
        <p:nvPicPr>
          <p:cNvPr id="16" name="Image 4" descr="preencoded.png">    </p:cNvPr>
          <p:cNvPicPr>
            <a:picLocks noChangeAspect="1"/>
          </p:cNvPicPr>
          <p:nvPr/>
        </p:nvPicPr>
        <p:blipFill>
          <a:blip r:embed="rId5"/>
          <a:stretch>
            <a:fillRect/>
          </a:stretch>
        </p:blipFill>
        <p:spPr>
          <a:xfrm>
            <a:off x="643280" y="5217566"/>
            <a:ext cx="231343" cy="231343"/>
          </a:xfrm>
          <a:prstGeom prst="rect">
            <a:avLst/>
          </a:prstGeom>
        </p:spPr>
      </p:pic>
      <p:sp>
        <p:nvSpPr>
          <p:cNvPr id="17" name="Text 10"/>
          <p:cNvSpPr txBox="1"/>
          <p:nvPr/>
        </p:nvSpPr>
        <p:spPr>
          <a:xfrm>
            <a:off x="1133856" y="510463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Nuevas insignias</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El aviso inferior anuncia las insignias recién obtenidas.</a:t>
            </a:r>
            <a:endParaRPr lang="en-US" sz="1500" dirty="0"/>
          </a:p>
        </p:txBody>
      </p:sp>
      <p:sp>
        <p:nvSpPr>
          <p:cNvPr id="18" name="Text 11"/>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Dashboard del proyecto</a:t>
            </a:r>
            <a:endParaRPr lang="en-US" sz="1000" dirty="0"/>
          </a:p>
        </p:txBody>
      </p:sp>
      <p:sp>
        <p:nvSpPr>
          <p:cNvPr id="19" name="Text 12"/>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69</a:t>
            </a:r>
            <a:endParaRPr lang="en-US" sz="1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1A1F4B"/>
        </a:solidFill>
      </p:bgPr>
    </p:bg>
    <p:spTree>
      <p:nvGrpSpPr>
        <p:cNvPr id="1" name=""/>
        <p:cNvGrpSpPr/>
        <p:nvPr/>
      </p:nvGrpSpPr>
      <p:grpSpPr>
        <a:xfrm>
          <a:off x="0" y="0"/>
          <a:ext cx="0" cy="0"/>
          <a:chOff x="0" y="0"/>
          <a:chExt cx="0" cy="0"/>
        </a:xfrm>
      </p:grpSpPr>
      <p:sp>
        <p:nvSpPr>
          <p:cNvPr id="2" name="Text 0"/>
          <p:cNvSpPr txBox="1"/>
          <p:nvPr/>
        </p:nvSpPr>
        <p:spPr>
          <a:xfrm>
            <a:off x="548640" y="1188720"/>
            <a:ext cx="2743200" cy="1371600"/>
          </a:xfrm>
          <a:prstGeom prst="rect">
            <a:avLst/>
          </a:prstGeom>
          <a:noFill/>
          <a:ln/>
        </p:spPr>
        <p:txBody>
          <a:bodyPr wrap="square" lIns="0" tIns="0" rIns="0" bIns="0" rtlCol="0" anchor="t"/>
          <a:lstStyle/>
          <a:p>
            <a:pPr indent="0" marL="0">
              <a:buNone/>
            </a:pPr>
            <a:r>
              <a:rPr lang="en-US" sz="9600" b="1" dirty="0">
                <a:solidFill>
                  <a:srgbClr val="FFC107"/>
                </a:solidFill>
                <a:latin typeface="Calibri" pitchFamily="34" charset="0"/>
                <a:ea typeface="Calibri" pitchFamily="34" charset="-122"/>
                <a:cs typeface="Calibri" pitchFamily="34" charset="-120"/>
              </a:rPr>
              <a:t>08</a:t>
            </a:r>
            <a:endParaRPr lang="en-US" sz="9600" dirty="0"/>
          </a:p>
        </p:txBody>
      </p:sp>
      <p:sp>
        <p:nvSpPr>
          <p:cNvPr id="3" name="Text 1"/>
          <p:cNvSpPr txBox="1"/>
          <p:nvPr/>
        </p:nvSpPr>
        <p:spPr>
          <a:xfrm>
            <a:off x="548640" y="2697480"/>
            <a:ext cx="5852160" cy="73152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Fases</a:t>
            </a:r>
            <a:endParaRPr lang="en-US" sz="3800" dirty="0"/>
          </a:p>
        </p:txBody>
      </p:sp>
      <p:sp>
        <p:nvSpPr>
          <p:cNvPr id="4" name="Text 2"/>
          <p:cNvSpPr txBox="1"/>
          <p:nvPr/>
        </p:nvSpPr>
        <p:spPr>
          <a:xfrm>
            <a:off x="548640" y="3566160"/>
            <a:ext cx="5486400" cy="1097280"/>
          </a:xfrm>
          <a:prstGeom prst="rect">
            <a:avLst/>
          </a:prstGeom>
          <a:noFill/>
          <a:ln/>
        </p:spPr>
        <p:txBody>
          <a:bodyPr wrap="square" lIns="0" tIns="0" rIns="0" bIns="0" rtlCol="0" anchor="t"/>
          <a:lstStyle/>
          <a:p>
            <a:pPr indent="0" marL="0">
              <a:buNone/>
            </a:pPr>
            <a:r>
              <a:rPr lang="en-US" sz="1800" dirty="0">
                <a:solidFill>
                  <a:srgbClr val="C5CAE9"/>
                </a:solidFill>
                <a:latin typeface="Calibri" pitchFamily="34" charset="0"/>
                <a:ea typeface="Calibri" pitchFamily="34" charset="-122"/>
                <a:cs typeface="Calibri" pitchFamily="34" charset="-120"/>
              </a:rPr>
              <a:t>Fechas, estado, madurez y plazos de liberación de cada fase</a:t>
            </a:r>
            <a:endParaRPr lang="en-US" sz="1800" dirty="0"/>
          </a:p>
        </p:txBody>
      </p:sp>
      <p:sp>
        <p:nvSpPr>
          <p:cNvPr id="5" name="Shape 3"/>
          <p:cNvSpPr/>
          <p:nvPr/>
        </p:nvSpPr>
        <p:spPr>
          <a:xfrm>
            <a:off x="6766560" y="1234440"/>
            <a:ext cx="4892040" cy="4480560"/>
          </a:xfrm>
          <a:prstGeom prst="roundRect">
            <a:avLst>
              <a:gd name="adj" fmla="val 2449"/>
            </a:avLst>
          </a:prstGeom>
          <a:solidFill>
            <a:srgbClr val="252B5E"/>
          </a:solidFill>
          <a:ln w="12700">
            <a:solidFill>
              <a:srgbClr val="3C4488"/>
            </a:solidFill>
            <a:prstDash val="solid"/>
          </a:ln>
        </p:spPr>
      </p:sp>
      <p:sp>
        <p:nvSpPr>
          <p:cNvPr id="6" name="Text 4"/>
          <p:cNvSpPr txBox="1"/>
          <p:nvPr/>
        </p:nvSpPr>
        <p:spPr>
          <a:xfrm>
            <a:off x="7132320" y="1508760"/>
            <a:ext cx="4206240" cy="320040"/>
          </a:xfrm>
          <a:prstGeom prst="rect">
            <a:avLst/>
          </a:prstGeom>
          <a:noFill/>
          <a:ln/>
        </p:spPr>
        <p:txBody>
          <a:bodyPr wrap="square" lIns="0" tIns="0" rIns="0" bIns="0" rtlCol="0" anchor="t"/>
          <a:lstStyle/>
          <a:p>
            <a:pPr indent="0" marL="0">
              <a:buNone/>
            </a:pPr>
            <a:r>
              <a:rPr lang="en-US" sz="1200" b="1" spc="200" kern="0" dirty="0">
                <a:solidFill>
                  <a:srgbClr val="FFC107"/>
                </a:solidFill>
                <a:latin typeface="Calibri" pitchFamily="34" charset="0"/>
                <a:ea typeface="Calibri" pitchFamily="34" charset="-122"/>
                <a:cs typeface="Calibri" pitchFamily="34" charset="-120"/>
              </a:rPr>
              <a:t>EN ESTA SECCIÓN</a:t>
            </a:r>
            <a:endParaRPr lang="en-US" sz="1200" dirty="0"/>
          </a:p>
        </p:txBody>
      </p:sp>
      <p:sp>
        <p:nvSpPr>
          <p:cNvPr id="7" name="Shape 5"/>
          <p:cNvSpPr/>
          <p:nvPr/>
        </p:nvSpPr>
        <p:spPr>
          <a:xfrm>
            <a:off x="7178040" y="2103120"/>
            <a:ext cx="146304" cy="146304"/>
          </a:xfrm>
          <a:prstGeom prst="ellipse">
            <a:avLst/>
          </a:prstGeom>
          <a:solidFill>
            <a:srgbClr val="FFC107"/>
          </a:solidFill>
          <a:ln w="12700">
            <a:solidFill>
              <a:srgbClr val="FFC107"/>
            </a:solidFill>
            <a:prstDash val="solid"/>
          </a:ln>
        </p:spPr>
      </p:sp>
      <p:sp>
        <p:nvSpPr>
          <p:cNvPr id="8" name="Text 6"/>
          <p:cNvSpPr txBox="1"/>
          <p:nvPr/>
        </p:nvSpPr>
        <p:spPr>
          <a:xfrm>
            <a:off x="7498080" y="2011680"/>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Tarjetas de fase</a:t>
            </a:r>
            <a:endParaRPr lang="en-US" sz="1700" dirty="0"/>
          </a:p>
        </p:txBody>
      </p:sp>
      <p:sp>
        <p:nvSpPr>
          <p:cNvPr id="9" name="Shape 7"/>
          <p:cNvSpPr/>
          <p:nvPr/>
        </p:nvSpPr>
        <p:spPr>
          <a:xfrm>
            <a:off x="7178040" y="2816352"/>
            <a:ext cx="146304" cy="146304"/>
          </a:xfrm>
          <a:prstGeom prst="ellipse">
            <a:avLst/>
          </a:prstGeom>
          <a:solidFill>
            <a:srgbClr val="FFC107"/>
          </a:solidFill>
          <a:ln w="12700">
            <a:solidFill>
              <a:srgbClr val="FFC107"/>
            </a:solidFill>
            <a:prstDash val="solid"/>
          </a:ln>
        </p:spPr>
      </p:sp>
      <p:sp>
        <p:nvSpPr>
          <p:cNvPr id="10" name="Text 8"/>
          <p:cNvSpPr txBox="1"/>
          <p:nvPr/>
        </p:nvSpPr>
        <p:spPr>
          <a:xfrm>
            <a:off x="7498080" y="2724912"/>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Editar y validar</a:t>
            </a:r>
            <a:endParaRPr lang="en-US" sz="1700" dirty="0"/>
          </a:p>
        </p:txBody>
      </p:sp>
      <p:sp>
        <p:nvSpPr>
          <p:cNvPr id="11" name="Shape 9"/>
          <p:cNvSpPr/>
          <p:nvPr/>
        </p:nvSpPr>
        <p:spPr>
          <a:xfrm>
            <a:off x="7178040" y="3529584"/>
            <a:ext cx="146304" cy="146304"/>
          </a:xfrm>
          <a:prstGeom prst="ellipse">
            <a:avLst/>
          </a:prstGeom>
          <a:solidFill>
            <a:srgbClr val="FFC107"/>
          </a:solidFill>
          <a:ln w="12700">
            <a:solidFill>
              <a:srgbClr val="FFC107"/>
            </a:solidFill>
            <a:prstDash val="solid"/>
          </a:ln>
        </p:spPr>
      </p:sp>
      <p:sp>
        <p:nvSpPr>
          <p:cNvPr id="12" name="Text 10"/>
          <p:cNvSpPr txBox="1"/>
          <p:nvPr/>
        </p:nvSpPr>
        <p:spPr>
          <a:xfrm>
            <a:off x="7498080" y="3438144"/>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Agregar una fase</a:t>
            </a:r>
            <a:endParaRPr lang="en-US" sz="1700" dirty="0"/>
          </a:p>
        </p:txBody>
      </p:sp>
      <p:sp>
        <p:nvSpPr>
          <p:cNvPr id="13" name="Shape 11"/>
          <p:cNvSpPr/>
          <p:nvPr/>
        </p:nvSpPr>
        <p:spPr>
          <a:xfrm>
            <a:off x="7178040" y="4242816"/>
            <a:ext cx="146304" cy="146304"/>
          </a:xfrm>
          <a:prstGeom prst="ellipse">
            <a:avLst/>
          </a:prstGeom>
          <a:solidFill>
            <a:srgbClr val="FFC107"/>
          </a:solidFill>
          <a:ln w="12700">
            <a:solidFill>
              <a:srgbClr val="FFC107"/>
            </a:solidFill>
            <a:prstDash val="solid"/>
          </a:ln>
        </p:spPr>
      </p:sp>
      <p:sp>
        <p:nvSpPr>
          <p:cNvPr id="14" name="Text 12"/>
          <p:cNvSpPr txBox="1"/>
          <p:nvPr/>
        </p:nvSpPr>
        <p:spPr>
          <a:xfrm>
            <a:off x="7498080" y="4151376"/>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La Fase 1 como piloto</a:t>
            </a:r>
            <a:endParaRPr lang="en-US" sz="1700" dirty="0"/>
          </a:p>
        </p:txBody>
      </p:sp>
      <p:sp>
        <p:nvSpPr>
          <p:cNvPr id="15" name="Text 13"/>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8C93C9"/>
                </a:solidFill>
                <a:latin typeface="Calibri" pitchFamily="34" charset="0"/>
                <a:ea typeface="Calibri" pitchFamily="34" charset="-122"/>
                <a:cs typeface="Calibri" pitchFamily="34" charset="-120"/>
              </a:rPr>
              <a:t>Aplicación AWP · Fases</a:t>
            </a:r>
            <a:endParaRPr lang="en-US" sz="1000" dirty="0"/>
          </a:p>
        </p:txBody>
      </p:sp>
      <p:sp>
        <p:nvSpPr>
          <p:cNvPr id="16" name="Text 14"/>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8C93C9"/>
                </a:solidFill>
                <a:latin typeface="Calibri" pitchFamily="34" charset="0"/>
                <a:ea typeface="Calibri" pitchFamily="34" charset="-122"/>
                <a:cs typeface="Calibri" pitchFamily="34" charset="-120"/>
              </a:rPr>
              <a:t>70</a:t>
            </a:r>
            <a:endParaRPr lang="en-US" sz="1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Módulo Fases</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Una tarjeta por fase con todo lo que la define</a:t>
            </a:r>
            <a:endParaRPr lang="en-US" sz="1500" dirty="0"/>
          </a:p>
        </p:txBody>
      </p:sp>
      <p:sp>
        <p:nvSpPr>
          <p:cNvPr id="4" name="Shape 2"/>
          <p:cNvSpPr/>
          <p:nvPr/>
        </p:nvSpPr>
        <p:spPr>
          <a:xfrm>
            <a:off x="4562856" y="1855460"/>
            <a:ext cx="7135063" cy="4061479"/>
          </a:xfrm>
          <a:prstGeom prst="roundRect">
            <a:avLst>
              <a:gd name="adj" fmla="val 1801"/>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fases.jpg">    </p:cNvPr>
          <p:cNvPicPr>
            <a:picLocks noChangeAspect="1"/>
          </p:cNvPicPr>
          <p:nvPr/>
        </p:nvPicPr>
        <p:blipFill>
          <a:blip r:embed="rId1"/>
          <a:stretch>
            <a:fillRect/>
          </a:stretch>
        </p:blipFill>
        <p:spPr>
          <a:xfrm>
            <a:off x="4617720" y="1910324"/>
            <a:ext cx="7025335" cy="3951751"/>
          </a:xfrm>
          <a:prstGeom prst="rect">
            <a:avLst/>
          </a:prstGeom>
        </p:spPr>
      </p:pic>
      <p:sp>
        <p:nvSpPr>
          <p:cNvPr id="6" name="Shape 3"/>
          <p:cNvSpPr/>
          <p:nvPr/>
        </p:nvSpPr>
        <p:spPr>
          <a:xfrm>
            <a:off x="548640"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643280" y="1685696"/>
            <a:ext cx="231343" cy="231343"/>
          </a:xfrm>
          <a:prstGeom prst="rect">
            <a:avLst/>
          </a:prstGeom>
        </p:spPr>
      </p:pic>
      <p:sp>
        <p:nvSpPr>
          <p:cNvPr id="8" name="Text 4"/>
          <p:cNvSpPr txBox="1"/>
          <p:nvPr/>
        </p:nvSpPr>
        <p:spPr>
          <a:xfrm>
            <a:off x="1133856" y="1572768"/>
            <a:ext cx="3209544" cy="711708"/>
          </a:xfrm>
          <a:prstGeom prst="rect">
            <a:avLst/>
          </a:prstGeom>
          <a:noFill/>
          <a:ln/>
        </p:spPr>
        <p:txBody>
          <a:bodyPr wrap="square" lIns="0" tIns="0" rIns="0" bIns="0" rtlCol="0" anchor="t">
            <a:normAutofit/>
          </a:bodyPr>
          <a:lstStyle/>
          <a:p>
            <a:pPr indent="0" marL="0">
              <a:spcAft>
                <a:spcPts val="200"/>
              </a:spcAft>
              <a:buNone/>
            </a:pPr>
            <a:r>
              <a:rPr lang="en-US" sz="1350" b="1" dirty="0">
                <a:solidFill>
                  <a:srgbClr val="1B1C22"/>
                </a:solidFill>
                <a:latin typeface="Calibri" pitchFamily="34" charset="0"/>
                <a:ea typeface="Calibri" pitchFamily="34" charset="-122"/>
                <a:cs typeface="Calibri" pitchFamily="34" charset="-120"/>
              </a:rPr>
              <a:t>Número, nombre y estado</a:t>
            </a:r>
            <a:endParaRPr lang="en-US" sz="1350" dirty="0"/>
          </a:p>
          <a:p>
            <a:pPr indent="0" marL="0">
              <a:spcAft>
                <a:spcPts val="200"/>
              </a:spcAft>
              <a:buNone/>
            </a:pPr>
            <a:r>
              <a:rPr lang="en-US" sz="1150" dirty="0">
                <a:solidFill>
                  <a:srgbClr val="5B5E6B"/>
                </a:solidFill>
                <a:latin typeface="Calibri" pitchFamily="34" charset="0"/>
                <a:ea typeface="Calibri" pitchFamily="34" charset="-122"/>
                <a:cs typeface="Calibri" pitchFamily="34" charset="-120"/>
              </a:rPr>
              <a:t>Planificada, En ejecución o Cerrada, con su color de fase.</a:t>
            </a:r>
            <a:endParaRPr lang="en-US" sz="1350" dirty="0"/>
          </a:p>
        </p:txBody>
      </p:sp>
      <p:sp>
        <p:nvSpPr>
          <p:cNvPr id="9" name="Shape 5"/>
          <p:cNvSpPr/>
          <p:nvPr/>
        </p:nvSpPr>
        <p:spPr>
          <a:xfrm>
            <a:off x="548640" y="2375916"/>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643280" y="2470556"/>
            <a:ext cx="231343" cy="231343"/>
          </a:xfrm>
          <a:prstGeom prst="rect">
            <a:avLst/>
          </a:prstGeom>
        </p:spPr>
      </p:pic>
      <p:sp>
        <p:nvSpPr>
          <p:cNvPr id="11" name="Text 6"/>
          <p:cNvSpPr txBox="1"/>
          <p:nvPr/>
        </p:nvSpPr>
        <p:spPr>
          <a:xfrm>
            <a:off x="1133856" y="2357628"/>
            <a:ext cx="3209544" cy="711708"/>
          </a:xfrm>
          <a:prstGeom prst="rect">
            <a:avLst/>
          </a:prstGeom>
          <a:noFill/>
          <a:ln/>
        </p:spPr>
        <p:txBody>
          <a:bodyPr wrap="square" lIns="0" tIns="0" rIns="0" bIns="0" rtlCol="0" anchor="t">
            <a:normAutofit/>
          </a:bodyPr>
          <a:lstStyle/>
          <a:p>
            <a:pPr indent="0" marL="0">
              <a:spcAft>
                <a:spcPts val="200"/>
              </a:spcAft>
              <a:buNone/>
            </a:pPr>
            <a:r>
              <a:rPr lang="en-US" sz="1350" b="1" dirty="0">
                <a:solidFill>
                  <a:srgbClr val="1B1C22"/>
                </a:solidFill>
                <a:latin typeface="Calibri" pitchFamily="34" charset="0"/>
                <a:ea typeface="Calibri" pitchFamily="34" charset="-122"/>
                <a:cs typeface="Calibri" pitchFamily="34" charset="-120"/>
              </a:rPr>
              <a:t>Fechas y duración</a:t>
            </a:r>
            <a:endParaRPr lang="en-US" sz="1350" dirty="0"/>
          </a:p>
          <a:p>
            <a:pPr indent="0" marL="0">
              <a:spcAft>
                <a:spcPts val="200"/>
              </a:spcAft>
              <a:buNone/>
            </a:pPr>
            <a:r>
              <a:rPr lang="en-US" sz="1150" dirty="0">
                <a:solidFill>
                  <a:srgbClr val="5B5E6B"/>
                </a:solidFill>
                <a:latin typeface="Calibri" pitchFamily="34" charset="0"/>
                <a:ea typeface="Calibri" pitchFamily="34" charset="-122"/>
                <a:cs typeface="Calibri" pitchFamily="34" charset="-120"/>
              </a:rPr>
              <a:t>Inicio, fin y meses de duración.</a:t>
            </a:r>
            <a:endParaRPr lang="en-US" sz="1350" dirty="0"/>
          </a:p>
        </p:txBody>
      </p:sp>
      <p:sp>
        <p:nvSpPr>
          <p:cNvPr id="12" name="Shape 7"/>
          <p:cNvSpPr/>
          <p:nvPr/>
        </p:nvSpPr>
        <p:spPr>
          <a:xfrm>
            <a:off x="548640" y="3160776"/>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643280" y="3255416"/>
            <a:ext cx="231343" cy="231343"/>
          </a:xfrm>
          <a:prstGeom prst="rect">
            <a:avLst/>
          </a:prstGeom>
        </p:spPr>
      </p:pic>
      <p:sp>
        <p:nvSpPr>
          <p:cNvPr id="14" name="Text 8"/>
          <p:cNvSpPr txBox="1"/>
          <p:nvPr/>
        </p:nvSpPr>
        <p:spPr>
          <a:xfrm>
            <a:off x="1133856" y="3142488"/>
            <a:ext cx="3209544" cy="711708"/>
          </a:xfrm>
          <a:prstGeom prst="rect">
            <a:avLst/>
          </a:prstGeom>
          <a:noFill/>
          <a:ln/>
        </p:spPr>
        <p:txBody>
          <a:bodyPr wrap="square" lIns="0" tIns="0" rIns="0" bIns="0" rtlCol="0" anchor="t">
            <a:normAutofit/>
          </a:bodyPr>
          <a:lstStyle/>
          <a:p>
            <a:pPr indent="0" marL="0">
              <a:spcAft>
                <a:spcPts val="200"/>
              </a:spcAft>
              <a:buNone/>
            </a:pPr>
            <a:r>
              <a:rPr lang="en-US" sz="1350" b="1" dirty="0">
                <a:solidFill>
                  <a:srgbClr val="1B1C22"/>
                </a:solidFill>
                <a:latin typeface="Calibri" pitchFamily="34" charset="0"/>
                <a:ea typeface="Calibri" pitchFamily="34" charset="-122"/>
                <a:cs typeface="Calibri" pitchFamily="34" charset="-120"/>
              </a:rPr>
              <a:t>Madurez objetivo</a:t>
            </a:r>
            <a:endParaRPr lang="en-US" sz="1350" dirty="0"/>
          </a:p>
          <a:p>
            <a:pPr indent="0" marL="0">
              <a:spcAft>
                <a:spcPts val="200"/>
              </a:spcAft>
              <a:buNone/>
            </a:pPr>
            <a:r>
              <a:rPr lang="en-US" sz="1150" dirty="0">
                <a:solidFill>
                  <a:srgbClr val="5B5E6B"/>
                </a:solidFill>
                <a:latin typeface="Calibri" pitchFamily="34" charset="0"/>
                <a:ea typeface="Calibri" pitchFamily="34" charset="-122"/>
                <a:cs typeface="Calibri" pitchFamily="34" charset="-120"/>
              </a:rPr>
              <a:t>Nivel 1 a 5 que la fase busca alcanzar.</a:t>
            </a:r>
            <a:endParaRPr lang="en-US" sz="1350" dirty="0"/>
          </a:p>
        </p:txBody>
      </p:sp>
      <p:sp>
        <p:nvSpPr>
          <p:cNvPr id="15" name="Shape 9"/>
          <p:cNvSpPr/>
          <p:nvPr/>
        </p:nvSpPr>
        <p:spPr>
          <a:xfrm>
            <a:off x="548640" y="3945636"/>
            <a:ext cx="420624" cy="420624"/>
          </a:xfrm>
          <a:prstGeom prst="ellipse">
            <a:avLst/>
          </a:prstGeom>
          <a:solidFill>
            <a:srgbClr val="E8EAF6"/>
          </a:solidFill>
          <a:ln w="12700">
            <a:solidFill>
              <a:srgbClr val="E8EAF6"/>
            </a:solidFill>
            <a:prstDash val="solid"/>
          </a:ln>
        </p:spPr>
      </p:sp>
      <p:pic>
        <p:nvPicPr>
          <p:cNvPr id="16" name="Image 4" descr="preencoded.png">    </p:cNvPr>
          <p:cNvPicPr>
            <a:picLocks noChangeAspect="1"/>
          </p:cNvPicPr>
          <p:nvPr/>
        </p:nvPicPr>
        <p:blipFill>
          <a:blip r:embed="rId5"/>
          <a:stretch>
            <a:fillRect/>
          </a:stretch>
        </p:blipFill>
        <p:spPr>
          <a:xfrm>
            <a:off x="643280" y="4040276"/>
            <a:ext cx="231343" cy="231343"/>
          </a:xfrm>
          <a:prstGeom prst="rect">
            <a:avLst/>
          </a:prstGeom>
        </p:spPr>
      </p:pic>
      <p:sp>
        <p:nvSpPr>
          <p:cNvPr id="17" name="Text 10"/>
          <p:cNvSpPr txBox="1"/>
          <p:nvPr/>
        </p:nvSpPr>
        <p:spPr>
          <a:xfrm>
            <a:off x="1133856" y="3927348"/>
            <a:ext cx="3209544" cy="711708"/>
          </a:xfrm>
          <a:prstGeom prst="rect">
            <a:avLst/>
          </a:prstGeom>
          <a:noFill/>
          <a:ln/>
        </p:spPr>
        <p:txBody>
          <a:bodyPr wrap="square" lIns="0" tIns="0" rIns="0" bIns="0" rtlCol="0" anchor="t">
            <a:normAutofit/>
          </a:bodyPr>
          <a:lstStyle/>
          <a:p>
            <a:pPr indent="0" marL="0">
              <a:spcAft>
                <a:spcPts val="200"/>
              </a:spcAft>
              <a:buNone/>
            </a:pPr>
            <a:r>
              <a:rPr lang="en-US" sz="1350" b="1" dirty="0">
                <a:solidFill>
                  <a:srgbClr val="1B1C22"/>
                </a:solidFill>
                <a:latin typeface="Calibri" pitchFamily="34" charset="0"/>
                <a:ea typeface="Calibri" pitchFamily="34" charset="-122"/>
                <a:cs typeface="Calibri" pitchFamily="34" charset="-120"/>
              </a:rPr>
              <a:t>Plazos IWP y backlog</a:t>
            </a:r>
            <a:endParaRPr lang="en-US" sz="1350" dirty="0"/>
          </a:p>
          <a:p>
            <a:pPr indent="0" marL="0">
              <a:spcAft>
                <a:spcPts val="200"/>
              </a:spcAft>
              <a:buNone/>
            </a:pPr>
            <a:r>
              <a:rPr lang="en-US" sz="1150" dirty="0">
                <a:solidFill>
                  <a:srgbClr val="5B5E6B"/>
                </a:solidFill>
                <a:latin typeface="Calibri" pitchFamily="34" charset="0"/>
                <a:ea typeface="Calibri" pitchFamily="34" charset="-122"/>
                <a:cs typeface="Calibri" pitchFamily="34" charset="-120"/>
              </a:rPr>
              <a:t>Por ejemplo «12/10/8/4/2 sem · backlog 2 sem».</a:t>
            </a:r>
            <a:endParaRPr lang="en-US" sz="1350" dirty="0"/>
          </a:p>
        </p:txBody>
      </p:sp>
      <p:sp>
        <p:nvSpPr>
          <p:cNvPr id="18" name="Shape 11"/>
          <p:cNvSpPr/>
          <p:nvPr/>
        </p:nvSpPr>
        <p:spPr>
          <a:xfrm>
            <a:off x="548640" y="4730496"/>
            <a:ext cx="420624" cy="420624"/>
          </a:xfrm>
          <a:prstGeom prst="ellipse">
            <a:avLst/>
          </a:prstGeom>
          <a:solidFill>
            <a:srgbClr val="E8EAF6"/>
          </a:solidFill>
          <a:ln w="12700">
            <a:solidFill>
              <a:srgbClr val="E8EAF6"/>
            </a:solidFill>
            <a:prstDash val="solid"/>
          </a:ln>
        </p:spPr>
      </p:sp>
      <p:pic>
        <p:nvPicPr>
          <p:cNvPr id="19" name="Image 5" descr="preencoded.png">    </p:cNvPr>
          <p:cNvPicPr>
            <a:picLocks noChangeAspect="1"/>
          </p:cNvPicPr>
          <p:nvPr/>
        </p:nvPicPr>
        <p:blipFill>
          <a:blip r:embed="rId6"/>
          <a:stretch>
            <a:fillRect/>
          </a:stretch>
        </p:blipFill>
        <p:spPr>
          <a:xfrm>
            <a:off x="643280" y="4825136"/>
            <a:ext cx="231343" cy="231343"/>
          </a:xfrm>
          <a:prstGeom prst="rect">
            <a:avLst/>
          </a:prstGeom>
        </p:spPr>
      </p:pic>
      <p:sp>
        <p:nvSpPr>
          <p:cNvPr id="20" name="Text 12"/>
          <p:cNvSpPr txBox="1"/>
          <p:nvPr/>
        </p:nvSpPr>
        <p:spPr>
          <a:xfrm>
            <a:off x="1133856" y="4712208"/>
            <a:ext cx="3209544" cy="711708"/>
          </a:xfrm>
          <a:prstGeom prst="rect">
            <a:avLst/>
          </a:prstGeom>
          <a:noFill/>
          <a:ln/>
        </p:spPr>
        <p:txBody>
          <a:bodyPr wrap="square" lIns="0" tIns="0" rIns="0" bIns="0" rtlCol="0" anchor="t">
            <a:normAutofit/>
          </a:bodyPr>
          <a:lstStyle/>
          <a:p>
            <a:pPr indent="0" marL="0">
              <a:spcAft>
                <a:spcPts val="200"/>
              </a:spcAft>
              <a:buNone/>
            </a:pPr>
            <a:r>
              <a:rPr lang="en-US" sz="1350" b="1" dirty="0">
                <a:solidFill>
                  <a:srgbClr val="1B1C22"/>
                </a:solidFill>
                <a:latin typeface="Calibri" pitchFamily="34" charset="0"/>
                <a:ea typeface="Calibri" pitchFamily="34" charset="-122"/>
                <a:cs typeface="Calibri" pitchFamily="34" charset="-120"/>
              </a:rPr>
              <a:t>Planificadores</a:t>
            </a:r>
            <a:endParaRPr lang="en-US" sz="1350" dirty="0"/>
          </a:p>
          <a:p>
            <a:pPr indent="0" marL="0">
              <a:spcAft>
                <a:spcPts val="200"/>
              </a:spcAft>
              <a:buNone/>
            </a:pPr>
            <a:r>
              <a:rPr lang="en-US" sz="1150" dirty="0">
                <a:solidFill>
                  <a:srgbClr val="5B5E6B"/>
                </a:solidFill>
                <a:latin typeface="Calibri" pitchFamily="34" charset="0"/>
                <a:ea typeface="Calibri" pitchFamily="34" charset="-122"/>
                <a:cs typeface="Calibri" pitchFamily="34" charset="-120"/>
              </a:rPr>
              <a:t>Recomendados según el pico de personal (1 por cada 50).</a:t>
            </a:r>
            <a:endParaRPr lang="en-US" sz="1350" dirty="0"/>
          </a:p>
        </p:txBody>
      </p:sp>
      <p:sp>
        <p:nvSpPr>
          <p:cNvPr id="21" name="Shape 13"/>
          <p:cNvSpPr/>
          <p:nvPr/>
        </p:nvSpPr>
        <p:spPr>
          <a:xfrm>
            <a:off x="548640" y="5515356"/>
            <a:ext cx="420624" cy="420624"/>
          </a:xfrm>
          <a:prstGeom prst="ellipse">
            <a:avLst/>
          </a:prstGeom>
          <a:solidFill>
            <a:srgbClr val="E8EAF6"/>
          </a:solidFill>
          <a:ln w="12700">
            <a:solidFill>
              <a:srgbClr val="E8EAF6"/>
            </a:solidFill>
            <a:prstDash val="solid"/>
          </a:ln>
        </p:spPr>
      </p:sp>
      <p:pic>
        <p:nvPicPr>
          <p:cNvPr id="22" name="Image 6" descr="preencoded.png">    </p:cNvPr>
          <p:cNvPicPr>
            <a:picLocks noChangeAspect="1"/>
          </p:cNvPicPr>
          <p:nvPr/>
        </p:nvPicPr>
        <p:blipFill>
          <a:blip r:embed="rId7"/>
          <a:stretch>
            <a:fillRect/>
          </a:stretch>
        </p:blipFill>
        <p:spPr>
          <a:xfrm>
            <a:off x="643280" y="5609996"/>
            <a:ext cx="231343" cy="231343"/>
          </a:xfrm>
          <a:prstGeom prst="rect">
            <a:avLst/>
          </a:prstGeom>
        </p:spPr>
      </p:pic>
      <p:sp>
        <p:nvSpPr>
          <p:cNvPr id="23" name="Text 14"/>
          <p:cNvSpPr txBox="1"/>
          <p:nvPr/>
        </p:nvSpPr>
        <p:spPr>
          <a:xfrm>
            <a:off x="1133856" y="5497068"/>
            <a:ext cx="3209544" cy="711708"/>
          </a:xfrm>
          <a:prstGeom prst="rect">
            <a:avLst/>
          </a:prstGeom>
          <a:noFill/>
          <a:ln/>
        </p:spPr>
        <p:txBody>
          <a:bodyPr wrap="square" lIns="0" tIns="0" rIns="0" bIns="0" rtlCol="0" anchor="t">
            <a:normAutofit/>
          </a:bodyPr>
          <a:lstStyle/>
          <a:p>
            <a:pPr indent="0" marL="0">
              <a:spcAft>
                <a:spcPts val="200"/>
              </a:spcAft>
              <a:buNone/>
            </a:pPr>
            <a:r>
              <a:rPr lang="en-US" sz="1350" b="1" dirty="0">
                <a:solidFill>
                  <a:srgbClr val="1B1C22"/>
                </a:solidFill>
                <a:latin typeface="Calibri" pitchFamily="34" charset="0"/>
                <a:ea typeface="Calibri" pitchFamily="34" charset="-122"/>
                <a:cs typeface="Calibri" pitchFamily="34" charset="-120"/>
              </a:rPr>
              <a:t>Hitos</a:t>
            </a:r>
            <a:endParaRPr lang="en-US" sz="1350" dirty="0"/>
          </a:p>
          <a:p>
            <a:pPr indent="0" marL="0">
              <a:spcAft>
                <a:spcPts val="200"/>
              </a:spcAft>
              <a:buNone/>
            </a:pPr>
            <a:r>
              <a:rPr lang="en-US" sz="1150" dirty="0">
                <a:solidFill>
                  <a:srgbClr val="5B5E6B"/>
                </a:solidFill>
                <a:latin typeface="Calibri" pitchFamily="34" charset="0"/>
                <a:ea typeface="Calibri" pitchFamily="34" charset="-122"/>
                <a:cs typeface="Calibri" pitchFamily="34" charset="-120"/>
              </a:rPr>
              <a:t>Cumplidos de 10 y atrasados.</a:t>
            </a:r>
            <a:endParaRPr lang="en-US" sz="1350" dirty="0"/>
          </a:p>
        </p:txBody>
      </p:sp>
      <p:sp>
        <p:nvSpPr>
          <p:cNvPr id="24" name="Text 15"/>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Fases</a:t>
            </a:r>
            <a:endParaRPr lang="en-US" sz="1000" dirty="0"/>
          </a:p>
        </p:txBody>
      </p:sp>
      <p:sp>
        <p:nvSpPr>
          <p:cNvPr id="25" name="Text 16"/>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71</a:t>
            </a:r>
            <a:endParaRPr lang="en-US" sz="10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Editar una fase</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Todos los parámetros en un formulario, con ayuda en cada campo</a:t>
            </a:r>
            <a:endParaRPr lang="en-US" sz="1500" dirty="0"/>
          </a:p>
        </p:txBody>
      </p:sp>
      <p:sp>
        <p:nvSpPr>
          <p:cNvPr id="4" name="Shape 2"/>
          <p:cNvSpPr/>
          <p:nvPr/>
        </p:nvSpPr>
        <p:spPr>
          <a:xfrm>
            <a:off x="4562856" y="1855460"/>
            <a:ext cx="7135063" cy="4061479"/>
          </a:xfrm>
          <a:prstGeom prst="roundRect">
            <a:avLst>
              <a:gd name="adj" fmla="val 1801"/>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fase_form.jpg">    </p:cNvPr>
          <p:cNvPicPr>
            <a:picLocks noChangeAspect="1"/>
          </p:cNvPicPr>
          <p:nvPr/>
        </p:nvPicPr>
        <p:blipFill>
          <a:blip r:embed="rId1"/>
          <a:stretch>
            <a:fillRect/>
          </a:stretch>
        </p:blipFill>
        <p:spPr>
          <a:xfrm>
            <a:off x="4617720" y="1910324"/>
            <a:ext cx="7025335" cy="3951751"/>
          </a:xfrm>
          <a:prstGeom prst="rect">
            <a:avLst/>
          </a:prstGeom>
        </p:spPr>
      </p:pic>
      <p:sp>
        <p:nvSpPr>
          <p:cNvPr id="6" name="Shape 3"/>
          <p:cNvSpPr/>
          <p:nvPr/>
        </p:nvSpPr>
        <p:spPr>
          <a:xfrm>
            <a:off x="548640"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643280" y="1685696"/>
            <a:ext cx="231343" cy="231343"/>
          </a:xfrm>
          <a:prstGeom prst="rect">
            <a:avLst/>
          </a:prstGeom>
        </p:spPr>
      </p:pic>
      <p:sp>
        <p:nvSpPr>
          <p:cNvPr id="8" name="Text 4"/>
          <p:cNvSpPr txBox="1"/>
          <p:nvPr/>
        </p:nvSpPr>
        <p:spPr>
          <a:xfrm>
            <a:off x="1133856" y="157276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Número y nombre</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El número no puede repetirse en el proyecto.</a:t>
            </a:r>
            <a:endParaRPr lang="en-US" sz="1500" dirty="0"/>
          </a:p>
        </p:txBody>
      </p:sp>
      <p:sp>
        <p:nvSpPr>
          <p:cNvPr id="9" name="Shape 5"/>
          <p:cNvSpPr/>
          <p:nvPr/>
        </p:nvSpPr>
        <p:spPr>
          <a:xfrm>
            <a:off x="548640" y="2768346"/>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643280" y="2862986"/>
            <a:ext cx="231343" cy="231343"/>
          </a:xfrm>
          <a:prstGeom prst="rect">
            <a:avLst/>
          </a:prstGeom>
        </p:spPr>
      </p:pic>
      <p:sp>
        <p:nvSpPr>
          <p:cNvPr id="11" name="Text 6"/>
          <p:cNvSpPr txBox="1"/>
          <p:nvPr/>
        </p:nvSpPr>
        <p:spPr>
          <a:xfrm>
            <a:off x="1133856" y="275005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Inicio y fin</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Dentro de las fechas del proyecto; el fin después del inicio.</a:t>
            </a:r>
            <a:endParaRPr lang="en-US" sz="1500" dirty="0"/>
          </a:p>
        </p:txBody>
      </p:sp>
      <p:sp>
        <p:nvSpPr>
          <p:cNvPr id="12" name="Shape 7"/>
          <p:cNvSpPr/>
          <p:nvPr/>
        </p:nvSpPr>
        <p:spPr>
          <a:xfrm>
            <a:off x="548640" y="3945636"/>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643280" y="4040276"/>
            <a:ext cx="231343" cy="231343"/>
          </a:xfrm>
          <a:prstGeom prst="rect">
            <a:avLst/>
          </a:prstGeom>
        </p:spPr>
      </p:pic>
      <p:sp>
        <p:nvSpPr>
          <p:cNvPr id="14" name="Text 8"/>
          <p:cNvSpPr txBox="1"/>
          <p:nvPr/>
        </p:nvSpPr>
        <p:spPr>
          <a:xfrm>
            <a:off x="1133856" y="392734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Madurez, HH y pico de personal</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El pico sirve para dimensionar planificadores: 1 por cada 50 trabajadores.</a:t>
            </a:r>
            <a:endParaRPr lang="en-US" sz="1500" dirty="0"/>
          </a:p>
        </p:txBody>
      </p:sp>
      <p:sp>
        <p:nvSpPr>
          <p:cNvPr id="15" name="Shape 9"/>
          <p:cNvSpPr/>
          <p:nvPr/>
        </p:nvSpPr>
        <p:spPr>
          <a:xfrm>
            <a:off x="548640" y="5122926"/>
            <a:ext cx="420624" cy="420624"/>
          </a:xfrm>
          <a:prstGeom prst="ellipse">
            <a:avLst/>
          </a:prstGeom>
          <a:solidFill>
            <a:srgbClr val="E8EAF6"/>
          </a:solidFill>
          <a:ln w="12700">
            <a:solidFill>
              <a:srgbClr val="E8EAF6"/>
            </a:solidFill>
            <a:prstDash val="solid"/>
          </a:ln>
        </p:spPr>
      </p:sp>
      <p:pic>
        <p:nvPicPr>
          <p:cNvPr id="16" name="Image 4" descr="preencoded.png">    </p:cNvPr>
          <p:cNvPicPr>
            <a:picLocks noChangeAspect="1"/>
          </p:cNvPicPr>
          <p:nvPr/>
        </p:nvPicPr>
        <p:blipFill>
          <a:blip r:embed="rId5"/>
          <a:stretch>
            <a:fillRect/>
          </a:stretch>
        </p:blipFill>
        <p:spPr>
          <a:xfrm>
            <a:off x="643280" y="5217566"/>
            <a:ext cx="231343" cy="231343"/>
          </a:xfrm>
          <a:prstGeom prst="rect">
            <a:avLst/>
          </a:prstGeom>
        </p:spPr>
      </p:pic>
      <p:sp>
        <p:nvSpPr>
          <p:cNvPr id="17" name="Text 10"/>
          <p:cNvSpPr txBox="1"/>
          <p:nvPr/>
        </p:nvSpPr>
        <p:spPr>
          <a:xfrm>
            <a:off x="1133856" y="510463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Plazos de liberación</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Cinco plazos en semanas y la meta de backlog.</a:t>
            </a:r>
            <a:endParaRPr lang="en-US" sz="1500" dirty="0"/>
          </a:p>
        </p:txBody>
      </p:sp>
      <p:sp>
        <p:nvSpPr>
          <p:cNvPr id="18" name="Text 11"/>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Fases</a:t>
            </a:r>
            <a:endParaRPr lang="en-US" sz="1000" dirty="0"/>
          </a:p>
        </p:txBody>
      </p:sp>
      <p:sp>
        <p:nvSpPr>
          <p:cNvPr id="19" name="Text 12"/>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72</a:t>
            </a:r>
            <a:endParaRPr lang="en-US" sz="1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Validación de los plazos</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«Los plazos van de mayor a menor»</a:t>
            </a:r>
            <a:endParaRPr lang="en-US" sz="1500" dirty="0"/>
          </a:p>
        </p:txBody>
      </p:sp>
      <p:sp>
        <p:nvSpPr>
          <p:cNvPr id="4" name="Shape 2"/>
          <p:cNvSpPr/>
          <p:nvPr/>
        </p:nvSpPr>
        <p:spPr>
          <a:xfrm>
            <a:off x="4562856" y="1855460"/>
            <a:ext cx="7135063" cy="4061479"/>
          </a:xfrm>
          <a:prstGeom prst="roundRect">
            <a:avLst>
              <a:gd name="adj" fmla="val 1801"/>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fase_form_error.jpg">    </p:cNvPr>
          <p:cNvPicPr>
            <a:picLocks noChangeAspect="1"/>
          </p:cNvPicPr>
          <p:nvPr/>
        </p:nvPicPr>
        <p:blipFill>
          <a:blip r:embed="rId1"/>
          <a:stretch>
            <a:fillRect/>
          </a:stretch>
        </p:blipFill>
        <p:spPr>
          <a:xfrm>
            <a:off x="4617720" y="1910324"/>
            <a:ext cx="7025335" cy="3951751"/>
          </a:xfrm>
          <a:prstGeom prst="rect">
            <a:avLst/>
          </a:prstGeom>
        </p:spPr>
      </p:pic>
      <p:sp>
        <p:nvSpPr>
          <p:cNvPr id="6" name="Shape 3"/>
          <p:cNvSpPr/>
          <p:nvPr/>
        </p:nvSpPr>
        <p:spPr>
          <a:xfrm>
            <a:off x="548640"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643280" y="1685696"/>
            <a:ext cx="231343" cy="231343"/>
          </a:xfrm>
          <a:prstGeom prst="rect">
            <a:avLst/>
          </a:prstGeom>
        </p:spPr>
      </p:pic>
      <p:sp>
        <p:nvSpPr>
          <p:cNvPr id="8" name="Text 4"/>
          <p:cNvSpPr txBox="1"/>
          <p:nvPr/>
        </p:nvSpPr>
        <p:spPr>
          <a:xfrm>
            <a:off x="1133856" y="1572768"/>
            <a:ext cx="3209544" cy="149656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Error detectado</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Liberación a 9 semanas es mayor que «levantadas» a 3: no tiene sentido.</a:t>
            </a:r>
            <a:endParaRPr lang="en-US" sz="1500" dirty="0"/>
          </a:p>
        </p:txBody>
      </p:sp>
      <p:sp>
        <p:nvSpPr>
          <p:cNvPr id="9" name="Shape 5"/>
          <p:cNvSpPr/>
          <p:nvPr/>
        </p:nvSpPr>
        <p:spPr>
          <a:xfrm>
            <a:off x="548640" y="3160776"/>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643280" y="3255416"/>
            <a:ext cx="231343" cy="231343"/>
          </a:xfrm>
          <a:prstGeom prst="rect">
            <a:avLst/>
          </a:prstGeom>
        </p:spPr>
      </p:pic>
      <p:sp>
        <p:nvSpPr>
          <p:cNvPr id="11" name="Text 6"/>
          <p:cNvSpPr txBox="1"/>
          <p:nvPr/>
        </p:nvSpPr>
        <p:spPr>
          <a:xfrm>
            <a:off x="1133856" y="3142488"/>
            <a:ext cx="3209544" cy="149656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Regla</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IWP iniciado ≥ identificadas ≥ asignadas ≥ levantadas ≥ liberación.</a:t>
            </a:r>
            <a:endParaRPr lang="en-US" sz="1500" dirty="0"/>
          </a:p>
        </p:txBody>
      </p:sp>
      <p:sp>
        <p:nvSpPr>
          <p:cNvPr id="12" name="Shape 7"/>
          <p:cNvSpPr/>
          <p:nvPr/>
        </p:nvSpPr>
        <p:spPr>
          <a:xfrm>
            <a:off x="548640" y="4730496"/>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643280" y="4825136"/>
            <a:ext cx="231343" cy="231343"/>
          </a:xfrm>
          <a:prstGeom prst="rect">
            <a:avLst/>
          </a:prstGeom>
        </p:spPr>
      </p:pic>
      <p:sp>
        <p:nvSpPr>
          <p:cNvPr id="14" name="Text 8"/>
          <p:cNvSpPr txBox="1"/>
          <p:nvPr/>
        </p:nvSpPr>
        <p:spPr>
          <a:xfrm>
            <a:off x="1133856" y="4712208"/>
            <a:ext cx="3209544" cy="149656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Doble control</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La base de datos repite las validaciones aunque alguien salte el formulario.</a:t>
            </a:r>
            <a:endParaRPr lang="en-US" sz="1500" dirty="0"/>
          </a:p>
        </p:txBody>
      </p:sp>
      <p:sp>
        <p:nvSpPr>
          <p:cNvPr id="15" name="Text 9"/>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Fases</a:t>
            </a:r>
            <a:endParaRPr lang="en-US" sz="1000" dirty="0"/>
          </a:p>
        </p:txBody>
      </p:sp>
      <p:sp>
        <p:nvSpPr>
          <p:cNvPr id="16" name="Text 10"/>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73</a:t>
            </a:r>
            <a:endParaRPr lang="en-US" sz="10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Agregar una fase</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Se proponen fechas y parámetros; sus hitos H1–H10 se crean solos</a:t>
            </a:r>
            <a:endParaRPr lang="en-US" sz="1500" dirty="0"/>
          </a:p>
        </p:txBody>
      </p:sp>
      <p:sp>
        <p:nvSpPr>
          <p:cNvPr id="4" name="Shape 2"/>
          <p:cNvSpPr/>
          <p:nvPr/>
        </p:nvSpPr>
        <p:spPr>
          <a:xfrm>
            <a:off x="4562856" y="1855460"/>
            <a:ext cx="7135063" cy="4061479"/>
          </a:xfrm>
          <a:prstGeom prst="roundRect">
            <a:avLst>
              <a:gd name="adj" fmla="val 1801"/>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fase_nueva.jpg">    </p:cNvPr>
          <p:cNvPicPr>
            <a:picLocks noChangeAspect="1"/>
          </p:cNvPicPr>
          <p:nvPr/>
        </p:nvPicPr>
        <p:blipFill>
          <a:blip r:embed="rId1"/>
          <a:stretch>
            <a:fillRect/>
          </a:stretch>
        </p:blipFill>
        <p:spPr>
          <a:xfrm>
            <a:off x="4617720" y="1910324"/>
            <a:ext cx="7025335" cy="3951751"/>
          </a:xfrm>
          <a:prstGeom prst="rect">
            <a:avLst/>
          </a:prstGeom>
        </p:spPr>
      </p:pic>
      <p:sp>
        <p:nvSpPr>
          <p:cNvPr id="6" name="Shape 3"/>
          <p:cNvSpPr/>
          <p:nvPr/>
        </p:nvSpPr>
        <p:spPr>
          <a:xfrm>
            <a:off x="548640"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643280" y="1685696"/>
            <a:ext cx="231343" cy="231343"/>
          </a:xfrm>
          <a:prstGeom prst="rect">
            <a:avLst/>
          </a:prstGeom>
        </p:spPr>
      </p:pic>
      <p:sp>
        <p:nvSpPr>
          <p:cNvPr id="8" name="Text 4"/>
          <p:cNvSpPr txBox="1"/>
          <p:nvPr/>
        </p:nvSpPr>
        <p:spPr>
          <a:xfrm>
            <a:off x="1133856" y="1572768"/>
            <a:ext cx="3209544" cy="149656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Número siguiente</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La nueva fase toma el número siguiente y los plazos del kit.</a:t>
            </a:r>
            <a:endParaRPr lang="en-US" sz="1500" dirty="0"/>
          </a:p>
        </p:txBody>
      </p:sp>
      <p:sp>
        <p:nvSpPr>
          <p:cNvPr id="9" name="Shape 5"/>
          <p:cNvSpPr/>
          <p:nvPr/>
        </p:nvSpPr>
        <p:spPr>
          <a:xfrm>
            <a:off x="548640" y="3160776"/>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643280" y="3255416"/>
            <a:ext cx="231343" cy="231343"/>
          </a:xfrm>
          <a:prstGeom prst="rect">
            <a:avLst/>
          </a:prstGeom>
        </p:spPr>
      </p:pic>
      <p:sp>
        <p:nvSpPr>
          <p:cNvPr id="11" name="Text 6"/>
          <p:cNvSpPr txBox="1"/>
          <p:nvPr/>
        </p:nvSpPr>
        <p:spPr>
          <a:xfrm>
            <a:off x="1133856" y="3142488"/>
            <a:ext cx="3209544" cy="149656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Hitos automáticos</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Al guardarla se crean sus 10 hitos, H1 a H10, con fechas proporcionales.</a:t>
            </a:r>
            <a:endParaRPr lang="en-US" sz="1500" dirty="0"/>
          </a:p>
        </p:txBody>
      </p:sp>
      <p:sp>
        <p:nvSpPr>
          <p:cNvPr id="12" name="Shape 7"/>
          <p:cNvSpPr/>
          <p:nvPr/>
        </p:nvSpPr>
        <p:spPr>
          <a:xfrm>
            <a:off x="548640" y="4730496"/>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643280" y="4825136"/>
            <a:ext cx="231343" cy="231343"/>
          </a:xfrm>
          <a:prstGeom prst="rect">
            <a:avLst/>
          </a:prstGeom>
        </p:spPr>
      </p:pic>
      <p:sp>
        <p:nvSpPr>
          <p:cNvPr id="14" name="Text 8"/>
          <p:cNvSpPr txBox="1"/>
          <p:nvPr/>
        </p:nvSpPr>
        <p:spPr>
          <a:xfrm>
            <a:off x="1133856" y="4712208"/>
            <a:ext cx="3209544" cy="149656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Borrar con confirmación</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Borrar una fase pide confirmar y explica que se borran sus hitos.</a:t>
            </a:r>
            <a:endParaRPr lang="en-US" sz="1500" dirty="0"/>
          </a:p>
        </p:txBody>
      </p:sp>
      <p:sp>
        <p:nvSpPr>
          <p:cNvPr id="15" name="Text 9"/>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Fases</a:t>
            </a:r>
            <a:endParaRPr lang="en-US" sz="1000" dirty="0"/>
          </a:p>
        </p:txBody>
      </p:sp>
      <p:sp>
        <p:nvSpPr>
          <p:cNvPr id="16" name="Text 10"/>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74</a:t>
            </a:r>
            <a:endParaRPr lang="en-US" sz="10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1A1F4B"/>
        </a:solidFill>
      </p:bgPr>
    </p:bg>
    <p:spTree>
      <p:nvGrpSpPr>
        <p:cNvPr id="1" name=""/>
        <p:cNvGrpSpPr/>
        <p:nvPr/>
      </p:nvGrpSpPr>
      <p:grpSpPr>
        <a:xfrm>
          <a:off x="0" y="0"/>
          <a:ext cx="0" cy="0"/>
          <a:chOff x="0" y="0"/>
          <a:chExt cx="0" cy="0"/>
        </a:xfrm>
      </p:grpSpPr>
      <p:sp>
        <p:nvSpPr>
          <p:cNvPr id="2" name="Shape 0"/>
          <p:cNvSpPr/>
          <p:nvPr/>
        </p:nvSpPr>
        <p:spPr>
          <a:xfrm>
            <a:off x="548640" y="1371600"/>
            <a:ext cx="1188720" cy="1188720"/>
          </a:xfrm>
          <a:prstGeom prst="ellipse">
            <a:avLst/>
          </a:prstGeom>
          <a:solidFill>
            <a:srgbClr val="FFC107"/>
          </a:solidFill>
          <a:ln w="12700">
            <a:solidFill>
              <a:srgbClr val="FFC107"/>
            </a:solidFill>
            <a:prstDash val="solid"/>
          </a:ln>
        </p:spPr>
      </p:sp>
      <p:pic>
        <p:nvPicPr>
          <p:cNvPr id="3" name="Image 0" descr="preencoded.png">    </p:cNvPr>
          <p:cNvPicPr>
            <a:picLocks noChangeAspect="1"/>
          </p:cNvPicPr>
          <p:nvPr/>
        </p:nvPicPr>
        <p:blipFill>
          <a:blip r:embed="rId1"/>
          <a:stretch>
            <a:fillRect/>
          </a:stretch>
        </p:blipFill>
        <p:spPr>
          <a:xfrm>
            <a:off x="816102" y="1639062"/>
            <a:ext cx="653796" cy="653796"/>
          </a:xfrm>
          <a:prstGeom prst="rect">
            <a:avLst/>
          </a:prstGeom>
        </p:spPr>
      </p:pic>
      <p:sp>
        <p:nvSpPr>
          <p:cNvPr id="4" name="Text 1"/>
          <p:cNvSpPr txBox="1"/>
          <p:nvPr/>
        </p:nvSpPr>
        <p:spPr>
          <a:xfrm>
            <a:off x="548640" y="2788920"/>
            <a:ext cx="11094415" cy="82296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La Fase 1 como piloto</a:t>
            </a:r>
            <a:endParaRPr lang="en-US" sz="3800" dirty="0"/>
          </a:p>
        </p:txBody>
      </p:sp>
      <p:sp>
        <p:nvSpPr>
          <p:cNvPr id="5" name="Text 2"/>
          <p:cNvSpPr txBox="1"/>
          <p:nvPr/>
        </p:nvSpPr>
        <p:spPr>
          <a:xfrm>
            <a:off x="548640" y="3703320"/>
            <a:ext cx="10180015" cy="2011680"/>
          </a:xfrm>
          <a:prstGeom prst="rect">
            <a:avLst/>
          </a:prstGeom>
          <a:noFill/>
          <a:ln/>
        </p:spPr>
        <p:txBody>
          <a:bodyPr wrap="square" lIns="0" tIns="0" rIns="0" bIns="0" rtlCol="0" anchor="t"/>
          <a:lstStyle/>
          <a:p>
            <a:pPr indent="0" marL="0">
              <a:buNone/>
            </a:pPr>
            <a:r>
              <a:rPr lang="en-US" sz="2100" dirty="0">
                <a:solidFill>
                  <a:srgbClr val="C5CAE9"/>
                </a:solidFill>
                <a:latin typeface="Calibri" pitchFamily="34" charset="0"/>
                <a:ea typeface="Calibri" pitchFamily="34" charset="-122"/>
                <a:cs typeface="Calibri" pitchFamily="34" charset="-120"/>
              </a:rPr>
              <a:t>Plazos más cortos, metas de KPI más bajas y madurez objetivo 2. Lo que se aprende en la Fase 1 se registra como lección y se escala a la Fase 2 (madurez 3) y a la Fase 3 (madurez 4).</a:t>
            </a:r>
            <a:endParaRPr lang="en-US" sz="2100" dirty="0"/>
          </a:p>
        </p:txBody>
      </p:sp>
      <p:sp>
        <p:nvSpPr>
          <p:cNvPr id="6" name="Text 3"/>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8C93C9"/>
                </a:solidFill>
                <a:latin typeface="Calibri" pitchFamily="34" charset="0"/>
                <a:ea typeface="Calibri" pitchFamily="34" charset="-122"/>
                <a:cs typeface="Calibri" pitchFamily="34" charset="-120"/>
              </a:rPr>
              <a:t>Aplicación AWP · Fases</a:t>
            </a:r>
            <a:endParaRPr lang="en-US" sz="1000" dirty="0"/>
          </a:p>
        </p:txBody>
      </p:sp>
      <p:sp>
        <p:nvSpPr>
          <p:cNvPr id="7" name="Text 4"/>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8C93C9"/>
                </a:solidFill>
                <a:latin typeface="Calibri" pitchFamily="34" charset="0"/>
                <a:ea typeface="Calibri" pitchFamily="34" charset="-122"/>
                <a:cs typeface="Calibri" pitchFamily="34" charset="-120"/>
              </a:rPr>
              <a:t>75</a:t>
            </a:r>
            <a:endParaRPr lang="en-US" sz="10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1A1F4B"/>
        </a:solidFill>
      </p:bgPr>
    </p:bg>
    <p:spTree>
      <p:nvGrpSpPr>
        <p:cNvPr id="1" name=""/>
        <p:cNvGrpSpPr/>
        <p:nvPr/>
      </p:nvGrpSpPr>
      <p:grpSpPr>
        <a:xfrm>
          <a:off x="0" y="0"/>
          <a:ext cx="0" cy="0"/>
          <a:chOff x="0" y="0"/>
          <a:chExt cx="0" cy="0"/>
        </a:xfrm>
      </p:grpSpPr>
      <p:sp>
        <p:nvSpPr>
          <p:cNvPr id="2" name="Text 0"/>
          <p:cNvSpPr txBox="1"/>
          <p:nvPr/>
        </p:nvSpPr>
        <p:spPr>
          <a:xfrm>
            <a:off x="548640" y="1188720"/>
            <a:ext cx="2743200" cy="1371600"/>
          </a:xfrm>
          <a:prstGeom prst="rect">
            <a:avLst/>
          </a:prstGeom>
          <a:noFill/>
          <a:ln/>
        </p:spPr>
        <p:txBody>
          <a:bodyPr wrap="square" lIns="0" tIns="0" rIns="0" bIns="0" rtlCol="0" anchor="t"/>
          <a:lstStyle/>
          <a:p>
            <a:pPr indent="0" marL="0">
              <a:buNone/>
            </a:pPr>
            <a:r>
              <a:rPr lang="en-US" sz="9600" b="1" dirty="0">
                <a:solidFill>
                  <a:srgbClr val="FFC107"/>
                </a:solidFill>
                <a:latin typeface="Calibri" pitchFamily="34" charset="0"/>
                <a:ea typeface="Calibri" pitchFamily="34" charset="-122"/>
                <a:cs typeface="Calibri" pitchFamily="34" charset="-120"/>
              </a:rPr>
              <a:t>09</a:t>
            </a:r>
            <a:endParaRPr lang="en-US" sz="9600" dirty="0"/>
          </a:p>
        </p:txBody>
      </p:sp>
      <p:sp>
        <p:nvSpPr>
          <p:cNvPr id="3" name="Text 1"/>
          <p:cNvSpPr txBox="1"/>
          <p:nvPr/>
        </p:nvSpPr>
        <p:spPr>
          <a:xfrm>
            <a:off x="548640" y="2697480"/>
            <a:ext cx="5852160" cy="73152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Avance AWP</a:t>
            </a:r>
            <a:endParaRPr lang="en-US" sz="3800" dirty="0"/>
          </a:p>
        </p:txBody>
      </p:sp>
      <p:sp>
        <p:nvSpPr>
          <p:cNvPr id="4" name="Text 2"/>
          <p:cNvSpPr txBox="1"/>
          <p:nvPr/>
        </p:nvSpPr>
        <p:spPr>
          <a:xfrm>
            <a:off x="548640" y="3566160"/>
            <a:ext cx="5486400" cy="1097280"/>
          </a:xfrm>
          <a:prstGeom prst="rect">
            <a:avLst/>
          </a:prstGeom>
          <a:noFill/>
          <a:ln/>
        </p:spPr>
        <p:txBody>
          <a:bodyPr wrap="square" lIns="0" tIns="0" rIns="0" bIns="0" rtlCol="0" anchor="t"/>
          <a:lstStyle/>
          <a:p>
            <a:pPr indent="0" marL="0">
              <a:buNone/>
            </a:pPr>
            <a:r>
              <a:rPr lang="en-US" sz="1800" dirty="0">
                <a:solidFill>
                  <a:srgbClr val="C5CAE9"/>
                </a:solidFill>
                <a:latin typeface="Calibri" pitchFamily="34" charset="0"/>
                <a:ea typeface="Calibri" pitchFamily="34" charset="-122"/>
                <a:cs typeface="Calibri" pitchFamily="34" charset="-120"/>
              </a:rPr>
              <a:t>El checklist de implementación del kit: 30 actividades en 5 etapas</a:t>
            </a:r>
            <a:endParaRPr lang="en-US" sz="1800" dirty="0"/>
          </a:p>
        </p:txBody>
      </p:sp>
      <p:sp>
        <p:nvSpPr>
          <p:cNvPr id="5" name="Shape 3"/>
          <p:cNvSpPr/>
          <p:nvPr/>
        </p:nvSpPr>
        <p:spPr>
          <a:xfrm>
            <a:off x="6766560" y="1234440"/>
            <a:ext cx="4892040" cy="4480560"/>
          </a:xfrm>
          <a:prstGeom prst="roundRect">
            <a:avLst>
              <a:gd name="adj" fmla="val 2449"/>
            </a:avLst>
          </a:prstGeom>
          <a:solidFill>
            <a:srgbClr val="252B5E"/>
          </a:solidFill>
          <a:ln w="12700">
            <a:solidFill>
              <a:srgbClr val="3C4488"/>
            </a:solidFill>
            <a:prstDash val="solid"/>
          </a:ln>
        </p:spPr>
      </p:sp>
      <p:sp>
        <p:nvSpPr>
          <p:cNvPr id="6" name="Text 4"/>
          <p:cNvSpPr txBox="1"/>
          <p:nvPr/>
        </p:nvSpPr>
        <p:spPr>
          <a:xfrm>
            <a:off x="7132320" y="1508760"/>
            <a:ext cx="4206240" cy="320040"/>
          </a:xfrm>
          <a:prstGeom prst="rect">
            <a:avLst/>
          </a:prstGeom>
          <a:noFill/>
          <a:ln/>
        </p:spPr>
        <p:txBody>
          <a:bodyPr wrap="square" lIns="0" tIns="0" rIns="0" bIns="0" rtlCol="0" anchor="t"/>
          <a:lstStyle/>
          <a:p>
            <a:pPr indent="0" marL="0">
              <a:buNone/>
            </a:pPr>
            <a:r>
              <a:rPr lang="en-US" sz="1200" b="1" spc="200" kern="0" dirty="0">
                <a:solidFill>
                  <a:srgbClr val="FFC107"/>
                </a:solidFill>
                <a:latin typeface="Calibri" pitchFamily="34" charset="0"/>
                <a:ea typeface="Calibri" pitchFamily="34" charset="-122"/>
                <a:cs typeface="Calibri" pitchFamily="34" charset="-120"/>
              </a:rPr>
              <a:t>EN ESTA SECCIÓN</a:t>
            </a:r>
            <a:endParaRPr lang="en-US" sz="1200" dirty="0"/>
          </a:p>
        </p:txBody>
      </p:sp>
      <p:sp>
        <p:nvSpPr>
          <p:cNvPr id="7" name="Shape 5"/>
          <p:cNvSpPr/>
          <p:nvPr/>
        </p:nvSpPr>
        <p:spPr>
          <a:xfrm>
            <a:off x="7178040" y="2103120"/>
            <a:ext cx="146304" cy="146304"/>
          </a:xfrm>
          <a:prstGeom prst="ellipse">
            <a:avLst/>
          </a:prstGeom>
          <a:solidFill>
            <a:srgbClr val="FFC107"/>
          </a:solidFill>
          <a:ln w="12700">
            <a:solidFill>
              <a:srgbClr val="FFC107"/>
            </a:solidFill>
            <a:prstDash val="solid"/>
          </a:ln>
        </p:spPr>
      </p:sp>
      <p:sp>
        <p:nvSpPr>
          <p:cNvPr id="8" name="Text 6"/>
          <p:cNvSpPr txBox="1"/>
          <p:nvPr/>
        </p:nvSpPr>
        <p:spPr>
          <a:xfrm>
            <a:off x="7498080" y="2011680"/>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Cambiar el estado con un toque</a:t>
            </a:r>
            <a:endParaRPr lang="en-US" sz="1700" dirty="0"/>
          </a:p>
        </p:txBody>
      </p:sp>
      <p:sp>
        <p:nvSpPr>
          <p:cNvPr id="9" name="Shape 7"/>
          <p:cNvSpPr/>
          <p:nvPr/>
        </p:nvSpPr>
        <p:spPr>
          <a:xfrm>
            <a:off x="7178040" y="2816352"/>
            <a:ext cx="146304" cy="146304"/>
          </a:xfrm>
          <a:prstGeom prst="ellipse">
            <a:avLst/>
          </a:prstGeom>
          <a:solidFill>
            <a:srgbClr val="FFC107"/>
          </a:solidFill>
          <a:ln w="12700">
            <a:solidFill>
              <a:srgbClr val="FFC107"/>
            </a:solidFill>
            <a:prstDash val="solid"/>
          </a:ln>
        </p:spPr>
      </p:sp>
      <p:sp>
        <p:nvSpPr>
          <p:cNvPr id="10" name="Text 8"/>
          <p:cNvSpPr txBox="1"/>
          <p:nvPr/>
        </p:nvSpPr>
        <p:spPr>
          <a:xfrm>
            <a:off x="7498080" y="2724912"/>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Las 30 actividades por etapa</a:t>
            </a:r>
            <a:endParaRPr lang="en-US" sz="1700" dirty="0"/>
          </a:p>
        </p:txBody>
      </p:sp>
      <p:sp>
        <p:nvSpPr>
          <p:cNvPr id="11" name="Shape 9"/>
          <p:cNvSpPr/>
          <p:nvPr/>
        </p:nvSpPr>
        <p:spPr>
          <a:xfrm>
            <a:off x="7178040" y="3529584"/>
            <a:ext cx="146304" cy="146304"/>
          </a:xfrm>
          <a:prstGeom prst="ellipse">
            <a:avLst/>
          </a:prstGeom>
          <a:solidFill>
            <a:srgbClr val="FFC107"/>
          </a:solidFill>
          <a:ln w="12700">
            <a:solidFill>
              <a:srgbClr val="FFC107"/>
            </a:solidFill>
            <a:prstDash val="solid"/>
          </a:ln>
        </p:spPr>
      </p:sp>
      <p:sp>
        <p:nvSpPr>
          <p:cNvPr id="12" name="Text 10"/>
          <p:cNvSpPr txBox="1"/>
          <p:nvPr/>
        </p:nvSpPr>
        <p:spPr>
          <a:xfrm>
            <a:off x="7498080" y="3438144"/>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Detalle, evidencia y «No aplica»</a:t>
            </a:r>
            <a:endParaRPr lang="en-US" sz="1700" dirty="0"/>
          </a:p>
        </p:txBody>
      </p:sp>
      <p:sp>
        <p:nvSpPr>
          <p:cNvPr id="13" name="Shape 11"/>
          <p:cNvSpPr/>
          <p:nvPr/>
        </p:nvSpPr>
        <p:spPr>
          <a:xfrm>
            <a:off x="7178040" y="4242816"/>
            <a:ext cx="146304" cy="146304"/>
          </a:xfrm>
          <a:prstGeom prst="ellipse">
            <a:avLst/>
          </a:prstGeom>
          <a:solidFill>
            <a:srgbClr val="FFC107"/>
          </a:solidFill>
          <a:ln w="12700">
            <a:solidFill>
              <a:srgbClr val="FFC107"/>
            </a:solidFill>
            <a:prstDash val="solid"/>
          </a:ln>
        </p:spPr>
      </p:sp>
      <p:sp>
        <p:nvSpPr>
          <p:cNvPr id="14" name="Text 12"/>
          <p:cNvSpPr txBox="1"/>
          <p:nvPr/>
        </p:nvSpPr>
        <p:spPr>
          <a:xfrm>
            <a:off x="7498080" y="4151376"/>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De la actividad al hito y a la plantilla</a:t>
            </a:r>
            <a:endParaRPr lang="en-US" sz="1700" dirty="0"/>
          </a:p>
        </p:txBody>
      </p:sp>
      <p:sp>
        <p:nvSpPr>
          <p:cNvPr id="15" name="Text 13"/>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8C93C9"/>
                </a:solidFill>
                <a:latin typeface="Calibri" pitchFamily="34" charset="0"/>
                <a:ea typeface="Calibri" pitchFamily="34" charset="-122"/>
                <a:cs typeface="Calibri" pitchFamily="34" charset="-120"/>
              </a:rPr>
              <a:t>Aplicación AWP · Avance AWP</a:t>
            </a:r>
            <a:endParaRPr lang="en-US" sz="1000" dirty="0"/>
          </a:p>
        </p:txBody>
      </p:sp>
      <p:sp>
        <p:nvSpPr>
          <p:cNvPr id="16" name="Text 14"/>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8C93C9"/>
                </a:solidFill>
                <a:latin typeface="Calibri" pitchFamily="34" charset="0"/>
                <a:ea typeface="Calibri" pitchFamily="34" charset="-122"/>
                <a:cs typeface="Calibri" pitchFamily="34" charset="-120"/>
              </a:rPr>
              <a:t>76</a:t>
            </a:r>
            <a:endParaRPr lang="en-US" sz="10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El checklist de implementación</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Anillo total, pestañas por etapa y lista de actividades</a:t>
            </a:r>
            <a:endParaRPr lang="en-US" sz="1500" dirty="0"/>
          </a:p>
        </p:txBody>
      </p:sp>
      <p:sp>
        <p:nvSpPr>
          <p:cNvPr id="4" name="Shape 2"/>
          <p:cNvSpPr/>
          <p:nvPr/>
        </p:nvSpPr>
        <p:spPr>
          <a:xfrm>
            <a:off x="4562856" y="1855460"/>
            <a:ext cx="7135063" cy="4061479"/>
          </a:xfrm>
          <a:prstGeom prst="roundRect">
            <a:avLst>
              <a:gd name="adj" fmla="val 1801"/>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avance.jpg">    </p:cNvPr>
          <p:cNvPicPr>
            <a:picLocks noChangeAspect="1"/>
          </p:cNvPicPr>
          <p:nvPr/>
        </p:nvPicPr>
        <p:blipFill>
          <a:blip r:embed="rId1"/>
          <a:stretch>
            <a:fillRect/>
          </a:stretch>
        </p:blipFill>
        <p:spPr>
          <a:xfrm>
            <a:off x="4617720" y="1910324"/>
            <a:ext cx="7025335" cy="3951751"/>
          </a:xfrm>
          <a:prstGeom prst="rect">
            <a:avLst/>
          </a:prstGeom>
        </p:spPr>
      </p:pic>
      <p:sp>
        <p:nvSpPr>
          <p:cNvPr id="6" name="Shape 3"/>
          <p:cNvSpPr/>
          <p:nvPr/>
        </p:nvSpPr>
        <p:spPr>
          <a:xfrm>
            <a:off x="548640"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643280" y="1685696"/>
            <a:ext cx="231343" cy="231343"/>
          </a:xfrm>
          <a:prstGeom prst="rect">
            <a:avLst/>
          </a:prstGeom>
        </p:spPr>
      </p:pic>
      <p:sp>
        <p:nvSpPr>
          <p:cNvPr id="8" name="Text 4"/>
          <p:cNvSpPr txBox="1"/>
          <p:nvPr/>
        </p:nvSpPr>
        <p:spPr>
          <a:xfrm>
            <a:off x="1133856" y="157276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Resumen</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«Implementación AWP del proyecto: 43 %» y cuántas actividades están completadas y en curso.</a:t>
            </a:r>
            <a:endParaRPr lang="en-US" sz="1500" dirty="0"/>
          </a:p>
        </p:txBody>
      </p:sp>
      <p:sp>
        <p:nvSpPr>
          <p:cNvPr id="9" name="Shape 5"/>
          <p:cNvSpPr/>
          <p:nvPr/>
        </p:nvSpPr>
        <p:spPr>
          <a:xfrm>
            <a:off x="548640" y="2768346"/>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643280" y="2862986"/>
            <a:ext cx="231343" cy="231343"/>
          </a:xfrm>
          <a:prstGeom prst="rect">
            <a:avLst/>
          </a:prstGeom>
        </p:spPr>
      </p:pic>
      <p:sp>
        <p:nvSpPr>
          <p:cNvPr id="11" name="Text 6"/>
          <p:cNvSpPr txBox="1"/>
          <p:nvPr/>
        </p:nvSpPr>
        <p:spPr>
          <a:xfrm>
            <a:off x="1133856" y="275005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Pestañas por etapa</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Cada una con su anillo y «x/y» actividades.</a:t>
            </a:r>
            <a:endParaRPr lang="en-US" sz="1500" dirty="0"/>
          </a:p>
        </p:txBody>
      </p:sp>
      <p:sp>
        <p:nvSpPr>
          <p:cNvPr id="12" name="Shape 7"/>
          <p:cNvSpPr/>
          <p:nvPr/>
        </p:nvSpPr>
        <p:spPr>
          <a:xfrm>
            <a:off x="548640" y="3945636"/>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643280" y="4040276"/>
            <a:ext cx="231343" cy="231343"/>
          </a:xfrm>
          <a:prstGeom prst="rect">
            <a:avLst/>
          </a:prstGeom>
        </p:spPr>
      </p:pic>
      <p:sp>
        <p:nvSpPr>
          <p:cNvPr id="14" name="Text 8"/>
          <p:cNvSpPr txBox="1"/>
          <p:nvPr/>
        </p:nvSpPr>
        <p:spPr>
          <a:xfrm>
            <a:off x="1133856" y="392734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Actividad</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Código, nombre, descripción, responsable, fecha real, hito y evidencia.</a:t>
            </a:r>
            <a:endParaRPr lang="en-US" sz="1500" dirty="0"/>
          </a:p>
        </p:txBody>
      </p:sp>
      <p:sp>
        <p:nvSpPr>
          <p:cNvPr id="15" name="Shape 9"/>
          <p:cNvSpPr/>
          <p:nvPr/>
        </p:nvSpPr>
        <p:spPr>
          <a:xfrm>
            <a:off x="548640" y="5122926"/>
            <a:ext cx="420624" cy="420624"/>
          </a:xfrm>
          <a:prstGeom prst="ellipse">
            <a:avLst/>
          </a:prstGeom>
          <a:solidFill>
            <a:srgbClr val="E8EAF6"/>
          </a:solidFill>
          <a:ln w="12700">
            <a:solidFill>
              <a:srgbClr val="E8EAF6"/>
            </a:solidFill>
            <a:prstDash val="solid"/>
          </a:ln>
        </p:spPr>
      </p:sp>
      <p:pic>
        <p:nvPicPr>
          <p:cNvPr id="16" name="Image 4" descr="preencoded.png">    </p:cNvPr>
          <p:cNvPicPr>
            <a:picLocks noChangeAspect="1"/>
          </p:cNvPicPr>
          <p:nvPr/>
        </p:nvPicPr>
        <p:blipFill>
          <a:blip r:embed="rId5"/>
          <a:stretch>
            <a:fillRect/>
          </a:stretch>
        </p:blipFill>
        <p:spPr>
          <a:xfrm>
            <a:off x="643280" y="5217566"/>
            <a:ext cx="231343" cy="231343"/>
          </a:xfrm>
          <a:prstGeom prst="rect">
            <a:avLst/>
          </a:prstGeom>
        </p:spPr>
      </p:pic>
      <p:sp>
        <p:nvSpPr>
          <p:cNvPr id="17" name="Text 10"/>
          <p:cNvSpPr txBox="1"/>
          <p:nvPr/>
        </p:nvSpPr>
        <p:spPr>
          <a:xfrm>
            <a:off x="1133856" y="510463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Mostrar</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Filtra por estado: todas, pendientes, en curso, completadas o no aplica.</a:t>
            </a:r>
            <a:endParaRPr lang="en-US" sz="1500" dirty="0"/>
          </a:p>
        </p:txBody>
      </p:sp>
      <p:sp>
        <p:nvSpPr>
          <p:cNvPr id="18" name="Text 11"/>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Avance AWP</a:t>
            </a:r>
            <a:endParaRPr lang="en-US" sz="1000" dirty="0"/>
          </a:p>
        </p:txBody>
      </p:sp>
      <p:sp>
        <p:nvSpPr>
          <p:cNvPr id="19" name="Text 12"/>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77</a:t>
            </a:r>
            <a:endParaRPr lang="en-US" sz="10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Cambiar el estado con un toque</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Toca el círculo de la actividad para avanzar su estado</a:t>
            </a:r>
            <a:endParaRPr lang="en-US" sz="1500" dirty="0"/>
          </a:p>
        </p:txBody>
      </p:sp>
      <p:sp>
        <p:nvSpPr>
          <p:cNvPr id="4" name="Shape 2"/>
          <p:cNvSpPr/>
          <p:nvPr/>
        </p:nvSpPr>
        <p:spPr>
          <a:xfrm>
            <a:off x="1645920" y="1737360"/>
            <a:ext cx="1463040" cy="1463040"/>
          </a:xfrm>
          <a:prstGeom prst="ellipse">
            <a:avLst/>
          </a:prstGeom>
          <a:solidFill>
            <a:srgbClr val="898781"/>
          </a:solidFill>
          <a:ln w="12700">
            <a:solidFill>
              <a:srgbClr val="898781"/>
            </a:solidFill>
            <a:prstDash val="solid"/>
          </a:ln>
        </p:spPr>
      </p:sp>
      <p:pic>
        <p:nvPicPr>
          <p:cNvPr id="5" name="Image 0" descr="preencoded.png">    </p:cNvPr>
          <p:cNvPicPr>
            <a:picLocks noChangeAspect="1"/>
          </p:cNvPicPr>
          <p:nvPr/>
        </p:nvPicPr>
        <p:blipFill>
          <a:blip r:embed="rId1"/>
          <a:stretch>
            <a:fillRect/>
          </a:stretch>
        </p:blipFill>
        <p:spPr>
          <a:xfrm>
            <a:off x="1975104" y="2066544"/>
            <a:ext cx="804672" cy="804672"/>
          </a:xfrm>
          <a:prstGeom prst="rect">
            <a:avLst/>
          </a:prstGeom>
        </p:spPr>
      </p:pic>
      <p:sp>
        <p:nvSpPr>
          <p:cNvPr id="6" name="Text 3"/>
          <p:cNvSpPr txBox="1"/>
          <p:nvPr/>
        </p:nvSpPr>
        <p:spPr>
          <a:xfrm>
            <a:off x="914400" y="3337560"/>
            <a:ext cx="2926080" cy="457200"/>
          </a:xfrm>
          <a:prstGeom prst="rect">
            <a:avLst/>
          </a:prstGeom>
          <a:noFill/>
          <a:ln/>
        </p:spPr>
        <p:txBody>
          <a:bodyPr wrap="square" lIns="0" tIns="0" rIns="0" bIns="0" rtlCol="0" anchor="t"/>
          <a:lstStyle/>
          <a:p>
            <a:pPr algn="ctr" indent="0" marL="0">
              <a:buNone/>
            </a:pPr>
            <a:r>
              <a:rPr lang="en-US" sz="2200" b="1" dirty="0">
                <a:solidFill>
                  <a:srgbClr val="898781"/>
                </a:solidFill>
                <a:latin typeface="Calibri" pitchFamily="34" charset="0"/>
                <a:ea typeface="Calibri" pitchFamily="34" charset="-122"/>
                <a:cs typeface="Calibri" pitchFamily="34" charset="-120"/>
              </a:rPr>
              <a:t>Pendiente</a:t>
            </a:r>
            <a:endParaRPr lang="en-US" sz="2200" dirty="0"/>
          </a:p>
        </p:txBody>
      </p:sp>
      <p:sp>
        <p:nvSpPr>
          <p:cNvPr id="7" name="Text 4"/>
          <p:cNvSpPr txBox="1"/>
          <p:nvPr/>
        </p:nvSpPr>
        <p:spPr>
          <a:xfrm>
            <a:off x="914400" y="3794760"/>
            <a:ext cx="2926080" cy="731520"/>
          </a:xfrm>
          <a:prstGeom prst="rect">
            <a:avLst/>
          </a:prstGeom>
          <a:noFill/>
          <a:ln/>
        </p:spPr>
        <p:txBody>
          <a:bodyPr wrap="square" lIns="0" tIns="0" rIns="0" bIns="0" rtlCol="0" anchor="t"/>
          <a:lstStyle/>
          <a:p>
            <a:pPr algn="ctr" indent="0" marL="0">
              <a:buNone/>
            </a:pPr>
            <a:r>
              <a:rPr lang="en-US" sz="1450" dirty="0">
                <a:solidFill>
                  <a:srgbClr val="5B5E6B"/>
                </a:solidFill>
                <a:latin typeface="Calibri" pitchFamily="34" charset="0"/>
                <a:ea typeface="Calibri" pitchFamily="34" charset="-122"/>
                <a:cs typeface="Calibri" pitchFamily="34" charset="-120"/>
              </a:rPr>
              <a:t>Aún no empieza. Cuenta 0.</a:t>
            </a:r>
            <a:endParaRPr lang="en-US" sz="1450" dirty="0"/>
          </a:p>
        </p:txBody>
      </p:sp>
      <p:pic>
        <p:nvPicPr>
          <p:cNvPr id="8" name="Image 1" descr="preencoded.png">    </p:cNvPr>
          <p:cNvPicPr>
            <a:picLocks noChangeAspect="1"/>
          </p:cNvPicPr>
          <p:nvPr/>
        </p:nvPicPr>
        <p:blipFill>
          <a:blip r:embed="rId2"/>
          <a:stretch>
            <a:fillRect/>
          </a:stretch>
        </p:blipFill>
        <p:spPr>
          <a:xfrm>
            <a:off x="3931920" y="2194560"/>
            <a:ext cx="548640" cy="548640"/>
          </a:xfrm>
          <a:prstGeom prst="rect">
            <a:avLst/>
          </a:prstGeom>
        </p:spPr>
      </p:pic>
      <p:sp>
        <p:nvSpPr>
          <p:cNvPr id="9" name="Shape 5"/>
          <p:cNvSpPr/>
          <p:nvPr/>
        </p:nvSpPr>
        <p:spPr>
          <a:xfrm>
            <a:off x="5486400" y="1737360"/>
            <a:ext cx="1463040" cy="1463040"/>
          </a:xfrm>
          <a:prstGeom prst="ellipse">
            <a:avLst/>
          </a:prstGeom>
          <a:solidFill>
            <a:srgbClr val="FAB219"/>
          </a:solidFill>
          <a:ln w="12700">
            <a:solidFill>
              <a:srgbClr val="FAB219"/>
            </a:solidFill>
            <a:prstDash val="solid"/>
          </a:ln>
        </p:spPr>
      </p:sp>
      <p:pic>
        <p:nvPicPr>
          <p:cNvPr id="10" name="Image 2" descr="preencoded.png">    </p:cNvPr>
          <p:cNvPicPr>
            <a:picLocks noChangeAspect="1"/>
          </p:cNvPicPr>
          <p:nvPr/>
        </p:nvPicPr>
        <p:blipFill>
          <a:blip r:embed="rId3"/>
          <a:stretch>
            <a:fillRect/>
          </a:stretch>
        </p:blipFill>
        <p:spPr>
          <a:xfrm>
            <a:off x="5815584" y="2066544"/>
            <a:ext cx="804672" cy="804672"/>
          </a:xfrm>
          <a:prstGeom prst="rect">
            <a:avLst/>
          </a:prstGeom>
        </p:spPr>
      </p:pic>
      <p:sp>
        <p:nvSpPr>
          <p:cNvPr id="11" name="Text 6"/>
          <p:cNvSpPr txBox="1"/>
          <p:nvPr/>
        </p:nvSpPr>
        <p:spPr>
          <a:xfrm>
            <a:off x="4754880" y="3337560"/>
            <a:ext cx="2926080" cy="457200"/>
          </a:xfrm>
          <a:prstGeom prst="rect">
            <a:avLst/>
          </a:prstGeom>
          <a:noFill/>
          <a:ln/>
        </p:spPr>
        <p:txBody>
          <a:bodyPr wrap="square" lIns="0" tIns="0" rIns="0" bIns="0" rtlCol="0" anchor="t"/>
          <a:lstStyle/>
          <a:p>
            <a:pPr algn="ctr" indent="0" marL="0">
              <a:buNone/>
            </a:pPr>
            <a:r>
              <a:rPr lang="en-US" sz="2200" b="1" dirty="0">
                <a:solidFill>
                  <a:srgbClr val="B7860B"/>
                </a:solidFill>
                <a:latin typeface="Calibri" pitchFamily="34" charset="0"/>
                <a:ea typeface="Calibri" pitchFamily="34" charset="-122"/>
                <a:cs typeface="Calibri" pitchFamily="34" charset="-120"/>
              </a:rPr>
              <a:t>En curso</a:t>
            </a:r>
            <a:endParaRPr lang="en-US" sz="2200" dirty="0"/>
          </a:p>
        </p:txBody>
      </p:sp>
      <p:sp>
        <p:nvSpPr>
          <p:cNvPr id="12" name="Text 7"/>
          <p:cNvSpPr txBox="1"/>
          <p:nvPr/>
        </p:nvSpPr>
        <p:spPr>
          <a:xfrm>
            <a:off x="4754880" y="3794760"/>
            <a:ext cx="2926080" cy="731520"/>
          </a:xfrm>
          <a:prstGeom prst="rect">
            <a:avLst/>
          </a:prstGeom>
          <a:noFill/>
          <a:ln/>
        </p:spPr>
        <p:txBody>
          <a:bodyPr wrap="square" lIns="0" tIns="0" rIns="0" bIns="0" rtlCol="0" anchor="t"/>
          <a:lstStyle/>
          <a:p>
            <a:pPr algn="ctr" indent="0" marL="0">
              <a:buNone/>
            </a:pPr>
            <a:r>
              <a:rPr lang="en-US" sz="1450" dirty="0">
                <a:solidFill>
                  <a:srgbClr val="5B5E6B"/>
                </a:solidFill>
                <a:latin typeface="Calibri" pitchFamily="34" charset="0"/>
                <a:ea typeface="Calibri" pitchFamily="34" charset="-122"/>
                <a:cs typeface="Calibri" pitchFamily="34" charset="-120"/>
              </a:rPr>
              <a:t>Empezó. Cuenta ½ en el %.</a:t>
            </a:r>
            <a:endParaRPr lang="en-US" sz="1450" dirty="0"/>
          </a:p>
        </p:txBody>
      </p:sp>
      <p:pic>
        <p:nvPicPr>
          <p:cNvPr id="13" name="Image 3" descr="preencoded.png">    </p:cNvPr>
          <p:cNvPicPr>
            <a:picLocks noChangeAspect="1"/>
          </p:cNvPicPr>
          <p:nvPr/>
        </p:nvPicPr>
        <p:blipFill>
          <a:blip r:embed="rId4"/>
          <a:stretch>
            <a:fillRect/>
          </a:stretch>
        </p:blipFill>
        <p:spPr>
          <a:xfrm>
            <a:off x="7772400" y="2194560"/>
            <a:ext cx="548640" cy="548640"/>
          </a:xfrm>
          <a:prstGeom prst="rect">
            <a:avLst/>
          </a:prstGeom>
        </p:spPr>
      </p:pic>
      <p:sp>
        <p:nvSpPr>
          <p:cNvPr id="14" name="Shape 8"/>
          <p:cNvSpPr/>
          <p:nvPr/>
        </p:nvSpPr>
        <p:spPr>
          <a:xfrm>
            <a:off x="9326880" y="1737360"/>
            <a:ext cx="1463040" cy="1463040"/>
          </a:xfrm>
          <a:prstGeom prst="ellipse">
            <a:avLst/>
          </a:prstGeom>
          <a:solidFill>
            <a:srgbClr val="0CA30C"/>
          </a:solidFill>
          <a:ln w="12700">
            <a:solidFill>
              <a:srgbClr val="0CA30C"/>
            </a:solidFill>
            <a:prstDash val="solid"/>
          </a:ln>
        </p:spPr>
      </p:sp>
      <p:pic>
        <p:nvPicPr>
          <p:cNvPr id="15" name="Image 4" descr="preencoded.png">    </p:cNvPr>
          <p:cNvPicPr>
            <a:picLocks noChangeAspect="1"/>
          </p:cNvPicPr>
          <p:nvPr/>
        </p:nvPicPr>
        <p:blipFill>
          <a:blip r:embed="rId5"/>
          <a:stretch>
            <a:fillRect/>
          </a:stretch>
        </p:blipFill>
        <p:spPr>
          <a:xfrm>
            <a:off x="9656064" y="2066544"/>
            <a:ext cx="804672" cy="804672"/>
          </a:xfrm>
          <a:prstGeom prst="rect">
            <a:avLst/>
          </a:prstGeom>
        </p:spPr>
      </p:pic>
      <p:sp>
        <p:nvSpPr>
          <p:cNvPr id="16" name="Text 9"/>
          <p:cNvSpPr txBox="1"/>
          <p:nvPr/>
        </p:nvSpPr>
        <p:spPr>
          <a:xfrm>
            <a:off x="8595360" y="3337560"/>
            <a:ext cx="2926080" cy="457200"/>
          </a:xfrm>
          <a:prstGeom prst="rect">
            <a:avLst/>
          </a:prstGeom>
          <a:noFill/>
          <a:ln/>
        </p:spPr>
        <p:txBody>
          <a:bodyPr wrap="square" lIns="0" tIns="0" rIns="0" bIns="0" rtlCol="0" anchor="t"/>
          <a:lstStyle/>
          <a:p>
            <a:pPr algn="ctr" indent="0" marL="0">
              <a:buNone/>
            </a:pPr>
            <a:r>
              <a:rPr lang="en-US" sz="2200" b="1" dirty="0">
                <a:solidFill>
                  <a:srgbClr val="0CA30C"/>
                </a:solidFill>
                <a:latin typeface="Calibri" pitchFamily="34" charset="0"/>
                <a:ea typeface="Calibri" pitchFamily="34" charset="-122"/>
                <a:cs typeface="Calibri" pitchFamily="34" charset="-120"/>
              </a:rPr>
              <a:t>Completada</a:t>
            </a:r>
            <a:endParaRPr lang="en-US" sz="2200" dirty="0"/>
          </a:p>
        </p:txBody>
      </p:sp>
      <p:sp>
        <p:nvSpPr>
          <p:cNvPr id="17" name="Text 10"/>
          <p:cNvSpPr txBox="1"/>
          <p:nvPr/>
        </p:nvSpPr>
        <p:spPr>
          <a:xfrm>
            <a:off x="8595360" y="3794760"/>
            <a:ext cx="2926080" cy="731520"/>
          </a:xfrm>
          <a:prstGeom prst="rect">
            <a:avLst/>
          </a:prstGeom>
          <a:noFill/>
          <a:ln/>
        </p:spPr>
        <p:txBody>
          <a:bodyPr wrap="square" lIns="0" tIns="0" rIns="0" bIns="0" rtlCol="0" anchor="t"/>
          <a:lstStyle/>
          <a:p>
            <a:pPr algn="ctr" indent="0" marL="0">
              <a:buNone/>
            </a:pPr>
            <a:r>
              <a:rPr lang="en-US" sz="1450" dirty="0">
                <a:solidFill>
                  <a:srgbClr val="5B5E6B"/>
                </a:solidFill>
                <a:latin typeface="Calibri" pitchFamily="34" charset="0"/>
                <a:ea typeface="Calibri" pitchFamily="34" charset="-122"/>
                <a:cs typeface="Calibri" pitchFamily="34" charset="-120"/>
              </a:rPr>
              <a:t>Terminó. Cuenta 1 y registra la fecha real de hoy.</a:t>
            </a:r>
            <a:endParaRPr lang="en-US" sz="1450" dirty="0"/>
          </a:p>
        </p:txBody>
      </p:sp>
      <p:sp>
        <p:nvSpPr>
          <p:cNvPr id="18" name="Shape 11"/>
          <p:cNvSpPr/>
          <p:nvPr/>
        </p:nvSpPr>
        <p:spPr>
          <a:xfrm>
            <a:off x="548640" y="4754880"/>
            <a:ext cx="11094415" cy="1417320"/>
          </a:xfrm>
          <a:prstGeom prst="roundRect">
            <a:avLst>
              <a:gd name="adj" fmla="val 6452"/>
            </a:avLst>
          </a:prstGeom>
          <a:solidFill>
            <a:srgbClr val="F5F6FB"/>
          </a:solidFill>
          <a:ln w="9525">
            <a:solidFill>
              <a:srgbClr val="E3E5EE"/>
            </a:solidFill>
            <a:prstDash val="solid"/>
          </a:ln>
        </p:spPr>
      </p:sp>
      <p:sp>
        <p:nvSpPr>
          <p:cNvPr id="19" name="Text 12"/>
          <p:cNvSpPr txBox="1"/>
          <p:nvPr/>
        </p:nvSpPr>
        <p:spPr>
          <a:xfrm>
            <a:off x="822960" y="4892040"/>
            <a:ext cx="10545775" cy="1188720"/>
          </a:xfrm>
          <a:prstGeom prst="rect">
            <a:avLst/>
          </a:prstGeom>
          <a:noFill/>
          <a:ln/>
        </p:spPr>
        <p:txBody>
          <a:bodyPr wrap="square" lIns="0" tIns="0" rIns="0" bIns="0" rtlCol="0" anchor="t"/>
          <a:lstStyle/>
          <a:p>
            <a:pPr indent="0" marL="0">
              <a:buNone/>
            </a:pPr>
            <a:r>
              <a:rPr lang="en-US" sz="1450" b="1" dirty="0">
                <a:solidFill>
                  <a:srgbClr val="1B1C22"/>
                </a:solidFill>
                <a:latin typeface="Calibri" pitchFamily="34" charset="0"/>
                <a:ea typeface="Calibri" pitchFamily="34" charset="-122"/>
                <a:cs typeface="Calibri" pitchFamily="34" charset="-120"/>
              </a:rPr>
              <a:t>Un toque más en «Completada» la devuelve a «Pendiente». </a:t>
            </a:r>
            <a:endParaRPr lang="en-US" sz="1450" dirty="0"/>
          </a:p>
          <a:p>
            <a:pPr indent="0" marL="0">
              <a:buNone/>
            </a:pPr>
            <a:r>
              <a:rPr lang="en-US" sz="1450" dirty="0">
                <a:solidFill>
                  <a:srgbClr val="5B5E6B"/>
                </a:solidFill>
                <a:latin typeface="Calibri" pitchFamily="34" charset="0"/>
                <a:ea typeface="Calibri" pitchFamily="34" charset="-122"/>
                <a:cs typeface="Calibri" pitchFamily="34" charset="-120"/>
              </a:rPr>
              <a:t>«No aplica» se elige en «Detalles» y exige un comentario. El anillo, el % total y el dashboard se recalculan al instante; al completar una etapa aparece un mensaje de felicitación y, si corresponde, una insignia.</a:t>
            </a:r>
            <a:endParaRPr lang="en-US" sz="1450" dirty="0"/>
          </a:p>
        </p:txBody>
      </p:sp>
      <p:sp>
        <p:nvSpPr>
          <p:cNvPr id="20" name="Text 13"/>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Avance AWP</a:t>
            </a:r>
            <a:endParaRPr lang="en-US" sz="1000" dirty="0"/>
          </a:p>
        </p:txBody>
      </p:sp>
      <p:sp>
        <p:nvSpPr>
          <p:cNvPr id="21" name="Text 14"/>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78</a:t>
            </a:r>
            <a:endParaRPr lang="en-US" sz="10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Planificación temprana (FEL) · 8 actividades</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Todo lo que debe quedar decidido antes de ingeniería de detalle</a:t>
            </a:r>
            <a:endParaRPr lang="en-US" sz="1500" dirty="0"/>
          </a:p>
        </p:txBody>
      </p:sp>
      <p:graphicFrame>
        <p:nvGraphicFramePr>
          <p:cNvPr id="80"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097280"/>
                <a:gridCol w="6217920"/>
                <a:gridCol w="822960"/>
                <a:gridCol w="2834640"/>
              </a:tblGrid>
              <a:tr h="5181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Código</a:t>
                      </a:r>
                      <a:endParaRPr lang="en-US" sz="13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Actividad</a:t>
                      </a:r>
                      <a:endParaRPr lang="en-US" sz="13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Hito</a:t>
                      </a:r>
                      <a:endParaRPr lang="en-US" sz="13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Plantilla del kit</a:t>
                      </a:r>
                      <a:endParaRPr lang="en-US" sz="13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FEL-01</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Designar al AWP Champion y formar el equipo AWP (cliente y contratista)</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H0</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Perfiles_Puesto_AWP</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FEL-02</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Evaluar la escala de AWP (modelo escalable de la COAA) y la madurez objetivo por fase</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Registro_Riesgos</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FEL-03</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Dividir el proyecto en CWA siguiendo límites físicos y lógicos</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H1</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Definicion_CWA</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FEL-04</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Desarrollar el Path of Construction en talleres de planificación interactiva (IPP)</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H2</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Path_of_Construction</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FEL-05</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Elaborar la lista preliminar de CWP y el plan de liberación CWP/EWP/PWP</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H3</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Seguimiento_Paquetes</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FEL-06</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Definir la WBS y la codificación común de paquetes</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FEL-07</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Incluir los requisitos AWP en los contratos (niveles 3 y 5, planificadores, reportes)</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H4</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FEL-08</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Definir los requisitos de gestión de la información (modelo 3D, atributos, integración)</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Avance AWP</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79</a:t>
            </a:r>
            <a:endParaRPr lang="en-US" sz="10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Ingeniería (6) y Procura (5)</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La ingeniería y las compras se ordenan según la secuencia de construcción</a:t>
            </a:r>
            <a:endParaRPr lang="en-US" sz="1500" dirty="0"/>
          </a:p>
        </p:txBody>
      </p:sp>
      <p:graphicFrame>
        <p:nvGraphicFramePr>
          <p:cNvPr id="81"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097280"/>
                <a:gridCol w="9052560"/>
                <a:gridCol w="822960"/>
              </a:tblGrid>
              <a:tr h="3886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Código</a:t>
                      </a:r>
                      <a:endParaRPr lang="en-US" sz="12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Actividad</a:t>
                      </a:r>
                      <a:endParaRPr lang="en-US" sz="12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Hito</a:t>
                      </a:r>
                      <a:endParaRPr lang="en-US" sz="12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r>
              <a:tr h="388620">
                <a:tc>
                  <a:txBody>
                    <a:bodyPr/>
                    <a:lstStyle/>
                    <a:p>
                      <a:pPr indent="0" marL="0">
                        <a:buNone/>
                      </a:pPr>
                      <a:r>
                        <a:rPr lang="en-US" sz="1150" b="1" dirty="0">
                          <a:solidFill>
                            <a:srgbClr val="1B1C22"/>
                          </a:solidFill>
                          <a:latin typeface="Calibri" pitchFamily="34" charset="0"/>
                          <a:ea typeface="Calibri" pitchFamily="34" charset="-122"/>
                          <a:cs typeface="Calibri" pitchFamily="34" charset="-120"/>
                        </a:rPr>
                        <a:t>ING-01</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Planificar la ingeniería por EWP, cada uno ligado a un único CWP, con fecha requerida hacia atrás desde el CWP</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388620">
                <a:tc>
                  <a:txBody>
                    <a:bodyPr/>
                    <a:lstStyle/>
                    <a:p>
                      <a:pPr indent="0" marL="0">
                        <a:buNone/>
                      </a:pPr>
                      <a:r>
                        <a:rPr lang="en-US" sz="1150" b="1" dirty="0">
                          <a:solidFill>
                            <a:srgbClr val="1B1C22"/>
                          </a:solidFill>
                          <a:latin typeface="Calibri" pitchFamily="34" charset="0"/>
                          <a:ea typeface="Calibri" pitchFamily="34" charset="-122"/>
                          <a:cs typeface="Calibri" pitchFamily="34" charset="-120"/>
                        </a:rPr>
                        <a:t>ING-02</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Priorizar los EWP según el PoC: primero los de CWP tempranos y compras de largo plazo</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388620">
                <a:tc>
                  <a:txBody>
                    <a:bodyPr/>
                    <a:lstStyle/>
                    <a:p>
                      <a:pPr indent="0" marL="0">
                        <a:buNone/>
                      </a:pPr>
                      <a:r>
                        <a:rPr lang="en-US" sz="1150" b="1" dirty="0">
                          <a:solidFill>
                            <a:srgbClr val="1B1C22"/>
                          </a:solidFill>
                          <a:latin typeface="Calibri" pitchFamily="34" charset="0"/>
                          <a:ea typeface="Calibri" pitchFamily="34" charset="-122"/>
                          <a:cs typeface="Calibri" pitchFamily="34" charset="-120"/>
                        </a:rPr>
                        <a:t>ING-03</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Emitir los EWP completos: planos IFC, especificaciones, MTO y datos del proveedor</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H5</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388620">
                <a:tc>
                  <a:txBody>
                    <a:bodyPr/>
                    <a:lstStyle/>
                    <a:p>
                      <a:pPr indent="0" marL="0">
                        <a:buNone/>
                      </a:pPr>
                      <a:r>
                        <a:rPr lang="en-US" sz="1150" b="1" dirty="0">
                          <a:solidFill>
                            <a:srgbClr val="1B1C22"/>
                          </a:solidFill>
                          <a:latin typeface="Calibri" pitchFamily="34" charset="0"/>
                          <a:ea typeface="Calibri" pitchFamily="34" charset="-122"/>
                          <a:cs typeface="Calibri" pitchFamily="34" charset="-120"/>
                        </a:rPr>
                        <a:t>ING-04</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Mantener el modelo 3D con atributos (CWA, CWP, IWP, estado de ingeniería y de materiales)</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388620">
                <a:tc>
                  <a:txBody>
                    <a:bodyPr/>
                    <a:lstStyle/>
                    <a:p>
                      <a:pPr indent="0" marL="0">
                        <a:buNone/>
                      </a:pPr>
                      <a:r>
                        <a:rPr lang="en-US" sz="1150" b="1" dirty="0">
                          <a:solidFill>
                            <a:srgbClr val="1B1C22"/>
                          </a:solidFill>
                          <a:latin typeface="Calibri" pitchFamily="34" charset="0"/>
                          <a:ea typeface="Calibri" pitchFamily="34" charset="-122"/>
                          <a:cs typeface="Calibri" pitchFamily="34" charset="-120"/>
                        </a:rPr>
                        <a:t>ING-05</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Revisiones de constructabilidad con construcción antes de la emisión IFC</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388620">
                <a:tc>
                  <a:txBody>
                    <a:bodyPr/>
                    <a:lstStyle/>
                    <a:p>
                      <a:pPr indent="0" marL="0">
                        <a:buNone/>
                      </a:pPr>
                      <a:r>
                        <a:rPr lang="en-US" sz="1150" b="1" dirty="0">
                          <a:solidFill>
                            <a:srgbClr val="1B1C22"/>
                          </a:solidFill>
                          <a:latin typeface="Calibri" pitchFamily="34" charset="0"/>
                          <a:ea typeface="Calibri" pitchFamily="34" charset="-122"/>
                          <a:cs typeface="Calibri" pitchFamily="34" charset="-120"/>
                        </a:rPr>
                        <a:t>ING-06</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Gestionar las RFI como restricciones de ingeniería</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388620">
                <a:tc>
                  <a:txBody>
                    <a:bodyPr/>
                    <a:lstStyle/>
                    <a:p>
                      <a:pPr indent="0" marL="0">
                        <a:buNone/>
                      </a:pPr>
                      <a:r>
                        <a:rPr lang="en-US" sz="1150" b="1" dirty="0">
                          <a:solidFill>
                            <a:srgbClr val="1B1C22"/>
                          </a:solidFill>
                          <a:latin typeface="Calibri" pitchFamily="34" charset="0"/>
                          <a:ea typeface="Calibri" pitchFamily="34" charset="-122"/>
                          <a:cs typeface="Calibri" pitchFamily="34" charset="-120"/>
                        </a:rPr>
                        <a:t>PRO-01</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Estructurar las compras en PWP alineados con los CWP (granel, con tag y equipos)</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388620">
                <a:tc>
                  <a:txBody>
                    <a:bodyPr/>
                    <a:lstStyle/>
                    <a:p>
                      <a:pPr indent="0" marL="0">
                        <a:buNone/>
                      </a:pPr>
                      <a:r>
                        <a:rPr lang="en-US" sz="1150" b="1" dirty="0">
                          <a:solidFill>
                            <a:srgbClr val="1B1C22"/>
                          </a:solidFill>
                          <a:latin typeface="Calibri" pitchFamily="34" charset="0"/>
                          <a:ea typeface="Calibri" pitchFamily="34" charset="-122"/>
                          <a:cs typeface="Calibri" pitchFamily="34" charset="-120"/>
                        </a:rPr>
                        <a:t>PRO-02</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Fijar fechas RAS desde el PoC y el plan de liberación, no desde el avance de ingeniería</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388620">
                <a:tc>
                  <a:txBody>
                    <a:bodyPr/>
                    <a:lstStyle/>
                    <a:p>
                      <a:pPr indent="0" marL="0">
                        <a:buNone/>
                      </a:pPr>
                      <a:r>
                        <a:rPr lang="en-US" sz="1150" b="1" dirty="0">
                          <a:solidFill>
                            <a:srgbClr val="1B1C22"/>
                          </a:solidFill>
                          <a:latin typeface="Calibri" pitchFamily="34" charset="0"/>
                          <a:ea typeface="Calibri" pitchFamily="34" charset="-122"/>
                          <a:cs typeface="Calibri" pitchFamily="34" charset="-120"/>
                        </a:rPr>
                        <a:t>PRO-03</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Seguir el estado de materiales por CWP e IWP (comprado, en fabricación, en tránsito, recibido)</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388620">
                <a:tc>
                  <a:txBody>
                    <a:bodyPr/>
                    <a:lstStyle/>
                    <a:p>
                      <a:pPr indent="0" marL="0">
                        <a:buNone/>
                      </a:pPr>
                      <a:r>
                        <a:rPr lang="en-US" sz="1150" b="1" dirty="0">
                          <a:solidFill>
                            <a:srgbClr val="1B1C22"/>
                          </a:solidFill>
                          <a:latin typeface="Calibri" pitchFamily="34" charset="0"/>
                          <a:ea typeface="Calibri" pitchFamily="34" charset="-122"/>
                          <a:cs typeface="Calibri" pitchFamily="34" charset="-120"/>
                        </a:rPr>
                        <a:t>PRO-04</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Reservar materiales por IWP y preparar entregas por paquete al entrar al lookahead</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388620">
                <a:tc>
                  <a:txBody>
                    <a:bodyPr/>
                    <a:lstStyle/>
                    <a:p>
                      <a:pPr indent="0" marL="0">
                        <a:buNone/>
                      </a:pPr>
                      <a:r>
                        <a:rPr lang="en-US" sz="1150" b="1" dirty="0">
                          <a:solidFill>
                            <a:srgbClr val="1B1C22"/>
                          </a:solidFill>
                          <a:latin typeface="Calibri" pitchFamily="34" charset="0"/>
                          <a:ea typeface="Calibri" pitchFamily="34" charset="-122"/>
                          <a:cs typeface="Calibri" pitchFamily="34" charset="-120"/>
                        </a:rPr>
                        <a:t>PRO-05</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Gestionar la documentación del proveedor que necesita construcción</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Avance AWP</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80</a:t>
            </a:r>
            <a:endParaRPr lang="en-US" sz="10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Construcción (7) y Comisionamiento (4)</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La planificación de frente de trabajo y el cierre por sistemas</a:t>
            </a:r>
            <a:endParaRPr lang="en-US" sz="1500" dirty="0"/>
          </a:p>
        </p:txBody>
      </p:sp>
      <p:graphicFrame>
        <p:nvGraphicFramePr>
          <p:cNvPr id="82"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097280"/>
                <a:gridCol w="9052560"/>
                <a:gridCol w="822960"/>
              </a:tblGrid>
              <a:tr h="3886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Código</a:t>
                      </a:r>
                      <a:endParaRPr lang="en-US" sz="12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Actividad</a:t>
                      </a:r>
                      <a:endParaRPr lang="en-US" sz="12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Hito</a:t>
                      </a:r>
                      <a:endParaRPr lang="en-US" sz="12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r>
              <a:tr h="388620">
                <a:tc>
                  <a:txBody>
                    <a:bodyPr/>
                    <a:lstStyle/>
                    <a:p>
                      <a:pPr indent="0" marL="0">
                        <a:buNone/>
                      </a:pPr>
                      <a:r>
                        <a:rPr lang="en-US" sz="1150" b="1" dirty="0">
                          <a:solidFill>
                            <a:srgbClr val="1B1C22"/>
                          </a:solidFill>
                          <a:latin typeface="Calibri" pitchFamily="34" charset="0"/>
                          <a:ea typeface="Calibri" pitchFamily="34" charset="-122"/>
                          <a:cs typeface="Calibri" pitchFamily="34" charset="-120"/>
                        </a:rPr>
                        <a:t>CON-01</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Emitir los CWP con alcance, planos, cantidades, HH, secuencia, riesgos HSE y requisitos de calidad</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H6</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388620">
                <a:tc>
                  <a:txBody>
                    <a:bodyPr/>
                    <a:lstStyle/>
                    <a:p>
                      <a:pPr indent="0" marL="0">
                        <a:buNone/>
                      </a:pPr>
                      <a:r>
                        <a:rPr lang="en-US" sz="1150" b="1" dirty="0">
                          <a:solidFill>
                            <a:srgbClr val="1B1C22"/>
                          </a:solidFill>
                          <a:latin typeface="Calibri" pitchFamily="34" charset="0"/>
                          <a:ea typeface="Calibri" pitchFamily="34" charset="-122"/>
                          <a:cs typeface="Calibri" pitchFamily="34" charset="-120"/>
                        </a:rPr>
                        <a:t>CON-02</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Dividir los CWP en IWP (una cuadrilla, un capataz, ~1 semana) en una ventana de ~12 semanas</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388620">
                <a:tc>
                  <a:txBody>
                    <a:bodyPr/>
                    <a:lstStyle/>
                    <a:p>
                      <a:pPr indent="0" marL="0">
                        <a:buNone/>
                      </a:pPr>
                      <a:r>
                        <a:rPr lang="en-US" sz="1150" b="1" dirty="0">
                          <a:solidFill>
                            <a:srgbClr val="1B1C22"/>
                          </a:solidFill>
                          <a:latin typeface="Calibri" pitchFamily="34" charset="0"/>
                          <a:ea typeface="Calibri" pitchFamily="34" charset="-122"/>
                          <a:cs typeface="Calibri" pitchFamily="34" charset="-120"/>
                        </a:rPr>
                        <a:t>CON-03</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Identificar, asignar y levantar restricciones con el registro y la reunión semanal</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388620">
                <a:tc>
                  <a:txBody>
                    <a:bodyPr/>
                    <a:lstStyle/>
                    <a:p>
                      <a:pPr indent="0" marL="0">
                        <a:buNone/>
                      </a:pPr>
                      <a:r>
                        <a:rPr lang="en-US" sz="1150" b="1" dirty="0">
                          <a:solidFill>
                            <a:srgbClr val="1B1C22"/>
                          </a:solidFill>
                          <a:latin typeface="Calibri" pitchFamily="34" charset="0"/>
                          <a:ea typeface="Calibri" pitchFamily="34" charset="-122"/>
                          <a:cs typeface="Calibri" pitchFamily="34" charset="-120"/>
                        </a:rPr>
                        <a:t>CON-04</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Liberar a campo solo IWP sin restricciones y mantener 2–4 semanas de backlog</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H7</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388620">
                <a:tc>
                  <a:txBody>
                    <a:bodyPr/>
                    <a:lstStyle/>
                    <a:p>
                      <a:pPr indent="0" marL="0">
                        <a:buNone/>
                      </a:pPr>
                      <a:r>
                        <a:rPr lang="en-US" sz="1150" b="1" dirty="0">
                          <a:solidFill>
                            <a:srgbClr val="1B1C22"/>
                          </a:solidFill>
                          <a:latin typeface="Calibri" pitchFamily="34" charset="0"/>
                          <a:ea typeface="Calibri" pitchFamily="34" charset="-122"/>
                          <a:cs typeface="Calibri" pitchFamily="34" charset="-120"/>
                        </a:rPr>
                        <a:t>CON-05</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Planificar con el lookahead de 3 semanas; superintendentes eligen IWP del backlog</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388620">
                <a:tc>
                  <a:txBody>
                    <a:bodyPr/>
                    <a:lstStyle/>
                    <a:p>
                      <a:pPr indent="0" marL="0">
                        <a:buNone/>
                      </a:pPr>
                      <a:r>
                        <a:rPr lang="en-US" sz="1150" b="1" dirty="0">
                          <a:solidFill>
                            <a:srgbClr val="1B1C22"/>
                          </a:solidFill>
                          <a:latin typeface="Calibri" pitchFamily="34" charset="0"/>
                          <a:ea typeface="Calibri" pitchFamily="34" charset="-122"/>
                          <a:cs typeface="Calibri" pitchFamily="34" charset="-120"/>
                        </a:rPr>
                        <a:t>CON-06</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Registrar avance, horas y causas de no cumplimiento; cerrar cada IWP con su calidad</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388620">
                <a:tc>
                  <a:txBody>
                    <a:bodyPr/>
                    <a:lstStyle/>
                    <a:p>
                      <a:pPr indent="0" marL="0">
                        <a:buNone/>
                      </a:pPr>
                      <a:r>
                        <a:rPr lang="en-US" sz="1150" b="1" dirty="0">
                          <a:solidFill>
                            <a:srgbClr val="1B1C22"/>
                          </a:solidFill>
                          <a:latin typeface="Calibri" pitchFamily="34" charset="0"/>
                          <a:ea typeface="Calibri" pitchFamily="34" charset="-122"/>
                          <a:cs typeface="Calibri" pitchFamily="34" charset="-120"/>
                        </a:rPr>
                        <a:t>CON-07</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Medir los KPI (PPC, restricciones, backlog, tool time, productividad) cada semana</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388620">
                <a:tc>
                  <a:txBody>
                    <a:bodyPr/>
                    <a:lstStyle/>
                    <a:p>
                      <a:pPr indent="0" marL="0">
                        <a:buNone/>
                      </a:pPr>
                      <a:r>
                        <a:rPr lang="en-US" sz="1150" b="1" dirty="0">
                          <a:solidFill>
                            <a:srgbClr val="1B1C22"/>
                          </a:solidFill>
                          <a:latin typeface="Calibri" pitchFamily="34" charset="0"/>
                          <a:ea typeface="Calibri" pitchFamily="34" charset="-122"/>
                          <a:cs typeface="Calibri" pitchFamily="34" charset="-120"/>
                        </a:rPr>
                        <a:t>COM-01</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Definir sistemas y subsistemas y su secuencia desde la planificación temprana</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388620">
                <a:tc>
                  <a:txBody>
                    <a:bodyPr/>
                    <a:lstStyle/>
                    <a:p>
                      <a:pPr indent="0" marL="0">
                        <a:buNone/>
                      </a:pPr>
                      <a:r>
                        <a:rPr lang="en-US" sz="1150" b="1" dirty="0">
                          <a:solidFill>
                            <a:srgbClr val="1B1C22"/>
                          </a:solidFill>
                          <a:latin typeface="Calibri" pitchFamily="34" charset="0"/>
                          <a:ea typeface="Calibri" pitchFamily="34" charset="-122"/>
                          <a:cs typeface="Calibri" pitchFamily="34" charset="-120"/>
                        </a:rPr>
                        <a:t>COM-02</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Relacionar IWP y sistemas: saber qué falta para completar cada sistema</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388620">
                <a:tc>
                  <a:txBody>
                    <a:bodyPr/>
                    <a:lstStyle/>
                    <a:p>
                      <a:pPr indent="0" marL="0">
                        <a:buNone/>
                      </a:pPr>
                      <a:r>
                        <a:rPr lang="en-US" sz="1150" b="1" dirty="0">
                          <a:solidFill>
                            <a:srgbClr val="1B1C22"/>
                          </a:solidFill>
                          <a:latin typeface="Calibri" pitchFamily="34" charset="0"/>
                          <a:ea typeface="Calibri" pitchFamily="34" charset="-122"/>
                          <a:cs typeface="Calibri" pitchFamily="34" charset="-120"/>
                        </a:rPr>
                        <a:t>COM-03</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Preparar los paquetes de sistema (SWP) y de entrega (TOP) con ITR y pendientes</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H9</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388620">
                <a:tc>
                  <a:txBody>
                    <a:bodyPr/>
                    <a:lstStyle/>
                    <a:p>
                      <a:pPr indent="0" marL="0">
                        <a:buNone/>
                      </a:pPr>
                      <a:r>
                        <a:rPr lang="en-US" sz="1150" b="1" dirty="0">
                          <a:solidFill>
                            <a:srgbClr val="1B1C22"/>
                          </a:solidFill>
                          <a:latin typeface="Calibri" pitchFamily="34" charset="0"/>
                          <a:ea typeface="Calibri" pitchFamily="34" charset="-122"/>
                          <a:cs typeface="Calibri" pitchFamily="34" charset="-120"/>
                        </a:rPr>
                        <a:t>COM-04</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Cerrar la fase con el informe de cierre AWP y el registro de lecciones</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150" dirty="0">
                          <a:solidFill>
                            <a:srgbClr val="1B1C22"/>
                          </a:solidFill>
                          <a:latin typeface="Calibri" pitchFamily="34" charset="0"/>
                          <a:ea typeface="Calibri" pitchFamily="34" charset="-122"/>
                          <a:cs typeface="Calibri" pitchFamily="34" charset="-120"/>
                        </a:rPr>
                        <a:t>H10</a:t>
                      </a:r>
                      <a:endParaRPr lang="en-US" sz="11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Avance AWP</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81</a:t>
            </a:r>
            <a:endParaRPr lang="en-US" sz="10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Pestañas por etapa</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Cada etapa con su anillo y su lista; la pestaña activa se resalta</a:t>
            </a:r>
            <a:endParaRPr lang="en-US" sz="1500" dirty="0"/>
          </a:p>
        </p:txBody>
      </p:sp>
      <p:sp>
        <p:nvSpPr>
          <p:cNvPr id="4" name="Shape 2"/>
          <p:cNvSpPr/>
          <p:nvPr/>
        </p:nvSpPr>
        <p:spPr>
          <a:xfrm>
            <a:off x="548640" y="1545336"/>
            <a:ext cx="5318608" cy="3039723"/>
          </a:xfrm>
          <a:prstGeom prst="roundRect">
            <a:avLst>
              <a:gd name="adj" fmla="val 2407"/>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avance_ing.jpg">    </p:cNvPr>
          <p:cNvPicPr>
            <a:picLocks noChangeAspect="1"/>
          </p:cNvPicPr>
          <p:nvPr/>
        </p:nvPicPr>
        <p:blipFill>
          <a:blip r:embed="rId1"/>
          <a:stretch>
            <a:fillRect/>
          </a:stretch>
        </p:blipFill>
        <p:spPr>
          <a:xfrm>
            <a:off x="603504" y="1600200"/>
            <a:ext cx="5208880" cy="2929995"/>
          </a:xfrm>
          <a:prstGeom prst="rect">
            <a:avLst/>
          </a:prstGeom>
        </p:spPr>
      </p:pic>
      <p:sp>
        <p:nvSpPr>
          <p:cNvPr id="6" name="Text 3"/>
          <p:cNvSpPr txBox="1"/>
          <p:nvPr/>
        </p:nvSpPr>
        <p:spPr>
          <a:xfrm>
            <a:off x="548640" y="5349240"/>
            <a:ext cx="5318608" cy="868680"/>
          </a:xfrm>
          <a:prstGeom prst="rect">
            <a:avLst/>
          </a:prstGeom>
          <a:noFill/>
          <a:ln/>
        </p:spPr>
        <p:txBody>
          <a:bodyPr wrap="square" lIns="0" tIns="0" rIns="0" bIns="0" rtlCol="0" anchor="t">
            <a:normAutofit/>
          </a:bodyPr>
          <a:lstStyle/>
          <a:p>
            <a:pPr indent="0" marL="0">
              <a:buNone/>
            </a:pPr>
            <a:r>
              <a:rPr lang="en-US" sz="1400" dirty="0">
                <a:solidFill>
                  <a:srgbClr val="1B1C22"/>
                </a:solidFill>
                <a:latin typeface="Calibri" pitchFamily="34" charset="0"/>
                <a:ea typeface="Calibri" pitchFamily="34" charset="-122"/>
                <a:cs typeface="Calibri" pitchFamily="34" charset="-120"/>
              </a:rPr>
              <a:t>Ingeniería: 3 completadas, 1 en curso y 2 pendientes de 6 → 58 %.</a:t>
            </a:r>
            <a:endParaRPr lang="en-US" sz="1400" dirty="0"/>
          </a:p>
        </p:txBody>
      </p:sp>
      <p:sp>
        <p:nvSpPr>
          <p:cNvPr id="7" name="Shape 4"/>
          <p:cNvSpPr/>
          <p:nvPr/>
        </p:nvSpPr>
        <p:spPr>
          <a:xfrm>
            <a:off x="6324448" y="1545336"/>
            <a:ext cx="5318608" cy="3039723"/>
          </a:xfrm>
          <a:prstGeom prst="roundRect">
            <a:avLst>
              <a:gd name="adj" fmla="val 2407"/>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8" name="Image 1" descr="/tmp/claude-0/-home-user-01-awp/0b94e63d-a2ea-5e41-b4e8-6fcedbe96518/scratchpad/ppt/img/avance_con.jpg">    </p:cNvPr>
          <p:cNvPicPr>
            <a:picLocks noChangeAspect="1"/>
          </p:cNvPicPr>
          <p:nvPr/>
        </p:nvPicPr>
        <p:blipFill>
          <a:blip r:embed="rId2"/>
          <a:stretch>
            <a:fillRect/>
          </a:stretch>
        </p:blipFill>
        <p:spPr>
          <a:xfrm>
            <a:off x="6379312" y="1600200"/>
            <a:ext cx="5208880" cy="2929995"/>
          </a:xfrm>
          <a:prstGeom prst="rect">
            <a:avLst/>
          </a:prstGeom>
        </p:spPr>
      </p:pic>
      <p:sp>
        <p:nvSpPr>
          <p:cNvPr id="9" name="Text 5"/>
          <p:cNvSpPr txBox="1"/>
          <p:nvPr/>
        </p:nvSpPr>
        <p:spPr>
          <a:xfrm>
            <a:off x="6324448" y="5349240"/>
            <a:ext cx="5318608" cy="868680"/>
          </a:xfrm>
          <a:prstGeom prst="rect">
            <a:avLst/>
          </a:prstGeom>
          <a:noFill/>
          <a:ln/>
        </p:spPr>
        <p:txBody>
          <a:bodyPr wrap="square" lIns="0" tIns="0" rIns="0" bIns="0" rtlCol="0" anchor="t">
            <a:normAutofit/>
          </a:bodyPr>
          <a:lstStyle/>
          <a:p>
            <a:pPr indent="0" marL="0">
              <a:buNone/>
            </a:pPr>
            <a:r>
              <a:rPr lang="en-US" sz="1400" dirty="0">
                <a:solidFill>
                  <a:srgbClr val="1B1C22"/>
                </a:solidFill>
                <a:latin typeface="Calibri" pitchFamily="34" charset="0"/>
                <a:ea typeface="Calibri" pitchFamily="34" charset="-122"/>
                <a:cs typeface="Calibri" pitchFamily="34" charset="-120"/>
              </a:rPr>
              <a:t>Construcción: la primera actividad en curso (Emitir los CWP) → 7 %.</a:t>
            </a:r>
            <a:endParaRPr lang="en-US" sz="1400" dirty="0"/>
          </a:p>
        </p:txBody>
      </p:sp>
      <p:sp>
        <p:nvSpPr>
          <p:cNvPr id="10" name="Text 6"/>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Avance AWP</a:t>
            </a:r>
            <a:endParaRPr lang="en-US" sz="1000" dirty="0"/>
          </a:p>
        </p:txBody>
      </p:sp>
      <p:sp>
        <p:nvSpPr>
          <p:cNvPr id="11" name="Text 7"/>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82</a:t>
            </a:r>
            <a:endParaRPr lang="en-US" sz="10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Detalle de una actividad</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Estado, responsable, fechas, evidencia y comentario</a:t>
            </a:r>
            <a:endParaRPr lang="en-US" sz="1500" dirty="0"/>
          </a:p>
        </p:txBody>
      </p:sp>
      <p:sp>
        <p:nvSpPr>
          <p:cNvPr id="4" name="Shape 2"/>
          <p:cNvSpPr/>
          <p:nvPr/>
        </p:nvSpPr>
        <p:spPr>
          <a:xfrm>
            <a:off x="4562856" y="1855460"/>
            <a:ext cx="7135063" cy="4061479"/>
          </a:xfrm>
          <a:prstGeom prst="roundRect">
            <a:avLst>
              <a:gd name="adj" fmla="val 1801"/>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avance_detalle.jpg">    </p:cNvPr>
          <p:cNvPicPr>
            <a:picLocks noChangeAspect="1"/>
          </p:cNvPicPr>
          <p:nvPr/>
        </p:nvPicPr>
        <p:blipFill>
          <a:blip r:embed="rId1"/>
          <a:stretch>
            <a:fillRect/>
          </a:stretch>
        </p:blipFill>
        <p:spPr>
          <a:xfrm>
            <a:off x="4617720" y="1910324"/>
            <a:ext cx="7025335" cy="3951751"/>
          </a:xfrm>
          <a:prstGeom prst="rect">
            <a:avLst/>
          </a:prstGeom>
        </p:spPr>
      </p:pic>
      <p:sp>
        <p:nvSpPr>
          <p:cNvPr id="6" name="Shape 3"/>
          <p:cNvSpPr/>
          <p:nvPr/>
        </p:nvSpPr>
        <p:spPr>
          <a:xfrm>
            <a:off x="548640"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643280" y="1685696"/>
            <a:ext cx="231343" cy="231343"/>
          </a:xfrm>
          <a:prstGeom prst="rect">
            <a:avLst/>
          </a:prstGeom>
        </p:spPr>
      </p:pic>
      <p:sp>
        <p:nvSpPr>
          <p:cNvPr id="8" name="Text 4"/>
          <p:cNvSpPr txBox="1"/>
          <p:nvPr/>
        </p:nvSpPr>
        <p:spPr>
          <a:xfrm>
            <a:off x="1133856" y="1572768"/>
            <a:ext cx="3209544" cy="868680"/>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Estado</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Pendiente, En curso, Completada o No aplica.</a:t>
            </a:r>
            <a:endParaRPr lang="en-US" sz="1500" dirty="0"/>
          </a:p>
        </p:txBody>
      </p:sp>
      <p:sp>
        <p:nvSpPr>
          <p:cNvPr id="9" name="Shape 5"/>
          <p:cNvSpPr/>
          <p:nvPr/>
        </p:nvSpPr>
        <p:spPr>
          <a:xfrm>
            <a:off x="548640" y="2532888"/>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643280" y="2627528"/>
            <a:ext cx="231343" cy="231343"/>
          </a:xfrm>
          <a:prstGeom prst="rect">
            <a:avLst/>
          </a:prstGeom>
        </p:spPr>
      </p:pic>
      <p:sp>
        <p:nvSpPr>
          <p:cNvPr id="11" name="Text 6"/>
          <p:cNvSpPr txBox="1"/>
          <p:nvPr/>
        </p:nvSpPr>
        <p:spPr>
          <a:xfrm>
            <a:off x="1133856" y="2514600"/>
            <a:ext cx="3209544" cy="868680"/>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Responsable (rol)</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Se elige del catálogo de 16 roles.</a:t>
            </a:r>
            <a:endParaRPr lang="en-US" sz="1500" dirty="0"/>
          </a:p>
        </p:txBody>
      </p:sp>
      <p:sp>
        <p:nvSpPr>
          <p:cNvPr id="12" name="Shape 7"/>
          <p:cNvSpPr/>
          <p:nvPr/>
        </p:nvSpPr>
        <p:spPr>
          <a:xfrm>
            <a:off x="548640" y="3474720"/>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643280" y="3569360"/>
            <a:ext cx="231343" cy="231343"/>
          </a:xfrm>
          <a:prstGeom prst="rect">
            <a:avLst/>
          </a:prstGeom>
        </p:spPr>
      </p:pic>
      <p:sp>
        <p:nvSpPr>
          <p:cNvPr id="14" name="Text 8"/>
          <p:cNvSpPr txBox="1"/>
          <p:nvPr/>
        </p:nvSpPr>
        <p:spPr>
          <a:xfrm>
            <a:off x="1133856" y="3456432"/>
            <a:ext cx="3209544" cy="868680"/>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Fecha objetivo y fecha real</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La fecha real no puede ser futura; se llena sola al completar con un toque.</a:t>
            </a:r>
            <a:endParaRPr lang="en-US" sz="1500" dirty="0"/>
          </a:p>
        </p:txBody>
      </p:sp>
      <p:sp>
        <p:nvSpPr>
          <p:cNvPr id="15" name="Shape 9"/>
          <p:cNvSpPr/>
          <p:nvPr/>
        </p:nvSpPr>
        <p:spPr>
          <a:xfrm>
            <a:off x="548640" y="4416552"/>
            <a:ext cx="420624" cy="420624"/>
          </a:xfrm>
          <a:prstGeom prst="ellipse">
            <a:avLst/>
          </a:prstGeom>
          <a:solidFill>
            <a:srgbClr val="E8EAF6"/>
          </a:solidFill>
          <a:ln w="12700">
            <a:solidFill>
              <a:srgbClr val="E8EAF6"/>
            </a:solidFill>
            <a:prstDash val="solid"/>
          </a:ln>
        </p:spPr>
      </p:sp>
      <p:pic>
        <p:nvPicPr>
          <p:cNvPr id="16" name="Image 4" descr="preencoded.png">    </p:cNvPr>
          <p:cNvPicPr>
            <a:picLocks noChangeAspect="1"/>
          </p:cNvPicPr>
          <p:nvPr/>
        </p:nvPicPr>
        <p:blipFill>
          <a:blip r:embed="rId5"/>
          <a:stretch>
            <a:fillRect/>
          </a:stretch>
        </p:blipFill>
        <p:spPr>
          <a:xfrm>
            <a:off x="643280" y="4511192"/>
            <a:ext cx="231343" cy="231343"/>
          </a:xfrm>
          <a:prstGeom prst="rect">
            <a:avLst/>
          </a:prstGeom>
        </p:spPr>
      </p:pic>
      <p:sp>
        <p:nvSpPr>
          <p:cNvPr id="17" name="Text 10"/>
          <p:cNvSpPr txBox="1"/>
          <p:nvPr/>
        </p:nvSpPr>
        <p:spPr>
          <a:xfrm>
            <a:off x="1133856" y="4398264"/>
            <a:ext cx="3209544" cy="868680"/>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Evidencia</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Documento, acta o enlace que demuestra que se hizo. Ej.: «Acta del taller IPP del 12/03».</a:t>
            </a:r>
            <a:endParaRPr lang="en-US" sz="1500" dirty="0"/>
          </a:p>
        </p:txBody>
      </p:sp>
      <p:sp>
        <p:nvSpPr>
          <p:cNvPr id="18" name="Shape 11"/>
          <p:cNvSpPr/>
          <p:nvPr/>
        </p:nvSpPr>
        <p:spPr>
          <a:xfrm>
            <a:off x="548640" y="5358384"/>
            <a:ext cx="420624" cy="420624"/>
          </a:xfrm>
          <a:prstGeom prst="ellipse">
            <a:avLst/>
          </a:prstGeom>
          <a:solidFill>
            <a:srgbClr val="E8EAF6"/>
          </a:solidFill>
          <a:ln w="12700">
            <a:solidFill>
              <a:srgbClr val="E8EAF6"/>
            </a:solidFill>
            <a:prstDash val="solid"/>
          </a:ln>
        </p:spPr>
      </p:sp>
      <p:pic>
        <p:nvPicPr>
          <p:cNvPr id="19" name="Image 5" descr="preencoded.png">    </p:cNvPr>
          <p:cNvPicPr>
            <a:picLocks noChangeAspect="1"/>
          </p:cNvPicPr>
          <p:nvPr/>
        </p:nvPicPr>
        <p:blipFill>
          <a:blip r:embed="rId6"/>
          <a:stretch>
            <a:fillRect/>
          </a:stretch>
        </p:blipFill>
        <p:spPr>
          <a:xfrm>
            <a:off x="643280" y="5453024"/>
            <a:ext cx="231343" cy="231343"/>
          </a:xfrm>
          <a:prstGeom prst="rect">
            <a:avLst/>
          </a:prstGeom>
        </p:spPr>
      </p:pic>
      <p:sp>
        <p:nvSpPr>
          <p:cNvPr id="20" name="Text 12"/>
          <p:cNvSpPr txBox="1"/>
          <p:nvPr/>
        </p:nvSpPr>
        <p:spPr>
          <a:xfrm>
            <a:off x="1133856" y="5340096"/>
            <a:ext cx="3209544" cy="868680"/>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Comentario</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Contexto para el equipo; obligatorio si no aplica.</a:t>
            </a:r>
            <a:endParaRPr lang="en-US" sz="1500" dirty="0"/>
          </a:p>
        </p:txBody>
      </p:sp>
      <p:sp>
        <p:nvSpPr>
          <p:cNvPr id="21" name="Text 13"/>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Avance AWP</a:t>
            </a:r>
            <a:endParaRPr lang="en-US" sz="1000" dirty="0"/>
          </a:p>
        </p:txBody>
      </p:sp>
      <p:sp>
        <p:nvSpPr>
          <p:cNvPr id="22" name="Text 14"/>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83</a:t>
            </a:r>
            <a:endParaRPr lang="en-US" sz="10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«No aplica» exige una razón</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Así el % refleja la realidad del proyecto</a:t>
            </a:r>
            <a:endParaRPr lang="en-US" sz="1500" dirty="0"/>
          </a:p>
        </p:txBody>
      </p:sp>
      <p:sp>
        <p:nvSpPr>
          <p:cNvPr id="4" name="Shape 2"/>
          <p:cNvSpPr/>
          <p:nvPr/>
        </p:nvSpPr>
        <p:spPr>
          <a:xfrm>
            <a:off x="4562856" y="1855460"/>
            <a:ext cx="7135063" cy="4061479"/>
          </a:xfrm>
          <a:prstGeom prst="roundRect">
            <a:avLst>
              <a:gd name="adj" fmla="val 1801"/>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avance_noaplica_error.jpg">    </p:cNvPr>
          <p:cNvPicPr>
            <a:picLocks noChangeAspect="1"/>
          </p:cNvPicPr>
          <p:nvPr/>
        </p:nvPicPr>
        <p:blipFill>
          <a:blip r:embed="rId1"/>
          <a:stretch>
            <a:fillRect/>
          </a:stretch>
        </p:blipFill>
        <p:spPr>
          <a:xfrm>
            <a:off x="4617720" y="1910324"/>
            <a:ext cx="7025335" cy="3951751"/>
          </a:xfrm>
          <a:prstGeom prst="rect">
            <a:avLst/>
          </a:prstGeom>
        </p:spPr>
      </p:pic>
      <p:sp>
        <p:nvSpPr>
          <p:cNvPr id="6" name="Shape 3"/>
          <p:cNvSpPr/>
          <p:nvPr/>
        </p:nvSpPr>
        <p:spPr>
          <a:xfrm>
            <a:off x="548640"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643280" y="1685696"/>
            <a:ext cx="231343" cy="231343"/>
          </a:xfrm>
          <a:prstGeom prst="rect">
            <a:avLst/>
          </a:prstGeom>
        </p:spPr>
      </p:pic>
      <p:sp>
        <p:nvSpPr>
          <p:cNvPr id="8" name="Text 4"/>
          <p:cNvSpPr txBox="1"/>
          <p:nvPr/>
        </p:nvSpPr>
        <p:spPr>
          <a:xfrm>
            <a:off x="1133856" y="157276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Mensaje</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«Explica por qué no aplica: así el % de avance refleja la realidad y queda registro de la decisión.»</a:t>
            </a:r>
            <a:endParaRPr lang="en-US" sz="1500" dirty="0"/>
          </a:p>
        </p:txBody>
      </p:sp>
      <p:sp>
        <p:nvSpPr>
          <p:cNvPr id="9" name="Shape 5"/>
          <p:cNvSpPr/>
          <p:nvPr/>
        </p:nvSpPr>
        <p:spPr>
          <a:xfrm>
            <a:off x="548640" y="2768346"/>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643280" y="2862986"/>
            <a:ext cx="231343" cy="231343"/>
          </a:xfrm>
          <a:prstGeom prst="rect">
            <a:avLst/>
          </a:prstGeom>
        </p:spPr>
      </p:pic>
      <p:sp>
        <p:nvSpPr>
          <p:cNvPr id="11" name="Text 6"/>
          <p:cNvSpPr txBox="1"/>
          <p:nvPr/>
        </p:nvSpPr>
        <p:spPr>
          <a:xfrm>
            <a:off x="1133856" y="275005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Efecto en el cálculo</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La actividad sale del denominador: no suma ni resta.</a:t>
            </a:r>
            <a:endParaRPr lang="en-US" sz="1500" dirty="0"/>
          </a:p>
        </p:txBody>
      </p:sp>
      <p:sp>
        <p:nvSpPr>
          <p:cNvPr id="12" name="Shape 7"/>
          <p:cNvSpPr/>
          <p:nvPr/>
        </p:nvSpPr>
        <p:spPr>
          <a:xfrm>
            <a:off x="548640" y="3945636"/>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643280" y="4040276"/>
            <a:ext cx="231343" cy="231343"/>
          </a:xfrm>
          <a:prstGeom prst="rect">
            <a:avLst/>
          </a:prstGeom>
        </p:spPr>
      </p:pic>
      <p:sp>
        <p:nvSpPr>
          <p:cNvPr id="14" name="Text 8"/>
          <p:cNvSpPr txBox="1"/>
          <p:nvPr/>
        </p:nvSpPr>
        <p:spPr>
          <a:xfrm>
            <a:off x="1133856" y="392734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Queda registrada</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La decisión y quién la tomó quedan en la auditoría.</a:t>
            </a:r>
            <a:endParaRPr lang="en-US" sz="1500" dirty="0"/>
          </a:p>
        </p:txBody>
      </p:sp>
      <p:sp>
        <p:nvSpPr>
          <p:cNvPr id="15" name="Shape 9"/>
          <p:cNvSpPr/>
          <p:nvPr/>
        </p:nvSpPr>
        <p:spPr>
          <a:xfrm>
            <a:off x="548640" y="5122926"/>
            <a:ext cx="420624" cy="420624"/>
          </a:xfrm>
          <a:prstGeom prst="ellipse">
            <a:avLst/>
          </a:prstGeom>
          <a:solidFill>
            <a:srgbClr val="E8EAF6"/>
          </a:solidFill>
          <a:ln w="12700">
            <a:solidFill>
              <a:srgbClr val="E8EAF6"/>
            </a:solidFill>
            <a:prstDash val="solid"/>
          </a:ln>
        </p:spPr>
      </p:sp>
      <p:pic>
        <p:nvPicPr>
          <p:cNvPr id="16" name="Image 4" descr="preencoded.png">    </p:cNvPr>
          <p:cNvPicPr>
            <a:picLocks noChangeAspect="1"/>
          </p:cNvPicPr>
          <p:nvPr/>
        </p:nvPicPr>
        <p:blipFill>
          <a:blip r:embed="rId5"/>
          <a:stretch>
            <a:fillRect/>
          </a:stretch>
        </p:blipFill>
        <p:spPr>
          <a:xfrm>
            <a:off x="643280" y="5217566"/>
            <a:ext cx="231343" cy="231343"/>
          </a:xfrm>
          <a:prstGeom prst="rect">
            <a:avLst/>
          </a:prstGeom>
        </p:spPr>
      </p:pic>
      <p:sp>
        <p:nvSpPr>
          <p:cNvPr id="17" name="Text 10"/>
          <p:cNvSpPr txBox="1"/>
          <p:nvPr/>
        </p:nvSpPr>
        <p:spPr>
          <a:xfrm>
            <a:off x="1133856" y="510463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Ejemplo real</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MIN · PRO-05: «El cliente gestiona la documentación del proveedor con su propio sistema».</a:t>
            </a:r>
            <a:endParaRPr lang="en-US" sz="1500" dirty="0"/>
          </a:p>
        </p:txBody>
      </p:sp>
      <p:sp>
        <p:nvSpPr>
          <p:cNvPr id="18" name="Text 11"/>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Avance AWP</a:t>
            </a:r>
            <a:endParaRPr lang="en-US" sz="1000" dirty="0"/>
          </a:p>
        </p:txBody>
      </p:sp>
      <p:sp>
        <p:nvSpPr>
          <p:cNvPr id="19" name="Text 12"/>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84</a:t>
            </a:r>
            <a:endParaRPr lang="en-US" sz="10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Actividad → hito → plantilla</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Cada actividad clave del checklist alimenta un hito y usa una plantilla del kit</a:t>
            </a:r>
            <a:endParaRPr lang="en-US" sz="1500" dirty="0"/>
          </a:p>
        </p:txBody>
      </p:sp>
      <p:sp>
        <p:nvSpPr>
          <p:cNvPr id="4" name="Text 2"/>
          <p:cNvSpPr txBox="1"/>
          <p:nvPr/>
        </p:nvSpPr>
        <p:spPr>
          <a:xfrm>
            <a:off x="548640" y="1463040"/>
            <a:ext cx="3931920" cy="320040"/>
          </a:xfrm>
          <a:prstGeom prst="rect">
            <a:avLst/>
          </a:prstGeom>
          <a:noFill/>
          <a:ln/>
        </p:spPr>
        <p:txBody>
          <a:bodyPr wrap="square" lIns="0" tIns="0" rIns="0" bIns="0" rtlCol="0" anchor="t"/>
          <a:lstStyle/>
          <a:p>
            <a:pPr indent="0" marL="0">
              <a:buNone/>
            </a:pPr>
            <a:r>
              <a:rPr lang="en-US" sz="1300" b="1" dirty="0">
                <a:solidFill>
                  <a:srgbClr val="3F51B5"/>
                </a:solidFill>
                <a:latin typeface="Calibri" pitchFamily="34" charset="0"/>
                <a:ea typeface="Calibri" pitchFamily="34" charset="-122"/>
                <a:cs typeface="Calibri" pitchFamily="34" charset="-120"/>
              </a:rPr>
              <a:t>Actividad del checklist</a:t>
            </a:r>
            <a:endParaRPr lang="en-US" sz="1300" dirty="0"/>
          </a:p>
        </p:txBody>
      </p:sp>
      <p:sp>
        <p:nvSpPr>
          <p:cNvPr id="5" name="Text 3"/>
          <p:cNvSpPr txBox="1"/>
          <p:nvPr/>
        </p:nvSpPr>
        <p:spPr>
          <a:xfrm>
            <a:off x="4800600" y="1463040"/>
            <a:ext cx="3566160" cy="320040"/>
          </a:xfrm>
          <a:prstGeom prst="rect">
            <a:avLst/>
          </a:prstGeom>
          <a:noFill/>
          <a:ln/>
        </p:spPr>
        <p:txBody>
          <a:bodyPr wrap="square" lIns="0" tIns="0" rIns="0" bIns="0" rtlCol="0" anchor="t"/>
          <a:lstStyle/>
          <a:p>
            <a:pPr indent="0" marL="0">
              <a:buNone/>
            </a:pPr>
            <a:r>
              <a:rPr lang="en-US" sz="1300" b="1" dirty="0">
                <a:solidFill>
                  <a:srgbClr val="B7860B"/>
                </a:solidFill>
                <a:latin typeface="Calibri" pitchFamily="34" charset="0"/>
                <a:ea typeface="Calibri" pitchFamily="34" charset="-122"/>
                <a:cs typeface="Calibri" pitchFamily="34" charset="-120"/>
              </a:rPr>
              <a:t>Hito que alimenta</a:t>
            </a:r>
            <a:endParaRPr lang="en-US" sz="1300" dirty="0"/>
          </a:p>
        </p:txBody>
      </p:sp>
      <p:sp>
        <p:nvSpPr>
          <p:cNvPr id="6" name="Text 4"/>
          <p:cNvSpPr txBox="1"/>
          <p:nvPr/>
        </p:nvSpPr>
        <p:spPr>
          <a:xfrm>
            <a:off x="8686800" y="1463040"/>
            <a:ext cx="2926080" cy="320040"/>
          </a:xfrm>
          <a:prstGeom prst="rect">
            <a:avLst/>
          </a:prstGeom>
          <a:noFill/>
          <a:ln/>
        </p:spPr>
        <p:txBody>
          <a:bodyPr wrap="square" lIns="0" tIns="0" rIns="0" bIns="0" rtlCol="0" anchor="t"/>
          <a:lstStyle/>
          <a:p>
            <a:pPr indent="0" marL="0">
              <a:buNone/>
            </a:pPr>
            <a:r>
              <a:rPr lang="en-US" sz="1300" b="1" dirty="0">
                <a:solidFill>
                  <a:srgbClr val="0CA30C"/>
                </a:solidFill>
                <a:latin typeface="Calibri" pitchFamily="34" charset="0"/>
                <a:ea typeface="Calibri" pitchFamily="34" charset="-122"/>
                <a:cs typeface="Calibri" pitchFamily="34" charset="-120"/>
              </a:rPr>
              <a:t>Plantilla del kit</a:t>
            </a:r>
            <a:endParaRPr lang="en-US" sz="1300" dirty="0"/>
          </a:p>
        </p:txBody>
      </p:sp>
      <p:sp>
        <p:nvSpPr>
          <p:cNvPr id="7" name="Shape 5"/>
          <p:cNvSpPr/>
          <p:nvPr/>
        </p:nvSpPr>
        <p:spPr>
          <a:xfrm>
            <a:off x="548640" y="1828800"/>
            <a:ext cx="3931920" cy="457200"/>
          </a:xfrm>
          <a:prstGeom prst="roundRect">
            <a:avLst>
              <a:gd name="adj" fmla="val 16000"/>
            </a:avLst>
          </a:prstGeom>
          <a:solidFill>
            <a:srgbClr val="E8EAF6"/>
          </a:solidFill>
          <a:ln w="9525">
            <a:solidFill>
              <a:srgbClr val="C5CAE9"/>
            </a:solidFill>
            <a:prstDash val="solid"/>
          </a:ln>
        </p:spPr>
      </p:sp>
      <p:sp>
        <p:nvSpPr>
          <p:cNvPr id="8" name="Text 6"/>
          <p:cNvSpPr txBox="1"/>
          <p:nvPr/>
        </p:nvSpPr>
        <p:spPr>
          <a:xfrm>
            <a:off x="685800" y="1828800"/>
            <a:ext cx="3657600" cy="457200"/>
          </a:xfrm>
          <a:prstGeom prst="rect">
            <a:avLst/>
          </a:prstGeom>
          <a:noFill/>
          <a:ln/>
        </p:spPr>
        <p:txBody>
          <a:bodyPr wrap="square" lIns="0" tIns="0" rIns="0" bIns="0" rtlCol="0" anchor="ctr"/>
          <a:lstStyle/>
          <a:p>
            <a:pPr indent="0" marL="0">
              <a:buNone/>
            </a:pPr>
            <a:r>
              <a:rPr lang="en-US" sz="1250" dirty="0">
                <a:solidFill>
                  <a:srgbClr val="1B1C22"/>
                </a:solidFill>
                <a:latin typeface="Calibri" pitchFamily="34" charset="0"/>
                <a:ea typeface="Calibri" pitchFamily="34" charset="-122"/>
                <a:cs typeface="Calibri" pitchFamily="34" charset="-120"/>
              </a:rPr>
              <a:t>FEL-01 · Designar al AWP Champion</a:t>
            </a:r>
            <a:endParaRPr lang="en-US" sz="1250" dirty="0"/>
          </a:p>
        </p:txBody>
      </p:sp>
      <p:pic>
        <p:nvPicPr>
          <p:cNvPr id="9" name="Image 0" descr="preencoded.png">    </p:cNvPr>
          <p:cNvPicPr>
            <a:picLocks noChangeAspect="1"/>
          </p:cNvPicPr>
          <p:nvPr/>
        </p:nvPicPr>
        <p:blipFill>
          <a:blip r:embed="rId1"/>
          <a:stretch>
            <a:fillRect/>
          </a:stretch>
        </p:blipFill>
        <p:spPr>
          <a:xfrm>
            <a:off x="4544568" y="1920240"/>
            <a:ext cx="201168" cy="274320"/>
          </a:xfrm>
          <a:prstGeom prst="rect">
            <a:avLst/>
          </a:prstGeom>
        </p:spPr>
      </p:pic>
      <p:sp>
        <p:nvSpPr>
          <p:cNvPr id="10" name="Shape 7"/>
          <p:cNvSpPr/>
          <p:nvPr/>
        </p:nvSpPr>
        <p:spPr>
          <a:xfrm>
            <a:off x="4800600" y="1828800"/>
            <a:ext cx="3566160" cy="457200"/>
          </a:xfrm>
          <a:prstGeom prst="roundRect">
            <a:avLst>
              <a:gd name="adj" fmla="val 16000"/>
            </a:avLst>
          </a:prstGeom>
          <a:solidFill>
            <a:srgbClr val="FFF6DA"/>
          </a:solidFill>
          <a:ln w="9525">
            <a:solidFill>
              <a:srgbClr val="F5D98A"/>
            </a:solidFill>
            <a:prstDash val="solid"/>
          </a:ln>
        </p:spPr>
      </p:sp>
      <p:sp>
        <p:nvSpPr>
          <p:cNvPr id="11" name="Text 8"/>
          <p:cNvSpPr txBox="1"/>
          <p:nvPr/>
        </p:nvSpPr>
        <p:spPr>
          <a:xfrm>
            <a:off x="4937760" y="1828800"/>
            <a:ext cx="3291840" cy="457200"/>
          </a:xfrm>
          <a:prstGeom prst="rect">
            <a:avLst/>
          </a:prstGeom>
          <a:noFill/>
          <a:ln/>
        </p:spPr>
        <p:txBody>
          <a:bodyPr wrap="square" lIns="0" tIns="0" rIns="0" bIns="0" rtlCol="0" anchor="ctr"/>
          <a:lstStyle/>
          <a:p>
            <a:pPr indent="0" marL="0">
              <a:buNone/>
            </a:pPr>
            <a:r>
              <a:rPr lang="en-US" sz="1250" b="1" dirty="0">
                <a:solidFill>
                  <a:srgbClr val="1B1C22"/>
                </a:solidFill>
                <a:latin typeface="Calibri" pitchFamily="34" charset="0"/>
                <a:ea typeface="Calibri" pitchFamily="34" charset="-122"/>
                <a:cs typeface="Calibri" pitchFamily="34" charset="-120"/>
              </a:rPr>
              <a:t>H0 · Estrategia AWP aprobada</a:t>
            </a:r>
            <a:endParaRPr lang="en-US" sz="1250" dirty="0"/>
          </a:p>
        </p:txBody>
      </p:sp>
      <p:pic>
        <p:nvPicPr>
          <p:cNvPr id="12" name="Image 1" descr="preencoded.png">    </p:cNvPr>
          <p:cNvPicPr>
            <a:picLocks noChangeAspect="1"/>
          </p:cNvPicPr>
          <p:nvPr/>
        </p:nvPicPr>
        <p:blipFill>
          <a:blip r:embed="rId2"/>
          <a:stretch>
            <a:fillRect/>
          </a:stretch>
        </p:blipFill>
        <p:spPr>
          <a:xfrm>
            <a:off x="8430768" y="1920240"/>
            <a:ext cx="201168" cy="274320"/>
          </a:xfrm>
          <a:prstGeom prst="rect">
            <a:avLst/>
          </a:prstGeom>
        </p:spPr>
      </p:pic>
      <p:sp>
        <p:nvSpPr>
          <p:cNvPr id="13" name="Shape 9"/>
          <p:cNvSpPr/>
          <p:nvPr/>
        </p:nvSpPr>
        <p:spPr>
          <a:xfrm>
            <a:off x="8686800" y="1828800"/>
            <a:ext cx="2926080" cy="457200"/>
          </a:xfrm>
          <a:prstGeom prst="roundRect">
            <a:avLst>
              <a:gd name="adj" fmla="val 16000"/>
            </a:avLst>
          </a:prstGeom>
          <a:solidFill>
            <a:srgbClr val="E7F6E7"/>
          </a:solidFill>
          <a:ln w="9525">
            <a:solidFill>
              <a:srgbClr val="9ED69E"/>
            </a:solidFill>
            <a:prstDash val="solid"/>
          </a:ln>
        </p:spPr>
      </p:sp>
      <p:sp>
        <p:nvSpPr>
          <p:cNvPr id="14" name="Text 10"/>
          <p:cNvSpPr txBox="1"/>
          <p:nvPr/>
        </p:nvSpPr>
        <p:spPr>
          <a:xfrm>
            <a:off x="8823960" y="1828800"/>
            <a:ext cx="2651760" cy="457200"/>
          </a:xfrm>
          <a:prstGeom prst="rect">
            <a:avLst/>
          </a:prstGeom>
          <a:noFill/>
          <a:ln/>
        </p:spPr>
        <p:txBody>
          <a:bodyPr wrap="square" lIns="0" tIns="0" rIns="0" bIns="0" rtlCol="0" anchor="ctr"/>
          <a:lstStyle/>
          <a:p>
            <a:pPr indent="0" marL="0">
              <a:buNone/>
            </a:pPr>
            <a:r>
              <a:rPr lang="en-US" sz="1250" dirty="0">
                <a:solidFill>
                  <a:srgbClr val="1B1C22"/>
                </a:solidFill>
                <a:latin typeface="Calibri" pitchFamily="34" charset="0"/>
                <a:ea typeface="Calibri" pitchFamily="34" charset="-122"/>
                <a:cs typeface="Calibri" pitchFamily="34" charset="-120"/>
              </a:rPr>
              <a:t>Perfiles_Puesto_AWP.docx</a:t>
            </a:r>
            <a:endParaRPr lang="en-US" sz="1250" dirty="0"/>
          </a:p>
        </p:txBody>
      </p:sp>
      <p:sp>
        <p:nvSpPr>
          <p:cNvPr id="15" name="Shape 11"/>
          <p:cNvSpPr/>
          <p:nvPr/>
        </p:nvSpPr>
        <p:spPr>
          <a:xfrm>
            <a:off x="548640" y="2377440"/>
            <a:ext cx="3931920" cy="457200"/>
          </a:xfrm>
          <a:prstGeom prst="roundRect">
            <a:avLst>
              <a:gd name="adj" fmla="val 16000"/>
            </a:avLst>
          </a:prstGeom>
          <a:solidFill>
            <a:srgbClr val="E8EAF6"/>
          </a:solidFill>
          <a:ln w="9525">
            <a:solidFill>
              <a:srgbClr val="C5CAE9"/>
            </a:solidFill>
            <a:prstDash val="solid"/>
          </a:ln>
        </p:spPr>
      </p:sp>
      <p:sp>
        <p:nvSpPr>
          <p:cNvPr id="16" name="Text 12"/>
          <p:cNvSpPr txBox="1"/>
          <p:nvPr/>
        </p:nvSpPr>
        <p:spPr>
          <a:xfrm>
            <a:off x="685800" y="2377440"/>
            <a:ext cx="3657600" cy="457200"/>
          </a:xfrm>
          <a:prstGeom prst="rect">
            <a:avLst/>
          </a:prstGeom>
          <a:noFill/>
          <a:ln/>
        </p:spPr>
        <p:txBody>
          <a:bodyPr wrap="square" lIns="0" tIns="0" rIns="0" bIns="0" rtlCol="0" anchor="ctr"/>
          <a:lstStyle/>
          <a:p>
            <a:pPr indent="0" marL="0">
              <a:buNone/>
            </a:pPr>
            <a:r>
              <a:rPr lang="en-US" sz="1250" dirty="0">
                <a:solidFill>
                  <a:srgbClr val="1B1C22"/>
                </a:solidFill>
                <a:latin typeface="Calibri" pitchFamily="34" charset="0"/>
                <a:ea typeface="Calibri" pitchFamily="34" charset="-122"/>
                <a:cs typeface="Calibri" pitchFamily="34" charset="-120"/>
              </a:rPr>
              <a:t>FEL-03 · Dividir el proyecto en CWA</a:t>
            </a:r>
            <a:endParaRPr lang="en-US" sz="1250" dirty="0"/>
          </a:p>
        </p:txBody>
      </p:sp>
      <p:pic>
        <p:nvPicPr>
          <p:cNvPr id="17" name="Image 2" descr="preencoded.png">    </p:cNvPr>
          <p:cNvPicPr>
            <a:picLocks noChangeAspect="1"/>
          </p:cNvPicPr>
          <p:nvPr/>
        </p:nvPicPr>
        <p:blipFill>
          <a:blip r:embed="rId3"/>
          <a:stretch>
            <a:fillRect/>
          </a:stretch>
        </p:blipFill>
        <p:spPr>
          <a:xfrm>
            <a:off x="4544568" y="2468880"/>
            <a:ext cx="201168" cy="274320"/>
          </a:xfrm>
          <a:prstGeom prst="rect">
            <a:avLst/>
          </a:prstGeom>
        </p:spPr>
      </p:pic>
      <p:sp>
        <p:nvSpPr>
          <p:cNvPr id="18" name="Shape 13"/>
          <p:cNvSpPr/>
          <p:nvPr/>
        </p:nvSpPr>
        <p:spPr>
          <a:xfrm>
            <a:off x="4800600" y="2377440"/>
            <a:ext cx="3566160" cy="457200"/>
          </a:xfrm>
          <a:prstGeom prst="roundRect">
            <a:avLst>
              <a:gd name="adj" fmla="val 16000"/>
            </a:avLst>
          </a:prstGeom>
          <a:solidFill>
            <a:srgbClr val="FFF6DA"/>
          </a:solidFill>
          <a:ln w="9525">
            <a:solidFill>
              <a:srgbClr val="F5D98A"/>
            </a:solidFill>
            <a:prstDash val="solid"/>
          </a:ln>
        </p:spPr>
      </p:sp>
      <p:sp>
        <p:nvSpPr>
          <p:cNvPr id="19" name="Text 14"/>
          <p:cNvSpPr txBox="1"/>
          <p:nvPr/>
        </p:nvSpPr>
        <p:spPr>
          <a:xfrm>
            <a:off x="4937760" y="2377440"/>
            <a:ext cx="3291840" cy="457200"/>
          </a:xfrm>
          <a:prstGeom prst="rect">
            <a:avLst/>
          </a:prstGeom>
          <a:noFill/>
          <a:ln/>
        </p:spPr>
        <p:txBody>
          <a:bodyPr wrap="square" lIns="0" tIns="0" rIns="0" bIns="0" rtlCol="0" anchor="ctr"/>
          <a:lstStyle/>
          <a:p>
            <a:pPr indent="0" marL="0">
              <a:buNone/>
            </a:pPr>
            <a:r>
              <a:rPr lang="en-US" sz="1250" b="1" dirty="0">
                <a:solidFill>
                  <a:srgbClr val="1B1C22"/>
                </a:solidFill>
                <a:latin typeface="Calibri" pitchFamily="34" charset="0"/>
                <a:ea typeface="Calibri" pitchFamily="34" charset="-122"/>
                <a:cs typeface="Calibri" pitchFamily="34" charset="-120"/>
              </a:rPr>
              <a:t>H1 · CWA definidas</a:t>
            </a:r>
            <a:endParaRPr lang="en-US" sz="1250" dirty="0"/>
          </a:p>
        </p:txBody>
      </p:sp>
      <p:pic>
        <p:nvPicPr>
          <p:cNvPr id="20" name="Image 3" descr="preencoded.png">    </p:cNvPr>
          <p:cNvPicPr>
            <a:picLocks noChangeAspect="1"/>
          </p:cNvPicPr>
          <p:nvPr/>
        </p:nvPicPr>
        <p:blipFill>
          <a:blip r:embed="rId4"/>
          <a:stretch>
            <a:fillRect/>
          </a:stretch>
        </p:blipFill>
        <p:spPr>
          <a:xfrm>
            <a:off x="8430768" y="2468880"/>
            <a:ext cx="201168" cy="274320"/>
          </a:xfrm>
          <a:prstGeom prst="rect">
            <a:avLst/>
          </a:prstGeom>
        </p:spPr>
      </p:pic>
      <p:sp>
        <p:nvSpPr>
          <p:cNvPr id="21" name="Shape 15"/>
          <p:cNvSpPr/>
          <p:nvPr/>
        </p:nvSpPr>
        <p:spPr>
          <a:xfrm>
            <a:off x="8686800" y="2377440"/>
            <a:ext cx="2926080" cy="457200"/>
          </a:xfrm>
          <a:prstGeom prst="roundRect">
            <a:avLst>
              <a:gd name="adj" fmla="val 16000"/>
            </a:avLst>
          </a:prstGeom>
          <a:solidFill>
            <a:srgbClr val="E7F6E7"/>
          </a:solidFill>
          <a:ln w="9525">
            <a:solidFill>
              <a:srgbClr val="9ED69E"/>
            </a:solidFill>
            <a:prstDash val="solid"/>
          </a:ln>
        </p:spPr>
      </p:sp>
      <p:sp>
        <p:nvSpPr>
          <p:cNvPr id="22" name="Text 16"/>
          <p:cNvSpPr txBox="1"/>
          <p:nvPr/>
        </p:nvSpPr>
        <p:spPr>
          <a:xfrm>
            <a:off x="8823960" y="2377440"/>
            <a:ext cx="2651760" cy="457200"/>
          </a:xfrm>
          <a:prstGeom prst="rect">
            <a:avLst/>
          </a:prstGeom>
          <a:noFill/>
          <a:ln/>
        </p:spPr>
        <p:txBody>
          <a:bodyPr wrap="square" lIns="0" tIns="0" rIns="0" bIns="0" rtlCol="0" anchor="ctr"/>
          <a:lstStyle/>
          <a:p>
            <a:pPr indent="0" marL="0">
              <a:buNone/>
            </a:pPr>
            <a:r>
              <a:rPr lang="en-US" sz="1250" dirty="0">
                <a:solidFill>
                  <a:srgbClr val="1B1C22"/>
                </a:solidFill>
                <a:latin typeface="Calibri" pitchFamily="34" charset="0"/>
                <a:ea typeface="Calibri" pitchFamily="34" charset="-122"/>
                <a:cs typeface="Calibri" pitchFamily="34" charset="-120"/>
              </a:rPr>
              <a:t>Definicion_CWA.xlsx</a:t>
            </a:r>
            <a:endParaRPr lang="en-US" sz="1250" dirty="0"/>
          </a:p>
        </p:txBody>
      </p:sp>
      <p:sp>
        <p:nvSpPr>
          <p:cNvPr id="23" name="Shape 17"/>
          <p:cNvSpPr/>
          <p:nvPr/>
        </p:nvSpPr>
        <p:spPr>
          <a:xfrm>
            <a:off x="548640" y="2926080"/>
            <a:ext cx="3931920" cy="457200"/>
          </a:xfrm>
          <a:prstGeom prst="roundRect">
            <a:avLst>
              <a:gd name="adj" fmla="val 16000"/>
            </a:avLst>
          </a:prstGeom>
          <a:solidFill>
            <a:srgbClr val="E8EAF6"/>
          </a:solidFill>
          <a:ln w="9525">
            <a:solidFill>
              <a:srgbClr val="C5CAE9"/>
            </a:solidFill>
            <a:prstDash val="solid"/>
          </a:ln>
        </p:spPr>
      </p:sp>
      <p:sp>
        <p:nvSpPr>
          <p:cNvPr id="24" name="Text 18"/>
          <p:cNvSpPr txBox="1"/>
          <p:nvPr/>
        </p:nvSpPr>
        <p:spPr>
          <a:xfrm>
            <a:off x="685800" y="2926080"/>
            <a:ext cx="3657600" cy="457200"/>
          </a:xfrm>
          <a:prstGeom prst="rect">
            <a:avLst/>
          </a:prstGeom>
          <a:noFill/>
          <a:ln/>
        </p:spPr>
        <p:txBody>
          <a:bodyPr wrap="square" lIns="0" tIns="0" rIns="0" bIns="0" rtlCol="0" anchor="ctr"/>
          <a:lstStyle/>
          <a:p>
            <a:pPr indent="0" marL="0">
              <a:buNone/>
            </a:pPr>
            <a:r>
              <a:rPr lang="en-US" sz="1250" dirty="0">
                <a:solidFill>
                  <a:srgbClr val="1B1C22"/>
                </a:solidFill>
                <a:latin typeface="Calibri" pitchFamily="34" charset="0"/>
                <a:ea typeface="Calibri" pitchFamily="34" charset="-122"/>
                <a:cs typeface="Calibri" pitchFamily="34" charset="-120"/>
              </a:rPr>
              <a:t>FEL-04 · Desarrollar el PoC</a:t>
            </a:r>
            <a:endParaRPr lang="en-US" sz="1250" dirty="0"/>
          </a:p>
        </p:txBody>
      </p:sp>
      <p:pic>
        <p:nvPicPr>
          <p:cNvPr id="25" name="Image 4" descr="preencoded.png">    </p:cNvPr>
          <p:cNvPicPr>
            <a:picLocks noChangeAspect="1"/>
          </p:cNvPicPr>
          <p:nvPr/>
        </p:nvPicPr>
        <p:blipFill>
          <a:blip r:embed="rId5"/>
          <a:stretch>
            <a:fillRect/>
          </a:stretch>
        </p:blipFill>
        <p:spPr>
          <a:xfrm>
            <a:off x="4544568" y="3017520"/>
            <a:ext cx="201168" cy="274320"/>
          </a:xfrm>
          <a:prstGeom prst="rect">
            <a:avLst/>
          </a:prstGeom>
        </p:spPr>
      </p:pic>
      <p:sp>
        <p:nvSpPr>
          <p:cNvPr id="26" name="Shape 19"/>
          <p:cNvSpPr/>
          <p:nvPr/>
        </p:nvSpPr>
        <p:spPr>
          <a:xfrm>
            <a:off x="4800600" y="2926080"/>
            <a:ext cx="3566160" cy="457200"/>
          </a:xfrm>
          <a:prstGeom prst="roundRect">
            <a:avLst>
              <a:gd name="adj" fmla="val 16000"/>
            </a:avLst>
          </a:prstGeom>
          <a:solidFill>
            <a:srgbClr val="FFF6DA"/>
          </a:solidFill>
          <a:ln w="9525">
            <a:solidFill>
              <a:srgbClr val="F5D98A"/>
            </a:solidFill>
            <a:prstDash val="solid"/>
          </a:ln>
        </p:spPr>
      </p:sp>
      <p:sp>
        <p:nvSpPr>
          <p:cNvPr id="27" name="Text 20"/>
          <p:cNvSpPr txBox="1"/>
          <p:nvPr/>
        </p:nvSpPr>
        <p:spPr>
          <a:xfrm>
            <a:off x="4937760" y="2926080"/>
            <a:ext cx="3291840" cy="457200"/>
          </a:xfrm>
          <a:prstGeom prst="rect">
            <a:avLst/>
          </a:prstGeom>
          <a:noFill/>
          <a:ln/>
        </p:spPr>
        <p:txBody>
          <a:bodyPr wrap="square" lIns="0" tIns="0" rIns="0" bIns="0" rtlCol="0" anchor="ctr"/>
          <a:lstStyle/>
          <a:p>
            <a:pPr indent="0" marL="0">
              <a:buNone/>
            </a:pPr>
            <a:r>
              <a:rPr lang="en-US" sz="1250" b="1" dirty="0">
                <a:solidFill>
                  <a:srgbClr val="1B1C22"/>
                </a:solidFill>
                <a:latin typeface="Calibri" pitchFamily="34" charset="0"/>
                <a:ea typeface="Calibri" pitchFamily="34" charset="-122"/>
                <a:cs typeface="Calibri" pitchFamily="34" charset="-120"/>
              </a:rPr>
              <a:t>H2 · Path of Construction aprobado</a:t>
            </a:r>
            <a:endParaRPr lang="en-US" sz="1250" dirty="0"/>
          </a:p>
        </p:txBody>
      </p:sp>
      <p:pic>
        <p:nvPicPr>
          <p:cNvPr id="28" name="Image 5" descr="preencoded.png">    </p:cNvPr>
          <p:cNvPicPr>
            <a:picLocks noChangeAspect="1"/>
          </p:cNvPicPr>
          <p:nvPr/>
        </p:nvPicPr>
        <p:blipFill>
          <a:blip r:embed="rId6"/>
          <a:stretch>
            <a:fillRect/>
          </a:stretch>
        </p:blipFill>
        <p:spPr>
          <a:xfrm>
            <a:off x="8430768" y="3017520"/>
            <a:ext cx="201168" cy="274320"/>
          </a:xfrm>
          <a:prstGeom prst="rect">
            <a:avLst/>
          </a:prstGeom>
        </p:spPr>
      </p:pic>
      <p:sp>
        <p:nvSpPr>
          <p:cNvPr id="29" name="Shape 21"/>
          <p:cNvSpPr/>
          <p:nvPr/>
        </p:nvSpPr>
        <p:spPr>
          <a:xfrm>
            <a:off x="8686800" y="2926080"/>
            <a:ext cx="2926080" cy="457200"/>
          </a:xfrm>
          <a:prstGeom prst="roundRect">
            <a:avLst>
              <a:gd name="adj" fmla="val 16000"/>
            </a:avLst>
          </a:prstGeom>
          <a:solidFill>
            <a:srgbClr val="E7F6E7"/>
          </a:solidFill>
          <a:ln w="9525">
            <a:solidFill>
              <a:srgbClr val="9ED69E"/>
            </a:solidFill>
            <a:prstDash val="solid"/>
          </a:ln>
        </p:spPr>
      </p:sp>
      <p:sp>
        <p:nvSpPr>
          <p:cNvPr id="30" name="Text 22"/>
          <p:cNvSpPr txBox="1"/>
          <p:nvPr/>
        </p:nvSpPr>
        <p:spPr>
          <a:xfrm>
            <a:off x="8823960" y="2926080"/>
            <a:ext cx="2651760" cy="457200"/>
          </a:xfrm>
          <a:prstGeom prst="rect">
            <a:avLst/>
          </a:prstGeom>
          <a:noFill/>
          <a:ln/>
        </p:spPr>
        <p:txBody>
          <a:bodyPr wrap="square" lIns="0" tIns="0" rIns="0" bIns="0" rtlCol="0" anchor="ctr"/>
          <a:lstStyle/>
          <a:p>
            <a:pPr indent="0" marL="0">
              <a:buNone/>
            </a:pPr>
            <a:r>
              <a:rPr lang="en-US" sz="1250" dirty="0">
                <a:solidFill>
                  <a:srgbClr val="1B1C22"/>
                </a:solidFill>
                <a:latin typeface="Calibri" pitchFamily="34" charset="0"/>
                <a:ea typeface="Calibri" pitchFamily="34" charset="-122"/>
                <a:cs typeface="Calibri" pitchFamily="34" charset="-120"/>
              </a:rPr>
              <a:t>Path_of_Construction.xlsx</a:t>
            </a:r>
            <a:endParaRPr lang="en-US" sz="1250" dirty="0"/>
          </a:p>
        </p:txBody>
      </p:sp>
      <p:sp>
        <p:nvSpPr>
          <p:cNvPr id="31" name="Shape 23"/>
          <p:cNvSpPr/>
          <p:nvPr/>
        </p:nvSpPr>
        <p:spPr>
          <a:xfrm>
            <a:off x="548640" y="3474720"/>
            <a:ext cx="3931920" cy="457200"/>
          </a:xfrm>
          <a:prstGeom prst="roundRect">
            <a:avLst>
              <a:gd name="adj" fmla="val 16000"/>
            </a:avLst>
          </a:prstGeom>
          <a:solidFill>
            <a:srgbClr val="E8EAF6"/>
          </a:solidFill>
          <a:ln w="9525">
            <a:solidFill>
              <a:srgbClr val="C5CAE9"/>
            </a:solidFill>
            <a:prstDash val="solid"/>
          </a:ln>
        </p:spPr>
      </p:sp>
      <p:sp>
        <p:nvSpPr>
          <p:cNvPr id="32" name="Text 24"/>
          <p:cNvSpPr txBox="1"/>
          <p:nvPr/>
        </p:nvSpPr>
        <p:spPr>
          <a:xfrm>
            <a:off x="685800" y="3474720"/>
            <a:ext cx="3657600" cy="457200"/>
          </a:xfrm>
          <a:prstGeom prst="rect">
            <a:avLst/>
          </a:prstGeom>
          <a:noFill/>
          <a:ln/>
        </p:spPr>
        <p:txBody>
          <a:bodyPr wrap="square" lIns="0" tIns="0" rIns="0" bIns="0" rtlCol="0" anchor="ctr"/>
          <a:lstStyle/>
          <a:p>
            <a:pPr indent="0" marL="0">
              <a:buNone/>
            </a:pPr>
            <a:r>
              <a:rPr lang="en-US" sz="1250" dirty="0">
                <a:solidFill>
                  <a:srgbClr val="1B1C22"/>
                </a:solidFill>
                <a:latin typeface="Calibri" pitchFamily="34" charset="0"/>
                <a:ea typeface="Calibri" pitchFamily="34" charset="-122"/>
                <a:cs typeface="Calibri" pitchFamily="34" charset="-120"/>
              </a:rPr>
              <a:t>FEL-05 · Lista preliminar de CWP</a:t>
            </a:r>
            <a:endParaRPr lang="en-US" sz="1250" dirty="0"/>
          </a:p>
        </p:txBody>
      </p:sp>
      <p:pic>
        <p:nvPicPr>
          <p:cNvPr id="33" name="Image 6" descr="preencoded.png">    </p:cNvPr>
          <p:cNvPicPr>
            <a:picLocks noChangeAspect="1"/>
          </p:cNvPicPr>
          <p:nvPr/>
        </p:nvPicPr>
        <p:blipFill>
          <a:blip r:embed="rId7"/>
          <a:stretch>
            <a:fillRect/>
          </a:stretch>
        </p:blipFill>
        <p:spPr>
          <a:xfrm>
            <a:off x="4544568" y="3566160"/>
            <a:ext cx="201168" cy="274320"/>
          </a:xfrm>
          <a:prstGeom prst="rect">
            <a:avLst/>
          </a:prstGeom>
        </p:spPr>
      </p:pic>
      <p:sp>
        <p:nvSpPr>
          <p:cNvPr id="34" name="Shape 25"/>
          <p:cNvSpPr/>
          <p:nvPr/>
        </p:nvSpPr>
        <p:spPr>
          <a:xfrm>
            <a:off x="4800600" y="3474720"/>
            <a:ext cx="3566160" cy="457200"/>
          </a:xfrm>
          <a:prstGeom prst="roundRect">
            <a:avLst>
              <a:gd name="adj" fmla="val 16000"/>
            </a:avLst>
          </a:prstGeom>
          <a:solidFill>
            <a:srgbClr val="FFF6DA"/>
          </a:solidFill>
          <a:ln w="9525">
            <a:solidFill>
              <a:srgbClr val="F5D98A"/>
            </a:solidFill>
            <a:prstDash val="solid"/>
          </a:ln>
        </p:spPr>
      </p:sp>
      <p:sp>
        <p:nvSpPr>
          <p:cNvPr id="35" name="Text 26"/>
          <p:cNvSpPr txBox="1"/>
          <p:nvPr/>
        </p:nvSpPr>
        <p:spPr>
          <a:xfrm>
            <a:off x="4937760" y="3474720"/>
            <a:ext cx="3291840" cy="457200"/>
          </a:xfrm>
          <a:prstGeom prst="rect">
            <a:avLst/>
          </a:prstGeom>
          <a:noFill/>
          <a:ln/>
        </p:spPr>
        <p:txBody>
          <a:bodyPr wrap="square" lIns="0" tIns="0" rIns="0" bIns="0" rtlCol="0" anchor="ctr"/>
          <a:lstStyle/>
          <a:p>
            <a:pPr indent="0" marL="0">
              <a:buNone/>
            </a:pPr>
            <a:r>
              <a:rPr lang="en-US" sz="1250" b="1" dirty="0">
                <a:solidFill>
                  <a:srgbClr val="1B1C22"/>
                </a:solidFill>
                <a:latin typeface="Calibri" pitchFamily="34" charset="0"/>
                <a:ea typeface="Calibri" pitchFamily="34" charset="-122"/>
                <a:cs typeface="Calibri" pitchFamily="34" charset="-120"/>
              </a:rPr>
              <a:t>H3 · CWP, EWP y PWP definidos</a:t>
            </a:r>
            <a:endParaRPr lang="en-US" sz="1250" dirty="0"/>
          </a:p>
        </p:txBody>
      </p:sp>
      <p:pic>
        <p:nvPicPr>
          <p:cNvPr id="36" name="Image 7" descr="preencoded.png">    </p:cNvPr>
          <p:cNvPicPr>
            <a:picLocks noChangeAspect="1"/>
          </p:cNvPicPr>
          <p:nvPr/>
        </p:nvPicPr>
        <p:blipFill>
          <a:blip r:embed="rId8"/>
          <a:stretch>
            <a:fillRect/>
          </a:stretch>
        </p:blipFill>
        <p:spPr>
          <a:xfrm>
            <a:off x="8430768" y="3566160"/>
            <a:ext cx="201168" cy="274320"/>
          </a:xfrm>
          <a:prstGeom prst="rect">
            <a:avLst/>
          </a:prstGeom>
        </p:spPr>
      </p:pic>
      <p:sp>
        <p:nvSpPr>
          <p:cNvPr id="37" name="Shape 27"/>
          <p:cNvSpPr/>
          <p:nvPr/>
        </p:nvSpPr>
        <p:spPr>
          <a:xfrm>
            <a:off x="8686800" y="3474720"/>
            <a:ext cx="2926080" cy="457200"/>
          </a:xfrm>
          <a:prstGeom prst="roundRect">
            <a:avLst>
              <a:gd name="adj" fmla="val 16000"/>
            </a:avLst>
          </a:prstGeom>
          <a:solidFill>
            <a:srgbClr val="E7F6E7"/>
          </a:solidFill>
          <a:ln w="9525">
            <a:solidFill>
              <a:srgbClr val="9ED69E"/>
            </a:solidFill>
            <a:prstDash val="solid"/>
          </a:ln>
        </p:spPr>
      </p:sp>
      <p:sp>
        <p:nvSpPr>
          <p:cNvPr id="38" name="Text 28"/>
          <p:cNvSpPr txBox="1"/>
          <p:nvPr/>
        </p:nvSpPr>
        <p:spPr>
          <a:xfrm>
            <a:off x="8823960" y="3474720"/>
            <a:ext cx="2651760" cy="457200"/>
          </a:xfrm>
          <a:prstGeom prst="rect">
            <a:avLst/>
          </a:prstGeom>
          <a:noFill/>
          <a:ln/>
        </p:spPr>
        <p:txBody>
          <a:bodyPr wrap="square" lIns="0" tIns="0" rIns="0" bIns="0" rtlCol="0" anchor="ctr"/>
          <a:lstStyle/>
          <a:p>
            <a:pPr indent="0" marL="0">
              <a:buNone/>
            </a:pPr>
            <a:r>
              <a:rPr lang="en-US" sz="1250" dirty="0">
                <a:solidFill>
                  <a:srgbClr val="1B1C22"/>
                </a:solidFill>
                <a:latin typeface="Calibri" pitchFamily="34" charset="0"/>
                <a:ea typeface="Calibri" pitchFamily="34" charset="-122"/>
                <a:cs typeface="Calibri" pitchFamily="34" charset="-120"/>
              </a:rPr>
              <a:t>Seguimiento_Paquetes.xlsx</a:t>
            </a:r>
            <a:endParaRPr lang="en-US" sz="1250" dirty="0"/>
          </a:p>
        </p:txBody>
      </p:sp>
      <p:sp>
        <p:nvSpPr>
          <p:cNvPr id="39" name="Shape 29"/>
          <p:cNvSpPr/>
          <p:nvPr/>
        </p:nvSpPr>
        <p:spPr>
          <a:xfrm>
            <a:off x="548640" y="4023360"/>
            <a:ext cx="3931920" cy="457200"/>
          </a:xfrm>
          <a:prstGeom prst="roundRect">
            <a:avLst>
              <a:gd name="adj" fmla="val 16000"/>
            </a:avLst>
          </a:prstGeom>
          <a:solidFill>
            <a:srgbClr val="E8EAF6"/>
          </a:solidFill>
          <a:ln w="9525">
            <a:solidFill>
              <a:srgbClr val="C5CAE9"/>
            </a:solidFill>
            <a:prstDash val="solid"/>
          </a:ln>
        </p:spPr>
      </p:sp>
      <p:sp>
        <p:nvSpPr>
          <p:cNvPr id="40" name="Text 30"/>
          <p:cNvSpPr txBox="1"/>
          <p:nvPr/>
        </p:nvSpPr>
        <p:spPr>
          <a:xfrm>
            <a:off x="685800" y="4023360"/>
            <a:ext cx="3657600" cy="457200"/>
          </a:xfrm>
          <a:prstGeom prst="rect">
            <a:avLst/>
          </a:prstGeom>
          <a:noFill/>
          <a:ln/>
        </p:spPr>
        <p:txBody>
          <a:bodyPr wrap="square" lIns="0" tIns="0" rIns="0" bIns="0" rtlCol="0" anchor="ctr"/>
          <a:lstStyle/>
          <a:p>
            <a:pPr indent="0" marL="0">
              <a:buNone/>
            </a:pPr>
            <a:r>
              <a:rPr lang="en-US" sz="1250" dirty="0">
                <a:solidFill>
                  <a:srgbClr val="1B1C22"/>
                </a:solidFill>
                <a:latin typeface="Calibri" pitchFamily="34" charset="0"/>
                <a:ea typeface="Calibri" pitchFamily="34" charset="-122"/>
                <a:cs typeface="Calibri" pitchFamily="34" charset="-120"/>
              </a:rPr>
              <a:t>ING-03 · Emitir los EWP completos</a:t>
            </a:r>
            <a:endParaRPr lang="en-US" sz="1250" dirty="0"/>
          </a:p>
        </p:txBody>
      </p:sp>
      <p:pic>
        <p:nvPicPr>
          <p:cNvPr id="41" name="Image 8" descr="preencoded.png">    </p:cNvPr>
          <p:cNvPicPr>
            <a:picLocks noChangeAspect="1"/>
          </p:cNvPicPr>
          <p:nvPr/>
        </p:nvPicPr>
        <p:blipFill>
          <a:blip r:embed="rId9"/>
          <a:stretch>
            <a:fillRect/>
          </a:stretch>
        </p:blipFill>
        <p:spPr>
          <a:xfrm>
            <a:off x="4544568" y="4114800"/>
            <a:ext cx="201168" cy="274320"/>
          </a:xfrm>
          <a:prstGeom prst="rect">
            <a:avLst/>
          </a:prstGeom>
        </p:spPr>
      </p:pic>
      <p:sp>
        <p:nvSpPr>
          <p:cNvPr id="42" name="Shape 31"/>
          <p:cNvSpPr/>
          <p:nvPr/>
        </p:nvSpPr>
        <p:spPr>
          <a:xfrm>
            <a:off x="4800600" y="4023360"/>
            <a:ext cx="3566160" cy="457200"/>
          </a:xfrm>
          <a:prstGeom prst="roundRect">
            <a:avLst>
              <a:gd name="adj" fmla="val 16000"/>
            </a:avLst>
          </a:prstGeom>
          <a:solidFill>
            <a:srgbClr val="FFF6DA"/>
          </a:solidFill>
          <a:ln w="9525">
            <a:solidFill>
              <a:srgbClr val="F5D98A"/>
            </a:solidFill>
            <a:prstDash val="solid"/>
          </a:ln>
        </p:spPr>
      </p:sp>
      <p:sp>
        <p:nvSpPr>
          <p:cNvPr id="43" name="Text 32"/>
          <p:cNvSpPr txBox="1"/>
          <p:nvPr/>
        </p:nvSpPr>
        <p:spPr>
          <a:xfrm>
            <a:off x="4937760" y="4023360"/>
            <a:ext cx="3291840" cy="457200"/>
          </a:xfrm>
          <a:prstGeom prst="rect">
            <a:avLst/>
          </a:prstGeom>
          <a:noFill/>
          <a:ln/>
        </p:spPr>
        <p:txBody>
          <a:bodyPr wrap="square" lIns="0" tIns="0" rIns="0" bIns="0" rtlCol="0" anchor="ctr"/>
          <a:lstStyle/>
          <a:p>
            <a:pPr indent="0" marL="0">
              <a:buNone/>
            </a:pPr>
            <a:r>
              <a:rPr lang="en-US" sz="1250" b="1" dirty="0">
                <a:solidFill>
                  <a:srgbClr val="1B1C22"/>
                </a:solidFill>
                <a:latin typeface="Calibri" pitchFamily="34" charset="0"/>
                <a:ea typeface="Calibri" pitchFamily="34" charset="-122"/>
                <a:cs typeface="Calibri" pitchFamily="34" charset="-120"/>
              </a:rPr>
              <a:t>H5 · Primer EWP emitido IFC</a:t>
            </a:r>
            <a:endParaRPr lang="en-US" sz="1250" dirty="0"/>
          </a:p>
        </p:txBody>
      </p:sp>
      <p:pic>
        <p:nvPicPr>
          <p:cNvPr id="44" name="Image 9" descr="preencoded.png">    </p:cNvPr>
          <p:cNvPicPr>
            <a:picLocks noChangeAspect="1"/>
          </p:cNvPicPr>
          <p:nvPr/>
        </p:nvPicPr>
        <p:blipFill>
          <a:blip r:embed="rId10"/>
          <a:stretch>
            <a:fillRect/>
          </a:stretch>
        </p:blipFill>
        <p:spPr>
          <a:xfrm>
            <a:off x="8430768" y="4114800"/>
            <a:ext cx="201168" cy="274320"/>
          </a:xfrm>
          <a:prstGeom prst="rect">
            <a:avLst/>
          </a:prstGeom>
        </p:spPr>
      </p:pic>
      <p:sp>
        <p:nvSpPr>
          <p:cNvPr id="45" name="Shape 33"/>
          <p:cNvSpPr/>
          <p:nvPr/>
        </p:nvSpPr>
        <p:spPr>
          <a:xfrm>
            <a:off x="8686800" y="4023360"/>
            <a:ext cx="2926080" cy="457200"/>
          </a:xfrm>
          <a:prstGeom prst="roundRect">
            <a:avLst>
              <a:gd name="adj" fmla="val 16000"/>
            </a:avLst>
          </a:prstGeom>
          <a:solidFill>
            <a:srgbClr val="E7F6E7"/>
          </a:solidFill>
          <a:ln w="9525">
            <a:solidFill>
              <a:srgbClr val="9ED69E"/>
            </a:solidFill>
            <a:prstDash val="solid"/>
          </a:ln>
        </p:spPr>
      </p:sp>
      <p:sp>
        <p:nvSpPr>
          <p:cNvPr id="46" name="Text 34"/>
          <p:cNvSpPr txBox="1"/>
          <p:nvPr/>
        </p:nvSpPr>
        <p:spPr>
          <a:xfrm>
            <a:off x="8823960" y="4023360"/>
            <a:ext cx="2651760" cy="457200"/>
          </a:xfrm>
          <a:prstGeom prst="rect">
            <a:avLst/>
          </a:prstGeom>
          <a:noFill/>
          <a:ln/>
        </p:spPr>
        <p:txBody>
          <a:bodyPr wrap="square" lIns="0" tIns="0" rIns="0" bIns="0" rtlCol="0" anchor="ctr"/>
          <a:lstStyle/>
          <a:p>
            <a:pPr indent="0" marL="0">
              <a:buNone/>
            </a:pPr>
            <a:r>
              <a:rPr lang="en-US" sz="1250" dirty="0">
                <a:solidFill>
                  <a:srgbClr val="1B1C22"/>
                </a:solidFill>
                <a:latin typeface="Calibri" pitchFamily="34" charset="0"/>
                <a:ea typeface="Calibri" pitchFamily="34" charset="-122"/>
                <a:cs typeface="Calibri" pitchFamily="34" charset="-120"/>
              </a:rPr>
              <a:t>Plantilla_EWP.docx</a:t>
            </a:r>
            <a:endParaRPr lang="en-US" sz="1250" dirty="0"/>
          </a:p>
        </p:txBody>
      </p:sp>
      <p:sp>
        <p:nvSpPr>
          <p:cNvPr id="47" name="Shape 35"/>
          <p:cNvSpPr/>
          <p:nvPr/>
        </p:nvSpPr>
        <p:spPr>
          <a:xfrm>
            <a:off x="548640" y="4572000"/>
            <a:ext cx="3931920" cy="457200"/>
          </a:xfrm>
          <a:prstGeom prst="roundRect">
            <a:avLst>
              <a:gd name="adj" fmla="val 16000"/>
            </a:avLst>
          </a:prstGeom>
          <a:solidFill>
            <a:srgbClr val="E8EAF6"/>
          </a:solidFill>
          <a:ln w="9525">
            <a:solidFill>
              <a:srgbClr val="C5CAE9"/>
            </a:solidFill>
            <a:prstDash val="solid"/>
          </a:ln>
        </p:spPr>
      </p:sp>
      <p:sp>
        <p:nvSpPr>
          <p:cNvPr id="48" name="Text 36"/>
          <p:cNvSpPr txBox="1"/>
          <p:nvPr/>
        </p:nvSpPr>
        <p:spPr>
          <a:xfrm>
            <a:off x="685800" y="4572000"/>
            <a:ext cx="3657600" cy="457200"/>
          </a:xfrm>
          <a:prstGeom prst="rect">
            <a:avLst/>
          </a:prstGeom>
          <a:noFill/>
          <a:ln/>
        </p:spPr>
        <p:txBody>
          <a:bodyPr wrap="square" lIns="0" tIns="0" rIns="0" bIns="0" rtlCol="0" anchor="ctr"/>
          <a:lstStyle/>
          <a:p>
            <a:pPr indent="0" marL="0">
              <a:buNone/>
            </a:pPr>
            <a:r>
              <a:rPr lang="en-US" sz="1250" dirty="0">
                <a:solidFill>
                  <a:srgbClr val="1B1C22"/>
                </a:solidFill>
                <a:latin typeface="Calibri" pitchFamily="34" charset="0"/>
                <a:ea typeface="Calibri" pitchFamily="34" charset="-122"/>
                <a:cs typeface="Calibri" pitchFamily="34" charset="-120"/>
              </a:rPr>
              <a:t>CON-01 · Emitir los CWP</a:t>
            </a:r>
            <a:endParaRPr lang="en-US" sz="1250" dirty="0"/>
          </a:p>
        </p:txBody>
      </p:sp>
      <p:pic>
        <p:nvPicPr>
          <p:cNvPr id="49" name="Image 10" descr="preencoded.png">    </p:cNvPr>
          <p:cNvPicPr>
            <a:picLocks noChangeAspect="1"/>
          </p:cNvPicPr>
          <p:nvPr/>
        </p:nvPicPr>
        <p:blipFill>
          <a:blip r:embed="rId11"/>
          <a:stretch>
            <a:fillRect/>
          </a:stretch>
        </p:blipFill>
        <p:spPr>
          <a:xfrm>
            <a:off x="4544568" y="4663440"/>
            <a:ext cx="201168" cy="274320"/>
          </a:xfrm>
          <a:prstGeom prst="rect">
            <a:avLst/>
          </a:prstGeom>
        </p:spPr>
      </p:pic>
      <p:sp>
        <p:nvSpPr>
          <p:cNvPr id="50" name="Shape 37"/>
          <p:cNvSpPr/>
          <p:nvPr/>
        </p:nvSpPr>
        <p:spPr>
          <a:xfrm>
            <a:off x="4800600" y="4572000"/>
            <a:ext cx="3566160" cy="457200"/>
          </a:xfrm>
          <a:prstGeom prst="roundRect">
            <a:avLst>
              <a:gd name="adj" fmla="val 16000"/>
            </a:avLst>
          </a:prstGeom>
          <a:solidFill>
            <a:srgbClr val="FFF6DA"/>
          </a:solidFill>
          <a:ln w="9525">
            <a:solidFill>
              <a:srgbClr val="F5D98A"/>
            </a:solidFill>
            <a:prstDash val="solid"/>
          </a:ln>
        </p:spPr>
      </p:sp>
      <p:sp>
        <p:nvSpPr>
          <p:cNvPr id="51" name="Text 38"/>
          <p:cNvSpPr txBox="1"/>
          <p:nvPr/>
        </p:nvSpPr>
        <p:spPr>
          <a:xfrm>
            <a:off x="4937760" y="4572000"/>
            <a:ext cx="3291840" cy="457200"/>
          </a:xfrm>
          <a:prstGeom prst="rect">
            <a:avLst/>
          </a:prstGeom>
          <a:noFill/>
          <a:ln/>
        </p:spPr>
        <p:txBody>
          <a:bodyPr wrap="square" lIns="0" tIns="0" rIns="0" bIns="0" rtlCol="0" anchor="ctr"/>
          <a:lstStyle/>
          <a:p>
            <a:pPr indent="0" marL="0">
              <a:buNone/>
            </a:pPr>
            <a:r>
              <a:rPr lang="en-US" sz="1250" b="1" dirty="0">
                <a:solidFill>
                  <a:srgbClr val="1B1C22"/>
                </a:solidFill>
                <a:latin typeface="Calibri" pitchFamily="34" charset="0"/>
                <a:ea typeface="Calibri" pitchFamily="34" charset="-122"/>
                <a:cs typeface="Calibri" pitchFamily="34" charset="-120"/>
              </a:rPr>
              <a:t>H6 · Primer CWP emitido</a:t>
            </a:r>
            <a:endParaRPr lang="en-US" sz="1250" dirty="0"/>
          </a:p>
        </p:txBody>
      </p:sp>
      <p:pic>
        <p:nvPicPr>
          <p:cNvPr id="52" name="Image 11" descr="preencoded.png">    </p:cNvPr>
          <p:cNvPicPr>
            <a:picLocks noChangeAspect="1"/>
          </p:cNvPicPr>
          <p:nvPr/>
        </p:nvPicPr>
        <p:blipFill>
          <a:blip r:embed="rId12"/>
          <a:stretch>
            <a:fillRect/>
          </a:stretch>
        </p:blipFill>
        <p:spPr>
          <a:xfrm>
            <a:off x="8430768" y="4663440"/>
            <a:ext cx="201168" cy="274320"/>
          </a:xfrm>
          <a:prstGeom prst="rect">
            <a:avLst/>
          </a:prstGeom>
        </p:spPr>
      </p:pic>
      <p:sp>
        <p:nvSpPr>
          <p:cNvPr id="53" name="Shape 39"/>
          <p:cNvSpPr/>
          <p:nvPr/>
        </p:nvSpPr>
        <p:spPr>
          <a:xfrm>
            <a:off x="8686800" y="4572000"/>
            <a:ext cx="2926080" cy="457200"/>
          </a:xfrm>
          <a:prstGeom prst="roundRect">
            <a:avLst>
              <a:gd name="adj" fmla="val 16000"/>
            </a:avLst>
          </a:prstGeom>
          <a:solidFill>
            <a:srgbClr val="E7F6E7"/>
          </a:solidFill>
          <a:ln w="9525">
            <a:solidFill>
              <a:srgbClr val="9ED69E"/>
            </a:solidFill>
            <a:prstDash val="solid"/>
          </a:ln>
        </p:spPr>
      </p:sp>
      <p:sp>
        <p:nvSpPr>
          <p:cNvPr id="54" name="Text 40"/>
          <p:cNvSpPr txBox="1"/>
          <p:nvPr/>
        </p:nvSpPr>
        <p:spPr>
          <a:xfrm>
            <a:off x="8823960" y="4572000"/>
            <a:ext cx="2651760" cy="457200"/>
          </a:xfrm>
          <a:prstGeom prst="rect">
            <a:avLst/>
          </a:prstGeom>
          <a:noFill/>
          <a:ln/>
        </p:spPr>
        <p:txBody>
          <a:bodyPr wrap="square" lIns="0" tIns="0" rIns="0" bIns="0" rtlCol="0" anchor="ctr"/>
          <a:lstStyle/>
          <a:p>
            <a:pPr indent="0" marL="0">
              <a:buNone/>
            </a:pPr>
            <a:r>
              <a:rPr lang="en-US" sz="1250" dirty="0">
                <a:solidFill>
                  <a:srgbClr val="1B1C22"/>
                </a:solidFill>
                <a:latin typeface="Calibri" pitchFamily="34" charset="0"/>
                <a:ea typeface="Calibri" pitchFamily="34" charset="-122"/>
                <a:cs typeface="Calibri" pitchFamily="34" charset="-120"/>
              </a:rPr>
              <a:t>Plantilla_CWP.docx</a:t>
            </a:r>
            <a:endParaRPr lang="en-US" sz="1250" dirty="0"/>
          </a:p>
        </p:txBody>
      </p:sp>
      <p:sp>
        <p:nvSpPr>
          <p:cNvPr id="55" name="Shape 41"/>
          <p:cNvSpPr/>
          <p:nvPr/>
        </p:nvSpPr>
        <p:spPr>
          <a:xfrm>
            <a:off x="548640" y="5120640"/>
            <a:ext cx="3931920" cy="457200"/>
          </a:xfrm>
          <a:prstGeom prst="roundRect">
            <a:avLst>
              <a:gd name="adj" fmla="val 16000"/>
            </a:avLst>
          </a:prstGeom>
          <a:solidFill>
            <a:srgbClr val="E8EAF6"/>
          </a:solidFill>
          <a:ln w="9525">
            <a:solidFill>
              <a:srgbClr val="C5CAE9"/>
            </a:solidFill>
            <a:prstDash val="solid"/>
          </a:ln>
        </p:spPr>
      </p:sp>
      <p:sp>
        <p:nvSpPr>
          <p:cNvPr id="56" name="Text 42"/>
          <p:cNvSpPr txBox="1"/>
          <p:nvPr/>
        </p:nvSpPr>
        <p:spPr>
          <a:xfrm>
            <a:off x="685800" y="5120640"/>
            <a:ext cx="3657600" cy="457200"/>
          </a:xfrm>
          <a:prstGeom prst="rect">
            <a:avLst/>
          </a:prstGeom>
          <a:noFill/>
          <a:ln/>
        </p:spPr>
        <p:txBody>
          <a:bodyPr wrap="square" lIns="0" tIns="0" rIns="0" bIns="0" rtlCol="0" anchor="ctr"/>
          <a:lstStyle/>
          <a:p>
            <a:pPr indent="0" marL="0">
              <a:buNone/>
            </a:pPr>
            <a:r>
              <a:rPr lang="en-US" sz="1250" dirty="0">
                <a:solidFill>
                  <a:srgbClr val="1B1C22"/>
                </a:solidFill>
                <a:latin typeface="Calibri" pitchFamily="34" charset="0"/>
                <a:ea typeface="Calibri" pitchFamily="34" charset="-122"/>
                <a:cs typeface="Calibri" pitchFamily="34" charset="-120"/>
              </a:rPr>
              <a:t>CON-04 · Liberar solo IWP sin restricciones</a:t>
            </a:r>
            <a:endParaRPr lang="en-US" sz="1250" dirty="0"/>
          </a:p>
        </p:txBody>
      </p:sp>
      <p:pic>
        <p:nvPicPr>
          <p:cNvPr id="57" name="Image 12" descr="preencoded.png">    </p:cNvPr>
          <p:cNvPicPr>
            <a:picLocks noChangeAspect="1"/>
          </p:cNvPicPr>
          <p:nvPr/>
        </p:nvPicPr>
        <p:blipFill>
          <a:blip r:embed="rId13"/>
          <a:stretch>
            <a:fillRect/>
          </a:stretch>
        </p:blipFill>
        <p:spPr>
          <a:xfrm>
            <a:off x="4544568" y="5212080"/>
            <a:ext cx="201168" cy="274320"/>
          </a:xfrm>
          <a:prstGeom prst="rect">
            <a:avLst/>
          </a:prstGeom>
        </p:spPr>
      </p:pic>
      <p:sp>
        <p:nvSpPr>
          <p:cNvPr id="58" name="Shape 43"/>
          <p:cNvSpPr/>
          <p:nvPr/>
        </p:nvSpPr>
        <p:spPr>
          <a:xfrm>
            <a:off x="4800600" y="5120640"/>
            <a:ext cx="3566160" cy="457200"/>
          </a:xfrm>
          <a:prstGeom prst="roundRect">
            <a:avLst>
              <a:gd name="adj" fmla="val 16000"/>
            </a:avLst>
          </a:prstGeom>
          <a:solidFill>
            <a:srgbClr val="FFF6DA"/>
          </a:solidFill>
          <a:ln w="9525">
            <a:solidFill>
              <a:srgbClr val="F5D98A"/>
            </a:solidFill>
            <a:prstDash val="solid"/>
          </a:ln>
        </p:spPr>
      </p:sp>
      <p:sp>
        <p:nvSpPr>
          <p:cNvPr id="59" name="Text 44"/>
          <p:cNvSpPr txBox="1"/>
          <p:nvPr/>
        </p:nvSpPr>
        <p:spPr>
          <a:xfrm>
            <a:off x="4937760" y="5120640"/>
            <a:ext cx="3291840" cy="457200"/>
          </a:xfrm>
          <a:prstGeom prst="rect">
            <a:avLst/>
          </a:prstGeom>
          <a:noFill/>
          <a:ln/>
        </p:spPr>
        <p:txBody>
          <a:bodyPr wrap="square" lIns="0" tIns="0" rIns="0" bIns="0" rtlCol="0" anchor="ctr"/>
          <a:lstStyle/>
          <a:p>
            <a:pPr indent="0" marL="0">
              <a:buNone/>
            </a:pPr>
            <a:r>
              <a:rPr lang="en-US" sz="1250" b="1" dirty="0">
                <a:solidFill>
                  <a:srgbClr val="1B1C22"/>
                </a:solidFill>
                <a:latin typeface="Calibri" pitchFamily="34" charset="0"/>
                <a:ea typeface="Calibri" pitchFamily="34" charset="-122"/>
                <a:cs typeface="Calibri" pitchFamily="34" charset="-120"/>
              </a:rPr>
              <a:t>H7 · Primer IWP liberado</a:t>
            </a:r>
            <a:endParaRPr lang="en-US" sz="1250" dirty="0"/>
          </a:p>
        </p:txBody>
      </p:sp>
      <p:pic>
        <p:nvPicPr>
          <p:cNvPr id="60" name="Image 13" descr="preencoded.png">    </p:cNvPr>
          <p:cNvPicPr>
            <a:picLocks noChangeAspect="1"/>
          </p:cNvPicPr>
          <p:nvPr/>
        </p:nvPicPr>
        <p:blipFill>
          <a:blip r:embed="rId14"/>
          <a:stretch>
            <a:fillRect/>
          </a:stretch>
        </p:blipFill>
        <p:spPr>
          <a:xfrm>
            <a:off x="8430768" y="5212080"/>
            <a:ext cx="201168" cy="274320"/>
          </a:xfrm>
          <a:prstGeom prst="rect">
            <a:avLst/>
          </a:prstGeom>
        </p:spPr>
      </p:pic>
      <p:sp>
        <p:nvSpPr>
          <p:cNvPr id="61" name="Shape 45"/>
          <p:cNvSpPr/>
          <p:nvPr/>
        </p:nvSpPr>
        <p:spPr>
          <a:xfrm>
            <a:off x="8686800" y="5120640"/>
            <a:ext cx="2926080" cy="457200"/>
          </a:xfrm>
          <a:prstGeom prst="roundRect">
            <a:avLst>
              <a:gd name="adj" fmla="val 16000"/>
            </a:avLst>
          </a:prstGeom>
          <a:solidFill>
            <a:srgbClr val="E7F6E7"/>
          </a:solidFill>
          <a:ln w="9525">
            <a:solidFill>
              <a:srgbClr val="9ED69E"/>
            </a:solidFill>
            <a:prstDash val="solid"/>
          </a:ln>
        </p:spPr>
      </p:sp>
      <p:sp>
        <p:nvSpPr>
          <p:cNvPr id="62" name="Text 46"/>
          <p:cNvSpPr txBox="1"/>
          <p:nvPr/>
        </p:nvSpPr>
        <p:spPr>
          <a:xfrm>
            <a:off x="8823960" y="5120640"/>
            <a:ext cx="2651760" cy="457200"/>
          </a:xfrm>
          <a:prstGeom prst="rect">
            <a:avLst/>
          </a:prstGeom>
          <a:noFill/>
          <a:ln/>
        </p:spPr>
        <p:txBody>
          <a:bodyPr wrap="square" lIns="0" tIns="0" rIns="0" bIns="0" rtlCol="0" anchor="ctr"/>
          <a:lstStyle/>
          <a:p>
            <a:pPr indent="0" marL="0">
              <a:buNone/>
            </a:pPr>
            <a:r>
              <a:rPr lang="en-US" sz="1250" dirty="0">
                <a:solidFill>
                  <a:srgbClr val="1B1C22"/>
                </a:solidFill>
                <a:latin typeface="Calibri" pitchFamily="34" charset="0"/>
                <a:ea typeface="Calibri" pitchFamily="34" charset="-122"/>
                <a:cs typeface="Calibri" pitchFamily="34" charset="-120"/>
              </a:rPr>
              <a:t>Checklist_Liberacion_IWP.xlsx</a:t>
            </a:r>
            <a:endParaRPr lang="en-US" sz="1250" dirty="0"/>
          </a:p>
        </p:txBody>
      </p:sp>
      <p:sp>
        <p:nvSpPr>
          <p:cNvPr id="63" name="Shape 47"/>
          <p:cNvSpPr/>
          <p:nvPr/>
        </p:nvSpPr>
        <p:spPr>
          <a:xfrm>
            <a:off x="548640" y="5669280"/>
            <a:ext cx="3931920" cy="457200"/>
          </a:xfrm>
          <a:prstGeom prst="roundRect">
            <a:avLst>
              <a:gd name="adj" fmla="val 16000"/>
            </a:avLst>
          </a:prstGeom>
          <a:solidFill>
            <a:srgbClr val="E8EAF6"/>
          </a:solidFill>
          <a:ln w="9525">
            <a:solidFill>
              <a:srgbClr val="C5CAE9"/>
            </a:solidFill>
            <a:prstDash val="solid"/>
          </a:ln>
        </p:spPr>
      </p:sp>
      <p:sp>
        <p:nvSpPr>
          <p:cNvPr id="64" name="Text 48"/>
          <p:cNvSpPr txBox="1"/>
          <p:nvPr/>
        </p:nvSpPr>
        <p:spPr>
          <a:xfrm>
            <a:off x="685800" y="5669280"/>
            <a:ext cx="3657600" cy="457200"/>
          </a:xfrm>
          <a:prstGeom prst="rect">
            <a:avLst/>
          </a:prstGeom>
          <a:noFill/>
          <a:ln/>
        </p:spPr>
        <p:txBody>
          <a:bodyPr wrap="square" lIns="0" tIns="0" rIns="0" bIns="0" rtlCol="0" anchor="ctr"/>
          <a:lstStyle/>
          <a:p>
            <a:pPr indent="0" marL="0">
              <a:buNone/>
            </a:pPr>
            <a:r>
              <a:rPr lang="en-US" sz="1250" dirty="0">
                <a:solidFill>
                  <a:srgbClr val="1B1C22"/>
                </a:solidFill>
                <a:latin typeface="Calibri" pitchFamily="34" charset="0"/>
                <a:ea typeface="Calibri" pitchFamily="34" charset="-122"/>
                <a:cs typeface="Calibri" pitchFamily="34" charset="-120"/>
              </a:rPr>
              <a:t>COM-04 · Cerrar la fase</a:t>
            </a:r>
            <a:endParaRPr lang="en-US" sz="1250" dirty="0"/>
          </a:p>
        </p:txBody>
      </p:sp>
      <p:pic>
        <p:nvPicPr>
          <p:cNvPr id="65" name="Image 14" descr="preencoded.png">    </p:cNvPr>
          <p:cNvPicPr>
            <a:picLocks noChangeAspect="1"/>
          </p:cNvPicPr>
          <p:nvPr/>
        </p:nvPicPr>
        <p:blipFill>
          <a:blip r:embed="rId15"/>
          <a:stretch>
            <a:fillRect/>
          </a:stretch>
        </p:blipFill>
        <p:spPr>
          <a:xfrm>
            <a:off x="4544568" y="5760720"/>
            <a:ext cx="201168" cy="274320"/>
          </a:xfrm>
          <a:prstGeom prst="rect">
            <a:avLst/>
          </a:prstGeom>
        </p:spPr>
      </p:pic>
      <p:sp>
        <p:nvSpPr>
          <p:cNvPr id="66" name="Shape 49"/>
          <p:cNvSpPr/>
          <p:nvPr/>
        </p:nvSpPr>
        <p:spPr>
          <a:xfrm>
            <a:off x="4800600" y="5669280"/>
            <a:ext cx="3566160" cy="457200"/>
          </a:xfrm>
          <a:prstGeom prst="roundRect">
            <a:avLst>
              <a:gd name="adj" fmla="val 16000"/>
            </a:avLst>
          </a:prstGeom>
          <a:solidFill>
            <a:srgbClr val="FFF6DA"/>
          </a:solidFill>
          <a:ln w="9525">
            <a:solidFill>
              <a:srgbClr val="F5D98A"/>
            </a:solidFill>
            <a:prstDash val="solid"/>
          </a:ln>
        </p:spPr>
      </p:sp>
      <p:sp>
        <p:nvSpPr>
          <p:cNvPr id="67" name="Text 50"/>
          <p:cNvSpPr txBox="1"/>
          <p:nvPr/>
        </p:nvSpPr>
        <p:spPr>
          <a:xfrm>
            <a:off x="4937760" y="5669280"/>
            <a:ext cx="3291840" cy="457200"/>
          </a:xfrm>
          <a:prstGeom prst="rect">
            <a:avLst/>
          </a:prstGeom>
          <a:noFill/>
          <a:ln/>
        </p:spPr>
        <p:txBody>
          <a:bodyPr wrap="square" lIns="0" tIns="0" rIns="0" bIns="0" rtlCol="0" anchor="ctr"/>
          <a:lstStyle/>
          <a:p>
            <a:pPr indent="0" marL="0">
              <a:buNone/>
            </a:pPr>
            <a:r>
              <a:rPr lang="en-US" sz="1250" b="1" dirty="0">
                <a:solidFill>
                  <a:srgbClr val="1B1C22"/>
                </a:solidFill>
                <a:latin typeface="Calibri" pitchFamily="34" charset="0"/>
                <a:ea typeface="Calibri" pitchFamily="34" charset="-122"/>
                <a:cs typeface="Calibri" pitchFamily="34" charset="-120"/>
              </a:rPr>
              <a:t>H10 · Cierre AWP de la fase</a:t>
            </a:r>
            <a:endParaRPr lang="en-US" sz="1250" dirty="0"/>
          </a:p>
        </p:txBody>
      </p:sp>
      <p:pic>
        <p:nvPicPr>
          <p:cNvPr id="68" name="Image 15" descr="preencoded.png">    </p:cNvPr>
          <p:cNvPicPr>
            <a:picLocks noChangeAspect="1"/>
          </p:cNvPicPr>
          <p:nvPr/>
        </p:nvPicPr>
        <p:blipFill>
          <a:blip r:embed="rId16"/>
          <a:stretch>
            <a:fillRect/>
          </a:stretch>
        </p:blipFill>
        <p:spPr>
          <a:xfrm>
            <a:off x="8430768" y="5760720"/>
            <a:ext cx="201168" cy="274320"/>
          </a:xfrm>
          <a:prstGeom prst="rect">
            <a:avLst/>
          </a:prstGeom>
        </p:spPr>
      </p:pic>
      <p:sp>
        <p:nvSpPr>
          <p:cNvPr id="69" name="Shape 51"/>
          <p:cNvSpPr/>
          <p:nvPr/>
        </p:nvSpPr>
        <p:spPr>
          <a:xfrm>
            <a:off x="8686800" y="5669280"/>
            <a:ext cx="2926080" cy="457200"/>
          </a:xfrm>
          <a:prstGeom prst="roundRect">
            <a:avLst>
              <a:gd name="adj" fmla="val 16000"/>
            </a:avLst>
          </a:prstGeom>
          <a:solidFill>
            <a:srgbClr val="E7F6E7"/>
          </a:solidFill>
          <a:ln w="9525">
            <a:solidFill>
              <a:srgbClr val="9ED69E"/>
            </a:solidFill>
            <a:prstDash val="solid"/>
          </a:ln>
        </p:spPr>
      </p:sp>
      <p:sp>
        <p:nvSpPr>
          <p:cNvPr id="70" name="Text 52"/>
          <p:cNvSpPr txBox="1"/>
          <p:nvPr/>
        </p:nvSpPr>
        <p:spPr>
          <a:xfrm>
            <a:off x="8823960" y="5669280"/>
            <a:ext cx="2651760" cy="457200"/>
          </a:xfrm>
          <a:prstGeom prst="rect">
            <a:avLst/>
          </a:prstGeom>
          <a:noFill/>
          <a:ln/>
        </p:spPr>
        <p:txBody>
          <a:bodyPr wrap="square" lIns="0" tIns="0" rIns="0" bIns="0" rtlCol="0" anchor="ctr"/>
          <a:lstStyle/>
          <a:p>
            <a:pPr indent="0" marL="0">
              <a:buNone/>
            </a:pPr>
            <a:r>
              <a:rPr lang="en-US" sz="1250" dirty="0">
                <a:solidFill>
                  <a:srgbClr val="1B1C22"/>
                </a:solidFill>
                <a:latin typeface="Calibri" pitchFamily="34" charset="0"/>
                <a:ea typeface="Calibri" pitchFamily="34" charset="-122"/>
                <a:cs typeface="Calibri" pitchFamily="34" charset="-120"/>
              </a:rPr>
              <a:t>Informe_Cierre_Fase_AWP.docx</a:t>
            </a:r>
            <a:endParaRPr lang="en-US" sz="1250" dirty="0"/>
          </a:p>
        </p:txBody>
      </p:sp>
      <p:sp>
        <p:nvSpPr>
          <p:cNvPr id="71" name="Text 53"/>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Avance AWP</a:t>
            </a:r>
            <a:endParaRPr lang="en-US" sz="1000" dirty="0"/>
          </a:p>
        </p:txBody>
      </p:sp>
      <p:sp>
        <p:nvSpPr>
          <p:cNvPr id="72" name="Text 54"/>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85</a:t>
            </a:r>
            <a:endParaRPr lang="en-US" sz="10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1A1F4B"/>
        </a:solidFill>
      </p:bgPr>
    </p:bg>
    <p:spTree>
      <p:nvGrpSpPr>
        <p:cNvPr id="1" name=""/>
        <p:cNvGrpSpPr/>
        <p:nvPr/>
      </p:nvGrpSpPr>
      <p:grpSpPr>
        <a:xfrm>
          <a:off x="0" y="0"/>
          <a:ext cx="0" cy="0"/>
          <a:chOff x="0" y="0"/>
          <a:chExt cx="0" cy="0"/>
        </a:xfrm>
      </p:grpSpPr>
      <p:sp>
        <p:nvSpPr>
          <p:cNvPr id="2" name="Text 0"/>
          <p:cNvSpPr txBox="1"/>
          <p:nvPr/>
        </p:nvSpPr>
        <p:spPr>
          <a:xfrm>
            <a:off x="548640" y="1188720"/>
            <a:ext cx="2743200" cy="1371600"/>
          </a:xfrm>
          <a:prstGeom prst="rect">
            <a:avLst/>
          </a:prstGeom>
          <a:noFill/>
          <a:ln/>
        </p:spPr>
        <p:txBody>
          <a:bodyPr wrap="square" lIns="0" tIns="0" rIns="0" bIns="0" rtlCol="0" anchor="t"/>
          <a:lstStyle/>
          <a:p>
            <a:pPr indent="0" marL="0">
              <a:buNone/>
            </a:pPr>
            <a:r>
              <a:rPr lang="en-US" sz="9600" b="1" dirty="0">
                <a:solidFill>
                  <a:srgbClr val="FFC107"/>
                </a:solidFill>
                <a:latin typeface="Calibri" pitchFamily="34" charset="0"/>
                <a:ea typeface="Calibri" pitchFamily="34" charset="-122"/>
                <a:cs typeface="Calibri" pitchFamily="34" charset="-120"/>
              </a:rPr>
              <a:t>10</a:t>
            </a:r>
            <a:endParaRPr lang="en-US" sz="9600" dirty="0"/>
          </a:p>
        </p:txBody>
      </p:sp>
      <p:sp>
        <p:nvSpPr>
          <p:cNvPr id="3" name="Text 1"/>
          <p:cNvSpPr txBox="1"/>
          <p:nvPr/>
        </p:nvSpPr>
        <p:spPr>
          <a:xfrm>
            <a:off x="548640" y="2697480"/>
            <a:ext cx="5852160" cy="73152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Hitos</a:t>
            </a:r>
            <a:endParaRPr lang="en-US" sz="3800" dirty="0"/>
          </a:p>
        </p:txBody>
      </p:sp>
      <p:sp>
        <p:nvSpPr>
          <p:cNvPr id="4" name="Text 2"/>
          <p:cNvSpPr txBox="1"/>
          <p:nvPr/>
        </p:nvSpPr>
        <p:spPr>
          <a:xfrm>
            <a:off x="548640" y="3566160"/>
            <a:ext cx="5486400" cy="1097280"/>
          </a:xfrm>
          <a:prstGeom prst="rect">
            <a:avLst/>
          </a:prstGeom>
          <a:noFill/>
          <a:ln/>
        </p:spPr>
        <p:txBody>
          <a:bodyPr wrap="square" lIns="0" tIns="0" rIns="0" bIns="0" rtlCol="0" anchor="t"/>
          <a:lstStyle/>
          <a:p>
            <a:pPr indent="0" marL="0">
              <a:buNone/>
            </a:pPr>
            <a:r>
              <a:rPr lang="en-US" sz="1800" dirty="0">
                <a:solidFill>
                  <a:srgbClr val="C5CAE9"/>
                </a:solidFill>
                <a:latin typeface="Calibri" pitchFamily="34" charset="0"/>
                <a:ea typeface="Calibri" pitchFamily="34" charset="-122"/>
                <a:cs typeface="Calibri" pitchFamily="34" charset="-120"/>
              </a:rPr>
              <a:t>H0 del programa y H1–H10 de cada fase, con evidencia</a:t>
            </a:r>
            <a:endParaRPr lang="en-US" sz="1800" dirty="0"/>
          </a:p>
        </p:txBody>
      </p:sp>
      <p:sp>
        <p:nvSpPr>
          <p:cNvPr id="5" name="Shape 3"/>
          <p:cNvSpPr/>
          <p:nvPr/>
        </p:nvSpPr>
        <p:spPr>
          <a:xfrm>
            <a:off x="6766560" y="1234440"/>
            <a:ext cx="4892040" cy="4480560"/>
          </a:xfrm>
          <a:prstGeom prst="roundRect">
            <a:avLst>
              <a:gd name="adj" fmla="val 2449"/>
            </a:avLst>
          </a:prstGeom>
          <a:solidFill>
            <a:srgbClr val="252B5E"/>
          </a:solidFill>
          <a:ln w="12700">
            <a:solidFill>
              <a:srgbClr val="3C4488"/>
            </a:solidFill>
            <a:prstDash val="solid"/>
          </a:ln>
        </p:spPr>
      </p:sp>
      <p:sp>
        <p:nvSpPr>
          <p:cNvPr id="6" name="Text 4"/>
          <p:cNvSpPr txBox="1"/>
          <p:nvPr/>
        </p:nvSpPr>
        <p:spPr>
          <a:xfrm>
            <a:off x="7132320" y="1508760"/>
            <a:ext cx="4206240" cy="320040"/>
          </a:xfrm>
          <a:prstGeom prst="rect">
            <a:avLst/>
          </a:prstGeom>
          <a:noFill/>
          <a:ln/>
        </p:spPr>
        <p:txBody>
          <a:bodyPr wrap="square" lIns="0" tIns="0" rIns="0" bIns="0" rtlCol="0" anchor="t"/>
          <a:lstStyle/>
          <a:p>
            <a:pPr indent="0" marL="0">
              <a:buNone/>
            </a:pPr>
            <a:r>
              <a:rPr lang="en-US" sz="1200" b="1" spc="200" kern="0" dirty="0">
                <a:solidFill>
                  <a:srgbClr val="FFC107"/>
                </a:solidFill>
                <a:latin typeface="Calibri" pitchFamily="34" charset="0"/>
                <a:ea typeface="Calibri" pitchFamily="34" charset="-122"/>
                <a:cs typeface="Calibri" pitchFamily="34" charset="-120"/>
              </a:rPr>
              <a:t>EN ESTA SECCIÓN</a:t>
            </a:r>
            <a:endParaRPr lang="en-US" sz="1200" dirty="0"/>
          </a:p>
        </p:txBody>
      </p:sp>
      <p:sp>
        <p:nvSpPr>
          <p:cNvPr id="7" name="Shape 5"/>
          <p:cNvSpPr/>
          <p:nvPr/>
        </p:nvSpPr>
        <p:spPr>
          <a:xfrm>
            <a:off x="7178040" y="2103120"/>
            <a:ext cx="146304" cy="146304"/>
          </a:xfrm>
          <a:prstGeom prst="ellipse">
            <a:avLst/>
          </a:prstGeom>
          <a:solidFill>
            <a:srgbClr val="FFC107"/>
          </a:solidFill>
          <a:ln w="12700">
            <a:solidFill>
              <a:srgbClr val="FFC107"/>
            </a:solidFill>
            <a:prstDash val="solid"/>
          </a:ln>
        </p:spPr>
      </p:sp>
      <p:sp>
        <p:nvSpPr>
          <p:cNvPr id="8" name="Text 6"/>
          <p:cNvSpPr txBox="1"/>
          <p:nvPr/>
        </p:nvSpPr>
        <p:spPr>
          <a:xfrm>
            <a:off x="7498080" y="2011680"/>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Pantalla de hitos</a:t>
            </a:r>
            <a:endParaRPr lang="en-US" sz="1700" dirty="0"/>
          </a:p>
        </p:txBody>
      </p:sp>
      <p:sp>
        <p:nvSpPr>
          <p:cNvPr id="9" name="Shape 7"/>
          <p:cNvSpPr/>
          <p:nvPr/>
        </p:nvSpPr>
        <p:spPr>
          <a:xfrm>
            <a:off x="7178040" y="2816352"/>
            <a:ext cx="146304" cy="146304"/>
          </a:xfrm>
          <a:prstGeom prst="ellipse">
            <a:avLst/>
          </a:prstGeom>
          <a:solidFill>
            <a:srgbClr val="FFC107"/>
          </a:solidFill>
          <a:ln w="12700">
            <a:solidFill>
              <a:srgbClr val="FFC107"/>
            </a:solidFill>
            <a:prstDash val="solid"/>
          </a:ln>
        </p:spPr>
      </p:sp>
      <p:sp>
        <p:nvSpPr>
          <p:cNvPr id="10" name="Text 8"/>
          <p:cNvSpPr txBox="1"/>
          <p:nvPr/>
        </p:nvSpPr>
        <p:spPr>
          <a:xfrm>
            <a:off x="7498080" y="2724912"/>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El catálogo H0–H10</a:t>
            </a:r>
            <a:endParaRPr lang="en-US" sz="1700" dirty="0"/>
          </a:p>
        </p:txBody>
      </p:sp>
      <p:sp>
        <p:nvSpPr>
          <p:cNvPr id="11" name="Shape 9"/>
          <p:cNvSpPr/>
          <p:nvPr/>
        </p:nvSpPr>
        <p:spPr>
          <a:xfrm>
            <a:off x="7178040" y="3529584"/>
            <a:ext cx="146304" cy="146304"/>
          </a:xfrm>
          <a:prstGeom prst="ellipse">
            <a:avLst/>
          </a:prstGeom>
          <a:solidFill>
            <a:srgbClr val="FFC107"/>
          </a:solidFill>
          <a:ln w="12700">
            <a:solidFill>
              <a:srgbClr val="FFC107"/>
            </a:solidFill>
            <a:prstDash val="solid"/>
          </a:ln>
        </p:spPr>
      </p:sp>
      <p:sp>
        <p:nvSpPr>
          <p:cNvPr id="12" name="Text 10"/>
          <p:cNvSpPr txBox="1"/>
          <p:nvPr/>
        </p:nvSpPr>
        <p:spPr>
          <a:xfrm>
            <a:off x="7498080" y="3438144"/>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Situaciones y filtros</a:t>
            </a:r>
            <a:endParaRPr lang="en-US" sz="1700" dirty="0"/>
          </a:p>
        </p:txBody>
      </p:sp>
      <p:sp>
        <p:nvSpPr>
          <p:cNvPr id="13" name="Shape 11"/>
          <p:cNvSpPr/>
          <p:nvPr/>
        </p:nvSpPr>
        <p:spPr>
          <a:xfrm>
            <a:off x="7178040" y="4242816"/>
            <a:ext cx="146304" cy="146304"/>
          </a:xfrm>
          <a:prstGeom prst="ellipse">
            <a:avLst/>
          </a:prstGeom>
          <a:solidFill>
            <a:srgbClr val="FFC107"/>
          </a:solidFill>
          <a:ln w="12700">
            <a:solidFill>
              <a:srgbClr val="FFC107"/>
            </a:solidFill>
            <a:prstDash val="solid"/>
          </a:ln>
        </p:spPr>
      </p:sp>
      <p:sp>
        <p:nvSpPr>
          <p:cNvPr id="14" name="Text 12"/>
          <p:cNvSpPr txBox="1"/>
          <p:nvPr/>
        </p:nvSpPr>
        <p:spPr>
          <a:xfrm>
            <a:off x="7498080" y="4151376"/>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Cumplir un hito con evidencia</a:t>
            </a:r>
            <a:endParaRPr lang="en-US" sz="1700" dirty="0"/>
          </a:p>
        </p:txBody>
      </p:sp>
      <p:sp>
        <p:nvSpPr>
          <p:cNvPr id="15" name="Text 13"/>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8C93C9"/>
                </a:solidFill>
                <a:latin typeface="Calibri" pitchFamily="34" charset="0"/>
                <a:ea typeface="Calibri" pitchFamily="34" charset="-122"/>
                <a:cs typeface="Calibri" pitchFamily="34" charset="-120"/>
              </a:rPr>
              <a:t>Aplicación AWP · Hitos</a:t>
            </a:r>
            <a:endParaRPr lang="en-US" sz="1000" dirty="0"/>
          </a:p>
        </p:txBody>
      </p:sp>
      <p:sp>
        <p:nvSpPr>
          <p:cNvPr id="16" name="Text 14"/>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8C93C9"/>
                </a:solidFill>
                <a:latin typeface="Calibri" pitchFamily="34" charset="0"/>
                <a:ea typeface="Calibri" pitchFamily="34" charset="-122"/>
                <a:cs typeface="Calibri" pitchFamily="34" charset="-120"/>
              </a:rPr>
              <a:t>86</a:t>
            </a:r>
            <a:endParaRPr lang="en-US" sz="10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Módulo Hitos</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Indicadores, línea de tiempo y tabla con filtros</a:t>
            </a:r>
            <a:endParaRPr lang="en-US" sz="1500" dirty="0"/>
          </a:p>
        </p:txBody>
      </p:sp>
      <p:sp>
        <p:nvSpPr>
          <p:cNvPr id="4" name="Shape 2"/>
          <p:cNvSpPr/>
          <p:nvPr/>
        </p:nvSpPr>
        <p:spPr>
          <a:xfrm>
            <a:off x="4562856" y="1855460"/>
            <a:ext cx="7135063" cy="4061479"/>
          </a:xfrm>
          <a:prstGeom prst="roundRect">
            <a:avLst>
              <a:gd name="adj" fmla="val 1801"/>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hitos.jpg">    </p:cNvPr>
          <p:cNvPicPr>
            <a:picLocks noChangeAspect="1"/>
          </p:cNvPicPr>
          <p:nvPr/>
        </p:nvPicPr>
        <p:blipFill>
          <a:blip r:embed="rId1"/>
          <a:stretch>
            <a:fillRect/>
          </a:stretch>
        </p:blipFill>
        <p:spPr>
          <a:xfrm>
            <a:off x="4617720" y="1910324"/>
            <a:ext cx="7025335" cy="3951751"/>
          </a:xfrm>
          <a:prstGeom prst="rect">
            <a:avLst/>
          </a:prstGeom>
        </p:spPr>
      </p:pic>
      <p:sp>
        <p:nvSpPr>
          <p:cNvPr id="6" name="Shape 3"/>
          <p:cNvSpPr/>
          <p:nvPr/>
        </p:nvSpPr>
        <p:spPr>
          <a:xfrm>
            <a:off x="548640"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643280" y="1685696"/>
            <a:ext cx="231343" cy="231343"/>
          </a:xfrm>
          <a:prstGeom prst="rect">
            <a:avLst/>
          </a:prstGeom>
        </p:spPr>
      </p:pic>
      <p:sp>
        <p:nvSpPr>
          <p:cNvPr id="8" name="Text 4"/>
          <p:cNvSpPr txBox="1"/>
          <p:nvPr/>
        </p:nvSpPr>
        <p:spPr>
          <a:xfrm>
            <a:off x="1133856" y="157276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Cuatro indicadores</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Hitos, cumplidos, atrasados y próximos 30 días. Tocar uno filtra la tabla.</a:t>
            </a:r>
            <a:endParaRPr lang="en-US" sz="1500" dirty="0"/>
          </a:p>
        </p:txBody>
      </p:sp>
      <p:sp>
        <p:nvSpPr>
          <p:cNvPr id="9" name="Shape 5"/>
          <p:cNvSpPr/>
          <p:nvPr/>
        </p:nvSpPr>
        <p:spPr>
          <a:xfrm>
            <a:off x="548640" y="2768346"/>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643280" y="2862986"/>
            <a:ext cx="231343" cy="231343"/>
          </a:xfrm>
          <a:prstGeom prst="rect">
            <a:avLst/>
          </a:prstGeom>
        </p:spPr>
      </p:pic>
      <p:sp>
        <p:nvSpPr>
          <p:cNvPr id="11" name="Text 6"/>
          <p:cNvSpPr txBox="1"/>
          <p:nvPr/>
        </p:nvSpPr>
        <p:spPr>
          <a:xfrm>
            <a:off x="1133856" y="275005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Línea de tiempo</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La misma del dashboard; el título resume «7 atrasados; 5 cumplidos (2 a tiempo)».</a:t>
            </a:r>
            <a:endParaRPr lang="en-US" sz="1500" dirty="0"/>
          </a:p>
        </p:txBody>
      </p:sp>
      <p:sp>
        <p:nvSpPr>
          <p:cNvPr id="12" name="Shape 7"/>
          <p:cNvSpPr/>
          <p:nvPr/>
        </p:nvSpPr>
        <p:spPr>
          <a:xfrm>
            <a:off x="548640" y="3945636"/>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643280" y="4040276"/>
            <a:ext cx="231343" cy="231343"/>
          </a:xfrm>
          <a:prstGeom prst="rect">
            <a:avLst/>
          </a:prstGeom>
        </p:spPr>
      </p:pic>
      <p:sp>
        <p:nvSpPr>
          <p:cNvPr id="14" name="Text 8"/>
          <p:cNvSpPr txBox="1"/>
          <p:nvPr/>
        </p:nvSpPr>
        <p:spPr>
          <a:xfrm>
            <a:off x="1133856" y="392734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Tabla</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Hito, fase, fecha plan, fecha real y situación. Toca una fila para abrirlo.</a:t>
            </a:r>
            <a:endParaRPr lang="en-US" sz="1500" dirty="0"/>
          </a:p>
        </p:txBody>
      </p:sp>
      <p:sp>
        <p:nvSpPr>
          <p:cNvPr id="15" name="Shape 9"/>
          <p:cNvSpPr/>
          <p:nvPr/>
        </p:nvSpPr>
        <p:spPr>
          <a:xfrm>
            <a:off x="548640" y="5122926"/>
            <a:ext cx="420624" cy="420624"/>
          </a:xfrm>
          <a:prstGeom prst="ellipse">
            <a:avLst/>
          </a:prstGeom>
          <a:solidFill>
            <a:srgbClr val="E8EAF6"/>
          </a:solidFill>
          <a:ln w="12700">
            <a:solidFill>
              <a:srgbClr val="E8EAF6"/>
            </a:solidFill>
            <a:prstDash val="solid"/>
          </a:ln>
        </p:spPr>
      </p:sp>
      <p:pic>
        <p:nvPicPr>
          <p:cNvPr id="16" name="Image 4" descr="preencoded.png">    </p:cNvPr>
          <p:cNvPicPr>
            <a:picLocks noChangeAspect="1"/>
          </p:cNvPicPr>
          <p:nvPr/>
        </p:nvPicPr>
        <p:blipFill>
          <a:blip r:embed="rId5"/>
          <a:stretch>
            <a:fillRect/>
          </a:stretch>
        </p:blipFill>
        <p:spPr>
          <a:xfrm>
            <a:off x="643280" y="5217566"/>
            <a:ext cx="231343" cy="231343"/>
          </a:xfrm>
          <a:prstGeom prst="rect">
            <a:avLst/>
          </a:prstGeom>
        </p:spPr>
      </p:pic>
      <p:sp>
        <p:nvSpPr>
          <p:cNvPr id="17" name="Text 10"/>
          <p:cNvSpPr txBox="1"/>
          <p:nvPr/>
        </p:nvSpPr>
        <p:spPr>
          <a:xfrm>
            <a:off x="1133856" y="510463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Filtros</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Buscar, fase, estado y situación.</a:t>
            </a:r>
            <a:endParaRPr lang="en-US" sz="1500" dirty="0"/>
          </a:p>
        </p:txBody>
      </p:sp>
      <p:sp>
        <p:nvSpPr>
          <p:cNvPr id="18" name="Text 11"/>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Hitos</a:t>
            </a:r>
            <a:endParaRPr lang="en-US" sz="1000" dirty="0"/>
          </a:p>
        </p:txBody>
      </p:sp>
      <p:sp>
        <p:nvSpPr>
          <p:cNvPr id="19" name="Text 12"/>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87</a:t>
            </a:r>
            <a:endParaRPr lang="en-US" sz="10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Catálogo de hitos (1 de 2): H0 a H5</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Criterio de cumplimiento, evidencia esperada y quién aprueba</a:t>
            </a:r>
            <a:endParaRPr lang="en-US" sz="1500" dirty="0"/>
          </a:p>
        </p:txBody>
      </p:sp>
      <p:graphicFrame>
        <p:nvGraphicFramePr>
          <p:cNvPr id="89"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194560"/>
                <a:gridCol w="4937760"/>
                <a:gridCol w="2194560"/>
                <a:gridCol w="1645920"/>
              </a:tblGrid>
              <a:tr h="56692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Hito</a:t>
                      </a:r>
                      <a:endParaRPr lang="en-US" sz="14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Criterio de cumplimiento</a:t>
                      </a:r>
                      <a:endParaRPr lang="en-US" sz="14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Evidencia</a:t>
                      </a:r>
                      <a:endParaRPr lang="en-US" sz="14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Aprueba</a:t>
                      </a:r>
                      <a:endParaRPr lang="en-US" sz="14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r>
              <a:tr h="566928">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H0 · Estrategia AWP aprobada (programa)</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Plan firmado; AWP Champion designado; madurez objetivo por fase definida</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Plan firmado, acta de designación</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Cliente</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566928">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H1 · CWA definidas</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100 % del alcance de la fase en CWA sin superposiciones, con límites en plano y código</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Plano de CWA, Definicion_CWA</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AWP Champion</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566928">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H2 · Path of Construction aprobado</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Secuencia acordada en taller IPP con construcción, ingeniería, procura y comisionamiento; PoC congelado</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Acta del taller, Path_of_Construction</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Cliente y Gerente de Construcción</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566928">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H3 · CWP, EWP y PWP definidos</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Lista completa de CWP con su EWP y PWP; fechas requeridas desde el PoC; plan de liberación publicado</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Seguimiento_Paquetes</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AWP Champion</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566928">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H4 · Requisitos AWP en contratos</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Cláusulas AWP en contratos y subcontratos (niveles 3 y 5, planificadores, reportes)</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Contratos firmados</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Gerente de Proyecto</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566928">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H5 · Primer EWP emitido IFC en secuencia</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El EWP del primer CWP del PoC emitido IFC completo antes de su fecha requerida</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Transmittal de ingeniería</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Líder de Ingeniería</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Hitos</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88</a:t>
            </a:r>
            <a:endParaRPr lang="en-US" sz="10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Catálogo de hitos (2 de 2): H6 a H10</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Criterio de cumplimiento, evidencia esperada y quién aprueba</a:t>
            </a:r>
            <a:endParaRPr lang="en-US" sz="1500" dirty="0"/>
          </a:p>
        </p:txBody>
      </p:sp>
      <p:graphicFrame>
        <p:nvGraphicFramePr>
          <p:cNvPr id="90"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194560"/>
                <a:gridCol w="4937760"/>
                <a:gridCol w="2194560"/>
                <a:gridCol w="1645920"/>
              </a:tblGrid>
              <a:tr h="731520">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Hito</a:t>
                      </a:r>
                      <a:endParaRPr lang="en-US" sz="15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Criterio de cumplimiento</a:t>
                      </a:r>
                      <a:endParaRPr lang="en-US" sz="15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Evidencia</a:t>
                      </a:r>
                      <a:endParaRPr lang="en-US" sz="15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Aprueba</a:t>
                      </a:r>
                      <a:endParaRPr lang="en-US" sz="15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r>
              <a:tr h="731520">
                <a:tc>
                  <a:txBody>
                    <a:bodyPr/>
                    <a:lstStyle/>
                    <a:p>
                      <a:pPr indent="0" marL="0">
                        <a:buNone/>
                      </a:pPr>
                      <a:r>
                        <a:rPr lang="en-US" sz="1500" b="1" dirty="0">
                          <a:solidFill>
                            <a:srgbClr val="1B1C22"/>
                          </a:solidFill>
                          <a:latin typeface="Calibri" pitchFamily="34" charset="0"/>
                          <a:ea typeface="Calibri" pitchFamily="34" charset="-122"/>
                          <a:cs typeface="Calibri" pitchFamily="34" charset="-120"/>
                        </a:rPr>
                        <a:t>H6 · Primer CWP emitido a construcción</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CWP completo según la plantilla, con materiales asegurados (PWP) y aprobado</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Plantilla de CWP firmada</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Gerente de Construcción</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731520">
                <a:tc>
                  <a:txBody>
                    <a:bodyPr/>
                    <a:lstStyle/>
                    <a:p>
                      <a:pPr indent="0" marL="0">
                        <a:buNone/>
                      </a:pPr>
                      <a:r>
                        <a:rPr lang="en-US" sz="1500" b="1" dirty="0">
                          <a:solidFill>
                            <a:srgbClr val="1B1C22"/>
                          </a:solidFill>
                          <a:latin typeface="Calibri" pitchFamily="34" charset="0"/>
                          <a:ea typeface="Calibri" pitchFamily="34" charset="-122"/>
                          <a:cs typeface="Calibri" pitchFamily="34" charset="-120"/>
                        </a:rPr>
                        <a:t>H7 · Primer IWP liberado</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IWP sin restricciones abiertas, con checklist de liberación firmado, entregado al capataz</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Checklist de liberación, registro de restricciones</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Líder de WFP</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731520">
                <a:tc>
                  <a:txBody>
                    <a:bodyPr/>
                    <a:lstStyle/>
                    <a:p>
                      <a:pPr indent="0" marL="0">
                        <a:buNone/>
                      </a:pPr>
                      <a:r>
                        <a:rPr lang="en-US" sz="1500" b="1" dirty="0">
                          <a:solidFill>
                            <a:srgbClr val="1B1C22"/>
                          </a:solidFill>
                          <a:latin typeface="Calibri" pitchFamily="34" charset="0"/>
                          <a:ea typeface="Calibri" pitchFamily="34" charset="-122"/>
                          <a:cs typeface="Calibri" pitchFamily="34" charset="-120"/>
                        </a:rPr>
                        <a:t>H8 · Backlog estable</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Backlog de IWP liberados ≥ meta de la fase durante 4 semanas seguidas</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Tablero de KPI</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Gerente de Construcción</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731520">
                <a:tc>
                  <a:txBody>
                    <a:bodyPr/>
                    <a:lstStyle/>
                    <a:p>
                      <a:pPr indent="0" marL="0">
                        <a:buNone/>
                      </a:pPr>
                      <a:r>
                        <a:rPr lang="en-US" sz="1500" b="1" dirty="0">
                          <a:solidFill>
                            <a:srgbClr val="1B1C22"/>
                          </a:solidFill>
                          <a:latin typeface="Calibri" pitchFamily="34" charset="0"/>
                          <a:ea typeface="Calibri" pitchFamily="34" charset="-122"/>
                          <a:cs typeface="Calibri" pitchFamily="34" charset="-120"/>
                        </a:rPr>
                        <a:t>H9 · Primer sistema o área entregado</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Primer SWP o acta de entrega de área completa, con documentación</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Acta de entrega / SWP</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Líder de comisionamiento</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731520">
                <a:tc>
                  <a:txBody>
                    <a:bodyPr/>
                    <a:lstStyle/>
                    <a:p>
                      <a:pPr indent="0" marL="0">
                        <a:buNone/>
                      </a:pPr>
                      <a:r>
                        <a:rPr lang="en-US" sz="1500" b="1" dirty="0">
                          <a:solidFill>
                            <a:srgbClr val="1B1C22"/>
                          </a:solidFill>
                          <a:latin typeface="Calibri" pitchFamily="34" charset="0"/>
                          <a:ea typeface="Calibri" pitchFamily="34" charset="-122"/>
                          <a:cs typeface="Calibri" pitchFamily="34" charset="-120"/>
                        </a:rPr>
                        <a:t>H10 · Cierre AWP de la fase</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Informe de cierre y registro de lecciones aprobados y comunicados a la fase siguiente</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Informe de cierre, registro de lecciones</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AWP Champion y Cliente</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Hitos</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89</a:t>
            </a:r>
            <a:endParaRPr lang="en-US" sz="10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Situación de un hito</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La tabla y la línea de tiempo usan la misma clasificación</a:t>
            </a:r>
            <a:endParaRPr lang="en-US" sz="1500" dirty="0"/>
          </a:p>
        </p:txBody>
      </p:sp>
      <p:sp>
        <p:nvSpPr>
          <p:cNvPr id="4" name="Shape 2"/>
          <p:cNvSpPr/>
          <p:nvPr/>
        </p:nvSpPr>
        <p:spPr>
          <a:xfrm>
            <a:off x="548640" y="1572768"/>
            <a:ext cx="11094415" cy="768096"/>
          </a:xfrm>
          <a:prstGeom prst="roundRect">
            <a:avLst>
              <a:gd name="adj" fmla="val 9524"/>
            </a:avLst>
          </a:prstGeom>
          <a:solidFill>
            <a:srgbClr val="F5F6FB"/>
          </a:solidFill>
          <a:ln w="9525">
            <a:solidFill>
              <a:srgbClr val="E3E5EE"/>
            </a:solidFill>
            <a:prstDash val="solid"/>
          </a:ln>
        </p:spPr>
      </p:sp>
      <p:sp>
        <p:nvSpPr>
          <p:cNvPr id="5" name="Shape 3"/>
          <p:cNvSpPr/>
          <p:nvPr/>
        </p:nvSpPr>
        <p:spPr>
          <a:xfrm>
            <a:off x="731520" y="1737360"/>
            <a:ext cx="2834640" cy="438912"/>
          </a:xfrm>
          <a:prstGeom prst="roundRect">
            <a:avLst>
              <a:gd name="adj" fmla="val 50000"/>
            </a:avLst>
          </a:prstGeom>
          <a:solidFill>
            <a:srgbClr val="0CA30C"/>
          </a:solidFill>
          <a:ln w="12700">
            <a:solidFill>
              <a:srgbClr val="0CA30C"/>
            </a:solidFill>
            <a:prstDash val="solid"/>
          </a:ln>
        </p:spPr>
      </p:sp>
      <p:pic>
        <p:nvPicPr>
          <p:cNvPr id="6" name="Image 0" descr="preencoded.png">    </p:cNvPr>
          <p:cNvPicPr>
            <a:picLocks noChangeAspect="1"/>
          </p:cNvPicPr>
          <p:nvPr/>
        </p:nvPicPr>
        <p:blipFill>
          <a:blip r:embed="rId1"/>
          <a:stretch>
            <a:fillRect/>
          </a:stretch>
        </p:blipFill>
        <p:spPr>
          <a:xfrm>
            <a:off x="850392" y="1810512"/>
            <a:ext cx="292608" cy="292608"/>
          </a:xfrm>
          <a:prstGeom prst="rect">
            <a:avLst/>
          </a:prstGeom>
        </p:spPr>
      </p:pic>
      <p:sp>
        <p:nvSpPr>
          <p:cNvPr id="7" name="Text 4"/>
          <p:cNvSpPr txBox="1"/>
          <p:nvPr/>
        </p:nvSpPr>
        <p:spPr>
          <a:xfrm>
            <a:off x="1234440" y="1737360"/>
            <a:ext cx="2286000" cy="43891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Cumplido a tiempo</a:t>
            </a:r>
            <a:endParaRPr lang="en-US" sz="1400" dirty="0"/>
          </a:p>
        </p:txBody>
      </p:sp>
      <p:sp>
        <p:nvSpPr>
          <p:cNvPr id="8" name="Text 5"/>
          <p:cNvSpPr txBox="1"/>
          <p:nvPr/>
        </p:nvSpPr>
        <p:spPr>
          <a:xfrm>
            <a:off x="3840480" y="1572768"/>
            <a:ext cx="5669280" cy="768096"/>
          </a:xfrm>
          <a:prstGeom prst="rect">
            <a:avLst/>
          </a:prstGeom>
          <a:noFill/>
          <a:ln/>
        </p:spPr>
        <p:txBody>
          <a:bodyPr wrap="square" lIns="0" tIns="0" rIns="0" bIns="0" rtlCol="0" anchor="ctr"/>
          <a:lstStyle/>
          <a:p>
            <a:pPr indent="0" marL="0">
              <a:buNone/>
            </a:pPr>
            <a:r>
              <a:rPr lang="en-US" sz="1400" dirty="0">
                <a:solidFill>
                  <a:srgbClr val="1B1C22"/>
                </a:solidFill>
                <a:latin typeface="Calibri" pitchFamily="34" charset="0"/>
                <a:ea typeface="Calibri" pitchFamily="34" charset="-122"/>
                <a:cs typeface="Calibri" pitchFamily="34" charset="-120"/>
              </a:rPr>
              <a:t>Estado «Cumplido» y fecha real igual o anterior a la fecha plan.</a:t>
            </a:r>
            <a:endParaRPr lang="en-US" sz="1400" dirty="0"/>
          </a:p>
        </p:txBody>
      </p:sp>
      <p:sp>
        <p:nvSpPr>
          <p:cNvPr id="9" name="Text 6"/>
          <p:cNvSpPr txBox="1"/>
          <p:nvPr/>
        </p:nvSpPr>
        <p:spPr>
          <a:xfrm>
            <a:off x="9539935" y="1572768"/>
            <a:ext cx="1920240" cy="768096"/>
          </a:xfrm>
          <a:prstGeom prst="rect">
            <a:avLst/>
          </a:prstGeom>
          <a:noFill/>
          <a:ln/>
        </p:spPr>
        <p:txBody>
          <a:bodyPr wrap="square" lIns="0" tIns="0" rIns="0" bIns="0" rtlCol="0" anchor="ctr"/>
          <a:lstStyle/>
          <a:p>
            <a:pPr algn="r" indent="0" marL="0">
              <a:buNone/>
            </a:pPr>
            <a:r>
              <a:rPr lang="en-US" sz="1250" i="1" dirty="0">
                <a:solidFill>
                  <a:srgbClr val="5B5E6B"/>
                </a:solidFill>
                <a:latin typeface="Calibri" pitchFamily="34" charset="0"/>
                <a:ea typeface="Calibri" pitchFamily="34" charset="-122"/>
                <a:cs typeface="Calibri" pitchFamily="34" charset="-120"/>
              </a:rPr>
              <a:t>Círculo lleno verde</a:t>
            </a:r>
            <a:endParaRPr lang="en-US" sz="1250" dirty="0"/>
          </a:p>
        </p:txBody>
      </p:sp>
      <p:sp>
        <p:nvSpPr>
          <p:cNvPr id="10" name="Shape 7"/>
          <p:cNvSpPr/>
          <p:nvPr/>
        </p:nvSpPr>
        <p:spPr>
          <a:xfrm>
            <a:off x="548640" y="2468880"/>
            <a:ext cx="11094415" cy="768096"/>
          </a:xfrm>
          <a:prstGeom prst="roundRect">
            <a:avLst>
              <a:gd name="adj" fmla="val 9524"/>
            </a:avLst>
          </a:prstGeom>
          <a:solidFill>
            <a:srgbClr val="FFFFFF"/>
          </a:solidFill>
          <a:ln w="9525">
            <a:solidFill>
              <a:srgbClr val="E3E5EE"/>
            </a:solidFill>
            <a:prstDash val="solid"/>
          </a:ln>
        </p:spPr>
      </p:sp>
      <p:sp>
        <p:nvSpPr>
          <p:cNvPr id="11" name="Shape 8"/>
          <p:cNvSpPr/>
          <p:nvPr/>
        </p:nvSpPr>
        <p:spPr>
          <a:xfrm>
            <a:off x="731520" y="2633472"/>
            <a:ext cx="2834640" cy="438912"/>
          </a:xfrm>
          <a:prstGeom prst="roundRect">
            <a:avLst>
              <a:gd name="adj" fmla="val 50000"/>
            </a:avLst>
          </a:prstGeom>
          <a:solidFill>
            <a:srgbClr val="D03B3B"/>
          </a:solidFill>
          <a:ln w="12700">
            <a:solidFill>
              <a:srgbClr val="D03B3B"/>
            </a:solidFill>
            <a:prstDash val="solid"/>
          </a:ln>
        </p:spPr>
      </p:sp>
      <p:pic>
        <p:nvPicPr>
          <p:cNvPr id="12" name="Image 1" descr="preencoded.png">    </p:cNvPr>
          <p:cNvPicPr>
            <a:picLocks noChangeAspect="1"/>
          </p:cNvPicPr>
          <p:nvPr/>
        </p:nvPicPr>
        <p:blipFill>
          <a:blip r:embed="rId2"/>
          <a:stretch>
            <a:fillRect/>
          </a:stretch>
        </p:blipFill>
        <p:spPr>
          <a:xfrm>
            <a:off x="850392" y="2706624"/>
            <a:ext cx="292608" cy="292608"/>
          </a:xfrm>
          <a:prstGeom prst="rect">
            <a:avLst/>
          </a:prstGeom>
        </p:spPr>
      </p:pic>
      <p:sp>
        <p:nvSpPr>
          <p:cNvPr id="13" name="Text 9"/>
          <p:cNvSpPr txBox="1"/>
          <p:nvPr/>
        </p:nvSpPr>
        <p:spPr>
          <a:xfrm>
            <a:off x="1234440" y="2633472"/>
            <a:ext cx="2286000" cy="43891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Cumplido con atraso</a:t>
            </a:r>
            <a:endParaRPr lang="en-US" sz="1400" dirty="0"/>
          </a:p>
        </p:txBody>
      </p:sp>
      <p:sp>
        <p:nvSpPr>
          <p:cNvPr id="14" name="Text 10"/>
          <p:cNvSpPr txBox="1"/>
          <p:nvPr/>
        </p:nvSpPr>
        <p:spPr>
          <a:xfrm>
            <a:off x="3840480" y="2468880"/>
            <a:ext cx="5669280" cy="768096"/>
          </a:xfrm>
          <a:prstGeom prst="rect">
            <a:avLst/>
          </a:prstGeom>
          <a:noFill/>
          <a:ln/>
        </p:spPr>
        <p:txBody>
          <a:bodyPr wrap="square" lIns="0" tIns="0" rIns="0" bIns="0" rtlCol="0" anchor="ctr"/>
          <a:lstStyle/>
          <a:p>
            <a:pPr indent="0" marL="0">
              <a:buNone/>
            </a:pPr>
            <a:r>
              <a:rPr lang="en-US" sz="1400" dirty="0">
                <a:solidFill>
                  <a:srgbClr val="1B1C22"/>
                </a:solidFill>
                <a:latin typeface="Calibri" pitchFamily="34" charset="0"/>
                <a:ea typeface="Calibri" pitchFamily="34" charset="-122"/>
                <a:cs typeface="Calibri" pitchFamily="34" charset="-120"/>
              </a:rPr>
              <a:t>Estado «Cumplido» y fecha real posterior a la fecha plan.</a:t>
            </a:r>
            <a:endParaRPr lang="en-US" sz="1400" dirty="0"/>
          </a:p>
        </p:txBody>
      </p:sp>
      <p:sp>
        <p:nvSpPr>
          <p:cNvPr id="15" name="Text 11"/>
          <p:cNvSpPr txBox="1"/>
          <p:nvPr/>
        </p:nvSpPr>
        <p:spPr>
          <a:xfrm>
            <a:off x="9539935" y="2468880"/>
            <a:ext cx="1920240" cy="768096"/>
          </a:xfrm>
          <a:prstGeom prst="rect">
            <a:avLst/>
          </a:prstGeom>
          <a:noFill/>
          <a:ln/>
        </p:spPr>
        <p:txBody>
          <a:bodyPr wrap="square" lIns="0" tIns="0" rIns="0" bIns="0" rtlCol="0" anchor="ctr"/>
          <a:lstStyle/>
          <a:p>
            <a:pPr algn="r" indent="0" marL="0">
              <a:buNone/>
            </a:pPr>
            <a:r>
              <a:rPr lang="en-US" sz="1250" i="1" dirty="0">
                <a:solidFill>
                  <a:srgbClr val="5B5E6B"/>
                </a:solidFill>
                <a:latin typeface="Calibri" pitchFamily="34" charset="0"/>
                <a:ea typeface="Calibri" pitchFamily="34" charset="-122"/>
                <a:cs typeface="Calibri" pitchFamily="34" charset="-120"/>
              </a:rPr>
              <a:t>Círculo lleno rojo</a:t>
            </a:r>
            <a:endParaRPr lang="en-US" sz="1250" dirty="0"/>
          </a:p>
        </p:txBody>
      </p:sp>
      <p:sp>
        <p:nvSpPr>
          <p:cNvPr id="16" name="Shape 12"/>
          <p:cNvSpPr/>
          <p:nvPr/>
        </p:nvSpPr>
        <p:spPr>
          <a:xfrm>
            <a:off x="548640" y="3364992"/>
            <a:ext cx="11094415" cy="768096"/>
          </a:xfrm>
          <a:prstGeom prst="roundRect">
            <a:avLst>
              <a:gd name="adj" fmla="val 9524"/>
            </a:avLst>
          </a:prstGeom>
          <a:solidFill>
            <a:srgbClr val="F5F6FB"/>
          </a:solidFill>
          <a:ln w="9525">
            <a:solidFill>
              <a:srgbClr val="E3E5EE"/>
            </a:solidFill>
            <a:prstDash val="solid"/>
          </a:ln>
        </p:spPr>
      </p:sp>
      <p:sp>
        <p:nvSpPr>
          <p:cNvPr id="17" name="Shape 13"/>
          <p:cNvSpPr/>
          <p:nvPr/>
        </p:nvSpPr>
        <p:spPr>
          <a:xfrm>
            <a:off x="731520" y="3529584"/>
            <a:ext cx="2834640" cy="438912"/>
          </a:xfrm>
          <a:prstGeom prst="roundRect">
            <a:avLst>
              <a:gd name="adj" fmla="val 50000"/>
            </a:avLst>
          </a:prstGeom>
          <a:solidFill>
            <a:srgbClr val="D03B3B"/>
          </a:solidFill>
          <a:ln w="12700">
            <a:solidFill>
              <a:srgbClr val="D03B3B"/>
            </a:solidFill>
            <a:prstDash val="solid"/>
          </a:ln>
        </p:spPr>
      </p:sp>
      <p:pic>
        <p:nvPicPr>
          <p:cNvPr id="18" name="Image 2" descr="preencoded.png">    </p:cNvPr>
          <p:cNvPicPr>
            <a:picLocks noChangeAspect="1"/>
          </p:cNvPicPr>
          <p:nvPr/>
        </p:nvPicPr>
        <p:blipFill>
          <a:blip r:embed="rId3"/>
          <a:stretch>
            <a:fillRect/>
          </a:stretch>
        </p:blipFill>
        <p:spPr>
          <a:xfrm>
            <a:off x="850392" y="3602736"/>
            <a:ext cx="292608" cy="292608"/>
          </a:xfrm>
          <a:prstGeom prst="rect">
            <a:avLst/>
          </a:prstGeom>
        </p:spPr>
      </p:pic>
      <p:sp>
        <p:nvSpPr>
          <p:cNvPr id="19" name="Text 14"/>
          <p:cNvSpPr txBox="1"/>
          <p:nvPr/>
        </p:nvSpPr>
        <p:spPr>
          <a:xfrm>
            <a:off x="1234440" y="3529584"/>
            <a:ext cx="2286000" cy="43891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Atrasado N días</a:t>
            </a:r>
            <a:endParaRPr lang="en-US" sz="1400" dirty="0"/>
          </a:p>
        </p:txBody>
      </p:sp>
      <p:sp>
        <p:nvSpPr>
          <p:cNvPr id="20" name="Text 15"/>
          <p:cNvSpPr txBox="1"/>
          <p:nvPr/>
        </p:nvSpPr>
        <p:spPr>
          <a:xfrm>
            <a:off x="3840480" y="3364992"/>
            <a:ext cx="5669280" cy="768096"/>
          </a:xfrm>
          <a:prstGeom prst="rect">
            <a:avLst/>
          </a:prstGeom>
          <a:noFill/>
          <a:ln/>
        </p:spPr>
        <p:txBody>
          <a:bodyPr wrap="square" lIns="0" tIns="0" rIns="0" bIns="0" rtlCol="0" anchor="ctr"/>
          <a:lstStyle/>
          <a:p>
            <a:pPr indent="0" marL="0">
              <a:buNone/>
            </a:pPr>
            <a:r>
              <a:rPr lang="en-US" sz="1400" dirty="0">
                <a:solidFill>
                  <a:srgbClr val="1B1C22"/>
                </a:solidFill>
                <a:latin typeface="Calibri" pitchFamily="34" charset="0"/>
                <a:ea typeface="Calibri" pitchFamily="34" charset="-122"/>
                <a:cs typeface="Calibri" pitchFamily="34" charset="-120"/>
              </a:rPr>
              <a:t>Pendiente o en curso, con fecha plan anterior a hoy (o a la fecha de corte).</a:t>
            </a:r>
            <a:endParaRPr lang="en-US" sz="1400" dirty="0"/>
          </a:p>
        </p:txBody>
      </p:sp>
      <p:sp>
        <p:nvSpPr>
          <p:cNvPr id="21" name="Text 16"/>
          <p:cNvSpPr txBox="1"/>
          <p:nvPr/>
        </p:nvSpPr>
        <p:spPr>
          <a:xfrm>
            <a:off x="9539935" y="3364992"/>
            <a:ext cx="1920240" cy="768096"/>
          </a:xfrm>
          <a:prstGeom prst="rect">
            <a:avLst/>
          </a:prstGeom>
          <a:noFill/>
          <a:ln/>
        </p:spPr>
        <p:txBody>
          <a:bodyPr wrap="square" lIns="0" tIns="0" rIns="0" bIns="0" rtlCol="0" anchor="ctr"/>
          <a:lstStyle/>
          <a:p>
            <a:pPr algn="r" indent="0" marL="0">
              <a:buNone/>
            </a:pPr>
            <a:r>
              <a:rPr lang="en-US" sz="1250" i="1" dirty="0">
                <a:solidFill>
                  <a:srgbClr val="5B5E6B"/>
                </a:solidFill>
                <a:latin typeface="Calibri" pitchFamily="34" charset="0"/>
                <a:ea typeface="Calibri" pitchFamily="34" charset="-122"/>
                <a:cs typeface="Calibri" pitchFamily="34" charset="-120"/>
              </a:rPr>
              <a:t>Rombo rojo</a:t>
            </a:r>
            <a:endParaRPr lang="en-US" sz="1250" dirty="0"/>
          </a:p>
        </p:txBody>
      </p:sp>
      <p:sp>
        <p:nvSpPr>
          <p:cNvPr id="22" name="Shape 17"/>
          <p:cNvSpPr/>
          <p:nvPr/>
        </p:nvSpPr>
        <p:spPr>
          <a:xfrm>
            <a:off x="548640" y="4261104"/>
            <a:ext cx="11094415" cy="768096"/>
          </a:xfrm>
          <a:prstGeom prst="roundRect">
            <a:avLst>
              <a:gd name="adj" fmla="val 9524"/>
            </a:avLst>
          </a:prstGeom>
          <a:solidFill>
            <a:srgbClr val="FFFFFF"/>
          </a:solidFill>
          <a:ln w="9525">
            <a:solidFill>
              <a:srgbClr val="E3E5EE"/>
            </a:solidFill>
            <a:prstDash val="solid"/>
          </a:ln>
        </p:spPr>
      </p:sp>
      <p:sp>
        <p:nvSpPr>
          <p:cNvPr id="23" name="Shape 18"/>
          <p:cNvSpPr/>
          <p:nvPr/>
        </p:nvSpPr>
        <p:spPr>
          <a:xfrm>
            <a:off x="731520" y="4425696"/>
            <a:ext cx="2834640" cy="438912"/>
          </a:xfrm>
          <a:prstGeom prst="roundRect">
            <a:avLst>
              <a:gd name="adj" fmla="val 50000"/>
            </a:avLst>
          </a:prstGeom>
          <a:solidFill>
            <a:srgbClr val="FAB219"/>
          </a:solidFill>
          <a:ln w="12700">
            <a:solidFill>
              <a:srgbClr val="FAB219"/>
            </a:solidFill>
            <a:prstDash val="solid"/>
          </a:ln>
        </p:spPr>
      </p:sp>
      <p:pic>
        <p:nvPicPr>
          <p:cNvPr id="24" name="Image 3" descr="preencoded.png">    </p:cNvPr>
          <p:cNvPicPr>
            <a:picLocks noChangeAspect="1"/>
          </p:cNvPicPr>
          <p:nvPr/>
        </p:nvPicPr>
        <p:blipFill>
          <a:blip r:embed="rId4"/>
          <a:stretch>
            <a:fillRect/>
          </a:stretch>
        </p:blipFill>
        <p:spPr>
          <a:xfrm>
            <a:off x="850392" y="4498848"/>
            <a:ext cx="292608" cy="292608"/>
          </a:xfrm>
          <a:prstGeom prst="rect">
            <a:avLst/>
          </a:prstGeom>
        </p:spPr>
      </p:pic>
      <p:sp>
        <p:nvSpPr>
          <p:cNvPr id="25" name="Text 19"/>
          <p:cNvSpPr txBox="1"/>
          <p:nvPr/>
        </p:nvSpPr>
        <p:spPr>
          <a:xfrm>
            <a:off x="1234440" y="4425696"/>
            <a:ext cx="2286000" cy="438912"/>
          </a:xfrm>
          <a:prstGeom prst="rect">
            <a:avLst/>
          </a:prstGeom>
          <a:noFill/>
          <a:ln/>
        </p:spPr>
        <p:txBody>
          <a:bodyPr wrap="square" lIns="0" tIns="0" rIns="0" bIns="0" rtlCol="0" anchor="ctr"/>
          <a:lstStyle/>
          <a:p>
            <a:pPr indent="0" marL="0">
              <a:buNone/>
            </a:pPr>
            <a:r>
              <a:rPr lang="en-US" sz="1400" b="1" dirty="0">
                <a:solidFill>
                  <a:srgbClr val="1A1F4B"/>
                </a:solidFill>
                <a:latin typeface="Calibri" pitchFamily="34" charset="0"/>
                <a:ea typeface="Calibri" pitchFamily="34" charset="-122"/>
                <a:cs typeface="Calibri" pitchFamily="34" charset="-120"/>
              </a:rPr>
              <a:t>Pendiente / En curso</a:t>
            </a:r>
            <a:endParaRPr lang="en-US" sz="1400" dirty="0"/>
          </a:p>
        </p:txBody>
      </p:sp>
      <p:sp>
        <p:nvSpPr>
          <p:cNvPr id="26" name="Text 20"/>
          <p:cNvSpPr txBox="1"/>
          <p:nvPr/>
        </p:nvSpPr>
        <p:spPr>
          <a:xfrm>
            <a:off x="3840480" y="4261104"/>
            <a:ext cx="5669280" cy="768096"/>
          </a:xfrm>
          <a:prstGeom prst="rect">
            <a:avLst/>
          </a:prstGeom>
          <a:noFill/>
          <a:ln/>
        </p:spPr>
        <p:txBody>
          <a:bodyPr wrap="square" lIns="0" tIns="0" rIns="0" bIns="0" rtlCol="0" anchor="ctr"/>
          <a:lstStyle/>
          <a:p>
            <a:pPr indent="0" marL="0">
              <a:buNone/>
            </a:pPr>
            <a:r>
              <a:rPr lang="en-US" sz="1400" dirty="0">
                <a:solidFill>
                  <a:srgbClr val="1B1C22"/>
                </a:solidFill>
                <a:latin typeface="Calibri" pitchFamily="34" charset="0"/>
                <a:ea typeface="Calibri" pitchFamily="34" charset="-122"/>
                <a:cs typeface="Calibri" pitchFamily="34" charset="-120"/>
              </a:rPr>
              <a:t>Aún no vence. Si vence en 30 días aparece en «Próximos».</a:t>
            </a:r>
            <a:endParaRPr lang="en-US" sz="1400" dirty="0"/>
          </a:p>
        </p:txBody>
      </p:sp>
      <p:sp>
        <p:nvSpPr>
          <p:cNvPr id="27" name="Text 21"/>
          <p:cNvSpPr txBox="1"/>
          <p:nvPr/>
        </p:nvSpPr>
        <p:spPr>
          <a:xfrm>
            <a:off x="9539935" y="4261104"/>
            <a:ext cx="1920240" cy="768096"/>
          </a:xfrm>
          <a:prstGeom prst="rect">
            <a:avLst/>
          </a:prstGeom>
          <a:noFill/>
          <a:ln/>
        </p:spPr>
        <p:txBody>
          <a:bodyPr wrap="square" lIns="0" tIns="0" rIns="0" bIns="0" rtlCol="0" anchor="ctr"/>
          <a:lstStyle/>
          <a:p>
            <a:pPr algn="r" indent="0" marL="0">
              <a:buNone/>
            </a:pPr>
            <a:r>
              <a:rPr lang="en-US" sz="1250" i="1" dirty="0">
                <a:solidFill>
                  <a:srgbClr val="5B5E6B"/>
                </a:solidFill>
                <a:latin typeface="Calibri" pitchFamily="34" charset="0"/>
                <a:ea typeface="Calibri" pitchFamily="34" charset="-122"/>
                <a:cs typeface="Calibri" pitchFamily="34" charset="-120"/>
              </a:rPr>
              <a:t>Rombo ámbar</a:t>
            </a:r>
            <a:endParaRPr lang="en-US" sz="1250" dirty="0"/>
          </a:p>
        </p:txBody>
      </p:sp>
      <p:sp>
        <p:nvSpPr>
          <p:cNvPr id="28" name="Shape 22"/>
          <p:cNvSpPr/>
          <p:nvPr/>
        </p:nvSpPr>
        <p:spPr>
          <a:xfrm>
            <a:off x="548640" y="5157216"/>
            <a:ext cx="11094415" cy="768096"/>
          </a:xfrm>
          <a:prstGeom prst="roundRect">
            <a:avLst>
              <a:gd name="adj" fmla="val 9524"/>
            </a:avLst>
          </a:prstGeom>
          <a:solidFill>
            <a:srgbClr val="F5F6FB"/>
          </a:solidFill>
          <a:ln w="9525">
            <a:solidFill>
              <a:srgbClr val="E3E5EE"/>
            </a:solidFill>
            <a:prstDash val="solid"/>
          </a:ln>
        </p:spPr>
      </p:sp>
      <p:sp>
        <p:nvSpPr>
          <p:cNvPr id="29" name="Shape 23"/>
          <p:cNvSpPr/>
          <p:nvPr/>
        </p:nvSpPr>
        <p:spPr>
          <a:xfrm>
            <a:off x="731520" y="5321808"/>
            <a:ext cx="2834640" cy="438912"/>
          </a:xfrm>
          <a:prstGeom prst="roundRect">
            <a:avLst>
              <a:gd name="adj" fmla="val 50000"/>
            </a:avLst>
          </a:prstGeom>
          <a:solidFill>
            <a:srgbClr val="898781"/>
          </a:solidFill>
          <a:ln w="12700">
            <a:solidFill>
              <a:srgbClr val="898781"/>
            </a:solidFill>
            <a:prstDash val="solid"/>
          </a:ln>
        </p:spPr>
      </p:sp>
      <p:pic>
        <p:nvPicPr>
          <p:cNvPr id="30" name="Image 4" descr="preencoded.png">    </p:cNvPr>
          <p:cNvPicPr>
            <a:picLocks noChangeAspect="1"/>
          </p:cNvPicPr>
          <p:nvPr/>
        </p:nvPicPr>
        <p:blipFill>
          <a:blip r:embed="rId5"/>
          <a:stretch>
            <a:fillRect/>
          </a:stretch>
        </p:blipFill>
        <p:spPr>
          <a:xfrm>
            <a:off x="850392" y="5394960"/>
            <a:ext cx="292608" cy="292608"/>
          </a:xfrm>
          <a:prstGeom prst="rect">
            <a:avLst/>
          </a:prstGeom>
        </p:spPr>
      </p:pic>
      <p:sp>
        <p:nvSpPr>
          <p:cNvPr id="31" name="Text 24"/>
          <p:cNvSpPr txBox="1"/>
          <p:nvPr/>
        </p:nvSpPr>
        <p:spPr>
          <a:xfrm>
            <a:off x="1234440" y="5321808"/>
            <a:ext cx="2286000" cy="43891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No aplica</a:t>
            </a:r>
            <a:endParaRPr lang="en-US" sz="1400" dirty="0"/>
          </a:p>
        </p:txBody>
      </p:sp>
      <p:sp>
        <p:nvSpPr>
          <p:cNvPr id="32" name="Text 25"/>
          <p:cNvSpPr txBox="1"/>
          <p:nvPr/>
        </p:nvSpPr>
        <p:spPr>
          <a:xfrm>
            <a:off x="3840480" y="5157216"/>
            <a:ext cx="5669280" cy="768096"/>
          </a:xfrm>
          <a:prstGeom prst="rect">
            <a:avLst/>
          </a:prstGeom>
          <a:noFill/>
          <a:ln/>
        </p:spPr>
        <p:txBody>
          <a:bodyPr wrap="square" lIns="0" tIns="0" rIns="0" bIns="0" rtlCol="0" anchor="ctr"/>
          <a:lstStyle/>
          <a:p>
            <a:pPr indent="0" marL="0">
              <a:buNone/>
            </a:pPr>
            <a:r>
              <a:rPr lang="en-US" sz="1400" dirty="0">
                <a:solidFill>
                  <a:srgbClr val="1B1C22"/>
                </a:solidFill>
                <a:latin typeface="Calibri" pitchFamily="34" charset="0"/>
                <a:ea typeface="Calibri" pitchFamily="34" charset="-122"/>
                <a:cs typeface="Calibri" pitchFamily="34" charset="-120"/>
              </a:rPr>
              <a:t>El hito no corresponde a esta fase; sale de los cálculos.</a:t>
            </a:r>
            <a:endParaRPr lang="en-US" sz="1400" dirty="0"/>
          </a:p>
        </p:txBody>
      </p:sp>
      <p:sp>
        <p:nvSpPr>
          <p:cNvPr id="33" name="Text 26"/>
          <p:cNvSpPr txBox="1"/>
          <p:nvPr/>
        </p:nvSpPr>
        <p:spPr>
          <a:xfrm>
            <a:off x="9539935" y="5157216"/>
            <a:ext cx="1920240" cy="768096"/>
          </a:xfrm>
          <a:prstGeom prst="rect">
            <a:avLst/>
          </a:prstGeom>
          <a:noFill/>
          <a:ln/>
        </p:spPr>
        <p:txBody>
          <a:bodyPr wrap="square" lIns="0" tIns="0" rIns="0" bIns="0" rtlCol="0" anchor="ctr"/>
          <a:lstStyle/>
          <a:p>
            <a:pPr algn="r" indent="0" marL="0">
              <a:buNone/>
            </a:pPr>
            <a:r>
              <a:rPr lang="en-US" sz="1250" i="1" dirty="0">
                <a:solidFill>
                  <a:srgbClr val="5B5E6B"/>
                </a:solidFill>
                <a:latin typeface="Calibri" pitchFamily="34" charset="0"/>
                <a:ea typeface="Calibri" pitchFamily="34" charset="-122"/>
                <a:cs typeface="Calibri" pitchFamily="34" charset="-120"/>
              </a:rPr>
              <a:t>Gris</a:t>
            </a:r>
            <a:endParaRPr lang="en-US" sz="1250" dirty="0"/>
          </a:p>
        </p:txBody>
      </p:sp>
      <p:sp>
        <p:nvSpPr>
          <p:cNvPr id="34" name="Text 27"/>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Hitos</a:t>
            </a:r>
            <a:endParaRPr lang="en-US" sz="1000" dirty="0"/>
          </a:p>
        </p:txBody>
      </p:sp>
      <p:sp>
        <p:nvSpPr>
          <p:cNvPr id="35" name="Text 28"/>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90</a:t>
            </a:r>
            <a:endParaRPr lang="en-US" sz="10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Filtrar con un toque</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Los indicadores funcionan como botones de filtro</a:t>
            </a:r>
            <a:endParaRPr lang="en-US" sz="1500" dirty="0"/>
          </a:p>
        </p:txBody>
      </p:sp>
      <p:sp>
        <p:nvSpPr>
          <p:cNvPr id="4" name="Shape 2"/>
          <p:cNvSpPr/>
          <p:nvPr/>
        </p:nvSpPr>
        <p:spPr>
          <a:xfrm>
            <a:off x="4562856" y="1855460"/>
            <a:ext cx="7135063" cy="4061479"/>
          </a:xfrm>
          <a:prstGeom prst="roundRect">
            <a:avLst>
              <a:gd name="adj" fmla="val 1801"/>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hitos_filtro_atrasados.jpg">    </p:cNvPr>
          <p:cNvPicPr>
            <a:picLocks noChangeAspect="1"/>
          </p:cNvPicPr>
          <p:nvPr/>
        </p:nvPicPr>
        <p:blipFill>
          <a:blip r:embed="rId1"/>
          <a:stretch>
            <a:fillRect/>
          </a:stretch>
        </p:blipFill>
        <p:spPr>
          <a:xfrm>
            <a:off x="4617720" y="1910324"/>
            <a:ext cx="7025335" cy="3951751"/>
          </a:xfrm>
          <a:prstGeom prst="rect">
            <a:avLst/>
          </a:prstGeom>
        </p:spPr>
      </p:pic>
      <p:sp>
        <p:nvSpPr>
          <p:cNvPr id="6" name="Shape 3"/>
          <p:cNvSpPr/>
          <p:nvPr/>
        </p:nvSpPr>
        <p:spPr>
          <a:xfrm>
            <a:off x="548640"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643280" y="1685696"/>
            <a:ext cx="231343" cy="231343"/>
          </a:xfrm>
          <a:prstGeom prst="rect">
            <a:avLst/>
          </a:prstGeom>
        </p:spPr>
      </p:pic>
      <p:sp>
        <p:nvSpPr>
          <p:cNvPr id="8" name="Text 4"/>
          <p:cNvSpPr txBox="1"/>
          <p:nvPr/>
        </p:nvSpPr>
        <p:spPr>
          <a:xfrm>
            <a:off x="1133856" y="1572768"/>
            <a:ext cx="3209544" cy="149656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Toca «Atrasados»</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La tabla y la línea de tiempo muestran solo los atrasados.</a:t>
            </a:r>
            <a:endParaRPr lang="en-US" sz="1500" dirty="0"/>
          </a:p>
        </p:txBody>
      </p:sp>
      <p:sp>
        <p:nvSpPr>
          <p:cNvPr id="9" name="Shape 5"/>
          <p:cNvSpPr/>
          <p:nvPr/>
        </p:nvSpPr>
        <p:spPr>
          <a:xfrm>
            <a:off x="548640" y="3160776"/>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643280" y="3255416"/>
            <a:ext cx="231343" cy="231343"/>
          </a:xfrm>
          <a:prstGeom prst="rect">
            <a:avLst/>
          </a:prstGeom>
        </p:spPr>
      </p:pic>
      <p:sp>
        <p:nvSpPr>
          <p:cNvPr id="11" name="Text 6"/>
          <p:cNvSpPr txBox="1"/>
          <p:nvPr/>
        </p:nvSpPr>
        <p:spPr>
          <a:xfrm>
            <a:off x="1133856" y="3142488"/>
            <a:ext cx="3209544" cy="149656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Desde «Tu próximo paso»</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El botón «Ver hitos» llega con este filtro ya aplicado.</a:t>
            </a:r>
            <a:endParaRPr lang="en-US" sz="1500" dirty="0"/>
          </a:p>
        </p:txBody>
      </p:sp>
      <p:sp>
        <p:nvSpPr>
          <p:cNvPr id="12" name="Shape 7"/>
          <p:cNvSpPr/>
          <p:nvPr/>
        </p:nvSpPr>
        <p:spPr>
          <a:xfrm>
            <a:off x="548640" y="4730496"/>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643280" y="4825136"/>
            <a:ext cx="231343" cy="231343"/>
          </a:xfrm>
          <a:prstGeom prst="rect">
            <a:avLst/>
          </a:prstGeom>
        </p:spPr>
      </p:pic>
      <p:sp>
        <p:nvSpPr>
          <p:cNvPr id="14" name="Text 8"/>
          <p:cNvSpPr txBox="1"/>
          <p:nvPr/>
        </p:nvSpPr>
        <p:spPr>
          <a:xfrm>
            <a:off x="1133856" y="4712208"/>
            <a:ext cx="3209544" cy="149656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Orden</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Por fecha plan: el más antiguo primero.</a:t>
            </a:r>
            <a:endParaRPr lang="en-US" sz="1500" dirty="0"/>
          </a:p>
        </p:txBody>
      </p:sp>
      <p:sp>
        <p:nvSpPr>
          <p:cNvPr id="15" name="Text 9"/>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Hitos</a:t>
            </a:r>
            <a:endParaRPr lang="en-US" sz="1000" dirty="0"/>
          </a:p>
        </p:txBody>
      </p:sp>
      <p:sp>
        <p:nvSpPr>
          <p:cNvPr id="16" name="Text 10"/>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91</a:t>
            </a:r>
            <a:endParaRPr lang="en-US" sz="10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El formulario de un hito</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El criterio, la evidencia esperada y quién aprueba, siempre a la vista</a:t>
            </a:r>
            <a:endParaRPr lang="en-US" sz="1500" dirty="0"/>
          </a:p>
        </p:txBody>
      </p:sp>
      <p:sp>
        <p:nvSpPr>
          <p:cNvPr id="4" name="Shape 2"/>
          <p:cNvSpPr/>
          <p:nvPr/>
        </p:nvSpPr>
        <p:spPr>
          <a:xfrm>
            <a:off x="4562856" y="1855460"/>
            <a:ext cx="7135063" cy="4061479"/>
          </a:xfrm>
          <a:prstGeom prst="roundRect">
            <a:avLst>
              <a:gd name="adj" fmla="val 1801"/>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hito_form.jpg">    </p:cNvPr>
          <p:cNvPicPr>
            <a:picLocks noChangeAspect="1"/>
          </p:cNvPicPr>
          <p:nvPr/>
        </p:nvPicPr>
        <p:blipFill>
          <a:blip r:embed="rId1"/>
          <a:stretch>
            <a:fillRect/>
          </a:stretch>
        </p:blipFill>
        <p:spPr>
          <a:xfrm>
            <a:off x="4617720" y="1910324"/>
            <a:ext cx="7025335" cy="3951751"/>
          </a:xfrm>
          <a:prstGeom prst="rect">
            <a:avLst/>
          </a:prstGeom>
        </p:spPr>
      </p:pic>
      <p:sp>
        <p:nvSpPr>
          <p:cNvPr id="6" name="Shape 3"/>
          <p:cNvSpPr/>
          <p:nvPr/>
        </p:nvSpPr>
        <p:spPr>
          <a:xfrm>
            <a:off x="548640"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643280" y="1685696"/>
            <a:ext cx="231343" cy="231343"/>
          </a:xfrm>
          <a:prstGeom prst="rect">
            <a:avLst/>
          </a:prstGeom>
        </p:spPr>
      </p:pic>
      <p:sp>
        <p:nvSpPr>
          <p:cNvPr id="8" name="Text 4"/>
          <p:cNvSpPr txBox="1"/>
          <p:nvPr/>
        </p:nvSpPr>
        <p:spPr>
          <a:xfrm>
            <a:off x="1133856" y="157276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Recuadro azul</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Criterio de cumplimiento, evidencia esperada y quién aprueba, tomados del catálogo.</a:t>
            </a:r>
            <a:endParaRPr lang="en-US" sz="1500" dirty="0"/>
          </a:p>
        </p:txBody>
      </p:sp>
      <p:sp>
        <p:nvSpPr>
          <p:cNvPr id="9" name="Shape 5"/>
          <p:cNvSpPr/>
          <p:nvPr/>
        </p:nvSpPr>
        <p:spPr>
          <a:xfrm>
            <a:off x="548640" y="2768346"/>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643280" y="2862986"/>
            <a:ext cx="231343" cy="231343"/>
          </a:xfrm>
          <a:prstGeom prst="rect">
            <a:avLst/>
          </a:prstGeom>
        </p:spPr>
      </p:pic>
      <p:sp>
        <p:nvSpPr>
          <p:cNvPr id="11" name="Text 6"/>
          <p:cNvSpPr txBox="1"/>
          <p:nvPr/>
        </p:nvSpPr>
        <p:spPr>
          <a:xfrm>
            <a:off x="1133856" y="275005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Aviso de atraso</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«Este hito debía cumplirse el 04/07/2026 (hace 87 días). Márcalo cumplido o replanifica la fecha.»</a:t>
            </a:r>
            <a:endParaRPr lang="en-US" sz="1500" dirty="0"/>
          </a:p>
        </p:txBody>
      </p:sp>
      <p:sp>
        <p:nvSpPr>
          <p:cNvPr id="12" name="Shape 7"/>
          <p:cNvSpPr/>
          <p:nvPr/>
        </p:nvSpPr>
        <p:spPr>
          <a:xfrm>
            <a:off x="548640" y="3945636"/>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643280" y="4040276"/>
            <a:ext cx="231343" cy="231343"/>
          </a:xfrm>
          <a:prstGeom prst="rect">
            <a:avLst/>
          </a:prstGeom>
        </p:spPr>
      </p:pic>
      <p:sp>
        <p:nvSpPr>
          <p:cNvPr id="14" name="Text 8"/>
          <p:cNvSpPr txBox="1"/>
          <p:nvPr/>
        </p:nvSpPr>
        <p:spPr>
          <a:xfrm>
            <a:off x="1133856" y="392734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Fecha plan y real</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Replanificar es cambiar la fecha plan; queda en la auditoría.</a:t>
            </a:r>
            <a:endParaRPr lang="en-US" sz="1500" dirty="0"/>
          </a:p>
        </p:txBody>
      </p:sp>
      <p:sp>
        <p:nvSpPr>
          <p:cNvPr id="15" name="Shape 9"/>
          <p:cNvSpPr/>
          <p:nvPr/>
        </p:nvSpPr>
        <p:spPr>
          <a:xfrm>
            <a:off x="548640" y="5122926"/>
            <a:ext cx="420624" cy="420624"/>
          </a:xfrm>
          <a:prstGeom prst="ellipse">
            <a:avLst/>
          </a:prstGeom>
          <a:solidFill>
            <a:srgbClr val="E8EAF6"/>
          </a:solidFill>
          <a:ln w="12700">
            <a:solidFill>
              <a:srgbClr val="E8EAF6"/>
            </a:solidFill>
            <a:prstDash val="solid"/>
          </a:ln>
        </p:spPr>
      </p:sp>
      <p:pic>
        <p:nvPicPr>
          <p:cNvPr id="16" name="Image 4" descr="preencoded.png">    </p:cNvPr>
          <p:cNvPicPr>
            <a:picLocks noChangeAspect="1"/>
          </p:cNvPicPr>
          <p:nvPr/>
        </p:nvPicPr>
        <p:blipFill>
          <a:blip r:embed="rId5"/>
          <a:stretch>
            <a:fillRect/>
          </a:stretch>
        </p:blipFill>
        <p:spPr>
          <a:xfrm>
            <a:off x="643280" y="5217566"/>
            <a:ext cx="231343" cy="231343"/>
          </a:xfrm>
          <a:prstGeom prst="rect">
            <a:avLst/>
          </a:prstGeom>
        </p:spPr>
      </p:pic>
      <p:sp>
        <p:nvSpPr>
          <p:cNvPr id="17" name="Text 10"/>
          <p:cNvSpPr txBox="1"/>
          <p:nvPr/>
        </p:nvSpPr>
        <p:spPr>
          <a:xfrm>
            <a:off x="1133856" y="510463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Marcar cumplido</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Pone el estado Cumplido y la fecha real de hoy.</a:t>
            </a:r>
            <a:endParaRPr lang="en-US" sz="1500" dirty="0"/>
          </a:p>
        </p:txBody>
      </p:sp>
      <p:sp>
        <p:nvSpPr>
          <p:cNvPr id="18" name="Text 11"/>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Hitos</a:t>
            </a:r>
            <a:endParaRPr lang="en-US" sz="1000" dirty="0"/>
          </a:p>
        </p:txBody>
      </p:sp>
      <p:sp>
        <p:nvSpPr>
          <p:cNvPr id="19" name="Text 12"/>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92</a:t>
            </a:r>
            <a:endParaRPr lang="en-US" sz="10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Sin evidencia no hay hito cumplido</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«Un hito se cumple cuando existe la evidencia, no cuando casi está»</a:t>
            </a:r>
            <a:endParaRPr lang="en-US" sz="1500" dirty="0"/>
          </a:p>
        </p:txBody>
      </p:sp>
      <p:sp>
        <p:nvSpPr>
          <p:cNvPr id="4" name="Shape 2"/>
          <p:cNvSpPr/>
          <p:nvPr/>
        </p:nvSpPr>
        <p:spPr>
          <a:xfrm>
            <a:off x="4562856" y="1855460"/>
            <a:ext cx="7135063" cy="4061479"/>
          </a:xfrm>
          <a:prstGeom prst="roundRect">
            <a:avLst>
              <a:gd name="adj" fmla="val 1801"/>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hito_evidencia_error.jpg">    </p:cNvPr>
          <p:cNvPicPr>
            <a:picLocks noChangeAspect="1"/>
          </p:cNvPicPr>
          <p:nvPr/>
        </p:nvPicPr>
        <p:blipFill>
          <a:blip r:embed="rId1"/>
          <a:stretch>
            <a:fillRect/>
          </a:stretch>
        </p:blipFill>
        <p:spPr>
          <a:xfrm>
            <a:off x="4617720" y="1910324"/>
            <a:ext cx="7025335" cy="3951751"/>
          </a:xfrm>
          <a:prstGeom prst="rect">
            <a:avLst/>
          </a:prstGeom>
        </p:spPr>
      </p:pic>
      <p:sp>
        <p:nvSpPr>
          <p:cNvPr id="6" name="Shape 3"/>
          <p:cNvSpPr/>
          <p:nvPr/>
        </p:nvSpPr>
        <p:spPr>
          <a:xfrm>
            <a:off x="548640"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643280" y="1685696"/>
            <a:ext cx="231343" cy="231343"/>
          </a:xfrm>
          <a:prstGeom prst="rect">
            <a:avLst/>
          </a:prstGeom>
        </p:spPr>
      </p:pic>
      <p:sp>
        <p:nvSpPr>
          <p:cNvPr id="8" name="Text 4"/>
          <p:cNvSpPr txBox="1"/>
          <p:nvPr/>
        </p:nvSpPr>
        <p:spPr>
          <a:xfrm>
            <a:off x="1133856" y="1572768"/>
            <a:ext cx="3209544" cy="149656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Evidencia obligatoria</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«Anota la evidencia (Plantilla de CWP firmada): un hito se cumple cuando existe la evidencia.»</a:t>
            </a:r>
            <a:endParaRPr lang="en-US" sz="1500" dirty="0"/>
          </a:p>
        </p:txBody>
      </p:sp>
      <p:sp>
        <p:nvSpPr>
          <p:cNvPr id="9" name="Shape 5"/>
          <p:cNvSpPr/>
          <p:nvPr/>
        </p:nvSpPr>
        <p:spPr>
          <a:xfrm>
            <a:off x="548640" y="3160776"/>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643280" y="3255416"/>
            <a:ext cx="231343" cy="231343"/>
          </a:xfrm>
          <a:prstGeom prst="rect">
            <a:avLst/>
          </a:prstGeom>
        </p:spPr>
      </p:pic>
      <p:sp>
        <p:nvSpPr>
          <p:cNvPr id="11" name="Text 6"/>
          <p:cNvSpPr txBox="1"/>
          <p:nvPr/>
        </p:nvSpPr>
        <p:spPr>
          <a:xfrm>
            <a:off x="1133856" y="3142488"/>
            <a:ext cx="3209544" cy="149656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Fecha real obligatoria</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Y no puede ser futura.</a:t>
            </a:r>
            <a:endParaRPr lang="en-US" sz="1500" dirty="0"/>
          </a:p>
        </p:txBody>
      </p:sp>
      <p:sp>
        <p:nvSpPr>
          <p:cNvPr id="12" name="Shape 7"/>
          <p:cNvSpPr/>
          <p:nvPr/>
        </p:nvSpPr>
        <p:spPr>
          <a:xfrm>
            <a:off x="548640" y="4730496"/>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643280" y="4825136"/>
            <a:ext cx="231343" cy="231343"/>
          </a:xfrm>
          <a:prstGeom prst="rect">
            <a:avLst/>
          </a:prstGeom>
        </p:spPr>
      </p:pic>
      <p:sp>
        <p:nvSpPr>
          <p:cNvPr id="14" name="Text 8"/>
          <p:cNvSpPr txBox="1"/>
          <p:nvPr/>
        </p:nvSpPr>
        <p:spPr>
          <a:xfrm>
            <a:off x="1133856" y="4712208"/>
            <a:ext cx="3209544" cy="149656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Sugerencia</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El campo propone el tipo de evidencia del catálogo como ejemplo.</a:t>
            </a:r>
            <a:endParaRPr lang="en-US" sz="1500" dirty="0"/>
          </a:p>
        </p:txBody>
      </p:sp>
      <p:sp>
        <p:nvSpPr>
          <p:cNvPr id="15" name="Text 9"/>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Hitos</a:t>
            </a:r>
            <a:endParaRPr lang="en-US" sz="1000" dirty="0"/>
          </a:p>
        </p:txBody>
      </p:sp>
      <p:sp>
        <p:nvSpPr>
          <p:cNvPr id="16" name="Text 10"/>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93</a:t>
            </a:r>
            <a:endParaRPr lang="en-US" sz="10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¡Hito cumplido!</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Una celebración breve y la situación actualizada al instante</a:t>
            </a:r>
            <a:endParaRPr lang="en-US" sz="1500" dirty="0"/>
          </a:p>
        </p:txBody>
      </p:sp>
      <p:sp>
        <p:nvSpPr>
          <p:cNvPr id="4" name="Shape 2"/>
          <p:cNvSpPr/>
          <p:nvPr/>
        </p:nvSpPr>
        <p:spPr>
          <a:xfrm>
            <a:off x="4562856" y="1855460"/>
            <a:ext cx="7135063" cy="4061479"/>
          </a:xfrm>
          <a:prstGeom prst="roundRect">
            <a:avLst>
              <a:gd name="adj" fmla="val 1801"/>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hito_celebracion.jpg">    </p:cNvPr>
          <p:cNvPicPr>
            <a:picLocks noChangeAspect="1"/>
          </p:cNvPicPr>
          <p:nvPr/>
        </p:nvPicPr>
        <p:blipFill>
          <a:blip r:embed="rId1"/>
          <a:stretch>
            <a:fillRect/>
          </a:stretch>
        </p:blipFill>
        <p:spPr>
          <a:xfrm>
            <a:off x="4617720" y="1910324"/>
            <a:ext cx="7025335" cy="3951751"/>
          </a:xfrm>
          <a:prstGeom prst="rect">
            <a:avLst/>
          </a:prstGeom>
        </p:spPr>
      </p:pic>
      <p:sp>
        <p:nvSpPr>
          <p:cNvPr id="6" name="Shape 3"/>
          <p:cNvSpPr/>
          <p:nvPr/>
        </p:nvSpPr>
        <p:spPr>
          <a:xfrm>
            <a:off x="548640"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643280" y="1685696"/>
            <a:ext cx="231343" cy="231343"/>
          </a:xfrm>
          <a:prstGeom prst="rect">
            <a:avLst/>
          </a:prstGeom>
        </p:spPr>
      </p:pic>
      <p:sp>
        <p:nvSpPr>
          <p:cNvPr id="8" name="Text 4"/>
          <p:cNvSpPr txBox="1"/>
          <p:nvPr/>
        </p:nvSpPr>
        <p:spPr>
          <a:xfrm>
            <a:off x="1133856" y="1572768"/>
            <a:ext cx="3209544" cy="149656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Confeti y aviso</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«¡Hito H6 cumplido!» y, si corresponde, una nueva insignia.</a:t>
            </a:r>
            <a:endParaRPr lang="en-US" sz="1500" dirty="0"/>
          </a:p>
        </p:txBody>
      </p:sp>
      <p:sp>
        <p:nvSpPr>
          <p:cNvPr id="9" name="Shape 5"/>
          <p:cNvSpPr/>
          <p:nvPr/>
        </p:nvSpPr>
        <p:spPr>
          <a:xfrm>
            <a:off x="548640" y="3160776"/>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643280" y="3255416"/>
            <a:ext cx="231343" cy="231343"/>
          </a:xfrm>
          <a:prstGeom prst="rect">
            <a:avLst/>
          </a:prstGeom>
        </p:spPr>
      </p:pic>
      <p:sp>
        <p:nvSpPr>
          <p:cNvPr id="11" name="Text 6"/>
          <p:cNvSpPr txBox="1"/>
          <p:nvPr/>
        </p:nvSpPr>
        <p:spPr>
          <a:xfrm>
            <a:off x="1133856" y="3142488"/>
            <a:ext cx="3209544" cy="149656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Todo se recalcula</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Indicadores, línea de tiempo, semáforo, avance por fase y próximo paso.</a:t>
            </a:r>
            <a:endParaRPr lang="en-US" sz="1500" dirty="0"/>
          </a:p>
        </p:txBody>
      </p:sp>
      <p:sp>
        <p:nvSpPr>
          <p:cNvPr id="12" name="Shape 7"/>
          <p:cNvSpPr/>
          <p:nvPr/>
        </p:nvSpPr>
        <p:spPr>
          <a:xfrm>
            <a:off x="548640" y="4730496"/>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643280" y="4825136"/>
            <a:ext cx="231343" cy="231343"/>
          </a:xfrm>
          <a:prstGeom prst="rect">
            <a:avLst/>
          </a:prstGeom>
        </p:spPr>
      </p:pic>
      <p:sp>
        <p:nvSpPr>
          <p:cNvPr id="14" name="Text 8"/>
          <p:cNvSpPr txBox="1"/>
          <p:nvPr/>
        </p:nvSpPr>
        <p:spPr>
          <a:xfrm>
            <a:off x="1133856" y="4712208"/>
            <a:ext cx="3209544" cy="149656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Respeta tus preferencias</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Si tu sistema pide reducir el movimiento, no hay animaciones.</a:t>
            </a:r>
            <a:endParaRPr lang="en-US" sz="1500" dirty="0"/>
          </a:p>
        </p:txBody>
      </p:sp>
      <p:sp>
        <p:nvSpPr>
          <p:cNvPr id="15" name="Text 9"/>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Hitos</a:t>
            </a:r>
            <a:endParaRPr lang="en-US" sz="1000" dirty="0"/>
          </a:p>
        </p:txBody>
      </p:sp>
      <p:sp>
        <p:nvSpPr>
          <p:cNvPr id="16" name="Text 10"/>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94</a:t>
            </a:r>
            <a:endParaRPr lang="en-US" sz="10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1A1F4B"/>
        </a:solidFill>
      </p:bgPr>
    </p:bg>
    <p:spTree>
      <p:nvGrpSpPr>
        <p:cNvPr id="1" name=""/>
        <p:cNvGrpSpPr/>
        <p:nvPr/>
      </p:nvGrpSpPr>
      <p:grpSpPr>
        <a:xfrm>
          <a:off x="0" y="0"/>
          <a:ext cx="0" cy="0"/>
          <a:chOff x="0" y="0"/>
          <a:chExt cx="0" cy="0"/>
        </a:xfrm>
      </p:grpSpPr>
      <p:sp>
        <p:nvSpPr>
          <p:cNvPr id="2" name="Shape 0"/>
          <p:cNvSpPr/>
          <p:nvPr/>
        </p:nvSpPr>
        <p:spPr>
          <a:xfrm>
            <a:off x="548640" y="1371600"/>
            <a:ext cx="1188720" cy="1188720"/>
          </a:xfrm>
          <a:prstGeom prst="ellipse">
            <a:avLst/>
          </a:prstGeom>
          <a:solidFill>
            <a:srgbClr val="FFC107"/>
          </a:solidFill>
          <a:ln w="12700">
            <a:solidFill>
              <a:srgbClr val="FFC107"/>
            </a:solidFill>
            <a:prstDash val="solid"/>
          </a:ln>
        </p:spPr>
      </p:sp>
      <p:pic>
        <p:nvPicPr>
          <p:cNvPr id="3" name="Image 0" descr="preencoded.png">    </p:cNvPr>
          <p:cNvPicPr>
            <a:picLocks noChangeAspect="1"/>
          </p:cNvPicPr>
          <p:nvPr/>
        </p:nvPicPr>
        <p:blipFill>
          <a:blip r:embed="rId1"/>
          <a:stretch>
            <a:fillRect/>
          </a:stretch>
        </p:blipFill>
        <p:spPr>
          <a:xfrm>
            <a:off x="816102" y="1639062"/>
            <a:ext cx="653796" cy="653796"/>
          </a:xfrm>
          <a:prstGeom prst="rect">
            <a:avLst/>
          </a:prstGeom>
        </p:spPr>
      </p:pic>
      <p:sp>
        <p:nvSpPr>
          <p:cNvPr id="4" name="Text 1"/>
          <p:cNvSpPr txBox="1"/>
          <p:nvPr/>
        </p:nvSpPr>
        <p:spPr>
          <a:xfrm>
            <a:off x="548640" y="2788920"/>
            <a:ext cx="11094415" cy="82296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Los hitos son puertas de control</a:t>
            </a:r>
            <a:endParaRPr lang="en-US" sz="3800" dirty="0"/>
          </a:p>
        </p:txBody>
      </p:sp>
      <p:sp>
        <p:nvSpPr>
          <p:cNvPr id="5" name="Text 2"/>
          <p:cNvSpPr txBox="1"/>
          <p:nvPr/>
        </p:nvSpPr>
        <p:spPr>
          <a:xfrm>
            <a:off x="548640" y="3703320"/>
            <a:ext cx="10180015" cy="2011680"/>
          </a:xfrm>
          <a:prstGeom prst="rect">
            <a:avLst/>
          </a:prstGeom>
          <a:noFill/>
          <a:ln/>
        </p:spPr>
        <p:txBody>
          <a:bodyPr wrap="square" lIns="0" tIns="0" rIns="0" bIns="0" rtlCol="0" anchor="t"/>
          <a:lstStyle/>
          <a:p>
            <a:pPr indent="0" marL="0">
              <a:buNone/>
            </a:pPr>
            <a:r>
              <a:rPr lang="en-US" sz="2100" dirty="0">
                <a:solidFill>
                  <a:srgbClr val="C5CAE9"/>
                </a:solidFill>
                <a:latin typeface="Calibri" pitchFamily="34" charset="0"/>
                <a:ea typeface="Calibri" pitchFamily="34" charset="-122"/>
                <a:cs typeface="Calibri" pitchFamily="34" charset="-120"/>
              </a:rPr>
              <a:t>Una fase no debería pasar a la siguiente puerta sin la evidencia de la anterior: sin CWA (H1) no hay PoC (H2); sin PoC no hay CWP bien secuenciados (H3); sin backlog estable (H8) la productividad no mejora.</a:t>
            </a:r>
            <a:endParaRPr lang="en-US" sz="2100" dirty="0"/>
          </a:p>
        </p:txBody>
      </p:sp>
      <p:sp>
        <p:nvSpPr>
          <p:cNvPr id="6" name="Text 3"/>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8C93C9"/>
                </a:solidFill>
                <a:latin typeface="Calibri" pitchFamily="34" charset="0"/>
                <a:ea typeface="Calibri" pitchFamily="34" charset="-122"/>
                <a:cs typeface="Calibri" pitchFamily="34" charset="-120"/>
              </a:rPr>
              <a:t>Aplicación AWP · Hitos</a:t>
            </a:r>
            <a:endParaRPr lang="en-US" sz="1000" dirty="0"/>
          </a:p>
        </p:txBody>
      </p:sp>
      <p:sp>
        <p:nvSpPr>
          <p:cNvPr id="7" name="Text 4"/>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8C93C9"/>
                </a:solidFill>
                <a:latin typeface="Calibri" pitchFamily="34" charset="0"/>
                <a:ea typeface="Calibri" pitchFamily="34" charset="-122"/>
                <a:cs typeface="Calibri" pitchFamily="34" charset="-120"/>
              </a:rPr>
              <a:t>95</a:t>
            </a:r>
            <a:endParaRPr lang="en-US" sz="10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1A1F4B"/>
        </a:solidFill>
      </p:bgPr>
    </p:bg>
    <p:spTree>
      <p:nvGrpSpPr>
        <p:cNvPr id="1" name=""/>
        <p:cNvGrpSpPr/>
        <p:nvPr/>
      </p:nvGrpSpPr>
      <p:grpSpPr>
        <a:xfrm>
          <a:off x="0" y="0"/>
          <a:ext cx="0" cy="0"/>
          <a:chOff x="0" y="0"/>
          <a:chExt cx="0" cy="0"/>
        </a:xfrm>
      </p:grpSpPr>
      <p:sp>
        <p:nvSpPr>
          <p:cNvPr id="2" name="Text 0"/>
          <p:cNvSpPr txBox="1"/>
          <p:nvPr/>
        </p:nvSpPr>
        <p:spPr>
          <a:xfrm>
            <a:off x="548640" y="1188720"/>
            <a:ext cx="2743200" cy="1371600"/>
          </a:xfrm>
          <a:prstGeom prst="rect">
            <a:avLst/>
          </a:prstGeom>
          <a:noFill/>
          <a:ln/>
        </p:spPr>
        <p:txBody>
          <a:bodyPr wrap="square" lIns="0" tIns="0" rIns="0" bIns="0" rtlCol="0" anchor="t"/>
          <a:lstStyle/>
          <a:p>
            <a:pPr indent="0" marL="0">
              <a:buNone/>
            </a:pPr>
            <a:r>
              <a:rPr lang="en-US" sz="9600" b="1" dirty="0">
                <a:solidFill>
                  <a:srgbClr val="FFC107"/>
                </a:solidFill>
                <a:latin typeface="Calibri" pitchFamily="34" charset="0"/>
                <a:ea typeface="Calibri" pitchFamily="34" charset="-122"/>
                <a:cs typeface="Calibri" pitchFamily="34" charset="-120"/>
              </a:rPr>
              <a:t>11</a:t>
            </a:r>
            <a:endParaRPr lang="en-US" sz="9600" dirty="0"/>
          </a:p>
        </p:txBody>
      </p:sp>
      <p:sp>
        <p:nvSpPr>
          <p:cNvPr id="3" name="Text 1"/>
          <p:cNvSpPr txBox="1"/>
          <p:nvPr/>
        </p:nvSpPr>
        <p:spPr>
          <a:xfrm>
            <a:off x="548640" y="2697480"/>
            <a:ext cx="5852160" cy="132588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Editar proyecto y equipo</a:t>
            </a:r>
            <a:endParaRPr lang="en-US" sz="3800" dirty="0"/>
          </a:p>
        </p:txBody>
      </p:sp>
      <p:sp>
        <p:nvSpPr>
          <p:cNvPr id="4" name="Text 2"/>
          <p:cNvSpPr txBox="1"/>
          <p:nvPr/>
        </p:nvSpPr>
        <p:spPr>
          <a:xfrm>
            <a:off x="548640" y="4160520"/>
            <a:ext cx="5486400" cy="1097280"/>
          </a:xfrm>
          <a:prstGeom prst="rect">
            <a:avLst/>
          </a:prstGeom>
          <a:noFill/>
          <a:ln/>
        </p:spPr>
        <p:txBody>
          <a:bodyPr wrap="square" lIns="0" tIns="0" rIns="0" bIns="0" rtlCol="0" anchor="t"/>
          <a:lstStyle/>
          <a:p>
            <a:pPr indent="0" marL="0">
              <a:buNone/>
            </a:pPr>
            <a:r>
              <a:rPr lang="en-US" sz="1800" dirty="0">
                <a:solidFill>
                  <a:srgbClr val="C5CAE9"/>
                </a:solidFill>
                <a:latin typeface="Calibri" pitchFamily="34" charset="0"/>
                <a:ea typeface="Calibri" pitchFamily="34" charset="-122"/>
                <a:cs typeface="Calibri" pitchFamily="34" charset="-120"/>
              </a:rPr>
              <a:t>Datos, fecha de corte, personas y roles, archivar o borrar</a:t>
            </a:r>
            <a:endParaRPr lang="en-US" sz="1800" dirty="0"/>
          </a:p>
        </p:txBody>
      </p:sp>
      <p:sp>
        <p:nvSpPr>
          <p:cNvPr id="5" name="Shape 3"/>
          <p:cNvSpPr/>
          <p:nvPr/>
        </p:nvSpPr>
        <p:spPr>
          <a:xfrm>
            <a:off x="6766560" y="1234440"/>
            <a:ext cx="4892040" cy="4480560"/>
          </a:xfrm>
          <a:prstGeom prst="roundRect">
            <a:avLst>
              <a:gd name="adj" fmla="val 2449"/>
            </a:avLst>
          </a:prstGeom>
          <a:solidFill>
            <a:srgbClr val="252B5E"/>
          </a:solidFill>
          <a:ln w="12700">
            <a:solidFill>
              <a:srgbClr val="3C4488"/>
            </a:solidFill>
            <a:prstDash val="solid"/>
          </a:ln>
        </p:spPr>
      </p:sp>
      <p:sp>
        <p:nvSpPr>
          <p:cNvPr id="6" name="Text 4"/>
          <p:cNvSpPr txBox="1"/>
          <p:nvPr/>
        </p:nvSpPr>
        <p:spPr>
          <a:xfrm>
            <a:off x="7132320" y="1508760"/>
            <a:ext cx="4206240" cy="320040"/>
          </a:xfrm>
          <a:prstGeom prst="rect">
            <a:avLst/>
          </a:prstGeom>
          <a:noFill/>
          <a:ln/>
        </p:spPr>
        <p:txBody>
          <a:bodyPr wrap="square" lIns="0" tIns="0" rIns="0" bIns="0" rtlCol="0" anchor="t"/>
          <a:lstStyle/>
          <a:p>
            <a:pPr indent="0" marL="0">
              <a:buNone/>
            </a:pPr>
            <a:r>
              <a:rPr lang="en-US" sz="1200" b="1" spc="200" kern="0" dirty="0">
                <a:solidFill>
                  <a:srgbClr val="FFC107"/>
                </a:solidFill>
                <a:latin typeface="Calibri" pitchFamily="34" charset="0"/>
                <a:ea typeface="Calibri" pitchFamily="34" charset="-122"/>
                <a:cs typeface="Calibri" pitchFamily="34" charset="-120"/>
              </a:rPr>
              <a:t>EN ESTA SECCIÓN</a:t>
            </a:r>
            <a:endParaRPr lang="en-US" sz="1200" dirty="0"/>
          </a:p>
        </p:txBody>
      </p:sp>
      <p:sp>
        <p:nvSpPr>
          <p:cNvPr id="7" name="Shape 5"/>
          <p:cNvSpPr/>
          <p:nvPr/>
        </p:nvSpPr>
        <p:spPr>
          <a:xfrm>
            <a:off x="7178040" y="2103120"/>
            <a:ext cx="146304" cy="146304"/>
          </a:xfrm>
          <a:prstGeom prst="ellipse">
            <a:avLst/>
          </a:prstGeom>
          <a:solidFill>
            <a:srgbClr val="FFC107"/>
          </a:solidFill>
          <a:ln w="12700">
            <a:solidFill>
              <a:srgbClr val="FFC107"/>
            </a:solidFill>
            <a:prstDash val="solid"/>
          </a:ln>
        </p:spPr>
      </p:sp>
      <p:sp>
        <p:nvSpPr>
          <p:cNvPr id="8" name="Text 6"/>
          <p:cNvSpPr txBox="1"/>
          <p:nvPr/>
        </p:nvSpPr>
        <p:spPr>
          <a:xfrm>
            <a:off x="7498080" y="2011680"/>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Datos del proyecto y fecha de corte</a:t>
            </a:r>
            <a:endParaRPr lang="en-US" sz="1700" dirty="0"/>
          </a:p>
        </p:txBody>
      </p:sp>
      <p:sp>
        <p:nvSpPr>
          <p:cNvPr id="9" name="Shape 7"/>
          <p:cNvSpPr/>
          <p:nvPr/>
        </p:nvSpPr>
        <p:spPr>
          <a:xfrm>
            <a:off x="7178040" y="2816352"/>
            <a:ext cx="146304" cy="146304"/>
          </a:xfrm>
          <a:prstGeom prst="ellipse">
            <a:avLst/>
          </a:prstGeom>
          <a:solidFill>
            <a:srgbClr val="FFC107"/>
          </a:solidFill>
          <a:ln w="12700">
            <a:solidFill>
              <a:srgbClr val="FFC107"/>
            </a:solidFill>
            <a:prstDash val="solid"/>
          </a:ln>
        </p:spPr>
      </p:sp>
      <p:sp>
        <p:nvSpPr>
          <p:cNvPr id="10" name="Text 8"/>
          <p:cNvSpPr txBox="1"/>
          <p:nvPr/>
        </p:nvSpPr>
        <p:spPr>
          <a:xfrm>
            <a:off x="7498080" y="2724912"/>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Equipo AWP</a:t>
            </a:r>
            <a:endParaRPr lang="en-US" sz="1700" dirty="0"/>
          </a:p>
        </p:txBody>
      </p:sp>
      <p:sp>
        <p:nvSpPr>
          <p:cNvPr id="11" name="Shape 9"/>
          <p:cNvSpPr/>
          <p:nvPr/>
        </p:nvSpPr>
        <p:spPr>
          <a:xfrm>
            <a:off x="7178040" y="3529584"/>
            <a:ext cx="146304" cy="146304"/>
          </a:xfrm>
          <a:prstGeom prst="ellipse">
            <a:avLst/>
          </a:prstGeom>
          <a:solidFill>
            <a:srgbClr val="FFC107"/>
          </a:solidFill>
          <a:ln w="12700">
            <a:solidFill>
              <a:srgbClr val="FFC107"/>
            </a:solidFill>
            <a:prstDash val="solid"/>
          </a:ln>
        </p:spPr>
      </p:sp>
      <p:sp>
        <p:nvSpPr>
          <p:cNvPr id="12" name="Text 10"/>
          <p:cNvSpPr txBox="1"/>
          <p:nvPr/>
        </p:nvSpPr>
        <p:spPr>
          <a:xfrm>
            <a:off x="7498080" y="3438144"/>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Regla de 1 planificador por cada 50 trabajadores</a:t>
            </a:r>
            <a:endParaRPr lang="en-US" sz="1700" dirty="0"/>
          </a:p>
        </p:txBody>
      </p:sp>
      <p:sp>
        <p:nvSpPr>
          <p:cNvPr id="13" name="Shape 11"/>
          <p:cNvSpPr/>
          <p:nvPr/>
        </p:nvSpPr>
        <p:spPr>
          <a:xfrm>
            <a:off x="7178040" y="4242816"/>
            <a:ext cx="146304" cy="146304"/>
          </a:xfrm>
          <a:prstGeom prst="ellipse">
            <a:avLst/>
          </a:prstGeom>
          <a:solidFill>
            <a:srgbClr val="FFC107"/>
          </a:solidFill>
          <a:ln w="12700">
            <a:solidFill>
              <a:srgbClr val="FFC107"/>
            </a:solidFill>
            <a:prstDash val="solid"/>
          </a:ln>
        </p:spPr>
      </p:sp>
      <p:sp>
        <p:nvSpPr>
          <p:cNvPr id="14" name="Text 12"/>
          <p:cNvSpPr txBox="1"/>
          <p:nvPr/>
        </p:nvSpPr>
        <p:spPr>
          <a:xfrm>
            <a:off x="7498080" y="4151376"/>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Archivar o borrar</a:t>
            </a:r>
            <a:endParaRPr lang="en-US" sz="1700" dirty="0"/>
          </a:p>
        </p:txBody>
      </p:sp>
      <p:sp>
        <p:nvSpPr>
          <p:cNvPr id="15" name="Text 13"/>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8C93C9"/>
                </a:solidFill>
                <a:latin typeface="Calibri" pitchFamily="34" charset="0"/>
                <a:ea typeface="Calibri" pitchFamily="34" charset="-122"/>
                <a:cs typeface="Calibri" pitchFamily="34" charset="-120"/>
              </a:rPr>
              <a:t>Aplicación AWP · Editar proyecto y equipo</a:t>
            </a:r>
            <a:endParaRPr lang="en-US" sz="1000" dirty="0"/>
          </a:p>
        </p:txBody>
      </p:sp>
      <p:sp>
        <p:nvSpPr>
          <p:cNvPr id="16" name="Text 14"/>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8C93C9"/>
                </a:solidFill>
                <a:latin typeface="Calibri" pitchFamily="34" charset="0"/>
                <a:ea typeface="Calibri" pitchFamily="34" charset="-122"/>
                <a:cs typeface="Calibri" pitchFamily="34" charset="-120"/>
              </a:rPr>
              <a:t>96</a:t>
            </a:r>
            <a:endParaRPr lang="en-US" sz="10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Datos del proyecto y fecha de corte</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Pestaña «Datos» de «Editar proyecto»</a:t>
            </a:r>
            <a:endParaRPr lang="en-US" sz="1500" dirty="0"/>
          </a:p>
        </p:txBody>
      </p:sp>
      <p:sp>
        <p:nvSpPr>
          <p:cNvPr id="4" name="Shape 2"/>
          <p:cNvSpPr/>
          <p:nvPr/>
        </p:nvSpPr>
        <p:spPr>
          <a:xfrm>
            <a:off x="4562856" y="1855460"/>
            <a:ext cx="7135063" cy="4061479"/>
          </a:xfrm>
          <a:prstGeom prst="roundRect">
            <a:avLst>
              <a:gd name="adj" fmla="val 1801"/>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editar_datos.jpg">    </p:cNvPr>
          <p:cNvPicPr>
            <a:picLocks noChangeAspect="1"/>
          </p:cNvPicPr>
          <p:nvPr/>
        </p:nvPicPr>
        <p:blipFill>
          <a:blip r:embed="rId1"/>
          <a:stretch>
            <a:fillRect/>
          </a:stretch>
        </p:blipFill>
        <p:spPr>
          <a:xfrm>
            <a:off x="4617720" y="1910324"/>
            <a:ext cx="7025335" cy="3951751"/>
          </a:xfrm>
          <a:prstGeom prst="rect">
            <a:avLst/>
          </a:prstGeom>
        </p:spPr>
      </p:pic>
      <p:sp>
        <p:nvSpPr>
          <p:cNvPr id="6" name="Shape 3"/>
          <p:cNvSpPr/>
          <p:nvPr/>
        </p:nvSpPr>
        <p:spPr>
          <a:xfrm>
            <a:off x="548640"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643280" y="1685696"/>
            <a:ext cx="231343" cy="231343"/>
          </a:xfrm>
          <a:prstGeom prst="rect">
            <a:avLst/>
          </a:prstGeom>
        </p:spPr>
      </p:pic>
      <p:sp>
        <p:nvSpPr>
          <p:cNvPr id="8" name="Text 4"/>
          <p:cNvSpPr txBox="1"/>
          <p:nvPr/>
        </p:nvSpPr>
        <p:spPr>
          <a:xfrm>
            <a:off x="1133856" y="1572768"/>
            <a:ext cx="3209544" cy="149656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Todos los datos generales</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Los mismos del paso 1 del asistente.</a:t>
            </a:r>
            <a:endParaRPr lang="en-US" sz="1500" dirty="0"/>
          </a:p>
        </p:txBody>
      </p:sp>
      <p:sp>
        <p:nvSpPr>
          <p:cNvPr id="9" name="Shape 5"/>
          <p:cNvSpPr/>
          <p:nvPr/>
        </p:nvSpPr>
        <p:spPr>
          <a:xfrm>
            <a:off x="548640" y="3160776"/>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643280" y="3255416"/>
            <a:ext cx="231343" cy="231343"/>
          </a:xfrm>
          <a:prstGeom prst="rect">
            <a:avLst/>
          </a:prstGeom>
        </p:spPr>
      </p:pic>
      <p:sp>
        <p:nvSpPr>
          <p:cNvPr id="11" name="Text 6"/>
          <p:cNvSpPr txBox="1"/>
          <p:nvPr/>
        </p:nvSpPr>
        <p:spPr>
          <a:xfrm>
            <a:off x="1133856" y="3142488"/>
            <a:ext cx="3209544" cy="149656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Fecha de corte</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Vacía = hoy. Úsala para ver el proyecto «como estaba» en una fecha, por ejemplo al preparar un informe mensual.</a:t>
            </a:r>
            <a:endParaRPr lang="en-US" sz="1500" dirty="0"/>
          </a:p>
        </p:txBody>
      </p:sp>
      <p:sp>
        <p:nvSpPr>
          <p:cNvPr id="12" name="Shape 7"/>
          <p:cNvSpPr/>
          <p:nvPr/>
        </p:nvSpPr>
        <p:spPr>
          <a:xfrm>
            <a:off x="548640" y="4730496"/>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643280" y="4825136"/>
            <a:ext cx="231343" cy="231343"/>
          </a:xfrm>
          <a:prstGeom prst="rect">
            <a:avLst/>
          </a:prstGeom>
        </p:spPr>
      </p:pic>
      <p:sp>
        <p:nvSpPr>
          <p:cNvPr id="14" name="Text 8"/>
          <p:cNvSpPr txBox="1"/>
          <p:nvPr/>
        </p:nvSpPr>
        <p:spPr>
          <a:xfrm>
            <a:off x="1133856" y="4712208"/>
            <a:ext cx="3209544" cy="149656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Última modificación</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Quién y cuándo, al pie del formulario.</a:t>
            </a:r>
            <a:endParaRPr lang="en-US" sz="1500" dirty="0"/>
          </a:p>
        </p:txBody>
      </p:sp>
      <p:sp>
        <p:nvSpPr>
          <p:cNvPr id="15" name="Text 9"/>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Editar proyecto y equipo</a:t>
            </a:r>
            <a:endParaRPr lang="en-US" sz="1000" dirty="0"/>
          </a:p>
        </p:txBody>
      </p:sp>
      <p:sp>
        <p:nvSpPr>
          <p:cNvPr id="16" name="Text 10"/>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97</a:t>
            </a:r>
            <a:endParaRPr lang="en-US" sz="10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Equipo AWP</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Pestaña «Equipo y roles»: las personas del proyecto con su rol</a:t>
            </a:r>
            <a:endParaRPr lang="en-US" sz="1500" dirty="0"/>
          </a:p>
        </p:txBody>
      </p:sp>
      <p:sp>
        <p:nvSpPr>
          <p:cNvPr id="4" name="Shape 2"/>
          <p:cNvSpPr/>
          <p:nvPr/>
        </p:nvSpPr>
        <p:spPr>
          <a:xfrm>
            <a:off x="4562856" y="1855460"/>
            <a:ext cx="7135063" cy="4061479"/>
          </a:xfrm>
          <a:prstGeom prst="roundRect">
            <a:avLst>
              <a:gd name="adj" fmla="val 1801"/>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editar_equipo.jpg">    </p:cNvPr>
          <p:cNvPicPr>
            <a:picLocks noChangeAspect="1"/>
          </p:cNvPicPr>
          <p:nvPr/>
        </p:nvPicPr>
        <p:blipFill>
          <a:blip r:embed="rId1"/>
          <a:stretch>
            <a:fillRect/>
          </a:stretch>
        </p:blipFill>
        <p:spPr>
          <a:xfrm>
            <a:off x="4617720" y="1910324"/>
            <a:ext cx="7025335" cy="3951751"/>
          </a:xfrm>
          <a:prstGeom prst="rect">
            <a:avLst/>
          </a:prstGeom>
        </p:spPr>
      </p:pic>
      <p:sp>
        <p:nvSpPr>
          <p:cNvPr id="6" name="Shape 3"/>
          <p:cNvSpPr/>
          <p:nvPr/>
        </p:nvSpPr>
        <p:spPr>
          <a:xfrm>
            <a:off x="548640"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643280" y="1685696"/>
            <a:ext cx="231343" cy="231343"/>
          </a:xfrm>
          <a:prstGeom prst="rect">
            <a:avLst/>
          </a:prstGeom>
        </p:spPr>
      </p:pic>
      <p:sp>
        <p:nvSpPr>
          <p:cNvPr id="8" name="Text 4"/>
          <p:cNvSpPr txBox="1"/>
          <p:nvPr/>
        </p:nvSpPr>
        <p:spPr>
          <a:xfrm>
            <a:off x="1133856" y="157276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Lista del equipo</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Nombre, rol AWP, organización y correo. Editar o quitar con confirmación.</a:t>
            </a:r>
            <a:endParaRPr lang="en-US" sz="1500" dirty="0"/>
          </a:p>
        </p:txBody>
      </p:sp>
      <p:sp>
        <p:nvSpPr>
          <p:cNvPr id="9" name="Shape 5"/>
          <p:cNvSpPr/>
          <p:nvPr/>
        </p:nvSpPr>
        <p:spPr>
          <a:xfrm>
            <a:off x="548640" y="2768346"/>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643280" y="2862986"/>
            <a:ext cx="231343" cy="231343"/>
          </a:xfrm>
          <a:prstGeom prst="rect">
            <a:avLst/>
          </a:prstGeom>
        </p:spPr>
      </p:pic>
      <p:sp>
        <p:nvSpPr>
          <p:cNvPr id="11" name="Text 6"/>
          <p:cNvSpPr txBox="1"/>
          <p:nvPr/>
        </p:nvSpPr>
        <p:spPr>
          <a:xfrm>
            <a:off x="1133856" y="275005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Aviso de roles clave</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Si falta CHA, LWF o CON, un aviso lo señala.</a:t>
            </a:r>
            <a:endParaRPr lang="en-US" sz="1500" dirty="0"/>
          </a:p>
        </p:txBody>
      </p:sp>
      <p:sp>
        <p:nvSpPr>
          <p:cNvPr id="12" name="Shape 7"/>
          <p:cNvSpPr/>
          <p:nvPr/>
        </p:nvSpPr>
        <p:spPr>
          <a:xfrm>
            <a:off x="548640" y="3945636"/>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643280" y="4040276"/>
            <a:ext cx="231343" cy="231343"/>
          </a:xfrm>
          <a:prstGeom prst="rect">
            <a:avLst/>
          </a:prstGeom>
        </p:spPr>
      </p:pic>
      <p:sp>
        <p:nvSpPr>
          <p:cNvPr id="14" name="Text 8"/>
          <p:cNvSpPr txBox="1"/>
          <p:nvPr/>
        </p:nvSpPr>
        <p:spPr>
          <a:xfrm>
            <a:off x="1133856" y="392734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Roles sin persona</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Se listan al pie para completarlos cuando se definan.</a:t>
            </a:r>
            <a:endParaRPr lang="en-US" sz="1500" dirty="0"/>
          </a:p>
        </p:txBody>
      </p:sp>
      <p:sp>
        <p:nvSpPr>
          <p:cNvPr id="15" name="Shape 9"/>
          <p:cNvSpPr/>
          <p:nvPr/>
        </p:nvSpPr>
        <p:spPr>
          <a:xfrm>
            <a:off x="548640" y="5122926"/>
            <a:ext cx="420624" cy="420624"/>
          </a:xfrm>
          <a:prstGeom prst="ellipse">
            <a:avLst/>
          </a:prstGeom>
          <a:solidFill>
            <a:srgbClr val="E8EAF6"/>
          </a:solidFill>
          <a:ln w="12700">
            <a:solidFill>
              <a:srgbClr val="E8EAF6"/>
            </a:solidFill>
            <a:prstDash val="solid"/>
          </a:ln>
        </p:spPr>
      </p:sp>
      <p:pic>
        <p:nvPicPr>
          <p:cNvPr id="16" name="Image 4" descr="preencoded.png">    </p:cNvPr>
          <p:cNvPicPr>
            <a:picLocks noChangeAspect="1"/>
          </p:cNvPicPr>
          <p:nvPr/>
        </p:nvPicPr>
        <p:blipFill>
          <a:blip r:embed="rId5"/>
          <a:stretch>
            <a:fillRect/>
          </a:stretch>
        </p:blipFill>
        <p:spPr>
          <a:xfrm>
            <a:off x="643280" y="5217566"/>
            <a:ext cx="231343" cy="231343"/>
          </a:xfrm>
          <a:prstGeom prst="rect">
            <a:avLst/>
          </a:prstGeom>
        </p:spPr>
      </p:pic>
      <p:sp>
        <p:nvSpPr>
          <p:cNvPr id="17" name="Text 10"/>
          <p:cNvSpPr txBox="1"/>
          <p:nvPr/>
        </p:nvSpPr>
        <p:spPr>
          <a:xfrm>
            <a:off x="1133856" y="510463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Agregar persona</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Nombre, rol, organización, correo, teléfono y si está activa.</a:t>
            </a:r>
            <a:endParaRPr lang="en-US" sz="1500" dirty="0"/>
          </a:p>
        </p:txBody>
      </p:sp>
      <p:sp>
        <p:nvSpPr>
          <p:cNvPr id="18" name="Text 11"/>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Editar proyecto y equipo</a:t>
            </a:r>
            <a:endParaRPr lang="en-US" sz="1000" dirty="0"/>
          </a:p>
        </p:txBody>
      </p:sp>
      <p:sp>
        <p:nvSpPr>
          <p:cNvPr id="19" name="Text 12"/>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98</a:t>
            </a:r>
            <a:endParaRPr lang="en-US" sz="10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Dimensionar a los planificadores</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Recomendación del kit: 1 planificador de frente de trabajo por cada 50 trabajadores directos</a:t>
            </a:r>
            <a:endParaRPr lang="en-US" sz="1500" dirty="0"/>
          </a:p>
        </p:txBody>
      </p:sp>
      <p:sp>
        <p:nvSpPr>
          <p:cNvPr id="4" name="Shape 2"/>
          <p:cNvSpPr/>
          <p:nvPr/>
        </p:nvSpPr>
        <p:spPr>
          <a:xfrm>
            <a:off x="548640" y="1600200"/>
            <a:ext cx="3515258" cy="4572000"/>
          </a:xfrm>
          <a:prstGeom prst="roundRect">
            <a:avLst>
              <a:gd name="adj" fmla="val 2601"/>
            </a:avLst>
          </a:prstGeom>
          <a:solidFill>
            <a:srgbClr val="F5F6FB"/>
          </a:solidFill>
          <a:ln w="9525">
            <a:solidFill>
              <a:srgbClr val="E3E5EE"/>
            </a:solidFill>
            <a:prstDash val="solid"/>
          </a:ln>
        </p:spPr>
      </p:sp>
      <p:sp>
        <p:nvSpPr>
          <p:cNvPr id="5" name="Text 3"/>
          <p:cNvSpPr txBox="1"/>
          <p:nvPr/>
        </p:nvSpPr>
        <p:spPr>
          <a:xfrm>
            <a:off x="777240" y="1920240"/>
            <a:ext cx="3058058" cy="1097280"/>
          </a:xfrm>
          <a:prstGeom prst="rect">
            <a:avLst/>
          </a:prstGeom>
          <a:noFill/>
          <a:ln/>
        </p:spPr>
        <p:txBody>
          <a:bodyPr wrap="square" lIns="0" tIns="0" rIns="0" bIns="0" rtlCol="0" anchor="ctr"/>
          <a:lstStyle/>
          <a:p>
            <a:pPr indent="0" marL="0">
              <a:buNone/>
            </a:pPr>
            <a:r>
              <a:rPr lang="en-US" sz="5800" b="1" dirty="0">
                <a:solidFill>
                  <a:srgbClr val="3F51B5"/>
                </a:solidFill>
                <a:latin typeface="Calibri" pitchFamily="34" charset="0"/>
                <a:ea typeface="Calibri" pitchFamily="34" charset="-122"/>
                <a:cs typeface="Calibri" pitchFamily="34" charset="-120"/>
              </a:rPr>
              <a:t>240</a:t>
            </a:r>
            <a:endParaRPr lang="en-US" sz="5800" dirty="0"/>
          </a:p>
        </p:txBody>
      </p:sp>
      <p:sp>
        <p:nvSpPr>
          <p:cNvPr id="6" name="Text 4"/>
          <p:cNvSpPr txBox="1"/>
          <p:nvPr/>
        </p:nvSpPr>
        <p:spPr>
          <a:xfrm>
            <a:off x="777240" y="3108960"/>
            <a:ext cx="3058058" cy="685800"/>
          </a:xfrm>
          <a:prstGeom prst="rect">
            <a:avLst/>
          </a:prstGeom>
          <a:noFill/>
          <a:ln/>
        </p:spPr>
        <p:txBody>
          <a:bodyPr wrap="square" lIns="0" tIns="0" rIns="0" bIns="0" rtlCol="0" anchor="t">
            <a:normAutofit/>
          </a:bodyPr>
          <a:lstStyle/>
          <a:p>
            <a:pPr indent="0" marL="0">
              <a:buNone/>
            </a:pPr>
            <a:r>
              <a:rPr lang="en-US" sz="1600" b="1" dirty="0">
                <a:solidFill>
                  <a:srgbClr val="1B1C22"/>
                </a:solidFill>
                <a:latin typeface="Calibri" pitchFamily="34" charset="0"/>
                <a:ea typeface="Calibri" pitchFamily="34" charset="-122"/>
                <a:cs typeface="Calibri" pitchFamily="34" charset="-120"/>
              </a:rPr>
              <a:t>pico de personal de la Fase 1</a:t>
            </a:r>
            <a:endParaRPr lang="en-US" sz="1600" dirty="0"/>
          </a:p>
        </p:txBody>
      </p:sp>
      <p:sp>
        <p:nvSpPr>
          <p:cNvPr id="7" name="Text 5"/>
          <p:cNvSpPr txBox="1"/>
          <p:nvPr/>
        </p:nvSpPr>
        <p:spPr>
          <a:xfrm>
            <a:off x="777240" y="3840480"/>
            <a:ext cx="3058058" cy="21945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Se registra en la fase (módulo Fases).</a:t>
            </a:r>
            <a:endParaRPr lang="en-US" sz="1500" dirty="0"/>
          </a:p>
        </p:txBody>
      </p:sp>
      <p:sp>
        <p:nvSpPr>
          <p:cNvPr id="8" name="Shape 6"/>
          <p:cNvSpPr/>
          <p:nvPr/>
        </p:nvSpPr>
        <p:spPr>
          <a:xfrm>
            <a:off x="4338218" y="1600200"/>
            <a:ext cx="3515258" cy="4572000"/>
          </a:xfrm>
          <a:prstGeom prst="roundRect">
            <a:avLst>
              <a:gd name="adj" fmla="val 2601"/>
            </a:avLst>
          </a:prstGeom>
          <a:solidFill>
            <a:srgbClr val="F5F6FB"/>
          </a:solidFill>
          <a:ln w="9525">
            <a:solidFill>
              <a:srgbClr val="E3E5EE"/>
            </a:solidFill>
            <a:prstDash val="solid"/>
          </a:ln>
        </p:spPr>
      </p:sp>
      <p:sp>
        <p:nvSpPr>
          <p:cNvPr id="9" name="Text 7"/>
          <p:cNvSpPr txBox="1"/>
          <p:nvPr/>
        </p:nvSpPr>
        <p:spPr>
          <a:xfrm>
            <a:off x="4566818" y="1920240"/>
            <a:ext cx="3058058" cy="1097280"/>
          </a:xfrm>
          <a:prstGeom prst="rect">
            <a:avLst/>
          </a:prstGeom>
          <a:noFill/>
          <a:ln/>
        </p:spPr>
        <p:txBody>
          <a:bodyPr wrap="square" lIns="0" tIns="0" rIns="0" bIns="0" rtlCol="0" anchor="ctr"/>
          <a:lstStyle/>
          <a:p>
            <a:pPr indent="0" marL="0">
              <a:buNone/>
            </a:pPr>
            <a:r>
              <a:rPr lang="en-US" sz="4600" b="1" dirty="0">
                <a:solidFill>
                  <a:srgbClr val="3F51B5"/>
                </a:solidFill>
                <a:latin typeface="Calibri" pitchFamily="34" charset="0"/>
                <a:ea typeface="Calibri" pitchFamily="34" charset="-122"/>
                <a:cs typeface="Calibri" pitchFamily="34" charset="-120"/>
              </a:rPr>
              <a:t>÷ 50</a:t>
            </a:r>
            <a:endParaRPr lang="en-US" sz="4600" dirty="0"/>
          </a:p>
        </p:txBody>
      </p:sp>
      <p:sp>
        <p:nvSpPr>
          <p:cNvPr id="10" name="Text 8"/>
          <p:cNvSpPr txBox="1"/>
          <p:nvPr/>
        </p:nvSpPr>
        <p:spPr>
          <a:xfrm>
            <a:off x="4566818" y="3108960"/>
            <a:ext cx="3058058" cy="685800"/>
          </a:xfrm>
          <a:prstGeom prst="rect">
            <a:avLst/>
          </a:prstGeom>
          <a:noFill/>
          <a:ln/>
        </p:spPr>
        <p:txBody>
          <a:bodyPr wrap="square" lIns="0" tIns="0" rIns="0" bIns="0" rtlCol="0" anchor="t">
            <a:normAutofit/>
          </a:bodyPr>
          <a:lstStyle/>
          <a:p>
            <a:pPr indent="0" marL="0">
              <a:buNone/>
            </a:pPr>
            <a:r>
              <a:rPr lang="en-US" sz="1600" b="1" dirty="0">
                <a:solidFill>
                  <a:srgbClr val="1B1C22"/>
                </a:solidFill>
                <a:latin typeface="Calibri" pitchFamily="34" charset="0"/>
                <a:ea typeface="Calibri" pitchFamily="34" charset="-122"/>
                <a:cs typeface="Calibri" pitchFamily="34" charset="-120"/>
              </a:rPr>
              <a:t>trabajadores por planificador</a:t>
            </a:r>
            <a:endParaRPr lang="en-US" sz="1600" dirty="0"/>
          </a:p>
        </p:txBody>
      </p:sp>
      <p:sp>
        <p:nvSpPr>
          <p:cNvPr id="11" name="Text 9"/>
          <p:cNvSpPr txBox="1"/>
          <p:nvPr/>
        </p:nvSpPr>
        <p:spPr>
          <a:xfrm>
            <a:off x="4566818" y="3840480"/>
            <a:ext cx="3058058" cy="21945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Meta del KPI K07: ≤ 55 en la Fase 1 y ≤ 50 en las Fases 2 y 3.</a:t>
            </a:r>
            <a:endParaRPr lang="en-US" sz="1500" dirty="0"/>
          </a:p>
        </p:txBody>
      </p:sp>
      <p:sp>
        <p:nvSpPr>
          <p:cNvPr id="12" name="Shape 10"/>
          <p:cNvSpPr/>
          <p:nvPr/>
        </p:nvSpPr>
        <p:spPr>
          <a:xfrm>
            <a:off x="8127797" y="1600200"/>
            <a:ext cx="3515258" cy="4572000"/>
          </a:xfrm>
          <a:prstGeom prst="roundRect">
            <a:avLst>
              <a:gd name="adj" fmla="val 2601"/>
            </a:avLst>
          </a:prstGeom>
          <a:solidFill>
            <a:srgbClr val="F5F6FB"/>
          </a:solidFill>
          <a:ln w="9525">
            <a:solidFill>
              <a:srgbClr val="E3E5EE"/>
            </a:solidFill>
            <a:prstDash val="solid"/>
          </a:ln>
        </p:spPr>
      </p:sp>
      <p:sp>
        <p:nvSpPr>
          <p:cNvPr id="13" name="Text 11"/>
          <p:cNvSpPr txBox="1"/>
          <p:nvPr/>
        </p:nvSpPr>
        <p:spPr>
          <a:xfrm>
            <a:off x="8356397" y="1920240"/>
            <a:ext cx="3058058" cy="1097280"/>
          </a:xfrm>
          <a:prstGeom prst="rect">
            <a:avLst/>
          </a:prstGeom>
          <a:noFill/>
          <a:ln/>
        </p:spPr>
        <p:txBody>
          <a:bodyPr wrap="square" lIns="0" tIns="0" rIns="0" bIns="0" rtlCol="0" anchor="ctr"/>
          <a:lstStyle/>
          <a:p>
            <a:pPr indent="0" marL="0">
              <a:buNone/>
            </a:pPr>
            <a:r>
              <a:rPr lang="en-US" sz="5800" b="1" dirty="0">
                <a:solidFill>
                  <a:srgbClr val="3F51B5"/>
                </a:solidFill>
                <a:latin typeface="Calibri" pitchFamily="34" charset="0"/>
                <a:ea typeface="Calibri" pitchFamily="34" charset="-122"/>
                <a:cs typeface="Calibri" pitchFamily="34" charset="-120"/>
              </a:rPr>
              <a:t>5</a:t>
            </a:r>
            <a:endParaRPr lang="en-US" sz="5800" dirty="0"/>
          </a:p>
        </p:txBody>
      </p:sp>
      <p:sp>
        <p:nvSpPr>
          <p:cNvPr id="14" name="Text 12"/>
          <p:cNvSpPr txBox="1"/>
          <p:nvPr/>
        </p:nvSpPr>
        <p:spPr>
          <a:xfrm>
            <a:off x="8356397" y="3108960"/>
            <a:ext cx="3058058" cy="685800"/>
          </a:xfrm>
          <a:prstGeom prst="rect">
            <a:avLst/>
          </a:prstGeom>
          <a:noFill/>
          <a:ln/>
        </p:spPr>
        <p:txBody>
          <a:bodyPr wrap="square" lIns="0" tIns="0" rIns="0" bIns="0" rtlCol="0" anchor="t">
            <a:normAutofit/>
          </a:bodyPr>
          <a:lstStyle/>
          <a:p>
            <a:pPr indent="0" marL="0">
              <a:buNone/>
            </a:pPr>
            <a:r>
              <a:rPr lang="en-US" sz="1600" b="1" dirty="0">
                <a:solidFill>
                  <a:srgbClr val="1B1C22"/>
                </a:solidFill>
                <a:latin typeface="Calibri" pitchFamily="34" charset="0"/>
                <a:ea typeface="Calibri" pitchFamily="34" charset="-122"/>
                <a:cs typeface="Calibri" pitchFamily="34" charset="-120"/>
              </a:rPr>
              <a:t>planificadores recomendados</a:t>
            </a:r>
            <a:endParaRPr lang="en-US" sz="1600" dirty="0"/>
          </a:p>
        </p:txBody>
      </p:sp>
      <p:sp>
        <p:nvSpPr>
          <p:cNvPr id="15" name="Text 13"/>
          <p:cNvSpPr txBox="1"/>
          <p:nvPr/>
        </p:nvSpPr>
        <p:spPr>
          <a:xfrm>
            <a:off x="8356397" y="3840480"/>
            <a:ext cx="3058058" cy="21945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La pestaña Equipo compara con los que tienes registrados.</a:t>
            </a:r>
            <a:endParaRPr lang="en-US" sz="1500" dirty="0"/>
          </a:p>
        </p:txBody>
      </p:sp>
      <p:sp>
        <p:nvSpPr>
          <p:cNvPr id="16" name="Text 14"/>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Editar proyecto y equipo</a:t>
            </a:r>
            <a:endParaRPr lang="en-US" sz="1000" dirty="0"/>
          </a:p>
        </p:txBody>
      </p:sp>
      <p:sp>
        <p:nvSpPr>
          <p:cNvPr id="17" name="Text 15"/>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99</a:t>
            </a:r>
            <a:endParaRPr lang="en-US" sz="10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Archivar o borrar</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Pestaña «Archivar / borrar»</a:t>
            </a:r>
            <a:endParaRPr lang="en-US" sz="1500" dirty="0"/>
          </a:p>
        </p:txBody>
      </p:sp>
      <p:sp>
        <p:nvSpPr>
          <p:cNvPr id="4" name="Shape 2"/>
          <p:cNvSpPr/>
          <p:nvPr/>
        </p:nvSpPr>
        <p:spPr>
          <a:xfrm>
            <a:off x="4562856" y="1855460"/>
            <a:ext cx="7135063" cy="4061479"/>
          </a:xfrm>
          <a:prstGeom prst="roundRect">
            <a:avLst>
              <a:gd name="adj" fmla="val 1801"/>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editar_archivar.jpg">    </p:cNvPr>
          <p:cNvPicPr>
            <a:picLocks noChangeAspect="1"/>
          </p:cNvPicPr>
          <p:nvPr/>
        </p:nvPicPr>
        <p:blipFill>
          <a:blip r:embed="rId1"/>
          <a:stretch>
            <a:fillRect/>
          </a:stretch>
        </p:blipFill>
        <p:spPr>
          <a:xfrm>
            <a:off x="4617720" y="1910324"/>
            <a:ext cx="7025335" cy="3951751"/>
          </a:xfrm>
          <a:prstGeom prst="rect">
            <a:avLst/>
          </a:prstGeom>
        </p:spPr>
      </p:pic>
      <p:sp>
        <p:nvSpPr>
          <p:cNvPr id="6" name="Shape 3"/>
          <p:cNvSpPr/>
          <p:nvPr/>
        </p:nvSpPr>
        <p:spPr>
          <a:xfrm>
            <a:off x="548640"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643280" y="1685696"/>
            <a:ext cx="231343" cy="231343"/>
          </a:xfrm>
          <a:prstGeom prst="rect">
            <a:avLst/>
          </a:prstGeom>
        </p:spPr>
      </p:pic>
      <p:sp>
        <p:nvSpPr>
          <p:cNvPr id="8" name="Text 4"/>
          <p:cNvSpPr txBox="1"/>
          <p:nvPr/>
        </p:nvSpPr>
        <p:spPr>
          <a:xfrm>
            <a:off x="1133856" y="1572768"/>
            <a:ext cx="3209544" cy="149656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Archivar</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Oculta el proyecto del portafolio sin perder nada. Útil para proyectos terminados.</a:t>
            </a:r>
            <a:endParaRPr lang="en-US" sz="1500" dirty="0"/>
          </a:p>
        </p:txBody>
      </p:sp>
      <p:sp>
        <p:nvSpPr>
          <p:cNvPr id="9" name="Shape 5"/>
          <p:cNvSpPr/>
          <p:nvPr/>
        </p:nvSpPr>
        <p:spPr>
          <a:xfrm>
            <a:off x="548640" y="3160776"/>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643280" y="3255416"/>
            <a:ext cx="231343" cy="231343"/>
          </a:xfrm>
          <a:prstGeom prst="rect">
            <a:avLst/>
          </a:prstGeom>
        </p:spPr>
      </p:pic>
      <p:sp>
        <p:nvSpPr>
          <p:cNvPr id="11" name="Text 6"/>
          <p:cNvSpPr txBox="1"/>
          <p:nvPr/>
        </p:nvSpPr>
        <p:spPr>
          <a:xfrm>
            <a:off x="1133856" y="3142488"/>
            <a:ext cx="3209544" cy="149656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Borrar definitivamente</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Borra el proyecto y todos sus datos (fases, hitos, checklist…). No se puede deshacer.</a:t>
            </a:r>
            <a:endParaRPr lang="en-US" sz="1500" dirty="0"/>
          </a:p>
        </p:txBody>
      </p:sp>
      <p:sp>
        <p:nvSpPr>
          <p:cNvPr id="12" name="Shape 7"/>
          <p:cNvSpPr/>
          <p:nvPr/>
        </p:nvSpPr>
        <p:spPr>
          <a:xfrm>
            <a:off x="548640" y="4730496"/>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643280" y="4825136"/>
            <a:ext cx="231343" cy="231343"/>
          </a:xfrm>
          <a:prstGeom prst="rect">
            <a:avLst/>
          </a:prstGeom>
        </p:spPr>
      </p:pic>
      <p:sp>
        <p:nvSpPr>
          <p:cNvPr id="14" name="Text 8"/>
          <p:cNvSpPr txBox="1"/>
          <p:nvPr/>
        </p:nvSpPr>
        <p:spPr>
          <a:xfrm>
            <a:off x="1133856" y="4712208"/>
            <a:ext cx="3209544" cy="149656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Confirmación fuerte</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Para borrar hay que escribir el código del proyecto. Solo el propietario puede hacerlo.</a:t>
            </a:r>
            <a:endParaRPr lang="en-US" sz="1500" dirty="0"/>
          </a:p>
        </p:txBody>
      </p:sp>
      <p:sp>
        <p:nvSpPr>
          <p:cNvPr id="15" name="Text 9"/>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Editar proyecto y equipo</a:t>
            </a:r>
            <a:endParaRPr lang="en-US" sz="1000" dirty="0"/>
          </a:p>
        </p:txBody>
      </p:sp>
      <p:sp>
        <p:nvSpPr>
          <p:cNvPr id="16" name="Text 10"/>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100</a:t>
            </a:r>
            <a:endParaRPr lang="en-US" sz="10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1A1F4B"/>
        </a:solidFill>
      </p:bgPr>
    </p:bg>
    <p:spTree>
      <p:nvGrpSpPr>
        <p:cNvPr id="1" name=""/>
        <p:cNvGrpSpPr/>
        <p:nvPr/>
      </p:nvGrpSpPr>
      <p:grpSpPr>
        <a:xfrm>
          <a:off x="0" y="0"/>
          <a:ext cx="0" cy="0"/>
          <a:chOff x="0" y="0"/>
          <a:chExt cx="0" cy="0"/>
        </a:xfrm>
      </p:grpSpPr>
      <p:sp>
        <p:nvSpPr>
          <p:cNvPr id="2" name="Text 0"/>
          <p:cNvSpPr txBox="1"/>
          <p:nvPr/>
        </p:nvSpPr>
        <p:spPr>
          <a:xfrm>
            <a:off x="548640" y="1188720"/>
            <a:ext cx="2743200" cy="1371600"/>
          </a:xfrm>
          <a:prstGeom prst="rect">
            <a:avLst/>
          </a:prstGeom>
          <a:noFill/>
          <a:ln/>
        </p:spPr>
        <p:txBody>
          <a:bodyPr wrap="square" lIns="0" tIns="0" rIns="0" bIns="0" rtlCol="0" anchor="t"/>
          <a:lstStyle/>
          <a:p>
            <a:pPr indent="0" marL="0">
              <a:buNone/>
            </a:pPr>
            <a:r>
              <a:rPr lang="en-US" sz="9600" b="1" dirty="0">
                <a:solidFill>
                  <a:srgbClr val="FFC107"/>
                </a:solidFill>
                <a:latin typeface="Calibri" pitchFamily="34" charset="0"/>
                <a:ea typeface="Calibri" pitchFamily="34" charset="-122"/>
                <a:cs typeface="Calibri" pitchFamily="34" charset="-120"/>
              </a:rPr>
              <a:t>12</a:t>
            </a:r>
            <a:endParaRPr lang="en-US" sz="9600" dirty="0"/>
          </a:p>
        </p:txBody>
      </p:sp>
      <p:sp>
        <p:nvSpPr>
          <p:cNvPr id="3" name="Text 1"/>
          <p:cNvSpPr txBox="1"/>
          <p:nvPr/>
        </p:nvSpPr>
        <p:spPr>
          <a:xfrm>
            <a:off x="548640" y="2697480"/>
            <a:ext cx="5852160" cy="132588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Aprender mientras usas</a:t>
            </a:r>
            <a:endParaRPr lang="en-US" sz="3800" dirty="0"/>
          </a:p>
        </p:txBody>
      </p:sp>
      <p:sp>
        <p:nvSpPr>
          <p:cNvPr id="4" name="Text 2"/>
          <p:cNvSpPr txBox="1"/>
          <p:nvPr/>
        </p:nvSpPr>
        <p:spPr>
          <a:xfrm>
            <a:off x="548640" y="4160520"/>
            <a:ext cx="5486400" cy="1097280"/>
          </a:xfrm>
          <a:prstGeom prst="rect">
            <a:avLst/>
          </a:prstGeom>
          <a:noFill/>
          <a:ln/>
        </p:spPr>
        <p:txBody>
          <a:bodyPr wrap="square" lIns="0" tIns="0" rIns="0" bIns="0" rtlCol="0" anchor="t"/>
          <a:lstStyle/>
          <a:p>
            <a:pPr indent="0" marL="0">
              <a:buNone/>
            </a:pPr>
            <a:r>
              <a:rPr lang="en-US" sz="1800" dirty="0">
                <a:solidFill>
                  <a:srgbClr val="C5CAE9"/>
                </a:solidFill>
                <a:latin typeface="Calibri" pitchFamily="34" charset="0"/>
                <a:ea typeface="Calibri" pitchFamily="34" charset="-122"/>
                <a:cs typeface="Calibri" pitchFamily="34" charset="-120"/>
              </a:rPr>
              <a:t>Ayudas didácticas, modo oscuro y uso en el celular</a:t>
            </a:r>
            <a:endParaRPr lang="en-US" sz="1800" dirty="0"/>
          </a:p>
        </p:txBody>
      </p:sp>
      <p:sp>
        <p:nvSpPr>
          <p:cNvPr id="5" name="Shape 3"/>
          <p:cNvSpPr/>
          <p:nvPr/>
        </p:nvSpPr>
        <p:spPr>
          <a:xfrm>
            <a:off x="6766560" y="1234440"/>
            <a:ext cx="4892040" cy="4480560"/>
          </a:xfrm>
          <a:prstGeom prst="roundRect">
            <a:avLst>
              <a:gd name="adj" fmla="val 2449"/>
            </a:avLst>
          </a:prstGeom>
          <a:solidFill>
            <a:srgbClr val="252B5E"/>
          </a:solidFill>
          <a:ln w="12700">
            <a:solidFill>
              <a:srgbClr val="3C4488"/>
            </a:solidFill>
            <a:prstDash val="solid"/>
          </a:ln>
        </p:spPr>
      </p:sp>
      <p:sp>
        <p:nvSpPr>
          <p:cNvPr id="6" name="Text 4"/>
          <p:cNvSpPr txBox="1"/>
          <p:nvPr/>
        </p:nvSpPr>
        <p:spPr>
          <a:xfrm>
            <a:off x="7132320" y="1508760"/>
            <a:ext cx="4206240" cy="320040"/>
          </a:xfrm>
          <a:prstGeom prst="rect">
            <a:avLst/>
          </a:prstGeom>
          <a:noFill/>
          <a:ln/>
        </p:spPr>
        <p:txBody>
          <a:bodyPr wrap="square" lIns="0" tIns="0" rIns="0" bIns="0" rtlCol="0" anchor="t"/>
          <a:lstStyle/>
          <a:p>
            <a:pPr indent="0" marL="0">
              <a:buNone/>
            </a:pPr>
            <a:r>
              <a:rPr lang="en-US" sz="1200" b="1" spc="200" kern="0" dirty="0">
                <a:solidFill>
                  <a:srgbClr val="FFC107"/>
                </a:solidFill>
                <a:latin typeface="Calibri" pitchFamily="34" charset="0"/>
                <a:ea typeface="Calibri" pitchFamily="34" charset="-122"/>
                <a:cs typeface="Calibri" pitchFamily="34" charset="-120"/>
              </a:rPr>
              <a:t>EN ESTA SECCIÓN</a:t>
            </a:r>
            <a:endParaRPr lang="en-US" sz="1200" dirty="0"/>
          </a:p>
        </p:txBody>
      </p:sp>
      <p:sp>
        <p:nvSpPr>
          <p:cNvPr id="7" name="Shape 5"/>
          <p:cNvSpPr/>
          <p:nvPr/>
        </p:nvSpPr>
        <p:spPr>
          <a:xfrm>
            <a:off x="7178040" y="2103120"/>
            <a:ext cx="146304" cy="146304"/>
          </a:xfrm>
          <a:prstGeom prst="ellipse">
            <a:avLst/>
          </a:prstGeom>
          <a:solidFill>
            <a:srgbClr val="FFC107"/>
          </a:solidFill>
          <a:ln w="12700">
            <a:solidFill>
              <a:srgbClr val="FFC107"/>
            </a:solidFill>
            <a:prstDash val="solid"/>
          </a:ln>
        </p:spPr>
      </p:sp>
      <p:sp>
        <p:nvSpPr>
          <p:cNvPr id="8" name="Text 6"/>
          <p:cNvSpPr txBox="1"/>
          <p:nvPr/>
        </p:nvSpPr>
        <p:spPr>
          <a:xfrm>
            <a:off x="7498080" y="2011680"/>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Glosario al tocar las siglas</a:t>
            </a:r>
            <a:endParaRPr lang="en-US" sz="1700" dirty="0"/>
          </a:p>
        </p:txBody>
      </p:sp>
      <p:sp>
        <p:nvSpPr>
          <p:cNvPr id="9" name="Shape 7"/>
          <p:cNvSpPr/>
          <p:nvPr/>
        </p:nvSpPr>
        <p:spPr>
          <a:xfrm>
            <a:off x="7178040" y="2816352"/>
            <a:ext cx="146304" cy="146304"/>
          </a:xfrm>
          <a:prstGeom prst="ellipse">
            <a:avLst/>
          </a:prstGeom>
          <a:solidFill>
            <a:srgbClr val="FFC107"/>
          </a:solidFill>
          <a:ln w="12700">
            <a:solidFill>
              <a:srgbClr val="FFC107"/>
            </a:solidFill>
            <a:prstDash val="solid"/>
          </a:ln>
        </p:spPr>
      </p:sp>
      <p:sp>
        <p:nvSpPr>
          <p:cNvPr id="10" name="Text 8"/>
          <p:cNvSpPr txBox="1"/>
          <p:nvPr/>
        </p:nvSpPr>
        <p:spPr>
          <a:xfrm>
            <a:off x="7498080" y="2724912"/>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Módulos que llegan y pantallas vacías útiles</a:t>
            </a:r>
            <a:endParaRPr lang="en-US" sz="1700" dirty="0"/>
          </a:p>
        </p:txBody>
      </p:sp>
      <p:sp>
        <p:nvSpPr>
          <p:cNvPr id="11" name="Shape 9"/>
          <p:cNvSpPr/>
          <p:nvPr/>
        </p:nvSpPr>
        <p:spPr>
          <a:xfrm>
            <a:off x="7178040" y="3529584"/>
            <a:ext cx="146304" cy="146304"/>
          </a:xfrm>
          <a:prstGeom prst="ellipse">
            <a:avLst/>
          </a:prstGeom>
          <a:solidFill>
            <a:srgbClr val="FFC107"/>
          </a:solidFill>
          <a:ln w="12700">
            <a:solidFill>
              <a:srgbClr val="FFC107"/>
            </a:solidFill>
            <a:prstDash val="solid"/>
          </a:ln>
        </p:spPr>
      </p:sp>
      <p:sp>
        <p:nvSpPr>
          <p:cNvPr id="12" name="Text 10"/>
          <p:cNvSpPr txBox="1"/>
          <p:nvPr/>
        </p:nvSpPr>
        <p:spPr>
          <a:xfrm>
            <a:off x="7498080" y="3438144"/>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Avisos y celebraciones</a:t>
            </a:r>
            <a:endParaRPr lang="en-US" sz="1700" dirty="0"/>
          </a:p>
        </p:txBody>
      </p:sp>
      <p:sp>
        <p:nvSpPr>
          <p:cNvPr id="13" name="Shape 11"/>
          <p:cNvSpPr/>
          <p:nvPr/>
        </p:nvSpPr>
        <p:spPr>
          <a:xfrm>
            <a:off x="7178040" y="4242816"/>
            <a:ext cx="146304" cy="146304"/>
          </a:xfrm>
          <a:prstGeom prst="ellipse">
            <a:avLst/>
          </a:prstGeom>
          <a:solidFill>
            <a:srgbClr val="FFC107"/>
          </a:solidFill>
          <a:ln w="12700">
            <a:solidFill>
              <a:srgbClr val="FFC107"/>
            </a:solidFill>
            <a:prstDash val="solid"/>
          </a:ln>
        </p:spPr>
      </p:sp>
      <p:sp>
        <p:nvSpPr>
          <p:cNvPr id="14" name="Text 12"/>
          <p:cNvSpPr txBox="1"/>
          <p:nvPr/>
        </p:nvSpPr>
        <p:spPr>
          <a:xfrm>
            <a:off x="7498080" y="4151376"/>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Modo oscuro</a:t>
            </a:r>
            <a:endParaRPr lang="en-US" sz="1700" dirty="0"/>
          </a:p>
        </p:txBody>
      </p:sp>
      <p:sp>
        <p:nvSpPr>
          <p:cNvPr id="15" name="Shape 13"/>
          <p:cNvSpPr/>
          <p:nvPr/>
        </p:nvSpPr>
        <p:spPr>
          <a:xfrm>
            <a:off x="7178040" y="4956048"/>
            <a:ext cx="146304" cy="146304"/>
          </a:xfrm>
          <a:prstGeom prst="ellipse">
            <a:avLst/>
          </a:prstGeom>
          <a:solidFill>
            <a:srgbClr val="FFC107"/>
          </a:solidFill>
          <a:ln w="12700">
            <a:solidFill>
              <a:srgbClr val="FFC107"/>
            </a:solidFill>
            <a:prstDash val="solid"/>
          </a:ln>
        </p:spPr>
      </p:sp>
      <p:sp>
        <p:nvSpPr>
          <p:cNvPr id="16" name="Text 14"/>
          <p:cNvSpPr txBox="1"/>
          <p:nvPr/>
        </p:nvSpPr>
        <p:spPr>
          <a:xfrm>
            <a:off x="7498080" y="4864608"/>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Celular e instalación como app</a:t>
            </a:r>
            <a:endParaRPr lang="en-US" sz="1700" dirty="0"/>
          </a:p>
        </p:txBody>
      </p:sp>
      <p:sp>
        <p:nvSpPr>
          <p:cNvPr id="17" name="Text 15"/>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8C93C9"/>
                </a:solidFill>
                <a:latin typeface="Calibri" pitchFamily="34" charset="0"/>
                <a:ea typeface="Calibri" pitchFamily="34" charset="-122"/>
                <a:cs typeface="Calibri" pitchFamily="34" charset="-120"/>
              </a:rPr>
              <a:t>Aplicación AWP · Aprender mientras usas</a:t>
            </a:r>
            <a:endParaRPr lang="en-US" sz="1000" dirty="0"/>
          </a:p>
        </p:txBody>
      </p:sp>
      <p:sp>
        <p:nvSpPr>
          <p:cNvPr id="18" name="Text 16"/>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8C93C9"/>
                </a:solidFill>
                <a:latin typeface="Calibri" pitchFamily="34" charset="0"/>
                <a:ea typeface="Calibri" pitchFamily="34" charset="-122"/>
                <a:cs typeface="Calibri" pitchFamily="34" charset="-120"/>
              </a:rPr>
              <a:t>101</a:t>
            </a:r>
            <a:endParaRPr lang="en-US" sz="10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Glosario al tocar una sigla</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Los términos AWP aparecen subrayados con puntos</a:t>
            </a:r>
            <a:endParaRPr lang="en-US" sz="1500" dirty="0"/>
          </a:p>
        </p:txBody>
      </p:sp>
      <p:sp>
        <p:nvSpPr>
          <p:cNvPr id="4" name="Shape 2"/>
          <p:cNvSpPr/>
          <p:nvPr/>
        </p:nvSpPr>
        <p:spPr>
          <a:xfrm>
            <a:off x="4562856" y="1855460"/>
            <a:ext cx="7135063" cy="4061479"/>
          </a:xfrm>
          <a:prstGeom prst="roundRect">
            <a:avLst>
              <a:gd name="adj" fmla="val 1801"/>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glosario.jpg">    </p:cNvPr>
          <p:cNvPicPr>
            <a:picLocks noChangeAspect="1"/>
          </p:cNvPicPr>
          <p:nvPr/>
        </p:nvPicPr>
        <p:blipFill>
          <a:blip r:embed="rId1"/>
          <a:stretch>
            <a:fillRect/>
          </a:stretch>
        </p:blipFill>
        <p:spPr>
          <a:xfrm>
            <a:off x="4617720" y="1910324"/>
            <a:ext cx="7025335" cy="3951751"/>
          </a:xfrm>
          <a:prstGeom prst="rect">
            <a:avLst/>
          </a:prstGeom>
        </p:spPr>
      </p:pic>
      <p:sp>
        <p:nvSpPr>
          <p:cNvPr id="6" name="Shape 3"/>
          <p:cNvSpPr/>
          <p:nvPr/>
        </p:nvSpPr>
        <p:spPr>
          <a:xfrm>
            <a:off x="548640"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643280" y="1685696"/>
            <a:ext cx="231343" cy="231343"/>
          </a:xfrm>
          <a:prstGeom prst="rect">
            <a:avLst/>
          </a:prstGeom>
        </p:spPr>
      </p:pic>
      <p:sp>
        <p:nvSpPr>
          <p:cNvPr id="8" name="Text 4"/>
          <p:cNvSpPr txBox="1"/>
          <p:nvPr/>
        </p:nvSpPr>
        <p:spPr>
          <a:xfrm>
            <a:off x="1133856" y="157276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Definición breve</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Ejemplo: «Etapa del ciclo de vida: cada etapa por la que pasa el proyecto: planificación temprana, ingeniería, procura, construcción y comisionamiento».</a:t>
            </a:r>
            <a:endParaRPr lang="en-US" sz="1500" dirty="0"/>
          </a:p>
        </p:txBody>
      </p:sp>
      <p:sp>
        <p:nvSpPr>
          <p:cNvPr id="9" name="Shape 5"/>
          <p:cNvSpPr/>
          <p:nvPr/>
        </p:nvSpPr>
        <p:spPr>
          <a:xfrm>
            <a:off x="548640" y="2768346"/>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643280" y="2862986"/>
            <a:ext cx="231343" cy="231343"/>
          </a:xfrm>
          <a:prstGeom prst="rect">
            <a:avLst/>
          </a:prstGeom>
        </p:spPr>
      </p:pic>
      <p:sp>
        <p:nvSpPr>
          <p:cNvPr id="11" name="Text 6"/>
          <p:cNvSpPr txBox="1"/>
          <p:nvPr/>
        </p:nvSpPr>
        <p:spPr>
          <a:xfrm>
            <a:off x="1133856" y="275005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Ejemplo</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Un caso del proyecto tipo para aterrizar el concepto.</a:t>
            </a:r>
            <a:endParaRPr lang="en-US" sz="1500" dirty="0"/>
          </a:p>
        </p:txBody>
      </p:sp>
      <p:sp>
        <p:nvSpPr>
          <p:cNvPr id="12" name="Shape 7"/>
          <p:cNvSpPr/>
          <p:nvPr/>
        </p:nvSpPr>
        <p:spPr>
          <a:xfrm>
            <a:off x="548640" y="3945636"/>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643280" y="4040276"/>
            <a:ext cx="231343" cy="231343"/>
          </a:xfrm>
          <a:prstGeom prst="rect">
            <a:avLst/>
          </a:prstGeom>
        </p:spPr>
      </p:pic>
      <p:sp>
        <p:nvSpPr>
          <p:cNvPr id="14" name="Text 8"/>
          <p:cNvSpPr txBox="1"/>
          <p:nvPr/>
        </p:nvSpPr>
        <p:spPr>
          <a:xfrm>
            <a:off x="1133856" y="392734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Leer más</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Enlaces a la página de la web del kit y al glosario completo.</a:t>
            </a:r>
            <a:endParaRPr lang="en-US" sz="1500" dirty="0"/>
          </a:p>
        </p:txBody>
      </p:sp>
      <p:sp>
        <p:nvSpPr>
          <p:cNvPr id="15" name="Shape 9"/>
          <p:cNvSpPr/>
          <p:nvPr/>
        </p:nvSpPr>
        <p:spPr>
          <a:xfrm>
            <a:off x="548640" y="5122926"/>
            <a:ext cx="420624" cy="420624"/>
          </a:xfrm>
          <a:prstGeom prst="ellipse">
            <a:avLst/>
          </a:prstGeom>
          <a:solidFill>
            <a:srgbClr val="E8EAF6"/>
          </a:solidFill>
          <a:ln w="12700">
            <a:solidFill>
              <a:srgbClr val="E8EAF6"/>
            </a:solidFill>
            <a:prstDash val="solid"/>
          </a:ln>
        </p:spPr>
      </p:sp>
      <p:pic>
        <p:nvPicPr>
          <p:cNvPr id="16" name="Image 4" descr="preencoded.png">    </p:cNvPr>
          <p:cNvPicPr>
            <a:picLocks noChangeAspect="1"/>
          </p:cNvPicPr>
          <p:nvPr/>
        </p:nvPicPr>
        <p:blipFill>
          <a:blip r:embed="rId5"/>
          <a:stretch>
            <a:fillRect/>
          </a:stretch>
        </p:blipFill>
        <p:spPr>
          <a:xfrm>
            <a:off x="643280" y="5217566"/>
            <a:ext cx="231343" cy="231343"/>
          </a:xfrm>
          <a:prstGeom prst="rect">
            <a:avLst/>
          </a:prstGeom>
        </p:spPr>
      </p:pic>
      <p:sp>
        <p:nvSpPr>
          <p:cNvPr id="17" name="Text 10"/>
          <p:cNvSpPr txBox="1"/>
          <p:nvPr/>
        </p:nvSpPr>
        <p:spPr>
          <a:xfrm>
            <a:off x="1133856" y="5104638"/>
            <a:ext cx="3209544" cy="110413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Cursor o toque</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En computadora al pasar el cursor; en el celular al tocar.</a:t>
            </a:r>
            <a:endParaRPr lang="en-US" sz="1500" dirty="0"/>
          </a:p>
        </p:txBody>
      </p:sp>
      <p:sp>
        <p:nvSpPr>
          <p:cNvPr id="18" name="Text 11"/>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Aprender mientras usas</a:t>
            </a:r>
            <a:endParaRPr lang="en-US" sz="1000" dirty="0"/>
          </a:p>
        </p:txBody>
      </p:sp>
      <p:sp>
        <p:nvSpPr>
          <p:cNvPr id="19" name="Text 12"/>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102</a:t>
            </a:r>
            <a:endParaRPr lang="en-US" sz="10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Módulos que llegan: nunca una pantalla muerta</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Qué es el módulo, cuándo llega y qué usar mientras tanto</a:t>
            </a:r>
            <a:endParaRPr lang="en-US" sz="1500" dirty="0"/>
          </a:p>
        </p:txBody>
      </p:sp>
      <p:sp>
        <p:nvSpPr>
          <p:cNvPr id="4" name="Shape 2"/>
          <p:cNvSpPr/>
          <p:nvPr/>
        </p:nvSpPr>
        <p:spPr>
          <a:xfrm>
            <a:off x="4562856" y="1855460"/>
            <a:ext cx="7135063" cy="4061479"/>
          </a:xfrm>
          <a:prstGeom prst="roundRect">
            <a:avLst>
              <a:gd name="adj" fmla="val 1801"/>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modulo_pronto.jpg">    </p:cNvPr>
          <p:cNvPicPr>
            <a:picLocks noChangeAspect="1"/>
          </p:cNvPicPr>
          <p:nvPr/>
        </p:nvPicPr>
        <p:blipFill>
          <a:blip r:embed="rId1"/>
          <a:stretch>
            <a:fillRect/>
          </a:stretch>
        </p:blipFill>
        <p:spPr>
          <a:xfrm>
            <a:off x="4617720" y="1910324"/>
            <a:ext cx="7025335" cy="3951751"/>
          </a:xfrm>
          <a:prstGeom prst="rect">
            <a:avLst/>
          </a:prstGeom>
        </p:spPr>
      </p:pic>
      <p:sp>
        <p:nvSpPr>
          <p:cNvPr id="6" name="Shape 3"/>
          <p:cNvSpPr/>
          <p:nvPr/>
        </p:nvSpPr>
        <p:spPr>
          <a:xfrm>
            <a:off x="548640" y="1591056"/>
            <a:ext cx="420624" cy="420624"/>
          </a:xfrm>
          <a:prstGeom prst="ellipse">
            <a:avLst/>
          </a:prstGeom>
          <a:solidFill>
            <a:srgbClr val="E8EAF6"/>
          </a:solidFill>
          <a:ln w="12700">
            <a:solidFill>
              <a:srgbClr val="E8EAF6"/>
            </a:solidFill>
            <a:prstDash val="solid"/>
          </a:ln>
        </p:spPr>
      </p:sp>
      <p:pic>
        <p:nvPicPr>
          <p:cNvPr id="7" name="Image 1" descr="preencoded.png">    </p:cNvPr>
          <p:cNvPicPr>
            <a:picLocks noChangeAspect="1"/>
          </p:cNvPicPr>
          <p:nvPr/>
        </p:nvPicPr>
        <p:blipFill>
          <a:blip r:embed="rId2"/>
          <a:stretch>
            <a:fillRect/>
          </a:stretch>
        </p:blipFill>
        <p:spPr>
          <a:xfrm>
            <a:off x="643280" y="1685696"/>
            <a:ext cx="231343" cy="231343"/>
          </a:xfrm>
          <a:prstGeom prst="rect">
            <a:avLst/>
          </a:prstGeom>
        </p:spPr>
      </p:pic>
      <p:sp>
        <p:nvSpPr>
          <p:cNvPr id="8" name="Text 4"/>
          <p:cNvSpPr txBox="1"/>
          <p:nvPr/>
        </p:nvSpPr>
        <p:spPr>
          <a:xfrm>
            <a:off x="1133856" y="1572768"/>
            <a:ext cx="3209544" cy="149656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Cuándo llega</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«Restricciones: próximamente. Este módulo se construye en la Etapa 3.»</a:t>
            </a:r>
            <a:endParaRPr lang="en-US" sz="1500" dirty="0"/>
          </a:p>
        </p:txBody>
      </p:sp>
      <p:sp>
        <p:nvSpPr>
          <p:cNvPr id="9" name="Shape 5"/>
          <p:cNvSpPr/>
          <p:nvPr/>
        </p:nvSpPr>
        <p:spPr>
          <a:xfrm>
            <a:off x="548640" y="3160776"/>
            <a:ext cx="420624" cy="420624"/>
          </a:xfrm>
          <a:prstGeom prst="ellipse">
            <a:avLst/>
          </a:prstGeom>
          <a:solidFill>
            <a:srgbClr val="E8EAF6"/>
          </a:solidFill>
          <a:ln w="12700">
            <a:solidFill>
              <a:srgbClr val="E8EAF6"/>
            </a:solidFill>
            <a:prstDash val="solid"/>
          </a:ln>
        </p:spPr>
      </p:sp>
      <p:pic>
        <p:nvPicPr>
          <p:cNvPr id="10" name="Image 2" descr="preencoded.png">    </p:cNvPr>
          <p:cNvPicPr>
            <a:picLocks noChangeAspect="1"/>
          </p:cNvPicPr>
          <p:nvPr/>
        </p:nvPicPr>
        <p:blipFill>
          <a:blip r:embed="rId3"/>
          <a:stretch>
            <a:fillRect/>
          </a:stretch>
        </p:blipFill>
        <p:spPr>
          <a:xfrm>
            <a:off x="643280" y="3255416"/>
            <a:ext cx="231343" cy="231343"/>
          </a:xfrm>
          <a:prstGeom prst="rect">
            <a:avLst/>
          </a:prstGeom>
        </p:spPr>
      </p:pic>
      <p:sp>
        <p:nvSpPr>
          <p:cNvPr id="11" name="Text 6"/>
          <p:cNvSpPr txBox="1"/>
          <p:nvPr/>
        </p:nvSpPr>
        <p:spPr>
          <a:xfrm>
            <a:off x="1133856" y="3142488"/>
            <a:ext cx="3209544" cy="149656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Qué usar hoy</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Enlaces a la plantilla y al procedimiento del kit, y al módulo de la presentación.</a:t>
            </a:r>
            <a:endParaRPr lang="en-US" sz="1500" dirty="0"/>
          </a:p>
        </p:txBody>
      </p:sp>
      <p:sp>
        <p:nvSpPr>
          <p:cNvPr id="12" name="Shape 7"/>
          <p:cNvSpPr/>
          <p:nvPr/>
        </p:nvSpPr>
        <p:spPr>
          <a:xfrm>
            <a:off x="548640" y="4730496"/>
            <a:ext cx="420624" cy="420624"/>
          </a:xfrm>
          <a:prstGeom prst="ellipse">
            <a:avLst/>
          </a:prstGeom>
          <a:solidFill>
            <a:srgbClr val="E8EAF6"/>
          </a:solidFill>
          <a:ln w="12700">
            <a:solidFill>
              <a:srgbClr val="E8EAF6"/>
            </a:solidFill>
            <a:prstDash val="solid"/>
          </a:ln>
        </p:spPr>
      </p:sp>
      <p:pic>
        <p:nvPicPr>
          <p:cNvPr id="13" name="Image 3" descr="preencoded.png">    </p:cNvPr>
          <p:cNvPicPr>
            <a:picLocks noChangeAspect="1"/>
          </p:cNvPicPr>
          <p:nvPr/>
        </p:nvPicPr>
        <p:blipFill>
          <a:blip r:embed="rId4"/>
          <a:stretch>
            <a:fillRect/>
          </a:stretch>
        </p:blipFill>
        <p:spPr>
          <a:xfrm>
            <a:off x="643280" y="4825136"/>
            <a:ext cx="231343" cy="231343"/>
          </a:xfrm>
          <a:prstGeom prst="rect">
            <a:avLst/>
          </a:prstGeom>
        </p:spPr>
      </p:pic>
      <p:sp>
        <p:nvSpPr>
          <p:cNvPr id="14" name="Text 8"/>
          <p:cNvSpPr txBox="1"/>
          <p:nvPr/>
        </p:nvSpPr>
        <p:spPr>
          <a:xfrm>
            <a:off x="1133856" y="4712208"/>
            <a:ext cx="3209544" cy="149656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Pantallas vacías útiles</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Cada lista vacía explica qué es el módulo y ofrece el botón para empezar.</a:t>
            </a:r>
            <a:endParaRPr lang="en-US" sz="1500" dirty="0"/>
          </a:p>
        </p:txBody>
      </p:sp>
      <p:sp>
        <p:nvSpPr>
          <p:cNvPr id="15" name="Text 9"/>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Aprender mientras usas</a:t>
            </a:r>
            <a:endParaRPr lang="en-US" sz="1000" dirty="0"/>
          </a:p>
        </p:txBody>
      </p:sp>
      <p:sp>
        <p:nvSpPr>
          <p:cNvPr id="16" name="Text 10"/>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103</a:t>
            </a:r>
            <a:endParaRPr lang="en-US" sz="10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Avisos, confirmaciones y celebraciones</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La aplicación siempre responde a lo que haces</a:t>
            </a:r>
            <a:endParaRPr lang="en-US" sz="1500" dirty="0"/>
          </a:p>
        </p:txBody>
      </p:sp>
      <p:sp>
        <p:nvSpPr>
          <p:cNvPr id="4" name="Shape 2"/>
          <p:cNvSpPr/>
          <p:nvPr/>
        </p:nvSpPr>
        <p:spPr>
          <a:xfrm>
            <a:off x="548640" y="1554480"/>
            <a:ext cx="3515258" cy="2217420"/>
          </a:xfrm>
          <a:prstGeom prst="roundRect">
            <a:avLst>
              <a:gd name="adj" fmla="val 4124"/>
            </a:avLst>
          </a:prstGeom>
          <a:solidFill>
            <a:srgbClr val="F5F6FB"/>
          </a:solidFill>
          <a:ln w="9525">
            <a:solidFill>
              <a:srgbClr val="E3E5EE"/>
            </a:solidFill>
            <a:prstDash val="solid"/>
          </a:ln>
        </p:spPr>
      </p:sp>
      <p:sp>
        <p:nvSpPr>
          <p:cNvPr id="5" name="Shape 3"/>
          <p:cNvSpPr/>
          <p:nvPr/>
        </p:nvSpPr>
        <p:spPr>
          <a:xfrm>
            <a:off x="777240" y="1783080"/>
            <a:ext cx="548640" cy="548640"/>
          </a:xfrm>
          <a:prstGeom prst="ellipse">
            <a:avLst/>
          </a:prstGeom>
          <a:solidFill>
            <a:srgbClr val="E8EAF6"/>
          </a:solidFill>
          <a:ln w="12700">
            <a:solidFill>
              <a:srgbClr val="E8EAF6"/>
            </a:solidFill>
            <a:prstDash val="solid"/>
          </a:ln>
        </p:spPr>
      </p:sp>
      <p:pic>
        <p:nvPicPr>
          <p:cNvPr id="6" name="Image 0" descr="preencoded.png">    </p:cNvPr>
          <p:cNvPicPr>
            <a:picLocks noChangeAspect="1"/>
          </p:cNvPicPr>
          <p:nvPr/>
        </p:nvPicPr>
        <p:blipFill>
          <a:blip r:embed="rId1"/>
          <a:stretch>
            <a:fillRect/>
          </a:stretch>
        </p:blipFill>
        <p:spPr>
          <a:xfrm>
            <a:off x="900684" y="1906524"/>
            <a:ext cx="301752" cy="301752"/>
          </a:xfrm>
          <a:prstGeom prst="rect">
            <a:avLst/>
          </a:prstGeom>
        </p:spPr>
      </p:pic>
      <p:sp>
        <p:nvSpPr>
          <p:cNvPr id="7" name="Text 4"/>
          <p:cNvSpPr txBox="1"/>
          <p:nvPr/>
        </p:nvSpPr>
        <p:spPr>
          <a:xfrm>
            <a:off x="1508760" y="1783080"/>
            <a:ext cx="232653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Aviso de guardado</a:t>
            </a:r>
            <a:endParaRPr lang="en-US" sz="1700" dirty="0"/>
          </a:p>
        </p:txBody>
      </p:sp>
      <p:sp>
        <p:nvSpPr>
          <p:cNvPr id="8" name="Text 5"/>
          <p:cNvSpPr txBox="1"/>
          <p:nvPr/>
        </p:nvSpPr>
        <p:spPr>
          <a:xfrm>
            <a:off x="777240"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Un mensaje breve abajo al centro confirma cada acción: «¡Listo! Guardado».</a:t>
            </a:r>
            <a:endParaRPr lang="en-US" sz="1500" dirty="0"/>
          </a:p>
        </p:txBody>
      </p:sp>
      <p:sp>
        <p:nvSpPr>
          <p:cNvPr id="9" name="Shape 6"/>
          <p:cNvSpPr/>
          <p:nvPr/>
        </p:nvSpPr>
        <p:spPr>
          <a:xfrm>
            <a:off x="4338218" y="1554480"/>
            <a:ext cx="3515258" cy="2217420"/>
          </a:xfrm>
          <a:prstGeom prst="roundRect">
            <a:avLst>
              <a:gd name="adj" fmla="val 4124"/>
            </a:avLst>
          </a:prstGeom>
          <a:solidFill>
            <a:srgbClr val="F5F6FB"/>
          </a:solidFill>
          <a:ln w="9525">
            <a:solidFill>
              <a:srgbClr val="E3E5EE"/>
            </a:solidFill>
            <a:prstDash val="solid"/>
          </a:ln>
        </p:spPr>
      </p:sp>
      <p:sp>
        <p:nvSpPr>
          <p:cNvPr id="10" name="Shape 7"/>
          <p:cNvSpPr/>
          <p:nvPr/>
        </p:nvSpPr>
        <p:spPr>
          <a:xfrm>
            <a:off x="4566818" y="1783080"/>
            <a:ext cx="548640" cy="548640"/>
          </a:xfrm>
          <a:prstGeom prst="ellipse">
            <a:avLst/>
          </a:prstGeom>
          <a:solidFill>
            <a:srgbClr val="E8EAF6"/>
          </a:solidFill>
          <a:ln w="12700">
            <a:solidFill>
              <a:srgbClr val="E8EAF6"/>
            </a:solidFill>
            <a:prstDash val="solid"/>
          </a:ln>
        </p:spPr>
      </p:sp>
      <p:pic>
        <p:nvPicPr>
          <p:cNvPr id="11" name="Image 1" descr="preencoded.png">    </p:cNvPr>
          <p:cNvPicPr>
            <a:picLocks noChangeAspect="1"/>
          </p:cNvPicPr>
          <p:nvPr/>
        </p:nvPicPr>
        <p:blipFill>
          <a:blip r:embed="rId2"/>
          <a:stretch>
            <a:fillRect/>
          </a:stretch>
        </p:blipFill>
        <p:spPr>
          <a:xfrm>
            <a:off x="4690262" y="1906524"/>
            <a:ext cx="301752" cy="301752"/>
          </a:xfrm>
          <a:prstGeom prst="rect">
            <a:avLst/>
          </a:prstGeom>
        </p:spPr>
      </p:pic>
      <p:sp>
        <p:nvSpPr>
          <p:cNvPr id="12" name="Text 8"/>
          <p:cNvSpPr txBox="1"/>
          <p:nvPr/>
        </p:nvSpPr>
        <p:spPr>
          <a:xfrm>
            <a:off x="5298338" y="1783080"/>
            <a:ext cx="232653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Errores con solución</a:t>
            </a:r>
            <a:endParaRPr lang="en-US" sz="1700" dirty="0"/>
          </a:p>
        </p:txBody>
      </p:sp>
      <p:sp>
        <p:nvSpPr>
          <p:cNvPr id="13" name="Text 9"/>
          <p:cNvSpPr txBox="1"/>
          <p:nvPr/>
        </p:nvSpPr>
        <p:spPr>
          <a:xfrm>
            <a:off x="4566818"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En rojo, con la causa y cómo corregirla.</a:t>
            </a:r>
            <a:endParaRPr lang="en-US" sz="1500" dirty="0"/>
          </a:p>
        </p:txBody>
      </p:sp>
      <p:sp>
        <p:nvSpPr>
          <p:cNvPr id="14" name="Shape 10"/>
          <p:cNvSpPr/>
          <p:nvPr/>
        </p:nvSpPr>
        <p:spPr>
          <a:xfrm>
            <a:off x="8127797" y="1554480"/>
            <a:ext cx="3515258" cy="2217420"/>
          </a:xfrm>
          <a:prstGeom prst="roundRect">
            <a:avLst>
              <a:gd name="adj" fmla="val 4124"/>
            </a:avLst>
          </a:prstGeom>
          <a:solidFill>
            <a:srgbClr val="F5F6FB"/>
          </a:solidFill>
          <a:ln w="9525">
            <a:solidFill>
              <a:srgbClr val="E3E5EE"/>
            </a:solidFill>
            <a:prstDash val="solid"/>
          </a:ln>
        </p:spPr>
      </p:sp>
      <p:sp>
        <p:nvSpPr>
          <p:cNvPr id="15" name="Shape 11"/>
          <p:cNvSpPr/>
          <p:nvPr/>
        </p:nvSpPr>
        <p:spPr>
          <a:xfrm>
            <a:off x="8356397" y="1783080"/>
            <a:ext cx="548640" cy="548640"/>
          </a:xfrm>
          <a:prstGeom prst="ellipse">
            <a:avLst/>
          </a:prstGeom>
          <a:solidFill>
            <a:srgbClr val="E8EAF6"/>
          </a:solidFill>
          <a:ln w="12700">
            <a:solidFill>
              <a:srgbClr val="E8EAF6"/>
            </a:solidFill>
            <a:prstDash val="solid"/>
          </a:ln>
        </p:spPr>
      </p:sp>
      <p:pic>
        <p:nvPicPr>
          <p:cNvPr id="16" name="Image 2" descr="preencoded.png">    </p:cNvPr>
          <p:cNvPicPr>
            <a:picLocks noChangeAspect="1"/>
          </p:cNvPicPr>
          <p:nvPr/>
        </p:nvPicPr>
        <p:blipFill>
          <a:blip r:embed="rId3"/>
          <a:stretch>
            <a:fillRect/>
          </a:stretch>
        </p:blipFill>
        <p:spPr>
          <a:xfrm>
            <a:off x="8479841" y="1906524"/>
            <a:ext cx="301752" cy="301752"/>
          </a:xfrm>
          <a:prstGeom prst="rect">
            <a:avLst/>
          </a:prstGeom>
        </p:spPr>
      </p:pic>
      <p:sp>
        <p:nvSpPr>
          <p:cNvPr id="17" name="Text 12"/>
          <p:cNvSpPr txBox="1"/>
          <p:nvPr/>
        </p:nvSpPr>
        <p:spPr>
          <a:xfrm>
            <a:off x="9087917" y="1783080"/>
            <a:ext cx="232653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Confirmar antes de borrar</a:t>
            </a:r>
            <a:endParaRPr lang="en-US" sz="1700" dirty="0"/>
          </a:p>
        </p:txBody>
      </p:sp>
      <p:sp>
        <p:nvSpPr>
          <p:cNvPr id="18" name="Text 13"/>
          <p:cNvSpPr txBox="1"/>
          <p:nvPr/>
        </p:nvSpPr>
        <p:spPr>
          <a:xfrm>
            <a:off x="8356397"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Un cuadro pregunta antes de borrar fases, hitos, personas o proyectos.</a:t>
            </a:r>
            <a:endParaRPr lang="en-US" sz="1500" dirty="0"/>
          </a:p>
        </p:txBody>
      </p:sp>
      <p:sp>
        <p:nvSpPr>
          <p:cNvPr id="19" name="Shape 14"/>
          <p:cNvSpPr/>
          <p:nvPr/>
        </p:nvSpPr>
        <p:spPr>
          <a:xfrm>
            <a:off x="548640" y="4046220"/>
            <a:ext cx="3515258" cy="2217420"/>
          </a:xfrm>
          <a:prstGeom prst="roundRect">
            <a:avLst>
              <a:gd name="adj" fmla="val 4124"/>
            </a:avLst>
          </a:prstGeom>
          <a:solidFill>
            <a:srgbClr val="F5F6FB"/>
          </a:solidFill>
          <a:ln w="9525">
            <a:solidFill>
              <a:srgbClr val="E3E5EE"/>
            </a:solidFill>
            <a:prstDash val="solid"/>
          </a:ln>
        </p:spPr>
      </p:sp>
      <p:sp>
        <p:nvSpPr>
          <p:cNvPr id="20" name="Shape 15"/>
          <p:cNvSpPr/>
          <p:nvPr/>
        </p:nvSpPr>
        <p:spPr>
          <a:xfrm>
            <a:off x="777240" y="4274820"/>
            <a:ext cx="548640" cy="548640"/>
          </a:xfrm>
          <a:prstGeom prst="ellipse">
            <a:avLst/>
          </a:prstGeom>
          <a:solidFill>
            <a:srgbClr val="E8EAF6"/>
          </a:solidFill>
          <a:ln w="12700">
            <a:solidFill>
              <a:srgbClr val="E8EAF6"/>
            </a:solidFill>
            <a:prstDash val="solid"/>
          </a:ln>
        </p:spPr>
      </p:sp>
      <p:pic>
        <p:nvPicPr>
          <p:cNvPr id="21" name="Image 3" descr="preencoded.png">    </p:cNvPr>
          <p:cNvPicPr>
            <a:picLocks noChangeAspect="1"/>
          </p:cNvPicPr>
          <p:nvPr/>
        </p:nvPicPr>
        <p:blipFill>
          <a:blip r:embed="rId4"/>
          <a:stretch>
            <a:fillRect/>
          </a:stretch>
        </p:blipFill>
        <p:spPr>
          <a:xfrm>
            <a:off x="900684" y="4398264"/>
            <a:ext cx="301752" cy="301752"/>
          </a:xfrm>
          <a:prstGeom prst="rect">
            <a:avLst/>
          </a:prstGeom>
        </p:spPr>
      </p:pic>
      <p:sp>
        <p:nvSpPr>
          <p:cNvPr id="22" name="Text 16"/>
          <p:cNvSpPr txBox="1"/>
          <p:nvPr/>
        </p:nvSpPr>
        <p:spPr>
          <a:xfrm>
            <a:off x="1508760" y="4274820"/>
            <a:ext cx="232653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Celebraciones</a:t>
            </a:r>
            <a:endParaRPr lang="en-US" sz="1700" dirty="0"/>
          </a:p>
        </p:txBody>
      </p:sp>
      <p:sp>
        <p:nvSpPr>
          <p:cNvPr id="23" name="Text 17"/>
          <p:cNvSpPr txBox="1"/>
          <p:nvPr/>
        </p:nvSpPr>
        <p:spPr>
          <a:xfrm>
            <a:off x="777240"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Confeti al crear un proyecto, cumplir un hito o completar una etapa.</a:t>
            </a:r>
            <a:endParaRPr lang="en-US" sz="1500" dirty="0"/>
          </a:p>
        </p:txBody>
      </p:sp>
      <p:sp>
        <p:nvSpPr>
          <p:cNvPr id="24" name="Shape 18"/>
          <p:cNvSpPr/>
          <p:nvPr/>
        </p:nvSpPr>
        <p:spPr>
          <a:xfrm>
            <a:off x="4338218" y="4046220"/>
            <a:ext cx="3515258" cy="2217420"/>
          </a:xfrm>
          <a:prstGeom prst="roundRect">
            <a:avLst>
              <a:gd name="adj" fmla="val 4124"/>
            </a:avLst>
          </a:prstGeom>
          <a:solidFill>
            <a:srgbClr val="F5F6FB"/>
          </a:solidFill>
          <a:ln w="9525">
            <a:solidFill>
              <a:srgbClr val="E3E5EE"/>
            </a:solidFill>
            <a:prstDash val="solid"/>
          </a:ln>
        </p:spPr>
      </p:sp>
      <p:sp>
        <p:nvSpPr>
          <p:cNvPr id="25" name="Shape 19"/>
          <p:cNvSpPr/>
          <p:nvPr/>
        </p:nvSpPr>
        <p:spPr>
          <a:xfrm>
            <a:off x="4566818" y="4274820"/>
            <a:ext cx="548640" cy="548640"/>
          </a:xfrm>
          <a:prstGeom prst="ellipse">
            <a:avLst/>
          </a:prstGeom>
          <a:solidFill>
            <a:srgbClr val="E8EAF6"/>
          </a:solidFill>
          <a:ln w="12700">
            <a:solidFill>
              <a:srgbClr val="E8EAF6"/>
            </a:solidFill>
            <a:prstDash val="solid"/>
          </a:ln>
        </p:spPr>
      </p:sp>
      <p:pic>
        <p:nvPicPr>
          <p:cNvPr id="26" name="Image 4" descr="preencoded.png">    </p:cNvPr>
          <p:cNvPicPr>
            <a:picLocks noChangeAspect="1"/>
          </p:cNvPicPr>
          <p:nvPr/>
        </p:nvPicPr>
        <p:blipFill>
          <a:blip r:embed="rId5"/>
          <a:stretch>
            <a:fillRect/>
          </a:stretch>
        </p:blipFill>
        <p:spPr>
          <a:xfrm>
            <a:off x="4690262" y="4398264"/>
            <a:ext cx="301752" cy="301752"/>
          </a:xfrm>
          <a:prstGeom prst="rect">
            <a:avLst/>
          </a:prstGeom>
        </p:spPr>
      </p:pic>
      <p:sp>
        <p:nvSpPr>
          <p:cNvPr id="27" name="Text 20"/>
          <p:cNvSpPr txBox="1"/>
          <p:nvPr/>
        </p:nvSpPr>
        <p:spPr>
          <a:xfrm>
            <a:off x="5298338" y="4274820"/>
            <a:ext cx="232653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Nuevas insignias</a:t>
            </a:r>
            <a:endParaRPr lang="en-US" sz="1700" dirty="0"/>
          </a:p>
        </p:txBody>
      </p:sp>
      <p:sp>
        <p:nvSpPr>
          <p:cNvPr id="28" name="Text 21"/>
          <p:cNvSpPr txBox="1"/>
          <p:nvPr/>
        </p:nvSpPr>
        <p:spPr>
          <a:xfrm>
            <a:off x="4566818"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Un aviso anuncia cada insignia obtenida.</a:t>
            </a:r>
            <a:endParaRPr lang="en-US" sz="1500" dirty="0"/>
          </a:p>
        </p:txBody>
      </p:sp>
      <p:sp>
        <p:nvSpPr>
          <p:cNvPr id="29" name="Shape 22"/>
          <p:cNvSpPr/>
          <p:nvPr/>
        </p:nvSpPr>
        <p:spPr>
          <a:xfrm>
            <a:off x="8127797" y="4046220"/>
            <a:ext cx="3515258" cy="2217420"/>
          </a:xfrm>
          <a:prstGeom prst="roundRect">
            <a:avLst>
              <a:gd name="adj" fmla="val 4124"/>
            </a:avLst>
          </a:prstGeom>
          <a:solidFill>
            <a:srgbClr val="F5F6FB"/>
          </a:solidFill>
          <a:ln w="9525">
            <a:solidFill>
              <a:srgbClr val="E3E5EE"/>
            </a:solidFill>
            <a:prstDash val="solid"/>
          </a:ln>
        </p:spPr>
      </p:sp>
      <p:sp>
        <p:nvSpPr>
          <p:cNvPr id="30" name="Shape 23"/>
          <p:cNvSpPr/>
          <p:nvPr/>
        </p:nvSpPr>
        <p:spPr>
          <a:xfrm>
            <a:off x="8356397" y="4274820"/>
            <a:ext cx="548640" cy="548640"/>
          </a:xfrm>
          <a:prstGeom prst="ellipse">
            <a:avLst/>
          </a:prstGeom>
          <a:solidFill>
            <a:srgbClr val="E8EAF6"/>
          </a:solidFill>
          <a:ln w="12700">
            <a:solidFill>
              <a:srgbClr val="E8EAF6"/>
            </a:solidFill>
            <a:prstDash val="solid"/>
          </a:ln>
        </p:spPr>
      </p:sp>
      <p:pic>
        <p:nvPicPr>
          <p:cNvPr id="31" name="Image 5" descr="preencoded.png">    </p:cNvPr>
          <p:cNvPicPr>
            <a:picLocks noChangeAspect="1"/>
          </p:cNvPicPr>
          <p:nvPr/>
        </p:nvPicPr>
        <p:blipFill>
          <a:blip r:embed="rId6"/>
          <a:stretch>
            <a:fillRect/>
          </a:stretch>
        </p:blipFill>
        <p:spPr>
          <a:xfrm>
            <a:off x="8479841" y="4398264"/>
            <a:ext cx="301752" cy="301752"/>
          </a:xfrm>
          <a:prstGeom prst="rect">
            <a:avLst/>
          </a:prstGeom>
        </p:spPr>
      </p:pic>
      <p:sp>
        <p:nvSpPr>
          <p:cNvPr id="32" name="Text 24"/>
          <p:cNvSpPr txBox="1"/>
          <p:nvPr/>
        </p:nvSpPr>
        <p:spPr>
          <a:xfrm>
            <a:off x="9087917" y="4274820"/>
            <a:ext cx="232653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Accesible</a:t>
            </a:r>
            <a:endParaRPr lang="en-US" sz="1700" dirty="0"/>
          </a:p>
        </p:txBody>
      </p:sp>
      <p:sp>
        <p:nvSpPr>
          <p:cNvPr id="33" name="Text 25"/>
          <p:cNvSpPr txBox="1"/>
          <p:nvPr/>
        </p:nvSpPr>
        <p:spPr>
          <a:xfrm>
            <a:off x="8356397"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Colores con ícono y texto, teclado, lectores de pantalla y «reducir movimiento».</a:t>
            </a:r>
            <a:endParaRPr lang="en-US" sz="1500" dirty="0"/>
          </a:p>
        </p:txBody>
      </p:sp>
      <p:sp>
        <p:nvSpPr>
          <p:cNvPr id="34" name="Text 26"/>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Aprender mientras usas</a:t>
            </a:r>
            <a:endParaRPr lang="en-US" sz="1000" dirty="0"/>
          </a:p>
        </p:txBody>
      </p:sp>
      <p:sp>
        <p:nvSpPr>
          <p:cNvPr id="35" name="Text 27"/>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104</a:t>
            </a:r>
            <a:endParaRPr lang="en-US" sz="10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Modo claro u oscuro</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El botón de la luna en la cabecera; la aplicación recuerda tu elección</a:t>
            </a:r>
            <a:endParaRPr lang="en-US" sz="1500" dirty="0"/>
          </a:p>
        </p:txBody>
      </p:sp>
      <p:sp>
        <p:nvSpPr>
          <p:cNvPr id="4" name="Shape 2"/>
          <p:cNvSpPr/>
          <p:nvPr/>
        </p:nvSpPr>
        <p:spPr>
          <a:xfrm>
            <a:off x="548640" y="1545336"/>
            <a:ext cx="5318608" cy="3039723"/>
          </a:xfrm>
          <a:prstGeom prst="roundRect">
            <a:avLst>
              <a:gd name="adj" fmla="val 2407"/>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5" name="Image 0" descr="/tmp/claude-0/-home-user-01-awp/0b94e63d-a2ea-5e41-b4e8-6fcedbe96518/scratchpad/ppt/img/oscuro_proyecto.jpg">    </p:cNvPr>
          <p:cNvPicPr>
            <a:picLocks noChangeAspect="1"/>
          </p:cNvPicPr>
          <p:nvPr/>
        </p:nvPicPr>
        <p:blipFill>
          <a:blip r:embed="rId1"/>
          <a:stretch>
            <a:fillRect/>
          </a:stretch>
        </p:blipFill>
        <p:spPr>
          <a:xfrm>
            <a:off x="603504" y="1600200"/>
            <a:ext cx="5208880" cy="2929995"/>
          </a:xfrm>
          <a:prstGeom prst="rect">
            <a:avLst/>
          </a:prstGeom>
        </p:spPr>
      </p:pic>
      <p:sp>
        <p:nvSpPr>
          <p:cNvPr id="6" name="Text 3"/>
          <p:cNvSpPr txBox="1"/>
          <p:nvPr/>
        </p:nvSpPr>
        <p:spPr>
          <a:xfrm>
            <a:off x="548640" y="5349240"/>
            <a:ext cx="5318608" cy="868680"/>
          </a:xfrm>
          <a:prstGeom prst="rect">
            <a:avLst/>
          </a:prstGeom>
          <a:noFill/>
          <a:ln/>
        </p:spPr>
        <p:txBody>
          <a:bodyPr wrap="square" lIns="0" tIns="0" rIns="0" bIns="0" rtlCol="0" anchor="t">
            <a:normAutofit/>
          </a:bodyPr>
          <a:lstStyle/>
          <a:p>
            <a:pPr indent="0" marL="0">
              <a:buNone/>
            </a:pPr>
            <a:r>
              <a:rPr lang="en-US" sz="1400" dirty="0">
                <a:solidFill>
                  <a:srgbClr val="1B1C22"/>
                </a:solidFill>
                <a:latin typeface="Calibri" pitchFamily="34" charset="0"/>
                <a:ea typeface="Calibri" pitchFamily="34" charset="-122"/>
                <a:cs typeface="Calibri" pitchFamily="34" charset="-120"/>
              </a:rPr>
              <a:t>Dashboard de la concentradora en modo oscuro: los colores de estado y de fase se conservan.</a:t>
            </a:r>
            <a:endParaRPr lang="en-US" sz="1400" dirty="0"/>
          </a:p>
        </p:txBody>
      </p:sp>
      <p:sp>
        <p:nvSpPr>
          <p:cNvPr id="7" name="Shape 4"/>
          <p:cNvSpPr/>
          <p:nvPr/>
        </p:nvSpPr>
        <p:spPr>
          <a:xfrm>
            <a:off x="6324448" y="1545336"/>
            <a:ext cx="5318608" cy="3039723"/>
          </a:xfrm>
          <a:prstGeom prst="roundRect">
            <a:avLst>
              <a:gd name="adj" fmla="val 2407"/>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8" name="Image 1" descr="/tmp/claude-0/-home-user-01-awp/0b94e63d-a2ea-5e41-b4e8-6fcedbe96518/scratchpad/ppt/img/oscuro_recursos.jpg">    </p:cNvPr>
          <p:cNvPicPr>
            <a:picLocks noChangeAspect="1"/>
          </p:cNvPicPr>
          <p:nvPr/>
        </p:nvPicPr>
        <p:blipFill>
          <a:blip r:embed="rId2"/>
          <a:stretch>
            <a:fillRect/>
          </a:stretch>
        </p:blipFill>
        <p:spPr>
          <a:xfrm>
            <a:off x="6379312" y="1600200"/>
            <a:ext cx="5208880" cy="2929995"/>
          </a:xfrm>
          <a:prstGeom prst="rect">
            <a:avLst/>
          </a:prstGeom>
        </p:spPr>
      </p:pic>
      <p:sp>
        <p:nvSpPr>
          <p:cNvPr id="9" name="Text 5"/>
          <p:cNvSpPr txBox="1"/>
          <p:nvPr/>
        </p:nvSpPr>
        <p:spPr>
          <a:xfrm>
            <a:off x="6324448" y="5349240"/>
            <a:ext cx="5318608" cy="868680"/>
          </a:xfrm>
          <a:prstGeom prst="rect">
            <a:avLst/>
          </a:prstGeom>
          <a:noFill/>
          <a:ln/>
        </p:spPr>
        <p:txBody>
          <a:bodyPr wrap="square" lIns="0" tIns="0" rIns="0" bIns="0" rtlCol="0" anchor="t">
            <a:normAutofit/>
          </a:bodyPr>
          <a:lstStyle/>
          <a:p>
            <a:pPr indent="0" marL="0">
              <a:buNone/>
            </a:pPr>
            <a:r>
              <a:rPr lang="en-US" sz="1400" dirty="0">
                <a:solidFill>
                  <a:srgbClr val="1B1C22"/>
                </a:solidFill>
                <a:latin typeface="Calibri" pitchFamily="34" charset="0"/>
                <a:ea typeface="Calibri" pitchFamily="34" charset="-122"/>
                <a:cs typeface="Calibri" pitchFamily="34" charset="-120"/>
              </a:rPr>
              <a:t>Recursos en modo oscuro: cómodo en obra de noche o en pantallas con poca luz.</a:t>
            </a:r>
            <a:endParaRPr lang="en-US" sz="1400" dirty="0"/>
          </a:p>
        </p:txBody>
      </p:sp>
      <p:sp>
        <p:nvSpPr>
          <p:cNvPr id="10" name="Text 6"/>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Aprender mientras usas</a:t>
            </a:r>
            <a:endParaRPr lang="en-US" sz="1000" dirty="0"/>
          </a:p>
        </p:txBody>
      </p:sp>
      <p:sp>
        <p:nvSpPr>
          <p:cNvPr id="11" name="Text 7"/>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105</a:t>
            </a:r>
            <a:endParaRPr lang="en-US" sz="10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En el celular (1): portafolio, proyecto y avance</a:t>
            </a:r>
            <a:endParaRPr lang="en-US" sz="2800" dirty="0"/>
          </a:p>
        </p:txBody>
      </p:sp>
      <p:sp>
        <p:nvSpPr>
          <p:cNvPr id="3" name="Shape 1"/>
          <p:cNvSpPr/>
          <p:nvPr/>
        </p:nvSpPr>
        <p:spPr>
          <a:xfrm>
            <a:off x="512064" y="1481328"/>
            <a:ext cx="2358914" cy="4892040"/>
          </a:xfrm>
          <a:prstGeom prst="roundRect">
            <a:avLst>
              <a:gd name="adj" fmla="val 6977"/>
            </a:avLst>
          </a:prstGeom>
          <a:solidFill>
            <a:srgbClr val="1B1C22"/>
          </a:solidFill>
          <a:ln w="12700">
            <a:solidFill>
              <a:srgbClr val="1B1C22"/>
            </a:solidFill>
            <a:prstDash val="solid"/>
          </a:ln>
          <a:effectLst>
            <a:outerShdw sx="100000" sy="100000" kx="0" ky="0" algn="bl" rotWithShape="0" blurRad="101600" dist="25400" dir="5400000">
              <a:srgbClr val="000000">
                <a:alpha val="20000"/>
              </a:srgbClr>
            </a:outerShdw>
          </a:effectLst>
        </p:spPr>
      </p:sp>
      <p:pic>
        <p:nvPicPr>
          <p:cNvPr id="4" name="Image 0" descr="/tmp/claude-0/-home-user-01-awp/0b94e63d-a2ea-5e41-b4e8-6fcedbe96518/scratchpad/ppt/img/movil_portafolio.jpg">    </p:cNvPr>
          <p:cNvPicPr>
            <a:picLocks noChangeAspect="1"/>
          </p:cNvPicPr>
          <p:nvPr/>
        </p:nvPicPr>
        <p:blipFill>
          <a:blip r:embed="rId1"/>
          <a:stretch>
            <a:fillRect/>
          </a:stretch>
        </p:blipFill>
        <p:spPr>
          <a:xfrm>
            <a:off x="603504" y="1572768"/>
            <a:ext cx="2176034" cy="4709160"/>
          </a:xfrm>
          <a:prstGeom prst="rect">
            <a:avLst/>
          </a:prstGeom>
        </p:spPr>
      </p:pic>
      <p:sp>
        <p:nvSpPr>
          <p:cNvPr id="5" name="Shape 2"/>
          <p:cNvSpPr/>
          <p:nvPr/>
        </p:nvSpPr>
        <p:spPr>
          <a:xfrm>
            <a:off x="3008138" y="1481328"/>
            <a:ext cx="2358914" cy="4892040"/>
          </a:xfrm>
          <a:prstGeom prst="roundRect">
            <a:avLst>
              <a:gd name="adj" fmla="val 6977"/>
            </a:avLst>
          </a:prstGeom>
          <a:solidFill>
            <a:srgbClr val="1B1C22"/>
          </a:solidFill>
          <a:ln w="12700">
            <a:solidFill>
              <a:srgbClr val="1B1C22"/>
            </a:solidFill>
            <a:prstDash val="solid"/>
          </a:ln>
          <a:effectLst>
            <a:outerShdw sx="100000" sy="100000" kx="0" ky="0" algn="bl" rotWithShape="0" blurRad="101600" dist="25400" dir="5400000">
              <a:srgbClr val="000000">
                <a:alpha val="20000"/>
              </a:srgbClr>
            </a:outerShdw>
          </a:effectLst>
        </p:spPr>
      </p:sp>
      <p:pic>
        <p:nvPicPr>
          <p:cNvPr id="6" name="Image 1" descr="/tmp/claude-0/-home-user-01-awp/0b94e63d-a2ea-5e41-b4e8-6fcedbe96518/scratchpad/ppt/img/movil_proyecto.jpg">    </p:cNvPr>
          <p:cNvPicPr>
            <a:picLocks noChangeAspect="1"/>
          </p:cNvPicPr>
          <p:nvPr/>
        </p:nvPicPr>
        <p:blipFill>
          <a:blip r:embed="rId2"/>
          <a:stretch>
            <a:fillRect/>
          </a:stretch>
        </p:blipFill>
        <p:spPr>
          <a:xfrm>
            <a:off x="3099578" y="1572768"/>
            <a:ext cx="2176034" cy="4709160"/>
          </a:xfrm>
          <a:prstGeom prst="rect">
            <a:avLst/>
          </a:prstGeom>
        </p:spPr>
      </p:pic>
      <p:sp>
        <p:nvSpPr>
          <p:cNvPr id="7" name="Shape 3"/>
          <p:cNvSpPr/>
          <p:nvPr/>
        </p:nvSpPr>
        <p:spPr>
          <a:xfrm>
            <a:off x="5504211" y="1481328"/>
            <a:ext cx="2358914" cy="4892040"/>
          </a:xfrm>
          <a:prstGeom prst="roundRect">
            <a:avLst>
              <a:gd name="adj" fmla="val 6977"/>
            </a:avLst>
          </a:prstGeom>
          <a:solidFill>
            <a:srgbClr val="1B1C22"/>
          </a:solidFill>
          <a:ln w="12700">
            <a:solidFill>
              <a:srgbClr val="1B1C22"/>
            </a:solidFill>
            <a:prstDash val="solid"/>
          </a:ln>
          <a:effectLst>
            <a:outerShdw sx="100000" sy="100000" kx="0" ky="0" algn="bl" rotWithShape="0" blurRad="101600" dist="25400" dir="5400000">
              <a:srgbClr val="000000">
                <a:alpha val="20000"/>
              </a:srgbClr>
            </a:outerShdw>
          </a:effectLst>
        </p:spPr>
      </p:sp>
      <p:pic>
        <p:nvPicPr>
          <p:cNvPr id="8" name="Image 2" descr="/tmp/claude-0/-home-user-01-awp/0b94e63d-a2ea-5e41-b4e8-6fcedbe96518/scratchpad/ppt/img/movil_avance.jpg">    </p:cNvPr>
          <p:cNvPicPr>
            <a:picLocks noChangeAspect="1"/>
          </p:cNvPicPr>
          <p:nvPr/>
        </p:nvPicPr>
        <p:blipFill>
          <a:blip r:embed="rId3"/>
          <a:stretch>
            <a:fillRect/>
          </a:stretch>
        </p:blipFill>
        <p:spPr>
          <a:xfrm>
            <a:off x="5595651" y="1572768"/>
            <a:ext cx="2176034" cy="4709160"/>
          </a:xfrm>
          <a:prstGeom prst="rect">
            <a:avLst/>
          </a:prstGeom>
        </p:spPr>
      </p:pic>
      <p:sp>
        <p:nvSpPr>
          <p:cNvPr id="9" name="Shape 4"/>
          <p:cNvSpPr/>
          <p:nvPr/>
        </p:nvSpPr>
        <p:spPr>
          <a:xfrm>
            <a:off x="8402621" y="1618488"/>
            <a:ext cx="420624" cy="420624"/>
          </a:xfrm>
          <a:prstGeom prst="ellipse">
            <a:avLst/>
          </a:prstGeom>
          <a:solidFill>
            <a:srgbClr val="E8EAF6"/>
          </a:solidFill>
          <a:ln w="12700">
            <a:solidFill>
              <a:srgbClr val="E8EAF6"/>
            </a:solidFill>
            <a:prstDash val="solid"/>
          </a:ln>
        </p:spPr>
      </p:sp>
      <p:pic>
        <p:nvPicPr>
          <p:cNvPr id="10" name="Image 3" descr="preencoded.png">    </p:cNvPr>
          <p:cNvPicPr>
            <a:picLocks noChangeAspect="1"/>
          </p:cNvPicPr>
          <p:nvPr/>
        </p:nvPicPr>
        <p:blipFill>
          <a:blip r:embed="rId4"/>
          <a:stretch>
            <a:fillRect/>
          </a:stretch>
        </p:blipFill>
        <p:spPr>
          <a:xfrm>
            <a:off x="8497261" y="1713128"/>
            <a:ext cx="231343" cy="231343"/>
          </a:xfrm>
          <a:prstGeom prst="rect">
            <a:avLst/>
          </a:prstGeom>
        </p:spPr>
      </p:pic>
      <p:sp>
        <p:nvSpPr>
          <p:cNvPr id="11" name="Text 5"/>
          <p:cNvSpPr txBox="1"/>
          <p:nvPr/>
        </p:nvSpPr>
        <p:spPr>
          <a:xfrm>
            <a:off x="8987837" y="1600200"/>
            <a:ext cx="2655218" cy="109270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Una columna</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Tarjetas e indicadores en una columna, gráficos a lo ancho.</a:t>
            </a:r>
            <a:endParaRPr lang="en-US" sz="1500" dirty="0"/>
          </a:p>
        </p:txBody>
      </p:sp>
      <p:sp>
        <p:nvSpPr>
          <p:cNvPr id="12" name="Shape 6"/>
          <p:cNvSpPr/>
          <p:nvPr/>
        </p:nvSpPr>
        <p:spPr>
          <a:xfrm>
            <a:off x="8402621" y="2784348"/>
            <a:ext cx="420624" cy="420624"/>
          </a:xfrm>
          <a:prstGeom prst="ellipse">
            <a:avLst/>
          </a:prstGeom>
          <a:solidFill>
            <a:srgbClr val="E8EAF6"/>
          </a:solidFill>
          <a:ln w="12700">
            <a:solidFill>
              <a:srgbClr val="E8EAF6"/>
            </a:solidFill>
            <a:prstDash val="solid"/>
          </a:ln>
        </p:spPr>
      </p:sp>
      <p:pic>
        <p:nvPicPr>
          <p:cNvPr id="13" name="Image 4" descr="preencoded.png">    </p:cNvPr>
          <p:cNvPicPr>
            <a:picLocks noChangeAspect="1"/>
          </p:cNvPicPr>
          <p:nvPr/>
        </p:nvPicPr>
        <p:blipFill>
          <a:blip r:embed="rId5"/>
          <a:stretch>
            <a:fillRect/>
          </a:stretch>
        </p:blipFill>
        <p:spPr>
          <a:xfrm>
            <a:off x="8497261" y="2878988"/>
            <a:ext cx="231343" cy="231343"/>
          </a:xfrm>
          <a:prstGeom prst="rect">
            <a:avLst/>
          </a:prstGeom>
        </p:spPr>
      </p:pic>
      <p:sp>
        <p:nvSpPr>
          <p:cNvPr id="14" name="Text 7"/>
          <p:cNvSpPr txBox="1"/>
          <p:nvPr/>
        </p:nvSpPr>
        <p:spPr>
          <a:xfrm>
            <a:off x="8987837" y="2766060"/>
            <a:ext cx="2655218" cy="109270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Filtros plegados</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En un botón «Filtros» para ganar espacio.</a:t>
            </a:r>
            <a:endParaRPr lang="en-US" sz="1500" dirty="0"/>
          </a:p>
        </p:txBody>
      </p:sp>
      <p:sp>
        <p:nvSpPr>
          <p:cNvPr id="15" name="Shape 8"/>
          <p:cNvSpPr/>
          <p:nvPr/>
        </p:nvSpPr>
        <p:spPr>
          <a:xfrm>
            <a:off x="8402621" y="3950208"/>
            <a:ext cx="420624" cy="420624"/>
          </a:xfrm>
          <a:prstGeom prst="ellipse">
            <a:avLst/>
          </a:prstGeom>
          <a:solidFill>
            <a:srgbClr val="E8EAF6"/>
          </a:solidFill>
          <a:ln w="12700">
            <a:solidFill>
              <a:srgbClr val="E8EAF6"/>
            </a:solidFill>
            <a:prstDash val="solid"/>
          </a:ln>
        </p:spPr>
      </p:sp>
      <p:pic>
        <p:nvPicPr>
          <p:cNvPr id="16" name="Image 5" descr="preencoded.png">    </p:cNvPr>
          <p:cNvPicPr>
            <a:picLocks noChangeAspect="1"/>
          </p:cNvPicPr>
          <p:nvPr/>
        </p:nvPicPr>
        <p:blipFill>
          <a:blip r:embed="rId6"/>
          <a:stretch>
            <a:fillRect/>
          </a:stretch>
        </p:blipFill>
        <p:spPr>
          <a:xfrm>
            <a:off x="8497261" y="4044848"/>
            <a:ext cx="231343" cy="231343"/>
          </a:xfrm>
          <a:prstGeom prst="rect">
            <a:avLst/>
          </a:prstGeom>
        </p:spPr>
      </p:pic>
      <p:sp>
        <p:nvSpPr>
          <p:cNvPr id="17" name="Text 9"/>
          <p:cNvSpPr txBox="1"/>
          <p:nvPr/>
        </p:nvSpPr>
        <p:spPr>
          <a:xfrm>
            <a:off x="8987837" y="3931920"/>
            <a:ext cx="2655218" cy="109270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Barra inferior</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Inicio, Proyecto, Nuevo, Recursos y Ayuda, al alcance del pulgar.</a:t>
            </a:r>
            <a:endParaRPr lang="en-US" sz="1500" dirty="0"/>
          </a:p>
        </p:txBody>
      </p:sp>
      <p:sp>
        <p:nvSpPr>
          <p:cNvPr id="18" name="Shape 10"/>
          <p:cNvSpPr/>
          <p:nvPr/>
        </p:nvSpPr>
        <p:spPr>
          <a:xfrm>
            <a:off x="8402621" y="5116068"/>
            <a:ext cx="420624" cy="420624"/>
          </a:xfrm>
          <a:prstGeom prst="ellipse">
            <a:avLst/>
          </a:prstGeom>
          <a:solidFill>
            <a:srgbClr val="E8EAF6"/>
          </a:solidFill>
          <a:ln w="12700">
            <a:solidFill>
              <a:srgbClr val="E8EAF6"/>
            </a:solidFill>
            <a:prstDash val="solid"/>
          </a:ln>
        </p:spPr>
      </p:sp>
      <p:pic>
        <p:nvPicPr>
          <p:cNvPr id="19" name="Image 6" descr="preencoded.png">    </p:cNvPr>
          <p:cNvPicPr>
            <a:picLocks noChangeAspect="1"/>
          </p:cNvPicPr>
          <p:nvPr/>
        </p:nvPicPr>
        <p:blipFill>
          <a:blip r:embed="rId7"/>
          <a:stretch>
            <a:fillRect/>
          </a:stretch>
        </p:blipFill>
        <p:spPr>
          <a:xfrm>
            <a:off x="8497261" y="5210708"/>
            <a:ext cx="231343" cy="231343"/>
          </a:xfrm>
          <a:prstGeom prst="rect">
            <a:avLst/>
          </a:prstGeom>
        </p:spPr>
      </p:pic>
      <p:sp>
        <p:nvSpPr>
          <p:cNvPr id="20" name="Text 11"/>
          <p:cNvSpPr txBox="1"/>
          <p:nvPr/>
        </p:nvSpPr>
        <p:spPr>
          <a:xfrm>
            <a:off x="8987837" y="5097780"/>
            <a:ext cx="2655218" cy="109270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Pestañas de módulos</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El menú lateral se vuelve pestañas bajo la cabecera.</a:t>
            </a:r>
            <a:endParaRPr lang="en-US" sz="1500" dirty="0"/>
          </a:p>
        </p:txBody>
      </p:sp>
      <p:sp>
        <p:nvSpPr>
          <p:cNvPr id="21" name="Text 1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Aprender mientras usas</a:t>
            </a:r>
            <a:endParaRPr lang="en-US" sz="1000" dirty="0"/>
          </a:p>
        </p:txBody>
      </p:sp>
      <p:sp>
        <p:nvSpPr>
          <p:cNvPr id="22" name="Text 1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106</a:t>
            </a:r>
            <a:endParaRPr lang="en-US" sz="10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En el celular (2): hitos, recursos y asistente</a:t>
            </a:r>
            <a:endParaRPr lang="en-US" sz="2800" dirty="0"/>
          </a:p>
        </p:txBody>
      </p:sp>
      <p:sp>
        <p:nvSpPr>
          <p:cNvPr id="3" name="Shape 1"/>
          <p:cNvSpPr/>
          <p:nvPr/>
        </p:nvSpPr>
        <p:spPr>
          <a:xfrm>
            <a:off x="512064" y="1481328"/>
            <a:ext cx="2358914" cy="4892040"/>
          </a:xfrm>
          <a:prstGeom prst="roundRect">
            <a:avLst>
              <a:gd name="adj" fmla="val 6977"/>
            </a:avLst>
          </a:prstGeom>
          <a:solidFill>
            <a:srgbClr val="1B1C22"/>
          </a:solidFill>
          <a:ln w="12700">
            <a:solidFill>
              <a:srgbClr val="1B1C22"/>
            </a:solidFill>
            <a:prstDash val="solid"/>
          </a:ln>
          <a:effectLst>
            <a:outerShdw sx="100000" sy="100000" kx="0" ky="0" algn="bl" rotWithShape="0" blurRad="101600" dist="25400" dir="5400000">
              <a:srgbClr val="000000">
                <a:alpha val="20000"/>
              </a:srgbClr>
            </a:outerShdw>
          </a:effectLst>
        </p:spPr>
      </p:sp>
      <p:pic>
        <p:nvPicPr>
          <p:cNvPr id="4" name="Image 0" descr="/tmp/claude-0/-home-user-01-awp/0b94e63d-a2ea-5e41-b4e8-6fcedbe96518/scratchpad/ppt/img/movil_hitos.jpg">    </p:cNvPr>
          <p:cNvPicPr>
            <a:picLocks noChangeAspect="1"/>
          </p:cNvPicPr>
          <p:nvPr/>
        </p:nvPicPr>
        <p:blipFill>
          <a:blip r:embed="rId1"/>
          <a:stretch>
            <a:fillRect/>
          </a:stretch>
        </p:blipFill>
        <p:spPr>
          <a:xfrm>
            <a:off x="603504" y="1572768"/>
            <a:ext cx="2176034" cy="4709160"/>
          </a:xfrm>
          <a:prstGeom prst="rect">
            <a:avLst/>
          </a:prstGeom>
        </p:spPr>
      </p:pic>
      <p:sp>
        <p:nvSpPr>
          <p:cNvPr id="5" name="Shape 2"/>
          <p:cNvSpPr/>
          <p:nvPr/>
        </p:nvSpPr>
        <p:spPr>
          <a:xfrm>
            <a:off x="3008138" y="1481328"/>
            <a:ext cx="2358914" cy="4892040"/>
          </a:xfrm>
          <a:prstGeom prst="roundRect">
            <a:avLst>
              <a:gd name="adj" fmla="val 6977"/>
            </a:avLst>
          </a:prstGeom>
          <a:solidFill>
            <a:srgbClr val="1B1C22"/>
          </a:solidFill>
          <a:ln w="12700">
            <a:solidFill>
              <a:srgbClr val="1B1C22"/>
            </a:solidFill>
            <a:prstDash val="solid"/>
          </a:ln>
          <a:effectLst>
            <a:outerShdw sx="100000" sy="100000" kx="0" ky="0" algn="bl" rotWithShape="0" blurRad="101600" dist="25400" dir="5400000">
              <a:srgbClr val="000000">
                <a:alpha val="20000"/>
              </a:srgbClr>
            </a:outerShdw>
          </a:effectLst>
        </p:spPr>
      </p:sp>
      <p:pic>
        <p:nvPicPr>
          <p:cNvPr id="6" name="Image 1" descr="/tmp/claude-0/-home-user-01-awp/0b94e63d-a2ea-5e41-b4e8-6fcedbe96518/scratchpad/ppt/img/movil_recursos.jpg">    </p:cNvPr>
          <p:cNvPicPr>
            <a:picLocks noChangeAspect="1"/>
          </p:cNvPicPr>
          <p:nvPr/>
        </p:nvPicPr>
        <p:blipFill>
          <a:blip r:embed="rId2"/>
          <a:stretch>
            <a:fillRect/>
          </a:stretch>
        </p:blipFill>
        <p:spPr>
          <a:xfrm>
            <a:off x="3099578" y="1572768"/>
            <a:ext cx="2176034" cy="4709160"/>
          </a:xfrm>
          <a:prstGeom prst="rect">
            <a:avLst/>
          </a:prstGeom>
        </p:spPr>
      </p:pic>
      <p:sp>
        <p:nvSpPr>
          <p:cNvPr id="7" name="Shape 3"/>
          <p:cNvSpPr/>
          <p:nvPr/>
        </p:nvSpPr>
        <p:spPr>
          <a:xfrm>
            <a:off x="5504211" y="1481328"/>
            <a:ext cx="2358914" cy="4892040"/>
          </a:xfrm>
          <a:prstGeom prst="roundRect">
            <a:avLst>
              <a:gd name="adj" fmla="val 6977"/>
            </a:avLst>
          </a:prstGeom>
          <a:solidFill>
            <a:srgbClr val="1B1C22"/>
          </a:solidFill>
          <a:ln w="12700">
            <a:solidFill>
              <a:srgbClr val="1B1C22"/>
            </a:solidFill>
            <a:prstDash val="solid"/>
          </a:ln>
          <a:effectLst>
            <a:outerShdw sx="100000" sy="100000" kx="0" ky="0" algn="bl" rotWithShape="0" blurRad="101600" dist="25400" dir="5400000">
              <a:srgbClr val="000000">
                <a:alpha val="20000"/>
              </a:srgbClr>
            </a:outerShdw>
          </a:effectLst>
        </p:spPr>
      </p:sp>
      <p:pic>
        <p:nvPicPr>
          <p:cNvPr id="8" name="Image 2" descr="/tmp/claude-0/-home-user-01-awp/0b94e63d-a2ea-5e41-b4e8-6fcedbe96518/scratchpad/ppt/img/movil_asistente.jpg">    </p:cNvPr>
          <p:cNvPicPr>
            <a:picLocks noChangeAspect="1"/>
          </p:cNvPicPr>
          <p:nvPr/>
        </p:nvPicPr>
        <p:blipFill>
          <a:blip r:embed="rId3"/>
          <a:stretch>
            <a:fillRect/>
          </a:stretch>
        </p:blipFill>
        <p:spPr>
          <a:xfrm>
            <a:off x="5595651" y="1572768"/>
            <a:ext cx="2176034" cy="4709160"/>
          </a:xfrm>
          <a:prstGeom prst="rect">
            <a:avLst/>
          </a:prstGeom>
        </p:spPr>
      </p:pic>
      <p:sp>
        <p:nvSpPr>
          <p:cNvPr id="9" name="Shape 4"/>
          <p:cNvSpPr/>
          <p:nvPr/>
        </p:nvSpPr>
        <p:spPr>
          <a:xfrm>
            <a:off x="8402621" y="1618488"/>
            <a:ext cx="420624" cy="420624"/>
          </a:xfrm>
          <a:prstGeom prst="ellipse">
            <a:avLst/>
          </a:prstGeom>
          <a:solidFill>
            <a:srgbClr val="E8EAF6"/>
          </a:solidFill>
          <a:ln w="12700">
            <a:solidFill>
              <a:srgbClr val="E8EAF6"/>
            </a:solidFill>
            <a:prstDash val="solid"/>
          </a:ln>
        </p:spPr>
      </p:sp>
      <p:pic>
        <p:nvPicPr>
          <p:cNvPr id="10" name="Image 3" descr="preencoded.png">    </p:cNvPr>
          <p:cNvPicPr>
            <a:picLocks noChangeAspect="1"/>
          </p:cNvPicPr>
          <p:nvPr/>
        </p:nvPicPr>
        <p:blipFill>
          <a:blip r:embed="rId4"/>
          <a:stretch>
            <a:fillRect/>
          </a:stretch>
        </p:blipFill>
        <p:spPr>
          <a:xfrm>
            <a:off x="8497261" y="1713128"/>
            <a:ext cx="231343" cy="231343"/>
          </a:xfrm>
          <a:prstGeom prst="rect">
            <a:avLst/>
          </a:prstGeom>
        </p:spPr>
      </p:pic>
      <p:sp>
        <p:nvSpPr>
          <p:cNvPr id="11" name="Text 5"/>
          <p:cNvSpPr txBox="1"/>
          <p:nvPr/>
        </p:nvSpPr>
        <p:spPr>
          <a:xfrm>
            <a:off x="8987837" y="1600200"/>
            <a:ext cx="2655218" cy="109270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Tablas como tarjetas</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Cada fila de la tabla de hitos se muestra como una tarjeta legible.</a:t>
            </a:r>
            <a:endParaRPr lang="en-US" sz="1500" dirty="0"/>
          </a:p>
        </p:txBody>
      </p:sp>
      <p:sp>
        <p:nvSpPr>
          <p:cNvPr id="12" name="Shape 6"/>
          <p:cNvSpPr/>
          <p:nvPr/>
        </p:nvSpPr>
        <p:spPr>
          <a:xfrm>
            <a:off x="8402621" y="2784348"/>
            <a:ext cx="420624" cy="420624"/>
          </a:xfrm>
          <a:prstGeom prst="ellipse">
            <a:avLst/>
          </a:prstGeom>
          <a:solidFill>
            <a:srgbClr val="E8EAF6"/>
          </a:solidFill>
          <a:ln w="12700">
            <a:solidFill>
              <a:srgbClr val="E8EAF6"/>
            </a:solidFill>
            <a:prstDash val="solid"/>
          </a:ln>
        </p:spPr>
      </p:sp>
      <p:pic>
        <p:nvPicPr>
          <p:cNvPr id="13" name="Image 4" descr="preencoded.png">    </p:cNvPr>
          <p:cNvPicPr>
            <a:picLocks noChangeAspect="1"/>
          </p:cNvPicPr>
          <p:nvPr/>
        </p:nvPicPr>
        <p:blipFill>
          <a:blip r:embed="rId5"/>
          <a:stretch>
            <a:fillRect/>
          </a:stretch>
        </p:blipFill>
        <p:spPr>
          <a:xfrm>
            <a:off x="8497261" y="2878988"/>
            <a:ext cx="231343" cy="231343"/>
          </a:xfrm>
          <a:prstGeom prst="rect">
            <a:avLst/>
          </a:prstGeom>
        </p:spPr>
      </p:pic>
      <p:sp>
        <p:nvSpPr>
          <p:cNvPr id="14" name="Text 7"/>
          <p:cNvSpPr txBox="1"/>
          <p:nvPr/>
        </p:nvSpPr>
        <p:spPr>
          <a:xfrm>
            <a:off x="8987837" y="2766060"/>
            <a:ext cx="2655218" cy="109270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Descargar en obra</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Las plantillas se descargan directo al celular.</a:t>
            </a:r>
            <a:endParaRPr lang="en-US" sz="1500" dirty="0"/>
          </a:p>
        </p:txBody>
      </p:sp>
      <p:sp>
        <p:nvSpPr>
          <p:cNvPr id="15" name="Shape 8"/>
          <p:cNvSpPr/>
          <p:nvPr/>
        </p:nvSpPr>
        <p:spPr>
          <a:xfrm>
            <a:off x="8402621" y="3950208"/>
            <a:ext cx="420624" cy="420624"/>
          </a:xfrm>
          <a:prstGeom prst="ellipse">
            <a:avLst/>
          </a:prstGeom>
          <a:solidFill>
            <a:srgbClr val="E8EAF6"/>
          </a:solidFill>
          <a:ln w="12700">
            <a:solidFill>
              <a:srgbClr val="E8EAF6"/>
            </a:solidFill>
            <a:prstDash val="solid"/>
          </a:ln>
        </p:spPr>
      </p:sp>
      <p:pic>
        <p:nvPicPr>
          <p:cNvPr id="16" name="Image 5" descr="preencoded.png">    </p:cNvPr>
          <p:cNvPicPr>
            <a:picLocks noChangeAspect="1"/>
          </p:cNvPicPr>
          <p:nvPr/>
        </p:nvPicPr>
        <p:blipFill>
          <a:blip r:embed="rId6"/>
          <a:stretch>
            <a:fillRect/>
          </a:stretch>
        </p:blipFill>
        <p:spPr>
          <a:xfrm>
            <a:off x="8497261" y="4044848"/>
            <a:ext cx="231343" cy="231343"/>
          </a:xfrm>
          <a:prstGeom prst="rect">
            <a:avLst/>
          </a:prstGeom>
        </p:spPr>
      </p:pic>
      <p:sp>
        <p:nvSpPr>
          <p:cNvPr id="17" name="Text 9"/>
          <p:cNvSpPr txBox="1"/>
          <p:nvPr/>
        </p:nvSpPr>
        <p:spPr>
          <a:xfrm>
            <a:off x="8987837" y="3931920"/>
            <a:ext cx="2655218" cy="109270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Asistente táctil</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Campos grandes, fechas con el selector del teléfono y borrador automático.</a:t>
            </a:r>
            <a:endParaRPr lang="en-US" sz="1500" dirty="0"/>
          </a:p>
        </p:txBody>
      </p:sp>
      <p:sp>
        <p:nvSpPr>
          <p:cNvPr id="18" name="Shape 10"/>
          <p:cNvSpPr/>
          <p:nvPr/>
        </p:nvSpPr>
        <p:spPr>
          <a:xfrm>
            <a:off x="8402621" y="5116068"/>
            <a:ext cx="420624" cy="420624"/>
          </a:xfrm>
          <a:prstGeom prst="ellipse">
            <a:avLst/>
          </a:prstGeom>
          <a:solidFill>
            <a:srgbClr val="E8EAF6"/>
          </a:solidFill>
          <a:ln w="12700">
            <a:solidFill>
              <a:srgbClr val="E8EAF6"/>
            </a:solidFill>
            <a:prstDash val="solid"/>
          </a:ln>
        </p:spPr>
      </p:sp>
      <p:pic>
        <p:nvPicPr>
          <p:cNvPr id="19" name="Image 6" descr="preencoded.png">    </p:cNvPr>
          <p:cNvPicPr>
            <a:picLocks noChangeAspect="1"/>
          </p:cNvPicPr>
          <p:nvPr/>
        </p:nvPicPr>
        <p:blipFill>
          <a:blip r:embed="rId7"/>
          <a:stretch>
            <a:fillRect/>
          </a:stretch>
        </p:blipFill>
        <p:spPr>
          <a:xfrm>
            <a:off x="8497261" y="5210708"/>
            <a:ext cx="231343" cy="231343"/>
          </a:xfrm>
          <a:prstGeom prst="rect">
            <a:avLst/>
          </a:prstGeom>
        </p:spPr>
      </p:pic>
      <p:sp>
        <p:nvSpPr>
          <p:cNvPr id="20" name="Text 11"/>
          <p:cNvSpPr txBox="1"/>
          <p:nvPr/>
        </p:nvSpPr>
        <p:spPr>
          <a:xfrm>
            <a:off x="8987837" y="5097780"/>
            <a:ext cx="2655218" cy="1092708"/>
          </a:xfrm>
          <a:prstGeom prst="rect">
            <a:avLst/>
          </a:prstGeom>
          <a:noFill/>
          <a:ln/>
        </p:spPr>
        <p:txBody>
          <a:bodyPr wrap="square" lIns="0" tIns="0" rIns="0" bIns="0" rtlCol="0" anchor="t">
            <a:normAutofit/>
          </a:bodyPr>
          <a:lstStyle/>
          <a:p>
            <a:pPr indent="0" marL="0">
              <a:spcAft>
                <a:spcPts val="200"/>
              </a:spcAft>
              <a:buNone/>
            </a:pPr>
            <a:r>
              <a:rPr lang="en-US" sz="1500" b="1" dirty="0">
                <a:solidFill>
                  <a:srgbClr val="1B1C22"/>
                </a:solidFill>
                <a:latin typeface="Calibri" pitchFamily="34" charset="0"/>
                <a:ea typeface="Calibri" pitchFamily="34" charset="-122"/>
                <a:cs typeface="Calibri" pitchFamily="34" charset="-120"/>
              </a:rPr>
              <a:t>Botones grandes</a:t>
            </a:r>
            <a:endParaRPr lang="en-US" sz="1500" dirty="0"/>
          </a:p>
          <a:p>
            <a:pPr indent="0" marL="0">
              <a:spcAft>
                <a:spcPts val="200"/>
              </a:spcAft>
              <a:buNone/>
            </a:pPr>
            <a:r>
              <a:rPr lang="en-US" sz="1300" dirty="0">
                <a:solidFill>
                  <a:srgbClr val="5B5E6B"/>
                </a:solidFill>
                <a:latin typeface="Calibri" pitchFamily="34" charset="0"/>
                <a:ea typeface="Calibri" pitchFamily="34" charset="-122"/>
                <a:cs typeface="Calibri" pitchFamily="34" charset="-120"/>
              </a:rPr>
              <a:t>Todos los controles tienen un área táctil cómoda.</a:t>
            </a:r>
            <a:endParaRPr lang="en-US" sz="1500" dirty="0"/>
          </a:p>
        </p:txBody>
      </p:sp>
      <p:sp>
        <p:nvSpPr>
          <p:cNvPr id="21" name="Text 1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Aprender mientras usas</a:t>
            </a:r>
            <a:endParaRPr lang="en-US" sz="1000" dirty="0"/>
          </a:p>
        </p:txBody>
      </p:sp>
      <p:sp>
        <p:nvSpPr>
          <p:cNvPr id="22" name="Text 1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107</a:t>
            </a:r>
            <a:endParaRPr lang="en-US" sz="10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Instalar la aplicación en el celular</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Sin tienda de aplicaciones: se instala desde el navegador</a:t>
            </a:r>
            <a:endParaRPr lang="en-US" sz="1500" dirty="0"/>
          </a:p>
        </p:txBody>
      </p:sp>
      <p:sp>
        <p:nvSpPr>
          <p:cNvPr id="4" name="Shape 2"/>
          <p:cNvSpPr/>
          <p:nvPr/>
        </p:nvSpPr>
        <p:spPr>
          <a:xfrm>
            <a:off x="1849717" y="2103120"/>
            <a:ext cx="8492261" cy="0"/>
          </a:xfrm>
          <a:prstGeom prst="line">
            <a:avLst/>
          </a:prstGeom>
          <a:noFill/>
          <a:ln w="31750">
            <a:solidFill>
              <a:srgbClr val="C5CAE9"/>
            </a:solidFill>
            <a:prstDash val="solid"/>
          </a:ln>
        </p:spPr>
      </p:sp>
      <p:sp>
        <p:nvSpPr>
          <p:cNvPr id="5" name="Shape 3"/>
          <p:cNvSpPr/>
          <p:nvPr/>
        </p:nvSpPr>
        <p:spPr>
          <a:xfrm>
            <a:off x="1483957" y="1737360"/>
            <a:ext cx="731520" cy="731520"/>
          </a:xfrm>
          <a:prstGeom prst="ellipse">
            <a:avLst/>
          </a:prstGeom>
          <a:solidFill>
            <a:srgbClr val="3F51B5"/>
          </a:solidFill>
          <a:ln w="38100">
            <a:solidFill>
              <a:srgbClr val="FFFFFF"/>
            </a:solidFill>
            <a:prstDash val="solid"/>
          </a:ln>
        </p:spPr>
      </p:sp>
      <p:sp>
        <p:nvSpPr>
          <p:cNvPr id="6" name="Text 4"/>
          <p:cNvSpPr txBox="1"/>
          <p:nvPr/>
        </p:nvSpPr>
        <p:spPr>
          <a:xfrm>
            <a:off x="1483957" y="17373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Shape 5"/>
          <p:cNvSpPr/>
          <p:nvPr/>
        </p:nvSpPr>
        <p:spPr>
          <a:xfrm>
            <a:off x="548640" y="2743200"/>
            <a:ext cx="2602154" cy="3291840"/>
          </a:xfrm>
          <a:prstGeom prst="roundRect">
            <a:avLst>
              <a:gd name="adj" fmla="val 3514"/>
            </a:avLst>
          </a:prstGeom>
          <a:solidFill>
            <a:srgbClr val="F5F6FB"/>
          </a:solidFill>
          <a:ln w="9525">
            <a:solidFill>
              <a:srgbClr val="E3E5EE"/>
            </a:solidFill>
            <a:prstDash val="solid"/>
          </a:ln>
        </p:spPr>
      </p:sp>
      <p:sp>
        <p:nvSpPr>
          <p:cNvPr id="8" name="Text 6"/>
          <p:cNvSpPr txBox="1"/>
          <p:nvPr/>
        </p:nvSpPr>
        <p:spPr>
          <a:xfrm>
            <a:off x="731520" y="2907792"/>
            <a:ext cx="2236394" cy="731520"/>
          </a:xfrm>
          <a:prstGeom prst="rect">
            <a:avLst/>
          </a:prstGeom>
          <a:noFill/>
          <a:ln/>
        </p:spPr>
        <p:txBody>
          <a:bodyPr wrap="square" lIns="0" tIns="0" rIns="0" bIns="0" rtlCol="0" anchor="t">
            <a:normAutofit/>
          </a:bodyPr>
          <a:lstStyle/>
          <a:p>
            <a:pPr indent="0" marL="0">
              <a:buNone/>
            </a:pPr>
            <a:r>
              <a:rPr lang="en-US" sz="1700" b="1" dirty="0">
                <a:solidFill>
                  <a:srgbClr val="283593"/>
                </a:solidFill>
                <a:latin typeface="Calibri" pitchFamily="34" charset="0"/>
                <a:ea typeface="Calibri" pitchFamily="34" charset="-122"/>
                <a:cs typeface="Calibri" pitchFamily="34" charset="-120"/>
              </a:rPr>
              <a:t>Abre la dirección</a:t>
            </a:r>
            <a:endParaRPr lang="en-US" sz="1700" dirty="0"/>
          </a:p>
        </p:txBody>
      </p:sp>
      <p:sp>
        <p:nvSpPr>
          <p:cNvPr id="9" name="Text 7"/>
          <p:cNvSpPr txBox="1"/>
          <p:nvPr/>
        </p:nvSpPr>
        <p:spPr>
          <a:xfrm>
            <a:off x="731520" y="3657600"/>
            <a:ext cx="2236394" cy="2286000"/>
          </a:xfrm>
          <a:prstGeom prst="rect">
            <a:avLst/>
          </a:prstGeom>
          <a:noFill/>
          <a:ln/>
        </p:spPr>
        <p:txBody>
          <a:bodyPr wrap="square" lIns="0" tIns="0" rIns="0" bIns="0" rtlCol="0" anchor="t">
            <a:normAutofit/>
          </a:bodyPr>
          <a:lstStyle/>
          <a:p>
            <a:pPr indent="0" marL="0">
              <a:buNone/>
            </a:pPr>
            <a:r>
              <a:rPr lang="en-US" sz="1600" dirty="0">
                <a:solidFill>
                  <a:srgbClr val="1B1C22"/>
                </a:solidFill>
                <a:latin typeface="Calibri" pitchFamily="34" charset="0"/>
                <a:ea typeface="Calibri" pitchFamily="34" charset="-122"/>
                <a:cs typeface="Calibri" pitchFamily="34" charset="-120"/>
              </a:rPr>
              <a:t>ehchavezm-hub.github.io/01-awp/app/ en Chrome (Android) o Safari (iPhone).</a:t>
            </a:r>
            <a:endParaRPr lang="en-US" sz="1600" dirty="0"/>
          </a:p>
        </p:txBody>
      </p:sp>
      <p:sp>
        <p:nvSpPr>
          <p:cNvPr id="10" name="Shape 8"/>
          <p:cNvSpPr/>
          <p:nvPr/>
        </p:nvSpPr>
        <p:spPr>
          <a:xfrm>
            <a:off x="4314711" y="1737360"/>
            <a:ext cx="731520" cy="731520"/>
          </a:xfrm>
          <a:prstGeom prst="ellipse">
            <a:avLst/>
          </a:prstGeom>
          <a:solidFill>
            <a:srgbClr val="3F51B5"/>
          </a:solidFill>
          <a:ln w="38100">
            <a:solidFill>
              <a:srgbClr val="FFFFFF"/>
            </a:solidFill>
            <a:prstDash val="solid"/>
          </a:ln>
        </p:spPr>
      </p:sp>
      <p:sp>
        <p:nvSpPr>
          <p:cNvPr id="11" name="Text 9"/>
          <p:cNvSpPr txBox="1"/>
          <p:nvPr/>
        </p:nvSpPr>
        <p:spPr>
          <a:xfrm>
            <a:off x="4314711" y="17373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2" name="Shape 10"/>
          <p:cNvSpPr/>
          <p:nvPr/>
        </p:nvSpPr>
        <p:spPr>
          <a:xfrm>
            <a:off x="3379394" y="2743200"/>
            <a:ext cx="2602154" cy="3291840"/>
          </a:xfrm>
          <a:prstGeom prst="roundRect">
            <a:avLst>
              <a:gd name="adj" fmla="val 3514"/>
            </a:avLst>
          </a:prstGeom>
          <a:solidFill>
            <a:srgbClr val="F5F6FB"/>
          </a:solidFill>
          <a:ln w="9525">
            <a:solidFill>
              <a:srgbClr val="E3E5EE"/>
            </a:solidFill>
            <a:prstDash val="solid"/>
          </a:ln>
        </p:spPr>
      </p:sp>
      <p:sp>
        <p:nvSpPr>
          <p:cNvPr id="13" name="Text 11"/>
          <p:cNvSpPr txBox="1"/>
          <p:nvPr/>
        </p:nvSpPr>
        <p:spPr>
          <a:xfrm>
            <a:off x="3562274" y="2907792"/>
            <a:ext cx="2236394" cy="731520"/>
          </a:xfrm>
          <a:prstGeom prst="rect">
            <a:avLst/>
          </a:prstGeom>
          <a:noFill/>
          <a:ln/>
        </p:spPr>
        <p:txBody>
          <a:bodyPr wrap="square" lIns="0" tIns="0" rIns="0" bIns="0" rtlCol="0" anchor="t">
            <a:normAutofit/>
          </a:bodyPr>
          <a:lstStyle/>
          <a:p>
            <a:pPr indent="0" marL="0">
              <a:buNone/>
            </a:pPr>
            <a:r>
              <a:rPr lang="en-US" sz="1700" b="1" dirty="0">
                <a:solidFill>
                  <a:srgbClr val="283593"/>
                </a:solidFill>
                <a:latin typeface="Calibri" pitchFamily="34" charset="0"/>
                <a:ea typeface="Calibri" pitchFamily="34" charset="-122"/>
                <a:cs typeface="Calibri" pitchFamily="34" charset="-120"/>
              </a:rPr>
              <a:t>Menú del navegador</a:t>
            </a:r>
            <a:endParaRPr lang="en-US" sz="1700" dirty="0"/>
          </a:p>
        </p:txBody>
      </p:sp>
      <p:sp>
        <p:nvSpPr>
          <p:cNvPr id="14" name="Text 12"/>
          <p:cNvSpPr txBox="1"/>
          <p:nvPr/>
        </p:nvSpPr>
        <p:spPr>
          <a:xfrm>
            <a:off x="3562274" y="3657600"/>
            <a:ext cx="2236394" cy="2286000"/>
          </a:xfrm>
          <a:prstGeom prst="rect">
            <a:avLst/>
          </a:prstGeom>
          <a:noFill/>
          <a:ln/>
        </p:spPr>
        <p:txBody>
          <a:bodyPr wrap="square" lIns="0" tIns="0" rIns="0" bIns="0" rtlCol="0" anchor="t">
            <a:normAutofit/>
          </a:bodyPr>
          <a:lstStyle/>
          <a:p>
            <a:pPr indent="0" marL="0">
              <a:buNone/>
            </a:pPr>
            <a:r>
              <a:rPr lang="en-US" sz="1600" dirty="0">
                <a:solidFill>
                  <a:srgbClr val="1B1C22"/>
                </a:solidFill>
                <a:latin typeface="Calibri" pitchFamily="34" charset="0"/>
                <a:ea typeface="Calibri" pitchFamily="34" charset="-122"/>
                <a:cs typeface="Calibri" pitchFamily="34" charset="-120"/>
              </a:rPr>
              <a:t>En Android: menú ⋮ → «Instalar aplicación» o «Agregar a pantalla principal». En iPhone: Compartir → «Agregar a inicio».</a:t>
            </a:r>
            <a:endParaRPr lang="en-US" sz="1600" dirty="0"/>
          </a:p>
        </p:txBody>
      </p:sp>
      <p:sp>
        <p:nvSpPr>
          <p:cNvPr id="15" name="Shape 13"/>
          <p:cNvSpPr/>
          <p:nvPr/>
        </p:nvSpPr>
        <p:spPr>
          <a:xfrm>
            <a:off x="7145465" y="1737360"/>
            <a:ext cx="731520" cy="731520"/>
          </a:xfrm>
          <a:prstGeom prst="ellipse">
            <a:avLst/>
          </a:prstGeom>
          <a:solidFill>
            <a:srgbClr val="3F51B5"/>
          </a:solidFill>
          <a:ln w="38100">
            <a:solidFill>
              <a:srgbClr val="FFFFFF"/>
            </a:solidFill>
            <a:prstDash val="solid"/>
          </a:ln>
        </p:spPr>
      </p:sp>
      <p:sp>
        <p:nvSpPr>
          <p:cNvPr id="16" name="Text 14"/>
          <p:cNvSpPr txBox="1"/>
          <p:nvPr/>
        </p:nvSpPr>
        <p:spPr>
          <a:xfrm>
            <a:off x="7145465" y="17373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7" name="Shape 15"/>
          <p:cNvSpPr/>
          <p:nvPr/>
        </p:nvSpPr>
        <p:spPr>
          <a:xfrm>
            <a:off x="6210148" y="2743200"/>
            <a:ext cx="2602154" cy="3291840"/>
          </a:xfrm>
          <a:prstGeom prst="roundRect">
            <a:avLst>
              <a:gd name="adj" fmla="val 3514"/>
            </a:avLst>
          </a:prstGeom>
          <a:solidFill>
            <a:srgbClr val="F5F6FB"/>
          </a:solidFill>
          <a:ln w="9525">
            <a:solidFill>
              <a:srgbClr val="E3E5EE"/>
            </a:solidFill>
            <a:prstDash val="solid"/>
          </a:ln>
        </p:spPr>
      </p:sp>
      <p:sp>
        <p:nvSpPr>
          <p:cNvPr id="18" name="Text 16"/>
          <p:cNvSpPr txBox="1"/>
          <p:nvPr/>
        </p:nvSpPr>
        <p:spPr>
          <a:xfrm>
            <a:off x="6393028" y="2907792"/>
            <a:ext cx="2236394" cy="731520"/>
          </a:xfrm>
          <a:prstGeom prst="rect">
            <a:avLst/>
          </a:prstGeom>
          <a:noFill/>
          <a:ln/>
        </p:spPr>
        <p:txBody>
          <a:bodyPr wrap="square" lIns="0" tIns="0" rIns="0" bIns="0" rtlCol="0" anchor="t">
            <a:normAutofit/>
          </a:bodyPr>
          <a:lstStyle/>
          <a:p>
            <a:pPr indent="0" marL="0">
              <a:buNone/>
            </a:pPr>
            <a:r>
              <a:rPr lang="en-US" sz="1700" b="1" dirty="0">
                <a:solidFill>
                  <a:srgbClr val="283593"/>
                </a:solidFill>
                <a:latin typeface="Calibri" pitchFamily="34" charset="0"/>
                <a:ea typeface="Calibri" pitchFamily="34" charset="-122"/>
                <a:cs typeface="Calibri" pitchFamily="34" charset="-120"/>
              </a:rPr>
              <a:t>Ícono en tu pantalla</a:t>
            </a:r>
            <a:endParaRPr lang="en-US" sz="1700" dirty="0"/>
          </a:p>
        </p:txBody>
      </p:sp>
      <p:sp>
        <p:nvSpPr>
          <p:cNvPr id="19" name="Text 17"/>
          <p:cNvSpPr txBox="1"/>
          <p:nvPr/>
        </p:nvSpPr>
        <p:spPr>
          <a:xfrm>
            <a:off x="6393028" y="3657600"/>
            <a:ext cx="2236394" cy="2286000"/>
          </a:xfrm>
          <a:prstGeom prst="rect">
            <a:avLst/>
          </a:prstGeom>
          <a:noFill/>
          <a:ln/>
        </p:spPr>
        <p:txBody>
          <a:bodyPr wrap="square" lIns="0" tIns="0" rIns="0" bIns="0" rtlCol="0" anchor="t">
            <a:normAutofit/>
          </a:bodyPr>
          <a:lstStyle/>
          <a:p>
            <a:pPr indent="0" marL="0">
              <a:buNone/>
            </a:pPr>
            <a:r>
              <a:rPr lang="en-US" sz="1600" dirty="0">
                <a:solidFill>
                  <a:srgbClr val="1B1C22"/>
                </a:solidFill>
                <a:latin typeface="Calibri" pitchFamily="34" charset="0"/>
                <a:ea typeface="Calibri" pitchFamily="34" charset="-122"/>
                <a:cs typeface="Calibri" pitchFamily="34" charset="-120"/>
              </a:rPr>
              <a:t>Aparece el ícono de AWP como una app más.</a:t>
            </a:r>
            <a:endParaRPr lang="en-US" sz="1600" dirty="0"/>
          </a:p>
        </p:txBody>
      </p:sp>
      <p:sp>
        <p:nvSpPr>
          <p:cNvPr id="20" name="Shape 18"/>
          <p:cNvSpPr/>
          <p:nvPr/>
        </p:nvSpPr>
        <p:spPr>
          <a:xfrm>
            <a:off x="9976218" y="1737360"/>
            <a:ext cx="731520" cy="731520"/>
          </a:xfrm>
          <a:prstGeom prst="ellipse">
            <a:avLst/>
          </a:prstGeom>
          <a:solidFill>
            <a:srgbClr val="FFC107"/>
          </a:solidFill>
          <a:ln w="38100">
            <a:solidFill>
              <a:srgbClr val="FFFFFF"/>
            </a:solidFill>
            <a:prstDash val="solid"/>
          </a:ln>
        </p:spPr>
      </p:sp>
      <p:sp>
        <p:nvSpPr>
          <p:cNvPr id="21" name="Text 19"/>
          <p:cNvSpPr txBox="1"/>
          <p:nvPr/>
        </p:nvSpPr>
        <p:spPr>
          <a:xfrm>
            <a:off x="9976218" y="1737360"/>
            <a:ext cx="731520" cy="731520"/>
          </a:xfrm>
          <a:prstGeom prst="rect">
            <a:avLst/>
          </a:prstGeom>
          <a:noFill/>
          <a:ln/>
        </p:spPr>
        <p:txBody>
          <a:bodyPr wrap="square" lIns="0" tIns="0" rIns="0" bIns="0" rtlCol="0" anchor="ctr"/>
          <a:lstStyle/>
          <a:p>
            <a:pPr algn="ctr" indent="0" marL="0">
              <a:buNone/>
            </a:pPr>
            <a:r>
              <a:rPr lang="en-US" sz="2200" b="1" dirty="0">
                <a:solidFill>
                  <a:srgbClr val="1A1F4B"/>
                </a:solidFill>
                <a:latin typeface="Calibri" pitchFamily="34" charset="0"/>
                <a:ea typeface="Calibri" pitchFamily="34" charset="-122"/>
                <a:cs typeface="Calibri" pitchFamily="34" charset="-120"/>
              </a:rPr>
              <a:t>4</a:t>
            </a:r>
            <a:endParaRPr lang="en-US" sz="2200" dirty="0"/>
          </a:p>
        </p:txBody>
      </p:sp>
      <p:sp>
        <p:nvSpPr>
          <p:cNvPr id="22" name="Shape 20"/>
          <p:cNvSpPr/>
          <p:nvPr/>
        </p:nvSpPr>
        <p:spPr>
          <a:xfrm>
            <a:off x="9040901" y="2743200"/>
            <a:ext cx="2602154" cy="3291840"/>
          </a:xfrm>
          <a:prstGeom prst="roundRect">
            <a:avLst>
              <a:gd name="adj" fmla="val 3514"/>
            </a:avLst>
          </a:prstGeom>
          <a:solidFill>
            <a:srgbClr val="F5F6FB"/>
          </a:solidFill>
          <a:ln w="9525">
            <a:solidFill>
              <a:srgbClr val="E3E5EE"/>
            </a:solidFill>
            <a:prstDash val="solid"/>
          </a:ln>
        </p:spPr>
      </p:sp>
      <p:sp>
        <p:nvSpPr>
          <p:cNvPr id="23" name="Text 21"/>
          <p:cNvSpPr txBox="1"/>
          <p:nvPr/>
        </p:nvSpPr>
        <p:spPr>
          <a:xfrm>
            <a:off x="9223781" y="2907792"/>
            <a:ext cx="2236394" cy="731520"/>
          </a:xfrm>
          <a:prstGeom prst="rect">
            <a:avLst/>
          </a:prstGeom>
          <a:noFill/>
          <a:ln/>
        </p:spPr>
        <p:txBody>
          <a:bodyPr wrap="square" lIns="0" tIns="0" rIns="0" bIns="0" rtlCol="0" anchor="t">
            <a:normAutofit/>
          </a:bodyPr>
          <a:lstStyle/>
          <a:p>
            <a:pPr indent="0" marL="0">
              <a:buNone/>
            </a:pPr>
            <a:r>
              <a:rPr lang="en-US" sz="1700" b="1" dirty="0">
                <a:solidFill>
                  <a:srgbClr val="283593"/>
                </a:solidFill>
                <a:latin typeface="Calibri" pitchFamily="34" charset="0"/>
                <a:ea typeface="Calibri" pitchFamily="34" charset="-122"/>
                <a:cs typeface="Calibri" pitchFamily="34" charset="-120"/>
              </a:rPr>
              <a:t>Ábrela a pantalla completa</a:t>
            </a:r>
            <a:endParaRPr lang="en-US" sz="1700" dirty="0"/>
          </a:p>
        </p:txBody>
      </p:sp>
      <p:sp>
        <p:nvSpPr>
          <p:cNvPr id="24" name="Text 22"/>
          <p:cNvSpPr txBox="1"/>
          <p:nvPr/>
        </p:nvSpPr>
        <p:spPr>
          <a:xfrm>
            <a:off x="9223781" y="3657600"/>
            <a:ext cx="2236394" cy="2286000"/>
          </a:xfrm>
          <a:prstGeom prst="rect">
            <a:avLst/>
          </a:prstGeom>
          <a:noFill/>
          <a:ln/>
        </p:spPr>
        <p:txBody>
          <a:bodyPr wrap="square" lIns="0" tIns="0" rIns="0" bIns="0" rtlCol="0" anchor="t">
            <a:normAutofit/>
          </a:bodyPr>
          <a:lstStyle/>
          <a:p>
            <a:pPr indent="0" marL="0">
              <a:buNone/>
            </a:pPr>
            <a:r>
              <a:rPr lang="en-US" sz="1600" dirty="0">
                <a:solidFill>
                  <a:srgbClr val="1B1C22"/>
                </a:solidFill>
                <a:latin typeface="Calibri" pitchFamily="34" charset="0"/>
                <a:ea typeface="Calibri" pitchFamily="34" charset="-122"/>
                <a:cs typeface="Calibri" pitchFamily="34" charset="-120"/>
              </a:rPr>
              <a:t>Sin barra del navegador; la sesión se mantiene.</a:t>
            </a:r>
            <a:endParaRPr lang="en-US" sz="1600" dirty="0"/>
          </a:p>
        </p:txBody>
      </p:sp>
      <p:sp>
        <p:nvSpPr>
          <p:cNvPr id="25" name="Text 23"/>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Aprender mientras usas</a:t>
            </a:r>
            <a:endParaRPr lang="en-US" sz="1000" dirty="0"/>
          </a:p>
        </p:txBody>
      </p:sp>
      <p:sp>
        <p:nvSpPr>
          <p:cNvPr id="26" name="Text 24"/>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108</a:t>
            </a:r>
            <a:endParaRPr lang="en-US" sz="10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1A1F4B"/>
        </a:solidFill>
      </p:bgPr>
    </p:bg>
    <p:spTree>
      <p:nvGrpSpPr>
        <p:cNvPr id="1" name=""/>
        <p:cNvGrpSpPr/>
        <p:nvPr/>
      </p:nvGrpSpPr>
      <p:grpSpPr>
        <a:xfrm>
          <a:off x="0" y="0"/>
          <a:ext cx="0" cy="0"/>
          <a:chOff x="0" y="0"/>
          <a:chExt cx="0" cy="0"/>
        </a:xfrm>
      </p:grpSpPr>
      <p:sp>
        <p:nvSpPr>
          <p:cNvPr id="2" name="Text 0"/>
          <p:cNvSpPr txBox="1"/>
          <p:nvPr/>
        </p:nvSpPr>
        <p:spPr>
          <a:xfrm>
            <a:off x="548640" y="1188720"/>
            <a:ext cx="2743200" cy="1371600"/>
          </a:xfrm>
          <a:prstGeom prst="rect">
            <a:avLst/>
          </a:prstGeom>
          <a:noFill/>
          <a:ln/>
        </p:spPr>
        <p:txBody>
          <a:bodyPr wrap="square" lIns="0" tIns="0" rIns="0" bIns="0" rtlCol="0" anchor="t"/>
          <a:lstStyle/>
          <a:p>
            <a:pPr indent="0" marL="0">
              <a:buNone/>
            </a:pPr>
            <a:r>
              <a:rPr lang="en-US" sz="9600" b="1" dirty="0">
                <a:solidFill>
                  <a:srgbClr val="FFC107"/>
                </a:solidFill>
                <a:latin typeface="Calibri" pitchFamily="34" charset="0"/>
                <a:ea typeface="Calibri" pitchFamily="34" charset="-122"/>
                <a:cs typeface="Calibri" pitchFamily="34" charset="-120"/>
              </a:rPr>
              <a:t>13</a:t>
            </a:r>
            <a:endParaRPr lang="en-US" sz="9600" dirty="0"/>
          </a:p>
        </p:txBody>
      </p:sp>
      <p:sp>
        <p:nvSpPr>
          <p:cNvPr id="3" name="Text 1"/>
          <p:cNvSpPr txBox="1"/>
          <p:nvPr/>
        </p:nvSpPr>
        <p:spPr>
          <a:xfrm>
            <a:off x="548640" y="2697480"/>
            <a:ext cx="5852160" cy="132588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Datos y seguridad</a:t>
            </a:r>
            <a:endParaRPr lang="en-US" sz="3800" dirty="0"/>
          </a:p>
        </p:txBody>
      </p:sp>
      <p:sp>
        <p:nvSpPr>
          <p:cNvPr id="4" name="Text 2"/>
          <p:cNvSpPr txBox="1"/>
          <p:nvPr/>
        </p:nvSpPr>
        <p:spPr>
          <a:xfrm>
            <a:off x="548640" y="4160520"/>
            <a:ext cx="5486400" cy="1097280"/>
          </a:xfrm>
          <a:prstGeom prst="rect">
            <a:avLst/>
          </a:prstGeom>
          <a:noFill/>
          <a:ln/>
        </p:spPr>
        <p:txBody>
          <a:bodyPr wrap="square" lIns="0" tIns="0" rIns="0" bIns="0" rtlCol="0" anchor="t"/>
          <a:lstStyle/>
          <a:p>
            <a:pPr indent="0" marL="0">
              <a:buNone/>
            </a:pPr>
            <a:r>
              <a:rPr lang="en-US" sz="1800" dirty="0">
                <a:solidFill>
                  <a:srgbClr val="C5CAE9"/>
                </a:solidFill>
                <a:latin typeface="Calibri" pitchFamily="34" charset="0"/>
                <a:ea typeface="Calibri" pitchFamily="34" charset="-122"/>
                <a:cs typeface="Calibri" pitchFamily="34" charset="-120"/>
              </a:rPr>
              <a:t>Dónde viven tus datos y cómo se protegen</a:t>
            </a:r>
            <a:endParaRPr lang="en-US" sz="1800" dirty="0"/>
          </a:p>
        </p:txBody>
      </p:sp>
      <p:sp>
        <p:nvSpPr>
          <p:cNvPr id="5" name="Shape 3"/>
          <p:cNvSpPr/>
          <p:nvPr/>
        </p:nvSpPr>
        <p:spPr>
          <a:xfrm>
            <a:off x="6766560" y="1234440"/>
            <a:ext cx="4892040" cy="4480560"/>
          </a:xfrm>
          <a:prstGeom prst="roundRect">
            <a:avLst>
              <a:gd name="adj" fmla="val 2449"/>
            </a:avLst>
          </a:prstGeom>
          <a:solidFill>
            <a:srgbClr val="252B5E"/>
          </a:solidFill>
          <a:ln w="12700">
            <a:solidFill>
              <a:srgbClr val="3C4488"/>
            </a:solidFill>
            <a:prstDash val="solid"/>
          </a:ln>
        </p:spPr>
      </p:sp>
      <p:sp>
        <p:nvSpPr>
          <p:cNvPr id="6" name="Text 4"/>
          <p:cNvSpPr txBox="1"/>
          <p:nvPr/>
        </p:nvSpPr>
        <p:spPr>
          <a:xfrm>
            <a:off x="7132320" y="1508760"/>
            <a:ext cx="4206240" cy="320040"/>
          </a:xfrm>
          <a:prstGeom prst="rect">
            <a:avLst/>
          </a:prstGeom>
          <a:noFill/>
          <a:ln/>
        </p:spPr>
        <p:txBody>
          <a:bodyPr wrap="square" lIns="0" tIns="0" rIns="0" bIns="0" rtlCol="0" anchor="t"/>
          <a:lstStyle/>
          <a:p>
            <a:pPr indent="0" marL="0">
              <a:buNone/>
            </a:pPr>
            <a:r>
              <a:rPr lang="en-US" sz="1200" b="1" spc="200" kern="0" dirty="0">
                <a:solidFill>
                  <a:srgbClr val="FFC107"/>
                </a:solidFill>
                <a:latin typeface="Calibri" pitchFamily="34" charset="0"/>
                <a:ea typeface="Calibri" pitchFamily="34" charset="-122"/>
                <a:cs typeface="Calibri" pitchFamily="34" charset="-120"/>
              </a:rPr>
              <a:t>EN ESTA SECCIÓN</a:t>
            </a:r>
            <a:endParaRPr lang="en-US" sz="1200" dirty="0"/>
          </a:p>
        </p:txBody>
      </p:sp>
      <p:sp>
        <p:nvSpPr>
          <p:cNvPr id="7" name="Shape 5"/>
          <p:cNvSpPr/>
          <p:nvPr/>
        </p:nvSpPr>
        <p:spPr>
          <a:xfrm>
            <a:off x="7178040" y="2103120"/>
            <a:ext cx="146304" cy="146304"/>
          </a:xfrm>
          <a:prstGeom prst="ellipse">
            <a:avLst/>
          </a:prstGeom>
          <a:solidFill>
            <a:srgbClr val="FFC107"/>
          </a:solidFill>
          <a:ln w="12700">
            <a:solidFill>
              <a:srgbClr val="FFC107"/>
            </a:solidFill>
            <a:prstDash val="solid"/>
          </a:ln>
        </p:spPr>
      </p:sp>
      <p:sp>
        <p:nvSpPr>
          <p:cNvPr id="8" name="Text 6"/>
          <p:cNvSpPr txBox="1"/>
          <p:nvPr/>
        </p:nvSpPr>
        <p:spPr>
          <a:xfrm>
            <a:off x="7498080" y="2011680"/>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Supabase y Row Level Security</a:t>
            </a:r>
            <a:endParaRPr lang="en-US" sz="1700" dirty="0"/>
          </a:p>
        </p:txBody>
      </p:sp>
      <p:sp>
        <p:nvSpPr>
          <p:cNvPr id="9" name="Shape 7"/>
          <p:cNvSpPr/>
          <p:nvPr/>
        </p:nvSpPr>
        <p:spPr>
          <a:xfrm>
            <a:off x="7178040" y="2816352"/>
            <a:ext cx="146304" cy="146304"/>
          </a:xfrm>
          <a:prstGeom prst="ellipse">
            <a:avLst/>
          </a:prstGeom>
          <a:solidFill>
            <a:srgbClr val="FFC107"/>
          </a:solidFill>
          <a:ln w="12700">
            <a:solidFill>
              <a:srgbClr val="FFC107"/>
            </a:solidFill>
            <a:prstDash val="solid"/>
          </a:ln>
        </p:spPr>
      </p:sp>
      <p:sp>
        <p:nvSpPr>
          <p:cNvPr id="10" name="Text 8"/>
          <p:cNvSpPr txBox="1"/>
          <p:nvPr/>
        </p:nvSpPr>
        <p:spPr>
          <a:xfrm>
            <a:off x="7498080" y="2724912"/>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Accesos por proyecto</a:t>
            </a:r>
            <a:endParaRPr lang="en-US" sz="1700" dirty="0"/>
          </a:p>
        </p:txBody>
      </p:sp>
      <p:sp>
        <p:nvSpPr>
          <p:cNvPr id="11" name="Shape 9"/>
          <p:cNvSpPr/>
          <p:nvPr/>
        </p:nvSpPr>
        <p:spPr>
          <a:xfrm>
            <a:off x="7178040" y="3529584"/>
            <a:ext cx="146304" cy="146304"/>
          </a:xfrm>
          <a:prstGeom prst="ellipse">
            <a:avLst/>
          </a:prstGeom>
          <a:solidFill>
            <a:srgbClr val="FFC107"/>
          </a:solidFill>
          <a:ln w="12700">
            <a:solidFill>
              <a:srgbClr val="FFC107"/>
            </a:solidFill>
            <a:prstDash val="solid"/>
          </a:ln>
        </p:spPr>
      </p:sp>
      <p:sp>
        <p:nvSpPr>
          <p:cNvPr id="12" name="Text 10"/>
          <p:cNvSpPr txBox="1"/>
          <p:nvPr/>
        </p:nvSpPr>
        <p:spPr>
          <a:xfrm>
            <a:off x="7498080" y="3438144"/>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Auditoría, historial e instantáneas</a:t>
            </a:r>
            <a:endParaRPr lang="en-US" sz="1700" dirty="0"/>
          </a:p>
        </p:txBody>
      </p:sp>
      <p:sp>
        <p:nvSpPr>
          <p:cNvPr id="13" name="Shape 11"/>
          <p:cNvSpPr/>
          <p:nvPr/>
        </p:nvSpPr>
        <p:spPr>
          <a:xfrm>
            <a:off x="7178040" y="4242816"/>
            <a:ext cx="146304" cy="146304"/>
          </a:xfrm>
          <a:prstGeom prst="ellipse">
            <a:avLst/>
          </a:prstGeom>
          <a:solidFill>
            <a:srgbClr val="FFC107"/>
          </a:solidFill>
          <a:ln w="12700">
            <a:solidFill>
              <a:srgbClr val="FFC107"/>
            </a:solidFill>
            <a:prstDash val="solid"/>
          </a:ln>
        </p:spPr>
      </p:sp>
      <p:sp>
        <p:nvSpPr>
          <p:cNvPr id="14" name="Text 12"/>
          <p:cNvSpPr txBox="1"/>
          <p:nvPr/>
        </p:nvSpPr>
        <p:spPr>
          <a:xfrm>
            <a:off x="7498080" y="4151376"/>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Plan gratuito y sus límites</a:t>
            </a:r>
            <a:endParaRPr lang="en-US" sz="1700" dirty="0"/>
          </a:p>
        </p:txBody>
      </p:sp>
      <p:sp>
        <p:nvSpPr>
          <p:cNvPr id="15" name="Text 13"/>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8C93C9"/>
                </a:solidFill>
                <a:latin typeface="Calibri" pitchFamily="34" charset="0"/>
                <a:ea typeface="Calibri" pitchFamily="34" charset="-122"/>
                <a:cs typeface="Calibri" pitchFamily="34" charset="-120"/>
              </a:rPr>
              <a:t>Aplicación AWP · Datos y seguridad</a:t>
            </a:r>
            <a:endParaRPr lang="en-US" sz="1000" dirty="0"/>
          </a:p>
        </p:txBody>
      </p:sp>
      <p:sp>
        <p:nvSpPr>
          <p:cNvPr id="16" name="Text 14"/>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8C93C9"/>
                </a:solidFill>
                <a:latin typeface="Calibri" pitchFamily="34" charset="0"/>
                <a:ea typeface="Calibri" pitchFamily="34" charset="-122"/>
                <a:cs typeface="Calibri" pitchFamily="34" charset="-120"/>
              </a:rPr>
              <a:t>109</a:t>
            </a:r>
            <a:endParaRPr lang="en-US" sz="10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Dónde viven los datos</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El código es público; los datos de proyectos, no</a:t>
            </a:r>
            <a:endParaRPr lang="en-US" sz="1500" dirty="0"/>
          </a:p>
        </p:txBody>
      </p:sp>
      <p:sp>
        <p:nvSpPr>
          <p:cNvPr id="4" name="Shape 2"/>
          <p:cNvSpPr/>
          <p:nvPr/>
        </p:nvSpPr>
        <p:spPr>
          <a:xfrm>
            <a:off x="548640" y="1554480"/>
            <a:ext cx="3515258" cy="2217420"/>
          </a:xfrm>
          <a:prstGeom prst="roundRect">
            <a:avLst>
              <a:gd name="adj" fmla="val 4124"/>
            </a:avLst>
          </a:prstGeom>
          <a:solidFill>
            <a:srgbClr val="F5F6FB"/>
          </a:solidFill>
          <a:ln w="9525">
            <a:solidFill>
              <a:srgbClr val="E3E5EE"/>
            </a:solidFill>
            <a:prstDash val="solid"/>
          </a:ln>
        </p:spPr>
      </p:sp>
      <p:sp>
        <p:nvSpPr>
          <p:cNvPr id="5" name="Shape 3"/>
          <p:cNvSpPr/>
          <p:nvPr/>
        </p:nvSpPr>
        <p:spPr>
          <a:xfrm>
            <a:off x="777240" y="1783080"/>
            <a:ext cx="548640" cy="548640"/>
          </a:xfrm>
          <a:prstGeom prst="ellipse">
            <a:avLst/>
          </a:prstGeom>
          <a:solidFill>
            <a:srgbClr val="E8EAF6"/>
          </a:solidFill>
          <a:ln w="12700">
            <a:solidFill>
              <a:srgbClr val="E8EAF6"/>
            </a:solidFill>
            <a:prstDash val="solid"/>
          </a:ln>
        </p:spPr>
      </p:sp>
      <p:pic>
        <p:nvPicPr>
          <p:cNvPr id="6" name="Image 0" descr="preencoded.png">    </p:cNvPr>
          <p:cNvPicPr>
            <a:picLocks noChangeAspect="1"/>
          </p:cNvPicPr>
          <p:nvPr/>
        </p:nvPicPr>
        <p:blipFill>
          <a:blip r:embed="rId1"/>
          <a:stretch>
            <a:fillRect/>
          </a:stretch>
        </p:blipFill>
        <p:spPr>
          <a:xfrm>
            <a:off x="900684" y="1906524"/>
            <a:ext cx="301752" cy="301752"/>
          </a:xfrm>
          <a:prstGeom prst="rect">
            <a:avLst/>
          </a:prstGeom>
        </p:spPr>
      </p:pic>
      <p:sp>
        <p:nvSpPr>
          <p:cNvPr id="7" name="Text 4"/>
          <p:cNvSpPr txBox="1"/>
          <p:nvPr/>
        </p:nvSpPr>
        <p:spPr>
          <a:xfrm>
            <a:off x="1508760" y="1783080"/>
            <a:ext cx="232653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Código en GitHub</a:t>
            </a:r>
            <a:endParaRPr lang="en-US" sz="1700" dirty="0"/>
          </a:p>
        </p:txBody>
      </p:sp>
      <p:sp>
        <p:nvSpPr>
          <p:cNvPr id="8" name="Text 5"/>
          <p:cNvSpPr txBox="1"/>
          <p:nvPr/>
        </p:nvSpPr>
        <p:spPr>
          <a:xfrm>
            <a:off x="777240"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La aplicación es código público publicado en GitHub Pages, sin datos de proyectos.</a:t>
            </a:r>
            <a:endParaRPr lang="en-US" sz="1500" dirty="0"/>
          </a:p>
        </p:txBody>
      </p:sp>
      <p:sp>
        <p:nvSpPr>
          <p:cNvPr id="9" name="Shape 6"/>
          <p:cNvSpPr/>
          <p:nvPr/>
        </p:nvSpPr>
        <p:spPr>
          <a:xfrm>
            <a:off x="4338218" y="1554480"/>
            <a:ext cx="3515258" cy="2217420"/>
          </a:xfrm>
          <a:prstGeom prst="roundRect">
            <a:avLst>
              <a:gd name="adj" fmla="val 4124"/>
            </a:avLst>
          </a:prstGeom>
          <a:solidFill>
            <a:srgbClr val="F5F6FB"/>
          </a:solidFill>
          <a:ln w="9525">
            <a:solidFill>
              <a:srgbClr val="E3E5EE"/>
            </a:solidFill>
            <a:prstDash val="solid"/>
          </a:ln>
        </p:spPr>
      </p:sp>
      <p:sp>
        <p:nvSpPr>
          <p:cNvPr id="10" name="Shape 7"/>
          <p:cNvSpPr/>
          <p:nvPr/>
        </p:nvSpPr>
        <p:spPr>
          <a:xfrm>
            <a:off x="4566818" y="1783080"/>
            <a:ext cx="548640" cy="548640"/>
          </a:xfrm>
          <a:prstGeom prst="ellipse">
            <a:avLst/>
          </a:prstGeom>
          <a:solidFill>
            <a:srgbClr val="E8EAF6"/>
          </a:solidFill>
          <a:ln w="12700">
            <a:solidFill>
              <a:srgbClr val="E8EAF6"/>
            </a:solidFill>
            <a:prstDash val="solid"/>
          </a:ln>
        </p:spPr>
      </p:sp>
      <p:pic>
        <p:nvPicPr>
          <p:cNvPr id="11" name="Image 1" descr="preencoded.png">    </p:cNvPr>
          <p:cNvPicPr>
            <a:picLocks noChangeAspect="1"/>
          </p:cNvPicPr>
          <p:nvPr/>
        </p:nvPicPr>
        <p:blipFill>
          <a:blip r:embed="rId2"/>
          <a:stretch>
            <a:fillRect/>
          </a:stretch>
        </p:blipFill>
        <p:spPr>
          <a:xfrm>
            <a:off x="4690262" y="1906524"/>
            <a:ext cx="301752" cy="301752"/>
          </a:xfrm>
          <a:prstGeom prst="rect">
            <a:avLst/>
          </a:prstGeom>
        </p:spPr>
      </p:pic>
      <p:sp>
        <p:nvSpPr>
          <p:cNvPr id="12" name="Text 8"/>
          <p:cNvSpPr txBox="1"/>
          <p:nvPr/>
        </p:nvSpPr>
        <p:spPr>
          <a:xfrm>
            <a:off x="5298338" y="1783080"/>
            <a:ext cx="232653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Datos en Supabase</a:t>
            </a:r>
            <a:endParaRPr lang="en-US" sz="1700" dirty="0"/>
          </a:p>
        </p:txBody>
      </p:sp>
      <p:sp>
        <p:nvSpPr>
          <p:cNvPr id="13" name="Text 9"/>
          <p:cNvSpPr txBox="1"/>
          <p:nvPr/>
        </p:nvSpPr>
        <p:spPr>
          <a:xfrm>
            <a:off x="4566818"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PostgreSQL gestionado: proyectos, fases, hitos, checklist, equipo, auditoría.</a:t>
            </a:r>
            <a:endParaRPr lang="en-US" sz="1500" dirty="0"/>
          </a:p>
        </p:txBody>
      </p:sp>
      <p:sp>
        <p:nvSpPr>
          <p:cNvPr id="14" name="Shape 10"/>
          <p:cNvSpPr/>
          <p:nvPr/>
        </p:nvSpPr>
        <p:spPr>
          <a:xfrm>
            <a:off x="8127797" y="1554480"/>
            <a:ext cx="3515258" cy="2217420"/>
          </a:xfrm>
          <a:prstGeom prst="roundRect">
            <a:avLst>
              <a:gd name="adj" fmla="val 4124"/>
            </a:avLst>
          </a:prstGeom>
          <a:solidFill>
            <a:srgbClr val="F5F6FB"/>
          </a:solidFill>
          <a:ln w="9525">
            <a:solidFill>
              <a:srgbClr val="E3E5EE"/>
            </a:solidFill>
            <a:prstDash val="solid"/>
          </a:ln>
        </p:spPr>
      </p:sp>
      <p:sp>
        <p:nvSpPr>
          <p:cNvPr id="15" name="Shape 11"/>
          <p:cNvSpPr/>
          <p:nvPr/>
        </p:nvSpPr>
        <p:spPr>
          <a:xfrm>
            <a:off x="8356397" y="1783080"/>
            <a:ext cx="548640" cy="548640"/>
          </a:xfrm>
          <a:prstGeom prst="ellipse">
            <a:avLst/>
          </a:prstGeom>
          <a:solidFill>
            <a:srgbClr val="E8EAF6"/>
          </a:solidFill>
          <a:ln w="12700">
            <a:solidFill>
              <a:srgbClr val="E8EAF6"/>
            </a:solidFill>
            <a:prstDash val="solid"/>
          </a:ln>
        </p:spPr>
      </p:sp>
      <p:pic>
        <p:nvPicPr>
          <p:cNvPr id="16" name="Image 2" descr="preencoded.png">    </p:cNvPr>
          <p:cNvPicPr>
            <a:picLocks noChangeAspect="1"/>
          </p:cNvPicPr>
          <p:nvPr/>
        </p:nvPicPr>
        <p:blipFill>
          <a:blip r:embed="rId3"/>
          <a:stretch>
            <a:fillRect/>
          </a:stretch>
        </p:blipFill>
        <p:spPr>
          <a:xfrm>
            <a:off x="8479841" y="1906524"/>
            <a:ext cx="301752" cy="301752"/>
          </a:xfrm>
          <a:prstGeom prst="rect">
            <a:avLst/>
          </a:prstGeom>
        </p:spPr>
      </p:pic>
      <p:sp>
        <p:nvSpPr>
          <p:cNvPr id="17" name="Text 12"/>
          <p:cNvSpPr txBox="1"/>
          <p:nvPr/>
        </p:nvSpPr>
        <p:spPr>
          <a:xfrm>
            <a:off x="9087917" y="1783080"/>
            <a:ext cx="232653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Solo la clave pública</a:t>
            </a:r>
            <a:endParaRPr lang="en-US" sz="1700" dirty="0"/>
          </a:p>
        </p:txBody>
      </p:sp>
      <p:sp>
        <p:nvSpPr>
          <p:cNvPr id="18" name="Text 13"/>
          <p:cNvSpPr txBox="1"/>
          <p:nvPr/>
        </p:nvSpPr>
        <p:spPr>
          <a:xfrm>
            <a:off x="8356397"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El navegador usa la clave «publishable». La clave secreta nunca se usa ni se guarda.</a:t>
            </a:r>
            <a:endParaRPr lang="en-US" sz="1500" dirty="0"/>
          </a:p>
        </p:txBody>
      </p:sp>
      <p:sp>
        <p:nvSpPr>
          <p:cNvPr id="19" name="Shape 14"/>
          <p:cNvSpPr/>
          <p:nvPr/>
        </p:nvSpPr>
        <p:spPr>
          <a:xfrm>
            <a:off x="548640" y="4046220"/>
            <a:ext cx="3515258" cy="2217420"/>
          </a:xfrm>
          <a:prstGeom prst="roundRect">
            <a:avLst>
              <a:gd name="adj" fmla="val 4124"/>
            </a:avLst>
          </a:prstGeom>
          <a:solidFill>
            <a:srgbClr val="F5F6FB"/>
          </a:solidFill>
          <a:ln w="9525">
            <a:solidFill>
              <a:srgbClr val="E3E5EE"/>
            </a:solidFill>
            <a:prstDash val="solid"/>
          </a:ln>
        </p:spPr>
      </p:sp>
      <p:sp>
        <p:nvSpPr>
          <p:cNvPr id="20" name="Shape 15"/>
          <p:cNvSpPr/>
          <p:nvPr/>
        </p:nvSpPr>
        <p:spPr>
          <a:xfrm>
            <a:off x="777240" y="4274820"/>
            <a:ext cx="548640" cy="548640"/>
          </a:xfrm>
          <a:prstGeom prst="ellipse">
            <a:avLst/>
          </a:prstGeom>
          <a:solidFill>
            <a:srgbClr val="E8EAF6"/>
          </a:solidFill>
          <a:ln w="12700">
            <a:solidFill>
              <a:srgbClr val="E8EAF6"/>
            </a:solidFill>
            <a:prstDash val="solid"/>
          </a:ln>
        </p:spPr>
      </p:sp>
      <p:pic>
        <p:nvPicPr>
          <p:cNvPr id="21" name="Image 3" descr="preencoded.png">    </p:cNvPr>
          <p:cNvPicPr>
            <a:picLocks noChangeAspect="1"/>
          </p:cNvPicPr>
          <p:nvPr/>
        </p:nvPicPr>
        <p:blipFill>
          <a:blip r:embed="rId4"/>
          <a:stretch>
            <a:fillRect/>
          </a:stretch>
        </p:blipFill>
        <p:spPr>
          <a:xfrm>
            <a:off x="900684" y="4398264"/>
            <a:ext cx="301752" cy="301752"/>
          </a:xfrm>
          <a:prstGeom prst="rect">
            <a:avLst/>
          </a:prstGeom>
        </p:spPr>
      </p:pic>
      <p:sp>
        <p:nvSpPr>
          <p:cNvPr id="22" name="Text 16"/>
          <p:cNvSpPr txBox="1"/>
          <p:nvPr/>
        </p:nvSpPr>
        <p:spPr>
          <a:xfrm>
            <a:off x="1508760" y="4274820"/>
            <a:ext cx="232653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Row Level Security</a:t>
            </a:r>
            <a:endParaRPr lang="en-US" sz="1700" dirty="0"/>
          </a:p>
        </p:txBody>
      </p:sp>
      <p:sp>
        <p:nvSpPr>
          <p:cNvPr id="23" name="Text 17"/>
          <p:cNvSpPr txBox="1"/>
          <p:nvPr/>
        </p:nvSpPr>
        <p:spPr>
          <a:xfrm>
            <a:off x="777240"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Cada tabla tiene reglas: sin sesión, nada; con sesión, solo los proyectos donde eres miembro.</a:t>
            </a:r>
            <a:endParaRPr lang="en-US" sz="1500" dirty="0"/>
          </a:p>
        </p:txBody>
      </p:sp>
      <p:sp>
        <p:nvSpPr>
          <p:cNvPr id="24" name="Shape 18"/>
          <p:cNvSpPr/>
          <p:nvPr/>
        </p:nvSpPr>
        <p:spPr>
          <a:xfrm>
            <a:off x="4338218" y="4046220"/>
            <a:ext cx="3515258" cy="2217420"/>
          </a:xfrm>
          <a:prstGeom prst="roundRect">
            <a:avLst>
              <a:gd name="adj" fmla="val 4124"/>
            </a:avLst>
          </a:prstGeom>
          <a:solidFill>
            <a:srgbClr val="F5F6FB"/>
          </a:solidFill>
          <a:ln w="9525">
            <a:solidFill>
              <a:srgbClr val="E3E5EE"/>
            </a:solidFill>
            <a:prstDash val="solid"/>
          </a:ln>
        </p:spPr>
      </p:sp>
      <p:sp>
        <p:nvSpPr>
          <p:cNvPr id="25" name="Shape 19"/>
          <p:cNvSpPr/>
          <p:nvPr/>
        </p:nvSpPr>
        <p:spPr>
          <a:xfrm>
            <a:off x="4566818" y="4274820"/>
            <a:ext cx="548640" cy="548640"/>
          </a:xfrm>
          <a:prstGeom prst="ellipse">
            <a:avLst/>
          </a:prstGeom>
          <a:solidFill>
            <a:srgbClr val="E8EAF6"/>
          </a:solidFill>
          <a:ln w="12700">
            <a:solidFill>
              <a:srgbClr val="E8EAF6"/>
            </a:solidFill>
            <a:prstDash val="solid"/>
          </a:ln>
        </p:spPr>
      </p:sp>
      <p:pic>
        <p:nvPicPr>
          <p:cNvPr id="26" name="Image 4" descr="preencoded.png">    </p:cNvPr>
          <p:cNvPicPr>
            <a:picLocks noChangeAspect="1"/>
          </p:cNvPicPr>
          <p:nvPr/>
        </p:nvPicPr>
        <p:blipFill>
          <a:blip r:embed="rId5"/>
          <a:stretch>
            <a:fillRect/>
          </a:stretch>
        </p:blipFill>
        <p:spPr>
          <a:xfrm>
            <a:off x="4690262" y="4398264"/>
            <a:ext cx="301752" cy="301752"/>
          </a:xfrm>
          <a:prstGeom prst="rect">
            <a:avLst/>
          </a:prstGeom>
        </p:spPr>
      </p:pic>
      <p:sp>
        <p:nvSpPr>
          <p:cNvPr id="27" name="Text 20"/>
          <p:cNvSpPr txBox="1"/>
          <p:nvPr/>
        </p:nvSpPr>
        <p:spPr>
          <a:xfrm>
            <a:off x="5298338" y="4274820"/>
            <a:ext cx="232653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Registro cerrado</a:t>
            </a:r>
            <a:endParaRPr lang="en-US" sz="1700" dirty="0"/>
          </a:p>
        </p:txBody>
      </p:sp>
      <p:sp>
        <p:nvSpPr>
          <p:cNvPr id="28" name="Text 21"/>
          <p:cNvSpPr txBox="1"/>
          <p:nvPr/>
        </p:nvSpPr>
        <p:spPr>
          <a:xfrm>
            <a:off x="4566818"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Nadie puede crearse una cuenta; y aun si lo hiciera, no vería ningún proyecto.</a:t>
            </a:r>
            <a:endParaRPr lang="en-US" sz="1500" dirty="0"/>
          </a:p>
        </p:txBody>
      </p:sp>
      <p:sp>
        <p:nvSpPr>
          <p:cNvPr id="29" name="Shape 22"/>
          <p:cNvSpPr/>
          <p:nvPr/>
        </p:nvSpPr>
        <p:spPr>
          <a:xfrm>
            <a:off x="8127797" y="4046220"/>
            <a:ext cx="3515258" cy="2217420"/>
          </a:xfrm>
          <a:prstGeom prst="roundRect">
            <a:avLst>
              <a:gd name="adj" fmla="val 4124"/>
            </a:avLst>
          </a:prstGeom>
          <a:solidFill>
            <a:srgbClr val="F5F6FB"/>
          </a:solidFill>
          <a:ln w="9525">
            <a:solidFill>
              <a:srgbClr val="E3E5EE"/>
            </a:solidFill>
            <a:prstDash val="solid"/>
          </a:ln>
        </p:spPr>
      </p:sp>
      <p:sp>
        <p:nvSpPr>
          <p:cNvPr id="30" name="Shape 23"/>
          <p:cNvSpPr/>
          <p:nvPr/>
        </p:nvSpPr>
        <p:spPr>
          <a:xfrm>
            <a:off x="8356397" y="4274820"/>
            <a:ext cx="548640" cy="548640"/>
          </a:xfrm>
          <a:prstGeom prst="ellipse">
            <a:avLst/>
          </a:prstGeom>
          <a:solidFill>
            <a:srgbClr val="E8EAF6"/>
          </a:solidFill>
          <a:ln w="12700">
            <a:solidFill>
              <a:srgbClr val="E8EAF6"/>
            </a:solidFill>
            <a:prstDash val="solid"/>
          </a:ln>
        </p:spPr>
      </p:sp>
      <p:pic>
        <p:nvPicPr>
          <p:cNvPr id="31" name="Image 5" descr="preencoded.png">    </p:cNvPr>
          <p:cNvPicPr>
            <a:picLocks noChangeAspect="1"/>
          </p:cNvPicPr>
          <p:nvPr/>
        </p:nvPicPr>
        <p:blipFill>
          <a:blip r:embed="rId6"/>
          <a:stretch>
            <a:fillRect/>
          </a:stretch>
        </p:blipFill>
        <p:spPr>
          <a:xfrm>
            <a:off x="8479841" y="4398264"/>
            <a:ext cx="301752" cy="301752"/>
          </a:xfrm>
          <a:prstGeom prst="rect">
            <a:avLst/>
          </a:prstGeom>
        </p:spPr>
      </p:pic>
      <p:sp>
        <p:nvSpPr>
          <p:cNvPr id="32" name="Text 24"/>
          <p:cNvSpPr txBox="1"/>
          <p:nvPr/>
        </p:nvSpPr>
        <p:spPr>
          <a:xfrm>
            <a:off x="9087917" y="4274820"/>
            <a:ext cx="232653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Probado</a:t>
            </a:r>
            <a:endParaRPr lang="en-US" sz="1700" dirty="0"/>
          </a:p>
        </p:txBody>
      </p:sp>
      <p:sp>
        <p:nvSpPr>
          <p:cNvPr id="33" name="Text 25"/>
          <p:cNvSpPr txBox="1"/>
          <p:nvPr/>
        </p:nvSpPr>
        <p:spPr>
          <a:xfrm>
            <a:off x="8356397"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Las pruebas verifican que un segundo usuario no ve ni modifica proyectos ajenos.</a:t>
            </a:r>
            <a:endParaRPr lang="en-US" sz="1500" dirty="0"/>
          </a:p>
        </p:txBody>
      </p:sp>
      <p:sp>
        <p:nvSpPr>
          <p:cNvPr id="34" name="Text 26"/>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Datos y seguridad</a:t>
            </a:r>
            <a:endParaRPr lang="en-US" sz="1000" dirty="0"/>
          </a:p>
        </p:txBody>
      </p:sp>
      <p:sp>
        <p:nvSpPr>
          <p:cNvPr id="35" name="Text 27"/>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110</a:t>
            </a:r>
            <a:endParaRPr lang="en-US" sz="10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Accesos por proyecto</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Preparado para compartir proyectos con distintos permisos</a:t>
            </a:r>
            <a:endParaRPr lang="en-US" sz="1500" dirty="0"/>
          </a:p>
        </p:txBody>
      </p:sp>
      <p:graphicFrame>
        <p:nvGraphicFramePr>
          <p:cNvPr id="112"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377440"/>
                <a:gridCol w="2377440"/>
                <a:gridCol w="2377440"/>
                <a:gridCol w="3840480"/>
              </a:tblGrid>
              <a:tr h="693420">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Rol de acceso</a:t>
                      </a:r>
                      <a:endParaRPr lang="en-US" sz="15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Puede ver</a:t>
                      </a:r>
                      <a:endParaRPr lang="en-US" sz="15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Puede editar</a:t>
                      </a:r>
                      <a:endParaRPr lang="en-US" sz="15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Puede borrar el proyecto y gestionar miembros</a:t>
                      </a:r>
                      <a:endParaRPr lang="en-US" sz="15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r>
              <a:tr h="693420">
                <a:tc>
                  <a:txBody>
                    <a:bodyPr/>
                    <a:lstStyle/>
                    <a:p>
                      <a:pPr indent="0" marL="0">
                        <a:buNone/>
                      </a:pPr>
                      <a:r>
                        <a:rPr lang="en-US" sz="1500" b="1" dirty="0">
                          <a:solidFill>
                            <a:srgbClr val="1B1C22"/>
                          </a:solidFill>
                          <a:latin typeface="Calibri" pitchFamily="34" charset="0"/>
                          <a:ea typeface="Calibri" pitchFamily="34" charset="-122"/>
                          <a:cs typeface="Calibri" pitchFamily="34" charset="-120"/>
                        </a:rPr>
                        <a:t>Propietario</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Sí</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Sí</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Sí (quien crea el proyecto)</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693420">
                <a:tc>
                  <a:txBody>
                    <a:bodyPr/>
                    <a:lstStyle/>
                    <a:p>
                      <a:pPr indent="0" marL="0">
                        <a:buNone/>
                      </a:pPr>
                      <a:r>
                        <a:rPr lang="en-US" sz="1500" b="1" dirty="0">
                          <a:solidFill>
                            <a:srgbClr val="1B1C22"/>
                          </a:solidFill>
                          <a:latin typeface="Calibri" pitchFamily="34" charset="0"/>
                          <a:ea typeface="Calibri" pitchFamily="34" charset="-122"/>
                          <a:cs typeface="Calibri" pitchFamily="34" charset="-120"/>
                        </a:rPr>
                        <a:t>Editor</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Sí</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Sí</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693420">
                <a:tc>
                  <a:txBody>
                    <a:bodyPr/>
                    <a:lstStyle/>
                    <a:p>
                      <a:pPr indent="0" marL="0">
                        <a:buNone/>
                      </a:pPr>
                      <a:r>
                        <a:rPr lang="en-US" sz="1500" b="1" dirty="0">
                          <a:solidFill>
                            <a:srgbClr val="1B1C22"/>
                          </a:solidFill>
                          <a:latin typeface="Calibri" pitchFamily="34" charset="0"/>
                          <a:ea typeface="Calibri" pitchFamily="34" charset="-122"/>
                          <a:cs typeface="Calibri" pitchFamily="34" charset="-120"/>
                        </a:rPr>
                        <a:t>Lector</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Sí</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693420">
                <a:tc>
                  <a:txBody>
                    <a:bodyPr/>
                    <a:lstStyle/>
                    <a:p>
                      <a:pPr indent="0" marL="0">
                        <a:buNone/>
                      </a:pPr>
                      <a:r>
                        <a:rPr lang="en-US" sz="1500" b="1" dirty="0">
                          <a:solidFill>
                            <a:srgbClr val="1B1C22"/>
                          </a:solidFill>
                          <a:latin typeface="Calibri" pitchFamily="34" charset="0"/>
                          <a:ea typeface="Calibri" pitchFamily="34" charset="-122"/>
                          <a:cs typeface="Calibri" pitchFamily="34" charset="-120"/>
                        </a:rPr>
                        <a:t>Usuario sin membresía</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693420">
                <a:tc>
                  <a:txBody>
                    <a:bodyPr/>
                    <a:lstStyle/>
                    <a:p>
                      <a:pPr indent="0" marL="0">
                        <a:buNone/>
                      </a:pPr>
                      <a:r>
                        <a:rPr lang="en-US" sz="1500" b="1" dirty="0">
                          <a:solidFill>
                            <a:srgbClr val="1B1C22"/>
                          </a:solidFill>
                          <a:latin typeface="Calibri" pitchFamily="34" charset="0"/>
                          <a:ea typeface="Calibri" pitchFamily="34" charset="-122"/>
                          <a:cs typeface="Calibri" pitchFamily="34" charset="-120"/>
                        </a:rPr>
                        <a:t>Visitante sin sesión</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Solo Recursos</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bl>
          </a:graphicData>
        </a:graphic>
      </p:graphicFrame>
      <p:sp>
        <p:nvSpPr>
          <p:cNvPr id="5" name="Shape 2"/>
          <p:cNvSpPr/>
          <p:nvPr/>
        </p:nvSpPr>
        <p:spPr>
          <a:xfrm>
            <a:off x="548640" y="5760720"/>
            <a:ext cx="365760" cy="365760"/>
          </a:xfrm>
          <a:prstGeom prst="ellipse">
            <a:avLst/>
          </a:prstGeom>
          <a:solidFill>
            <a:srgbClr val="E8EAF6"/>
          </a:solidFill>
          <a:ln w="12700">
            <a:solidFill>
              <a:srgbClr val="E8EAF6"/>
            </a:solidFill>
            <a:prstDash val="solid"/>
          </a:ln>
        </p:spPr>
      </p:sp>
      <p:pic>
        <p:nvPicPr>
          <p:cNvPr id="6" name="Image 0" descr="preencoded.png">    </p:cNvPr>
          <p:cNvPicPr>
            <a:picLocks noChangeAspect="1"/>
          </p:cNvPicPr>
          <p:nvPr/>
        </p:nvPicPr>
        <p:blipFill>
          <a:blip r:embed="rId1"/>
          <a:stretch>
            <a:fillRect/>
          </a:stretch>
        </p:blipFill>
        <p:spPr>
          <a:xfrm>
            <a:off x="630936" y="5843016"/>
            <a:ext cx="201168" cy="201168"/>
          </a:xfrm>
          <a:prstGeom prst="rect">
            <a:avLst/>
          </a:prstGeom>
        </p:spPr>
      </p:pic>
      <p:sp>
        <p:nvSpPr>
          <p:cNvPr id="7" name="Text 3"/>
          <p:cNvSpPr txBox="1"/>
          <p:nvPr/>
        </p:nvSpPr>
        <p:spPr>
          <a:xfrm>
            <a:off x="1051560" y="5715000"/>
            <a:ext cx="10591495" cy="548640"/>
          </a:xfrm>
          <a:prstGeom prst="rect">
            <a:avLst/>
          </a:prstGeom>
          <a:noFill/>
          <a:ln/>
        </p:spPr>
        <p:txBody>
          <a:bodyPr wrap="square" lIns="0" tIns="0" rIns="0" bIns="0" rtlCol="0" anchor="ctr"/>
          <a:lstStyle/>
          <a:p>
            <a:pPr indent="0" marL="0">
              <a:buNone/>
            </a:pPr>
            <a:r>
              <a:rPr lang="en-US" sz="1200" dirty="0">
                <a:solidFill>
                  <a:srgbClr val="5B5E6B"/>
                </a:solidFill>
                <a:latin typeface="Calibri" pitchFamily="34" charset="0"/>
                <a:ea typeface="Calibri" pitchFamily="34" charset="-122"/>
                <a:cs typeface="Calibri" pitchFamily="34" charset="-120"/>
              </a:rPr>
              <a:t>Hoy cada usuario es propietario de los proyectos que crea. La base de datos ya tiene invitaciones y roles de editor y lector para compartir proyectos en una etapa futura.</a:t>
            </a:r>
            <a:endParaRPr lang="en-US" sz="1200" dirty="0"/>
          </a:p>
        </p:txBody>
      </p:sp>
      <p:sp>
        <p:nvSpPr>
          <p:cNvPr id="8" name="Text 4"/>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Datos y seguridad</a:t>
            </a:r>
            <a:endParaRPr lang="en-US" sz="1000" dirty="0"/>
          </a:p>
        </p:txBody>
      </p:sp>
      <p:sp>
        <p:nvSpPr>
          <p:cNvPr id="9" name="Text 5"/>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111</a:t>
            </a:r>
            <a:endParaRPr lang="en-US" sz="10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Historial para ver tendencias</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Tres registros automáticos que nadie tiene que llenar</a:t>
            </a:r>
            <a:endParaRPr lang="en-US" sz="1500" dirty="0"/>
          </a:p>
        </p:txBody>
      </p:sp>
      <p:sp>
        <p:nvSpPr>
          <p:cNvPr id="4" name="Shape 2"/>
          <p:cNvSpPr/>
          <p:nvPr/>
        </p:nvSpPr>
        <p:spPr>
          <a:xfrm>
            <a:off x="548640" y="1554480"/>
            <a:ext cx="5410048" cy="2217420"/>
          </a:xfrm>
          <a:prstGeom prst="roundRect">
            <a:avLst>
              <a:gd name="adj" fmla="val 4124"/>
            </a:avLst>
          </a:prstGeom>
          <a:solidFill>
            <a:srgbClr val="F5F6FB"/>
          </a:solidFill>
          <a:ln w="9525">
            <a:solidFill>
              <a:srgbClr val="E3E5EE"/>
            </a:solidFill>
            <a:prstDash val="solid"/>
          </a:ln>
        </p:spPr>
      </p:sp>
      <p:sp>
        <p:nvSpPr>
          <p:cNvPr id="5" name="Shape 3"/>
          <p:cNvSpPr/>
          <p:nvPr/>
        </p:nvSpPr>
        <p:spPr>
          <a:xfrm>
            <a:off x="777240" y="1783080"/>
            <a:ext cx="548640" cy="548640"/>
          </a:xfrm>
          <a:prstGeom prst="ellipse">
            <a:avLst/>
          </a:prstGeom>
          <a:solidFill>
            <a:srgbClr val="E8EAF6"/>
          </a:solidFill>
          <a:ln w="12700">
            <a:solidFill>
              <a:srgbClr val="E8EAF6"/>
            </a:solidFill>
            <a:prstDash val="solid"/>
          </a:ln>
        </p:spPr>
      </p:sp>
      <p:pic>
        <p:nvPicPr>
          <p:cNvPr id="6" name="Image 0" descr="preencoded.png">    </p:cNvPr>
          <p:cNvPicPr>
            <a:picLocks noChangeAspect="1"/>
          </p:cNvPicPr>
          <p:nvPr/>
        </p:nvPicPr>
        <p:blipFill>
          <a:blip r:embed="rId1"/>
          <a:stretch>
            <a:fillRect/>
          </a:stretch>
        </p:blipFill>
        <p:spPr>
          <a:xfrm>
            <a:off x="900684" y="1906524"/>
            <a:ext cx="301752" cy="301752"/>
          </a:xfrm>
          <a:prstGeom prst="rect">
            <a:avLst/>
          </a:prstGeom>
        </p:spPr>
      </p:pic>
      <p:sp>
        <p:nvSpPr>
          <p:cNvPr id="7" name="Text 4"/>
          <p:cNvSpPr txBox="1"/>
          <p:nvPr/>
        </p:nvSpPr>
        <p:spPr>
          <a:xfrm>
            <a:off x="1508760" y="1783080"/>
            <a:ext cx="422132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Auditoría</a:t>
            </a:r>
            <a:endParaRPr lang="en-US" sz="1700" dirty="0"/>
          </a:p>
        </p:txBody>
      </p:sp>
      <p:sp>
        <p:nvSpPr>
          <p:cNvPr id="8" name="Text 5"/>
          <p:cNvSpPr txBox="1"/>
          <p:nvPr/>
        </p:nvSpPr>
        <p:spPr>
          <a:xfrm>
            <a:off x="777240" y="2468880"/>
            <a:ext cx="4952848" cy="1165860"/>
          </a:xfrm>
          <a:prstGeom prst="rect">
            <a:avLst/>
          </a:prstGeom>
          <a:noFill/>
          <a:ln/>
        </p:spPr>
        <p:txBody>
          <a:bodyPr wrap="square" lIns="0" tIns="0" rIns="0" bIns="0" rtlCol="0" anchor="t">
            <a:normAutofit/>
          </a:bodyPr>
          <a:lstStyle/>
          <a:p>
            <a:pPr indent="0" marL="0">
              <a:buNone/>
            </a:pPr>
            <a:r>
              <a:rPr lang="en-US" sz="1700" dirty="0">
                <a:solidFill>
                  <a:srgbClr val="5B5E6B"/>
                </a:solidFill>
                <a:latin typeface="Calibri" pitchFamily="34" charset="0"/>
                <a:ea typeface="Calibri" pitchFamily="34" charset="-122"/>
                <a:cs typeface="Calibri" pitchFamily="34" charset="-120"/>
              </a:rPr>
              <a:t>Cada alta, cambio y baja con usuario, fecha y valores. Alimenta «Actividad reciente».</a:t>
            </a:r>
            <a:endParaRPr lang="en-US" sz="1700" dirty="0"/>
          </a:p>
        </p:txBody>
      </p:sp>
      <p:sp>
        <p:nvSpPr>
          <p:cNvPr id="9" name="Shape 6"/>
          <p:cNvSpPr/>
          <p:nvPr/>
        </p:nvSpPr>
        <p:spPr>
          <a:xfrm>
            <a:off x="6233008" y="1554480"/>
            <a:ext cx="5410048" cy="2217420"/>
          </a:xfrm>
          <a:prstGeom prst="roundRect">
            <a:avLst>
              <a:gd name="adj" fmla="val 4124"/>
            </a:avLst>
          </a:prstGeom>
          <a:solidFill>
            <a:srgbClr val="F5F6FB"/>
          </a:solidFill>
          <a:ln w="9525">
            <a:solidFill>
              <a:srgbClr val="E3E5EE"/>
            </a:solidFill>
            <a:prstDash val="solid"/>
          </a:ln>
        </p:spPr>
      </p:sp>
      <p:sp>
        <p:nvSpPr>
          <p:cNvPr id="10" name="Shape 7"/>
          <p:cNvSpPr/>
          <p:nvPr/>
        </p:nvSpPr>
        <p:spPr>
          <a:xfrm>
            <a:off x="6461608" y="1783080"/>
            <a:ext cx="548640" cy="548640"/>
          </a:xfrm>
          <a:prstGeom prst="ellipse">
            <a:avLst/>
          </a:prstGeom>
          <a:solidFill>
            <a:srgbClr val="E8EAF6"/>
          </a:solidFill>
          <a:ln w="12700">
            <a:solidFill>
              <a:srgbClr val="E8EAF6"/>
            </a:solidFill>
            <a:prstDash val="solid"/>
          </a:ln>
        </p:spPr>
      </p:sp>
      <p:pic>
        <p:nvPicPr>
          <p:cNvPr id="11" name="Image 1" descr="preencoded.png">    </p:cNvPr>
          <p:cNvPicPr>
            <a:picLocks noChangeAspect="1"/>
          </p:cNvPicPr>
          <p:nvPr/>
        </p:nvPicPr>
        <p:blipFill>
          <a:blip r:embed="rId2"/>
          <a:stretch>
            <a:fillRect/>
          </a:stretch>
        </p:blipFill>
        <p:spPr>
          <a:xfrm>
            <a:off x="6585052" y="1906524"/>
            <a:ext cx="301752" cy="301752"/>
          </a:xfrm>
          <a:prstGeom prst="rect">
            <a:avLst/>
          </a:prstGeom>
        </p:spPr>
      </p:pic>
      <p:sp>
        <p:nvSpPr>
          <p:cNvPr id="12" name="Text 8"/>
          <p:cNvSpPr txBox="1"/>
          <p:nvPr/>
        </p:nvSpPr>
        <p:spPr>
          <a:xfrm>
            <a:off x="7193128" y="1783080"/>
            <a:ext cx="422132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Historial de estados</a:t>
            </a:r>
            <a:endParaRPr lang="en-US" sz="1700" dirty="0"/>
          </a:p>
        </p:txBody>
      </p:sp>
      <p:sp>
        <p:nvSpPr>
          <p:cNvPr id="13" name="Text 9"/>
          <p:cNvSpPr txBox="1"/>
          <p:nvPr/>
        </p:nvSpPr>
        <p:spPr>
          <a:xfrm>
            <a:off x="6461608" y="2468880"/>
            <a:ext cx="4952848" cy="1165860"/>
          </a:xfrm>
          <a:prstGeom prst="rect">
            <a:avLst/>
          </a:prstGeom>
          <a:noFill/>
          <a:ln/>
        </p:spPr>
        <p:txBody>
          <a:bodyPr wrap="square" lIns="0" tIns="0" rIns="0" bIns="0" rtlCol="0" anchor="t">
            <a:normAutofit/>
          </a:bodyPr>
          <a:lstStyle/>
          <a:p>
            <a:pPr indent="0" marL="0">
              <a:buNone/>
            </a:pPr>
            <a:r>
              <a:rPr lang="en-US" sz="1700" dirty="0">
                <a:solidFill>
                  <a:srgbClr val="5B5E6B"/>
                </a:solidFill>
                <a:latin typeface="Calibri" pitchFamily="34" charset="0"/>
                <a:ea typeface="Calibri" pitchFamily="34" charset="-122"/>
                <a:cs typeface="Calibri" pitchFamily="34" charset="-120"/>
              </a:rPr>
              <a:t>Cada cambio de estado de proyectos, fases, actividades e hitos, con el valor anterior y el nuevo.</a:t>
            </a:r>
            <a:endParaRPr lang="en-US" sz="1700" dirty="0"/>
          </a:p>
        </p:txBody>
      </p:sp>
      <p:sp>
        <p:nvSpPr>
          <p:cNvPr id="14" name="Shape 10"/>
          <p:cNvSpPr/>
          <p:nvPr/>
        </p:nvSpPr>
        <p:spPr>
          <a:xfrm>
            <a:off x="548640" y="4046220"/>
            <a:ext cx="5410048" cy="2217420"/>
          </a:xfrm>
          <a:prstGeom prst="roundRect">
            <a:avLst>
              <a:gd name="adj" fmla="val 4124"/>
            </a:avLst>
          </a:prstGeom>
          <a:solidFill>
            <a:srgbClr val="F5F6FB"/>
          </a:solidFill>
          <a:ln w="9525">
            <a:solidFill>
              <a:srgbClr val="E3E5EE"/>
            </a:solidFill>
            <a:prstDash val="solid"/>
          </a:ln>
        </p:spPr>
      </p:sp>
      <p:sp>
        <p:nvSpPr>
          <p:cNvPr id="15" name="Shape 11"/>
          <p:cNvSpPr/>
          <p:nvPr/>
        </p:nvSpPr>
        <p:spPr>
          <a:xfrm>
            <a:off x="777240" y="4274820"/>
            <a:ext cx="548640" cy="548640"/>
          </a:xfrm>
          <a:prstGeom prst="ellipse">
            <a:avLst/>
          </a:prstGeom>
          <a:solidFill>
            <a:srgbClr val="E8EAF6"/>
          </a:solidFill>
          <a:ln w="12700">
            <a:solidFill>
              <a:srgbClr val="E8EAF6"/>
            </a:solidFill>
            <a:prstDash val="solid"/>
          </a:ln>
        </p:spPr>
      </p:sp>
      <p:pic>
        <p:nvPicPr>
          <p:cNvPr id="16" name="Image 2" descr="preencoded.png">    </p:cNvPr>
          <p:cNvPicPr>
            <a:picLocks noChangeAspect="1"/>
          </p:cNvPicPr>
          <p:nvPr/>
        </p:nvPicPr>
        <p:blipFill>
          <a:blip r:embed="rId3"/>
          <a:stretch>
            <a:fillRect/>
          </a:stretch>
        </p:blipFill>
        <p:spPr>
          <a:xfrm>
            <a:off x="900684" y="4398264"/>
            <a:ext cx="301752" cy="301752"/>
          </a:xfrm>
          <a:prstGeom prst="rect">
            <a:avLst/>
          </a:prstGeom>
        </p:spPr>
      </p:pic>
      <p:sp>
        <p:nvSpPr>
          <p:cNvPr id="17" name="Text 12"/>
          <p:cNvSpPr txBox="1"/>
          <p:nvPr/>
        </p:nvSpPr>
        <p:spPr>
          <a:xfrm>
            <a:off x="1508760" y="4274820"/>
            <a:ext cx="422132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Instantáneas semanales</a:t>
            </a:r>
            <a:endParaRPr lang="en-US" sz="1700" dirty="0"/>
          </a:p>
        </p:txBody>
      </p:sp>
      <p:sp>
        <p:nvSpPr>
          <p:cNvPr id="18" name="Text 13"/>
          <p:cNvSpPr txBox="1"/>
          <p:nvPr/>
        </p:nvSpPr>
        <p:spPr>
          <a:xfrm>
            <a:off x="777240" y="4960620"/>
            <a:ext cx="4952848" cy="1165860"/>
          </a:xfrm>
          <a:prstGeom prst="rect">
            <a:avLst/>
          </a:prstGeom>
          <a:noFill/>
          <a:ln/>
        </p:spPr>
        <p:txBody>
          <a:bodyPr wrap="square" lIns="0" tIns="0" rIns="0" bIns="0" rtlCol="0" anchor="t">
            <a:normAutofit/>
          </a:bodyPr>
          <a:lstStyle/>
          <a:p>
            <a:pPr indent="0" marL="0">
              <a:buNone/>
            </a:pPr>
            <a:r>
              <a:rPr lang="en-US" sz="1700" dirty="0">
                <a:solidFill>
                  <a:srgbClr val="5B5E6B"/>
                </a:solidFill>
                <a:latin typeface="Calibri" pitchFamily="34" charset="0"/>
                <a:ea typeface="Calibri" pitchFamily="34" charset="-122"/>
                <a:cs typeface="Calibri" pitchFamily="34" charset="-120"/>
              </a:rPr>
              <a:t>Foto de los indicadores por proyecto y por fase, cada lunes: % AWP, hitos atrasados y, desde la Etapa 3, restricciones, paquetes y backlog.</a:t>
            </a:r>
            <a:endParaRPr lang="en-US" sz="1700" dirty="0"/>
          </a:p>
        </p:txBody>
      </p:sp>
      <p:sp>
        <p:nvSpPr>
          <p:cNvPr id="19" name="Shape 14"/>
          <p:cNvSpPr/>
          <p:nvPr/>
        </p:nvSpPr>
        <p:spPr>
          <a:xfrm>
            <a:off x="6233008" y="4046220"/>
            <a:ext cx="5410048" cy="2217420"/>
          </a:xfrm>
          <a:prstGeom prst="roundRect">
            <a:avLst>
              <a:gd name="adj" fmla="val 4124"/>
            </a:avLst>
          </a:prstGeom>
          <a:solidFill>
            <a:srgbClr val="F5F6FB"/>
          </a:solidFill>
          <a:ln w="9525">
            <a:solidFill>
              <a:srgbClr val="E3E5EE"/>
            </a:solidFill>
            <a:prstDash val="solid"/>
          </a:ln>
        </p:spPr>
      </p:sp>
      <p:sp>
        <p:nvSpPr>
          <p:cNvPr id="20" name="Shape 15"/>
          <p:cNvSpPr/>
          <p:nvPr/>
        </p:nvSpPr>
        <p:spPr>
          <a:xfrm>
            <a:off x="6461608" y="4274820"/>
            <a:ext cx="548640" cy="548640"/>
          </a:xfrm>
          <a:prstGeom prst="ellipse">
            <a:avLst/>
          </a:prstGeom>
          <a:solidFill>
            <a:srgbClr val="E8EAF6"/>
          </a:solidFill>
          <a:ln w="12700">
            <a:solidFill>
              <a:srgbClr val="E8EAF6"/>
            </a:solidFill>
            <a:prstDash val="solid"/>
          </a:ln>
        </p:spPr>
      </p:sp>
      <p:pic>
        <p:nvPicPr>
          <p:cNvPr id="21" name="Image 3" descr="preencoded.png">    </p:cNvPr>
          <p:cNvPicPr>
            <a:picLocks noChangeAspect="1"/>
          </p:cNvPicPr>
          <p:nvPr/>
        </p:nvPicPr>
        <p:blipFill>
          <a:blip r:embed="rId4"/>
          <a:stretch>
            <a:fillRect/>
          </a:stretch>
        </p:blipFill>
        <p:spPr>
          <a:xfrm>
            <a:off x="6585052" y="4398264"/>
            <a:ext cx="301752" cy="301752"/>
          </a:xfrm>
          <a:prstGeom prst="rect">
            <a:avLst/>
          </a:prstGeom>
        </p:spPr>
      </p:pic>
      <p:sp>
        <p:nvSpPr>
          <p:cNvPr id="22" name="Text 16"/>
          <p:cNvSpPr txBox="1"/>
          <p:nvPr/>
        </p:nvSpPr>
        <p:spPr>
          <a:xfrm>
            <a:off x="7193128" y="4274820"/>
            <a:ext cx="422132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De solo lectura</a:t>
            </a:r>
            <a:endParaRPr lang="en-US" sz="1700" dirty="0"/>
          </a:p>
        </p:txBody>
      </p:sp>
      <p:sp>
        <p:nvSpPr>
          <p:cNvPr id="23" name="Text 17"/>
          <p:cNvSpPr txBox="1"/>
          <p:nvPr/>
        </p:nvSpPr>
        <p:spPr>
          <a:xfrm>
            <a:off x="6461608" y="4960620"/>
            <a:ext cx="4952848" cy="1165860"/>
          </a:xfrm>
          <a:prstGeom prst="rect">
            <a:avLst/>
          </a:prstGeom>
          <a:noFill/>
          <a:ln/>
        </p:spPr>
        <p:txBody>
          <a:bodyPr wrap="square" lIns="0" tIns="0" rIns="0" bIns="0" rtlCol="0" anchor="t">
            <a:normAutofit/>
          </a:bodyPr>
          <a:lstStyle/>
          <a:p>
            <a:pPr indent="0" marL="0">
              <a:buNone/>
            </a:pPr>
            <a:r>
              <a:rPr lang="en-US" sz="1700" dirty="0">
                <a:solidFill>
                  <a:srgbClr val="5B5E6B"/>
                </a:solidFill>
                <a:latin typeface="Calibri" pitchFamily="34" charset="0"/>
                <a:ea typeface="Calibri" pitchFamily="34" charset="-122"/>
                <a:cs typeface="Calibri" pitchFamily="34" charset="-120"/>
              </a:rPr>
              <a:t>Los escribe la base de datos; la aplicación no puede modificarlos.</a:t>
            </a:r>
            <a:endParaRPr lang="en-US" sz="1700" dirty="0"/>
          </a:p>
        </p:txBody>
      </p:sp>
      <p:sp>
        <p:nvSpPr>
          <p:cNvPr id="24" name="Text 18"/>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Datos y seguridad</a:t>
            </a:r>
            <a:endParaRPr lang="en-US" sz="1000" dirty="0"/>
          </a:p>
        </p:txBody>
      </p:sp>
      <p:sp>
        <p:nvSpPr>
          <p:cNvPr id="25" name="Text 19"/>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112</a:t>
            </a:r>
            <a:endParaRPr lang="en-US" sz="10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El plan gratuito de Supabase</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Suficiente para un portafolio de proyectos, con un cuidado</a:t>
            </a:r>
            <a:endParaRPr lang="en-US" sz="1500" dirty="0"/>
          </a:p>
        </p:txBody>
      </p:sp>
      <p:sp>
        <p:nvSpPr>
          <p:cNvPr id="4" name="Shape 2"/>
          <p:cNvSpPr/>
          <p:nvPr/>
        </p:nvSpPr>
        <p:spPr>
          <a:xfrm>
            <a:off x="548640" y="1600200"/>
            <a:ext cx="2567864" cy="4572000"/>
          </a:xfrm>
          <a:prstGeom prst="roundRect">
            <a:avLst>
              <a:gd name="adj" fmla="val 3561"/>
            </a:avLst>
          </a:prstGeom>
          <a:solidFill>
            <a:srgbClr val="F5F6FB"/>
          </a:solidFill>
          <a:ln w="9525">
            <a:solidFill>
              <a:srgbClr val="E3E5EE"/>
            </a:solidFill>
            <a:prstDash val="solid"/>
          </a:ln>
        </p:spPr>
      </p:sp>
      <p:sp>
        <p:nvSpPr>
          <p:cNvPr id="5" name="Text 3"/>
          <p:cNvSpPr txBox="1"/>
          <p:nvPr/>
        </p:nvSpPr>
        <p:spPr>
          <a:xfrm>
            <a:off x="777240" y="1920240"/>
            <a:ext cx="2110664" cy="1097280"/>
          </a:xfrm>
          <a:prstGeom prst="rect">
            <a:avLst/>
          </a:prstGeom>
          <a:noFill/>
          <a:ln/>
        </p:spPr>
        <p:txBody>
          <a:bodyPr wrap="square" lIns="0" tIns="0" rIns="0" bIns="0" rtlCol="0" anchor="ctr"/>
          <a:lstStyle/>
          <a:p>
            <a:pPr indent="0" marL="0">
              <a:buNone/>
            </a:pPr>
            <a:r>
              <a:rPr lang="en-US" sz="3400" b="1" dirty="0">
                <a:solidFill>
                  <a:srgbClr val="3F51B5"/>
                </a:solidFill>
                <a:latin typeface="Calibri" pitchFamily="34" charset="0"/>
                <a:ea typeface="Calibri" pitchFamily="34" charset="-122"/>
                <a:cs typeface="Calibri" pitchFamily="34" charset="-120"/>
              </a:rPr>
              <a:t>500 MB</a:t>
            </a:r>
            <a:endParaRPr lang="en-US" sz="3400" dirty="0"/>
          </a:p>
        </p:txBody>
      </p:sp>
      <p:sp>
        <p:nvSpPr>
          <p:cNvPr id="6" name="Text 4"/>
          <p:cNvSpPr txBox="1"/>
          <p:nvPr/>
        </p:nvSpPr>
        <p:spPr>
          <a:xfrm>
            <a:off x="777240" y="3108960"/>
            <a:ext cx="2110664" cy="685800"/>
          </a:xfrm>
          <a:prstGeom prst="rect">
            <a:avLst/>
          </a:prstGeom>
          <a:noFill/>
          <a:ln/>
        </p:spPr>
        <p:txBody>
          <a:bodyPr wrap="square" lIns="0" tIns="0" rIns="0" bIns="0" rtlCol="0" anchor="t">
            <a:normAutofit/>
          </a:bodyPr>
          <a:lstStyle/>
          <a:p>
            <a:pPr indent="0" marL="0">
              <a:buNone/>
            </a:pPr>
            <a:r>
              <a:rPr lang="en-US" sz="1600" b="1" dirty="0">
                <a:solidFill>
                  <a:srgbClr val="1B1C22"/>
                </a:solidFill>
                <a:latin typeface="Calibri" pitchFamily="34" charset="0"/>
                <a:ea typeface="Calibri" pitchFamily="34" charset="-122"/>
                <a:cs typeface="Calibri" pitchFamily="34" charset="-120"/>
              </a:rPr>
              <a:t>de base de datos</a:t>
            </a:r>
            <a:endParaRPr lang="en-US" sz="1600" dirty="0"/>
          </a:p>
        </p:txBody>
      </p:sp>
      <p:sp>
        <p:nvSpPr>
          <p:cNvPr id="7" name="Text 5"/>
          <p:cNvSpPr txBox="1"/>
          <p:nvPr/>
        </p:nvSpPr>
        <p:spPr>
          <a:xfrm>
            <a:off x="777240" y="3840480"/>
            <a:ext cx="2110664" cy="21945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Cientos de proyectos con todos sus registros.</a:t>
            </a:r>
            <a:endParaRPr lang="en-US" sz="1500" dirty="0"/>
          </a:p>
        </p:txBody>
      </p:sp>
      <p:sp>
        <p:nvSpPr>
          <p:cNvPr id="8" name="Shape 6"/>
          <p:cNvSpPr/>
          <p:nvPr/>
        </p:nvSpPr>
        <p:spPr>
          <a:xfrm>
            <a:off x="3390824" y="1600200"/>
            <a:ext cx="2567864" cy="4572000"/>
          </a:xfrm>
          <a:prstGeom prst="roundRect">
            <a:avLst>
              <a:gd name="adj" fmla="val 3561"/>
            </a:avLst>
          </a:prstGeom>
          <a:solidFill>
            <a:srgbClr val="F5F6FB"/>
          </a:solidFill>
          <a:ln w="9525">
            <a:solidFill>
              <a:srgbClr val="E3E5EE"/>
            </a:solidFill>
            <a:prstDash val="solid"/>
          </a:ln>
        </p:spPr>
      </p:sp>
      <p:sp>
        <p:nvSpPr>
          <p:cNvPr id="9" name="Text 7"/>
          <p:cNvSpPr txBox="1"/>
          <p:nvPr/>
        </p:nvSpPr>
        <p:spPr>
          <a:xfrm>
            <a:off x="3619424" y="1920240"/>
            <a:ext cx="2110664" cy="1097280"/>
          </a:xfrm>
          <a:prstGeom prst="rect">
            <a:avLst/>
          </a:prstGeom>
          <a:noFill/>
          <a:ln/>
        </p:spPr>
        <p:txBody>
          <a:bodyPr wrap="square" lIns="0" tIns="0" rIns="0" bIns="0" rtlCol="0" anchor="ctr"/>
          <a:lstStyle/>
          <a:p>
            <a:pPr indent="0" marL="0">
              <a:buNone/>
            </a:pPr>
            <a:r>
              <a:rPr lang="en-US" sz="3400" b="1" dirty="0">
                <a:solidFill>
                  <a:srgbClr val="3F51B5"/>
                </a:solidFill>
                <a:latin typeface="Calibri" pitchFamily="34" charset="0"/>
                <a:ea typeface="Calibri" pitchFamily="34" charset="-122"/>
                <a:cs typeface="Calibri" pitchFamily="34" charset="-120"/>
              </a:rPr>
              <a:t>50 000</a:t>
            </a:r>
            <a:endParaRPr lang="en-US" sz="3400" dirty="0"/>
          </a:p>
        </p:txBody>
      </p:sp>
      <p:sp>
        <p:nvSpPr>
          <p:cNvPr id="10" name="Text 8"/>
          <p:cNvSpPr txBox="1"/>
          <p:nvPr/>
        </p:nvSpPr>
        <p:spPr>
          <a:xfrm>
            <a:off x="3619424" y="3108960"/>
            <a:ext cx="2110664" cy="685800"/>
          </a:xfrm>
          <a:prstGeom prst="rect">
            <a:avLst/>
          </a:prstGeom>
          <a:noFill/>
          <a:ln/>
        </p:spPr>
        <p:txBody>
          <a:bodyPr wrap="square" lIns="0" tIns="0" rIns="0" bIns="0" rtlCol="0" anchor="t">
            <a:normAutofit/>
          </a:bodyPr>
          <a:lstStyle/>
          <a:p>
            <a:pPr indent="0" marL="0">
              <a:buNone/>
            </a:pPr>
            <a:r>
              <a:rPr lang="en-US" sz="1600" b="1" dirty="0">
                <a:solidFill>
                  <a:srgbClr val="1B1C22"/>
                </a:solidFill>
                <a:latin typeface="Calibri" pitchFamily="34" charset="0"/>
                <a:ea typeface="Calibri" pitchFamily="34" charset="-122"/>
                <a:cs typeface="Calibri" pitchFamily="34" charset="-120"/>
              </a:rPr>
              <a:t>usuarios activos al mes</a:t>
            </a:r>
            <a:endParaRPr lang="en-US" sz="1600" dirty="0"/>
          </a:p>
        </p:txBody>
      </p:sp>
      <p:sp>
        <p:nvSpPr>
          <p:cNvPr id="11" name="Text 9"/>
          <p:cNvSpPr txBox="1"/>
          <p:nvPr/>
        </p:nvSpPr>
        <p:spPr>
          <a:xfrm>
            <a:off x="3619424" y="3840480"/>
            <a:ext cx="2110664" cy="21945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Muy por encima de un equipo de implementación.</a:t>
            </a:r>
            <a:endParaRPr lang="en-US" sz="1500" dirty="0"/>
          </a:p>
        </p:txBody>
      </p:sp>
      <p:sp>
        <p:nvSpPr>
          <p:cNvPr id="12" name="Shape 10"/>
          <p:cNvSpPr/>
          <p:nvPr/>
        </p:nvSpPr>
        <p:spPr>
          <a:xfrm>
            <a:off x="6233008" y="1600200"/>
            <a:ext cx="2567864" cy="4572000"/>
          </a:xfrm>
          <a:prstGeom prst="roundRect">
            <a:avLst>
              <a:gd name="adj" fmla="val 3561"/>
            </a:avLst>
          </a:prstGeom>
          <a:solidFill>
            <a:srgbClr val="F5F6FB"/>
          </a:solidFill>
          <a:ln w="9525">
            <a:solidFill>
              <a:srgbClr val="E3E5EE"/>
            </a:solidFill>
            <a:prstDash val="solid"/>
          </a:ln>
        </p:spPr>
      </p:sp>
      <p:sp>
        <p:nvSpPr>
          <p:cNvPr id="13" name="Text 11"/>
          <p:cNvSpPr txBox="1"/>
          <p:nvPr/>
        </p:nvSpPr>
        <p:spPr>
          <a:xfrm>
            <a:off x="6461608" y="1920240"/>
            <a:ext cx="2110664" cy="1097280"/>
          </a:xfrm>
          <a:prstGeom prst="rect">
            <a:avLst/>
          </a:prstGeom>
          <a:noFill/>
          <a:ln/>
        </p:spPr>
        <p:txBody>
          <a:bodyPr wrap="square" lIns="0" tIns="0" rIns="0" bIns="0" rtlCol="0" anchor="ctr"/>
          <a:lstStyle/>
          <a:p>
            <a:pPr indent="0" marL="0">
              <a:buNone/>
            </a:pPr>
            <a:r>
              <a:rPr lang="en-US" sz="3400" b="1" dirty="0">
                <a:solidFill>
                  <a:srgbClr val="3F51B5"/>
                </a:solidFill>
                <a:latin typeface="Calibri" pitchFamily="34" charset="0"/>
                <a:ea typeface="Calibri" pitchFamily="34" charset="-122"/>
                <a:cs typeface="Calibri" pitchFamily="34" charset="-120"/>
              </a:rPr>
              <a:t>7 días</a:t>
            </a:r>
            <a:endParaRPr lang="en-US" sz="3400" dirty="0"/>
          </a:p>
        </p:txBody>
      </p:sp>
      <p:sp>
        <p:nvSpPr>
          <p:cNvPr id="14" name="Text 12"/>
          <p:cNvSpPr txBox="1"/>
          <p:nvPr/>
        </p:nvSpPr>
        <p:spPr>
          <a:xfrm>
            <a:off x="6461608" y="3108960"/>
            <a:ext cx="2110664" cy="685800"/>
          </a:xfrm>
          <a:prstGeom prst="rect">
            <a:avLst/>
          </a:prstGeom>
          <a:noFill/>
          <a:ln/>
        </p:spPr>
        <p:txBody>
          <a:bodyPr wrap="square" lIns="0" tIns="0" rIns="0" bIns="0" rtlCol="0" anchor="t">
            <a:normAutofit/>
          </a:bodyPr>
          <a:lstStyle/>
          <a:p>
            <a:pPr indent="0" marL="0">
              <a:buNone/>
            </a:pPr>
            <a:r>
              <a:rPr lang="en-US" sz="1600" b="1" dirty="0">
                <a:solidFill>
                  <a:srgbClr val="1B1C22"/>
                </a:solidFill>
                <a:latin typeface="Calibri" pitchFamily="34" charset="0"/>
                <a:ea typeface="Calibri" pitchFamily="34" charset="-122"/>
                <a:cs typeface="Calibri" pitchFamily="34" charset="-120"/>
              </a:rPr>
              <a:t>sin uso → pausa</a:t>
            </a:r>
            <a:endParaRPr lang="en-US" sz="1600" dirty="0"/>
          </a:p>
        </p:txBody>
      </p:sp>
      <p:sp>
        <p:nvSpPr>
          <p:cNvPr id="15" name="Text 13"/>
          <p:cNvSpPr txBox="1"/>
          <p:nvPr/>
        </p:nvSpPr>
        <p:spPr>
          <a:xfrm>
            <a:off x="6461608" y="3840480"/>
            <a:ext cx="2110664" cy="21945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El proyecto de Supabase se pausa; se reactiva con un clic desde su panel.</a:t>
            </a:r>
            <a:endParaRPr lang="en-US" sz="1500" dirty="0"/>
          </a:p>
        </p:txBody>
      </p:sp>
      <p:sp>
        <p:nvSpPr>
          <p:cNvPr id="16" name="Shape 14"/>
          <p:cNvSpPr/>
          <p:nvPr/>
        </p:nvSpPr>
        <p:spPr>
          <a:xfrm>
            <a:off x="9075191" y="1600200"/>
            <a:ext cx="2567864" cy="4572000"/>
          </a:xfrm>
          <a:prstGeom prst="roundRect">
            <a:avLst>
              <a:gd name="adj" fmla="val 3561"/>
            </a:avLst>
          </a:prstGeom>
          <a:solidFill>
            <a:srgbClr val="F5F6FB"/>
          </a:solidFill>
          <a:ln w="9525">
            <a:solidFill>
              <a:srgbClr val="E3E5EE"/>
            </a:solidFill>
            <a:prstDash val="solid"/>
          </a:ln>
        </p:spPr>
      </p:sp>
      <p:sp>
        <p:nvSpPr>
          <p:cNvPr id="17" name="Text 15"/>
          <p:cNvSpPr txBox="1"/>
          <p:nvPr/>
        </p:nvSpPr>
        <p:spPr>
          <a:xfrm>
            <a:off x="9303791" y="1920240"/>
            <a:ext cx="2110664" cy="1097280"/>
          </a:xfrm>
          <a:prstGeom prst="rect">
            <a:avLst/>
          </a:prstGeom>
          <a:noFill/>
          <a:ln/>
        </p:spPr>
        <p:txBody>
          <a:bodyPr wrap="square" lIns="0" tIns="0" rIns="0" bIns="0" rtlCol="0" anchor="ctr"/>
          <a:lstStyle/>
          <a:p>
            <a:pPr indent="0" marL="0">
              <a:buNone/>
            </a:pPr>
            <a:r>
              <a:rPr lang="en-US" sz="5800" b="1" dirty="0">
                <a:solidFill>
                  <a:srgbClr val="3F51B5"/>
                </a:solidFill>
                <a:latin typeface="Calibri" pitchFamily="34" charset="0"/>
                <a:ea typeface="Calibri" pitchFamily="34" charset="-122"/>
                <a:cs typeface="Calibri" pitchFamily="34" charset="-120"/>
              </a:rPr>
              <a:t>0</a:t>
            </a:r>
            <a:endParaRPr lang="en-US" sz="5800" dirty="0"/>
          </a:p>
        </p:txBody>
      </p:sp>
      <p:sp>
        <p:nvSpPr>
          <p:cNvPr id="18" name="Text 16"/>
          <p:cNvSpPr txBox="1"/>
          <p:nvPr/>
        </p:nvSpPr>
        <p:spPr>
          <a:xfrm>
            <a:off x="9303791" y="3108960"/>
            <a:ext cx="2110664" cy="685800"/>
          </a:xfrm>
          <a:prstGeom prst="rect">
            <a:avLst/>
          </a:prstGeom>
          <a:noFill/>
          <a:ln/>
        </p:spPr>
        <p:txBody>
          <a:bodyPr wrap="square" lIns="0" tIns="0" rIns="0" bIns="0" rtlCol="0" anchor="t">
            <a:normAutofit/>
          </a:bodyPr>
          <a:lstStyle/>
          <a:p>
            <a:pPr indent="0" marL="0">
              <a:buNone/>
            </a:pPr>
            <a:r>
              <a:rPr lang="en-US" sz="1600" b="1" dirty="0">
                <a:solidFill>
                  <a:srgbClr val="1B1C22"/>
                </a:solidFill>
                <a:latin typeface="Calibri" pitchFamily="34" charset="0"/>
                <a:ea typeface="Calibri" pitchFamily="34" charset="-122"/>
                <a:cs typeface="Calibri" pitchFamily="34" charset="-120"/>
              </a:rPr>
              <a:t>archivos almacenados</a:t>
            </a:r>
            <a:endParaRPr lang="en-US" sz="1600" dirty="0"/>
          </a:p>
        </p:txBody>
      </p:sp>
      <p:sp>
        <p:nvSpPr>
          <p:cNvPr id="19" name="Text 17"/>
          <p:cNvSpPr txBox="1"/>
          <p:nvPr/>
        </p:nvSpPr>
        <p:spPr>
          <a:xfrm>
            <a:off x="9303791" y="3840480"/>
            <a:ext cx="2110664" cy="21945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Los documentos se generarán en el navegador; la evidencia se registra como referencia o enlace.</a:t>
            </a:r>
            <a:endParaRPr lang="en-US" sz="1500" dirty="0"/>
          </a:p>
        </p:txBody>
      </p:sp>
      <p:sp>
        <p:nvSpPr>
          <p:cNvPr id="20" name="Text 18"/>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Datos y seguridad</a:t>
            </a:r>
            <a:endParaRPr lang="en-US" sz="1000" dirty="0"/>
          </a:p>
        </p:txBody>
      </p:sp>
      <p:sp>
        <p:nvSpPr>
          <p:cNvPr id="21" name="Text 19"/>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113</a:t>
            </a:r>
            <a:endParaRPr lang="en-US" sz="10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1A1F4B"/>
        </a:solidFill>
      </p:bgPr>
    </p:bg>
    <p:spTree>
      <p:nvGrpSpPr>
        <p:cNvPr id="1" name=""/>
        <p:cNvGrpSpPr/>
        <p:nvPr/>
      </p:nvGrpSpPr>
      <p:grpSpPr>
        <a:xfrm>
          <a:off x="0" y="0"/>
          <a:ext cx="0" cy="0"/>
          <a:chOff x="0" y="0"/>
          <a:chExt cx="0" cy="0"/>
        </a:xfrm>
      </p:grpSpPr>
      <p:sp>
        <p:nvSpPr>
          <p:cNvPr id="2" name="Text 0"/>
          <p:cNvSpPr txBox="1"/>
          <p:nvPr/>
        </p:nvSpPr>
        <p:spPr>
          <a:xfrm>
            <a:off x="548640" y="1188720"/>
            <a:ext cx="2743200" cy="1371600"/>
          </a:xfrm>
          <a:prstGeom prst="rect">
            <a:avLst/>
          </a:prstGeom>
          <a:noFill/>
          <a:ln/>
        </p:spPr>
        <p:txBody>
          <a:bodyPr wrap="square" lIns="0" tIns="0" rIns="0" bIns="0" rtlCol="0" anchor="t"/>
          <a:lstStyle/>
          <a:p>
            <a:pPr indent="0" marL="0">
              <a:buNone/>
            </a:pPr>
            <a:r>
              <a:rPr lang="en-US" sz="9600" b="1" dirty="0">
                <a:solidFill>
                  <a:srgbClr val="FFC107"/>
                </a:solidFill>
                <a:latin typeface="Calibri" pitchFamily="34" charset="0"/>
                <a:ea typeface="Calibri" pitchFamily="34" charset="-122"/>
                <a:cs typeface="Calibri" pitchFamily="34" charset="-120"/>
              </a:rPr>
              <a:t>14</a:t>
            </a:r>
            <a:endParaRPr lang="en-US" sz="9600" dirty="0"/>
          </a:p>
        </p:txBody>
      </p:sp>
      <p:sp>
        <p:nvSpPr>
          <p:cNvPr id="3" name="Text 1"/>
          <p:cNvSpPr txBox="1"/>
          <p:nvPr/>
        </p:nvSpPr>
        <p:spPr>
          <a:xfrm>
            <a:off x="548640" y="2697480"/>
            <a:ext cx="5852160" cy="73152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Lo que viene</a:t>
            </a:r>
            <a:endParaRPr lang="en-US" sz="3800" dirty="0"/>
          </a:p>
        </p:txBody>
      </p:sp>
      <p:sp>
        <p:nvSpPr>
          <p:cNvPr id="4" name="Text 2"/>
          <p:cNvSpPr txBox="1"/>
          <p:nvPr/>
        </p:nvSpPr>
        <p:spPr>
          <a:xfrm>
            <a:off x="548640" y="3566160"/>
            <a:ext cx="5486400" cy="1097280"/>
          </a:xfrm>
          <a:prstGeom prst="rect">
            <a:avLst/>
          </a:prstGeom>
          <a:noFill/>
          <a:ln/>
        </p:spPr>
        <p:txBody>
          <a:bodyPr wrap="square" lIns="0" tIns="0" rIns="0" bIns="0" rtlCol="0" anchor="t"/>
          <a:lstStyle/>
          <a:p>
            <a:pPr indent="0" marL="0">
              <a:buNone/>
            </a:pPr>
            <a:r>
              <a:rPr lang="en-US" sz="1800" dirty="0">
                <a:solidFill>
                  <a:srgbClr val="C5CAE9"/>
                </a:solidFill>
                <a:latin typeface="Calibri" pitchFamily="34" charset="0"/>
                <a:ea typeface="Calibri" pitchFamily="34" charset="-122"/>
                <a:cs typeface="Calibri" pitchFamily="34" charset="-120"/>
              </a:rPr>
              <a:t>Etapas 3 a 6: paquetes, ejecución, control, documentos e intercambio con Excel</a:t>
            </a:r>
            <a:endParaRPr lang="en-US" sz="1800" dirty="0"/>
          </a:p>
        </p:txBody>
      </p:sp>
      <p:sp>
        <p:nvSpPr>
          <p:cNvPr id="5" name="Shape 3"/>
          <p:cNvSpPr/>
          <p:nvPr/>
        </p:nvSpPr>
        <p:spPr>
          <a:xfrm>
            <a:off x="6766560" y="1234440"/>
            <a:ext cx="4892040" cy="4480560"/>
          </a:xfrm>
          <a:prstGeom prst="roundRect">
            <a:avLst>
              <a:gd name="adj" fmla="val 2449"/>
            </a:avLst>
          </a:prstGeom>
          <a:solidFill>
            <a:srgbClr val="252B5E"/>
          </a:solidFill>
          <a:ln w="12700">
            <a:solidFill>
              <a:srgbClr val="3C4488"/>
            </a:solidFill>
            <a:prstDash val="solid"/>
          </a:ln>
        </p:spPr>
      </p:sp>
      <p:sp>
        <p:nvSpPr>
          <p:cNvPr id="6" name="Text 4"/>
          <p:cNvSpPr txBox="1"/>
          <p:nvPr/>
        </p:nvSpPr>
        <p:spPr>
          <a:xfrm>
            <a:off x="7132320" y="1508760"/>
            <a:ext cx="4206240" cy="320040"/>
          </a:xfrm>
          <a:prstGeom prst="rect">
            <a:avLst/>
          </a:prstGeom>
          <a:noFill/>
          <a:ln/>
        </p:spPr>
        <p:txBody>
          <a:bodyPr wrap="square" lIns="0" tIns="0" rIns="0" bIns="0" rtlCol="0" anchor="t"/>
          <a:lstStyle/>
          <a:p>
            <a:pPr indent="0" marL="0">
              <a:buNone/>
            </a:pPr>
            <a:r>
              <a:rPr lang="en-US" sz="1200" b="1" spc="200" kern="0" dirty="0">
                <a:solidFill>
                  <a:srgbClr val="FFC107"/>
                </a:solidFill>
                <a:latin typeface="Calibri" pitchFamily="34" charset="0"/>
                <a:ea typeface="Calibri" pitchFamily="34" charset="-122"/>
                <a:cs typeface="Calibri" pitchFamily="34" charset="-120"/>
              </a:rPr>
              <a:t>EN ESTA SECCIÓN</a:t>
            </a:r>
            <a:endParaRPr lang="en-US" sz="1200" dirty="0"/>
          </a:p>
        </p:txBody>
      </p:sp>
      <p:sp>
        <p:nvSpPr>
          <p:cNvPr id="7" name="Shape 5"/>
          <p:cNvSpPr/>
          <p:nvPr/>
        </p:nvSpPr>
        <p:spPr>
          <a:xfrm>
            <a:off x="7178040" y="2103120"/>
            <a:ext cx="146304" cy="146304"/>
          </a:xfrm>
          <a:prstGeom prst="ellipse">
            <a:avLst/>
          </a:prstGeom>
          <a:solidFill>
            <a:srgbClr val="FFC107"/>
          </a:solidFill>
          <a:ln w="12700">
            <a:solidFill>
              <a:srgbClr val="FFC107"/>
            </a:solidFill>
            <a:prstDash val="solid"/>
          </a:ln>
        </p:spPr>
      </p:sp>
      <p:sp>
        <p:nvSpPr>
          <p:cNvPr id="8" name="Text 6"/>
          <p:cNvSpPr txBox="1"/>
          <p:nvPr/>
        </p:nvSpPr>
        <p:spPr>
          <a:xfrm>
            <a:off x="7498080" y="2011680"/>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Paquetes y Path of Construction</a:t>
            </a:r>
            <a:endParaRPr lang="en-US" sz="1700" dirty="0"/>
          </a:p>
        </p:txBody>
      </p:sp>
      <p:sp>
        <p:nvSpPr>
          <p:cNvPr id="9" name="Shape 7"/>
          <p:cNvSpPr/>
          <p:nvPr/>
        </p:nvSpPr>
        <p:spPr>
          <a:xfrm>
            <a:off x="7178040" y="2816352"/>
            <a:ext cx="146304" cy="146304"/>
          </a:xfrm>
          <a:prstGeom prst="ellipse">
            <a:avLst/>
          </a:prstGeom>
          <a:solidFill>
            <a:srgbClr val="FFC107"/>
          </a:solidFill>
          <a:ln w="12700">
            <a:solidFill>
              <a:srgbClr val="FFC107"/>
            </a:solidFill>
            <a:prstDash val="solid"/>
          </a:ln>
        </p:spPr>
      </p:sp>
      <p:sp>
        <p:nvSpPr>
          <p:cNvPr id="10" name="Text 8"/>
          <p:cNvSpPr txBox="1"/>
          <p:nvPr/>
        </p:nvSpPr>
        <p:spPr>
          <a:xfrm>
            <a:off x="7498080" y="2724912"/>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Restricciones, liberación y lookahead</a:t>
            </a:r>
            <a:endParaRPr lang="en-US" sz="1700" dirty="0"/>
          </a:p>
        </p:txBody>
      </p:sp>
      <p:sp>
        <p:nvSpPr>
          <p:cNvPr id="11" name="Shape 9"/>
          <p:cNvSpPr/>
          <p:nvPr/>
        </p:nvSpPr>
        <p:spPr>
          <a:xfrm>
            <a:off x="7178040" y="3529584"/>
            <a:ext cx="146304" cy="146304"/>
          </a:xfrm>
          <a:prstGeom prst="ellipse">
            <a:avLst/>
          </a:prstGeom>
          <a:solidFill>
            <a:srgbClr val="FFC107"/>
          </a:solidFill>
          <a:ln w="12700">
            <a:solidFill>
              <a:srgbClr val="FFC107"/>
            </a:solidFill>
            <a:prstDash val="solid"/>
          </a:ln>
        </p:spPr>
      </p:sp>
      <p:sp>
        <p:nvSpPr>
          <p:cNvPr id="12" name="Text 10"/>
          <p:cNvSpPr txBox="1"/>
          <p:nvPr/>
        </p:nvSpPr>
        <p:spPr>
          <a:xfrm>
            <a:off x="7498080" y="3438144"/>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RACI, riesgos, lecciones y KPI</a:t>
            </a:r>
            <a:endParaRPr lang="en-US" sz="1700" dirty="0"/>
          </a:p>
        </p:txBody>
      </p:sp>
      <p:sp>
        <p:nvSpPr>
          <p:cNvPr id="13" name="Shape 11"/>
          <p:cNvSpPr/>
          <p:nvPr/>
        </p:nvSpPr>
        <p:spPr>
          <a:xfrm>
            <a:off x="7178040" y="4242816"/>
            <a:ext cx="146304" cy="146304"/>
          </a:xfrm>
          <a:prstGeom prst="ellipse">
            <a:avLst/>
          </a:prstGeom>
          <a:solidFill>
            <a:srgbClr val="FFC107"/>
          </a:solidFill>
          <a:ln w="12700">
            <a:solidFill>
              <a:srgbClr val="FFC107"/>
            </a:solidFill>
            <a:prstDash val="solid"/>
          </a:ln>
        </p:spPr>
      </p:sp>
      <p:sp>
        <p:nvSpPr>
          <p:cNvPr id="14" name="Text 12"/>
          <p:cNvSpPr txBox="1"/>
          <p:nvPr/>
        </p:nvSpPr>
        <p:spPr>
          <a:xfrm>
            <a:off x="7498080" y="4151376"/>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Documentos Word y PDF</a:t>
            </a:r>
            <a:endParaRPr lang="en-US" sz="1700" dirty="0"/>
          </a:p>
        </p:txBody>
      </p:sp>
      <p:sp>
        <p:nvSpPr>
          <p:cNvPr id="15" name="Shape 13"/>
          <p:cNvSpPr/>
          <p:nvPr/>
        </p:nvSpPr>
        <p:spPr>
          <a:xfrm>
            <a:off x="7178040" y="4956048"/>
            <a:ext cx="146304" cy="146304"/>
          </a:xfrm>
          <a:prstGeom prst="ellipse">
            <a:avLst/>
          </a:prstGeom>
          <a:solidFill>
            <a:srgbClr val="FFC107"/>
          </a:solidFill>
          <a:ln w="12700">
            <a:solidFill>
              <a:srgbClr val="FFC107"/>
            </a:solidFill>
            <a:prstDash val="solid"/>
          </a:ln>
        </p:spPr>
      </p:sp>
      <p:sp>
        <p:nvSpPr>
          <p:cNvPr id="16" name="Text 14"/>
          <p:cNvSpPr txBox="1"/>
          <p:nvPr/>
        </p:nvSpPr>
        <p:spPr>
          <a:xfrm>
            <a:off x="7498080" y="4864608"/>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Importar, exportar y proyecto de ejemplo</a:t>
            </a:r>
            <a:endParaRPr lang="en-US" sz="1700" dirty="0"/>
          </a:p>
        </p:txBody>
      </p:sp>
      <p:sp>
        <p:nvSpPr>
          <p:cNvPr id="17" name="Text 15"/>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8C93C9"/>
                </a:solidFill>
                <a:latin typeface="Calibri" pitchFamily="34" charset="0"/>
                <a:ea typeface="Calibri" pitchFamily="34" charset="-122"/>
                <a:cs typeface="Calibri" pitchFamily="34" charset="-120"/>
              </a:rPr>
              <a:t>Aplicación AWP · Lo que viene</a:t>
            </a:r>
            <a:endParaRPr lang="en-US" sz="1000" dirty="0"/>
          </a:p>
        </p:txBody>
      </p:sp>
      <p:sp>
        <p:nvSpPr>
          <p:cNvPr id="18" name="Text 16"/>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8C93C9"/>
                </a:solidFill>
                <a:latin typeface="Calibri" pitchFamily="34" charset="0"/>
                <a:ea typeface="Calibri" pitchFamily="34" charset="-122"/>
                <a:cs typeface="Calibri" pitchFamily="34" charset="-120"/>
              </a:rPr>
              <a:t>114</a:t>
            </a:r>
            <a:endParaRPr lang="en-US" sz="10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Etapa 3 · Paquetes de trabajo</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La jerarquía AWP completa, navegable de la CWA al IWP</a:t>
            </a:r>
            <a:endParaRPr lang="en-US" sz="1500" dirty="0"/>
          </a:p>
        </p:txBody>
      </p:sp>
      <p:sp>
        <p:nvSpPr>
          <p:cNvPr id="4" name="Shape 2"/>
          <p:cNvSpPr/>
          <p:nvPr/>
        </p:nvSpPr>
        <p:spPr>
          <a:xfrm>
            <a:off x="548640" y="1554480"/>
            <a:ext cx="3515258" cy="2217420"/>
          </a:xfrm>
          <a:prstGeom prst="roundRect">
            <a:avLst>
              <a:gd name="adj" fmla="val 4124"/>
            </a:avLst>
          </a:prstGeom>
          <a:solidFill>
            <a:srgbClr val="F5F6FB"/>
          </a:solidFill>
          <a:ln w="9525">
            <a:solidFill>
              <a:srgbClr val="E3E5EE"/>
            </a:solidFill>
            <a:prstDash val="solid"/>
          </a:ln>
        </p:spPr>
      </p:sp>
      <p:sp>
        <p:nvSpPr>
          <p:cNvPr id="5" name="Shape 3"/>
          <p:cNvSpPr/>
          <p:nvPr/>
        </p:nvSpPr>
        <p:spPr>
          <a:xfrm>
            <a:off x="777240" y="1783080"/>
            <a:ext cx="548640" cy="548640"/>
          </a:xfrm>
          <a:prstGeom prst="ellipse">
            <a:avLst/>
          </a:prstGeom>
          <a:solidFill>
            <a:srgbClr val="E8EAF6"/>
          </a:solidFill>
          <a:ln w="12700">
            <a:solidFill>
              <a:srgbClr val="E8EAF6"/>
            </a:solidFill>
            <a:prstDash val="solid"/>
          </a:ln>
        </p:spPr>
      </p:sp>
      <p:pic>
        <p:nvPicPr>
          <p:cNvPr id="6" name="Image 0" descr="preencoded.png">    </p:cNvPr>
          <p:cNvPicPr>
            <a:picLocks noChangeAspect="1"/>
          </p:cNvPicPr>
          <p:nvPr/>
        </p:nvPicPr>
        <p:blipFill>
          <a:blip r:embed="rId1"/>
          <a:stretch>
            <a:fillRect/>
          </a:stretch>
        </p:blipFill>
        <p:spPr>
          <a:xfrm>
            <a:off x="900684" y="1906524"/>
            <a:ext cx="301752" cy="301752"/>
          </a:xfrm>
          <a:prstGeom prst="rect">
            <a:avLst/>
          </a:prstGeom>
        </p:spPr>
      </p:pic>
      <p:sp>
        <p:nvSpPr>
          <p:cNvPr id="7" name="Text 4"/>
          <p:cNvSpPr txBox="1"/>
          <p:nvPr/>
        </p:nvSpPr>
        <p:spPr>
          <a:xfrm>
            <a:off x="1508760" y="1783080"/>
            <a:ext cx="232653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CWA</a:t>
            </a:r>
            <a:endParaRPr lang="en-US" sz="1700" dirty="0"/>
          </a:p>
        </p:txBody>
      </p:sp>
      <p:sp>
        <p:nvSpPr>
          <p:cNvPr id="8" name="Text 5"/>
          <p:cNvSpPr txBox="1"/>
          <p:nvPr/>
        </p:nvSpPr>
        <p:spPr>
          <a:xfrm>
            <a:off x="777240"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Área de construcción: límites, HH, secuencia, CWA predecesora y los 10 criterios de calidad; control de tamaño &gt; 40 000 HH.</a:t>
            </a:r>
            <a:endParaRPr lang="en-US" sz="1500" dirty="0"/>
          </a:p>
        </p:txBody>
      </p:sp>
      <p:sp>
        <p:nvSpPr>
          <p:cNvPr id="9" name="Shape 6"/>
          <p:cNvSpPr/>
          <p:nvPr/>
        </p:nvSpPr>
        <p:spPr>
          <a:xfrm>
            <a:off x="4338218" y="1554480"/>
            <a:ext cx="3515258" cy="2217420"/>
          </a:xfrm>
          <a:prstGeom prst="roundRect">
            <a:avLst>
              <a:gd name="adj" fmla="val 4124"/>
            </a:avLst>
          </a:prstGeom>
          <a:solidFill>
            <a:srgbClr val="F5F6FB"/>
          </a:solidFill>
          <a:ln w="9525">
            <a:solidFill>
              <a:srgbClr val="E3E5EE"/>
            </a:solidFill>
            <a:prstDash val="solid"/>
          </a:ln>
        </p:spPr>
      </p:sp>
      <p:sp>
        <p:nvSpPr>
          <p:cNvPr id="10" name="Shape 7"/>
          <p:cNvSpPr/>
          <p:nvPr/>
        </p:nvSpPr>
        <p:spPr>
          <a:xfrm>
            <a:off x="4566818" y="1783080"/>
            <a:ext cx="548640" cy="548640"/>
          </a:xfrm>
          <a:prstGeom prst="ellipse">
            <a:avLst/>
          </a:prstGeom>
          <a:solidFill>
            <a:srgbClr val="E8EAF6"/>
          </a:solidFill>
          <a:ln w="12700">
            <a:solidFill>
              <a:srgbClr val="E8EAF6"/>
            </a:solidFill>
            <a:prstDash val="solid"/>
          </a:ln>
        </p:spPr>
      </p:sp>
      <p:pic>
        <p:nvPicPr>
          <p:cNvPr id="11" name="Image 1" descr="preencoded.png">    </p:cNvPr>
          <p:cNvPicPr>
            <a:picLocks noChangeAspect="1"/>
          </p:cNvPicPr>
          <p:nvPr/>
        </p:nvPicPr>
        <p:blipFill>
          <a:blip r:embed="rId2"/>
          <a:stretch>
            <a:fillRect/>
          </a:stretch>
        </p:blipFill>
        <p:spPr>
          <a:xfrm>
            <a:off x="4690262" y="1906524"/>
            <a:ext cx="301752" cy="301752"/>
          </a:xfrm>
          <a:prstGeom prst="rect">
            <a:avLst/>
          </a:prstGeom>
        </p:spPr>
      </p:pic>
      <p:sp>
        <p:nvSpPr>
          <p:cNvPr id="12" name="Text 8"/>
          <p:cNvSpPr txBox="1"/>
          <p:nvPr/>
        </p:nvSpPr>
        <p:spPr>
          <a:xfrm>
            <a:off x="5298338" y="1783080"/>
            <a:ext cx="232653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CWP</a:t>
            </a:r>
            <a:endParaRPr lang="en-US" sz="1700" dirty="0"/>
          </a:p>
        </p:txBody>
      </p:sp>
      <p:sp>
        <p:nvSpPr>
          <p:cNvPr id="13" name="Text 9"/>
          <p:cNvSpPr txBox="1"/>
          <p:nvPr/>
        </p:nvSpPr>
        <p:spPr>
          <a:xfrm>
            <a:off x="4566818"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Paquete de construcción de una disciplina dentro de una CWA, con su EWP y su PWP.</a:t>
            </a:r>
            <a:endParaRPr lang="en-US" sz="1500" dirty="0"/>
          </a:p>
        </p:txBody>
      </p:sp>
      <p:sp>
        <p:nvSpPr>
          <p:cNvPr id="14" name="Shape 10"/>
          <p:cNvSpPr/>
          <p:nvPr/>
        </p:nvSpPr>
        <p:spPr>
          <a:xfrm>
            <a:off x="8127797" y="1554480"/>
            <a:ext cx="3515258" cy="2217420"/>
          </a:xfrm>
          <a:prstGeom prst="roundRect">
            <a:avLst>
              <a:gd name="adj" fmla="val 4124"/>
            </a:avLst>
          </a:prstGeom>
          <a:solidFill>
            <a:srgbClr val="F5F6FB"/>
          </a:solidFill>
          <a:ln w="9525">
            <a:solidFill>
              <a:srgbClr val="E3E5EE"/>
            </a:solidFill>
            <a:prstDash val="solid"/>
          </a:ln>
        </p:spPr>
      </p:sp>
      <p:sp>
        <p:nvSpPr>
          <p:cNvPr id="15" name="Shape 11"/>
          <p:cNvSpPr/>
          <p:nvPr/>
        </p:nvSpPr>
        <p:spPr>
          <a:xfrm>
            <a:off x="8356397" y="1783080"/>
            <a:ext cx="548640" cy="548640"/>
          </a:xfrm>
          <a:prstGeom prst="ellipse">
            <a:avLst/>
          </a:prstGeom>
          <a:solidFill>
            <a:srgbClr val="E8EAF6"/>
          </a:solidFill>
          <a:ln w="12700">
            <a:solidFill>
              <a:srgbClr val="E8EAF6"/>
            </a:solidFill>
            <a:prstDash val="solid"/>
          </a:ln>
        </p:spPr>
      </p:sp>
      <p:pic>
        <p:nvPicPr>
          <p:cNvPr id="16" name="Image 2" descr="preencoded.png">    </p:cNvPr>
          <p:cNvPicPr>
            <a:picLocks noChangeAspect="1"/>
          </p:cNvPicPr>
          <p:nvPr/>
        </p:nvPicPr>
        <p:blipFill>
          <a:blip r:embed="rId3"/>
          <a:stretch>
            <a:fillRect/>
          </a:stretch>
        </p:blipFill>
        <p:spPr>
          <a:xfrm>
            <a:off x="8479841" y="1906524"/>
            <a:ext cx="301752" cy="301752"/>
          </a:xfrm>
          <a:prstGeom prst="rect">
            <a:avLst/>
          </a:prstGeom>
        </p:spPr>
      </p:pic>
      <p:sp>
        <p:nvSpPr>
          <p:cNvPr id="17" name="Text 12"/>
          <p:cNvSpPr txBox="1"/>
          <p:nvPr/>
        </p:nvSpPr>
        <p:spPr>
          <a:xfrm>
            <a:off x="9087917" y="1783080"/>
            <a:ext cx="232653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EWP</a:t>
            </a:r>
            <a:endParaRPr lang="en-US" sz="1700" dirty="0"/>
          </a:p>
        </p:txBody>
      </p:sp>
      <p:sp>
        <p:nvSpPr>
          <p:cNvPr id="18" name="Text 13"/>
          <p:cNvSpPr txBox="1"/>
          <p:nvPr/>
        </p:nvSpPr>
        <p:spPr>
          <a:xfrm>
            <a:off x="8356397"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Paquete de ingeniería: 1 EWP por CWP, con fecha requerida desde el PoC.</a:t>
            </a:r>
            <a:endParaRPr lang="en-US" sz="1500" dirty="0"/>
          </a:p>
        </p:txBody>
      </p:sp>
      <p:sp>
        <p:nvSpPr>
          <p:cNvPr id="19" name="Shape 14"/>
          <p:cNvSpPr/>
          <p:nvPr/>
        </p:nvSpPr>
        <p:spPr>
          <a:xfrm>
            <a:off x="548640" y="4046220"/>
            <a:ext cx="3515258" cy="2217420"/>
          </a:xfrm>
          <a:prstGeom prst="roundRect">
            <a:avLst>
              <a:gd name="adj" fmla="val 4124"/>
            </a:avLst>
          </a:prstGeom>
          <a:solidFill>
            <a:srgbClr val="F5F6FB"/>
          </a:solidFill>
          <a:ln w="9525">
            <a:solidFill>
              <a:srgbClr val="E3E5EE"/>
            </a:solidFill>
            <a:prstDash val="solid"/>
          </a:ln>
        </p:spPr>
      </p:sp>
      <p:sp>
        <p:nvSpPr>
          <p:cNvPr id="20" name="Shape 15"/>
          <p:cNvSpPr/>
          <p:nvPr/>
        </p:nvSpPr>
        <p:spPr>
          <a:xfrm>
            <a:off x="777240" y="4274820"/>
            <a:ext cx="548640" cy="548640"/>
          </a:xfrm>
          <a:prstGeom prst="ellipse">
            <a:avLst/>
          </a:prstGeom>
          <a:solidFill>
            <a:srgbClr val="E8EAF6"/>
          </a:solidFill>
          <a:ln w="12700">
            <a:solidFill>
              <a:srgbClr val="E8EAF6"/>
            </a:solidFill>
            <a:prstDash val="solid"/>
          </a:ln>
        </p:spPr>
      </p:sp>
      <p:pic>
        <p:nvPicPr>
          <p:cNvPr id="21" name="Image 3" descr="preencoded.png">    </p:cNvPr>
          <p:cNvPicPr>
            <a:picLocks noChangeAspect="1"/>
          </p:cNvPicPr>
          <p:nvPr/>
        </p:nvPicPr>
        <p:blipFill>
          <a:blip r:embed="rId4"/>
          <a:stretch>
            <a:fillRect/>
          </a:stretch>
        </p:blipFill>
        <p:spPr>
          <a:xfrm>
            <a:off x="900684" y="4398264"/>
            <a:ext cx="301752" cy="301752"/>
          </a:xfrm>
          <a:prstGeom prst="rect">
            <a:avLst/>
          </a:prstGeom>
        </p:spPr>
      </p:pic>
      <p:sp>
        <p:nvSpPr>
          <p:cNvPr id="22" name="Text 16"/>
          <p:cNvSpPr txBox="1"/>
          <p:nvPr/>
        </p:nvSpPr>
        <p:spPr>
          <a:xfrm>
            <a:off x="1508760" y="4274820"/>
            <a:ext cx="232653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PWP</a:t>
            </a:r>
            <a:endParaRPr lang="en-US" sz="1700" dirty="0"/>
          </a:p>
        </p:txBody>
      </p:sp>
      <p:sp>
        <p:nvSpPr>
          <p:cNvPr id="23" name="Text 17"/>
          <p:cNvSpPr txBox="1"/>
          <p:nvPr/>
        </p:nvSpPr>
        <p:spPr>
          <a:xfrm>
            <a:off x="777240"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Paquete de procura: materiales y equipos del CWP con fecha RAS.</a:t>
            </a:r>
            <a:endParaRPr lang="en-US" sz="1500" dirty="0"/>
          </a:p>
        </p:txBody>
      </p:sp>
      <p:sp>
        <p:nvSpPr>
          <p:cNvPr id="24" name="Shape 18"/>
          <p:cNvSpPr/>
          <p:nvPr/>
        </p:nvSpPr>
        <p:spPr>
          <a:xfrm>
            <a:off x="4338218" y="4046220"/>
            <a:ext cx="3515258" cy="2217420"/>
          </a:xfrm>
          <a:prstGeom prst="roundRect">
            <a:avLst>
              <a:gd name="adj" fmla="val 4124"/>
            </a:avLst>
          </a:prstGeom>
          <a:solidFill>
            <a:srgbClr val="F5F6FB"/>
          </a:solidFill>
          <a:ln w="9525">
            <a:solidFill>
              <a:srgbClr val="E3E5EE"/>
            </a:solidFill>
            <a:prstDash val="solid"/>
          </a:ln>
        </p:spPr>
      </p:sp>
      <p:sp>
        <p:nvSpPr>
          <p:cNvPr id="25" name="Shape 19"/>
          <p:cNvSpPr/>
          <p:nvPr/>
        </p:nvSpPr>
        <p:spPr>
          <a:xfrm>
            <a:off x="4566818" y="4274820"/>
            <a:ext cx="548640" cy="548640"/>
          </a:xfrm>
          <a:prstGeom prst="ellipse">
            <a:avLst/>
          </a:prstGeom>
          <a:solidFill>
            <a:srgbClr val="E8EAF6"/>
          </a:solidFill>
          <a:ln w="12700">
            <a:solidFill>
              <a:srgbClr val="E8EAF6"/>
            </a:solidFill>
            <a:prstDash val="solid"/>
          </a:ln>
        </p:spPr>
      </p:sp>
      <p:pic>
        <p:nvPicPr>
          <p:cNvPr id="26" name="Image 4" descr="preencoded.png">    </p:cNvPr>
          <p:cNvPicPr>
            <a:picLocks noChangeAspect="1"/>
          </p:cNvPicPr>
          <p:nvPr/>
        </p:nvPicPr>
        <p:blipFill>
          <a:blip r:embed="rId5"/>
          <a:stretch>
            <a:fillRect/>
          </a:stretch>
        </p:blipFill>
        <p:spPr>
          <a:xfrm>
            <a:off x="4690262" y="4398264"/>
            <a:ext cx="301752" cy="301752"/>
          </a:xfrm>
          <a:prstGeom prst="rect">
            <a:avLst/>
          </a:prstGeom>
        </p:spPr>
      </p:pic>
      <p:sp>
        <p:nvSpPr>
          <p:cNvPr id="27" name="Text 20"/>
          <p:cNvSpPr txBox="1"/>
          <p:nvPr/>
        </p:nvSpPr>
        <p:spPr>
          <a:xfrm>
            <a:off x="5298338" y="4274820"/>
            <a:ext cx="232653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IWP</a:t>
            </a:r>
            <a:endParaRPr lang="en-US" sz="1700" dirty="0"/>
          </a:p>
        </p:txBody>
      </p:sp>
      <p:sp>
        <p:nvSpPr>
          <p:cNvPr id="28" name="Text 21"/>
          <p:cNvSpPr txBox="1"/>
          <p:nvPr/>
        </p:nvSpPr>
        <p:spPr>
          <a:xfrm>
            <a:off x="4566818"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Paquete de trabajo de una cuadrilla, 300–600 HH, con sus restricciones abiertas a la vista.</a:t>
            </a:r>
            <a:endParaRPr lang="en-US" sz="1500" dirty="0"/>
          </a:p>
        </p:txBody>
      </p:sp>
      <p:sp>
        <p:nvSpPr>
          <p:cNvPr id="29" name="Shape 22"/>
          <p:cNvSpPr/>
          <p:nvPr/>
        </p:nvSpPr>
        <p:spPr>
          <a:xfrm>
            <a:off x="8127797" y="4046220"/>
            <a:ext cx="3515258" cy="2217420"/>
          </a:xfrm>
          <a:prstGeom prst="roundRect">
            <a:avLst>
              <a:gd name="adj" fmla="val 4124"/>
            </a:avLst>
          </a:prstGeom>
          <a:solidFill>
            <a:srgbClr val="F5F6FB"/>
          </a:solidFill>
          <a:ln w="9525">
            <a:solidFill>
              <a:srgbClr val="E3E5EE"/>
            </a:solidFill>
            <a:prstDash val="solid"/>
          </a:ln>
        </p:spPr>
      </p:sp>
      <p:sp>
        <p:nvSpPr>
          <p:cNvPr id="30" name="Shape 23"/>
          <p:cNvSpPr/>
          <p:nvPr/>
        </p:nvSpPr>
        <p:spPr>
          <a:xfrm>
            <a:off x="8356397" y="4274820"/>
            <a:ext cx="548640" cy="548640"/>
          </a:xfrm>
          <a:prstGeom prst="ellipse">
            <a:avLst/>
          </a:prstGeom>
          <a:solidFill>
            <a:srgbClr val="E8EAF6"/>
          </a:solidFill>
          <a:ln w="12700">
            <a:solidFill>
              <a:srgbClr val="E8EAF6"/>
            </a:solidFill>
            <a:prstDash val="solid"/>
          </a:ln>
        </p:spPr>
      </p:sp>
      <p:pic>
        <p:nvPicPr>
          <p:cNvPr id="31" name="Image 5" descr="preencoded.png">    </p:cNvPr>
          <p:cNvPicPr>
            <a:picLocks noChangeAspect="1"/>
          </p:cNvPicPr>
          <p:nvPr/>
        </p:nvPicPr>
        <p:blipFill>
          <a:blip r:embed="rId6"/>
          <a:stretch>
            <a:fillRect/>
          </a:stretch>
        </p:blipFill>
        <p:spPr>
          <a:xfrm>
            <a:off x="8479841" y="4398264"/>
            <a:ext cx="301752" cy="301752"/>
          </a:xfrm>
          <a:prstGeom prst="rect">
            <a:avLst/>
          </a:prstGeom>
        </p:spPr>
      </p:pic>
      <p:sp>
        <p:nvSpPr>
          <p:cNvPr id="32" name="Text 24"/>
          <p:cNvSpPr txBox="1"/>
          <p:nvPr/>
        </p:nvSpPr>
        <p:spPr>
          <a:xfrm>
            <a:off x="9087917" y="4274820"/>
            <a:ext cx="232653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Jerarquía navegable</a:t>
            </a:r>
            <a:endParaRPr lang="en-US" sz="1700" dirty="0"/>
          </a:p>
        </p:txBody>
      </p:sp>
      <p:sp>
        <p:nvSpPr>
          <p:cNvPr id="33" name="Text 25"/>
          <p:cNvSpPr txBox="1"/>
          <p:nvPr/>
        </p:nvSpPr>
        <p:spPr>
          <a:xfrm>
            <a:off x="8356397"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Ruta de migas Proyecto › Fase › CWA › CWP › IWP y panel de relacionados.</a:t>
            </a:r>
            <a:endParaRPr lang="en-US" sz="1500" dirty="0"/>
          </a:p>
        </p:txBody>
      </p:sp>
      <p:sp>
        <p:nvSpPr>
          <p:cNvPr id="34" name="Text 26"/>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Lo que viene</a:t>
            </a:r>
            <a:endParaRPr lang="en-US" sz="1000" dirty="0"/>
          </a:p>
        </p:txBody>
      </p:sp>
      <p:sp>
        <p:nvSpPr>
          <p:cNvPr id="35" name="Text 27"/>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115</a:t>
            </a:r>
            <a:endParaRPr lang="en-US" sz="10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Codificación de paquetes</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Validada en el formulario y en la base de datos</a:t>
            </a:r>
            <a:endParaRPr lang="en-US" sz="1500" dirty="0"/>
          </a:p>
        </p:txBody>
      </p:sp>
      <p:graphicFrame>
        <p:nvGraphicFramePr>
          <p:cNvPr id="11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463040"/>
                <a:gridCol w="3291840"/>
                <a:gridCol w="2560320"/>
                <a:gridCol w="3657600"/>
              </a:tblGrid>
              <a:tr h="693420">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Paquete</a:t>
                      </a:r>
                      <a:endParaRPr lang="en-US" sz="15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Formato</a:t>
                      </a:r>
                      <a:endParaRPr lang="en-US" sz="15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Ejemplo</a:t>
                      </a:r>
                      <a:endParaRPr lang="en-US" sz="15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Regla adicional</a:t>
                      </a:r>
                      <a:endParaRPr lang="en-US" sz="15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r>
              <a:tr h="693420">
                <a:tc>
                  <a:txBody>
                    <a:bodyPr/>
                    <a:lstStyle/>
                    <a:p>
                      <a:pPr indent="0" marL="0">
                        <a:buNone/>
                      </a:pPr>
                      <a:r>
                        <a:rPr lang="en-US" sz="1500" b="1" dirty="0">
                          <a:solidFill>
                            <a:srgbClr val="1B1C22"/>
                          </a:solidFill>
                          <a:latin typeface="Calibri" pitchFamily="34" charset="0"/>
                          <a:ea typeface="Calibri" pitchFamily="34" charset="-122"/>
                          <a:cs typeface="Calibri" pitchFamily="34" charset="-120"/>
                        </a:rPr>
                        <a:t>CWA</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CWA-&lt;fase&gt;.&lt;nn&gt;</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CWA-2.01</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Pertenece a una sola fase</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693420">
                <a:tc>
                  <a:txBody>
                    <a:bodyPr/>
                    <a:lstStyle/>
                    <a:p>
                      <a:pPr indent="0" marL="0">
                        <a:buNone/>
                      </a:pPr>
                      <a:r>
                        <a:rPr lang="en-US" sz="1500" b="1" dirty="0">
                          <a:solidFill>
                            <a:srgbClr val="1B1C22"/>
                          </a:solidFill>
                          <a:latin typeface="Calibri" pitchFamily="34" charset="0"/>
                          <a:ea typeface="Calibri" pitchFamily="34" charset="-122"/>
                          <a:cs typeface="Calibri" pitchFamily="34" charset="-120"/>
                        </a:rPr>
                        <a:t>CWP</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CWP-&lt;fase&gt;.&lt;nn&gt;-&lt;DIS&gt;-&lt;nn&gt;</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CWP-2.01-EST-01</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Mismos dígitos que su CWA; disciplina del catálogo</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693420">
                <a:tc>
                  <a:txBody>
                    <a:bodyPr/>
                    <a:lstStyle/>
                    <a:p>
                      <a:pPr indent="0" marL="0">
                        <a:buNone/>
                      </a:pPr>
                      <a:r>
                        <a:rPr lang="en-US" sz="1500" b="1" dirty="0">
                          <a:solidFill>
                            <a:srgbClr val="1B1C22"/>
                          </a:solidFill>
                          <a:latin typeface="Calibri" pitchFamily="34" charset="0"/>
                          <a:ea typeface="Calibri" pitchFamily="34" charset="-122"/>
                          <a:cs typeface="Calibri" pitchFamily="34" charset="-120"/>
                        </a:rPr>
                        <a:t>EWP / PWP</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EWP-… / PWP-… con el sufijo del CWP</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EWP-2.01-EST-01</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1 EWP = 1 PWP = 1 CWP (más, con justificación)</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693420">
                <a:tc>
                  <a:txBody>
                    <a:bodyPr/>
                    <a:lstStyle/>
                    <a:p>
                      <a:pPr indent="0" marL="0">
                        <a:buNone/>
                      </a:pPr>
                      <a:r>
                        <a:rPr lang="en-US" sz="1500" b="1" dirty="0">
                          <a:solidFill>
                            <a:srgbClr val="1B1C22"/>
                          </a:solidFill>
                          <a:latin typeface="Calibri" pitchFamily="34" charset="0"/>
                          <a:ea typeface="Calibri" pitchFamily="34" charset="-122"/>
                          <a:cs typeface="Calibri" pitchFamily="34" charset="-120"/>
                        </a:rPr>
                        <a:t>IWP</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IWP-&lt;fase&gt;.&lt;nn&gt;-&lt;DIS&gt;-&lt;nn&gt;-&lt;nnn&gt;</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IWP-2.01-EST-01-001</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Pertenece a un CWP; 300–600 HH (aviso, no bloqueo)</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693420">
                <a:tc>
                  <a:txBody>
                    <a:bodyPr/>
                    <a:lstStyle/>
                    <a:p>
                      <a:pPr indent="0" marL="0">
                        <a:buNone/>
                      </a:pPr>
                      <a:r>
                        <a:rPr lang="en-US" sz="1500" b="1" dirty="0">
                          <a:solidFill>
                            <a:srgbClr val="1B1C22"/>
                          </a:solidFill>
                          <a:latin typeface="Calibri" pitchFamily="34" charset="0"/>
                          <a:ea typeface="Calibri" pitchFamily="34" charset="-122"/>
                          <a:cs typeface="Calibri" pitchFamily="34" charset="-120"/>
                        </a:rPr>
                        <a:t>Restricción</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R-&lt;nnnn&gt;</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R-0005</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500" dirty="0">
                          <a:solidFill>
                            <a:srgbClr val="1B1C22"/>
                          </a:solidFill>
                          <a:latin typeface="Calibri" pitchFamily="34" charset="0"/>
                          <a:ea typeface="Calibri" pitchFamily="34" charset="-122"/>
                          <a:cs typeface="Calibri" pitchFamily="34" charset="-120"/>
                        </a:rPr>
                        <a:t>Se sugiere el siguiente número automáticamente</a:t>
                      </a:r>
                      <a:endParaRPr lang="en-US" sz="15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bl>
          </a:graphicData>
        </a:graphic>
      </p:graphicFrame>
      <p:sp>
        <p:nvSpPr>
          <p:cNvPr id="5" name="Shape 2"/>
          <p:cNvSpPr/>
          <p:nvPr/>
        </p:nvSpPr>
        <p:spPr>
          <a:xfrm>
            <a:off x="548640" y="5760720"/>
            <a:ext cx="365760" cy="365760"/>
          </a:xfrm>
          <a:prstGeom prst="ellipse">
            <a:avLst/>
          </a:prstGeom>
          <a:solidFill>
            <a:srgbClr val="E8EAF6"/>
          </a:solidFill>
          <a:ln w="12700">
            <a:solidFill>
              <a:srgbClr val="E8EAF6"/>
            </a:solidFill>
            <a:prstDash val="solid"/>
          </a:ln>
        </p:spPr>
      </p:sp>
      <p:pic>
        <p:nvPicPr>
          <p:cNvPr id="6" name="Image 0" descr="preencoded.png">    </p:cNvPr>
          <p:cNvPicPr>
            <a:picLocks noChangeAspect="1"/>
          </p:cNvPicPr>
          <p:nvPr/>
        </p:nvPicPr>
        <p:blipFill>
          <a:blip r:embed="rId1"/>
          <a:stretch>
            <a:fillRect/>
          </a:stretch>
        </p:blipFill>
        <p:spPr>
          <a:xfrm>
            <a:off x="630936" y="5843016"/>
            <a:ext cx="201168" cy="201168"/>
          </a:xfrm>
          <a:prstGeom prst="rect">
            <a:avLst/>
          </a:prstGeom>
        </p:spPr>
      </p:pic>
      <p:sp>
        <p:nvSpPr>
          <p:cNvPr id="7" name="Text 3"/>
          <p:cNvSpPr txBox="1"/>
          <p:nvPr/>
        </p:nvSpPr>
        <p:spPr>
          <a:xfrm>
            <a:off x="1051560" y="5715000"/>
            <a:ext cx="10591495" cy="548640"/>
          </a:xfrm>
          <a:prstGeom prst="rect">
            <a:avLst/>
          </a:prstGeom>
          <a:noFill/>
          <a:ln/>
        </p:spPr>
        <p:txBody>
          <a:bodyPr wrap="square" lIns="0" tIns="0" rIns="0" bIns="0" rtlCol="0" anchor="ctr"/>
          <a:lstStyle/>
          <a:p>
            <a:pPr indent="0" marL="0">
              <a:buNone/>
            </a:pPr>
            <a:r>
              <a:rPr lang="en-US" sz="1200" dirty="0">
                <a:solidFill>
                  <a:srgbClr val="5B5E6B"/>
                </a:solidFill>
                <a:latin typeface="Calibri" pitchFamily="34" charset="0"/>
                <a:ea typeface="Calibri" pitchFamily="34" charset="-122"/>
                <a:cs typeface="Calibri" pitchFamily="34" charset="-120"/>
              </a:rPr>
              <a:t>Disciplinas: CIV Civil · EST Estructuras · ARQ Arquitectura · MEC Mecánica · TUB Tuberías · ELE Eléctrica · INS Instrumentación y control · VAR Varias.</a:t>
            </a:r>
            <a:endParaRPr lang="en-US" sz="1200" dirty="0"/>
          </a:p>
        </p:txBody>
      </p:sp>
      <p:sp>
        <p:nvSpPr>
          <p:cNvPr id="8" name="Text 4"/>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Lo que viene</a:t>
            </a:r>
            <a:endParaRPr lang="en-US" sz="1000" dirty="0"/>
          </a:p>
        </p:txBody>
      </p:sp>
      <p:sp>
        <p:nvSpPr>
          <p:cNvPr id="9" name="Text 5"/>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116</a:t>
            </a:r>
            <a:endParaRPr lang="en-US" sz="10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Etapa 3 · Path of Construction y ejecución</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De la secuencia acordada a la semana de trabajo</a:t>
            </a:r>
            <a:endParaRPr lang="en-US" sz="1500" dirty="0"/>
          </a:p>
        </p:txBody>
      </p:sp>
      <p:sp>
        <p:nvSpPr>
          <p:cNvPr id="4" name="Shape 2"/>
          <p:cNvSpPr/>
          <p:nvPr/>
        </p:nvSpPr>
        <p:spPr>
          <a:xfrm>
            <a:off x="548640" y="1554480"/>
            <a:ext cx="5410048" cy="2217420"/>
          </a:xfrm>
          <a:prstGeom prst="roundRect">
            <a:avLst>
              <a:gd name="adj" fmla="val 4124"/>
            </a:avLst>
          </a:prstGeom>
          <a:solidFill>
            <a:srgbClr val="F5F6FB"/>
          </a:solidFill>
          <a:ln w="9525">
            <a:solidFill>
              <a:srgbClr val="E3E5EE"/>
            </a:solidFill>
            <a:prstDash val="solid"/>
          </a:ln>
        </p:spPr>
      </p:sp>
      <p:sp>
        <p:nvSpPr>
          <p:cNvPr id="5" name="Shape 3"/>
          <p:cNvSpPr/>
          <p:nvPr/>
        </p:nvSpPr>
        <p:spPr>
          <a:xfrm>
            <a:off x="777240" y="1783080"/>
            <a:ext cx="548640" cy="548640"/>
          </a:xfrm>
          <a:prstGeom prst="ellipse">
            <a:avLst/>
          </a:prstGeom>
          <a:solidFill>
            <a:srgbClr val="E8EAF6"/>
          </a:solidFill>
          <a:ln w="12700">
            <a:solidFill>
              <a:srgbClr val="E8EAF6"/>
            </a:solidFill>
            <a:prstDash val="solid"/>
          </a:ln>
        </p:spPr>
      </p:sp>
      <p:pic>
        <p:nvPicPr>
          <p:cNvPr id="6" name="Image 0" descr="preencoded.png">    </p:cNvPr>
          <p:cNvPicPr>
            <a:picLocks noChangeAspect="1"/>
          </p:cNvPicPr>
          <p:nvPr/>
        </p:nvPicPr>
        <p:blipFill>
          <a:blip r:embed="rId1"/>
          <a:stretch>
            <a:fillRect/>
          </a:stretch>
        </p:blipFill>
        <p:spPr>
          <a:xfrm>
            <a:off x="900684" y="1906524"/>
            <a:ext cx="301752" cy="301752"/>
          </a:xfrm>
          <a:prstGeom prst="rect">
            <a:avLst/>
          </a:prstGeom>
        </p:spPr>
      </p:pic>
      <p:sp>
        <p:nvSpPr>
          <p:cNvPr id="7" name="Text 4"/>
          <p:cNvSpPr txBox="1"/>
          <p:nvPr/>
        </p:nvSpPr>
        <p:spPr>
          <a:xfrm>
            <a:off x="1508760" y="1783080"/>
            <a:ext cx="422132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Path of Construction</a:t>
            </a:r>
            <a:endParaRPr lang="en-US" sz="1700" dirty="0"/>
          </a:p>
        </p:txBody>
      </p:sp>
      <p:sp>
        <p:nvSpPr>
          <p:cNvPr id="8" name="Text 5"/>
          <p:cNvSpPr txBox="1"/>
          <p:nvPr/>
        </p:nvSpPr>
        <p:spPr>
          <a:xfrm>
            <a:off x="777240" y="2468880"/>
            <a:ext cx="4952848" cy="1165860"/>
          </a:xfrm>
          <a:prstGeom prst="rect">
            <a:avLst/>
          </a:prstGeom>
          <a:noFill/>
          <a:ln/>
        </p:spPr>
        <p:txBody>
          <a:bodyPr wrap="square" lIns="0" tIns="0" rIns="0" bIns="0" rtlCol="0" anchor="t">
            <a:normAutofit/>
          </a:bodyPr>
          <a:lstStyle/>
          <a:p>
            <a:pPr indent="0" marL="0">
              <a:buNone/>
            </a:pPr>
            <a:r>
              <a:rPr lang="en-US" sz="1700" dirty="0">
                <a:solidFill>
                  <a:srgbClr val="5B5E6B"/>
                </a:solidFill>
                <a:latin typeface="Calibri" pitchFamily="34" charset="0"/>
                <a:ea typeface="Calibri" pitchFamily="34" charset="-122"/>
                <a:cs typeface="Calibri" pitchFamily="34" charset="-120"/>
              </a:rPr>
              <a:t>Ordenar los CWP arrastrando; Gantt por fase; fechas requeridas de EWP (13 sem), CWP (10 sem) y RAS (10 días); talleres IPP.</a:t>
            </a:r>
            <a:endParaRPr lang="en-US" sz="1700" dirty="0"/>
          </a:p>
        </p:txBody>
      </p:sp>
      <p:sp>
        <p:nvSpPr>
          <p:cNvPr id="9" name="Shape 6"/>
          <p:cNvSpPr/>
          <p:nvPr/>
        </p:nvSpPr>
        <p:spPr>
          <a:xfrm>
            <a:off x="6233008" y="1554480"/>
            <a:ext cx="5410048" cy="2217420"/>
          </a:xfrm>
          <a:prstGeom prst="roundRect">
            <a:avLst>
              <a:gd name="adj" fmla="val 4124"/>
            </a:avLst>
          </a:prstGeom>
          <a:solidFill>
            <a:srgbClr val="F5F6FB"/>
          </a:solidFill>
          <a:ln w="9525">
            <a:solidFill>
              <a:srgbClr val="E3E5EE"/>
            </a:solidFill>
            <a:prstDash val="solid"/>
          </a:ln>
        </p:spPr>
      </p:sp>
      <p:sp>
        <p:nvSpPr>
          <p:cNvPr id="10" name="Shape 7"/>
          <p:cNvSpPr/>
          <p:nvPr/>
        </p:nvSpPr>
        <p:spPr>
          <a:xfrm>
            <a:off x="6461608" y="1783080"/>
            <a:ext cx="548640" cy="548640"/>
          </a:xfrm>
          <a:prstGeom prst="ellipse">
            <a:avLst/>
          </a:prstGeom>
          <a:solidFill>
            <a:srgbClr val="E8EAF6"/>
          </a:solidFill>
          <a:ln w="12700">
            <a:solidFill>
              <a:srgbClr val="E8EAF6"/>
            </a:solidFill>
            <a:prstDash val="solid"/>
          </a:ln>
        </p:spPr>
      </p:sp>
      <p:pic>
        <p:nvPicPr>
          <p:cNvPr id="11" name="Image 1" descr="preencoded.png">    </p:cNvPr>
          <p:cNvPicPr>
            <a:picLocks noChangeAspect="1"/>
          </p:cNvPicPr>
          <p:nvPr/>
        </p:nvPicPr>
        <p:blipFill>
          <a:blip r:embed="rId2"/>
          <a:stretch>
            <a:fillRect/>
          </a:stretch>
        </p:blipFill>
        <p:spPr>
          <a:xfrm>
            <a:off x="6585052" y="1906524"/>
            <a:ext cx="301752" cy="301752"/>
          </a:xfrm>
          <a:prstGeom prst="rect">
            <a:avLst/>
          </a:prstGeom>
        </p:spPr>
      </p:pic>
      <p:sp>
        <p:nvSpPr>
          <p:cNvPr id="12" name="Text 8"/>
          <p:cNvSpPr txBox="1"/>
          <p:nvPr/>
        </p:nvSpPr>
        <p:spPr>
          <a:xfrm>
            <a:off x="7193128" y="1783080"/>
            <a:ext cx="422132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Restricciones</a:t>
            </a:r>
            <a:endParaRPr lang="en-US" sz="1700" dirty="0"/>
          </a:p>
        </p:txBody>
      </p:sp>
      <p:sp>
        <p:nvSpPr>
          <p:cNvPr id="13" name="Text 9"/>
          <p:cNvSpPr txBox="1"/>
          <p:nvPr/>
        </p:nvSpPr>
        <p:spPr>
          <a:xfrm>
            <a:off x="6461608" y="2468880"/>
            <a:ext cx="4952848" cy="1165860"/>
          </a:xfrm>
          <a:prstGeom prst="rect">
            <a:avLst/>
          </a:prstGeom>
          <a:noFill/>
          <a:ln/>
        </p:spPr>
        <p:txBody>
          <a:bodyPr wrap="square" lIns="0" tIns="0" rIns="0" bIns="0" rtlCol="0" anchor="t">
            <a:normAutofit/>
          </a:bodyPr>
          <a:lstStyle/>
          <a:p>
            <a:pPr indent="0" marL="0">
              <a:buNone/>
            </a:pPr>
            <a:r>
              <a:rPr lang="en-US" sz="1700" dirty="0">
                <a:solidFill>
                  <a:srgbClr val="5B5E6B"/>
                </a:solidFill>
                <a:latin typeface="Calibri" pitchFamily="34" charset="0"/>
                <a:ea typeface="Calibri" pitchFamily="34" charset="-122"/>
                <a:cs typeface="Calibri" pitchFamily="34" charset="-120"/>
              </a:rPr>
              <a:t>12 tipos (ingeniería, materiales, permisos, andamios, interfaz entre fases…); situación vencida, por vencer ≤ 7 días, en plazo, liberada.</a:t>
            </a:r>
            <a:endParaRPr lang="en-US" sz="1700" dirty="0"/>
          </a:p>
        </p:txBody>
      </p:sp>
      <p:sp>
        <p:nvSpPr>
          <p:cNvPr id="14" name="Shape 10"/>
          <p:cNvSpPr/>
          <p:nvPr/>
        </p:nvSpPr>
        <p:spPr>
          <a:xfrm>
            <a:off x="548640" y="4046220"/>
            <a:ext cx="5410048" cy="2217420"/>
          </a:xfrm>
          <a:prstGeom prst="roundRect">
            <a:avLst>
              <a:gd name="adj" fmla="val 4124"/>
            </a:avLst>
          </a:prstGeom>
          <a:solidFill>
            <a:srgbClr val="F5F6FB"/>
          </a:solidFill>
          <a:ln w="9525">
            <a:solidFill>
              <a:srgbClr val="E3E5EE"/>
            </a:solidFill>
            <a:prstDash val="solid"/>
          </a:ln>
        </p:spPr>
      </p:sp>
      <p:sp>
        <p:nvSpPr>
          <p:cNvPr id="15" name="Shape 11"/>
          <p:cNvSpPr/>
          <p:nvPr/>
        </p:nvSpPr>
        <p:spPr>
          <a:xfrm>
            <a:off x="777240" y="4274820"/>
            <a:ext cx="548640" cy="548640"/>
          </a:xfrm>
          <a:prstGeom prst="ellipse">
            <a:avLst/>
          </a:prstGeom>
          <a:solidFill>
            <a:srgbClr val="E8EAF6"/>
          </a:solidFill>
          <a:ln w="12700">
            <a:solidFill>
              <a:srgbClr val="E8EAF6"/>
            </a:solidFill>
            <a:prstDash val="solid"/>
          </a:ln>
        </p:spPr>
      </p:sp>
      <p:pic>
        <p:nvPicPr>
          <p:cNvPr id="16" name="Image 2" descr="preencoded.png">    </p:cNvPr>
          <p:cNvPicPr>
            <a:picLocks noChangeAspect="1"/>
          </p:cNvPicPr>
          <p:nvPr/>
        </p:nvPicPr>
        <p:blipFill>
          <a:blip r:embed="rId3"/>
          <a:stretch>
            <a:fillRect/>
          </a:stretch>
        </p:blipFill>
        <p:spPr>
          <a:xfrm>
            <a:off x="900684" y="4398264"/>
            <a:ext cx="301752" cy="301752"/>
          </a:xfrm>
          <a:prstGeom prst="rect">
            <a:avLst/>
          </a:prstGeom>
        </p:spPr>
      </p:pic>
      <p:sp>
        <p:nvSpPr>
          <p:cNvPr id="17" name="Text 12"/>
          <p:cNvSpPr txBox="1"/>
          <p:nvPr/>
        </p:nvSpPr>
        <p:spPr>
          <a:xfrm>
            <a:off x="1508760" y="4274820"/>
            <a:ext cx="422132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Liberación de IWP</a:t>
            </a:r>
            <a:endParaRPr lang="en-US" sz="1700" dirty="0"/>
          </a:p>
        </p:txBody>
      </p:sp>
      <p:sp>
        <p:nvSpPr>
          <p:cNvPr id="18" name="Text 13"/>
          <p:cNvSpPr txBox="1"/>
          <p:nvPr/>
        </p:nvSpPr>
        <p:spPr>
          <a:xfrm>
            <a:off x="777240" y="4960620"/>
            <a:ext cx="4952848" cy="1165860"/>
          </a:xfrm>
          <a:prstGeom prst="rect">
            <a:avLst/>
          </a:prstGeom>
          <a:noFill/>
          <a:ln/>
        </p:spPr>
        <p:txBody>
          <a:bodyPr wrap="square" lIns="0" tIns="0" rIns="0" bIns="0" rtlCol="0" anchor="t">
            <a:normAutofit/>
          </a:bodyPr>
          <a:lstStyle/>
          <a:p>
            <a:pPr indent="0" marL="0">
              <a:buNone/>
            </a:pPr>
            <a:r>
              <a:rPr lang="en-US" sz="1700" dirty="0">
                <a:solidFill>
                  <a:srgbClr val="5B5E6B"/>
                </a:solidFill>
                <a:latin typeface="Calibri" pitchFamily="34" charset="0"/>
                <a:ea typeface="Calibri" pitchFamily="34" charset="-122"/>
                <a:cs typeface="Calibri" pitchFamily="34" charset="-120"/>
              </a:rPr>
              <a:t>Programa con los plazos de la fase y checklist de 24 criterios con resultado LIBERAR / NO LIBERAR.</a:t>
            </a:r>
            <a:endParaRPr lang="en-US" sz="1700" dirty="0"/>
          </a:p>
        </p:txBody>
      </p:sp>
      <p:sp>
        <p:nvSpPr>
          <p:cNvPr id="19" name="Shape 14"/>
          <p:cNvSpPr/>
          <p:nvPr/>
        </p:nvSpPr>
        <p:spPr>
          <a:xfrm>
            <a:off x="6233008" y="4046220"/>
            <a:ext cx="5410048" cy="2217420"/>
          </a:xfrm>
          <a:prstGeom prst="roundRect">
            <a:avLst>
              <a:gd name="adj" fmla="val 4124"/>
            </a:avLst>
          </a:prstGeom>
          <a:solidFill>
            <a:srgbClr val="F5F6FB"/>
          </a:solidFill>
          <a:ln w="9525">
            <a:solidFill>
              <a:srgbClr val="E3E5EE"/>
            </a:solidFill>
            <a:prstDash val="solid"/>
          </a:ln>
        </p:spPr>
      </p:sp>
      <p:sp>
        <p:nvSpPr>
          <p:cNvPr id="20" name="Shape 15"/>
          <p:cNvSpPr/>
          <p:nvPr/>
        </p:nvSpPr>
        <p:spPr>
          <a:xfrm>
            <a:off x="6461608" y="4274820"/>
            <a:ext cx="548640" cy="548640"/>
          </a:xfrm>
          <a:prstGeom prst="ellipse">
            <a:avLst/>
          </a:prstGeom>
          <a:solidFill>
            <a:srgbClr val="E8EAF6"/>
          </a:solidFill>
          <a:ln w="12700">
            <a:solidFill>
              <a:srgbClr val="E8EAF6"/>
            </a:solidFill>
            <a:prstDash val="solid"/>
          </a:ln>
        </p:spPr>
      </p:sp>
      <p:pic>
        <p:nvPicPr>
          <p:cNvPr id="21" name="Image 3" descr="preencoded.png">    </p:cNvPr>
          <p:cNvPicPr>
            <a:picLocks noChangeAspect="1"/>
          </p:cNvPicPr>
          <p:nvPr/>
        </p:nvPicPr>
        <p:blipFill>
          <a:blip r:embed="rId4"/>
          <a:stretch>
            <a:fillRect/>
          </a:stretch>
        </p:blipFill>
        <p:spPr>
          <a:xfrm>
            <a:off x="6585052" y="4398264"/>
            <a:ext cx="301752" cy="301752"/>
          </a:xfrm>
          <a:prstGeom prst="rect">
            <a:avLst/>
          </a:prstGeom>
        </p:spPr>
      </p:pic>
      <p:sp>
        <p:nvSpPr>
          <p:cNvPr id="22" name="Text 16"/>
          <p:cNvSpPr txBox="1"/>
          <p:nvPr/>
        </p:nvSpPr>
        <p:spPr>
          <a:xfrm>
            <a:off x="7193128" y="4274820"/>
            <a:ext cx="422132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Lookahead de 3 semanas</a:t>
            </a:r>
            <a:endParaRPr lang="en-US" sz="1700" dirty="0"/>
          </a:p>
        </p:txBody>
      </p:sp>
      <p:sp>
        <p:nvSpPr>
          <p:cNvPr id="23" name="Text 17"/>
          <p:cNvSpPr txBox="1"/>
          <p:nvPr/>
        </p:nvSpPr>
        <p:spPr>
          <a:xfrm>
            <a:off x="6461608" y="4960620"/>
            <a:ext cx="4952848" cy="1165860"/>
          </a:xfrm>
          <a:prstGeom prst="rect">
            <a:avLst/>
          </a:prstGeom>
          <a:noFill/>
          <a:ln/>
        </p:spPr>
        <p:txBody>
          <a:bodyPr wrap="square" lIns="0" tIns="0" rIns="0" bIns="0" rtlCol="0" anchor="t">
            <a:normAutofit/>
          </a:bodyPr>
          <a:lstStyle/>
          <a:p>
            <a:pPr indent="0" marL="0">
              <a:buNone/>
            </a:pPr>
            <a:r>
              <a:rPr lang="en-US" sz="1700" dirty="0">
                <a:solidFill>
                  <a:srgbClr val="5B5E6B"/>
                </a:solidFill>
                <a:latin typeface="Calibri" pitchFamily="34" charset="0"/>
                <a:ea typeface="Calibri" pitchFamily="34" charset="-122"/>
                <a:cs typeface="Calibri" pitchFamily="34" charset="-120"/>
              </a:rPr>
              <a:t>Solo IWP liberados del backlog, 18 días de lunes a sábado, PPC y 16 causas de no cumplimiento.</a:t>
            </a:r>
            <a:endParaRPr lang="en-US" sz="1700" dirty="0"/>
          </a:p>
        </p:txBody>
      </p:sp>
      <p:sp>
        <p:nvSpPr>
          <p:cNvPr id="24" name="Text 18"/>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Lo que viene</a:t>
            </a:r>
            <a:endParaRPr lang="en-US" sz="1000" dirty="0"/>
          </a:p>
        </p:txBody>
      </p:sp>
      <p:sp>
        <p:nvSpPr>
          <p:cNvPr id="25" name="Text 19"/>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117</a:t>
            </a:r>
            <a:endParaRPr lang="en-US" sz="10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Etapa 4 · Control</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Organización, riesgos, aprendizaje y medición</a:t>
            </a:r>
            <a:endParaRPr lang="en-US" sz="1500" dirty="0"/>
          </a:p>
        </p:txBody>
      </p:sp>
      <p:sp>
        <p:nvSpPr>
          <p:cNvPr id="4" name="Shape 2"/>
          <p:cNvSpPr/>
          <p:nvPr/>
        </p:nvSpPr>
        <p:spPr>
          <a:xfrm>
            <a:off x="548640" y="1554480"/>
            <a:ext cx="3515258" cy="2217420"/>
          </a:xfrm>
          <a:prstGeom prst="roundRect">
            <a:avLst>
              <a:gd name="adj" fmla="val 4124"/>
            </a:avLst>
          </a:prstGeom>
          <a:solidFill>
            <a:srgbClr val="F5F6FB"/>
          </a:solidFill>
          <a:ln w="9525">
            <a:solidFill>
              <a:srgbClr val="E3E5EE"/>
            </a:solidFill>
            <a:prstDash val="solid"/>
          </a:ln>
        </p:spPr>
      </p:sp>
      <p:sp>
        <p:nvSpPr>
          <p:cNvPr id="5" name="Shape 3"/>
          <p:cNvSpPr/>
          <p:nvPr/>
        </p:nvSpPr>
        <p:spPr>
          <a:xfrm>
            <a:off x="777240" y="1783080"/>
            <a:ext cx="548640" cy="548640"/>
          </a:xfrm>
          <a:prstGeom prst="ellipse">
            <a:avLst/>
          </a:prstGeom>
          <a:solidFill>
            <a:srgbClr val="E8EAF6"/>
          </a:solidFill>
          <a:ln w="12700">
            <a:solidFill>
              <a:srgbClr val="E8EAF6"/>
            </a:solidFill>
            <a:prstDash val="solid"/>
          </a:ln>
        </p:spPr>
      </p:sp>
      <p:pic>
        <p:nvPicPr>
          <p:cNvPr id="6" name="Image 0" descr="preencoded.png">    </p:cNvPr>
          <p:cNvPicPr>
            <a:picLocks noChangeAspect="1"/>
          </p:cNvPicPr>
          <p:nvPr/>
        </p:nvPicPr>
        <p:blipFill>
          <a:blip r:embed="rId1"/>
          <a:stretch>
            <a:fillRect/>
          </a:stretch>
        </p:blipFill>
        <p:spPr>
          <a:xfrm>
            <a:off x="900684" y="1906524"/>
            <a:ext cx="301752" cy="301752"/>
          </a:xfrm>
          <a:prstGeom prst="rect">
            <a:avLst/>
          </a:prstGeom>
        </p:spPr>
      </p:pic>
      <p:sp>
        <p:nvSpPr>
          <p:cNvPr id="7" name="Text 4"/>
          <p:cNvSpPr txBox="1"/>
          <p:nvPr/>
        </p:nvSpPr>
        <p:spPr>
          <a:xfrm>
            <a:off x="1508760" y="1783080"/>
            <a:ext cx="232653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Roles y RACI</a:t>
            </a:r>
            <a:endParaRPr lang="en-US" sz="1700" dirty="0"/>
          </a:p>
        </p:txBody>
      </p:sp>
      <p:sp>
        <p:nvSpPr>
          <p:cNvPr id="8" name="Text 5"/>
          <p:cNvSpPr txBox="1"/>
          <p:nvPr/>
        </p:nvSpPr>
        <p:spPr>
          <a:xfrm>
            <a:off x="777240"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Matriz editable de 37 actividades × 16 roles con verificación de «una sola A»; perfiles de puesto.</a:t>
            </a:r>
            <a:endParaRPr lang="en-US" sz="1500" dirty="0"/>
          </a:p>
        </p:txBody>
      </p:sp>
      <p:sp>
        <p:nvSpPr>
          <p:cNvPr id="9" name="Shape 6"/>
          <p:cNvSpPr/>
          <p:nvPr/>
        </p:nvSpPr>
        <p:spPr>
          <a:xfrm>
            <a:off x="4338218" y="1554480"/>
            <a:ext cx="3515258" cy="2217420"/>
          </a:xfrm>
          <a:prstGeom prst="roundRect">
            <a:avLst>
              <a:gd name="adj" fmla="val 4124"/>
            </a:avLst>
          </a:prstGeom>
          <a:solidFill>
            <a:srgbClr val="F5F6FB"/>
          </a:solidFill>
          <a:ln w="9525">
            <a:solidFill>
              <a:srgbClr val="E3E5EE"/>
            </a:solidFill>
            <a:prstDash val="solid"/>
          </a:ln>
        </p:spPr>
      </p:sp>
      <p:sp>
        <p:nvSpPr>
          <p:cNvPr id="10" name="Shape 7"/>
          <p:cNvSpPr/>
          <p:nvPr/>
        </p:nvSpPr>
        <p:spPr>
          <a:xfrm>
            <a:off x="4566818" y="1783080"/>
            <a:ext cx="548640" cy="548640"/>
          </a:xfrm>
          <a:prstGeom prst="ellipse">
            <a:avLst/>
          </a:prstGeom>
          <a:solidFill>
            <a:srgbClr val="E8EAF6"/>
          </a:solidFill>
          <a:ln w="12700">
            <a:solidFill>
              <a:srgbClr val="E8EAF6"/>
            </a:solidFill>
            <a:prstDash val="solid"/>
          </a:ln>
        </p:spPr>
      </p:sp>
      <p:pic>
        <p:nvPicPr>
          <p:cNvPr id="11" name="Image 1" descr="preencoded.png">    </p:cNvPr>
          <p:cNvPicPr>
            <a:picLocks noChangeAspect="1"/>
          </p:cNvPicPr>
          <p:nvPr/>
        </p:nvPicPr>
        <p:blipFill>
          <a:blip r:embed="rId2"/>
          <a:stretch>
            <a:fillRect/>
          </a:stretch>
        </p:blipFill>
        <p:spPr>
          <a:xfrm>
            <a:off x="4690262" y="1906524"/>
            <a:ext cx="301752" cy="301752"/>
          </a:xfrm>
          <a:prstGeom prst="rect">
            <a:avLst/>
          </a:prstGeom>
        </p:spPr>
      </p:pic>
      <p:sp>
        <p:nvSpPr>
          <p:cNvPr id="12" name="Text 8"/>
          <p:cNvSpPr txBox="1"/>
          <p:nvPr/>
        </p:nvSpPr>
        <p:spPr>
          <a:xfrm>
            <a:off x="5298338" y="1783080"/>
            <a:ext cx="232653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Riesgos</a:t>
            </a:r>
            <a:endParaRPr lang="en-US" sz="1700" dirty="0"/>
          </a:p>
        </p:txBody>
      </p:sp>
      <p:sp>
        <p:nvSpPr>
          <p:cNvPr id="13" name="Text 9"/>
          <p:cNvSpPr txBox="1"/>
          <p:nvPr/>
        </p:nvSpPr>
        <p:spPr>
          <a:xfrm>
            <a:off x="4566818"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Probabilidad e impacto 1–5 con selector visual; alto ≥ 12, medio 6–11, bajo ≤ 5; riesgo residual y mapa de calor.</a:t>
            </a:r>
            <a:endParaRPr lang="en-US" sz="1500" dirty="0"/>
          </a:p>
        </p:txBody>
      </p:sp>
      <p:sp>
        <p:nvSpPr>
          <p:cNvPr id="14" name="Shape 10"/>
          <p:cNvSpPr/>
          <p:nvPr/>
        </p:nvSpPr>
        <p:spPr>
          <a:xfrm>
            <a:off x="8127797" y="1554480"/>
            <a:ext cx="3515258" cy="2217420"/>
          </a:xfrm>
          <a:prstGeom prst="roundRect">
            <a:avLst>
              <a:gd name="adj" fmla="val 4124"/>
            </a:avLst>
          </a:prstGeom>
          <a:solidFill>
            <a:srgbClr val="F5F6FB"/>
          </a:solidFill>
          <a:ln w="9525">
            <a:solidFill>
              <a:srgbClr val="E3E5EE"/>
            </a:solidFill>
            <a:prstDash val="solid"/>
          </a:ln>
        </p:spPr>
      </p:sp>
      <p:sp>
        <p:nvSpPr>
          <p:cNvPr id="15" name="Shape 11"/>
          <p:cNvSpPr/>
          <p:nvPr/>
        </p:nvSpPr>
        <p:spPr>
          <a:xfrm>
            <a:off x="8356397" y="1783080"/>
            <a:ext cx="548640" cy="548640"/>
          </a:xfrm>
          <a:prstGeom prst="ellipse">
            <a:avLst/>
          </a:prstGeom>
          <a:solidFill>
            <a:srgbClr val="E8EAF6"/>
          </a:solidFill>
          <a:ln w="12700">
            <a:solidFill>
              <a:srgbClr val="E8EAF6"/>
            </a:solidFill>
            <a:prstDash val="solid"/>
          </a:ln>
        </p:spPr>
      </p:sp>
      <p:pic>
        <p:nvPicPr>
          <p:cNvPr id="16" name="Image 2" descr="preencoded.png">    </p:cNvPr>
          <p:cNvPicPr>
            <a:picLocks noChangeAspect="1"/>
          </p:cNvPicPr>
          <p:nvPr/>
        </p:nvPicPr>
        <p:blipFill>
          <a:blip r:embed="rId3"/>
          <a:stretch>
            <a:fillRect/>
          </a:stretch>
        </p:blipFill>
        <p:spPr>
          <a:xfrm>
            <a:off x="8479841" y="1906524"/>
            <a:ext cx="301752" cy="301752"/>
          </a:xfrm>
          <a:prstGeom prst="rect">
            <a:avLst/>
          </a:prstGeom>
        </p:spPr>
      </p:pic>
      <p:sp>
        <p:nvSpPr>
          <p:cNvPr id="17" name="Text 12"/>
          <p:cNvSpPr txBox="1"/>
          <p:nvPr/>
        </p:nvSpPr>
        <p:spPr>
          <a:xfrm>
            <a:off x="9087917" y="1783080"/>
            <a:ext cx="232653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Lecciones aprendidas</a:t>
            </a:r>
            <a:endParaRPr lang="en-US" sz="1700" dirty="0"/>
          </a:p>
        </p:txBody>
      </p:sp>
      <p:sp>
        <p:nvSpPr>
          <p:cNvPr id="18" name="Text 13"/>
          <p:cNvSpPr txBox="1"/>
          <p:nvPr/>
        </p:nvSpPr>
        <p:spPr>
          <a:xfrm>
            <a:off x="8356397"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Evento → causa raíz → lección → acción, con fase de origen y de aplicación.</a:t>
            </a:r>
            <a:endParaRPr lang="en-US" sz="1500" dirty="0"/>
          </a:p>
        </p:txBody>
      </p:sp>
      <p:sp>
        <p:nvSpPr>
          <p:cNvPr id="19" name="Shape 14"/>
          <p:cNvSpPr/>
          <p:nvPr/>
        </p:nvSpPr>
        <p:spPr>
          <a:xfrm>
            <a:off x="548640" y="4046220"/>
            <a:ext cx="3515258" cy="2217420"/>
          </a:xfrm>
          <a:prstGeom prst="roundRect">
            <a:avLst>
              <a:gd name="adj" fmla="val 4124"/>
            </a:avLst>
          </a:prstGeom>
          <a:solidFill>
            <a:srgbClr val="F5F6FB"/>
          </a:solidFill>
          <a:ln w="9525">
            <a:solidFill>
              <a:srgbClr val="E3E5EE"/>
            </a:solidFill>
            <a:prstDash val="solid"/>
          </a:ln>
        </p:spPr>
      </p:sp>
      <p:sp>
        <p:nvSpPr>
          <p:cNvPr id="20" name="Shape 15"/>
          <p:cNvSpPr/>
          <p:nvPr/>
        </p:nvSpPr>
        <p:spPr>
          <a:xfrm>
            <a:off x="777240" y="4274820"/>
            <a:ext cx="548640" cy="548640"/>
          </a:xfrm>
          <a:prstGeom prst="ellipse">
            <a:avLst/>
          </a:prstGeom>
          <a:solidFill>
            <a:srgbClr val="E8EAF6"/>
          </a:solidFill>
          <a:ln w="12700">
            <a:solidFill>
              <a:srgbClr val="E8EAF6"/>
            </a:solidFill>
            <a:prstDash val="solid"/>
          </a:ln>
        </p:spPr>
      </p:sp>
      <p:pic>
        <p:nvPicPr>
          <p:cNvPr id="21" name="Image 3" descr="preencoded.png">    </p:cNvPr>
          <p:cNvPicPr>
            <a:picLocks noChangeAspect="1"/>
          </p:cNvPicPr>
          <p:nvPr/>
        </p:nvPicPr>
        <p:blipFill>
          <a:blip r:embed="rId4"/>
          <a:stretch>
            <a:fillRect/>
          </a:stretch>
        </p:blipFill>
        <p:spPr>
          <a:xfrm>
            <a:off x="900684" y="4398264"/>
            <a:ext cx="301752" cy="301752"/>
          </a:xfrm>
          <a:prstGeom prst="rect">
            <a:avLst/>
          </a:prstGeom>
        </p:spPr>
      </p:pic>
      <p:sp>
        <p:nvSpPr>
          <p:cNvPr id="22" name="Text 16"/>
          <p:cNvSpPr txBox="1"/>
          <p:nvPr/>
        </p:nvSpPr>
        <p:spPr>
          <a:xfrm>
            <a:off x="1508760" y="4274820"/>
            <a:ext cx="232653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KPI</a:t>
            </a:r>
            <a:endParaRPr lang="en-US" sz="1700" dirty="0"/>
          </a:p>
        </p:txBody>
      </p:sp>
      <p:sp>
        <p:nvSpPr>
          <p:cNvPr id="23" name="Text 17"/>
          <p:cNvSpPr txBox="1"/>
          <p:nvPr/>
        </p:nvSpPr>
        <p:spPr>
          <a:xfrm>
            <a:off x="777240"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23 datos semanales por fase → K01–K13 con meta, semáforo y tendencia de 12 semanas.</a:t>
            </a:r>
            <a:endParaRPr lang="en-US" sz="1500" dirty="0"/>
          </a:p>
        </p:txBody>
      </p:sp>
      <p:sp>
        <p:nvSpPr>
          <p:cNvPr id="24" name="Shape 18"/>
          <p:cNvSpPr/>
          <p:nvPr/>
        </p:nvSpPr>
        <p:spPr>
          <a:xfrm>
            <a:off x="4338218" y="4046220"/>
            <a:ext cx="3515258" cy="2217420"/>
          </a:xfrm>
          <a:prstGeom prst="roundRect">
            <a:avLst>
              <a:gd name="adj" fmla="val 4124"/>
            </a:avLst>
          </a:prstGeom>
          <a:solidFill>
            <a:srgbClr val="F5F6FB"/>
          </a:solidFill>
          <a:ln w="9525">
            <a:solidFill>
              <a:srgbClr val="E3E5EE"/>
            </a:solidFill>
            <a:prstDash val="solid"/>
          </a:ln>
        </p:spPr>
      </p:sp>
      <p:sp>
        <p:nvSpPr>
          <p:cNvPr id="25" name="Shape 19"/>
          <p:cNvSpPr/>
          <p:nvPr/>
        </p:nvSpPr>
        <p:spPr>
          <a:xfrm>
            <a:off x="4566818" y="4274820"/>
            <a:ext cx="548640" cy="548640"/>
          </a:xfrm>
          <a:prstGeom prst="ellipse">
            <a:avLst/>
          </a:prstGeom>
          <a:solidFill>
            <a:srgbClr val="E8EAF6"/>
          </a:solidFill>
          <a:ln w="12700">
            <a:solidFill>
              <a:srgbClr val="E8EAF6"/>
            </a:solidFill>
            <a:prstDash val="solid"/>
          </a:ln>
        </p:spPr>
      </p:sp>
      <p:pic>
        <p:nvPicPr>
          <p:cNvPr id="26" name="Image 4" descr="preencoded.png">    </p:cNvPr>
          <p:cNvPicPr>
            <a:picLocks noChangeAspect="1"/>
          </p:cNvPicPr>
          <p:nvPr/>
        </p:nvPicPr>
        <p:blipFill>
          <a:blip r:embed="rId5"/>
          <a:stretch>
            <a:fillRect/>
          </a:stretch>
        </p:blipFill>
        <p:spPr>
          <a:xfrm>
            <a:off x="4690262" y="4398264"/>
            <a:ext cx="301752" cy="301752"/>
          </a:xfrm>
          <a:prstGeom prst="rect">
            <a:avLst/>
          </a:prstGeom>
        </p:spPr>
      </p:pic>
      <p:sp>
        <p:nvSpPr>
          <p:cNvPr id="27" name="Text 20"/>
          <p:cNvSpPr txBox="1"/>
          <p:nvPr/>
        </p:nvSpPr>
        <p:spPr>
          <a:xfrm>
            <a:off x="5298338" y="4274820"/>
            <a:ext cx="232653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Nuevos dashboards</a:t>
            </a:r>
            <a:endParaRPr lang="en-US" sz="1700" dirty="0"/>
          </a:p>
        </p:txBody>
      </p:sp>
      <p:sp>
        <p:nvSpPr>
          <p:cNvPr id="28" name="Text 21"/>
          <p:cNvSpPr txBox="1"/>
          <p:nvPr/>
        </p:nvSpPr>
        <p:spPr>
          <a:xfrm>
            <a:off x="4566818"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Portafolio con mapa de calor, comparación entre fases, productividad, calidad de datos y madurez.</a:t>
            </a:r>
            <a:endParaRPr lang="en-US" sz="1500" dirty="0"/>
          </a:p>
        </p:txBody>
      </p:sp>
      <p:sp>
        <p:nvSpPr>
          <p:cNvPr id="29" name="Text 2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Lo que viene</a:t>
            </a:r>
            <a:endParaRPr lang="en-US" sz="1000" dirty="0"/>
          </a:p>
        </p:txBody>
      </p:sp>
      <p:sp>
        <p:nvSpPr>
          <p:cNvPr id="30" name="Text 2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118</a:t>
            </a:r>
            <a:endParaRPr lang="en-US" sz="10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Los 13 KPI del kit (1 de 2): proceso</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Metas progresivas por fase (Fase 1 → Fase 2 → Fase 3)</a:t>
            </a:r>
            <a:endParaRPr lang="en-US" sz="1500" dirty="0"/>
          </a:p>
        </p:txBody>
      </p:sp>
      <p:graphicFrame>
        <p:nvGraphicFramePr>
          <p:cNvPr id="120"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3108960"/>
                <a:gridCol w="4754880"/>
                <a:gridCol w="914400"/>
                <a:gridCol w="2194560"/>
              </a:tblGrid>
              <a:tr h="56692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KPI</a:t>
                      </a:r>
                      <a:endParaRPr lang="en-US" sz="14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Fórmula</a:t>
                      </a:r>
                      <a:endParaRPr lang="en-US" sz="14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Sentido</a:t>
                      </a:r>
                      <a:endParaRPr lang="en-US" sz="14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Metas F1 / F2 / F3</a:t>
                      </a:r>
                      <a:endParaRPr lang="en-US" sz="14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r>
              <a:tr h="566928">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K01 · EWP emitidos a tiempo</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EWP emitidos IFC a tiempo ÷ EWP con fecha requerida vencida</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80 / 90 / 95 %</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566928">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K02 · Materiales disponibles al liberar</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IWP liberados con 100 % de materiales ÷ IWP liberados</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90 / 95 / 98 %</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566928">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K03 · IWP liberados sin restricciones</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IWP liberados sin restricciones abiertas ÷ IWP liberados</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85 / 95 / 98 %</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566928">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K04 · Backlog de IWP liberados</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HH de IWP liberados no iniciados ÷ HH ejecutadas por semana</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2 / 2 / 3 semanas</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566928">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K05 · Restricciones liberadas a tiempo</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Liberadas a tiempo ÷ restricciones liberadas</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80 / 90 / 95 %</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566928">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K06 · Atraso promedio de restricciones</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Suma de días de atraso ÷ N.° de restricciones vencidas</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7 / 5 / 3 días</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566928">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K07 · Cobertura de planificadores</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Trabajadores directos ÷ planificadores</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55 / 50 / 50</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Lo que viene</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119</a:t>
            </a:r>
            <a:endParaRPr lang="en-US" sz="10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Los 13 KPI del kit (2 de 2): resultado</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Semáforo: verde cumple · ámbar a menos de 10 % de la meta · rojo fuera de meta</a:t>
            </a:r>
            <a:endParaRPr lang="en-US" sz="1500" dirty="0"/>
          </a:p>
        </p:txBody>
      </p:sp>
      <p:graphicFrame>
        <p:nvGraphicFramePr>
          <p:cNvPr id="121"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3108960"/>
                <a:gridCol w="4754880"/>
                <a:gridCol w="914400"/>
                <a:gridCol w="2194560"/>
              </a:tblGrid>
              <a:tr h="56692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KPI</a:t>
                      </a:r>
                      <a:endParaRPr lang="en-US" sz="14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Fórmula</a:t>
                      </a:r>
                      <a:endParaRPr lang="en-US" sz="14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Sentido</a:t>
                      </a:r>
                      <a:endParaRPr lang="en-US" sz="14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Metas F1 / F2 / F3</a:t>
                      </a:r>
                      <a:endParaRPr lang="en-US" sz="14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r>
              <a:tr h="566928">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K08 · PPC (porcentaje de plan cumplido)</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IWP completados según plan ÷ IWP planificados</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75 / 80 / 85 %</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566928">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K09 · IWP devueltos</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IWP devueltos de campo ÷ IWP entregados a campo</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8 / 5 / 3 %</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566928">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K10 · Factor de productividad</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HH ganadas ÷ HH gastadas</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0,95 / 1,00 / 1,05</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566928">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K11 · Tiempo productivo (tool time)</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Tiempo en trabajo directo ÷ tiempo observado</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40 / 44 / 46 %</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566928">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K12 · Retrabajo</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HH de retrabajo ÷ HH gastadas</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4 / 3 / 2 %</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566928">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K13 · SPI de construcción</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Valor ganado ÷ valor planificado</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0,95 / 0,98 / 1,00</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Lo que viene</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120</a:t>
            </a:r>
            <a:endParaRPr lang="en-US" sz="10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Etapas 5 y 6 · Documentos e intercambio</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Del formulario al documento, y de Excel a la aplicación</a:t>
            </a:r>
            <a:endParaRPr lang="en-US" sz="1500" dirty="0"/>
          </a:p>
        </p:txBody>
      </p:sp>
      <p:sp>
        <p:nvSpPr>
          <p:cNvPr id="4" name="Shape 2"/>
          <p:cNvSpPr/>
          <p:nvPr/>
        </p:nvSpPr>
        <p:spPr>
          <a:xfrm>
            <a:off x="548640" y="1554480"/>
            <a:ext cx="3515258" cy="2217420"/>
          </a:xfrm>
          <a:prstGeom prst="roundRect">
            <a:avLst>
              <a:gd name="adj" fmla="val 4124"/>
            </a:avLst>
          </a:prstGeom>
          <a:solidFill>
            <a:srgbClr val="F5F6FB"/>
          </a:solidFill>
          <a:ln w="9525">
            <a:solidFill>
              <a:srgbClr val="E3E5EE"/>
            </a:solidFill>
            <a:prstDash val="solid"/>
          </a:ln>
        </p:spPr>
      </p:sp>
      <p:sp>
        <p:nvSpPr>
          <p:cNvPr id="5" name="Shape 3"/>
          <p:cNvSpPr/>
          <p:nvPr/>
        </p:nvSpPr>
        <p:spPr>
          <a:xfrm>
            <a:off x="777240" y="1783080"/>
            <a:ext cx="548640" cy="548640"/>
          </a:xfrm>
          <a:prstGeom prst="ellipse">
            <a:avLst/>
          </a:prstGeom>
          <a:solidFill>
            <a:srgbClr val="E8EAF6"/>
          </a:solidFill>
          <a:ln w="12700">
            <a:solidFill>
              <a:srgbClr val="E8EAF6"/>
            </a:solidFill>
            <a:prstDash val="solid"/>
          </a:ln>
        </p:spPr>
      </p:sp>
      <p:pic>
        <p:nvPicPr>
          <p:cNvPr id="6" name="Image 0" descr="preencoded.png">    </p:cNvPr>
          <p:cNvPicPr>
            <a:picLocks noChangeAspect="1"/>
          </p:cNvPicPr>
          <p:nvPr/>
        </p:nvPicPr>
        <p:blipFill>
          <a:blip r:embed="rId1"/>
          <a:stretch>
            <a:fillRect/>
          </a:stretch>
        </p:blipFill>
        <p:spPr>
          <a:xfrm>
            <a:off x="900684" y="1906524"/>
            <a:ext cx="301752" cy="301752"/>
          </a:xfrm>
          <a:prstGeom prst="rect">
            <a:avLst/>
          </a:prstGeom>
        </p:spPr>
      </p:pic>
      <p:sp>
        <p:nvSpPr>
          <p:cNvPr id="7" name="Text 4"/>
          <p:cNvSpPr txBox="1"/>
          <p:nvPr/>
        </p:nvSpPr>
        <p:spPr>
          <a:xfrm>
            <a:off x="1508760" y="1783080"/>
            <a:ext cx="232653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Documentos Word y PDF</a:t>
            </a:r>
            <a:endParaRPr lang="en-US" sz="1700" dirty="0"/>
          </a:p>
        </p:txBody>
      </p:sp>
      <p:sp>
        <p:nvSpPr>
          <p:cNvPr id="8" name="Text 5"/>
          <p:cNvSpPr txBox="1"/>
          <p:nvPr/>
        </p:nvSpPr>
        <p:spPr>
          <a:xfrm>
            <a:off x="777240"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Formularios por pasos para IWP (12), CWP (13), EWP (7), procedimiento, acta de taller, informe de cierre y perfiles.</a:t>
            </a:r>
            <a:endParaRPr lang="en-US" sz="1500" dirty="0"/>
          </a:p>
        </p:txBody>
      </p:sp>
      <p:sp>
        <p:nvSpPr>
          <p:cNvPr id="9" name="Shape 6"/>
          <p:cNvSpPr/>
          <p:nvPr/>
        </p:nvSpPr>
        <p:spPr>
          <a:xfrm>
            <a:off x="4338218" y="1554480"/>
            <a:ext cx="3515258" cy="2217420"/>
          </a:xfrm>
          <a:prstGeom prst="roundRect">
            <a:avLst>
              <a:gd name="adj" fmla="val 4124"/>
            </a:avLst>
          </a:prstGeom>
          <a:solidFill>
            <a:srgbClr val="F5F6FB"/>
          </a:solidFill>
          <a:ln w="9525">
            <a:solidFill>
              <a:srgbClr val="E3E5EE"/>
            </a:solidFill>
            <a:prstDash val="solid"/>
          </a:ln>
        </p:spPr>
      </p:sp>
      <p:sp>
        <p:nvSpPr>
          <p:cNvPr id="10" name="Shape 7"/>
          <p:cNvSpPr/>
          <p:nvPr/>
        </p:nvSpPr>
        <p:spPr>
          <a:xfrm>
            <a:off x="4566818" y="1783080"/>
            <a:ext cx="548640" cy="548640"/>
          </a:xfrm>
          <a:prstGeom prst="ellipse">
            <a:avLst/>
          </a:prstGeom>
          <a:solidFill>
            <a:srgbClr val="E8EAF6"/>
          </a:solidFill>
          <a:ln w="12700">
            <a:solidFill>
              <a:srgbClr val="E8EAF6"/>
            </a:solidFill>
            <a:prstDash val="solid"/>
          </a:ln>
        </p:spPr>
      </p:sp>
      <p:pic>
        <p:nvPicPr>
          <p:cNvPr id="11" name="Image 1" descr="preencoded.png">    </p:cNvPr>
          <p:cNvPicPr>
            <a:picLocks noChangeAspect="1"/>
          </p:cNvPicPr>
          <p:nvPr/>
        </p:nvPicPr>
        <p:blipFill>
          <a:blip r:embed="rId2"/>
          <a:stretch>
            <a:fillRect/>
          </a:stretch>
        </p:blipFill>
        <p:spPr>
          <a:xfrm>
            <a:off x="4690262" y="1906524"/>
            <a:ext cx="301752" cy="301752"/>
          </a:xfrm>
          <a:prstGeom prst="rect">
            <a:avLst/>
          </a:prstGeom>
        </p:spPr>
      </p:pic>
      <p:sp>
        <p:nvSpPr>
          <p:cNvPr id="12" name="Text 8"/>
          <p:cNvSpPr txBox="1"/>
          <p:nvPr/>
        </p:nvSpPr>
        <p:spPr>
          <a:xfrm>
            <a:off x="5298338" y="1783080"/>
            <a:ext cx="232653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Datos precargados</a:t>
            </a:r>
            <a:endParaRPr lang="en-US" sz="1700" dirty="0"/>
          </a:p>
        </p:txBody>
      </p:sp>
      <p:sp>
        <p:nvSpPr>
          <p:cNvPr id="13" name="Text 9"/>
          <p:cNvSpPr txBox="1"/>
          <p:nvPr/>
        </p:nvSpPr>
        <p:spPr>
          <a:xfrm>
            <a:off x="4566818"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El informe de cierre toma KPI, hitos, paquetes, restricciones y lecciones de la fase.</a:t>
            </a:r>
            <a:endParaRPr lang="en-US" sz="1500" dirty="0"/>
          </a:p>
        </p:txBody>
      </p:sp>
      <p:sp>
        <p:nvSpPr>
          <p:cNvPr id="14" name="Shape 10"/>
          <p:cNvSpPr/>
          <p:nvPr/>
        </p:nvSpPr>
        <p:spPr>
          <a:xfrm>
            <a:off x="8127797" y="1554480"/>
            <a:ext cx="3515258" cy="2217420"/>
          </a:xfrm>
          <a:prstGeom prst="roundRect">
            <a:avLst>
              <a:gd name="adj" fmla="val 4124"/>
            </a:avLst>
          </a:prstGeom>
          <a:solidFill>
            <a:srgbClr val="F5F6FB"/>
          </a:solidFill>
          <a:ln w="9525">
            <a:solidFill>
              <a:srgbClr val="E3E5EE"/>
            </a:solidFill>
            <a:prstDash val="solid"/>
          </a:ln>
        </p:spPr>
      </p:sp>
      <p:sp>
        <p:nvSpPr>
          <p:cNvPr id="15" name="Shape 11"/>
          <p:cNvSpPr/>
          <p:nvPr/>
        </p:nvSpPr>
        <p:spPr>
          <a:xfrm>
            <a:off x="8356397" y="1783080"/>
            <a:ext cx="548640" cy="548640"/>
          </a:xfrm>
          <a:prstGeom prst="ellipse">
            <a:avLst/>
          </a:prstGeom>
          <a:solidFill>
            <a:srgbClr val="E8EAF6"/>
          </a:solidFill>
          <a:ln w="12700">
            <a:solidFill>
              <a:srgbClr val="E8EAF6"/>
            </a:solidFill>
            <a:prstDash val="solid"/>
          </a:ln>
        </p:spPr>
      </p:sp>
      <p:pic>
        <p:nvPicPr>
          <p:cNvPr id="16" name="Image 2" descr="preencoded.png">    </p:cNvPr>
          <p:cNvPicPr>
            <a:picLocks noChangeAspect="1"/>
          </p:cNvPicPr>
          <p:nvPr/>
        </p:nvPicPr>
        <p:blipFill>
          <a:blip r:embed="rId3"/>
          <a:stretch>
            <a:fillRect/>
          </a:stretch>
        </p:blipFill>
        <p:spPr>
          <a:xfrm>
            <a:off x="8479841" y="1906524"/>
            <a:ext cx="301752" cy="301752"/>
          </a:xfrm>
          <a:prstGeom prst="rect">
            <a:avLst/>
          </a:prstGeom>
        </p:spPr>
      </p:pic>
      <p:sp>
        <p:nvSpPr>
          <p:cNvPr id="17" name="Text 12"/>
          <p:cNvSpPr txBox="1"/>
          <p:nvPr/>
        </p:nvSpPr>
        <p:spPr>
          <a:xfrm>
            <a:off x="9087917" y="1783080"/>
            <a:ext cx="232653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Exportar a Excel</a:t>
            </a:r>
            <a:endParaRPr lang="en-US" sz="1700" dirty="0"/>
          </a:p>
        </p:txBody>
      </p:sp>
      <p:sp>
        <p:nvSpPr>
          <p:cNvPr id="18" name="Text 13"/>
          <p:cNvSpPr txBox="1"/>
          <p:nvPr/>
        </p:nvSpPr>
        <p:spPr>
          <a:xfrm>
            <a:off x="8356397" y="2468880"/>
            <a:ext cx="3058058" cy="11658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Sobre la plantilla original: columnas, listas, fórmulas y formatos intactos.</a:t>
            </a:r>
            <a:endParaRPr lang="en-US" sz="1500" dirty="0"/>
          </a:p>
        </p:txBody>
      </p:sp>
      <p:sp>
        <p:nvSpPr>
          <p:cNvPr id="19" name="Shape 14"/>
          <p:cNvSpPr/>
          <p:nvPr/>
        </p:nvSpPr>
        <p:spPr>
          <a:xfrm>
            <a:off x="548640" y="4046220"/>
            <a:ext cx="3515258" cy="2217420"/>
          </a:xfrm>
          <a:prstGeom prst="roundRect">
            <a:avLst>
              <a:gd name="adj" fmla="val 4124"/>
            </a:avLst>
          </a:prstGeom>
          <a:solidFill>
            <a:srgbClr val="F5F6FB"/>
          </a:solidFill>
          <a:ln w="9525">
            <a:solidFill>
              <a:srgbClr val="E3E5EE"/>
            </a:solidFill>
            <a:prstDash val="solid"/>
          </a:ln>
        </p:spPr>
      </p:sp>
      <p:sp>
        <p:nvSpPr>
          <p:cNvPr id="20" name="Shape 15"/>
          <p:cNvSpPr/>
          <p:nvPr/>
        </p:nvSpPr>
        <p:spPr>
          <a:xfrm>
            <a:off x="777240" y="4274820"/>
            <a:ext cx="548640" cy="548640"/>
          </a:xfrm>
          <a:prstGeom prst="ellipse">
            <a:avLst/>
          </a:prstGeom>
          <a:solidFill>
            <a:srgbClr val="E8EAF6"/>
          </a:solidFill>
          <a:ln w="12700">
            <a:solidFill>
              <a:srgbClr val="E8EAF6"/>
            </a:solidFill>
            <a:prstDash val="solid"/>
          </a:ln>
        </p:spPr>
      </p:sp>
      <p:pic>
        <p:nvPicPr>
          <p:cNvPr id="21" name="Image 3" descr="preencoded.png">    </p:cNvPr>
          <p:cNvPicPr>
            <a:picLocks noChangeAspect="1"/>
          </p:cNvPicPr>
          <p:nvPr/>
        </p:nvPicPr>
        <p:blipFill>
          <a:blip r:embed="rId4"/>
          <a:stretch>
            <a:fillRect/>
          </a:stretch>
        </p:blipFill>
        <p:spPr>
          <a:xfrm>
            <a:off x="900684" y="4398264"/>
            <a:ext cx="301752" cy="301752"/>
          </a:xfrm>
          <a:prstGeom prst="rect">
            <a:avLst/>
          </a:prstGeom>
        </p:spPr>
      </p:pic>
      <p:sp>
        <p:nvSpPr>
          <p:cNvPr id="22" name="Text 16"/>
          <p:cNvSpPr txBox="1"/>
          <p:nvPr/>
        </p:nvSpPr>
        <p:spPr>
          <a:xfrm>
            <a:off x="1508760" y="4274820"/>
            <a:ext cx="232653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Importar desde Excel</a:t>
            </a:r>
            <a:endParaRPr lang="en-US" sz="1700" dirty="0"/>
          </a:p>
        </p:txBody>
      </p:sp>
      <p:sp>
        <p:nvSpPr>
          <p:cNvPr id="23" name="Text 17"/>
          <p:cNvSpPr txBox="1"/>
          <p:nvPr/>
        </p:nvSpPr>
        <p:spPr>
          <a:xfrm>
            <a:off x="777240"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Vista previa con filas válidas en verde y errores en rojo con el motivo.</a:t>
            </a:r>
            <a:endParaRPr lang="en-US" sz="1500" dirty="0"/>
          </a:p>
        </p:txBody>
      </p:sp>
      <p:sp>
        <p:nvSpPr>
          <p:cNvPr id="24" name="Shape 18"/>
          <p:cNvSpPr/>
          <p:nvPr/>
        </p:nvSpPr>
        <p:spPr>
          <a:xfrm>
            <a:off x="4338218" y="4046220"/>
            <a:ext cx="3515258" cy="2217420"/>
          </a:xfrm>
          <a:prstGeom prst="roundRect">
            <a:avLst>
              <a:gd name="adj" fmla="val 4124"/>
            </a:avLst>
          </a:prstGeom>
          <a:solidFill>
            <a:srgbClr val="F5F6FB"/>
          </a:solidFill>
          <a:ln w="9525">
            <a:solidFill>
              <a:srgbClr val="E3E5EE"/>
            </a:solidFill>
            <a:prstDash val="solid"/>
          </a:ln>
        </p:spPr>
      </p:sp>
      <p:sp>
        <p:nvSpPr>
          <p:cNvPr id="25" name="Shape 19"/>
          <p:cNvSpPr/>
          <p:nvPr/>
        </p:nvSpPr>
        <p:spPr>
          <a:xfrm>
            <a:off x="4566818" y="4274820"/>
            <a:ext cx="548640" cy="548640"/>
          </a:xfrm>
          <a:prstGeom prst="ellipse">
            <a:avLst/>
          </a:prstGeom>
          <a:solidFill>
            <a:srgbClr val="E8EAF6"/>
          </a:solidFill>
          <a:ln w="12700">
            <a:solidFill>
              <a:srgbClr val="E8EAF6"/>
            </a:solidFill>
            <a:prstDash val="solid"/>
          </a:ln>
        </p:spPr>
      </p:sp>
      <p:pic>
        <p:nvPicPr>
          <p:cNvPr id="26" name="Image 4" descr="preencoded.png">    </p:cNvPr>
          <p:cNvPicPr>
            <a:picLocks noChangeAspect="1"/>
          </p:cNvPicPr>
          <p:nvPr/>
        </p:nvPicPr>
        <p:blipFill>
          <a:blip r:embed="rId5"/>
          <a:stretch>
            <a:fillRect/>
          </a:stretch>
        </p:blipFill>
        <p:spPr>
          <a:xfrm>
            <a:off x="4690262" y="4398264"/>
            <a:ext cx="301752" cy="301752"/>
          </a:xfrm>
          <a:prstGeom prst="rect">
            <a:avLst/>
          </a:prstGeom>
        </p:spPr>
      </p:pic>
      <p:sp>
        <p:nvSpPr>
          <p:cNvPr id="27" name="Text 20"/>
          <p:cNvSpPr txBox="1"/>
          <p:nvPr/>
        </p:nvSpPr>
        <p:spPr>
          <a:xfrm>
            <a:off x="5298338" y="4274820"/>
            <a:ext cx="232653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Reportes y dashboards</a:t>
            </a:r>
            <a:endParaRPr lang="en-US" sz="1700" dirty="0"/>
          </a:p>
        </p:txBody>
      </p:sp>
      <p:sp>
        <p:nvSpPr>
          <p:cNvPr id="28" name="Text 21"/>
          <p:cNvSpPr txBox="1"/>
          <p:nvPr/>
        </p:nvSpPr>
        <p:spPr>
          <a:xfrm>
            <a:off x="4566818"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Reporte completo del proyecto en PDF; cada dashboard a PNG o PDF.</a:t>
            </a:r>
            <a:endParaRPr lang="en-US" sz="1500" dirty="0"/>
          </a:p>
        </p:txBody>
      </p:sp>
      <p:sp>
        <p:nvSpPr>
          <p:cNvPr id="29" name="Shape 22"/>
          <p:cNvSpPr/>
          <p:nvPr/>
        </p:nvSpPr>
        <p:spPr>
          <a:xfrm>
            <a:off x="8127797" y="4046220"/>
            <a:ext cx="3515258" cy="2217420"/>
          </a:xfrm>
          <a:prstGeom prst="roundRect">
            <a:avLst>
              <a:gd name="adj" fmla="val 4124"/>
            </a:avLst>
          </a:prstGeom>
          <a:solidFill>
            <a:srgbClr val="F5F6FB"/>
          </a:solidFill>
          <a:ln w="9525">
            <a:solidFill>
              <a:srgbClr val="E3E5EE"/>
            </a:solidFill>
            <a:prstDash val="solid"/>
          </a:ln>
        </p:spPr>
      </p:sp>
      <p:sp>
        <p:nvSpPr>
          <p:cNvPr id="30" name="Shape 23"/>
          <p:cNvSpPr/>
          <p:nvPr/>
        </p:nvSpPr>
        <p:spPr>
          <a:xfrm>
            <a:off x="8356397" y="4274820"/>
            <a:ext cx="548640" cy="548640"/>
          </a:xfrm>
          <a:prstGeom prst="ellipse">
            <a:avLst/>
          </a:prstGeom>
          <a:solidFill>
            <a:srgbClr val="E8EAF6"/>
          </a:solidFill>
          <a:ln w="12700">
            <a:solidFill>
              <a:srgbClr val="E8EAF6"/>
            </a:solidFill>
            <a:prstDash val="solid"/>
          </a:ln>
        </p:spPr>
      </p:sp>
      <p:pic>
        <p:nvPicPr>
          <p:cNvPr id="31" name="Image 5" descr="preencoded.png">    </p:cNvPr>
          <p:cNvPicPr>
            <a:picLocks noChangeAspect="1"/>
          </p:cNvPicPr>
          <p:nvPr/>
        </p:nvPicPr>
        <p:blipFill>
          <a:blip r:embed="rId6"/>
          <a:stretch>
            <a:fillRect/>
          </a:stretch>
        </p:blipFill>
        <p:spPr>
          <a:xfrm>
            <a:off x="8479841" y="4398264"/>
            <a:ext cx="301752" cy="301752"/>
          </a:xfrm>
          <a:prstGeom prst="rect">
            <a:avLst/>
          </a:prstGeom>
        </p:spPr>
      </p:pic>
      <p:sp>
        <p:nvSpPr>
          <p:cNvPr id="32" name="Text 24"/>
          <p:cNvSpPr txBox="1"/>
          <p:nvPr/>
        </p:nvSpPr>
        <p:spPr>
          <a:xfrm>
            <a:off x="9087917" y="4274820"/>
            <a:ext cx="2326538" cy="548640"/>
          </a:xfrm>
          <a:prstGeom prst="rect">
            <a:avLst/>
          </a:prstGeom>
          <a:noFill/>
          <a:ln/>
        </p:spPr>
        <p:txBody>
          <a:bodyPr wrap="square" lIns="0" tIns="0" rIns="0" bIns="0" rtlCol="0" anchor="ctr"/>
          <a:lstStyle/>
          <a:p>
            <a:pPr indent="0" marL="0">
              <a:buNone/>
            </a:pPr>
            <a:r>
              <a:rPr lang="en-US" sz="1700" b="1" dirty="0">
                <a:solidFill>
                  <a:srgbClr val="1B1C22"/>
                </a:solidFill>
                <a:latin typeface="Calibri" pitchFamily="34" charset="0"/>
                <a:ea typeface="Calibri" pitchFamily="34" charset="-122"/>
                <a:cs typeface="Calibri" pitchFamily="34" charset="-120"/>
              </a:rPr>
              <a:t>Proyecto de ejemplo</a:t>
            </a:r>
            <a:endParaRPr lang="en-US" sz="1700" dirty="0"/>
          </a:p>
        </p:txBody>
      </p:sp>
      <p:sp>
        <p:nvSpPr>
          <p:cNvPr id="33" name="Text 25"/>
          <p:cNvSpPr txBox="1"/>
          <p:nvPr/>
        </p:nvSpPr>
        <p:spPr>
          <a:xfrm>
            <a:off x="8356397" y="4960620"/>
            <a:ext cx="3058058" cy="1165860"/>
          </a:xfrm>
          <a:prstGeom prst="rect">
            <a:avLst/>
          </a:prstGeom>
          <a:noFill/>
          <a:ln/>
        </p:spPr>
        <p:txBody>
          <a:bodyPr wrap="square" lIns="0" tIns="0" rIns="0" bIns="0" rtlCol="0" anchor="t">
            <a:normAutofit/>
          </a:bodyPr>
          <a:lstStyle/>
          <a:p>
            <a:pPr indent="0" marL="0">
              <a:buNone/>
            </a:pPr>
            <a:r>
              <a:rPr lang="en-US" sz="1500" dirty="0">
                <a:solidFill>
                  <a:srgbClr val="5B5E6B"/>
                </a:solidFill>
                <a:latin typeface="Calibri" pitchFamily="34" charset="0"/>
                <a:ea typeface="Calibri" pitchFamily="34" charset="-122"/>
                <a:cs typeface="Calibri" pitchFamily="34" charset="-120"/>
              </a:rPr>
              <a:t>Se carga y se borra con un clic, con los datos del proyecto tipo.</a:t>
            </a:r>
            <a:endParaRPr lang="en-US" sz="1500" dirty="0"/>
          </a:p>
        </p:txBody>
      </p:sp>
      <p:sp>
        <p:nvSpPr>
          <p:cNvPr id="34" name="Text 26"/>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Lo que viene</a:t>
            </a:r>
            <a:endParaRPr lang="en-US" sz="1000" dirty="0"/>
          </a:p>
        </p:txBody>
      </p:sp>
      <p:sp>
        <p:nvSpPr>
          <p:cNvPr id="35" name="Text 27"/>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121</a:t>
            </a:r>
            <a:endParaRPr lang="en-US" sz="10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Todos los dashboards al completar la aplicación</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Cada uno con filtros, título-conclusión, «Cómo leerlo» y detalle al hacer clic</a:t>
            </a:r>
            <a:endParaRPr lang="en-US" sz="1500" dirty="0"/>
          </a:p>
        </p:txBody>
      </p:sp>
      <p:graphicFrame>
        <p:nvGraphicFramePr>
          <p:cNvPr id="123"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377440"/>
                <a:gridCol w="7498080"/>
                <a:gridCol w="1097280"/>
              </a:tblGrid>
              <a:tr h="5181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Dashboard</a:t>
                      </a:r>
                      <a:endParaRPr lang="en-US" sz="13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Qué muestra</a:t>
                      </a:r>
                      <a:endParaRPr lang="en-US" sz="13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Etapa</a:t>
                      </a:r>
                      <a:endParaRPr lang="en-US" sz="13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Portafolio y proyecto</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Anillos, semáforo, hitos en el tiempo, próximo paso, tendencia (hoy); mapa de calor proyecto × etapa</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2 · 4</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Hitos</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Plan vs. real H0–H10, cumplidos, atrasados, próximos 30 días</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Paquetes e IWP</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Tipos y estados, curva S por HH, cobertura CWP → IWP, backlog en semanas vs. meta</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Restricciones</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Abiertas vs. cerradas, vencidas, Pareto por tipo, K05 y K06</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Lookahead y PoC</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Cuadrícula de 3 semanas, PPC, causas de no cumplimiento, Gantt y conflictos de secuencia</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Ingeniería y materiales</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EWP planificados vs. reales (K01), PWP con RAS vencida, K02</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Fases, roles, riesgos, lecciones, KPI</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Comparación F1→F3, cobertura RACI, matriz P×I, pipeline de lecciones, K01–K13</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518160">
                <a:tc>
                  <a:txBody>
                    <a:bodyPr/>
                    <a:lstStyle/>
                    <a:p>
                      <a:pPr indent="0" marL="0">
                        <a:buNone/>
                      </a:pPr>
                      <a:r>
                        <a:rPr lang="en-US" sz="1250" b="1" dirty="0">
                          <a:solidFill>
                            <a:srgbClr val="1B1C22"/>
                          </a:solidFill>
                          <a:latin typeface="Calibri" pitchFamily="34" charset="0"/>
                          <a:ea typeface="Calibri" pitchFamily="34" charset="-122"/>
                          <a:cs typeface="Calibri" pitchFamily="34" charset="-120"/>
                        </a:rPr>
                        <a:t>Productividad y calidad de datos</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PPC, K10, tool time 37 % → 46 %, retrabajo; paquetes sin datos, IWP fuera de rango</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250" dirty="0">
                          <a:solidFill>
                            <a:srgbClr val="1B1C22"/>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Lo que viene</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122</a:t>
            </a:r>
            <a:endParaRPr lang="en-US" sz="10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1A1F4B"/>
        </a:solidFill>
      </p:bgPr>
    </p:bg>
    <p:spTree>
      <p:nvGrpSpPr>
        <p:cNvPr id="1" name=""/>
        <p:cNvGrpSpPr/>
        <p:nvPr/>
      </p:nvGrpSpPr>
      <p:grpSpPr>
        <a:xfrm>
          <a:off x="0" y="0"/>
          <a:ext cx="0" cy="0"/>
          <a:chOff x="0" y="0"/>
          <a:chExt cx="0" cy="0"/>
        </a:xfrm>
      </p:grpSpPr>
      <p:sp>
        <p:nvSpPr>
          <p:cNvPr id="2" name="Text 0"/>
          <p:cNvSpPr txBox="1"/>
          <p:nvPr/>
        </p:nvSpPr>
        <p:spPr>
          <a:xfrm>
            <a:off x="548640" y="1188720"/>
            <a:ext cx="2743200" cy="1371600"/>
          </a:xfrm>
          <a:prstGeom prst="rect">
            <a:avLst/>
          </a:prstGeom>
          <a:noFill/>
          <a:ln/>
        </p:spPr>
        <p:txBody>
          <a:bodyPr wrap="square" lIns="0" tIns="0" rIns="0" bIns="0" rtlCol="0" anchor="t"/>
          <a:lstStyle/>
          <a:p>
            <a:pPr indent="0" marL="0">
              <a:buNone/>
            </a:pPr>
            <a:r>
              <a:rPr lang="en-US" sz="9600" b="1" dirty="0">
                <a:solidFill>
                  <a:srgbClr val="FFC107"/>
                </a:solidFill>
                <a:latin typeface="Calibri" pitchFamily="34" charset="0"/>
                <a:ea typeface="Calibri" pitchFamily="34" charset="-122"/>
                <a:cs typeface="Calibri" pitchFamily="34" charset="-120"/>
              </a:rPr>
              <a:t>15</a:t>
            </a:r>
            <a:endParaRPr lang="en-US" sz="9600" dirty="0"/>
          </a:p>
        </p:txBody>
      </p:sp>
      <p:sp>
        <p:nvSpPr>
          <p:cNvPr id="3" name="Text 1"/>
          <p:cNvSpPr txBox="1"/>
          <p:nvPr/>
        </p:nvSpPr>
        <p:spPr>
          <a:xfrm>
            <a:off x="548640" y="2697480"/>
            <a:ext cx="5852160" cy="73152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Uso diario</a:t>
            </a:r>
            <a:endParaRPr lang="en-US" sz="3800" dirty="0"/>
          </a:p>
        </p:txBody>
      </p:sp>
      <p:sp>
        <p:nvSpPr>
          <p:cNvPr id="4" name="Text 2"/>
          <p:cNvSpPr txBox="1"/>
          <p:nvPr/>
        </p:nvSpPr>
        <p:spPr>
          <a:xfrm>
            <a:off x="548640" y="3566160"/>
            <a:ext cx="5486400" cy="1097280"/>
          </a:xfrm>
          <a:prstGeom prst="rect">
            <a:avLst/>
          </a:prstGeom>
          <a:noFill/>
          <a:ln/>
        </p:spPr>
        <p:txBody>
          <a:bodyPr wrap="square" lIns="0" tIns="0" rIns="0" bIns="0" rtlCol="0" anchor="t"/>
          <a:lstStyle/>
          <a:p>
            <a:pPr indent="0" marL="0">
              <a:buNone/>
            </a:pPr>
            <a:r>
              <a:rPr lang="en-US" sz="1800" dirty="0">
                <a:solidFill>
                  <a:srgbClr val="C5CAE9"/>
                </a:solidFill>
                <a:latin typeface="Calibri" pitchFamily="34" charset="0"/>
                <a:ea typeface="Calibri" pitchFamily="34" charset="-122"/>
                <a:cs typeface="Calibri" pitchFamily="34" charset="-120"/>
              </a:rPr>
              <a:t>Cómo incorporar la aplicación a la rutina del proyecto</a:t>
            </a:r>
            <a:endParaRPr lang="en-US" sz="1800" dirty="0"/>
          </a:p>
        </p:txBody>
      </p:sp>
      <p:sp>
        <p:nvSpPr>
          <p:cNvPr id="5" name="Shape 3"/>
          <p:cNvSpPr/>
          <p:nvPr/>
        </p:nvSpPr>
        <p:spPr>
          <a:xfrm>
            <a:off x="6766560" y="1234440"/>
            <a:ext cx="4892040" cy="4480560"/>
          </a:xfrm>
          <a:prstGeom prst="roundRect">
            <a:avLst>
              <a:gd name="adj" fmla="val 2449"/>
            </a:avLst>
          </a:prstGeom>
          <a:solidFill>
            <a:srgbClr val="252B5E"/>
          </a:solidFill>
          <a:ln w="12700">
            <a:solidFill>
              <a:srgbClr val="3C4488"/>
            </a:solidFill>
            <a:prstDash val="solid"/>
          </a:ln>
        </p:spPr>
      </p:sp>
      <p:sp>
        <p:nvSpPr>
          <p:cNvPr id="6" name="Text 4"/>
          <p:cNvSpPr txBox="1"/>
          <p:nvPr/>
        </p:nvSpPr>
        <p:spPr>
          <a:xfrm>
            <a:off x="7132320" y="1508760"/>
            <a:ext cx="4206240" cy="320040"/>
          </a:xfrm>
          <a:prstGeom prst="rect">
            <a:avLst/>
          </a:prstGeom>
          <a:noFill/>
          <a:ln/>
        </p:spPr>
        <p:txBody>
          <a:bodyPr wrap="square" lIns="0" tIns="0" rIns="0" bIns="0" rtlCol="0" anchor="t"/>
          <a:lstStyle/>
          <a:p>
            <a:pPr indent="0" marL="0">
              <a:buNone/>
            </a:pPr>
            <a:r>
              <a:rPr lang="en-US" sz="1200" b="1" spc="200" kern="0" dirty="0">
                <a:solidFill>
                  <a:srgbClr val="FFC107"/>
                </a:solidFill>
                <a:latin typeface="Calibri" pitchFamily="34" charset="0"/>
                <a:ea typeface="Calibri" pitchFamily="34" charset="-122"/>
                <a:cs typeface="Calibri" pitchFamily="34" charset="-120"/>
              </a:rPr>
              <a:t>EN ESTA SECCIÓN</a:t>
            </a:r>
            <a:endParaRPr lang="en-US" sz="1200" dirty="0"/>
          </a:p>
        </p:txBody>
      </p:sp>
      <p:sp>
        <p:nvSpPr>
          <p:cNvPr id="7" name="Shape 5"/>
          <p:cNvSpPr/>
          <p:nvPr/>
        </p:nvSpPr>
        <p:spPr>
          <a:xfrm>
            <a:off x="7178040" y="2103120"/>
            <a:ext cx="146304" cy="146304"/>
          </a:xfrm>
          <a:prstGeom prst="ellipse">
            <a:avLst/>
          </a:prstGeom>
          <a:solidFill>
            <a:srgbClr val="FFC107"/>
          </a:solidFill>
          <a:ln w="12700">
            <a:solidFill>
              <a:srgbClr val="FFC107"/>
            </a:solidFill>
            <a:prstDash val="solid"/>
          </a:ln>
        </p:spPr>
      </p:sp>
      <p:sp>
        <p:nvSpPr>
          <p:cNvPr id="8" name="Text 6"/>
          <p:cNvSpPr txBox="1"/>
          <p:nvPr/>
        </p:nvSpPr>
        <p:spPr>
          <a:xfrm>
            <a:off x="7498080" y="2011680"/>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Rutina semanal</a:t>
            </a:r>
            <a:endParaRPr lang="en-US" sz="1700" dirty="0"/>
          </a:p>
        </p:txBody>
      </p:sp>
      <p:sp>
        <p:nvSpPr>
          <p:cNvPr id="9" name="Shape 7"/>
          <p:cNvSpPr/>
          <p:nvPr/>
        </p:nvSpPr>
        <p:spPr>
          <a:xfrm>
            <a:off x="7178040" y="2816352"/>
            <a:ext cx="146304" cy="146304"/>
          </a:xfrm>
          <a:prstGeom prst="ellipse">
            <a:avLst/>
          </a:prstGeom>
          <a:solidFill>
            <a:srgbClr val="FFC107"/>
          </a:solidFill>
          <a:ln w="12700">
            <a:solidFill>
              <a:srgbClr val="FFC107"/>
            </a:solidFill>
            <a:prstDash val="solid"/>
          </a:ln>
        </p:spPr>
      </p:sp>
      <p:sp>
        <p:nvSpPr>
          <p:cNvPr id="10" name="Text 8"/>
          <p:cNvSpPr txBox="1"/>
          <p:nvPr/>
        </p:nvSpPr>
        <p:spPr>
          <a:xfrm>
            <a:off x="7498080" y="2724912"/>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Tu primer mes</a:t>
            </a:r>
            <a:endParaRPr lang="en-US" sz="1700" dirty="0"/>
          </a:p>
        </p:txBody>
      </p:sp>
      <p:sp>
        <p:nvSpPr>
          <p:cNvPr id="11" name="Shape 9"/>
          <p:cNvSpPr/>
          <p:nvPr/>
        </p:nvSpPr>
        <p:spPr>
          <a:xfrm>
            <a:off x="7178040" y="3529584"/>
            <a:ext cx="146304" cy="146304"/>
          </a:xfrm>
          <a:prstGeom prst="ellipse">
            <a:avLst/>
          </a:prstGeom>
          <a:solidFill>
            <a:srgbClr val="FFC107"/>
          </a:solidFill>
          <a:ln w="12700">
            <a:solidFill>
              <a:srgbClr val="FFC107"/>
            </a:solidFill>
            <a:prstDash val="solid"/>
          </a:ln>
        </p:spPr>
      </p:sp>
      <p:sp>
        <p:nvSpPr>
          <p:cNvPr id="12" name="Text 10"/>
          <p:cNvSpPr txBox="1"/>
          <p:nvPr/>
        </p:nvSpPr>
        <p:spPr>
          <a:xfrm>
            <a:off x="7498080" y="3438144"/>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Buenas prácticas y errores comunes</a:t>
            </a:r>
            <a:endParaRPr lang="en-US" sz="1700" dirty="0"/>
          </a:p>
        </p:txBody>
      </p:sp>
      <p:sp>
        <p:nvSpPr>
          <p:cNvPr id="13" name="Shape 11"/>
          <p:cNvSpPr/>
          <p:nvPr/>
        </p:nvSpPr>
        <p:spPr>
          <a:xfrm>
            <a:off x="7178040" y="4242816"/>
            <a:ext cx="146304" cy="146304"/>
          </a:xfrm>
          <a:prstGeom prst="ellipse">
            <a:avLst/>
          </a:prstGeom>
          <a:solidFill>
            <a:srgbClr val="FFC107"/>
          </a:solidFill>
          <a:ln w="12700">
            <a:solidFill>
              <a:srgbClr val="FFC107"/>
            </a:solidFill>
            <a:prstDash val="solid"/>
          </a:ln>
        </p:spPr>
      </p:sp>
      <p:sp>
        <p:nvSpPr>
          <p:cNvPr id="14" name="Text 12"/>
          <p:cNvSpPr txBox="1"/>
          <p:nvPr/>
        </p:nvSpPr>
        <p:spPr>
          <a:xfrm>
            <a:off x="7498080" y="4151376"/>
            <a:ext cx="3931920" cy="713232"/>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Preguntas frecuentes</a:t>
            </a:r>
            <a:endParaRPr lang="en-US" sz="1700" dirty="0"/>
          </a:p>
        </p:txBody>
      </p:sp>
      <p:sp>
        <p:nvSpPr>
          <p:cNvPr id="15" name="Text 13"/>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8C93C9"/>
                </a:solidFill>
                <a:latin typeface="Calibri" pitchFamily="34" charset="0"/>
                <a:ea typeface="Calibri" pitchFamily="34" charset="-122"/>
                <a:cs typeface="Calibri" pitchFamily="34" charset="-120"/>
              </a:rPr>
              <a:t>Aplicación AWP · Uso diario</a:t>
            </a:r>
            <a:endParaRPr lang="en-US" sz="1000" dirty="0"/>
          </a:p>
        </p:txBody>
      </p:sp>
      <p:sp>
        <p:nvSpPr>
          <p:cNvPr id="16" name="Text 14"/>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8C93C9"/>
                </a:solidFill>
                <a:latin typeface="Calibri" pitchFamily="34" charset="0"/>
                <a:ea typeface="Calibri" pitchFamily="34" charset="-122"/>
                <a:cs typeface="Calibri" pitchFamily="34" charset="-120"/>
              </a:rPr>
              <a:t>123</a:t>
            </a:r>
            <a:endParaRPr lang="en-US" sz="10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Rutina semanal sugerida</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Veinte minutos cada lunes mantienen el proyecto al día</a:t>
            </a:r>
            <a:endParaRPr lang="en-US" sz="1500" dirty="0"/>
          </a:p>
        </p:txBody>
      </p:sp>
      <p:sp>
        <p:nvSpPr>
          <p:cNvPr id="4" name="Shape 2"/>
          <p:cNvSpPr/>
          <p:nvPr/>
        </p:nvSpPr>
        <p:spPr>
          <a:xfrm>
            <a:off x="1566642" y="2103120"/>
            <a:ext cx="9058412" cy="0"/>
          </a:xfrm>
          <a:prstGeom prst="line">
            <a:avLst/>
          </a:prstGeom>
          <a:noFill/>
          <a:ln w="31750">
            <a:solidFill>
              <a:srgbClr val="C5CAE9"/>
            </a:solidFill>
            <a:prstDash val="solid"/>
          </a:ln>
        </p:spPr>
      </p:sp>
      <p:sp>
        <p:nvSpPr>
          <p:cNvPr id="5" name="Shape 3"/>
          <p:cNvSpPr/>
          <p:nvPr/>
        </p:nvSpPr>
        <p:spPr>
          <a:xfrm>
            <a:off x="1200882" y="1737360"/>
            <a:ext cx="731520" cy="731520"/>
          </a:xfrm>
          <a:prstGeom prst="ellipse">
            <a:avLst/>
          </a:prstGeom>
          <a:solidFill>
            <a:srgbClr val="3F51B5"/>
          </a:solidFill>
          <a:ln w="38100">
            <a:solidFill>
              <a:srgbClr val="FFFFFF"/>
            </a:solidFill>
            <a:prstDash val="solid"/>
          </a:ln>
        </p:spPr>
      </p:sp>
      <p:sp>
        <p:nvSpPr>
          <p:cNvPr id="6" name="Text 4"/>
          <p:cNvSpPr txBox="1"/>
          <p:nvPr/>
        </p:nvSpPr>
        <p:spPr>
          <a:xfrm>
            <a:off x="1200882" y="17373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Shape 5"/>
          <p:cNvSpPr/>
          <p:nvPr/>
        </p:nvSpPr>
        <p:spPr>
          <a:xfrm>
            <a:off x="548640" y="2743200"/>
            <a:ext cx="2036003" cy="3291840"/>
          </a:xfrm>
          <a:prstGeom prst="roundRect">
            <a:avLst>
              <a:gd name="adj" fmla="val 4491"/>
            </a:avLst>
          </a:prstGeom>
          <a:solidFill>
            <a:srgbClr val="F5F6FB"/>
          </a:solidFill>
          <a:ln w="9525">
            <a:solidFill>
              <a:srgbClr val="E3E5EE"/>
            </a:solidFill>
            <a:prstDash val="solid"/>
          </a:ln>
        </p:spPr>
      </p:sp>
      <p:sp>
        <p:nvSpPr>
          <p:cNvPr id="8" name="Text 6"/>
          <p:cNvSpPr txBox="1"/>
          <p:nvPr/>
        </p:nvSpPr>
        <p:spPr>
          <a:xfrm>
            <a:off x="731520" y="2907792"/>
            <a:ext cx="1670243" cy="731520"/>
          </a:xfrm>
          <a:prstGeom prst="rect">
            <a:avLst/>
          </a:prstGeom>
          <a:noFill/>
          <a:ln/>
        </p:spPr>
        <p:txBody>
          <a:bodyPr wrap="square" lIns="0" tIns="0" rIns="0" bIns="0" rtlCol="0" anchor="t">
            <a:normAutofit/>
          </a:bodyPr>
          <a:lstStyle/>
          <a:p>
            <a:pPr indent="0" marL="0">
              <a:buNone/>
            </a:pPr>
            <a:r>
              <a:rPr lang="en-US" sz="1350" b="1" dirty="0">
                <a:solidFill>
                  <a:srgbClr val="283593"/>
                </a:solidFill>
                <a:latin typeface="Calibri" pitchFamily="34" charset="0"/>
                <a:ea typeface="Calibri" pitchFamily="34" charset="-122"/>
                <a:cs typeface="Calibri" pitchFamily="34" charset="-120"/>
              </a:rPr>
              <a:t>Lunes · abrir el proyecto</a:t>
            </a:r>
            <a:endParaRPr lang="en-US" sz="1350" dirty="0"/>
          </a:p>
        </p:txBody>
      </p:sp>
      <p:sp>
        <p:nvSpPr>
          <p:cNvPr id="9" name="Text 7"/>
          <p:cNvSpPr txBox="1"/>
          <p:nvPr/>
        </p:nvSpPr>
        <p:spPr>
          <a:xfrm>
            <a:off x="731520" y="3657600"/>
            <a:ext cx="1670243" cy="2286000"/>
          </a:xfrm>
          <a:prstGeom prst="rect">
            <a:avLst/>
          </a:prstGeom>
          <a:noFill/>
          <a:ln/>
        </p:spPr>
        <p:txBody>
          <a:bodyPr wrap="square" lIns="0" tIns="0" rIns="0" bIns="0" rtlCol="0" anchor="t">
            <a:normAutofit/>
          </a:bodyPr>
          <a:lstStyle/>
          <a:p>
            <a:pPr indent="0" marL="0">
              <a:buNone/>
            </a:pPr>
            <a:r>
              <a:rPr lang="en-US" sz="1450" dirty="0">
                <a:solidFill>
                  <a:srgbClr val="1B1C22"/>
                </a:solidFill>
                <a:latin typeface="Calibri" pitchFamily="34" charset="0"/>
                <a:ea typeface="Calibri" pitchFamily="34" charset="-122"/>
                <a:cs typeface="Calibri" pitchFamily="34" charset="-120"/>
              </a:rPr>
              <a:t>Se toma la instantánea semanal. Lee «Tu próximo paso» y el semáforo.</a:t>
            </a:r>
            <a:endParaRPr lang="en-US" sz="1450" dirty="0"/>
          </a:p>
        </p:txBody>
      </p:sp>
      <p:sp>
        <p:nvSpPr>
          <p:cNvPr id="10" name="Shape 8"/>
          <p:cNvSpPr/>
          <p:nvPr/>
        </p:nvSpPr>
        <p:spPr>
          <a:xfrm>
            <a:off x="3465485" y="1737360"/>
            <a:ext cx="731520" cy="731520"/>
          </a:xfrm>
          <a:prstGeom prst="ellipse">
            <a:avLst/>
          </a:prstGeom>
          <a:solidFill>
            <a:srgbClr val="3F51B5"/>
          </a:solidFill>
          <a:ln w="38100">
            <a:solidFill>
              <a:srgbClr val="FFFFFF"/>
            </a:solidFill>
            <a:prstDash val="solid"/>
          </a:ln>
        </p:spPr>
      </p:sp>
      <p:sp>
        <p:nvSpPr>
          <p:cNvPr id="11" name="Text 9"/>
          <p:cNvSpPr txBox="1"/>
          <p:nvPr/>
        </p:nvSpPr>
        <p:spPr>
          <a:xfrm>
            <a:off x="3465485" y="17373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2" name="Shape 10"/>
          <p:cNvSpPr/>
          <p:nvPr/>
        </p:nvSpPr>
        <p:spPr>
          <a:xfrm>
            <a:off x="2813243" y="2743200"/>
            <a:ext cx="2036003" cy="3291840"/>
          </a:xfrm>
          <a:prstGeom prst="roundRect">
            <a:avLst>
              <a:gd name="adj" fmla="val 4491"/>
            </a:avLst>
          </a:prstGeom>
          <a:solidFill>
            <a:srgbClr val="F5F6FB"/>
          </a:solidFill>
          <a:ln w="9525">
            <a:solidFill>
              <a:srgbClr val="E3E5EE"/>
            </a:solidFill>
            <a:prstDash val="solid"/>
          </a:ln>
        </p:spPr>
      </p:sp>
      <p:sp>
        <p:nvSpPr>
          <p:cNvPr id="13" name="Text 11"/>
          <p:cNvSpPr txBox="1"/>
          <p:nvPr/>
        </p:nvSpPr>
        <p:spPr>
          <a:xfrm>
            <a:off x="2996123" y="2907792"/>
            <a:ext cx="1670243" cy="731520"/>
          </a:xfrm>
          <a:prstGeom prst="rect">
            <a:avLst/>
          </a:prstGeom>
          <a:noFill/>
          <a:ln/>
        </p:spPr>
        <p:txBody>
          <a:bodyPr wrap="square" lIns="0" tIns="0" rIns="0" bIns="0" rtlCol="0" anchor="t">
            <a:normAutofit/>
          </a:bodyPr>
          <a:lstStyle/>
          <a:p>
            <a:pPr indent="0" marL="0">
              <a:buNone/>
            </a:pPr>
            <a:r>
              <a:rPr lang="en-US" sz="1350" b="1" dirty="0">
                <a:solidFill>
                  <a:srgbClr val="283593"/>
                </a:solidFill>
                <a:latin typeface="Calibri" pitchFamily="34" charset="0"/>
                <a:ea typeface="Calibri" pitchFamily="34" charset="-122"/>
                <a:cs typeface="Calibri" pitchFamily="34" charset="-120"/>
              </a:rPr>
              <a:t>Revisar hitos</a:t>
            </a:r>
            <a:endParaRPr lang="en-US" sz="1350" dirty="0"/>
          </a:p>
        </p:txBody>
      </p:sp>
      <p:sp>
        <p:nvSpPr>
          <p:cNvPr id="14" name="Text 12"/>
          <p:cNvSpPr txBox="1"/>
          <p:nvPr/>
        </p:nvSpPr>
        <p:spPr>
          <a:xfrm>
            <a:off x="2996123" y="3657600"/>
            <a:ext cx="1670243" cy="2286000"/>
          </a:xfrm>
          <a:prstGeom prst="rect">
            <a:avLst/>
          </a:prstGeom>
          <a:noFill/>
          <a:ln/>
        </p:spPr>
        <p:txBody>
          <a:bodyPr wrap="square" lIns="0" tIns="0" rIns="0" bIns="0" rtlCol="0" anchor="t">
            <a:normAutofit/>
          </a:bodyPr>
          <a:lstStyle/>
          <a:p>
            <a:pPr indent="0" marL="0">
              <a:buNone/>
            </a:pPr>
            <a:r>
              <a:rPr lang="en-US" sz="1450" dirty="0">
                <a:solidFill>
                  <a:srgbClr val="1B1C22"/>
                </a:solidFill>
                <a:latin typeface="Calibri" pitchFamily="34" charset="0"/>
                <a:ea typeface="Calibri" pitchFamily="34" charset="-122"/>
                <a:cs typeface="Calibri" pitchFamily="34" charset="-120"/>
              </a:rPr>
              <a:t>Atrasados: registrar evidencia o replanificar. Próximos 30 días: preparar la evidencia.</a:t>
            </a:r>
            <a:endParaRPr lang="en-US" sz="1450" dirty="0"/>
          </a:p>
        </p:txBody>
      </p:sp>
      <p:sp>
        <p:nvSpPr>
          <p:cNvPr id="15" name="Shape 13"/>
          <p:cNvSpPr/>
          <p:nvPr/>
        </p:nvSpPr>
        <p:spPr>
          <a:xfrm>
            <a:off x="5730088" y="1737360"/>
            <a:ext cx="731520" cy="731520"/>
          </a:xfrm>
          <a:prstGeom prst="ellipse">
            <a:avLst/>
          </a:prstGeom>
          <a:solidFill>
            <a:srgbClr val="3F51B5"/>
          </a:solidFill>
          <a:ln w="38100">
            <a:solidFill>
              <a:srgbClr val="FFFFFF"/>
            </a:solidFill>
            <a:prstDash val="solid"/>
          </a:ln>
        </p:spPr>
      </p:sp>
      <p:sp>
        <p:nvSpPr>
          <p:cNvPr id="16" name="Text 14"/>
          <p:cNvSpPr txBox="1"/>
          <p:nvPr/>
        </p:nvSpPr>
        <p:spPr>
          <a:xfrm>
            <a:off x="5730088" y="17373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7" name="Shape 15"/>
          <p:cNvSpPr/>
          <p:nvPr/>
        </p:nvSpPr>
        <p:spPr>
          <a:xfrm>
            <a:off x="5077846" y="2743200"/>
            <a:ext cx="2036003" cy="3291840"/>
          </a:xfrm>
          <a:prstGeom prst="roundRect">
            <a:avLst>
              <a:gd name="adj" fmla="val 4491"/>
            </a:avLst>
          </a:prstGeom>
          <a:solidFill>
            <a:srgbClr val="F5F6FB"/>
          </a:solidFill>
          <a:ln w="9525">
            <a:solidFill>
              <a:srgbClr val="E3E5EE"/>
            </a:solidFill>
            <a:prstDash val="solid"/>
          </a:ln>
        </p:spPr>
      </p:sp>
      <p:sp>
        <p:nvSpPr>
          <p:cNvPr id="18" name="Text 16"/>
          <p:cNvSpPr txBox="1"/>
          <p:nvPr/>
        </p:nvSpPr>
        <p:spPr>
          <a:xfrm>
            <a:off x="5260726" y="2907792"/>
            <a:ext cx="1670243" cy="731520"/>
          </a:xfrm>
          <a:prstGeom prst="rect">
            <a:avLst/>
          </a:prstGeom>
          <a:noFill/>
          <a:ln/>
        </p:spPr>
        <p:txBody>
          <a:bodyPr wrap="square" lIns="0" tIns="0" rIns="0" bIns="0" rtlCol="0" anchor="t">
            <a:normAutofit/>
          </a:bodyPr>
          <a:lstStyle/>
          <a:p>
            <a:pPr indent="0" marL="0">
              <a:buNone/>
            </a:pPr>
            <a:r>
              <a:rPr lang="en-US" sz="1350" b="1" dirty="0">
                <a:solidFill>
                  <a:srgbClr val="283593"/>
                </a:solidFill>
                <a:latin typeface="Calibri" pitchFamily="34" charset="0"/>
                <a:ea typeface="Calibri" pitchFamily="34" charset="-122"/>
                <a:cs typeface="Calibri" pitchFamily="34" charset="-120"/>
              </a:rPr>
              <a:t>Actualizar el checklist</a:t>
            </a:r>
            <a:endParaRPr lang="en-US" sz="1350" dirty="0"/>
          </a:p>
        </p:txBody>
      </p:sp>
      <p:sp>
        <p:nvSpPr>
          <p:cNvPr id="19" name="Text 17"/>
          <p:cNvSpPr txBox="1"/>
          <p:nvPr/>
        </p:nvSpPr>
        <p:spPr>
          <a:xfrm>
            <a:off x="5260726" y="3657600"/>
            <a:ext cx="1670243" cy="2286000"/>
          </a:xfrm>
          <a:prstGeom prst="rect">
            <a:avLst/>
          </a:prstGeom>
          <a:noFill/>
          <a:ln/>
        </p:spPr>
        <p:txBody>
          <a:bodyPr wrap="square" lIns="0" tIns="0" rIns="0" bIns="0" rtlCol="0" anchor="t">
            <a:normAutofit/>
          </a:bodyPr>
          <a:lstStyle/>
          <a:p>
            <a:pPr indent="0" marL="0">
              <a:buNone/>
            </a:pPr>
            <a:r>
              <a:rPr lang="en-US" sz="1450" dirty="0">
                <a:solidFill>
                  <a:srgbClr val="1B1C22"/>
                </a:solidFill>
                <a:latin typeface="Calibri" pitchFamily="34" charset="0"/>
                <a:ea typeface="Calibri" pitchFamily="34" charset="-122"/>
                <a:cs typeface="Calibri" pitchFamily="34" charset="-120"/>
              </a:rPr>
              <a:t>Un toque por actividad que avanzó; evidencia en las completadas.</a:t>
            </a:r>
            <a:endParaRPr lang="en-US" sz="1450" dirty="0"/>
          </a:p>
        </p:txBody>
      </p:sp>
      <p:sp>
        <p:nvSpPr>
          <p:cNvPr id="20" name="Shape 18"/>
          <p:cNvSpPr/>
          <p:nvPr/>
        </p:nvSpPr>
        <p:spPr>
          <a:xfrm>
            <a:off x="7994691" y="1737360"/>
            <a:ext cx="731520" cy="731520"/>
          </a:xfrm>
          <a:prstGeom prst="ellipse">
            <a:avLst/>
          </a:prstGeom>
          <a:solidFill>
            <a:srgbClr val="3F51B5"/>
          </a:solidFill>
          <a:ln w="38100">
            <a:solidFill>
              <a:srgbClr val="FFFFFF"/>
            </a:solidFill>
            <a:prstDash val="solid"/>
          </a:ln>
        </p:spPr>
      </p:sp>
      <p:sp>
        <p:nvSpPr>
          <p:cNvPr id="21" name="Text 19"/>
          <p:cNvSpPr txBox="1"/>
          <p:nvPr/>
        </p:nvSpPr>
        <p:spPr>
          <a:xfrm>
            <a:off x="7994691" y="17373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2" name="Shape 20"/>
          <p:cNvSpPr/>
          <p:nvPr/>
        </p:nvSpPr>
        <p:spPr>
          <a:xfrm>
            <a:off x="7342449" y="2743200"/>
            <a:ext cx="2036003" cy="3291840"/>
          </a:xfrm>
          <a:prstGeom prst="roundRect">
            <a:avLst>
              <a:gd name="adj" fmla="val 4491"/>
            </a:avLst>
          </a:prstGeom>
          <a:solidFill>
            <a:srgbClr val="F5F6FB"/>
          </a:solidFill>
          <a:ln w="9525">
            <a:solidFill>
              <a:srgbClr val="E3E5EE"/>
            </a:solidFill>
            <a:prstDash val="solid"/>
          </a:ln>
        </p:spPr>
      </p:sp>
      <p:sp>
        <p:nvSpPr>
          <p:cNvPr id="23" name="Text 21"/>
          <p:cNvSpPr txBox="1"/>
          <p:nvPr/>
        </p:nvSpPr>
        <p:spPr>
          <a:xfrm>
            <a:off x="7525329" y="2907792"/>
            <a:ext cx="1670243" cy="731520"/>
          </a:xfrm>
          <a:prstGeom prst="rect">
            <a:avLst/>
          </a:prstGeom>
          <a:noFill/>
          <a:ln/>
        </p:spPr>
        <p:txBody>
          <a:bodyPr wrap="square" lIns="0" tIns="0" rIns="0" bIns="0" rtlCol="0" anchor="t">
            <a:normAutofit/>
          </a:bodyPr>
          <a:lstStyle/>
          <a:p>
            <a:pPr indent="0" marL="0">
              <a:buNone/>
            </a:pPr>
            <a:r>
              <a:rPr lang="en-US" sz="1350" b="1" dirty="0">
                <a:solidFill>
                  <a:srgbClr val="283593"/>
                </a:solidFill>
                <a:latin typeface="Calibri" pitchFamily="34" charset="0"/>
                <a:ea typeface="Calibri" pitchFamily="34" charset="-122"/>
                <a:cs typeface="Calibri" pitchFamily="34" charset="-120"/>
              </a:rPr>
              <a:t>Reunión semanal</a:t>
            </a:r>
            <a:endParaRPr lang="en-US" sz="1350" dirty="0"/>
          </a:p>
        </p:txBody>
      </p:sp>
      <p:sp>
        <p:nvSpPr>
          <p:cNvPr id="24" name="Text 22"/>
          <p:cNvSpPr txBox="1"/>
          <p:nvPr/>
        </p:nvSpPr>
        <p:spPr>
          <a:xfrm>
            <a:off x="7525329" y="3657600"/>
            <a:ext cx="1670243" cy="2286000"/>
          </a:xfrm>
          <a:prstGeom prst="rect">
            <a:avLst/>
          </a:prstGeom>
          <a:noFill/>
          <a:ln/>
        </p:spPr>
        <p:txBody>
          <a:bodyPr wrap="square" lIns="0" tIns="0" rIns="0" bIns="0" rtlCol="0" anchor="t">
            <a:normAutofit/>
          </a:bodyPr>
          <a:lstStyle/>
          <a:p>
            <a:pPr indent="0" marL="0">
              <a:buNone/>
            </a:pPr>
            <a:r>
              <a:rPr lang="en-US" sz="1450" dirty="0">
                <a:solidFill>
                  <a:srgbClr val="1B1C22"/>
                </a:solidFill>
                <a:latin typeface="Calibri" pitchFamily="34" charset="0"/>
                <a:ea typeface="Calibri" pitchFamily="34" charset="-122"/>
                <a:cs typeface="Calibri" pitchFamily="34" charset="-120"/>
              </a:rPr>
              <a:t>Proyectar el dashboard; acordar responsables de lo que está en rojo.</a:t>
            </a:r>
            <a:endParaRPr lang="en-US" sz="1450" dirty="0"/>
          </a:p>
        </p:txBody>
      </p:sp>
      <p:sp>
        <p:nvSpPr>
          <p:cNvPr id="25" name="Shape 23"/>
          <p:cNvSpPr/>
          <p:nvPr/>
        </p:nvSpPr>
        <p:spPr>
          <a:xfrm>
            <a:off x="10259294" y="1737360"/>
            <a:ext cx="731520" cy="731520"/>
          </a:xfrm>
          <a:prstGeom prst="ellipse">
            <a:avLst/>
          </a:prstGeom>
          <a:solidFill>
            <a:srgbClr val="FFC107"/>
          </a:solidFill>
          <a:ln w="38100">
            <a:solidFill>
              <a:srgbClr val="FFFFFF"/>
            </a:solidFill>
            <a:prstDash val="solid"/>
          </a:ln>
        </p:spPr>
      </p:sp>
      <p:sp>
        <p:nvSpPr>
          <p:cNvPr id="26" name="Text 24"/>
          <p:cNvSpPr txBox="1"/>
          <p:nvPr/>
        </p:nvSpPr>
        <p:spPr>
          <a:xfrm>
            <a:off x="10259294" y="1737360"/>
            <a:ext cx="731520" cy="731520"/>
          </a:xfrm>
          <a:prstGeom prst="rect">
            <a:avLst/>
          </a:prstGeom>
          <a:noFill/>
          <a:ln/>
        </p:spPr>
        <p:txBody>
          <a:bodyPr wrap="square" lIns="0" tIns="0" rIns="0" bIns="0" rtlCol="0" anchor="ctr"/>
          <a:lstStyle/>
          <a:p>
            <a:pPr algn="ctr" indent="0" marL="0">
              <a:buNone/>
            </a:pPr>
            <a:r>
              <a:rPr lang="en-US" sz="2200" b="1" dirty="0">
                <a:solidFill>
                  <a:srgbClr val="1A1F4B"/>
                </a:solidFill>
                <a:latin typeface="Calibri" pitchFamily="34" charset="0"/>
                <a:ea typeface="Calibri" pitchFamily="34" charset="-122"/>
                <a:cs typeface="Calibri" pitchFamily="34" charset="-120"/>
              </a:rPr>
              <a:t>5</a:t>
            </a:r>
            <a:endParaRPr lang="en-US" sz="2200" dirty="0"/>
          </a:p>
        </p:txBody>
      </p:sp>
      <p:sp>
        <p:nvSpPr>
          <p:cNvPr id="27" name="Shape 25"/>
          <p:cNvSpPr/>
          <p:nvPr/>
        </p:nvSpPr>
        <p:spPr>
          <a:xfrm>
            <a:off x="9607052" y="2743200"/>
            <a:ext cx="2036003" cy="3291840"/>
          </a:xfrm>
          <a:prstGeom prst="roundRect">
            <a:avLst>
              <a:gd name="adj" fmla="val 4491"/>
            </a:avLst>
          </a:prstGeom>
          <a:solidFill>
            <a:srgbClr val="F5F6FB"/>
          </a:solidFill>
          <a:ln w="9525">
            <a:solidFill>
              <a:srgbClr val="E3E5EE"/>
            </a:solidFill>
            <a:prstDash val="solid"/>
          </a:ln>
        </p:spPr>
      </p:sp>
      <p:sp>
        <p:nvSpPr>
          <p:cNvPr id="28" name="Text 26"/>
          <p:cNvSpPr txBox="1"/>
          <p:nvPr/>
        </p:nvSpPr>
        <p:spPr>
          <a:xfrm>
            <a:off x="9789932" y="2907792"/>
            <a:ext cx="1670243" cy="731520"/>
          </a:xfrm>
          <a:prstGeom prst="rect">
            <a:avLst/>
          </a:prstGeom>
          <a:noFill/>
          <a:ln/>
        </p:spPr>
        <p:txBody>
          <a:bodyPr wrap="square" lIns="0" tIns="0" rIns="0" bIns="0" rtlCol="0" anchor="t">
            <a:normAutofit/>
          </a:bodyPr>
          <a:lstStyle/>
          <a:p>
            <a:pPr indent="0" marL="0">
              <a:buNone/>
            </a:pPr>
            <a:r>
              <a:rPr lang="en-US" sz="1350" b="1" dirty="0">
                <a:solidFill>
                  <a:srgbClr val="283593"/>
                </a:solidFill>
                <a:latin typeface="Calibri" pitchFamily="34" charset="0"/>
                <a:ea typeface="Calibri" pitchFamily="34" charset="-122"/>
                <a:cs typeface="Calibri" pitchFamily="34" charset="-120"/>
              </a:rPr>
              <a:t>Mensual · portafolio</a:t>
            </a:r>
            <a:endParaRPr lang="en-US" sz="1350" dirty="0"/>
          </a:p>
        </p:txBody>
      </p:sp>
      <p:sp>
        <p:nvSpPr>
          <p:cNvPr id="29" name="Text 27"/>
          <p:cNvSpPr txBox="1"/>
          <p:nvPr/>
        </p:nvSpPr>
        <p:spPr>
          <a:xfrm>
            <a:off x="9789932" y="3657600"/>
            <a:ext cx="1670243" cy="2286000"/>
          </a:xfrm>
          <a:prstGeom prst="rect">
            <a:avLst/>
          </a:prstGeom>
          <a:noFill/>
          <a:ln/>
        </p:spPr>
        <p:txBody>
          <a:bodyPr wrap="square" lIns="0" tIns="0" rIns="0" bIns="0" rtlCol="0" anchor="t">
            <a:normAutofit/>
          </a:bodyPr>
          <a:lstStyle/>
          <a:p>
            <a:pPr indent="0" marL="0">
              <a:buNone/>
            </a:pPr>
            <a:r>
              <a:rPr lang="en-US" sz="1450" dirty="0">
                <a:solidFill>
                  <a:srgbClr val="1B1C22"/>
                </a:solidFill>
                <a:latin typeface="Calibri" pitchFamily="34" charset="0"/>
                <a:ea typeface="Calibri" pitchFamily="34" charset="-122"/>
                <a:cs typeface="Calibri" pitchFamily="34" charset="-120"/>
              </a:rPr>
              <a:t>Comparar proyectos; fecha de corte al cierre de mes para el informe.</a:t>
            </a:r>
            <a:endParaRPr lang="en-US" sz="1450" dirty="0"/>
          </a:p>
        </p:txBody>
      </p:sp>
      <p:sp>
        <p:nvSpPr>
          <p:cNvPr id="30" name="Text 28"/>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Uso diario</a:t>
            </a:r>
            <a:endParaRPr lang="en-US" sz="1000" dirty="0"/>
          </a:p>
        </p:txBody>
      </p:sp>
      <p:sp>
        <p:nvSpPr>
          <p:cNvPr id="31" name="Text 29"/>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124</a:t>
            </a:r>
            <a:endParaRPr lang="en-US" sz="10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Tu primer mes con la aplicación</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Un plan simple para arrancar un proyecto</a:t>
            </a:r>
            <a:endParaRPr lang="en-US" sz="1500" dirty="0"/>
          </a:p>
        </p:txBody>
      </p:sp>
      <p:sp>
        <p:nvSpPr>
          <p:cNvPr id="4" name="Shape 2"/>
          <p:cNvSpPr/>
          <p:nvPr/>
        </p:nvSpPr>
        <p:spPr>
          <a:xfrm>
            <a:off x="1554480" y="2743200"/>
            <a:ext cx="9082735" cy="0"/>
          </a:xfrm>
          <a:prstGeom prst="line">
            <a:avLst/>
          </a:prstGeom>
          <a:noFill/>
          <a:ln w="50800">
            <a:solidFill>
              <a:srgbClr val="C5CAE9"/>
            </a:solidFill>
            <a:prstDash val="solid"/>
          </a:ln>
        </p:spPr>
      </p:sp>
      <p:sp>
        <p:nvSpPr>
          <p:cNvPr id="5" name="Shape 3"/>
          <p:cNvSpPr/>
          <p:nvPr/>
        </p:nvSpPr>
        <p:spPr>
          <a:xfrm>
            <a:off x="1280160" y="2468880"/>
            <a:ext cx="548640" cy="548640"/>
          </a:xfrm>
          <a:prstGeom prst="ellipse">
            <a:avLst/>
          </a:prstGeom>
          <a:solidFill>
            <a:srgbClr val="3F51B5"/>
          </a:solidFill>
          <a:ln w="38100">
            <a:solidFill>
              <a:srgbClr val="FFFFFF"/>
            </a:solidFill>
            <a:prstDash val="solid"/>
          </a:ln>
        </p:spPr>
      </p:sp>
      <p:sp>
        <p:nvSpPr>
          <p:cNvPr id="6" name="Text 4"/>
          <p:cNvSpPr txBox="1"/>
          <p:nvPr/>
        </p:nvSpPr>
        <p:spPr>
          <a:xfrm>
            <a:off x="548640" y="1691640"/>
            <a:ext cx="2011680" cy="548640"/>
          </a:xfrm>
          <a:prstGeom prst="rect">
            <a:avLst/>
          </a:prstGeom>
          <a:noFill/>
          <a:ln/>
        </p:spPr>
        <p:txBody>
          <a:bodyPr wrap="square" lIns="0" tIns="0" rIns="0" bIns="0" rtlCol="0" anchor="b"/>
          <a:lstStyle/>
          <a:p>
            <a:pPr algn="ctr" indent="0" marL="0">
              <a:buNone/>
            </a:pPr>
            <a:r>
              <a:rPr lang="en-US" sz="1800" b="1" dirty="0">
                <a:solidFill>
                  <a:srgbClr val="283593"/>
                </a:solidFill>
                <a:latin typeface="Calibri" pitchFamily="34" charset="0"/>
                <a:ea typeface="Calibri" pitchFamily="34" charset="-122"/>
                <a:cs typeface="Calibri" pitchFamily="34" charset="-120"/>
              </a:rPr>
              <a:t>Día 1</a:t>
            </a:r>
            <a:endParaRPr lang="en-US" sz="1800" dirty="0"/>
          </a:p>
        </p:txBody>
      </p:sp>
      <p:sp>
        <p:nvSpPr>
          <p:cNvPr id="7" name="Shape 5"/>
          <p:cNvSpPr/>
          <p:nvPr/>
        </p:nvSpPr>
        <p:spPr>
          <a:xfrm>
            <a:off x="548640" y="3291840"/>
            <a:ext cx="2011680" cy="2468880"/>
          </a:xfrm>
          <a:prstGeom prst="roundRect">
            <a:avLst>
              <a:gd name="adj" fmla="val 4545"/>
            </a:avLst>
          </a:prstGeom>
          <a:solidFill>
            <a:srgbClr val="F5F6FB"/>
          </a:solidFill>
          <a:ln w="9525">
            <a:solidFill>
              <a:srgbClr val="E3E5EE"/>
            </a:solidFill>
            <a:prstDash val="solid"/>
          </a:ln>
        </p:spPr>
      </p:sp>
      <p:sp>
        <p:nvSpPr>
          <p:cNvPr id="8" name="Text 6"/>
          <p:cNvSpPr txBox="1"/>
          <p:nvPr/>
        </p:nvSpPr>
        <p:spPr>
          <a:xfrm>
            <a:off x="685800" y="3456432"/>
            <a:ext cx="1737360" cy="2194560"/>
          </a:xfrm>
          <a:prstGeom prst="rect">
            <a:avLst/>
          </a:prstGeom>
          <a:noFill/>
          <a:ln/>
        </p:spPr>
        <p:txBody>
          <a:bodyPr wrap="square" lIns="0" tIns="0" rIns="0" bIns="0" rtlCol="0" anchor="t"/>
          <a:lstStyle/>
          <a:p>
            <a:pPr indent="0" marL="0">
              <a:buNone/>
            </a:pPr>
            <a:r>
              <a:rPr lang="en-US" sz="1550" dirty="0">
                <a:solidFill>
                  <a:srgbClr val="1B1C22"/>
                </a:solidFill>
                <a:latin typeface="Calibri" pitchFamily="34" charset="0"/>
                <a:ea typeface="Calibri" pitchFamily="34" charset="-122"/>
                <a:cs typeface="Calibri" pitchFamily="34" charset="-120"/>
              </a:rPr>
              <a:t>Entrar, hacer el recorrido guiado, revisar Recursos y descargar el plan.</a:t>
            </a:r>
            <a:endParaRPr lang="en-US" sz="1550" dirty="0"/>
          </a:p>
        </p:txBody>
      </p:sp>
      <p:sp>
        <p:nvSpPr>
          <p:cNvPr id="9" name="Shape 7"/>
          <p:cNvSpPr/>
          <p:nvPr/>
        </p:nvSpPr>
        <p:spPr>
          <a:xfrm>
            <a:off x="3550844" y="2468880"/>
            <a:ext cx="548640" cy="548640"/>
          </a:xfrm>
          <a:prstGeom prst="ellipse">
            <a:avLst/>
          </a:prstGeom>
          <a:solidFill>
            <a:srgbClr val="3F51B5"/>
          </a:solidFill>
          <a:ln w="38100">
            <a:solidFill>
              <a:srgbClr val="FFFFFF"/>
            </a:solidFill>
            <a:prstDash val="solid"/>
          </a:ln>
        </p:spPr>
      </p:sp>
      <p:sp>
        <p:nvSpPr>
          <p:cNvPr id="10" name="Text 8"/>
          <p:cNvSpPr txBox="1"/>
          <p:nvPr/>
        </p:nvSpPr>
        <p:spPr>
          <a:xfrm>
            <a:off x="2819324" y="1691640"/>
            <a:ext cx="2011680" cy="548640"/>
          </a:xfrm>
          <a:prstGeom prst="rect">
            <a:avLst/>
          </a:prstGeom>
          <a:noFill/>
          <a:ln/>
        </p:spPr>
        <p:txBody>
          <a:bodyPr wrap="square" lIns="0" tIns="0" rIns="0" bIns="0" rtlCol="0" anchor="b"/>
          <a:lstStyle/>
          <a:p>
            <a:pPr algn="ctr" indent="0" marL="0">
              <a:buNone/>
            </a:pPr>
            <a:r>
              <a:rPr lang="en-US" sz="1800" b="1" dirty="0">
                <a:solidFill>
                  <a:srgbClr val="283593"/>
                </a:solidFill>
                <a:latin typeface="Calibri" pitchFamily="34" charset="0"/>
                <a:ea typeface="Calibri" pitchFamily="34" charset="-122"/>
                <a:cs typeface="Calibri" pitchFamily="34" charset="-120"/>
              </a:rPr>
              <a:t>Semana 1</a:t>
            </a:r>
            <a:endParaRPr lang="en-US" sz="1800" dirty="0"/>
          </a:p>
        </p:txBody>
      </p:sp>
      <p:sp>
        <p:nvSpPr>
          <p:cNvPr id="11" name="Shape 9"/>
          <p:cNvSpPr/>
          <p:nvPr/>
        </p:nvSpPr>
        <p:spPr>
          <a:xfrm>
            <a:off x="2819324" y="3291840"/>
            <a:ext cx="2011680" cy="2468880"/>
          </a:xfrm>
          <a:prstGeom prst="roundRect">
            <a:avLst>
              <a:gd name="adj" fmla="val 4545"/>
            </a:avLst>
          </a:prstGeom>
          <a:solidFill>
            <a:srgbClr val="F5F6FB"/>
          </a:solidFill>
          <a:ln w="9525">
            <a:solidFill>
              <a:srgbClr val="E3E5EE"/>
            </a:solidFill>
            <a:prstDash val="solid"/>
          </a:ln>
        </p:spPr>
      </p:sp>
      <p:sp>
        <p:nvSpPr>
          <p:cNvPr id="12" name="Text 10"/>
          <p:cNvSpPr txBox="1"/>
          <p:nvPr/>
        </p:nvSpPr>
        <p:spPr>
          <a:xfrm>
            <a:off x="2956484" y="3456432"/>
            <a:ext cx="1737360" cy="2194560"/>
          </a:xfrm>
          <a:prstGeom prst="rect">
            <a:avLst/>
          </a:prstGeom>
          <a:noFill/>
          <a:ln/>
        </p:spPr>
        <p:txBody>
          <a:bodyPr wrap="square" lIns="0" tIns="0" rIns="0" bIns="0" rtlCol="0" anchor="t"/>
          <a:lstStyle/>
          <a:p>
            <a:pPr indent="0" marL="0">
              <a:buNone/>
            </a:pPr>
            <a:r>
              <a:rPr lang="en-US" sz="1550" dirty="0">
                <a:solidFill>
                  <a:srgbClr val="1B1C22"/>
                </a:solidFill>
                <a:latin typeface="Calibri" pitchFamily="34" charset="0"/>
                <a:ea typeface="Calibri" pitchFamily="34" charset="-122"/>
                <a:cs typeface="Calibri" pitchFamily="34" charset="-120"/>
              </a:rPr>
              <a:t>Crear el proyecto con el asistente; ajustar fases, plazos y fechas de hitos.</a:t>
            </a:r>
            <a:endParaRPr lang="en-US" sz="1550" dirty="0"/>
          </a:p>
        </p:txBody>
      </p:sp>
      <p:sp>
        <p:nvSpPr>
          <p:cNvPr id="13" name="Shape 11"/>
          <p:cNvSpPr/>
          <p:nvPr/>
        </p:nvSpPr>
        <p:spPr>
          <a:xfrm>
            <a:off x="5821528" y="2468880"/>
            <a:ext cx="548640" cy="548640"/>
          </a:xfrm>
          <a:prstGeom prst="ellipse">
            <a:avLst/>
          </a:prstGeom>
          <a:solidFill>
            <a:srgbClr val="3F51B5"/>
          </a:solidFill>
          <a:ln w="38100">
            <a:solidFill>
              <a:srgbClr val="FFFFFF"/>
            </a:solidFill>
            <a:prstDash val="solid"/>
          </a:ln>
        </p:spPr>
      </p:sp>
      <p:sp>
        <p:nvSpPr>
          <p:cNvPr id="14" name="Text 12"/>
          <p:cNvSpPr txBox="1"/>
          <p:nvPr/>
        </p:nvSpPr>
        <p:spPr>
          <a:xfrm>
            <a:off x="5090008" y="1691640"/>
            <a:ext cx="2011680" cy="548640"/>
          </a:xfrm>
          <a:prstGeom prst="rect">
            <a:avLst/>
          </a:prstGeom>
          <a:noFill/>
          <a:ln/>
        </p:spPr>
        <p:txBody>
          <a:bodyPr wrap="square" lIns="0" tIns="0" rIns="0" bIns="0" rtlCol="0" anchor="b"/>
          <a:lstStyle/>
          <a:p>
            <a:pPr algn="ctr" indent="0" marL="0">
              <a:buNone/>
            </a:pPr>
            <a:r>
              <a:rPr lang="en-US" sz="1800" b="1" dirty="0">
                <a:solidFill>
                  <a:srgbClr val="283593"/>
                </a:solidFill>
                <a:latin typeface="Calibri" pitchFamily="34" charset="0"/>
                <a:ea typeface="Calibri" pitchFamily="34" charset="-122"/>
                <a:cs typeface="Calibri" pitchFamily="34" charset="-120"/>
              </a:rPr>
              <a:t>Semana 2</a:t>
            </a:r>
            <a:endParaRPr lang="en-US" sz="1800" dirty="0"/>
          </a:p>
        </p:txBody>
      </p:sp>
      <p:sp>
        <p:nvSpPr>
          <p:cNvPr id="15" name="Shape 13"/>
          <p:cNvSpPr/>
          <p:nvPr/>
        </p:nvSpPr>
        <p:spPr>
          <a:xfrm>
            <a:off x="5090008" y="3291840"/>
            <a:ext cx="2011680" cy="2468880"/>
          </a:xfrm>
          <a:prstGeom prst="roundRect">
            <a:avLst>
              <a:gd name="adj" fmla="val 4545"/>
            </a:avLst>
          </a:prstGeom>
          <a:solidFill>
            <a:srgbClr val="F5F6FB"/>
          </a:solidFill>
          <a:ln w="9525">
            <a:solidFill>
              <a:srgbClr val="E3E5EE"/>
            </a:solidFill>
            <a:prstDash val="solid"/>
          </a:ln>
        </p:spPr>
      </p:sp>
      <p:sp>
        <p:nvSpPr>
          <p:cNvPr id="16" name="Text 14"/>
          <p:cNvSpPr txBox="1"/>
          <p:nvPr/>
        </p:nvSpPr>
        <p:spPr>
          <a:xfrm>
            <a:off x="5227168" y="3456432"/>
            <a:ext cx="1737360" cy="2194560"/>
          </a:xfrm>
          <a:prstGeom prst="rect">
            <a:avLst/>
          </a:prstGeom>
          <a:noFill/>
          <a:ln/>
        </p:spPr>
        <p:txBody>
          <a:bodyPr wrap="square" lIns="0" tIns="0" rIns="0" bIns="0" rtlCol="0" anchor="t"/>
          <a:lstStyle/>
          <a:p>
            <a:pPr indent="0" marL="0">
              <a:buNone/>
            </a:pPr>
            <a:r>
              <a:rPr lang="en-US" sz="1550" dirty="0">
                <a:solidFill>
                  <a:srgbClr val="1B1C22"/>
                </a:solidFill>
                <a:latin typeface="Calibri" pitchFamily="34" charset="0"/>
                <a:ea typeface="Calibri" pitchFamily="34" charset="-122"/>
                <a:cs typeface="Calibri" pitchFamily="34" charset="-120"/>
              </a:rPr>
              <a:t>Completar el equipo (16 roles) y el pico de personal de cada fase.</a:t>
            </a:r>
            <a:endParaRPr lang="en-US" sz="1550" dirty="0"/>
          </a:p>
        </p:txBody>
      </p:sp>
      <p:sp>
        <p:nvSpPr>
          <p:cNvPr id="17" name="Shape 15"/>
          <p:cNvSpPr/>
          <p:nvPr/>
        </p:nvSpPr>
        <p:spPr>
          <a:xfrm>
            <a:off x="8092211" y="2468880"/>
            <a:ext cx="548640" cy="548640"/>
          </a:xfrm>
          <a:prstGeom prst="ellipse">
            <a:avLst/>
          </a:prstGeom>
          <a:solidFill>
            <a:srgbClr val="3F51B5"/>
          </a:solidFill>
          <a:ln w="38100">
            <a:solidFill>
              <a:srgbClr val="FFFFFF"/>
            </a:solidFill>
            <a:prstDash val="solid"/>
          </a:ln>
        </p:spPr>
      </p:sp>
      <p:sp>
        <p:nvSpPr>
          <p:cNvPr id="18" name="Text 16"/>
          <p:cNvSpPr txBox="1"/>
          <p:nvPr/>
        </p:nvSpPr>
        <p:spPr>
          <a:xfrm>
            <a:off x="7360691" y="1691640"/>
            <a:ext cx="2011680" cy="548640"/>
          </a:xfrm>
          <a:prstGeom prst="rect">
            <a:avLst/>
          </a:prstGeom>
          <a:noFill/>
          <a:ln/>
        </p:spPr>
        <p:txBody>
          <a:bodyPr wrap="square" lIns="0" tIns="0" rIns="0" bIns="0" rtlCol="0" anchor="b"/>
          <a:lstStyle/>
          <a:p>
            <a:pPr algn="ctr" indent="0" marL="0">
              <a:buNone/>
            </a:pPr>
            <a:r>
              <a:rPr lang="en-US" sz="1800" b="1" dirty="0">
                <a:solidFill>
                  <a:srgbClr val="283593"/>
                </a:solidFill>
                <a:latin typeface="Calibri" pitchFamily="34" charset="0"/>
                <a:ea typeface="Calibri" pitchFamily="34" charset="-122"/>
                <a:cs typeface="Calibri" pitchFamily="34" charset="-120"/>
              </a:rPr>
              <a:t>Semana 3</a:t>
            </a:r>
            <a:endParaRPr lang="en-US" sz="1800" dirty="0"/>
          </a:p>
        </p:txBody>
      </p:sp>
      <p:sp>
        <p:nvSpPr>
          <p:cNvPr id="19" name="Shape 17"/>
          <p:cNvSpPr/>
          <p:nvPr/>
        </p:nvSpPr>
        <p:spPr>
          <a:xfrm>
            <a:off x="7360691" y="3291840"/>
            <a:ext cx="2011680" cy="2468880"/>
          </a:xfrm>
          <a:prstGeom prst="roundRect">
            <a:avLst>
              <a:gd name="adj" fmla="val 4545"/>
            </a:avLst>
          </a:prstGeom>
          <a:solidFill>
            <a:srgbClr val="F5F6FB"/>
          </a:solidFill>
          <a:ln w="9525">
            <a:solidFill>
              <a:srgbClr val="E3E5EE"/>
            </a:solidFill>
            <a:prstDash val="solid"/>
          </a:ln>
        </p:spPr>
      </p:sp>
      <p:sp>
        <p:nvSpPr>
          <p:cNvPr id="20" name="Text 18"/>
          <p:cNvSpPr txBox="1"/>
          <p:nvPr/>
        </p:nvSpPr>
        <p:spPr>
          <a:xfrm>
            <a:off x="7497851" y="3456432"/>
            <a:ext cx="1737360" cy="2194560"/>
          </a:xfrm>
          <a:prstGeom prst="rect">
            <a:avLst/>
          </a:prstGeom>
          <a:noFill/>
          <a:ln/>
        </p:spPr>
        <p:txBody>
          <a:bodyPr wrap="square" lIns="0" tIns="0" rIns="0" bIns="0" rtlCol="0" anchor="t"/>
          <a:lstStyle/>
          <a:p>
            <a:pPr indent="0" marL="0">
              <a:buNone/>
            </a:pPr>
            <a:r>
              <a:rPr lang="en-US" sz="1550" dirty="0">
                <a:solidFill>
                  <a:srgbClr val="1B1C22"/>
                </a:solidFill>
                <a:latin typeface="Calibri" pitchFamily="34" charset="0"/>
                <a:ea typeface="Calibri" pitchFamily="34" charset="-122"/>
                <a:cs typeface="Calibri" pitchFamily="34" charset="-120"/>
              </a:rPr>
              <a:t>Marcar las actividades FEL ya hechas con su evidencia; cumplir H0.</a:t>
            </a:r>
            <a:endParaRPr lang="en-US" sz="1550" dirty="0"/>
          </a:p>
        </p:txBody>
      </p:sp>
      <p:sp>
        <p:nvSpPr>
          <p:cNvPr id="21" name="Shape 19"/>
          <p:cNvSpPr/>
          <p:nvPr/>
        </p:nvSpPr>
        <p:spPr>
          <a:xfrm>
            <a:off x="10362895" y="2468880"/>
            <a:ext cx="548640" cy="548640"/>
          </a:xfrm>
          <a:prstGeom prst="ellipse">
            <a:avLst/>
          </a:prstGeom>
          <a:solidFill>
            <a:srgbClr val="FFC107"/>
          </a:solidFill>
          <a:ln w="38100">
            <a:solidFill>
              <a:srgbClr val="FFFFFF"/>
            </a:solidFill>
            <a:prstDash val="solid"/>
          </a:ln>
        </p:spPr>
      </p:sp>
      <p:sp>
        <p:nvSpPr>
          <p:cNvPr id="22" name="Text 20"/>
          <p:cNvSpPr txBox="1"/>
          <p:nvPr/>
        </p:nvSpPr>
        <p:spPr>
          <a:xfrm>
            <a:off x="9631375" y="1691640"/>
            <a:ext cx="2011680" cy="548640"/>
          </a:xfrm>
          <a:prstGeom prst="rect">
            <a:avLst/>
          </a:prstGeom>
          <a:noFill/>
          <a:ln/>
        </p:spPr>
        <p:txBody>
          <a:bodyPr wrap="square" lIns="0" tIns="0" rIns="0" bIns="0" rtlCol="0" anchor="b"/>
          <a:lstStyle/>
          <a:p>
            <a:pPr algn="ctr" indent="0" marL="0">
              <a:buNone/>
            </a:pPr>
            <a:r>
              <a:rPr lang="en-US" sz="1800" b="1" dirty="0">
                <a:solidFill>
                  <a:srgbClr val="283593"/>
                </a:solidFill>
                <a:latin typeface="Calibri" pitchFamily="34" charset="0"/>
                <a:ea typeface="Calibri" pitchFamily="34" charset="-122"/>
                <a:cs typeface="Calibri" pitchFamily="34" charset="-120"/>
              </a:rPr>
              <a:t>Semana 4</a:t>
            </a:r>
            <a:endParaRPr lang="en-US" sz="1800" dirty="0"/>
          </a:p>
        </p:txBody>
      </p:sp>
      <p:sp>
        <p:nvSpPr>
          <p:cNvPr id="23" name="Shape 21"/>
          <p:cNvSpPr/>
          <p:nvPr/>
        </p:nvSpPr>
        <p:spPr>
          <a:xfrm>
            <a:off x="9631375" y="3291840"/>
            <a:ext cx="2011680" cy="2468880"/>
          </a:xfrm>
          <a:prstGeom prst="roundRect">
            <a:avLst>
              <a:gd name="adj" fmla="val 4545"/>
            </a:avLst>
          </a:prstGeom>
          <a:solidFill>
            <a:srgbClr val="F5F6FB"/>
          </a:solidFill>
          <a:ln w="9525">
            <a:solidFill>
              <a:srgbClr val="E3E5EE"/>
            </a:solidFill>
            <a:prstDash val="solid"/>
          </a:ln>
        </p:spPr>
      </p:sp>
      <p:sp>
        <p:nvSpPr>
          <p:cNvPr id="24" name="Text 22"/>
          <p:cNvSpPr txBox="1"/>
          <p:nvPr/>
        </p:nvSpPr>
        <p:spPr>
          <a:xfrm>
            <a:off x="9768535" y="3456432"/>
            <a:ext cx="1737360" cy="2194560"/>
          </a:xfrm>
          <a:prstGeom prst="rect">
            <a:avLst/>
          </a:prstGeom>
          <a:noFill/>
          <a:ln/>
        </p:spPr>
        <p:txBody>
          <a:bodyPr wrap="square" lIns="0" tIns="0" rIns="0" bIns="0" rtlCol="0" anchor="t"/>
          <a:lstStyle/>
          <a:p>
            <a:pPr indent="0" marL="0">
              <a:buNone/>
            </a:pPr>
            <a:r>
              <a:rPr lang="en-US" sz="1550" dirty="0">
                <a:solidFill>
                  <a:srgbClr val="1B1C22"/>
                </a:solidFill>
                <a:latin typeface="Calibri" pitchFamily="34" charset="0"/>
                <a:ea typeface="Calibri" pitchFamily="34" charset="-122"/>
                <a:cs typeface="Calibri" pitchFamily="34" charset="-120"/>
              </a:rPr>
              <a:t>Primera reunión semanal con el dashboard; empezar la rutina de los lunes.</a:t>
            </a:r>
            <a:endParaRPr lang="en-US" sz="1550" dirty="0"/>
          </a:p>
        </p:txBody>
      </p:sp>
      <p:sp>
        <p:nvSpPr>
          <p:cNvPr id="25" name="Text 23"/>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Uso diario</a:t>
            </a:r>
            <a:endParaRPr lang="en-US" sz="1000" dirty="0"/>
          </a:p>
        </p:txBody>
      </p:sp>
      <p:sp>
        <p:nvSpPr>
          <p:cNvPr id="26" name="Text 24"/>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125</a:t>
            </a:r>
            <a:endParaRPr lang="en-US" sz="10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Buenas prácticas y errores comunes</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Lo que hace que los números signifiquen algo</a:t>
            </a:r>
            <a:endParaRPr lang="en-US" sz="1500" dirty="0"/>
          </a:p>
        </p:txBody>
      </p:sp>
      <p:sp>
        <p:nvSpPr>
          <p:cNvPr id="4" name="Shape 2"/>
          <p:cNvSpPr/>
          <p:nvPr/>
        </p:nvSpPr>
        <p:spPr>
          <a:xfrm>
            <a:off x="548640" y="1554480"/>
            <a:ext cx="5364328" cy="4709160"/>
          </a:xfrm>
          <a:prstGeom prst="roundRect">
            <a:avLst>
              <a:gd name="adj" fmla="val 1942"/>
            </a:avLst>
          </a:prstGeom>
          <a:solidFill>
            <a:srgbClr val="F5F6FB"/>
          </a:solidFill>
          <a:ln w="9525">
            <a:solidFill>
              <a:srgbClr val="E3E5EE"/>
            </a:solidFill>
            <a:prstDash val="solid"/>
          </a:ln>
        </p:spPr>
      </p:sp>
      <p:sp>
        <p:nvSpPr>
          <p:cNvPr id="5" name="Shape 3"/>
          <p:cNvSpPr/>
          <p:nvPr/>
        </p:nvSpPr>
        <p:spPr>
          <a:xfrm>
            <a:off x="822960" y="1810512"/>
            <a:ext cx="566928" cy="566928"/>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950519" y="1938071"/>
            <a:ext cx="311810" cy="311810"/>
          </a:xfrm>
          <a:prstGeom prst="rect">
            <a:avLst/>
          </a:prstGeom>
        </p:spPr>
      </p:pic>
      <p:sp>
        <p:nvSpPr>
          <p:cNvPr id="7" name="Text 4"/>
          <p:cNvSpPr txBox="1"/>
          <p:nvPr/>
        </p:nvSpPr>
        <p:spPr>
          <a:xfrm>
            <a:off x="1554480" y="1810512"/>
            <a:ext cx="4084168" cy="566928"/>
          </a:xfrm>
          <a:prstGeom prst="rect">
            <a:avLst/>
          </a:prstGeom>
          <a:noFill/>
          <a:ln/>
        </p:spPr>
        <p:txBody>
          <a:bodyPr wrap="square" lIns="0" tIns="0" rIns="0" bIns="0" rtlCol="0" anchor="ctr"/>
          <a:lstStyle/>
          <a:p>
            <a:pPr indent="0" marL="0">
              <a:buNone/>
            </a:pPr>
            <a:r>
              <a:rPr lang="en-US" sz="2100" b="1" dirty="0">
                <a:solidFill>
                  <a:srgbClr val="0CA30C"/>
                </a:solidFill>
                <a:latin typeface="Calibri" pitchFamily="34" charset="0"/>
                <a:ea typeface="Calibri" pitchFamily="34" charset="-122"/>
                <a:cs typeface="Calibri" pitchFamily="34" charset="-120"/>
              </a:rPr>
              <a:t>Buenas prácticas</a:t>
            </a:r>
            <a:endParaRPr lang="en-US" sz="2100" dirty="0"/>
          </a:p>
        </p:txBody>
      </p:sp>
      <p:sp>
        <p:nvSpPr>
          <p:cNvPr id="8" name="Text 5"/>
          <p:cNvSpPr txBox="1"/>
          <p:nvPr/>
        </p:nvSpPr>
        <p:spPr>
          <a:xfrm>
            <a:off x="868680" y="2606040"/>
            <a:ext cx="4724248" cy="3474720"/>
          </a:xfrm>
          <a:prstGeom prst="rect">
            <a:avLst/>
          </a:prstGeom>
          <a:noFill/>
          <a:ln/>
        </p:spPr>
        <p:txBody>
          <a:bodyPr wrap="square" lIns="0" tIns="0" rIns="0" bIns="0" rtlCol="0" anchor="t">
            <a:normAutofit/>
          </a:bodyPr>
          <a:lstStyle/>
          <a:p>
            <a:pPr marL="203200" indent="-203200">
              <a:spcAft>
                <a:spcPts val="1000"/>
              </a:spcAft>
              <a:buSzPct val="100000"/>
              <a:buChar char="•"/>
            </a:pPr>
            <a:r>
              <a:rPr lang="en-US" sz="1600" dirty="0">
                <a:solidFill>
                  <a:srgbClr val="1B1C22"/>
                </a:solidFill>
                <a:latin typeface="Calibri" pitchFamily="34" charset="0"/>
                <a:ea typeface="Calibri" pitchFamily="34" charset="-122"/>
                <a:cs typeface="Calibri" pitchFamily="34" charset="-120"/>
              </a:rPr>
              <a:t>Registrar la evidencia en el momento en que se cumple el hito.</a:t>
            </a:r>
            <a:endParaRPr lang="en-US" sz="1600" dirty="0"/>
          </a:p>
          <a:p>
            <a:pPr marL="203200" indent="-203200">
              <a:spcAft>
                <a:spcPts val="1000"/>
              </a:spcAft>
              <a:buSzPct val="100000"/>
              <a:buChar char="•"/>
            </a:pPr>
            <a:r>
              <a:rPr lang="en-US" sz="1600" dirty="0">
                <a:solidFill>
                  <a:srgbClr val="1B1C22"/>
                </a:solidFill>
                <a:latin typeface="Calibri" pitchFamily="34" charset="0"/>
                <a:ea typeface="Calibri" pitchFamily="34" charset="-122"/>
                <a:cs typeface="Calibri" pitchFamily="34" charset="-120"/>
              </a:rPr>
              <a:t>Replanificar un hito con una fecha realista en lugar de dejarlo atrasado sin explicación.</a:t>
            </a:r>
            <a:endParaRPr lang="en-US" sz="1600" dirty="0"/>
          </a:p>
          <a:p>
            <a:pPr marL="203200" indent="-203200">
              <a:spcAft>
                <a:spcPts val="1000"/>
              </a:spcAft>
              <a:buSzPct val="100000"/>
              <a:buChar char="•"/>
            </a:pPr>
            <a:r>
              <a:rPr lang="en-US" sz="1600" dirty="0">
                <a:solidFill>
                  <a:srgbClr val="1B1C22"/>
                </a:solidFill>
                <a:latin typeface="Calibri" pitchFamily="34" charset="0"/>
                <a:ea typeface="Calibri" pitchFamily="34" charset="-122"/>
                <a:cs typeface="Calibri" pitchFamily="34" charset="-120"/>
              </a:rPr>
              <a:t>Usar «No aplica» solo con una razón escrita.</a:t>
            </a:r>
            <a:endParaRPr lang="en-US" sz="1600" dirty="0"/>
          </a:p>
          <a:p>
            <a:pPr marL="203200" indent="-203200">
              <a:spcAft>
                <a:spcPts val="1000"/>
              </a:spcAft>
              <a:buSzPct val="100000"/>
              <a:buChar char="•"/>
            </a:pPr>
            <a:r>
              <a:rPr lang="en-US" sz="1600" dirty="0">
                <a:solidFill>
                  <a:srgbClr val="1B1C22"/>
                </a:solidFill>
                <a:latin typeface="Calibri" pitchFamily="34" charset="0"/>
                <a:ea typeface="Calibri" pitchFamily="34" charset="-122"/>
                <a:cs typeface="Calibri" pitchFamily="34" charset="-120"/>
              </a:rPr>
              <a:t>Abrir el proyecto al menos una vez por semana (instantánea y pausa de Supabase).</a:t>
            </a:r>
            <a:endParaRPr lang="en-US" sz="1600" dirty="0"/>
          </a:p>
          <a:p>
            <a:pPr marL="203200" indent="-203200">
              <a:spcAft>
                <a:spcPts val="1000"/>
              </a:spcAft>
              <a:buSzPct val="100000"/>
              <a:buChar char="•"/>
            </a:pPr>
            <a:r>
              <a:rPr lang="en-US" sz="1600" dirty="0">
                <a:solidFill>
                  <a:srgbClr val="1B1C22"/>
                </a:solidFill>
                <a:latin typeface="Calibri" pitchFamily="34" charset="0"/>
                <a:ea typeface="Calibri" pitchFamily="34" charset="-122"/>
                <a:cs typeface="Calibri" pitchFamily="34" charset="-120"/>
              </a:rPr>
              <a:t>Mantener el equipo al día cuando alguien cambia de rol.</a:t>
            </a:r>
            <a:endParaRPr lang="en-US" sz="1600" dirty="0"/>
          </a:p>
        </p:txBody>
      </p:sp>
      <p:sp>
        <p:nvSpPr>
          <p:cNvPr id="9" name="Shape 6"/>
          <p:cNvSpPr/>
          <p:nvPr/>
        </p:nvSpPr>
        <p:spPr>
          <a:xfrm>
            <a:off x="6278728" y="1554480"/>
            <a:ext cx="5364328" cy="4709160"/>
          </a:xfrm>
          <a:prstGeom prst="roundRect">
            <a:avLst>
              <a:gd name="adj" fmla="val 1942"/>
            </a:avLst>
          </a:prstGeom>
          <a:solidFill>
            <a:srgbClr val="F5F6FB"/>
          </a:solidFill>
          <a:ln w="9525">
            <a:solidFill>
              <a:srgbClr val="E3E5EE"/>
            </a:solidFill>
            <a:prstDash val="solid"/>
          </a:ln>
        </p:spPr>
      </p:sp>
      <p:sp>
        <p:nvSpPr>
          <p:cNvPr id="10" name="Shape 7"/>
          <p:cNvSpPr/>
          <p:nvPr/>
        </p:nvSpPr>
        <p:spPr>
          <a:xfrm>
            <a:off x="6553048" y="1810512"/>
            <a:ext cx="566928" cy="566928"/>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6680606" y="1938071"/>
            <a:ext cx="311810" cy="311810"/>
          </a:xfrm>
          <a:prstGeom prst="rect">
            <a:avLst/>
          </a:prstGeom>
        </p:spPr>
      </p:pic>
      <p:sp>
        <p:nvSpPr>
          <p:cNvPr id="12" name="Text 8"/>
          <p:cNvSpPr txBox="1"/>
          <p:nvPr/>
        </p:nvSpPr>
        <p:spPr>
          <a:xfrm>
            <a:off x="7284568" y="1810512"/>
            <a:ext cx="4084168" cy="566928"/>
          </a:xfrm>
          <a:prstGeom prst="rect">
            <a:avLst/>
          </a:prstGeom>
          <a:noFill/>
          <a:ln/>
        </p:spPr>
        <p:txBody>
          <a:bodyPr wrap="square" lIns="0" tIns="0" rIns="0" bIns="0" rtlCol="0" anchor="ctr"/>
          <a:lstStyle/>
          <a:p>
            <a:pPr indent="0" marL="0">
              <a:buNone/>
            </a:pPr>
            <a:r>
              <a:rPr lang="en-US" sz="2100" b="1" dirty="0">
                <a:solidFill>
                  <a:srgbClr val="D03B3B"/>
                </a:solidFill>
                <a:latin typeface="Calibri" pitchFamily="34" charset="0"/>
                <a:ea typeface="Calibri" pitchFamily="34" charset="-122"/>
                <a:cs typeface="Calibri" pitchFamily="34" charset="-120"/>
              </a:rPr>
              <a:t>Errores comunes</a:t>
            </a:r>
            <a:endParaRPr lang="en-US" sz="2100" dirty="0"/>
          </a:p>
        </p:txBody>
      </p:sp>
      <p:sp>
        <p:nvSpPr>
          <p:cNvPr id="13" name="Text 9"/>
          <p:cNvSpPr txBox="1"/>
          <p:nvPr/>
        </p:nvSpPr>
        <p:spPr>
          <a:xfrm>
            <a:off x="6598768" y="2606040"/>
            <a:ext cx="4724248" cy="3474720"/>
          </a:xfrm>
          <a:prstGeom prst="rect">
            <a:avLst/>
          </a:prstGeom>
          <a:noFill/>
          <a:ln/>
        </p:spPr>
        <p:txBody>
          <a:bodyPr wrap="square" lIns="0" tIns="0" rIns="0" bIns="0" rtlCol="0" anchor="t">
            <a:normAutofit/>
          </a:bodyPr>
          <a:lstStyle/>
          <a:p>
            <a:pPr marL="203200" indent="-203200">
              <a:spcAft>
                <a:spcPts val="1000"/>
              </a:spcAft>
              <a:buSzPct val="100000"/>
              <a:buChar char="•"/>
            </a:pPr>
            <a:r>
              <a:rPr lang="en-US" sz="1600" dirty="0">
                <a:solidFill>
                  <a:srgbClr val="1B1C22"/>
                </a:solidFill>
                <a:latin typeface="Calibri" pitchFamily="34" charset="0"/>
                <a:ea typeface="Calibri" pitchFamily="34" charset="-122"/>
                <a:cs typeface="Calibri" pitchFamily="34" charset="-120"/>
              </a:rPr>
              <a:t>Marcar actividades completas «porque casi están»: el % deja de ser confiable.</a:t>
            </a:r>
            <a:endParaRPr lang="en-US" sz="1600" dirty="0"/>
          </a:p>
          <a:p>
            <a:pPr marL="203200" indent="-203200">
              <a:spcAft>
                <a:spcPts val="1000"/>
              </a:spcAft>
              <a:buSzPct val="100000"/>
              <a:buChar char="•"/>
            </a:pPr>
            <a:r>
              <a:rPr lang="en-US" sz="1600" dirty="0">
                <a:solidFill>
                  <a:srgbClr val="1B1C22"/>
                </a:solidFill>
                <a:latin typeface="Calibri" pitchFamily="34" charset="0"/>
                <a:ea typeface="Calibri" pitchFamily="34" charset="-122"/>
                <a:cs typeface="Calibri" pitchFamily="34" charset="-120"/>
              </a:rPr>
              <a:t>Crear un proyecto por cada fase: las fases van dentro de un mismo proyecto.</a:t>
            </a:r>
            <a:endParaRPr lang="en-US" sz="1600" dirty="0"/>
          </a:p>
          <a:p>
            <a:pPr marL="203200" indent="-203200">
              <a:spcAft>
                <a:spcPts val="1000"/>
              </a:spcAft>
              <a:buSzPct val="100000"/>
              <a:buChar char="•"/>
            </a:pPr>
            <a:r>
              <a:rPr lang="en-US" sz="1600" dirty="0">
                <a:solidFill>
                  <a:srgbClr val="1B1C22"/>
                </a:solidFill>
                <a:latin typeface="Calibri" pitchFamily="34" charset="0"/>
                <a:ea typeface="Calibri" pitchFamily="34" charset="-122"/>
                <a:cs typeface="Calibri" pitchFamily="34" charset="-120"/>
              </a:rPr>
              <a:t>Confundir fase del proyecto con etapa del ciclo de vida.</a:t>
            </a:r>
            <a:endParaRPr lang="en-US" sz="1600" dirty="0"/>
          </a:p>
          <a:p>
            <a:pPr marL="203200" indent="-203200">
              <a:spcAft>
                <a:spcPts val="1000"/>
              </a:spcAft>
              <a:buSzPct val="100000"/>
              <a:buChar char="•"/>
            </a:pPr>
            <a:r>
              <a:rPr lang="en-US" sz="1600" dirty="0">
                <a:solidFill>
                  <a:srgbClr val="1B1C22"/>
                </a:solidFill>
                <a:latin typeface="Calibri" pitchFamily="34" charset="0"/>
                <a:ea typeface="Calibri" pitchFamily="34" charset="-122"/>
                <a:cs typeface="Calibri" pitchFamily="34" charset="-120"/>
              </a:rPr>
              <a:t>Dejar el AWP Champion sin asignar o a tiempo parcial.</a:t>
            </a:r>
            <a:endParaRPr lang="en-US" sz="1600" dirty="0"/>
          </a:p>
          <a:p>
            <a:pPr marL="203200" indent="-203200">
              <a:spcAft>
                <a:spcPts val="1000"/>
              </a:spcAft>
              <a:buSzPct val="100000"/>
              <a:buChar char="•"/>
            </a:pPr>
            <a:r>
              <a:rPr lang="en-US" sz="1600" dirty="0">
                <a:solidFill>
                  <a:srgbClr val="1B1C22"/>
                </a:solidFill>
                <a:latin typeface="Calibri" pitchFamily="34" charset="0"/>
                <a:ea typeface="Calibri" pitchFamily="34" charset="-122"/>
                <a:cs typeface="Calibri" pitchFamily="34" charset="-120"/>
              </a:rPr>
              <a:t>Compartir la contraseña en lugar de pedir un usuario propio.</a:t>
            </a:r>
            <a:endParaRPr lang="en-US" sz="1600" dirty="0"/>
          </a:p>
        </p:txBody>
      </p:sp>
      <p:sp>
        <p:nvSpPr>
          <p:cNvPr id="14" name="Text 10"/>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Uso diario</a:t>
            </a:r>
            <a:endParaRPr lang="en-US" sz="1000" dirty="0"/>
          </a:p>
        </p:txBody>
      </p:sp>
      <p:sp>
        <p:nvSpPr>
          <p:cNvPr id="15" name="Text 11"/>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126</a:t>
            </a:r>
            <a:endParaRPr lang="en-US" sz="10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Preguntas frecuentes</a:t>
            </a:r>
            <a:endParaRPr lang="en-US" sz="2800" dirty="0"/>
          </a:p>
        </p:txBody>
      </p:sp>
      <p:sp>
        <p:nvSpPr>
          <p:cNvPr id="3" name="Shape 1"/>
          <p:cNvSpPr/>
          <p:nvPr/>
        </p:nvSpPr>
        <p:spPr>
          <a:xfrm>
            <a:off x="548640" y="1325880"/>
            <a:ext cx="5410048" cy="1078992"/>
          </a:xfrm>
          <a:prstGeom prst="roundRect">
            <a:avLst>
              <a:gd name="adj" fmla="val 6780"/>
            </a:avLst>
          </a:prstGeom>
          <a:solidFill>
            <a:srgbClr val="F5F6FB"/>
          </a:solidFill>
          <a:ln w="9525">
            <a:solidFill>
              <a:srgbClr val="E3E5EE"/>
            </a:solidFill>
            <a:prstDash val="solid"/>
          </a:ln>
        </p:spPr>
      </p:sp>
      <p:sp>
        <p:nvSpPr>
          <p:cNvPr id="4" name="Shape 2"/>
          <p:cNvSpPr/>
          <p:nvPr/>
        </p:nvSpPr>
        <p:spPr>
          <a:xfrm>
            <a:off x="713232" y="1508760"/>
            <a:ext cx="402336" cy="402336"/>
          </a:xfrm>
          <a:prstGeom prst="ellipse">
            <a:avLst/>
          </a:prstGeom>
          <a:solidFill>
            <a:srgbClr val="E8EAF6"/>
          </a:solidFill>
          <a:ln w="12700">
            <a:solidFill>
              <a:srgbClr val="E8EAF6"/>
            </a:solidFill>
            <a:prstDash val="solid"/>
          </a:ln>
        </p:spPr>
      </p:sp>
      <p:pic>
        <p:nvPicPr>
          <p:cNvPr id="5" name="Image 0" descr="preencoded.png">    </p:cNvPr>
          <p:cNvPicPr>
            <a:picLocks noChangeAspect="1"/>
          </p:cNvPicPr>
          <p:nvPr/>
        </p:nvPicPr>
        <p:blipFill>
          <a:blip r:embed="rId1"/>
          <a:stretch>
            <a:fillRect/>
          </a:stretch>
        </p:blipFill>
        <p:spPr>
          <a:xfrm>
            <a:off x="803758" y="1599286"/>
            <a:ext cx="221285" cy="221285"/>
          </a:xfrm>
          <a:prstGeom prst="rect">
            <a:avLst/>
          </a:prstGeom>
        </p:spPr>
      </p:pic>
      <p:sp>
        <p:nvSpPr>
          <p:cNvPr id="6" name="Text 3"/>
          <p:cNvSpPr txBox="1"/>
          <p:nvPr/>
        </p:nvSpPr>
        <p:spPr>
          <a:xfrm>
            <a:off x="1261872" y="1453896"/>
            <a:ext cx="4541368" cy="859536"/>
          </a:xfrm>
          <a:prstGeom prst="rect">
            <a:avLst/>
          </a:prstGeom>
          <a:noFill/>
          <a:ln/>
        </p:spPr>
        <p:txBody>
          <a:bodyPr wrap="square" lIns="0" tIns="0" rIns="0" bIns="0" rtlCol="0" anchor="t">
            <a:normAutofit/>
          </a:bodyPr>
          <a:lstStyle/>
          <a:p>
            <a:pPr indent="0" marL="0">
              <a:spcAft>
                <a:spcPts val="300"/>
              </a:spcAft>
              <a:buNone/>
            </a:pPr>
            <a:r>
              <a:rPr lang="en-US" sz="1450" b="1" dirty="0">
                <a:solidFill>
                  <a:srgbClr val="1B1C22"/>
                </a:solidFill>
                <a:latin typeface="Calibri" pitchFamily="34" charset="0"/>
                <a:ea typeface="Calibri" pitchFamily="34" charset="-122"/>
                <a:cs typeface="Calibri" pitchFamily="34" charset="-120"/>
              </a:rPr>
              <a:t>¿Necesito instalar algo?</a:t>
            </a:r>
            <a:endParaRPr lang="en-US" sz="1450" dirty="0"/>
          </a:p>
          <a:p>
            <a:pPr indent="0" marL="0">
              <a:spcAft>
                <a:spcPts val="300"/>
              </a:spcAft>
              <a:buNone/>
            </a:pPr>
            <a:r>
              <a:rPr lang="en-US" sz="1300" dirty="0">
                <a:solidFill>
                  <a:srgbClr val="5B5E6B"/>
                </a:solidFill>
                <a:latin typeface="Calibri" pitchFamily="34" charset="0"/>
                <a:ea typeface="Calibri" pitchFamily="34" charset="-122"/>
                <a:cs typeface="Calibri" pitchFamily="34" charset="-120"/>
              </a:rPr>
              <a:t>No. Solo un navegador. En el celular puedes agregarla a la pantalla de inicio.</a:t>
            </a:r>
            <a:endParaRPr lang="en-US" sz="1450" dirty="0"/>
          </a:p>
        </p:txBody>
      </p:sp>
      <p:sp>
        <p:nvSpPr>
          <p:cNvPr id="7" name="Shape 4"/>
          <p:cNvSpPr/>
          <p:nvPr/>
        </p:nvSpPr>
        <p:spPr>
          <a:xfrm>
            <a:off x="548640" y="2560320"/>
            <a:ext cx="5410048" cy="1078992"/>
          </a:xfrm>
          <a:prstGeom prst="roundRect">
            <a:avLst>
              <a:gd name="adj" fmla="val 6780"/>
            </a:avLst>
          </a:prstGeom>
          <a:solidFill>
            <a:srgbClr val="F5F6FB"/>
          </a:solidFill>
          <a:ln w="9525">
            <a:solidFill>
              <a:srgbClr val="E3E5EE"/>
            </a:solidFill>
            <a:prstDash val="solid"/>
          </a:ln>
        </p:spPr>
      </p:sp>
      <p:sp>
        <p:nvSpPr>
          <p:cNvPr id="8" name="Shape 5"/>
          <p:cNvSpPr/>
          <p:nvPr/>
        </p:nvSpPr>
        <p:spPr>
          <a:xfrm>
            <a:off x="713232" y="2743200"/>
            <a:ext cx="402336" cy="402336"/>
          </a:xfrm>
          <a:prstGeom prst="ellipse">
            <a:avLst/>
          </a:prstGeom>
          <a:solidFill>
            <a:srgbClr val="E8EAF6"/>
          </a:solidFill>
          <a:ln w="12700">
            <a:solidFill>
              <a:srgbClr val="E8EAF6"/>
            </a:solidFill>
            <a:prstDash val="solid"/>
          </a:ln>
        </p:spPr>
      </p:sp>
      <p:pic>
        <p:nvPicPr>
          <p:cNvPr id="9" name="Image 1" descr="preencoded.png">    </p:cNvPr>
          <p:cNvPicPr>
            <a:picLocks noChangeAspect="1"/>
          </p:cNvPicPr>
          <p:nvPr/>
        </p:nvPicPr>
        <p:blipFill>
          <a:blip r:embed="rId2"/>
          <a:stretch>
            <a:fillRect/>
          </a:stretch>
        </p:blipFill>
        <p:spPr>
          <a:xfrm>
            <a:off x="803758" y="2833726"/>
            <a:ext cx="221285" cy="221285"/>
          </a:xfrm>
          <a:prstGeom prst="rect">
            <a:avLst/>
          </a:prstGeom>
        </p:spPr>
      </p:pic>
      <p:sp>
        <p:nvSpPr>
          <p:cNvPr id="10" name="Text 6"/>
          <p:cNvSpPr txBox="1"/>
          <p:nvPr/>
        </p:nvSpPr>
        <p:spPr>
          <a:xfrm>
            <a:off x="1261872" y="2688336"/>
            <a:ext cx="4541368" cy="859536"/>
          </a:xfrm>
          <a:prstGeom prst="rect">
            <a:avLst/>
          </a:prstGeom>
          <a:noFill/>
          <a:ln/>
        </p:spPr>
        <p:txBody>
          <a:bodyPr wrap="square" lIns="0" tIns="0" rIns="0" bIns="0" rtlCol="0" anchor="t">
            <a:normAutofit/>
          </a:bodyPr>
          <a:lstStyle/>
          <a:p>
            <a:pPr indent="0" marL="0">
              <a:spcAft>
                <a:spcPts val="300"/>
              </a:spcAft>
              <a:buNone/>
            </a:pPr>
            <a:r>
              <a:rPr lang="en-US" sz="1450" b="1" dirty="0">
                <a:solidFill>
                  <a:srgbClr val="1B1C22"/>
                </a:solidFill>
                <a:latin typeface="Calibri" pitchFamily="34" charset="0"/>
                <a:ea typeface="Calibri" pitchFamily="34" charset="-122"/>
                <a:cs typeface="Calibri" pitchFamily="34" charset="-120"/>
              </a:rPr>
              <a:t>¿Puedo ver las plantillas sin usuario?</a:t>
            </a:r>
            <a:endParaRPr lang="en-US" sz="1450" dirty="0"/>
          </a:p>
          <a:p>
            <a:pPr indent="0" marL="0">
              <a:spcAft>
                <a:spcPts val="300"/>
              </a:spcAft>
              <a:buNone/>
            </a:pPr>
            <a:r>
              <a:rPr lang="en-US" sz="1300" dirty="0">
                <a:solidFill>
                  <a:srgbClr val="5B5E6B"/>
                </a:solidFill>
                <a:latin typeface="Calibri" pitchFamily="34" charset="0"/>
                <a:ea typeface="Calibri" pitchFamily="34" charset="-122"/>
                <a:cs typeface="Calibri" pitchFamily="34" charset="-120"/>
              </a:rPr>
              <a:t>Sí. La biblioteca de Recursos es pública.</a:t>
            </a:r>
            <a:endParaRPr lang="en-US" sz="1450" dirty="0"/>
          </a:p>
        </p:txBody>
      </p:sp>
      <p:sp>
        <p:nvSpPr>
          <p:cNvPr id="11" name="Shape 7"/>
          <p:cNvSpPr/>
          <p:nvPr/>
        </p:nvSpPr>
        <p:spPr>
          <a:xfrm>
            <a:off x="548640" y="3794760"/>
            <a:ext cx="5410048" cy="1078992"/>
          </a:xfrm>
          <a:prstGeom prst="roundRect">
            <a:avLst>
              <a:gd name="adj" fmla="val 6780"/>
            </a:avLst>
          </a:prstGeom>
          <a:solidFill>
            <a:srgbClr val="F5F6FB"/>
          </a:solidFill>
          <a:ln w="9525">
            <a:solidFill>
              <a:srgbClr val="E3E5EE"/>
            </a:solidFill>
            <a:prstDash val="solid"/>
          </a:ln>
        </p:spPr>
      </p:sp>
      <p:sp>
        <p:nvSpPr>
          <p:cNvPr id="12" name="Shape 8"/>
          <p:cNvSpPr/>
          <p:nvPr/>
        </p:nvSpPr>
        <p:spPr>
          <a:xfrm>
            <a:off x="713232" y="3977640"/>
            <a:ext cx="402336" cy="402336"/>
          </a:xfrm>
          <a:prstGeom prst="ellipse">
            <a:avLst/>
          </a:prstGeom>
          <a:solidFill>
            <a:srgbClr val="E8EAF6"/>
          </a:solidFill>
          <a:ln w="12700">
            <a:solidFill>
              <a:srgbClr val="E8EAF6"/>
            </a:solidFill>
            <a:prstDash val="solid"/>
          </a:ln>
        </p:spPr>
      </p:sp>
      <p:pic>
        <p:nvPicPr>
          <p:cNvPr id="13" name="Image 2" descr="preencoded.png">    </p:cNvPr>
          <p:cNvPicPr>
            <a:picLocks noChangeAspect="1"/>
          </p:cNvPicPr>
          <p:nvPr/>
        </p:nvPicPr>
        <p:blipFill>
          <a:blip r:embed="rId3"/>
          <a:stretch>
            <a:fillRect/>
          </a:stretch>
        </p:blipFill>
        <p:spPr>
          <a:xfrm>
            <a:off x="803758" y="4068166"/>
            <a:ext cx="221285" cy="221285"/>
          </a:xfrm>
          <a:prstGeom prst="rect">
            <a:avLst/>
          </a:prstGeom>
        </p:spPr>
      </p:pic>
      <p:sp>
        <p:nvSpPr>
          <p:cNvPr id="14" name="Text 9"/>
          <p:cNvSpPr txBox="1"/>
          <p:nvPr/>
        </p:nvSpPr>
        <p:spPr>
          <a:xfrm>
            <a:off x="1261872" y="3922776"/>
            <a:ext cx="4541368" cy="859536"/>
          </a:xfrm>
          <a:prstGeom prst="rect">
            <a:avLst/>
          </a:prstGeom>
          <a:noFill/>
          <a:ln/>
        </p:spPr>
        <p:txBody>
          <a:bodyPr wrap="square" lIns="0" tIns="0" rIns="0" bIns="0" rtlCol="0" anchor="t">
            <a:normAutofit/>
          </a:bodyPr>
          <a:lstStyle/>
          <a:p>
            <a:pPr indent="0" marL="0">
              <a:spcAft>
                <a:spcPts val="300"/>
              </a:spcAft>
              <a:buNone/>
            </a:pPr>
            <a:r>
              <a:rPr lang="en-US" sz="1450" b="1" dirty="0">
                <a:solidFill>
                  <a:srgbClr val="1B1C22"/>
                </a:solidFill>
                <a:latin typeface="Calibri" pitchFamily="34" charset="0"/>
                <a:ea typeface="Calibri" pitchFamily="34" charset="-122"/>
                <a:cs typeface="Calibri" pitchFamily="34" charset="-120"/>
              </a:rPr>
              <a:t>¿Otro usuario puede ver mis proyectos?</a:t>
            </a:r>
            <a:endParaRPr lang="en-US" sz="1450" dirty="0"/>
          </a:p>
          <a:p>
            <a:pPr indent="0" marL="0">
              <a:spcAft>
                <a:spcPts val="300"/>
              </a:spcAft>
              <a:buNone/>
            </a:pPr>
            <a:r>
              <a:rPr lang="en-US" sz="1300" dirty="0">
                <a:solidFill>
                  <a:srgbClr val="5B5E6B"/>
                </a:solidFill>
                <a:latin typeface="Calibri" pitchFamily="34" charset="0"/>
                <a:ea typeface="Calibri" pitchFamily="34" charset="-122"/>
                <a:cs typeface="Calibri" pitchFamily="34" charset="-120"/>
              </a:rPr>
              <a:t>No. Solo los miembros del proyecto; hoy, su propietario.</a:t>
            </a:r>
            <a:endParaRPr lang="en-US" sz="1450" dirty="0"/>
          </a:p>
        </p:txBody>
      </p:sp>
      <p:sp>
        <p:nvSpPr>
          <p:cNvPr id="15" name="Shape 10"/>
          <p:cNvSpPr/>
          <p:nvPr/>
        </p:nvSpPr>
        <p:spPr>
          <a:xfrm>
            <a:off x="548640" y="5029200"/>
            <a:ext cx="5410048" cy="1078992"/>
          </a:xfrm>
          <a:prstGeom prst="roundRect">
            <a:avLst>
              <a:gd name="adj" fmla="val 6780"/>
            </a:avLst>
          </a:prstGeom>
          <a:solidFill>
            <a:srgbClr val="F5F6FB"/>
          </a:solidFill>
          <a:ln w="9525">
            <a:solidFill>
              <a:srgbClr val="E3E5EE"/>
            </a:solidFill>
            <a:prstDash val="solid"/>
          </a:ln>
        </p:spPr>
      </p:sp>
      <p:sp>
        <p:nvSpPr>
          <p:cNvPr id="16" name="Shape 11"/>
          <p:cNvSpPr/>
          <p:nvPr/>
        </p:nvSpPr>
        <p:spPr>
          <a:xfrm>
            <a:off x="713232" y="5212080"/>
            <a:ext cx="402336" cy="402336"/>
          </a:xfrm>
          <a:prstGeom prst="ellipse">
            <a:avLst/>
          </a:prstGeom>
          <a:solidFill>
            <a:srgbClr val="E8EAF6"/>
          </a:solidFill>
          <a:ln w="12700">
            <a:solidFill>
              <a:srgbClr val="E8EAF6"/>
            </a:solidFill>
            <a:prstDash val="solid"/>
          </a:ln>
        </p:spPr>
      </p:sp>
      <p:pic>
        <p:nvPicPr>
          <p:cNvPr id="17" name="Image 3" descr="preencoded.png">    </p:cNvPr>
          <p:cNvPicPr>
            <a:picLocks noChangeAspect="1"/>
          </p:cNvPicPr>
          <p:nvPr/>
        </p:nvPicPr>
        <p:blipFill>
          <a:blip r:embed="rId4"/>
          <a:stretch>
            <a:fillRect/>
          </a:stretch>
        </p:blipFill>
        <p:spPr>
          <a:xfrm>
            <a:off x="803758" y="5302606"/>
            <a:ext cx="221285" cy="221285"/>
          </a:xfrm>
          <a:prstGeom prst="rect">
            <a:avLst/>
          </a:prstGeom>
        </p:spPr>
      </p:pic>
      <p:sp>
        <p:nvSpPr>
          <p:cNvPr id="18" name="Text 12"/>
          <p:cNvSpPr txBox="1"/>
          <p:nvPr/>
        </p:nvSpPr>
        <p:spPr>
          <a:xfrm>
            <a:off x="1261872" y="5157216"/>
            <a:ext cx="4541368" cy="859536"/>
          </a:xfrm>
          <a:prstGeom prst="rect">
            <a:avLst/>
          </a:prstGeom>
          <a:noFill/>
          <a:ln/>
        </p:spPr>
        <p:txBody>
          <a:bodyPr wrap="square" lIns="0" tIns="0" rIns="0" bIns="0" rtlCol="0" anchor="t">
            <a:normAutofit/>
          </a:bodyPr>
          <a:lstStyle/>
          <a:p>
            <a:pPr indent="0" marL="0">
              <a:spcAft>
                <a:spcPts val="300"/>
              </a:spcAft>
              <a:buNone/>
            </a:pPr>
            <a:r>
              <a:rPr lang="en-US" sz="1450" b="1" dirty="0">
                <a:solidFill>
                  <a:srgbClr val="1B1C22"/>
                </a:solidFill>
                <a:latin typeface="Calibri" pitchFamily="34" charset="0"/>
                <a:ea typeface="Calibri" pitchFamily="34" charset="-122"/>
                <a:cs typeface="Calibri" pitchFamily="34" charset="-120"/>
              </a:rPr>
              <a:t>¿Qué pasa si cierro el asistente a medias?</a:t>
            </a:r>
            <a:endParaRPr lang="en-US" sz="1450" dirty="0"/>
          </a:p>
          <a:p>
            <a:pPr indent="0" marL="0">
              <a:spcAft>
                <a:spcPts val="300"/>
              </a:spcAft>
              <a:buNone/>
            </a:pPr>
            <a:r>
              <a:rPr lang="en-US" sz="1300" dirty="0">
                <a:solidFill>
                  <a:srgbClr val="5B5E6B"/>
                </a:solidFill>
                <a:latin typeface="Calibri" pitchFamily="34" charset="0"/>
                <a:ea typeface="Calibri" pitchFamily="34" charset="-122"/>
                <a:cs typeface="Calibri" pitchFamily="34" charset="-120"/>
              </a:rPr>
              <a:t>Nada se pierde: el borrador se guarda solo y se ofrece al volver.</a:t>
            </a:r>
            <a:endParaRPr lang="en-US" sz="1450" dirty="0"/>
          </a:p>
        </p:txBody>
      </p:sp>
      <p:sp>
        <p:nvSpPr>
          <p:cNvPr id="19" name="Shape 13"/>
          <p:cNvSpPr/>
          <p:nvPr/>
        </p:nvSpPr>
        <p:spPr>
          <a:xfrm>
            <a:off x="6233008" y="1325880"/>
            <a:ext cx="5410048" cy="1078992"/>
          </a:xfrm>
          <a:prstGeom prst="roundRect">
            <a:avLst>
              <a:gd name="adj" fmla="val 6780"/>
            </a:avLst>
          </a:prstGeom>
          <a:solidFill>
            <a:srgbClr val="F5F6FB"/>
          </a:solidFill>
          <a:ln w="9525">
            <a:solidFill>
              <a:srgbClr val="E3E5EE"/>
            </a:solidFill>
            <a:prstDash val="solid"/>
          </a:ln>
        </p:spPr>
      </p:sp>
      <p:sp>
        <p:nvSpPr>
          <p:cNvPr id="20" name="Shape 14"/>
          <p:cNvSpPr/>
          <p:nvPr/>
        </p:nvSpPr>
        <p:spPr>
          <a:xfrm>
            <a:off x="6397600" y="1508760"/>
            <a:ext cx="402336" cy="402336"/>
          </a:xfrm>
          <a:prstGeom prst="ellipse">
            <a:avLst/>
          </a:prstGeom>
          <a:solidFill>
            <a:srgbClr val="E8EAF6"/>
          </a:solidFill>
          <a:ln w="12700">
            <a:solidFill>
              <a:srgbClr val="E8EAF6"/>
            </a:solidFill>
            <a:prstDash val="solid"/>
          </a:ln>
        </p:spPr>
      </p:sp>
      <p:pic>
        <p:nvPicPr>
          <p:cNvPr id="21" name="Image 4" descr="preencoded.png">    </p:cNvPr>
          <p:cNvPicPr>
            <a:picLocks noChangeAspect="1"/>
          </p:cNvPicPr>
          <p:nvPr/>
        </p:nvPicPr>
        <p:blipFill>
          <a:blip r:embed="rId5"/>
          <a:stretch>
            <a:fillRect/>
          </a:stretch>
        </p:blipFill>
        <p:spPr>
          <a:xfrm>
            <a:off x="6488125" y="1599286"/>
            <a:ext cx="221285" cy="221285"/>
          </a:xfrm>
          <a:prstGeom prst="rect">
            <a:avLst/>
          </a:prstGeom>
        </p:spPr>
      </p:pic>
      <p:sp>
        <p:nvSpPr>
          <p:cNvPr id="22" name="Text 15"/>
          <p:cNvSpPr txBox="1"/>
          <p:nvPr/>
        </p:nvSpPr>
        <p:spPr>
          <a:xfrm>
            <a:off x="6946240" y="1453896"/>
            <a:ext cx="4541368" cy="859536"/>
          </a:xfrm>
          <a:prstGeom prst="rect">
            <a:avLst/>
          </a:prstGeom>
          <a:noFill/>
          <a:ln/>
        </p:spPr>
        <p:txBody>
          <a:bodyPr wrap="square" lIns="0" tIns="0" rIns="0" bIns="0" rtlCol="0" anchor="t">
            <a:normAutofit/>
          </a:bodyPr>
          <a:lstStyle/>
          <a:p>
            <a:pPr indent="0" marL="0">
              <a:spcAft>
                <a:spcPts val="300"/>
              </a:spcAft>
              <a:buNone/>
            </a:pPr>
            <a:r>
              <a:rPr lang="en-US" sz="1450" b="1" dirty="0">
                <a:solidFill>
                  <a:srgbClr val="1B1C22"/>
                </a:solidFill>
                <a:latin typeface="Calibri" pitchFamily="34" charset="0"/>
                <a:ea typeface="Calibri" pitchFamily="34" charset="-122"/>
                <a:cs typeface="Calibri" pitchFamily="34" charset="-120"/>
              </a:rPr>
              <a:t>¿Por qué mi % bajó?</a:t>
            </a:r>
            <a:endParaRPr lang="en-US" sz="1450" dirty="0"/>
          </a:p>
          <a:p>
            <a:pPr indent="0" marL="0">
              <a:spcAft>
                <a:spcPts val="300"/>
              </a:spcAft>
              <a:buNone/>
            </a:pPr>
            <a:r>
              <a:rPr lang="en-US" sz="1300" dirty="0">
                <a:solidFill>
                  <a:srgbClr val="5B5E6B"/>
                </a:solidFill>
                <a:latin typeface="Calibri" pitchFamily="34" charset="0"/>
                <a:ea typeface="Calibri" pitchFamily="34" charset="-122"/>
                <a:cs typeface="Calibri" pitchFamily="34" charset="-120"/>
              </a:rPr>
              <a:t>Porque una actividad volvió a pendiente o pasó de «No aplica» a aplicable.</a:t>
            </a:r>
            <a:endParaRPr lang="en-US" sz="1450" dirty="0"/>
          </a:p>
        </p:txBody>
      </p:sp>
      <p:sp>
        <p:nvSpPr>
          <p:cNvPr id="23" name="Shape 16"/>
          <p:cNvSpPr/>
          <p:nvPr/>
        </p:nvSpPr>
        <p:spPr>
          <a:xfrm>
            <a:off x="6233008" y="2560320"/>
            <a:ext cx="5410048" cy="1078992"/>
          </a:xfrm>
          <a:prstGeom prst="roundRect">
            <a:avLst>
              <a:gd name="adj" fmla="val 6780"/>
            </a:avLst>
          </a:prstGeom>
          <a:solidFill>
            <a:srgbClr val="F5F6FB"/>
          </a:solidFill>
          <a:ln w="9525">
            <a:solidFill>
              <a:srgbClr val="E3E5EE"/>
            </a:solidFill>
            <a:prstDash val="solid"/>
          </a:ln>
        </p:spPr>
      </p:sp>
      <p:sp>
        <p:nvSpPr>
          <p:cNvPr id="24" name="Shape 17"/>
          <p:cNvSpPr/>
          <p:nvPr/>
        </p:nvSpPr>
        <p:spPr>
          <a:xfrm>
            <a:off x="6397600" y="2743200"/>
            <a:ext cx="402336" cy="402336"/>
          </a:xfrm>
          <a:prstGeom prst="ellipse">
            <a:avLst/>
          </a:prstGeom>
          <a:solidFill>
            <a:srgbClr val="E8EAF6"/>
          </a:solidFill>
          <a:ln w="12700">
            <a:solidFill>
              <a:srgbClr val="E8EAF6"/>
            </a:solidFill>
            <a:prstDash val="solid"/>
          </a:ln>
        </p:spPr>
      </p:sp>
      <p:pic>
        <p:nvPicPr>
          <p:cNvPr id="25" name="Image 5" descr="preencoded.png">    </p:cNvPr>
          <p:cNvPicPr>
            <a:picLocks noChangeAspect="1"/>
          </p:cNvPicPr>
          <p:nvPr/>
        </p:nvPicPr>
        <p:blipFill>
          <a:blip r:embed="rId6"/>
          <a:stretch>
            <a:fillRect/>
          </a:stretch>
        </p:blipFill>
        <p:spPr>
          <a:xfrm>
            <a:off x="6488125" y="2833726"/>
            <a:ext cx="221285" cy="221285"/>
          </a:xfrm>
          <a:prstGeom prst="rect">
            <a:avLst/>
          </a:prstGeom>
        </p:spPr>
      </p:pic>
      <p:sp>
        <p:nvSpPr>
          <p:cNvPr id="26" name="Text 18"/>
          <p:cNvSpPr txBox="1"/>
          <p:nvPr/>
        </p:nvSpPr>
        <p:spPr>
          <a:xfrm>
            <a:off x="6946240" y="2688336"/>
            <a:ext cx="4541368" cy="859536"/>
          </a:xfrm>
          <a:prstGeom prst="rect">
            <a:avLst/>
          </a:prstGeom>
          <a:noFill/>
          <a:ln/>
        </p:spPr>
        <p:txBody>
          <a:bodyPr wrap="square" lIns="0" tIns="0" rIns="0" bIns="0" rtlCol="0" anchor="t">
            <a:normAutofit/>
          </a:bodyPr>
          <a:lstStyle/>
          <a:p>
            <a:pPr indent="0" marL="0">
              <a:spcAft>
                <a:spcPts val="300"/>
              </a:spcAft>
              <a:buNone/>
            </a:pPr>
            <a:r>
              <a:rPr lang="en-US" sz="1450" b="1" dirty="0">
                <a:solidFill>
                  <a:srgbClr val="1B1C22"/>
                </a:solidFill>
                <a:latin typeface="Calibri" pitchFamily="34" charset="0"/>
                <a:ea typeface="Calibri" pitchFamily="34" charset="-122"/>
                <a:cs typeface="Calibri" pitchFamily="34" charset="-120"/>
              </a:rPr>
              <a:t>¿Cómo cambio una fecha de hito?</a:t>
            </a:r>
            <a:endParaRPr lang="en-US" sz="1450" dirty="0"/>
          </a:p>
          <a:p>
            <a:pPr indent="0" marL="0">
              <a:spcAft>
                <a:spcPts val="300"/>
              </a:spcAft>
              <a:buNone/>
            </a:pPr>
            <a:r>
              <a:rPr lang="en-US" sz="1300" dirty="0">
                <a:solidFill>
                  <a:srgbClr val="5B5E6B"/>
                </a:solidFill>
                <a:latin typeface="Calibri" pitchFamily="34" charset="0"/>
                <a:ea typeface="Calibri" pitchFamily="34" charset="-122"/>
                <a:cs typeface="Calibri" pitchFamily="34" charset="-120"/>
              </a:rPr>
              <a:t>Abre el hito y cambia la fecha plan; el cambio queda en la auditoría.</a:t>
            </a:r>
            <a:endParaRPr lang="en-US" sz="1450" dirty="0"/>
          </a:p>
        </p:txBody>
      </p:sp>
      <p:sp>
        <p:nvSpPr>
          <p:cNvPr id="27" name="Shape 19"/>
          <p:cNvSpPr/>
          <p:nvPr/>
        </p:nvSpPr>
        <p:spPr>
          <a:xfrm>
            <a:off x="6233008" y="3794760"/>
            <a:ext cx="5410048" cy="1078992"/>
          </a:xfrm>
          <a:prstGeom prst="roundRect">
            <a:avLst>
              <a:gd name="adj" fmla="val 6780"/>
            </a:avLst>
          </a:prstGeom>
          <a:solidFill>
            <a:srgbClr val="F5F6FB"/>
          </a:solidFill>
          <a:ln w="9525">
            <a:solidFill>
              <a:srgbClr val="E3E5EE"/>
            </a:solidFill>
            <a:prstDash val="solid"/>
          </a:ln>
        </p:spPr>
      </p:sp>
      <p:sp>
        <p:nvSpPr>
          <p:cNvPr id="28" name="Shape 20"/>
          <p:cNvSpPr/>
          <p:nvPr/>
        </p:nvSpPr>
        <p:spPr>
          <a:xfrm>
            <a:off x="6397600" y="3977640"/>
            <a:ext cx="402336" cy="402336"/>
          </a:xfrm>
          <a:prstGeom prst="ellipse">
            <a:avLst/>
          </a:prstGeom>
          <a:solidFill>
            <a:srgbClr val="E8EAF6"/>
          </a:solidFill>
          <a:ln w="12700">
            <a:solidFill>
              <a:srgbClr val="E8EAF6"/>
            </a:solidFill>
            <a:prstDash val="solid"/>
          </a:ln>
        </p:spPr>
      </p:sp>
      <p:pic>
        <p:nvPicPr>
          <p:cNvPr id="29" name="Image 6" descr="preencoded.png">    </p:cNvPr>
          <p:cNvPicPr>
            <a:picLocks noChangeAspect="1"/>
          </p:cNvPicPr>
          <p:nvPr/>
        </p:nvPicPr>
        <p:blipFill>
          <a:blip r:embed="rId7"/>
          <a:stretch>
            <a:fillRect/>
          </a:stretch>
        </p:blipFill>
        <p:spPr>
          <a:xfrm>
            <a:off x="6488125" y="4068166"/>
            <a:ext cx="221285" cy="221285"/>
          </a:xfrm>
          <a:prstGeom prst="rect">
            <a:avLst/>
          </a:prstGeom>
        </p:spPr>
      </p:pic>
      <p:sp>
        <p:nvSpPr>
          <p:cNvPr id="30" name="Text 21"/>
          <p:cNvSpPr txBox="1"/>
          <p:nvPr/>
        </p:nvSpPr>
        <p:spPr>
          <a:xfrm>
            <a:off x="6946240" y="3922776"/>
            <a:ext cx="4541368" cy="859536"/>
          </a:xfrm>
          <a:prstGeom prst="rect">
            <a:avLst/>
          </a:prstGeom>
          <a:noFill/>
          <a:ln/>
        </p:spPr>
        <p:txBody>
          <a:bodyPr wrap="square" lIns="0" tIns="0" rIns="0" bIns="0" rtlCol="0" anchor="t">
            <a:normAutofit/>
          </a:bodyPr>
          <a:lstStyle/>
          <a:p>
            <a:pPr indent="0" marL="0">
              <a:spcAft>
                <a:spcPts val="300"/>
              </a:spcAft>
              <a:buNone/>
            </a:pPr>
            <a:r>
              <a:rPr lang="en-US" sz="1450" b="1" dirty="0">
                <a:solidFill>
                  <a:srgbClr val="1B1C22"/>
                </a:solidFill>
                <a:latin typeface="Calibri" pitchFamily="34" charset="0"/>
                <a:ea typeface="Calibri" pitchFamily="34" charset="-122"/>
                <a:cs typeface="Calibri" pitchFamily="34" charset="-120"/>
              </a:rPr>
              <a:t>¿Dónde están restricciones y paquetes?</a:t>
            </a:r>
            <a:endParaRPr lang="en-US" sz="1450" dirty="0"/>
          </a:p>
          <a:p>
            <a:pPr indent="0" marL="0">
              <a:spcAft>
                <a:spcPts val="300"/>
              </a:spcAft>
              <a:buNone/>
            </a:pPr>
            <a:r>
              <a:rPr lang="en-US" sz="1300" dirty="0">
                <a:solidFill>
                  <a:srgbClr val="5B5E6B"/>
                </a:solidFill>
                <a:latin typeface="Calibri" pitchFamily="34" charset="0"/>
                <a:ea typeface="Calibri" pitchFamily="34" charset="-122"/>
                <a:cs typeface="Calibri" pitchFamily="34" charset="-120"/>
              </a:rPr>
              <a:t>Llegan en la Etapa 3; mientras tanto, usa sus plantillas desde Recursos.</a:t>
            </a:r>
            <a:endParaRPr lang="en-US" sz="1450" dirty="0"/>
          </a:p>
        </p:txBody>
      </p:sp>
      <p:sp>
        <p:nvSpPr>
          <p:cNvPr id="31" name="Shape 22"/>
          <p:cNvSpPr/>
          <p:nvPr/>
        </p:nvSpPr>
        <p:spPr>
          <a:xfrm>
            <a:off x="6233008" y="5029200"/>
            <a:ext cx="5410048" cy="1078992"/>
          </a:xfrm>
          <a:prstGeom prst="roundRect">
            <a:avLst>
              <a:gd name="adj" fmla="val 6780"/>
            </a:avLst>
          </a:prstGeom>
          <a:solidFill>
            <a:srgbClr val="F5F6FB"/>
          </a:solidFill>
          <a:ln w="9525">
            <a:solidFill>
              <a:srgbClr val="E3E5EE"/>
            </a:solidFill>
            <a:prstDash val="solid"/>
          </a:ln>
        </p:spPr>
      </p:sp>
      <p:sp>
        <p:nvSpPr>
          <p:cNvPr id="32" name="Shape 23"/>
          <p:cNvSpPr/>
          <p:nvPr/>
        </p:nvSpPr>
        <p:spPr>
          <a:xfrm>
            <a:off x="6397600" y="5212080"/>
            <a:ext cx="402336" cy="402336"/>
          </a:xfrm>
          <a:prstGeom prst="ellipse">
            <a:avLst/>
          </a:prstGeom>
          <a:solidFill>
            <a:srgbClr val="E8EAF6"/>
          </a:solidFill>
          <a:ln w="12700">
            <a:solidFill>
              <a:srgbClr val="E8EAF6"/>
            </a:solidFill>
            <a:prstDash val="solid"/>
          </a:ln>
        </p:spPr>
      </p:sp>
      <p:pic>
        <p:nvPicPr>
          <p:cNvPr id="33" name="Image 7" descr="preencoded.png">    </p:cNvPr>
          <p:cNvPicPr>
            <a:picLocks noChangeAspect="1"/>
          </p:cNvPicPr>
          <p:nvPr/>
        </p:nvPicPr>
        <p:blipFill>
          <a:blip r:embed="rId8"/>
          <a:stretch>
            <a:fillRect/>
          </a:stretch>
        </p:blipFill>
        <p:spPr>
          <a:xfrm>
            <a:off x="6488125" y="5302606"/>
            <a:ext cx="221285" cy="221285"/>
          </a:xfrm>
          <a:prstGeom prst="rect">
            <a:avLst/>
          </a:prstGeom>
        </p:spPr>
      </p:pic>
      <p:sp>
        <p:nvSpPr>
          <p:cNvPr id="34" name="Text 24"/>
          <p:cNvSpPr txBox="1"/>
          <p:nvPr/>
        </p:nvSpPr>
        <p:spPr>
          <a:xfrm>
            <a:off x="6946240" y="5157216"/>
            <a:ext cx="4541368" cy="859536"/>
          </a:xfrm>
          <a:prstGeom prst="rect">
            <a:avLst/>
          </a:prstGeom>
          <a:noFill/>
          <a:ln/>
        </p:spPr>
        <p:txBody>
          <a:bodyPr wrap="square" lIns="0" tIns="0" rIns="0" bIns="0" rtlCol="0" anchor="t">
            <a:normAutofit/>
          </a:bodyPr>
          <a:lstStyle/>
          <a:p>
            <a:pPr indent="0" marL="0">
              <a:spcAft>
                <a:spcPts val="300"/>
              </a:spcAft>
              <a:buNone/>
            </a:pPr>
            <a:r>
              <a:rPr lang="en-US" sz="1450" b="1" dirty="0">
                <a:solidFill>
                  <a:srgbClr val="1B1C22"/>
                </a:solidFill>
                <a:latin typeface="Calibri" pitchFamily="34" charset="0"/>
                <a:ea typeface="Calibri" pitchFamily="34" charset="-122"/>
                <a:cs typeface="Calibri" pitchFamily="34" charset="-120"/>
              </a:rPr>
              <a:t>La aplicación no carga mis datos</a:t>
            </a:r>
            <a:endParaRPr lang="en-US" sz="1450" dirty="0"/>
          </a:p>
          <a:p>
            <a:pPr indent="0" marL="0">
              <a:spcAft>
                <a:spcPts val="300"/>
              </a:spcAft>
              <a:buNone/>
            </a:pPr>
            <a:r>
              <a:rPr lang="en-US" sz="1300" dirty="0">
                <a:solidFill>
                  <a:srgbClr val="5B5E6B"/>
                </a:solidFill>
                <a:latin typeface="Calibri" pitchFamily="34" charset="0"/>
                <a:ea typeface="Calibri" pitchFamily="34" charset="-122"/>
                <a:cs typeface="Calibri" pitchFamily="34" charset="-120"/>
              </a:rPr>
              <a:t>Supabase pudo pausarse tras 7 días sin uso: reactívalo desde su panel.</a:t>
            </a:r>
            <a:endParaRPr lang="en-US" sz="1450" dirty="0"/>
          </a:p>
        </p:txBody>
      </p:sp>
      <p:sp>
        <p:nvSpPr>
          <p:cNvPr id="35" name="Text 25"/>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Uso diario</a:t>
            </a:r>
            <a:endParaRPr lang="en-US" sz="1000" dirty="0"/>
          </a:p>
        </p:txBody>
      </p:sp>
      <p:sp>
        <p:nvSpPr>
          <p:cNvPr id="36" name="Text 26"/>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127</a:t>
            </a:r>
            <a:endParaRPr lang="en-US" sz="10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Glosario rápido</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Las siglas que verás en la aplicación</a:t>
            </a:r>
            <a:endParaRPr lang="en-US" sz="1500" dirty="0"/>
          </a:p>
        </p:txBody>
      </p:sp>
      <p:graphicFrame>
        <p:nvGraphicFramePr>
          <p:cNvPr id="129"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097280"/>
                <a:gridCol w="4389120"/>
                <a:gridCol w="1097280"/>
                <a:gridCol w="4389120"/>
              </a:tblGrid>
              <a:tr h="56692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Sigla</a:t>
                      </a:r>
                      <a:endParaRPr lang="en-US" sz="14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Significado</a:t>
                      </a:r>
                      <a:endParaRPr lang="en-US" sz="14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Sigla</a:t>
                      </a:r>
                      <a:endParaRPr lang="en-US" sz="14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Significado</a:t>
                      </a:r>
                      <a:endParaRPr lang="en-US" sz="140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3F51B5"/>
                    </a:solidFill>
                  </a:tcPr>
                </a:tc>
              </a:tr>
              <a:tr h="566928">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AWP</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Advanced Work Packaging: planificación por paquetes</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PoC</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Path of Construction: secuencia de construcción</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566928">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CWA</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Construction Work Area: área de construcción</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IPP</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Taller de planificación interactiva</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566928">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CWP</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Construction Work Package: paquete de construcción</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RAS</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Fecha requerida de materiales en obra</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566928">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EWP</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Engineering Work Package: paquete de ingeniería</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WFP</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WorkFace Planning: planificación del frente de trabajo</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566928">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PWP</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Procurement Work Package: paquete de procura</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PPC</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Porcentaje de plan cumplido</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r h="566928">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IWP</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Installation Work Package: paquete de trabajo de una cuadrilla</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FEL</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Front End Loading: planificación temprana</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FFFFF"/>
                    </a:solidFill>
                  </a:tcPr>
                </a:tc>
              </a:tr>
              <a:tr h="566928">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KPI</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Indicador clave de desempeño (K01–K13)</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b="1" dirty="0">
                          <a:solidFill>
                            <a:srgbClr val="1B1C22"/>
                          </a:solidFill>
                          <a:latin typeface="Calibri" pitchFamily="34" charset="0"/>
                          <a:ea typeface="Calibri" pitchFamily="34" charset="-122"/>
                          <a:cs typeface="Calibri" pitchFamily="34" charset="-120"/>
                        </a:rPr>
                        <a:t>RLS</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c>
                  <a:txBody>
                    <a:bodyPr/>
                    <a:lstStyle/>
                    <a:p>
                      <a:pPr indent="0" marL="0">
                        <a:buNone/>
                      </a:pPr>
                      <a:r>
                        <a:rPr lang="en-US" sz="1350" dirty="0">
                          <a:solidFill>
                            <a:srgbClr val="1B1C22"/>
                          </a:solidFill>
                          <a:latin typeface="Calibri" pitchFamily="34" charset="0"/>
                          <a:ea typeface="Calibri" pitchFamily="34" charset="-122"/>
                          <a:cs typeface="Calibri" pitchFamily="34" charset="-120"/>
                        </a:rPr>
                        <a:t>Row Level Security: seguridad por fila</a:t>
                      </a:r>
                      <a:endParaRPr lang="en-US" sz="1350" dirty="0">
                        <a:latin typeface="Calibri" charset="0"/>
                        <a:ea typeface="Calibri" charset="0"/>
                        <a:cs typeface="Calibri" charset="0"/>
                      </a:endParaRPr>
                    </a:p>
                  </a:txBody>
                  <a:tcPr marL="88900" marR="88900" marT="50800" marB="50800" anchor="ctr">
                    <a:lnL w="9525" cap="flat" cmpd="sng" algn="ctr">
                      <a:solidFill>
                        <a:srgbClr val="E3E5EE"/>
                      </a:solidFill>
                      <a:prstDash val="solid"/>
                      <a:round/>
                      <a:headEnd type="none" w="med" len="med"/>
                      <a:tailEnd type="none" w="med" len="med"/>
                    </a:lnL>
                    <a:lnR w="9525" cap="flat" cmpd="sng" algn="ctr">
                      <a:solidFill>
                        <a:srgbClr val="E3E5EE"/>
                      </a:solidFill>
                      <a:prstDash val="solid"/>
                      <a:round/>
                      <a:headEnd type="none" w="med" len="med"/>
                      <a:tailEnd type="none" w="med" len="med"/>
                    </a:lnR>
                    <a:lnT w="9525" cap="flat" cmpd="sng" algn="ctr">
                      <a:solidFill>
                        <a:srgbClr val="E3E5EE"/>
                      </a:solidFill>
                      <a:prstDash val="solid"/>
                      <a:round/>
                      <a:headEnd type="none" w="med" len="med"/>
                      <a:tailEnd type="none" w="med" len="med"/>
                    </a:lnT>
                    <a:lnB w="9525" cap="flat" cmpd="sng" algn="ctr">
                      <a:solidFill>
                        <a:srgbClr val="E3E5EE"/>
                      </a:solidFill>
                      <a:prstDash val="solid"/>
                      <a:round/>
                      <a:headEnd type="none" w="med" len="med"/>
                      <a:tailEnd type="none" w="med" len="med"/>
                    </a:lnB>
                    <a:solidFill>
                      <a:srgbClr val="F5F6FB"/>
                    </a:solidFill>
                  </a:tcPr>
                </a:tc>
              </a:tr>
            </a:tbl>
          </a:graphicData>
        </a:graphic>
      </p:graphicFrame>
      <p:sp>
        <p:nvSpPr>
          <p:cNvPr id="5" name="Text 2"/>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Uso diario</a:t>
            </a:r>
            <a:endParaRPr lang="en-US" sz="1000" dirty="0"/>
          </a:p>
        </p:txBody>
      </p:sp>
      <p:sp>
        <p:nvSpPr>
          <p:cNvPr id="6" name="Text 3"/>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128</a:t>
            </a:r>
            <a:endParaRPr lang="en-US" sz="10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ctr">
            <a:normAutofit/>
          </a:bodyPr>
          <a:lstStyle/>
          <a:p>
            <a:pPr indent="0" marL="0">
              <a:buNone/>
            </a:pPr>
            <a:r>
              <a:rPr lang="en-US" sz="2800" b="1" dirty="0">
                <a:solidFill>
                  <a:srgbClr val="1B1C22"/>
                </a:solidFill>
                <a:latin typeface="Calibri" pitchFamily="34" charset="0"/>
                <a:ea typeface="Calibri" pitchFamily="34" charset="-122"/>
                <a:cs typeface="Calibri" pitchFamily="34" charset="-120"/>
              </a:rPr>
              <a:t>Qué probar hoy</a:t>
            </a:r>
            <a:endParaRPr lang="en-US" sz="2800" dirty="0"/>
          </a:p>
        </p:txBody>
      </p:sp>
      <p:sp>
        <p:nvSpPr>
          <p:cNvPr id="3" name="Text 1"/>
          <p:cNvSpPr txBox="1"/>
          <p:nvPr/>
        </p:nvSpPr>
        <p:spPr>
          <a:xfrm>
            <a:off x="548640" y="914400"/>
            <a:ext cx="11094415" cy="365760"/>
          </a:xfrm>
          <a:prstGeom prst="rect">
            <a:avLst/>
          </a:prstGeom>
          <a:noFill/>
          <a:ln/>
        </p:spPr>
        <p:txBody>
          <a:bodyPr wrap="square" lIns="0" tIns="0" rIns="0" bIns="0" rtlCol="0" anchor="ctr"/>
          <a:lstStyle/>
          <a:p>
            <a:pPr indent="0" marL="0">
              <a:buNone/>
            </a:pPr>
            <a:r>
              <a:rPr lang="en-US" sz="1500" dirty="0">
                <a:solidFill>
                  <a:srgbClr val="5B5E6B"/>
                </a:solidFill>
                <a:latin typeface="Calibri" pitchFamily="34" charset="0"/>
                <a:ea typeface="Calibri" pitchFamily="34" charset="-122"/>
                <a:cs typeface="Calibri" pitchFamily="34" charset="-120"/>
              </a:rPr>
              <a:t>Diez minutos para comprobar que todo funciona con tu usuario</a:t>
            </a:r>
            <a:endParaRPr lang="en-US" sz="1500" dirty="0"/>
          </a:p>
        </p:txBody>
      </p:sp>
      <p:pic>
        <p:nvPicPr>
          <p:cNvPr id="4" name="Image 0" descr="preencoded.png">    </p:cNvPr>
          <p:cNvPicPr>
            <a:picLocks noChangeAspect="1"/>
          </p:cNvPicPr>
          <p:nvPr/>
        </p:nvPicPr>
        <p:blipFill>
          <a:blip r:embed="rId1"/>
          <a:stretch>
            <a:fillRect/>
          </a:stretch>
        </p:blipFill>
        <p:spPr>
          <a:xfrm>
            <a:off x="548640" y="1673352"/>
            <a:ext cx="384048" cy="384048"/>
          </a:xfrm>
          <a:prstGeom prst="rect">
            <a:avLst/>
          </a:prstGeom>
        </p:spPr>
      </p:pic>
      <p:sp>
        <p:nvSpPr>
          <p:cNvPr id="5" name="Text 2"/>
          <p:cNvSpPr txBox="1"/>
          <p:nvPr/>
        </p:nvSpPr>
        <p:spPr>
          <a:xfrm>
            <a:off x="1097280" y="1600200"/>
            <a:ext cx="5394960" cy="666206"/>
          </a:xfrm>
          <a:prstGeom prst="rect">
            <a:avLst/>
          </a:prstGeom>
          <a:noFill/>
          <a:ln/>
        </p:spPr>
        <p:txBody>
          <a:bodyPr wrap="square" lIns="0" tIns="0" rIns="0" bIns="0" rtlCol="0" anchor="ctr"/>
          <a:lstStyle/>
          <a:p>
            <a:pPr indent="0" marL="0">
              <a:buNone/>
            </a:pPr>
            <a:r>
              <a:rPr lang="en-US" sz="1550" dirty="0">
                <a:solidFill>
                  <a:srgbClr val="1B1C22"/>
                </a:solidFill>
                <a:latin typeface="Calibri" pitchFamily="34" charset="0"/>
                <a:ea typeface="Calibri" pitchFamily="34" charset="-122"/>
                <a:cs typeface="Calibri" pitchFamily="34" charset="-120"/>
              </a:rPr>
              <a:t>Entrar con tu correo y contraseña; ver el recorrido guiado.</a:t>
            </a:r>
            <a:endParaRPr lang="en-US" sz="1550" dirty="0"/>
          </a:p>
        </p:txBody>
      </p:sp>
      <p:pic>
        <p:nvPicPr>
          <p:cNvPr id="6" name="Image 1" descr="preencoded.png">    </p:cNvPr>
          <p:cNvPicPr>
            <a:picLocks noChangeAspect="1"/>
          </p:cNvPicPr>
          <p:nvPr/>
        </p:nvPicPr>
        <p:blipFill>
          <a:blip r:embed="rId2"/>
          <a:stretch>
            <a:fillRect/>
          </a:stretch>
        </p:blipFill>
        <p:spPr>
          <a:xfrm>
            <a:off x="548640" y="2339558"/>
            <a:ext cx="384048" cy="384048"/>
          </a:xfrm>
          <a:prstGeom prst="rect">
            <a:avLst/>
          </a:prstGeom>
        </p:spPr>
      </p:pic>
      <p:sp>
        <p:nvSpPr>
          <p:cNvPr id="7" name="Text 3"/>
          <p:cNvSpPr txBox="1"/>
          <p:nvPr/>
        </p:nvSpPr>
        <p:spPr>
          <a:xfrm>
            <a:off x="1097280" y="2266406"/>
            <a:ext cx="5394960" cy="666206"/>
          </a:xfrm>
          <a:prstGeom prst="rect">
            <a:avLst/>
          </a:prstGeom>
          <a:noFill/>
          <a:ln/>
        </p:spPr>
        <p:txBody>
          <a:bodyPr wrap="square" lIns="0" tIns="0" rIns="0" bIns="0" rtlCol="0" anchor="ctr"/>
          <a:lstStyle/>
          <a:p>
            <a:pPr indent="0" marL="0">
              <a:buNone/>
            </a:pPr>
            <a:r>
              <a:rPr lang="en-US" sz="1550" dirty="0">
                <a:solidFill>
                  <a:srgbClr val="1B1C22"/>
                </a:solidFill>
                <a:latin typeface="Calibri" pitchFamily="34" charset="0"/>
                <a:ea typeface="Calibri" pitchFamily="34" charset="-122"/>
                <a:cs typeface="Calibri" pitchFamily="34" charset="-120"/>
              </a:rPr>
              <a:t>Abrir Recursos en una ventana de incógnito y descargar una plantilla.</a:t>
            </a:r>
            <a:endParaRPr lang="en-US" sz="1550" dirty="0"/>
          </a:p>
        </p:txBody>
      </p:sp>
      <p:pic>
        <p:nvPicPr>
          <p:cNvPr id="8" name="Image 2" descr="preencoded.png">    </p:cNvPr>
          <p:cNvPicPr>
            <a:picLocks noChangeAspect="1"/>
          </p:cNvPicPr>
          <p:nvPr/>
        </p:nvPicPr>
        <p:blipFill>
          <a:blip r:embed="rId3"/>
          <a:stretch>
            <a:fillRect/>
          </a:stretch>
        </p:blipFill>
        <p:spPr>
          <a:xfrm>
            <a:off x="548640" y="3005763"/>
            <a:ext cx="384048" cy="384048"/>
          </a:xfrm>
          <a:prstGeom prst="rect">
            <a:avLst/>
          </a:prstGeom>
        </p:spPr>
      </p:pic>
      <p:sp>
        <p:nvSpPr>
          <p:cNvPr id="9" name="Text 4"/>
          <p:cNvSpPr txBox="1"/>
          <p:nvPr/>
        </p:nvSpPr>
        <p:spPr>
          <a:xfrm>
            <a:off x="1097280" y="2932611"/>
            <a:ext cx="5394960" cy="666206"/>
          </a:xfrm>
          <a:prstGeom prst="rect">
            <a:avLst/>
          </a:prstGeom>
          <a:noFill/>
          <a:ln/>
        </p:spPr>
        <p:txBody>
          <a:bodyPr wrap="square" lIns="0" tIns="0" rIns="0" bIns="0" rtlCol="0" anchor="ctr"/>
          <a:lstStyle/>
          <a:p>
            <a:pPr indent="0" marL="0">
              <a:buNone/>
            </a:pPr>
            <a:r>
              <a:rPr lang="en-US" sz="1550" dirty="0">
                <a:solidFill>
                  <a:srgbClr val="1B1C22"/>
                </a:solidFill>
                <a:latin typeface="Calibri" pitchFamily="34" charset="0"/>
                <a:ea typeface="Calibri" pitchFamily="34" charset="-122"/>
                <a:cs typeface="Calibri" pitchFamily="34" charset="-120"/>
              </a:rPr>
              <a:t>Crear un proyecto con el asistente, probando dejar campos vacíos.</a:t>
            </a:r>
            <a:endParaRPr lang="en-US" sz="1550" dirty="0"/>
          </a:p>
        </p:txBody>
      </p:sp>
      <p:pic>
        <p:nvPicPr>
          <p:cNvPr id="10" name="Image 3" descr="preencoded.png">    </p:cNvPr>
          <p:cNvPicPr>
            <a:picLocks noChangeAspect="1"/>
          </p:cNvPicPr>
          <p:nvPr/>
        </p:nvPicPr>
        <p:blipFill>
          <a:blip r:embed="rId4"/>
          <a:stretch>
            <a:fillRect/>
          </a:stretch>
        </p:blipFill>
        <p:spPr>
          <a:xfrm>
            <a:off x="548640" y="3671969"/>
            <a:ext cx="384048" cy="384048"/>
          </a:xfrm>
          <a:prstGeom prst="rect">
            <a:avLst/>
          </a:prstGeom>
        </p:spPr>
      </p:pic>
      <p:sp>
        <p:nvSpPr>
          <p:cNvPr id="11" name="Text 5"/>
          <p:cNvSpPr txBox="1"/>
          <p:nvPr/>
        </p:nvSpPr>
        <p:spPr>
          <a:xfrm>
            <a:off x="1097280" y="3598817"/>
            <a:ext cx="5394960" cy="666206"/>
          </a:xfrm>
          <a:prstGeom prst="rect">
            <a:avLst/>
          </a:prstGeom>
          <a:noFill/>
          <a:ln/>
        </p:spPr>
        <p:txBody>
          <a:bodyPr wrap="square" lIns="0" tIns="0" rIns="0" bIns="0" rtlCol="0" anchor="ctr"/>
          <a:lstStyle/>
          <a:p>
            <a:pPr indent="0" marL="0">
              <a:buNone/>
            </a:pPr>
            <a:r>
              <a:rPr lang="en-US" sz="1550" dirty="0">
                <a:solidFill>
                  <a:srgbClr val="1B1C22"/>
                </a:solidFill>
                <a:latin typeface="Calibri" pitchFamily="34" charset="0"/>
                <a:ea typeface="Calibri" pitchFamily="34" charset="-122"/>
                <a:cs typeface="Calibri" pitchFamily="34" charset="-120"/>
              </a:rPr>
              <a:t>En Avance AWP, tocar dos veces el círculo de una actividad.</a:t>
            </a:r>
            <a:endParaRPr lang="en-US" sz="1550" dirty="0"/>
          </a:p>
        </p:txBody>
      </p:sp>
      <p:pic>
        <p:nvPicPr>
          <p:cNvPr id="12" name="Image 4" descr="preencoded.png">    </p:cNvPr>
          <p:cNvPicPr>
            <a:picLocks noChangeAspect="1"/>
          </p:cNvPicPr>
          <p:nvPr/>
        </p:nvPicPr>
        <p:blipFill>
          <a:blip r:embed="rId5"/>
          <a:stretch>
            <a:fillRect/>
          </a:stretch>
        </p:blipFill>
        <p:spPr>
          <a:xfrm>
            <a:off x="548640" y="4338175"/>
            <a:ext cx="384048" cy="384048"/>
          </a:xfrm>
          <a:prstGeom prst="rect">
            <a:avLst/>
          </a:prstGeom>
        </p:spPr>
      </p:pic>
      <p:sp>
        <p:nvSpPr>
          <p:cNvPr id="13" name="Text 6"/>
          <p:cNvSpPr txBox="1"/>
          <p:nvPr/>
        </p:nvSpPr>
        <p:spPr>
          <a:xfrm>
            <a:off x="1097280" y="4265023"/>
            <a:ext cx="5394960" cy="666206"/>
          </a:xfrm>
          <a:prstGeom prst="rect">
            <a:avLst/>
          </a:prstGeom>
          <a:noFill/>
          <a:ln/>
        </p:spPr>
        <p:txBody>
          <a:bodyPr wrap="square" lIns="0" tIns="0" rIns="0" bIns="0" rtlCol="0" anchor="ctr"/>
          <a:lstStyle/>
          <a:p>
            <a:pPr indent="0" marL="0">
              <a:buNone/>
            </a:pPr>
            <a:r>
              <a:rPr lang="en-US" sz="1550" dirty="0">
                <a:solidFill>
                  <a:srgbClr val="1B1C22"/>
                </a:solidFill>
                <a:latin typeface="Calibri" pitchFamily="34" charset="0"/>
                <a:ea typeface="Calibri" pitchFamily="34" charset="-122"/>
                <a:cs typeface="Calibri" pitchFamily="34" charset="-120"/>
              </a:rPr>
              <a:t>En Hitos, marcar uno como cumplido con su evidencia.</a:t>
            </a:r>
            <a:endParaRPr lang="en-US" sz="1550" dirty="0"/>
          </a:p>
        </p:txBody>
      </p:sp>
      <p:pic>
        <p:nvPicPr>
          <p:cNvPr id="14" name="Image 5" descr="preencoded.png">    </p:cNvPr>
          <p:cNvPicPr>
            <a:picLocks noChangeAspect="1"/>
          </p:cNvPicPr>
          <p:nvPr/>
        </p:nvPicPr>
        <p:blipFill>
          <a:blip r:embed="rId6"/>
          <a:stretch>
            <a:fillRect/>
          </a:stretch>
        </p:blipFill>
        <p:spPr>
          <a:xfrm>
            <a:off x="548640" y="5004381"/>
            <a:ext cx="384048" cy="384048"/>
          </a:xfrm>
          <a:prstGeom prst="rect">
            <a:avLst/>
          </a:prstGeom>
        </p:spPr>
      </p:pic>
      <p:sp>
        <p:nvSpPr>
          <p:cNvPr id="15" name="Text 7"/>
          <p:cNvSpPr txBox="1"/>
          <p:nvPr/>
        </p:nvSpPr>
        <p:spPr>
          <a:xfrm>
            <a:off x="1097280" y="4931229"/>
            <a:ext cx="5394960" cy="666206"/>
          </a:xfrm>
          <a:prstGeom prst="rect">
            <a:avLst/>
          </a:prstGeom>
          <a:noFill/>
          <a:ln/>
        </p:spPr>
        <p:txBody>
          <a:bodyPr wrap="square" lIns="0" tIns="0" rIns="0" bIns="0" rtlCol="0" anchor="ctr"/>
          <a:lstStyle/>
          <a:p>
            <a:pPr indent="0" marL="0">
              <a:buNone/>
            </a:pPr>
            <a:r>
              <a:rPr lang="en-US" sz="1550" dirty="0">
                <a:solidFill>
                  <a:srgbClr val="1B1C22"/>
                </a:solidFill>
                <a:latin typeface="Calibri" pitchFamily="34" charset="0"/>
                <a:ea typeface="Calibri" pitchFamily="34" charset="-122"/>
                <a:cs typeface="Calibri" pitchFamily="34" charset="-120"/>
              </a:rPr>
              <a:t>Editar una fase y agregar una persona al equipo.</a:t>
            </a:r>
            <a:endParaRPr lang="en-US" sz="1550" dirty="0"/>
          </a:p>
        </p:txBody>
      </p:sp>
      <p:pic>
        <p:nvPicPr>
          <p:cNvPr id="16" name="Image 6" descr="preencoded.png">    </p:cNvPr>
          <p:cNvPicPr>
            <a:picLocks noChangeAspect="1"/>
          </p:cNvPicPr>
          <p:nvPr/>
        </p:nvPicPr>
        <p:blipFill>
          <a:blip r:embed="rId7"/>
          <a:stretch>
            <a:fillRect/>
          </a:stretch>
        </p:blipFill>
        <p:spPr>
          <a:xfrm>
            <a:off x="548640" y="5670586"/>
            <a:ext cx="384048" cy="384048"/>
          </a:xfrm>
          <a:prstGeom prst="rect">
            <a:avLst/>
          </a:prstGeom>
        </p:spPr>
      </p:pic>
      <p:sp>
        <p:nvSpPr>
          <p:cNvPr id="17" name="Text 8"/>
          <p:cNvSpPr txBox="1"/>
          <p:nvPr/>
        </p:nvSpPr>
        <p:spPr>
          <a:xfrm>
            <a:off x="1097280" y="5597434"/>
            <a:ext cx="5394960" cy="666206"/>
          </a:xfrm>
          <a:prstGeom prst="rect">
            <a:avLst/>
          </a:prstGeom>
          <a:noFill/>
          <a:ln/>
        </p:spPr>
        <p:txBody>
          <a:bodyPr wrap="square" lIns="0" tIns="0" rIns="0" bIns="0" rtlCol="0" anchor="ctr"/>
          <a:lstStyle/>
          <a:p>
            <a:pPr indent="0" marL="0">
              <a:buNone/>
            </a:pPr>
            <a:r>
              <a:rPr lang="en-US" sz="1550" dirty="0">
                <a:solidFill>
                  <a:srgbClr val="1B1C22"/>
                </a:solidFill>
                <a:latin typeface="Calibri" pitchFamily="34" charset="0"/>
                <a:ea typeface="Calibri" pitchFamily="34" charset="-122"/>
                <a:cs typeface="Calibri" pitchFamily="34" charset="-120"/>
              </a:rPr>
              <a:t>Abrir la aplicación en el celular y cambiar a modo oscuro.</a:t>
            </a:r>
            <a:endParaRPr lang="en-US" sz="1550" dirty="0"/>
          </a:p>
        </p:txBody>
      </p:sp>
      <p:sp>
        <p:nvSpPr>
          <p:cNvPr id="18" name="Shape 9"/>
          <p:cNvSpPr/>
          <p:nvPr/>
        </p:nvSpPr>
        <p:spPr>
          <a:xfrm>
            <a:off x="6620256" y="2434104"/>
            <a:ext cx="5077663" cy="2904192"/>
          </a:xfrm>
          <a:prstGeom prst="roundRect">
            <a:avLst>
              <a:gd name="adj" fmla="val 2519"/>
            </a:avLst>
          </a:prstGeom>
          <a:solidFill>
            <a:srgbClr val="FFFFFF"/>
          </a:solidFill>
          <a:ln w="9525">
            <a:solidFill>
              <a:srgbClr val="E3E5EE"/>
            </a:solidFill>
            <a:prstDash val="solid"/>
          </a:ln>
          <a:effectLst>
            <a:outerShdw sx="100000" sy="100000" kx="0" ky="0" algn="bl" rotWithShape="0" blurRad="101600" dist="25400" dir="5400000">
              <a:srgbClr val="000000">
                <a:alpha val="16000"/>
              </a:srgbClr>
            </a:outerShdw>
          </a:effectLst>
        </p:spPr>
      </p:sp>
      <p:pic>
        <p:nvPicPr>
          <p:cNvPr id="19" name="Image 7" descr="/tmp/claude-0/-home-user-01-awp/0b94e63d-a2ea-5e41-b4e8-6fcedbe96518/scratchpad/ppt/img/hito_celebracion.jpg">    </p:cNvPr>
          <p:cNvPicPr>
            <a:picLocks noChangeAspect="1"/>
          </p:cNvPicPr>
          <p:nvPr/>
        </p:nvPicPr>
        <p:blipFill>
          <a:blip r:embed="rId8"/>
          <a:stretch>
            <a:fillRect/>
          </a:stretch>
        </p:blipFill>
        <p:spPr>
          <a:xfrm>
            <a:off x="6675120" y="2488968"/>
            <a:ext cx="4967935" cy="2794464"/>
          </a:xfrm>
          <a:prstGeom prst="rect">
            <a:avLst/>
          </a:prstGeom>
        </p:spPr>
      </p:pic>
      <p:sp>
        <p:nvSpPr>
          <p:cNvPr id="20" name="Text 10"/>
          <p:cNvSpPr txBox="1"/>
          <p:nvPr/>
        </p:nvSpPr>
        <p:spPr>
          <a:xfrm>
            <a:off x="548640" y="6428232"/>
            <a:ext cx="7315200" cy="256032"/>
          </a:xfrm>
          <a:prstGeom prst="rect">
            <a:avLst/>
          </a:prstGeom>
          <a:noFill/>
          <a:ln/>
        </p:spPr>
        <p:txBody>
          <a:bodyPr wrap="square" lIns="0" tIns="0" rIns="0" bIns="0" rtlCol="0" anchor="ctr"/>
          <a:lstStyle/>
          <a:p>
            <a:pPr indent="0" marL="0">
              <a:buNone/>
            </a:pPr>
            <a:r>
              <a:rPr lang="en-US" sz="1000" dirty="0">
                <a:solidFill>
                  <a:srgbClr val="9A9DAA"/>
                </a:solidFill>
                <a:latin typeface="Calibri" pitchFamily="34" charset="0"/>
                <a:ea typeface="Calibri" pitchFamily="34" charset="-122"/>
                <a:cs typeface="Calibri" pitchFamily="34" charset="-120"/>
              </a:rPr>
              <a:t>Aplicación AWP · Uso diario</a:t>
            </a:r>
            <a:endParaRPr lang="en-US" sz="1000" dirty="0"/>
          </a:p>
        </p:txBody>
      </p:sp>
      <p:sp>
        <p:nvSpPr>
          <p:cNvPr id="21" name="Text 11"/>
          <p:cNvSpPr txBox="1"/>
          <p:nvPr/>
        </p:nvSpPr>
        <p:spPr>
          <a:xfrm>
            <a:off x="10728655" y="6428232"/>
            <a:ext cx="914400" cy="256032"/>
          </a:xfrm>
          <a:prstGeom prst="rect">
            <a:avLst/>
          </a:prstGeom>
          <a:noFill/>
          <a:ln/>
        </p:spPr>
        <p:txBody>
          <a:bodyPr wrap="square" lIns="0" tIns="0" rIns="0" bIns="0" rtlCol="0" anchor="ctr"/>
          <a:lstStyle/>
          <a:p>
            <a:pPr algn="r" indent="0" marL="0">
              <a:buNone/>
            </a:pPr>
            <a:r>
              <a:rPr lang="en-US" sz="1000" dirty="0">
                <a:solidFill>
                  <a:srgbClr val="9A9DAA"/>
                </a:solidFill>
                <a:latin typeface="Calibri" pitchFamily="34" charset="0"/>
                <a:ea typeface="Calibri" pitchFamily="34" charset="-122"/>
                <a:cs typeface="Calibri" pitchFamily="34" charset="-120"/>
              </a:rPr>
              <a:t>129</a:t>
            </a:r>
            <a:endParaRPr lang="en-US" sz="10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1A1F4B"/>
        </a:solidFill>
      </p:bgPr>
    </p:bg>
    <p:spTree>
      <p:nvGrpSpPr>
        <p:cNvPr id="1" name=""/>
        <p:cNvGrpSpPr/>
        <p:nvPr/>
      </p:nvGrpSpPr>
      <p:grpSpPr>
        <a:xfrm>
          <a:off x="0" y="0"/>
          <a:ext cx="0" cy="0"/>
          <a:chOff x="0" y="0"/>
          <a:chExt cx="0" cy="0"/>
        </a:xfrm>
      </p:grpSpPr>
      <p:sp>
        <p:nvSpPr>
          <p:cNvPr id="2" name="Shape 0"/>
          <p:cNvSpPr/>
          <p:nvPr/>
        </p:nvSpPr>
        <p:spPr>
          <a:xfrm>
            <a:off x="5547208" y="1188720"/>
            <a:ext cx="1097280" cy="1097280"/>
          </a:xfrm>
          <a:prstGeom prst="ellipse">
            <a:avLst/>
          </a:prstGeom>
          <a:solidFill>
            <a:srgbClr val="FFC107"/>
          </a:solidFill>
          <a:ln w="12700">
            <a:solidFill>
              <a:srgbClr val="FFC107"/>
            </a:solidFill>
            <a:prstDash val="solid"/>
          </a:ln>
        </p:spPr>
      </p:sp>
      <p:pic>
        <p:nvPicPr>
          <p:cNvPr id="3" name="Image 0" descr="preencoded.png">    </p:cNvPr>
          <p:cNvPicPr>
            <a:picLocks noChangeAspect="1"/>
          </p:cNvPicPr>
          <p:nvPr/>
        </p:nvPicPr>
        <p:blipFill>
          <a:blip r:embed="rId1"/>
          <a:stretch>
            <a:fillRect/>
          </a:stretch>
        </p:blipFill>
        <p:spPr>
          <a:xfrm>
            <a:off x="5794096" y="1435608"/>
            <a:ext cx="603504" cy="603504"/>
          </a:xfrm>
          <a:prstGeom prst="rect">
            <a:avLst/>
          </a:prstGeom>
        </p:spPr>
      </p:pic>
      <p:sp>
        <p:nvSpPr>
          <p:cNvPr id="4" name="Text 1"/>
          <p:cNvSpPr txBox="1"/>
          <p:nvPr/>
        </p:nvSpPr>
        <p:spPr>
          <a:xfrm>
            <a:off x="731520" y="2606040"/>
            <a:ext cx="10728655" cy="914400"/>
          </a:xfrm>
          <a:prstGeom prst="rect">
            <a:avLst/>
          </a:prstGeom>
          <a:noFill/>
          <a:ln/>
        </p:spPr>
        <p:txBody>
          <a:bodyPr wrap="square" lIns="0" tIns="0" rIns="0" bIns="0" rtlCol="0" anchor="t"/>
          <a:lstStyle/>
          <a:p>
            <a:pPr algn="ctr" indent="0" marL="0">
              <a:buNone/>
            </a:pPr>
            <a:r>
              <a:rPr lang="en-US" sz="3800" b="1" dirty="0">
                <a:solidFill>
                  <a:srgbClr val="FFFFFF"/>
                </a:solidFill>
                <a:latin typeface="Calibri" pitchFamily="34" charset="0"/>
                <a:ea typeface="Calibri" pitchFamily="34" charset="-122"/>
                <a:cs typeface="Calibri" pitchFamily="34" charset="-120"/>
              </a:rPr>
              <a:t>AWP empieza con el siguiente paso</a:t>
            </a:r>
            <a:endParaRPr lang="en-US" sz="3800" dirty="0"/>
          </a:p>
        </p:txBody>
      </p:sp>
      <p:sp>
        <p:nvSpPr>
          <p:cNvPr id="5" name="Text 2"/>
          <p:cNvSpPr txBox="1"/>
          <p:nvPr/>
        </p:nvSpPr>
        <p:spPr>
          <a:xfrm>
            <a:off x="1371600" y="3611880"/>
            <a:ext cx="9448495" cy="822960"/>
          </a:xfrm>
          <a:prstGeom prst="rect">
            <a:avLst/>
          </a:prstGeom>
          <a:noFill/>
          <a:ln/>
        </p:spPr>
        <p:txBody>
          <a:bodyPr wrap="square" lIns="0" tIns="0" rIns="0" bIns="0" rtlCol="0" anchor="t"/>
          <a:lstStyle/>
          <a:p>
            <a:pPr algn="ctr" indent="0" marL="0">
              <a:buNone/>
            </a:pPr>
            <a:r>
              <a:rPr lang="en-US" sz="2200" dirty="0">
                <a:solidFill>
                  <a:srgbClr val="C5CAE9"/>
                </a:solidFill>
                <a:latin typeface="Calibri" pitchFamily="34" charset="0"/>
                <a:ea typeface="Calibri" pitchFamily="34" charset="-122"/>
                <a:cs typeface="Calibri" pitchFamily="34" charset="-120"/>
              </a:rPr>
              <a:t>Abre la aplicación, crea tu proyecto y deja que «Tu próximo paso» te guíe.</a:t>
            </a:r>
            <a:endParaRPr lang="en-US" sz="2200" dirty="0"/>
          </a:p>
        </p:txBody>
      </p:sp>
      <p:sp>
        <p:nvSpPr>
          <p:cNvPr id="6" name="Text 3"/>
          <p:cNvSpPr txBox="1"/>
          <p:nvPr/>
        </p:nvSpPr>
        <p:spPr>
          <a:xfrm>
            <a:off x="914400" y="5577840"/>
            <a:ext cx="10362895" cy="457200"/>
          </a:xfrm>
          <a:prstGeom prst="rect">
            <a:avLst/>
          </a:prstGeom>
          <a:noFill/>
          <a:ln/>
        </p:spPr>
        <p:txBody>
          <a:bodyPr wrap="square" lIns="0" tIns="0" rIns="0" bIns="0" rtlCol="0" anchor="t"/>
          <a:lstStyle/>
          <a:p>
            <a:pPr algn="ctr" indent="0" marL="0">
              <a:buNone/>
            </a:pPr>
            <a:r>
              <a:rPr lang="en-US" sz="1400" dirty="0">
                <a:solidFill>
                  <a:srgbClr val="FFC107"/>
                </a:solidFill>
                <a:latin typeface="Calibri" pitchFamily="34" charset="0"/>
                <a:ea typeface="Calibri" pitchFamily="34" charset="-122"/>
                <a:cs typeface="Calibri" pitchFamily="34" charset="-120"/>
              </a:rPr>
              <a:t>ehchavezm-hub.github.io/01-awp/app/ · Recursos: ehchavezm-hub.github.io/01-awp/app/#/recursos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130</Slides>
  <Notes>130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130</vt:i4>
      </vt:variant>
    </vt:vector>
  </HeadingPairs>
  <TitlesOfParts>
    <vt:vector size="1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vector>
  </TitlesOfParts>
  <Company>Kit de implementación AWP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Aplicación AWP · Guía completa</dc:title>
  <dc:subject>PptxGenJS Presentation</dc:subject>
  <dc:creator>Kit de implementación AWP</dc:creator>
  <cp:lastModifiedBy>Kit de implementación AWP</cp:lastModifiedBy>
  <cp:revision>1</cp:revision>
  <dcterms:created xsi:type="dcterms:W3CDTF">2026-09-29T23:54:07Z</dcterms:created>
  <dcterms:modified xsi:type="dcterms:W3CDTF">2026-09-29T23:54:07Z</dcterms:modified>
</cp:coreProperties>
</file>