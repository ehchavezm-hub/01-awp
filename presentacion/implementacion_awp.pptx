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6"/>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5"/>
    <p:sldId id="273" r:id="rId4"/>
    <p:sldId id="274" r:id="rId3"/>
    <p:sldId id="275" r:id="rId2"/>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0.xml"/><Relationship Id="rId3" Type="http://schemas.openxmlformats.org/officeDocument/2006/relationships/slide" Target="slides/slide19.xml"/><Relationship Id="rId4" Type="http://schemas.openxmlformats.org/officeDocument/2006/relationships/slide" Target="slides/slide18.xml"/><Relationship Id="rId5" Type="http://schemas.openxmlformats.org/officeDocument/2006/relationships/slide" Target="slides/slide17.xml"/><Relationship Id="rId6" Type="http://schemas.openxmlformats.org/officeDocument/2006/relationships/slide" Target="slides/slide1.xml"/><Relationship Id="rId7" Type="http://schemas.openxmlformats.org/officeDocument/2006/relationships/notesMaster" Target="notesMasters/notesMaster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Portada. Presente el propósito: esta guía explica cómo implementar Advanced Work Packaging (AWP) en un proyecto real, fase por fase.</a:t>
            </a:r>
          </a:p>
          <a:p>
            <a:r>
              <a:t>Idea central: AWP es un proceso dirigido por Construcción. Primero se decide cómo y en qué orden se construirá la planta (Path of Construction); luego Ingeniería y Compras entregan sus productos en ese mismo orden.</a:t>
            </a:r>
          </a:p>
          <a:p>
            <a:r>
              <a:t>Los bloques de la derecha anticipan la jerarquía que se verá en detalle: Construction Work Area (CWA) → Construction Work Package (CWP) → Installation Work Package (IWP).</a:t>
            </a:r>
          </a:p>
          <a:p>
            <a:r>
              <a:t>Resultados que respaldan el método: +25 % de productividad y −10 % de costo total instalado (TIC), según los estudios RT-272 y RT-319 del Construction Industry Institute (CII).</a:t>
            </a:r>
          </a:p>
          <a:p/>
          <a:p>
            <a:r>
              <a:t>FUENTE: cii-awp-cba-education-framework-pdf.md (definición y beneficios); advanced-work-packaging-awp-quick-start-guide-pdf.md (Introducción).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presentación tiene 13 módulos. Los tres primeros explican el porqué, el qué y cómo preparar la organización. Los módulos 4 a 7 (en oscuro) siguen el ciclo de vida del proyecto: planificación preliminar (FEL 2), ingeniería de detalle y compras (FEL 3), construcción y puesta en marcha.</a:t>
            </a:r>
          </a:p>
          <a:p>
            <a:r>
              <a:t>Los módulos 8 a 13 son transversales: gestión de la información, roles, medición, escalabilidad y relación con Lean, errores comunes y la hoja de ruta para empezar.</a:t>
            </a:r>
          </a:p>
          <a:p>
            <a:r>
              <a:t>Sugerencia: si el tiempo es corto, presente los módulos 1, 2, 4 a 7 y 13.</a:t>
            </a:r>
          </a:p>
          <a:p/>
          <a:p>
            <a:r>
              <a:t>FUENTE: Estructura propia de la presentación, basada en INDICE.md (sugerencias de lectura) y en las cuatro etapas del CII descritas en advanced-work-packaging-a-recommended-practice-for-capital-projects-omega-365-blogs.md.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Objetivos de aprendizaje. Al final de la sesión el equipo debe poder:</a:t>
            </a:r>
          </a:p>
          <a:p>
            <a:r>
              <a:t>1) explicar la jerarquía de paquetes y la relación entre ellos;</a:t>
            </a:r>
          </a:p>
          <a:p>
            <a:r>
              <a:t>2) saber qué entregable se espera en cada fase y en qué compuerta (stage gate) se revisa;</a:t>
            </a:r>
          </a:p>
          <a:p>
            <a:r>
              <a:t>3) asignar los roles nuevos (AWP Champion, Workface Planner) y entender cómo cambian los tradicionales;</a:t>
            </a:r>
          </a:p>
          <a:p>
            <a:r>
              <a:t>4) reconocer los errores más frecuentes al implementar AWP.</a:t>
            </a:r>
          </a:p>
          <a:p>
            <a:r>
              <a:t>El curso integrado AWP 2023 insiste en que la adopción de AWP es un cambio sistémico que afecta a cada persona del proyecto; por eso los objetivos cubren a todas las áreas.</a:t>
            </a:r>
          </a:p>
          <a:p/>
          <a:p>
            <a:r>
              <a:t>FUENTE: awp-2023-integrado-pdf.md (objetivos de lección; 'Role of the AWP Champion'); awp-education-primer-pdf.md.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 de dónde vienen los datos. El CII (Construction Industry Institute, EE. UU.) formalizó AWP como mejor práctica en 2015 a partir del equipo de investigación RT-272; sus estudios reportan +25 % de productividad y −10 % de costo total instalado.</a:t>
            </a:r>
          </a:p>
          <a:p>
            <a:r>
              <a:t>La COAA (Construction Owners Association of Alberta, Canadá) desarrolló las primeras buenas prácticas de Workface Planning (2005-2006) y el modelo de AWP escalable (2019).</a:t>
            </a:r>
          </a:p>
          <a:p>
            <a:r>
              <a:t>Insight-AWP aporta la guía de inicio rápido y un juego de procedimientos (AWP, Information Management y Workface Planning) de 2017, con plantillas.</a:t>
            </a:r>
          </a:p>
          <a:p>
            <a:r>
              <a:t>Otras fuentes: un curso integrado de 2023 (sin autor declarado) y un artículo de Omega 365 (2025) con enfoque digital.</a:t>
            </a:r>
          </a:p>
          <a:p>
            <a:r>
              <a:t>El INDICE.md del repositorio documenta las inconsistencias entre fuentes; se señalan en la lámina 24 y donde corresponda.</a:t>
            </a:r>
          </a:p>
          <a:p/>
          <a:p>
            <a:r>
              <a:t>FUENTE: INDICE.md (§1 y §3); cop-awp-pbp-01-2016-v1-advanced-work-packaging-summary-pdf.md; cii-awp-cba-education-framework-pdf.md.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Separador del Módulo 1. Antes de explicar qué es AWP, conviene mostrar el problema que resuelve: proyectos que terminan tarde y sobre presupuesto, y cuadrillas que pasan la mayor parte de la jornada sin trabajar en herramientas.</a:t>
            </a:r>
          </a:p>
          <a:p>
            <a:r>
              <a:t>Mensaje para el público: la baja productividad no es culpa del trabajador; es la consecuencia de que la información, los materiales y los accesos no llegan a tiempo al frente de trabajo.</a:t>
            </a:r>
          </a:p>
          <a:p/>
          <a:p>
            <a:r>
              <a:t>FUENTE: awp-2023-integrado-pdf.md (Lección 1: AWP and Field Productivity).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curso AWP 2023 cita a IPA Global: el 65 % de los megaproyectos fracasa, entendiendo por fracaso el sobrecosto, el retraso o el bajo desempeño en operación. Entregar tarde y por encima del presupuesto es un problema común en todo el mundo.</a:t>
            </a:r>
          </a:p>
          <a:p>
            <a:r>
              <a:t>El Education Framework del CII añade, al responder la objeción "nuestro proceso actual está bien", que el 70 % de los proyectos de construcción termina sobre presupuesto y con retraso, y que el 52 % termina en el 189 % de su presupuesto inicial. Atribuye buena parte del problema a la desalineación entre ingeniería, compras y construcción.</a:t>
            </a:r>
          </a:p>
          <a:p>
            <a:r>
              <a:t>Use la cifra para abrir la conversación, no para culpar: el problema es sistémico.</a:t>
            </a:r>
          </a:p>
          <a:p/>
          <a:p>
            <a:r>
              <a:t>FUENTE: awp-2023-integrado-pdf.md (Lección 1: '65% of Mega Projects Fail', IPA Global); cii-awp-cba-education-framework-pdf.md (Overcoming Common AWP Objections: 'Our current process is just fine').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Según el curso AWP 2023, la productividad de la construcción no ha mejorado en los últimos setenta años, mientras otros sectores han visto mejoras significativas.</a:t>
            </a:r>
          </a:p>
          <a:p>
            <a:r>
              <a:t>Como la mano de obra es una de las partidas más grandes del presupuesto, mejorar su productividad tiene un impacto directo en el resultado del proyecto.</a:t>
            </a:r>
          </a:p>
          <a:p>
            <a:r>
              <a:t>Dos datos del mismo curso ilustran el problema: menos de 4 horas de una jornada de 10 son productivas, y menos de 2 horas al día se dedican a supervisión directa de la cuadrilla. El tiempo de supervisión es un indicador del apoyo que recibe la cuadrilla para trabajar con seguridad y eficiencia.</a:t>
            </a:r>
          </a:p>
          <a:p>
            <a:r>
              <a:t>Nota de diseño: en la estructura esta lámina figuraba como diagrama de tendencia; se presenta como dato clave porque las fuentes no incluyen la serie histórica.</a:t>
            </a:r>
          </a:p>
          <a:p/>
          <a:p>
            <a:r>
              <a:t>FUENTE: awp-2023-integrado-pdf.md (Lección 1: 'Construction productivity has failed to improve in the last seventy years'; Lección 2: 'Less than 2 hours of the day are spent in direct supervision').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tool time, o tiempo en herramientas, es la fracción de la jornada en que el trabajador está instalando. En proyectos tradicionales es del 37 %: 3,7 horas de una jornada de 10. Las otras 6,3 horas se van en esperas por información, materiales, herramientas o accesos, en traslados y en pausas.</a:t>
            </a:r>
          </a:p>
          <a:p>
            <a:r>
              <a:t>Con AWP, el Education Framework del CII reporta un 46 % (4,6 horas); el curso 2023 cita un 47 %.</a:t>
            </a:r>
          </a:p>
          <a:p>
            <a:r>
              <a:t>Mensaje: la diferencia no se logra exigiendo más a la cuadrilla, sino entregándole un paquete de trabajo completo y sin restricciones.</a:t>
            </a:r>
          </a:p>
          <a:p/>
          <a:p>
            <a:r>
              <a:t>FUENTE: cii-awp-cba-education-framework-pdf.md (Benefits &amp; Value of AWP: 37 % / 3,7 h frente a 46 % / 4,6 h); awp-2023-integrado-pdf.md (Lección 2: Tool Time 37 % / 47 %).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curso AWP 2023 lo resume así: los problemas de campo están ligados a la oficina. Los problemas típicos de ejecución (esperar planos, buscar materiales, esperar andamios o grúas, rehacer trabajo) son síntomas. Sus causas están aguas arriba: una ingeniería que se entrega en su propio orden, compras que no siguen la secuencia de construcción, recursos de apoyo que no se planifican con anticipación.</a:t>
            </a:r>
          </a:p>
          <a:p>
            <a:r>
              <a:t>RFI (Request for Information) es la consulta técnica que el campo envía a Ingeniería cuando falta o no está clara la información.</a:t>
            </a:r>
          </a:p>
          <a:p>
            <a:r>
              <a:t>Esta es la razón de que AWP "adelante" la planificación al inicio del ciclo de vida del proyecto: el adjetivo advanced viene de ahí.</a:t>
            </a:r>
          </a:p>
          <a:p/>
          <a:p>
            <a:r>
              <a:t>FUENTE: awp-2023-integrado-pdf.md (Lección 2: 'Typical Construction Execution Issues', 'Refresher … field issues are linked to the office', 'The Advanced aspect comes from pulling the planning process earlier').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Procedimiento 3.0 de Insight-AWP, en la sección de estudios de tool time, parte de un principio: los trabajadores ejecutan el trabajo cuando tienen información, herramientas, materiales, acceso y voluntad. El papel de la gerencia del proyecto y de la construcción es entregar esos elementos a la fuerza laboral.</a:t>
            </a:r>
          </a:p>
          <a:p>
            <a:r>
              <a:t>Por eso los estudios de tool time se consideran una "nota" para la gerencia y no para los trabajadores: los retrasos en la jornada revelan la ausencia de uno o más de estos elementos.</a:t>
            </a:r>
          </a:p>
          <a:p>
            <a:r>
              <a:t>IFC (Issued for Construction) es el estado del plano aprobado para construir.</a:t>
            </a:r>
          </a:p>
          <a:p/>
          <a:p>
            <a:r>
              <a:t>FUENTE: 3-workface-planning-procedure-insight-awp-2017-pdf.md (§18 Tool Time Studies: 'Information, Tools, Materials, Access and Desire').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Workface Planning (WFP) nació para atacar la productividad en campo: definir, crear, ejecutar y seguir paquetes de instalación para cada cuadrilla. Fue el primer paso del camino hacia AWP.</a:t>
            </a:r>
          </a:p>
          <a:p>
            <a:r>
              <a:t>Pero WFP solo no basta: si la ingeniería y las compras no llegaron en la secuencia correcta, el planificador de campo solo administra la escasez y arma paquetes con lo que tiene.</a:t>
            </a:r>
          </a:p>
          <a:p>
            <a:r>
              <a:t>AWP extiende la planificación hacia atrás, a las fases de definición (Front End Loading, FEL), para que ingeniería y compras se entreguen en el orden en que se va a construir. WFP sigue siendo la etapa final de AWP, donde toda esa planificación se usa en campo.</a:t>
            </a:r>
          </a:p>
          <a:p/>
          <a:p>
            <a:r>
              <a:t>FUENTE: awp-2023-integrado-pdf.md (Lección 1: 'Why is Workface Planning alone not enough?', 'From Workface Planning to AWP'); cop-awp-pbp-01-2016-v1-advanced-work-packaging-summary-pdf.md.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Quick Start Guide y el Education Framework coinciden: con AWP, la productividad aumenta típicamente un 25 % y el costo total instalado (TIC, Total Installed Cost) baja un 10 %. Todas las fuentes remiten a los estudios RT-272 y RT-319 del CII.</a:t>
            </a:r>
          </a:p>
          <a:p>
            <a:r>
              <a:t>El Framework cita además un estudio con mejoras del índice de desempeño del cronograma (SPI) del 25 % y del índice de desempeño del costo (CPI) del 33 % frente a proyectos sin AWP.</a:t>
            </a:r>
          </a:p>
          <a:p>
            <a:r>
              <a:t>Otros beneficios citados por el curso 2023: mayor seguridad (menos cambios, menos incidentes), alcances más precisos para licitar (menos contingencia), mejor calidad (menos RFI y retrabajo), mejor constructabilidad, colaboración entre disciplinas y estimados y cronogramas más certeros.</a:t>
            </a:r>
          </a:p>
          <a:p>
            <a:r>
              <a:t>Advierta que los beneficios varían según el punto de partida y la madurez de la implementación.</a:t>
            </a:r>
          </a:p>
          <a:p/>
          <a:p>
            <a:r>
              <a:t>FUENTE: advanced-work-packaging-awp-quick-start-guide-pdf.md (Introducción); cii-awp-cba-education-framework-pdf.md (Benefits &amp; Value of AWP; RS272-1); awp-2023-integrado-pdf.md (Other Benefits of AWP).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Separador del Módulo 2. Aclare desde el inicio un malentendido frecuente: AWP no es un programa informático ni una plantilla. Es un proceso de entrega de proyectos que alinea ingeniería, compras y construcción. El software ayuda, pero no lo reemplaza.</a:t>
            </a:r>
          </a:p>
          <a:p>
            <a:r>
              <a:t>En este módulo se ven la definición oficial, los tres procesos que integran AWP y la jerarquía de paquetes.</a:t>
            </a:r>
          </a:p>
          <a:p/>
          <a:p>
            <a:r>
              <a:t>FUENTE: what-is-advanced-work-packaging-insight-awp.md; cii-awp-cba-education-framework-pdf.md.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Definición del CII (traducción): "AWP es el flujo general de todos los paquetes de trabajo detallados (de construcción, de ingeniería y de instalación). AWP es un proceso planificado y ejecutable que abarca el trabajo de un proyecto EPC, desde la planificación inicial hasta el diseño detallado y la ejecución de la construcción. AWP provee el marco para una construcción productiva y progresiva y presupone la existencia de un plan de ejecución de la construcción."</a:t>
            </a:r>
          </a:p>
          <a:p>
            <a:r>
              <a:t>Es la cita más repetida del repositorio (Primer, Framework, Overview del CII, Glosario y la presentación de 2022).</a:t>
            </a:r>
          </a:p>
          <a:p>
            <a:r>
              <a:t>El Framework lo complementa: AWP es un método de entrega de proyectos que va desde la planificación temprana (Front End Planning) hasta el comisionamiento, y alinea ingeniería, compras y construcción.</a:t>
            </a:r>
          </a:p>
          <a:p>
            <a:r>
              <a:t>EPC: Engineering, Procurement and Construction (ingeniería, compras y construcción).</a:t>
            </a:r>
          </a:p>
          <a:p/>
          <a:p>
            <a:r>
              <a:t>FUENTE: cii-awp-cba-education-framework-pdf.md ('What is it?'); advanced-work-packaging-awp-overview.md; awp-education-primer-pdf.md; awp-acronyms-definitions-pdf.md; AWP 2022 03 04.pptx.md.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Insight-AWP describe AWP como un sistema de planificación dirigido por Construcción, compuesto por tres procesos:</a:t>
            </a:r>
          </a:p>
          <a:p>
            <a:r>
              <a:t>• Advanced Work Packaging: alinea los paquetes de ingeniería (EWP), de compras (PWP) y de construcción (CWP) con el camino óptimo de construcción.</a:t>
            </a:r>
          </a:p>
          <a:p>
            <a:r>
              <a:t>• Information Management (IM): define la estructura de desglose del trabajo (WBS, Work Breakdown Structure), la nomenclatura, el modelo 3D con atributos y los formatos de intercambio entre sistemas.</a:t>
            </a:r>
          </a:p>
          <a:p>
            <a:r>
              <a:t>• Workface Planning (WFP): lleva el plan al frente de trabajo mediante paquetes de instalación (IWP) libres de restricciones.</a:t>
            </a:r>
          </a:p>
          <a:p>
            <a:r>
              <a:t>Por eso los procedimientos de Insight-AWP son tres (1.0 AWP, 2.0 IM y 3.0 WFP) y se aplican como un conjunto.</a:t>
            </a:r>
          </a:p>
          <a:p/>
          <a:p>
            <a:r>
              <a:t>FUENTE: what-is-advanced-work-packaging-insight-awp.md; 1-advanced-work-packaging-procedure-insight-awp-2017-pdf.md (§4 Overview of AWP, IM &amp; WFP).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jerarquía de paquetes es el esqueleto de AWP. Léala de arriba hacia abajo:</a:t>
            </a:r>
          </a:p>
          <a:p>
            <a:r>
              <a:t>• Construction Work Area (CWA): división lógica del plano de implantación; actividad de nivel 2 del cronograma.</a:t>
            </a:r>
          </a:p>
          <a:p>
            <a:r>
              <a:t>• Construction Work Package (CWP): una sola disciplina dentro de una CWA, con menos de 40 000 horas-hombre (HH); actividad de nivel 3.</a:t>
            </a:r>
          </a:p>
          <a:p>
            <a:r>
              <a:t>• Engineering Work Package (EWP): toda la ingeniería que necesita un CWP (alcance, planos, datos de proveedor, lista de materiales y especificaciones).</a:t>
            </a:r>
          </a:p>
          <a:p>
            <a:r>
              <a:t>• Procurement Work Package (PWP): materiales y equipos de un CWP. El CII todavía lo trata como paquete en definición (RT-363).</a:t>
            </a:r>
          </a:p>
          <a:p>
            <a:r>
              <a:t>• Installation Work Package (IWP): trabajo de un capataz y su cuadrilla en unos 7 días, formado por planos completos; actividad de nivel 5.</a:t>
            </a:r>
          </a:p>
          <a:p>
            <a:r>
              <a:t>Regla base: 1 EWP = 1 PWP = 1 CWP, con excepciones que se ven en la lámina 22.</a:t>
            </a:r>
          </a:p>
          <a:p>
            <a:r>
              <a:t>Advierta que el Glosario del CII ubica el IWP en el nivel 4; cada proyecto debe fijar su criterio.</a:t>
            </a:r>
          </a:p>
          <a:p/>
          <a:p>
            <a:r>
              <a:t>FUENTE: 1-advanced-work-packaging-procedure-insight-awp-2017-pdf.md (§2 Definiciones); advanced-work-packaging-a-recommended-practice-for-capital-projects-omega-365-blogs.md (jerarquía de paquetes); awp-acronyms-definitions-pdf.md; INDICE.md §3.</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CWA es una porción del plano de implantación que el proyecto define como un área lógica de trabajo. Incluye todas las disciplinas (civil, estructuras, mecánica, tuberías, electricidad e instrumentación). El número de CWA depende del tamaño y la complejidad del proyecto.</a:t>
            </a:r>
          </a:p>
          <a:p>
            <a:r>
              <a:t>Los procedimientos de Insight la definen como actividad de nivel 2 del cronograma, con un horizonte de unos 6 meses. Los cables y las obras subterráneas pueden dividirse en áreas propias que cruzan todo el proyecto.</a:t>
            </a:r>
          </a:p>
          <a:p>
            <a:r>
              <a:t>El plano de la lámina es un ejemplo ilustrativo: una planta con unidad de proceso, compresión, subestación, sala de control, rack de tuberías, tanques, torre de enfriamiento y servicios.</a:t>
            </a:r>
          </a:p>
          <a:p>
            <a:r>
              <a:t>Las CWA forman la base del Path of Construction, dan prioridades a Ingeniería y Compras y dividen el alcance en paquetes ejecutables.</a:t>
            </a:r>
          </a:p>
          <a:p/>
          <a:p>
            <a:r>
              <a:t>FUENTE: awp-2023-integrado-pdf.md ('What is a Construction Work Area', 'Advanced Work Packaging Structure'); 3-workface-planning-procedure-insight-awp-2017-pdf.md (§2 Definiciones); advanced-work-packaging-a-recommended-practice-for-capital-projects-omega-365-blogs.md.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CWP es el alcance completo de una sola disciplina en una sola CWA; por ejemplo, tuberías del área 2 o electricidad del área 4.</a:t>
            </a:r>
          </a:p>
          <a:p>
            <a:r>
              <a:t>Según los procedimientos de Insight: menos de 40 000 horas-hombre (HH), componente de la WBS, una sola actividad de nivel 3 del cronograma y producto de un EWP y un PWP. Los CWP no se superponen, por lo que pueden usarse como límites contractuales.</a:t>
            </a:r>
          </a:p>
          <a:p>
            <a:r>
              <a:t>El curso 2023 detalla su contenido típico: alcance, puntos de interfaz, planos IFC, información de ingeniería, suministro de materiales y equipos, mano de obra y andamios, seguridad, calidad, permisos, izajes críticos, controles y documentos de entrega.</a:t>
            </a:r>
          </a:p>
          <a:p>
            <a:r>
              <a:t>Recomendaciones: el EWP es la base técnica del CWP, pero el contratista recibe el CWP, así que toda la información relevante debe estar en él; defina con claridad el límite del alcance y no incluya lenguaje contractual.</a:t>
            </a:r>
          </a:p>
          <a:p/>
          <a:p>
            <a:r>
              <a:t>FUENTE: 1-advanced-work-packaging-procedure-insight-awp-2017-pdf.md y 3-workface-planning-procedure-insight-awp-2017-pdf.md (§2 Definiciones); awp-2023-integrado-pdf.md ('What is a CWP?', 'Standard components of a CWP'); advanced-work-packaging-a-recommended-practice-for-capital-projects-omega-365-blogs.md.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EWP es un entregable de Ingeniería que contiene la documentación de una disciplina para una CWA. Tiene relación 1:1 con el CWP (CWA × disciplina = EWP).</a:t>
            </a:r>
          </a:p>
          <a:p>
            <a:r>
              <a:t>Componentes estándar según el curso 2023: alcance del trabajo, trabajo excluido, puntos terminales, equipos y materiales suministrados por el propietario y por el contratista, especificaciones y normas, lista de planos de ingeniería y de proveedores, soporte de proveedores, cronograma de órdenes de compra, vistas del modelo 3D y lista de referencias.</a:t>
            </a:r>
          </a:p>
          <a:p>
            <a:r>
              <a:t>Los EWP son por área, no por sistema, y no cruzan el límite de una CWA salvo casos excepcionales (por ejemplo, cables largos).</a:t>
            </a:r>
          </a:p>
          <a:p>
            <a:r>
              <a:t>Recomendaciones: evite el texto repetido de otras especificaciones y el lenguaje contractual; describa qué es el trabajo, no cómo ejecutarlo.</a:t>
            </a:r>
          </a:p>
          <a:p>
            <a:r>
              <a:t>MTO: Material Take-Off, lista de materiales cuantificada desde el diseño.</a:t>
            </a:r>
          </a:p>
          <a:p/>
          <a:p>
            <a:r>
              <a:t>FUENTE: awp-2023-integrado-pdf.md ('What is an EWP?', 'Features of an EWP', 'EWP Size'); 1-advanced-work-packaging-procedure-insight-awp-2017-pdf.md (§2 Definiciones).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PWP define los materiales, equipos y consumibles necesarios para ejecutar el alcance de un CWP. Normalmente se inicia a partir de los productos del EWP: requisiciones técnicas, hojas de datos y especificaciones.</a:t>
            </a:r>
          </a:p>
          <a:p>
            <a:r>
              <a:t>Omega 365 aclara que el PWP no es necesariamente un paquete físico en campo: es un identificador que alinea la secuencia de compras con la de construcción. Puede incluir uno o varios pedidos, equipos de largo plazo de entrega o materiales a granel.</a:t>
            </a:r>
          </a:p>
          <a:p>
            <a:r>
              <a:t>La mejor práctica es la relación 1:1 con el CWP, pero los materiales de uso común (bandejas, soportes, infraestructura) suelen agruparse en PWP compartidos.</a:t>
            </a:r>
          </a:p>
          <a:p>
            <a:r>
              <a:t>En los procedimientos de Insight, para acero y tuberías el PWP se convierte en un paquete de fabricación que se fabrica y entrega como un grupo.</a:t>
            </a:r>
          </a:p>
          <a:p>
            <a:r>
              <a:t>El Primer y el Framework del CII lo marcan como opcional; el Glosario indica que su definición está en desarrollo (RT-363).</a:t>
            </a:r>
          </a:p>
          <a:p/>
          <a:p>
            <a:r>
              <a:t>FUENTE: advanced-work-packaging-a-recommended-practice-for-capital-projects-omega-365-blogs.md (Procurement Work Packages); 3-workface-planning-procedure-insight-awp-2017-pdf.md (§2 Definiciones); awp-acronyms-definitions-pdf.md; INDICE.md §3 y §4.3.</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IWP es una porción discreta de trabajo de construcción, libre de restricciones, que puede ejecutar un solo capataz con su cuadrilla en un período de 7 días. Se obtiene de un solo CWP, está formado por planos completos y es una actividad de nivel 5 del cronograma (procedimientos de Insight).</a:t>
            </a:r>
          </a:p>
          <a:p>
            <a:r>
              <a:t>Contiene todo lo que la cuadrilla necesita: alcance, planos, materiales, equipos, herramientas, seguridad, calidad, restricciones, recursos, cronograma, información de proveedores y vistas del modelo.</a:t>
            </a:r>
          </a:p>
          <a:p>
            <a:r>
              <a:t>Las fuentes difieren en su tamaño y duración: unas 500 horas (Quick Start), 500 a 1 000 horas (curso 2023), una o dos semanas, o "un solo turno" en otra lámina del mismo curso. La lámina 24 resume estas diferencias.</a:t>
            </a:r>
          </a:p>
          <a:p/>
          <a:p>
            <a:r>
              <a:t>FUENTE: 3-workface-planning-procedure-insight-awp-2017-pdf.md (§2 Definiciones); advanced-work-packaging-awp-quick-start-guide-pdf.md (§6 Installation Work Packages); awp-2023-integrado-pdf.md ('What is an IWP, and how is it made?'); INDICE.md §3.</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Procedimiento 1.0 de Insight establece que el método de planificación se basa en el estándar "un EWP = un PWP = un CWP". El EWP termina con el último plano IFC; el PWP termina con el último componente recibido en obra. Los paquetes se entregan completos, no plano por plano ni pieza por pieza, y las actividades van en serie (fin a inicio).</a:t>
            </a:r>
          </a:p>
          <a:p>
            <a:r>
              <a:t>Alinear los tres paquetes simplifica el seguimiento: cada CWP sabe exactamente de qué ingeniería y de qué compras depende.</a:t>
            </a:r>
          </a:p>
          <a:p>
            <a:r>
              <a:t>Omega 365 y el curso 2023 admiten excepciones: materiales a granel agrupados en un PWP común; un EWP de criterios de diseño que sirve a varios CWP; o un CWP que depende de varios EWP por dependencias entre disciplinas.</a:t>
            </a:r>
          </a:p>
          <a:p/>
          <a:p>
            <a:r>
              <a:t>FUENTE: 1-advanced-work-packaging-procedure-insight-awp-2017-pdf.md (§14 Interactive Planning Workshop); advanced-work-packaging-a-recommended-practice-for-capital-projects-omega-365-blogs.md (Engineering Work Packages y Procurement Work Packages); awp-2023-integrado-pdf.md.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Mientras se construye, AWP organiza el trabajo por áreas (CWA, CWP, IWP). Para el comisionamiento y el arranque, la lógica cambia a sistemas funcionales, como agua de enfriamiento, compresión de gas o distribución eléctrica.</a:t>
            </a:r>
          </a:p>
          <a:p>
            <a:r>
              <a:t>• System Work Package (SWP): agrupa porciones de CWP e IWP por sistema; conecta construcción y comisionamiento (completamiento mecánico, inspección, pruebas y certificación).</a:t>
            </a:r>
          </a:p>
          <a:p>
            <a:r>
              <a:t>• Turnover Package (TOP): consolida esos alcances en circuitos cerrados listos para la entrega, las pruebas y el arranque.</a:t>
            </a:r>
          </a:p>
          <a:p>
            <a:r>
              <a:t>La relación entre CWP/IWP y SWP/TOP es de muchos a muchos. Según Omega 365, este cambio de perspectiva se acelera hacia el 70 % de avance físico de la construcción, para detectar a tiempo los faltantes por sistema.</a:t>
            </a:r>
          </a:p>
          <a:p>
            <a:r>
              <a:t>El Glosario del CII indica que la definición del TOP estaba en desarrollo (RT-364); el Primer rotula el SWP como "TWP".</a:t>
            </a:r>
          </a:p>
          <a:p/>
          <a:p>
            <a:r>
              <a:t>FUENTE: advanced-work-packaging-a-recommended-practice-for-capital-projects-omega-365-blogs.md (System Work Packages y Turnover Packages); awp-acronyms-definitions-pdf.md; INDICE.md §3.</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INDICE.md del repositorio identificó inconsistencias entre fuentes. No son errores graves: reflejan contextos distintos. Pero cada proyecto debe fijar sus propios valores y aplicarlos de forma consistente.</a:t>
            </a:r>
          </a:p>
          <a:p>
            <a:r>
              <a:t>• Nivel del IWP: nivel 5 según los procedimientos de Insight, la Quick Start y la presentación de 2022; nivel 4 según el Glosario del CII.</a:t>
            </a:r>
          </a:p>
          <a:p>
            <a:r>
              <a:t>• Duración: 7 días o una semana (Insight, Glosario); 1 a 2 semanas (curso 2023); un turno (otra lámina del mismo curso).</a:t>
            </a:r>
          </a:p>
          <a:p>
            <a:r>
              <a:t>• Tamaño: unas 500 horas (Quick Start); 500 a 1 000 horas (curso 2023).</a:t>
            </a:r>
          </a:p>
          <a:p>
            <a:r>
              <a:t>• Backlog: 4 semanas (Quick Start); 2 a 4 semanas (Procedimiento 3.0); 30 días (curso 2023).</a:t>
            </a:r>
          </a:p>
          <a:p>
            <a:r>
              <a:t>• Supervisión: el capataz general (GF, General Foreman) supervisa hasta 4 capataces y el superintendente hasta 3 GF (Insight); 5 y 4 según el Glosario del CII.</a:t>
            </a:r>
          </a:p>
          <a:p>
            <a:r>
              <a:t>• Restricciones: liberadas 2 a 3 semanas antes (curso 2023); calendario de 6 o 12 semanas según tamaño (Framework).</a:t>
            </a:r>
          </a:p>
          <a:p/>
          <a:p>
            <a:r>
              <a:t>FUENTE: INDICE.md (§3 Inconsistencias detectadas entre archivos).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Separador del Módulo 3. Antes de la primera compuerta del proyecto, la organización debe preparar las condiciones: nombrar al responsable (AWP Champion), escribir los procedimientos, incluir AWP en los contratos, elegir el software y definir la nomenclatura común.</a:t>
            </a:r>
          </a:p>
          <a:p>
            <a:r>
              <a:t>Sin estas bases, AWP se queda en buenas intenciones.</a:t>
            </a:r>
          </a:p>
          <a:p/>
          <a:p>
            <a:r>
              <a:t>FUENTE: advanced-work-packaging-awp-quick-start-guide-pdf.md; 1-advanced-work-packaging-procedure-insight-awp-2017-pdf.md.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Quick Start Guide de Insight-AWP identifica siete componentes básicos para empezar:</a:t>
            </a:r>
          </a:p>
          <a:p>
            <a:r>
              <a:t>1) Asignar un AWP Champion. 2) Escribir procedimientos de AWP. 3) Contar con un modelo 3D con atributos y con los datos de fabricación. 4) Seleccionar un software de Workface Planning. 5) Crear el cargo de Workface Planner. 6) Definir el contenido del IWP. 7) Establecer el proceso de eliminación de restricciones, que es el mayor cambio respecto de la forma tradicional de construir.</a:t>
            </a:r>
          </a:p>
          <a:p>
            <a:r>
              <a:t>Una vez establecidos, con poco esfuerzo adicional se pueden optimizar otros sistemas: controles, materiales, control documental, andamios, equipos de construcción y alineación de la ingeniería (se ven en el Módulo 8).</a:t>
            </a:r>
          </a:p>
          <a:p/>
          <a:p>
            <a:r>
              <a:t>FUENTE: advanced-work-packaging-awp-quick-start-guide-pdf.md (§1 a §7 y §8 Extended Benefits); INDICE.md §1.2.</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Quick Start Guide llama a la designación del AWP Champion el primer paso crítico. Es miembro del equipo de gestión del proyecto, suele representar al propietario y coordina los entregables de todos los actores con imparcialidad, con el único foco de beneficiar al proyecto completo. Funciona como coach del proyecto.</a:t>
            </a:r>
          </a:p>
          <a:p>
            <a:r>
              <a:t>El curso 2023 agrega: es un líder dedicado por completo a la transición; su foco principal son las personas, porque casi todos necesitarán ayuda para adaptarse a roles y exigencias nuevas.</a:t>
            </a:r>
          </a:p>
          <a:p>
            <a:r>
              <a:t>Errores comunes al designarlo: asumir que el rol le toca al gerente del proyecto, subestimar la carga de trabajo, ignorar el efecto en su carrera y dejarlo solo.</a:t>
            </a:r>
          </a:p>
          <a:p>
            <a:r>
              <a:t>El perfil ideal es un experto en AWP y gestión de proyectos con experiencia en gestión de construcción.</a:t>
            </a:r>
          </a:p>
          <a:p/>
          <a:p>
            <a:r>
              <a:t>FUENTE: advanced-work-packaging-awp-quick-start-guide-pdf.md (§1 Assign an AWP Champion); awp-2023-integrado-pdf.md ('Role of the AWP Champion', 'Common Pitfalls in Hiring the AWP Champion').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Quick Start Guide explica que, para que los actores sigan una dirección común, debe existir un estándar. Los procedimientos por sí solos no generan el cambio, pero establecen una expectativa de cumplimiento y facilitan las auditorías posteriores.</a:t>
            </a:r>
          </a:p>
          <a:p>
            <a:r>
              <a:t>Idealmente son específicos y detallados, e identifican quién, qué, cuándo, cómo y por qué, con diagramas de flujo y plantillas.</a:t>
            </a:r>
          </a:p>
          <a:p>
            <a:r>
              <a:t>El Procedimiento 1.0 de Insight señala que el propietario puede aplicar cualquiera de los procedimientos complementarios según el proyecto, pero los tres procedimientos centrales (AWP, IM y WFP) forman un conjunto.</a:t>
            </a:r>
          </a:p>
          <a:p/>
          <a:p>
            <a:r>
              <a:t>FUENTE: advanced-work-packaging-awp-quick-start-guide-pdf.md (§2 Advanced Work Packaging Procedures); 1-advanced-work-packaging-procedure-insight-awp-2017-pdf.md (introducción).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Quick Start Guide indica que los procedimientos deben cubrir tres áreas clave:</a:t>
            </a:r>
          </a:p>
          <a:p>
            <a:r>
              <a:t>• Advanced Work Packaging: lenguaje contractual, el camino óptimo de construcción, la secuencia de ingeniería y compras y los estándares de control del proyecto.</a:t>
            </a:r>
          </a:p>
          <a:p>
            <a:r>
              <a:t>• Information Management: estándares para la WBS, la nomenclatura, la generación e intercambio de datos, las interfaces de software y la estructura y atributos del modelo 3D.</a:t>
            </a:r>
          </a:p>
          <a:p>
            <a:r>
              <a:t>• Workface Planning: Workface Planners, IWP, gestión de restricciones, ejecución en campo y reportes.</a:t>
            </a:r>
          </a:p>
          <a:p>
            <a:r>
              <a:t>Los procedimientos de Insight se apoyan en una "caja de herramientas" (Toolbox) con documentos modelo (SD01 a SD07), procedimientos complementarios (andamios, equipos, capacitación, empaquetamiento) y perfiles de puesto (JD01 a JD05). Ojo: el INDICE.md señala referencias cruzadas erróneas entre SD06 y SD07.</a:t>
            </a:r>
          </a:p>
          <a:p/>
          <a:p>
            <a:r>
              <a:t>FUENTE: advanced-work-packaging-awp-quick-start-guide-pdf.md (§2); 1-advanced-work-packaging-procedure-insight-awp-2017-pdf.md; 2-information-management-procedure-insight-awp-2017-pdf.md; 3-workface-planning-procedure-insight-awp-2017-pdf.md (WFP Toolbox); INDICE.md §4.2.</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Procedimiento 3.0 de Insight establece que el procedimiento de WFP se entrega a los postores como parte de la solicitud de propuesta (RFP, Request for Proposal) para todo tipo de contrato, y que la oferta debe declarar la intención de cumplirlo.</a:t>
            </a:r>
          </a:p>
          <a:p>
            <a:r>
              <a:t>La cláusula modelo dice, en síntesis: el contratista participará en el programa de Workface Planning del propietario; su cronograma se desglosará al nivel 3 con CWP y al nivel 5 con IWP; presentará currículos de planificadores calificados, que el propietario entrevistará; el número de planificadores seguirá la tabla de carga de recursos; y los costos se mostrarán en el formulario de precios.</a:t>
            </a:r>
          </a:p>
          <a:p>
            <a:r>
              <a:t>La Quick Start Guide añade que la entrega del modelo 3D y de los datos de los fabricantes también se asegura con una cláusula contractual que los identifica como entregables.</a:t>
            </a:r>
          </a:p>
          <a:p/>
          <a:p>
            <a:r>
              <a:t>FUENTE: 3-workface-planning-procedure-insight-awp-2017-pdf.md (§3 How to apply this procedure: 'Contract language'); advanced-work-packaging-awp-quick-start-guide-pdf.md (§3 3D Model and Fabrication); 1-advanced-work-packaging-procedure-insight-awp-2017-pdf.md (§5).</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Según el Procedimiento 1.0 de Insight (§10), el AWP Champion trabaja con el equipo de contratos y la gerencia del proyecto para evaluar cada oferta. Aplica la tabla de puntuación de ofertas (plantilla SD02) a cada propuesta y entrevista a un representante de cada postor para completar la segunda parte de la evaluación. El puntaje final, expresado como porcentaje del máximo alcanzable, orienta sobre la capacidad del postor para cumplir su parte de los procedimientos de WFP, y el equipo de contratos lo considera en la evaluación técnica.</a:t>
            </a:r>
          </a:p>
          <a:p>
            <a:r>
              <a:t>El curso 2023 aporta dos lecciones: muchos contratistas dicen ser expertos e incluso envían procedimientos bien escritos, pero la única forma de saberlo es sentarse a conversar con ellos; y no ser experto no debería excluir a un contratista: es mejor un novato que quiere aprender que un "experto" que no aplica el proceso.</a:t>
            </a:r>
          </a:p>
          <a:p/>
          <a:p>
            <a:r>
              <a:t>FUENTE: 1-advanced-work-packaging-procedure-insight-awp-2017-pdf.md (§10 Bid Assessments); awp-2023-integrado-pdf.md (AWP Related Lessons Learned, lecciones 4 y 5).</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software de Workface Planning organiza los datos del proyecto sobre el modelo 3D para que los planificadores creen y gestionen IWP en un entorno virtual. También calcula el valor planificado a partir de tasas de instalación y reglas de avance del estimado, muestra el estado de preparación de cada IWP (materiales y planos recibidos) y permite simulaciones 4D.</a:t>
            </a:r>
          </a:p>
          <a:p>
            <a:r>
              <a:t>Antes del inicio del FEED (Front End Engineering Design, ingeniería básica), el AWP Champion y el Information Manager evalúan las funciones y la compatibilidad de los productos con el software que ya se usa para el modelo 3D, la gestión de materiales y el control documental.</a:t>
            </a:r>
          </a:p>
          <a:p>
            <a:r>
              <a:t>Nota: en 2017 los procedimientos citaban ConstructSim y SmartPlant Construction; el mercado ha cambiado, por lo que conviene revisar las opciones actuales.</a:t>
            </a:r>
          </a:p>
          <a:p/>
          <a:p>
            <a:r>
              <a:t>FUENTE: advanced-work-packaging-awp-quick-start-guide-pdf.md (§4 Workface Planning Software); 1-advanced-work-packaging-procedure-insight-awp-2017-pdf.md (§8); 2-information-management-procedure-insight-awp-2017-pdf.md (§6); INDICE.md §4.2.</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estructura de desglose del trabajo (WBS, Work Breakdown Structure) es el sistema de numeración que divide el proyecto en partes manejables. Alinea trabajo, tiempo y costo: sirve de base para los paquetes, el cronograma y los códigos de costo.</a:t>
            </a:r>
          </a:p>
          <a:p>
            <a:r>
              <a:t>Ejemplo de los procedimientos de Insight: WTF-I-12-E4-C05-14 = planta de tratamiento de agua (WTF) · zona ISBL (I; O sería OSBL) · CWA 12 · disciplina E (movimiento de tierras) y subdisciplina 4 (excavación) · paquete C05 (C = CWP; E = ingeniería, M = módulos, F = fabricación, P = compras) · 14 = IWP, plano o spool.</a:t>
            </a:r>
          </a:p>
          <a:p>
            <a:r>
              <a:t>ISBL/OSBL: dentro o fuera de los límites de batería de la planta.</a:t>
            </a:r>
          </a:p>
          <a:p>
            <a:r>
              <a:t>Consejo del curso 2023: la WBS de AWP no se ocupa del costo, sino de que el campo sea eficiente. Si Controles quiere niveles adicionales (tipo de costo, CapEx/OpEx), no los mezcle en el desglose de AWP; alinee solo los niveles importantes.</a:t>
            </a:r>
          </a:p>
          <a:p/>
          <a:p>
            <a:r>
              <a:t>FUENTE: 3-workface-planning-procedure-insight-awp-2017-pdf.md y 2-information-management-procedure-insight-awp-2017-pdf.md (§2 Definiciones: WBS y Project Nomenclature); awp-2023-integrado-pdf.md ('What is the AWP-based Work Breakdown Structure?').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Procedimiento 1.0 de Insight (§11) establece que el AWP Champion, con apoyo de la gerencia del proyecto, realiza un seminario de lanzamiento y lecciones aprendidas con representantes de todos los actores, dentro de los 30 días posteriores a la adjudicación del contrato.</a:t>
            </a:r>
          </a:p>
          <a:p>
            <a:r>
              <a:t>La jornada completa se divide así: por la mañana, un programa de capacitación sobre los conceptos, entregables e interdependencias de AWP, IM y WFP; por la tarde, lecciones aprendidas de otros proyectos y los procedimientos del proyecto, con una sesión interactiva en la que cada actor aporta sus propias lecciones a un registro.</a:t>
            </a:r>
          </a:p>
          <a:p>
            <a:r>
              <a:t>Luego se forma un comité de dirección de WFP con un representante de cada grupo, que se reúne mensualmente durante todo el proyecto para plantear problemas y resolverlos.</a:t>
            </a:r>
          </a:p>
          <a:p/>
          <a:p>
            <a:r>
              <a:t>FUENTE: 1-advanced-work-packaging-procedure-insight-awp-2017-pdf.md (§11 AWP-IM-WFP Kick-off and Lessons Learned).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Separador del Módulo 4, primera fase del ciclo AWP. La mejor práctica es iniciar las actividades de planificación de AWP en FEL 2 (etapa de selección). Aquí se definen las áreas de construcción (CWA), se desarrolla el Path of Construction en talleres interactivos y se obtiene el primer plan de liberación de paquetes.</a:t>
            </a:r>
          </a:p>
          <a:p>
            <a:r>
              <a:t>Todo lo que se decide en esta fase condiciona a Ingeniería y Compras en la siguiente.</a:t>
            </a:r>
          </a:p>
          <a:p/>
          <a:p>
            <a:r>
              <a:t>FUENTE: awp-2023-integrado-pdf.md ('AWP and the Stage Gate System'); advanced-work-packaging-a-recommended-practice-for-capital-projects-omega-365-blogs.md (Stage 1 – Preliminary Planning).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CII describe cuatro etapas para implementar AWP a lo largo del proceso de Front End Loading (FEL), que se corresponden con FEL 2, FEL 3, la ejecución y el comisionamiento:</a:t>
            </a:r>
          </a:p>
          <a:p>
            <a:r>
              <a:t>• Etapa 1, planificación preliminar (FEL 2): se establece el marco AWP, las CWA y el primer Path of Construction (POC).</a:t>
            </a:r>
          </a:p>
          <a:p>
            <a:r>
              <a:t>• Etapa 2, ingeniería de detalle y compras (FEL 3): con el POC definido, la ingeniería y las compras se secuencian en consecuencia.</a:t>
            </a:r>
          </a:p>
          <a:p>
            <a:r>
              <a:t>• Etapa 3, construcción e integración: disciplina en el frente de trabajo e integración continua.</a:t>
            </a:r>
          </a:p>
          <a:p>
            <a:r>
              <a:t>• Etapa 4, comisionamiento y puesta en marcha: el foco pasa del avance de construcción a la preparación de sistemas.</a:t>
            </a:r>
          </a:p>
          <a:p>
            <a:r>
              <a:t>El Framework y la COAA describen el mismo flujo en tres etapas (planificación preliminar, ingeniería de detalle y construcción) más la entrega y el arranque.</a:t>
            </a:r>
          </a:p>
          <a:p/>
          <a:p>
            <a:r>
              <a:t>FUENTE: advanced-work-packaging-a-recommended-practice-for-capital-projects-omega-365-blogs.md (Planning and Implementation Stages); cii-awp-cba-education-framework-pdf.md (Stage I, II, III).</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mayoría de las empresas usa un sistema de compuertas (stage gates) para verificar los objetivos y el avance del proyecto antes de pasar a la siguiente fase. El curso 2023 describe cinco etapas: FEL 1 (evaluar), FEL 2 (seleccionar), FEL 3 (definir, también llamada FEED), ejecución y operación. La compuerta 3 corresponde normalmente a la decisión final de inversión (FID, Final Investment Decision).</a:t>
            </a:r>
          </a:p>
          <a:p>
            <a:r>
              <a:t>La mejor práctica es empezar la planificación AWP en FEL 2 e incluir los entregables AWP en las revisiones de compuerta. El POC es un entregable de la compuerta 3 y debe completarse y aprobarse antes de iniciar la ingeniería de detalle.</a:t>
            </a:r>
          </a:p>
          <a:p>
            <a:r>
              <a:t>El estimado también evoluciona: sin requisitos AWP en FEL 1; separado por CWA y disciplina en FEL 2; por CWA, disciplina y secuencia en FEL 3; y en ejecución las ofertas de los contratistas se evalúan contra el estimado por CWP.</a:t>
            </a:r>
          </a:p>
          <a:p/>
          <a:p>
            <a:r>
              <a:t>FUENTE: awp-2023-integrado-pdf.md ('AWP and the Stage Gate System', 'Timing of Estimate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Cuándo: las CWA deben crearse temprano en FEL 2 o, a más tardar, al comienzo de FEL 3, para usarlas en el POC, el cronograma y el desglose del estimado.</a:t>
            </a:r>
          </a:p>
          <a:p>
            <a:r>
              <a:t>Qué se necesita: el plano de implantación, una comprensión temprana del alcance y las consideraciones clave para la secuencia de construcción.</a:t>
            </a:r>
          </a:p>
          <a:p>
            <a:r>
              <a:t>Quién participa: es una oportunidad temprana de colaboración con el equipo de proyecto e Ingeniería, pero la discusión la lidera Construcción.</a:t>
            </a:r>
          </a:p>
          <a:p>
            <a:r>
              <a:t>Criterios del curso 2023: prioridad (aislar áreas prioritarias), contratación (áreas de contratistas distintos), racks de tuberías (delimitar bien), tamaño (no tienen que ser iguales), horas (horas de campo similares), función (por ejemplo, patios de tanques), proceso (no tienen que coincidir con las unidades de proceso). Las instalaciones existentes sin alcance no reciben CWA.</a:t>
            </a:r>
          </a:p>
          <a:p>
            <a:r>
              <a:t>Resultado: un plano de implantación marcado con las CWA, emitido a todos los actores.</a:t>
            </a:r>
          </a:p>
          <a:p/>
          <a:p>
            <a:r>
              <a:t>FUENTE: awp-2023-integrado-pdf.md ('When are CWAs created?', 'What should be considered in defining CWAs?', 'What is the output?').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Path of Construction (POC) es la secuencia óptima de ejecución de las actividades de construcción, dentro de las CWA y los CWP, para lograr el desempeño deseado del proyecto. El cronograma de entregables de ingeniería debe alinearse con él.</a:t>
            </a:r>
          </a:p>
          <a:p>
            <a:r>
              <a:t>Responde preguntas como: ¿cómo se construirá la planta? ¿De norte a sur? ¿De izquierda a derecha? ¿Cuáles son las prioridades? ¿Cómo se aprovechan mejor los recursos y las condiciones del sitio?</a:t>
            </a:r>
          </a:p>
          <a:p>
            <a:r>
              <a:t>Omega 365 lo llama la piedra angular de AWP: define el orden en que se ejecutarán, probarán y entregarán las actividades, sistemas y áreas.</a:t>
            </a:r>
          </a:p>
          <a:p>
            <a:r>
              <a:t>El plano muestra una secuencia ilustrativa (números naranjas): primero la subestación, luego la unidad de proceso y el rack, etc. Cada proyecto tendrá la suya.</a:t>
            </a:r>
          </a:p>
          <a:p/>
          <a:p>
            <a:r>
              <a:t>FUENTE: awp-2023-integrado-pdf.md ('Definition - A Path of Construction', 'Defining Your Construction Driven Plan'); advanced-work-packaging-a-recommended-practice-for-capital-projects-omega-365-blogs.md (Path of Construction).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Según el curso 2023, el POC tiene componentes concretos:</a:t>
            </a:r>
          </a:p>
          <a:p>
            <a:r>
              <a:t>• Plano de implantación marcado con las CWA y la secuencia.</a:t>
            </a:r>
          </a:p>
          <a:p>
            <a:r>
              <a:t>• Matriz de CWP (disciplina × área): compara el alcance previsto con las horas para detectar anomalías.</a:t>
            </a:r>
          </a:p>
          <a:p>
            <a:r>
              <a:t>• Informe del POC: objetivos, proceso y momento de desarrollo, alcance (y lo que queda fuera), prioridades del proyecto, restricciones principales, lista de CWA, consideraciones de compras (equipos de largo plazo de entrega), consideraciones operativas, etc.</a:t>
            </a:r>
          </a:p>
          <a:p>
            <a:r>
              <a:t>• Anexos: estudio de ruta de carga pesada, plan de modularización o fabricación, lista de equipos, resumen de plazos de compra, programa de paradas de planta, plan de izajes y grúas, evaluación de mano de obra.</a:t>
            </a:r>
          </a:p>
          <a:p>
            <a:r>
              <a:t>• Simulación: una animación de la secuencia ayuda a detectar errores y a comunicar el plan a los actores.</a:t>
            </a:r>
          </a:p>
          <a:p/>
          <a:p>
            <a:r>
              <a:t>FUENTE: awp-2023-integrado-pdf.md ('The Components of the Path of Construction', 'Output - POC Report Components', 'Output - POC Simulation').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POC es un entregable dirigido por Construcción: su objetivo es traer la planificación de la construcción al proyecto lo antes posible. Por eso su dueño final es el Construction Manager (curso 2023).</a:t>
            </a:r>
          </a:p>
          <a:p>
            <a:r>
              <a:t>El Procedimiento 1.0 de Insight (§13) asigna al gerente sénior del proyecto la responsabilidad de convocar el proceso y asegurar que la lógica de construcción optimizada sea la influencia dominante en el POC final.</a:t>
            </a:r>
          </a:p>
          <a:p>
            <a:r>
              <a:t>Ingeniería ayuda a Construcción a entender los límites del plan (por ejemplo, que no se puede diseñar una fundación sin los datos del equipo), y esos límites se expresan como restricciones blandas o duras. Compras aporta los plazos de equipos críticos.</a:t>
            </a:r>
          </a:p>
          <a:p>
            <a:r>
              <a:t>El contratista de construcción participa en las reuniones si la fase y el tipo de contrato lo permiten; si no, recibe el POC en la licitación para alinear su plan de ejecución.</a:t>
            </a:r>
          </a:p>
          <a:p>
            <a:r>
              <a:t>Omega 365 ubica la propiedad del POC en el EPC/EPCM bajo la gobernanza del propietario: defina el criterio según su modelo de contrato.</a:t>
            </a:r>
          </a:p>
          <a:p/>
          <a:p>
            <a:r>
              <a:t>FUENTE: awp-2023-integrado-pdf.md ('Path of Construction - Roles &amp; Responsibilities'); 1-advanced-work-packaging-procedure-insight-awp-2017-pdf.md (§13 Optimal Path of Construction); advanced-work-packaging-a-recommended-practice-for-capital-projects-omega-365-blogs.md (Governance of the PoC).</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curso 2023 propone un enfoque iterativo en tres pasos:</a:t>
            </a:r>
          </a:p>
          <a:p>
            <a:r>
              <a:t>1) POC sin restricciones: solo personal de Construcción, sin limitaciones; es un plan puramente constructivo (insumos: plano de implantación, cronograma de nivel 1, estimado FEL 1).</a:t>
            </a:r>
          </a:p>
          <a:p>
            <a:r>
              <a:t>2) POC con restricciones: se incorporan los aportes de Ingeniería y Compras y se revisan las restricciones blandas y duras (estrategias preliminares de compras, recursos, modularización y contratación; cronograma y estimado de nivel 2). Normalmente se hace en una reunión de planificación interactiva donde cada actor presenta sus plazos y restricciones.</a:t>
            </a:r>
          </a:p>
          <a:p>
            <a:r>
              <a:t>3) POC final: con los planes finales y los datos técnicos de FEL 3, con todos los actores; es la base del cronograma EPC de nivel 3 y un entregable de la compuerta 3.</a:t>
            </a:r>
          </a:p>
          <a:p>
            <a:r>
              <a:t>AWP vs Lean destaca que en AWP el POC se desarrolla colaborativamente en una serie de sesiones interactivas.</a:t>
            </a:r>
          </a:p>
          <a:p/>
          <a:p>
            <a:r>
              <a:t>FUENTE: awp-2023-integrado-pdf.md ('Developing the POC: An iterative approach', 'How is it done?'); 1-advanced-work-packaging-procedure-insight-awp-2017-pdf.md (§14); awp-vs-lc-pdf.md (tema 1).</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resultado ideal del taller del POC es la lista completa de CWP de una sola disciplina y la secuencia en que deben iniciar la construcción: el plan de liberación de CWP (CWP Release Plan). Establece, en formato de cronograma, la secuencia ideal y el desfase aproximado entre los inicios de cada CWP.</a:t>
            </a:r>
          </a:p>
          <a:p>
            <a:r>
              <a:t>Luego Ingeniería y Compras hacen un "cálculo hacia atrás": estiman la duración de cada EWP y cada PWP que debe soportar cada CWP. El EWP termina con el último plano IFC; el PWP, con el último componente recibido en obra. Las actividades van en serie (fin a inicio).</a:t>
            </a:r>
          </a:p>
          <a:p>
            <a:r>
              <a:t>El diagrama reproduce el ejemplo del Procedimiento 1.0 ("Instalar intercambiadores de calor") de forma ilustrativa: pilotes, concreto, acero, tuberías, electricidad e instrumentación (E &amp; I), traceado eléctrico y aislamiento, escalonados.</a:t>
            </a:r>
          </a:p>
          <a:p>
            <a:r>
              <a:t>Si hay módulos, un grupo de menos de 10 módulos se trata como un solo CWP. En esta etapa las duraciones son estimados de orden de magnitud (±25 %).</a:t>
            </a:r>
          </a:p>
          <a:p/>
          <a:p>
            <a:r>
              <a:t>FUENTE: 1-advanced-work-packaging-procedure-insight-awp-2017-pdf.md (§14 Interactive Planning Workshop: CWP Release Plan y EWP Release Plan).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Cuándo se crea: el POC debe crearse inicialmente en FEL 2 (selección). Así se tiene una secuencia de prioridades contra la cual evaluar todos los demás planes del proyecto.</a:t>
            </a:r>
          </a:p>
          <a:p>
            <a:r>
              <a:t>Cuándo se finaliza: se actualiza al inicio de FEL 3 (definición) y se cierra al final de FEL 3. Fijarlo en ese momento da al contratista de ingeniería la mejor oportunidad de entregar según el plan.</a:t>
            </a:r>
          </a:p>
          <a:p>
            <a:r>
              <a:t>Omega 365 recuerda que el POC es un documento vivo: después de congelarlo se mantiene y se actualiza si cambian las condiciones, pero los cambios se gestionan formalmente porque afectan la secuencia de CWP, de ingeniería y de compras.</a:t>
            </a:r>
          </a:p>
          <a:p/>
          <a:p>
            <a:r>
              <a:t>FUENTE: awp-2023-integrado-pdf.md ('When is the POC created?', 'When is the POC finalized?'); advanced-work-packaging-a-recommended-practice-for-capital-projects-omega-365-blogs.md (Development of the PoC); awp-education-primer-pdf.md.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procedimientos de Insight-AWP (2017) definen siete niveles de cronograma, cada uno con su unidad de planificación y su horizonte:</a:t>
            </a:r>
          </a:p>
          <a:p>
            <a:r>
              <a:t>Nivel 1: planta, año. Nivel 2: CWA, 6 meses. Nivel 3: CWP, 3 meses. Nivel 4: código de función, mes. Nivel 5: IWP, semana. Nivel 6: plan diario, día. Nivel 7: tarea, hora.</a:t>
            </a:r>
          </a:p>
          <a:p>
            <a:r>
              <a:t>En la práctica, el cronograma del proyecto se lleva hasta el nivel 3 con CWP. Luego el Workface Planner lo baja al nivel 5 dividiendo cada CWP en IWP y entregando la secuencia al programador. Según la Quick Start Guide, el cronograma de nivel 5 solo debe contener CWP, IWP e hitos.</a:t>
            </a:r>
          </a:p>
          <a:p>
            <a:r>
              <a:t>Advertencia: el Glosario del CII ubica el IWP en el nivel 4. Defina el criterio en el procedimiento del proyecto.</a:t>
            </a:r>
          </a:p>
          <a:p/>
          <a:p>
            <a:r>
              <a:t>FUENTE: 1-advanced-work-packaging-procedure-insight-awp-2017-pdf.md (§2 Definiciones: niveles de cronograma); advanced-work-packaging-awp-quick-start-guide-pdf.md (§6 The Project Schedule); INDICE.md §3.</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Lista de verificación de la Fase 1. Estos entregables entran en la revisión de la compuerta 2 y se completan o congelan durante FEL 3:</a:t>
            </a:r>
          </a:p>
          <a:p>
            <a:r>
              <a:t>• Plan AWP del proyecto, que el curso 2023 describe como el acuerdo entre propietario, contratista de ingeniería y construcción, actualizado durante las fases tempranas.</a:t>
            </a:r>
          </a:p>
          <a:p>
            <a:r>
              <a:t>• Plano de implantación con las CWA, emitido a todos los actores.</a:t>
            </a:r>
          </a:p>
          <a:p>
            <a:r>
              <a:t>• Path of Construction: informe, plano marcado, matriz de CWP y simulación.</a:t>
            </a:r>
          </a:p>
          <a:p>
            <a:r>
              <a:t>• Matriz EWP/CWP por disciplina y área (en FEL 2 aparece cada disciplina en cada área; se refina en FEL 3).</a:t>
            </a:r>
          </a:p>
          <a:p>
            <a:r>
              <a:t>• Plan de liberación preliminar de CWP, EWP y PWP.</a:t>
            </a:r>
          </a:p>
          <a:p>
            <a:r>
              <a:t>• Procedimientos AWP, IM y WFP aprobados.</a:t>
            </a:r>
          </a:p>
          <a:p>
            <a:r>
              <a:t>• Estrategia de contratación con las cláusulas AWP.</a:t>
            </a:r>
          </a:p>
          <a:p>
            <a:r>
              <a:t>Las CWA dan un desglose coherente para el estimado, la WBS y el cronograma, lo que ayuda a alinearlos.</a:t>
            </a:r>
          </a:p>
          <a:p/>
          <a:p>
            <a:r>
              <a:t>FUENTE: awp-2023-integrado-pdf.md ('FEL2 / Select Stage AWP Activities', 'How does AWP help?', 'EWPs Through the Phases'); advanced-work-packaging-a-recommended-practice-for-capital-projects-omega-365-blogs.md (Stage 1); awp-education-primer-pdf.md.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Separador del Módulo 5, segunda fase. Con el Path of Construction congelado al final de FEL 3, Ingeniería y Compras secuencian su trabajo según ese orden.</a:t>
            </a:r>
          </a:p>
          <a:p>
            <a:r>
              <a:t>En este módulo: la ingeniería dirigida por construcción, el flujo y la medición de los EWP, el impacto en compras (Procurement Work Number) y la preparación de los CWP.</a:t>
            </a:r>
          </a:p>
          <a:p/>
          <a:p>
            <a:r>
              <a:t>FUENTE: awp-2023-integrado-pdf.md (Lecciones 'Construction Driven Engineering', 'Understanding EWP Workflows', 'How Does AWP Impact Procurement?'); advanced-work-packaging-a-recommended-practice-for-capital-projects-omega-365-blogs.md (Stage 2).</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una de las objeciones más frecuentes ("así no trabaja Ingeniería; esto la va a frenar"). El Education Framework del CII la llama una de las grandes falacias sobre AWP: el proceso debería tener poco impacto en la productividad de Ingeniería, que puede seguir diseñando por sistemas. La diferencia está en cómo se distribuyen los entregables y en la prioridad que guía la secuencia.</a:t>
            </a:r>
          </a:p>
          <a:p>
            <a:r>
              <a:t>El curso 2023 aporta consideraciones para el primer proyecto: la ingeniería dirigida por construcción cambia hábitos y procesos, puede generar resistencia y requiere compromiso del liderazgo de Ingeniería; a veces obliga a usar supuestos de diseño que la ingeniería tradicional no haría, y es común que propietarios o EPC incentiven a sus equipos para la transición.</a:t>
            </a:r>
          </a:p>
          <a:p/>
          <a:p>
            <a:r>
              <a:t>FUENTE: awp-2023-integrado-pdf.md ('How Does AWP Impact Engineering?', 'Is AWP an Engineering burden?', 'Pilot Considerations'); cii-awp-cba-education-framework-pdf.md (objeción 'This isn't how engineering works').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diferencia no está en cuánto trabajo hace Ingeniería, sino en el orden en que lo entrega.</a:t>
            </a:r>
          </a:p>
          <a:p>
            <a:r>
              <a:t>Enfoque tradicional: Ingeniería define su propia secuencia, libera documentos a Construcción a medida que los termina, y Construcción ejecuta el alcance que tenga disponible. Resultado: frentes de trabajo incompletos y cuadrillas esperando información.</a:t>
            </a:r>
          </a:p>
          <a:p>
            <a:r>
              <a:t>Enfoque AWP: Construcción define primero el POC; Ingeniería lo usa como base de su Path of Engineering y entrega EWP completos por CWA ("construimos de norte a sur: denos primero los planos de la unidad norte"); Construcción ejecuta según el plan acordado.</a:t>
            </a:r>
          </a:p>
          <a:p>
            <a:r>
              <a:t>Para lograr esta "ingeniería dirigida por construcción" hacen falta dos cosas: el compromiso del contratista de Ingeniería y un buen POC. Ingeniería, a su vez, explica los límites del plan (por ejemplo, pilotes → fundación → equipo) como restricciones en los talleres del POC.</a:t>
            </a:r>
          </a:p>
          <a:p/>
          <a:p>
            <a:r>
              <a:t>FUENTE: awp-2023-integrado-pdf.md (Lección 3: 'Understanding the Path of Engineering'; 'Construction Driven Engineering';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Usar el desglose por CWA para Ingeniería crea una serie de miniproyectos. Combinado con el enfoque tradicional por disciplina, permite un seguimiento más claro y granular.</a:t>
            </a:r>
          </a:p>
          <a:p>
            <a:r>
              <a:t>Se completan entregables discretos de ingeniería que permiten a Construcción empezar; y la granularidad de AWP permite seguir entregables más pequeños, lo que da una indicación más temprana de problemas y retrasos.</a:t>
            </a:r>
          </a:p>
          <a:p>
            <a:r>
              <a:t>En un proyecto sin AWP, el avance de Ingeniería se reporta como un porcentaje global por disciplina; con AWP se sabe qué EWP de qué área está atrasado y a qué CWP afecta.</a:t>
            </a:r>
          </a:p>
          <a:p/>
          <a:p>
            <a:r>
              <a:t>FUENTE: awp-2023-integrado-pdf.md (Lección 3: 'Managing Engineering by CWA'; 'The Outcome').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Según el curso 2023, antes de que Ingeniería empiece a desarrollar EWP conviene mapear tres flujos: desarrollo del EWP, despliegue al equipo del proyecto, y revisión y aprobación.</a:t>
            </a:r>
          </a:p>
          <a:p>
            <a:r>
              <a:t>• Marco: establecer el desglose de CWA, crear la WBS y la matriz de EWP.</a:t>
            </a:r>
          </a:p>
          <a:p>
            <a:r>
              <a:t>• Despliegue: capacitar al equipo en la estructura, asignar documentos a los EWP, desglosar el estimado por EWP, organizar el modelo por CWA y gestionar la información por EWP (el número de EWP se marca en los planos).</a:t>
            </a:r>
          </a:p>
          <a:p>
            <a:r>
              <a:t>• Revisión y aprobación: en ejecución los EWP son el entregable final de Ingeniería, emitidos por área y disciplina; la revisión oportuna del propietario y del contratista de construcción es clave.</a:t>
            </a:r>
          </a:p>
          <a:p>
            <a:r>
              <a:t>• Liberación: es el hito de interfaz del cronograma; cada EWP debe estar representado en él. El plan de liberación registra las fechas planificadas (del cronograma EPC aprobado) y las reales.</a:t>
            </a:r>
          </a:p>
          <a:p/>
          <a:p>
            <a:r>
              <a:t>FUENTE: awp-2023-integrado-pdf.md ('Understanding EWP Workflows', 'EWP Rollout', 'EWP Review and Approval', 'Managing EWPs - The Release Plan', 'EWP Preparation - Schedule').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Durante la ejecución, mientras la ingeniería avanza, se mide con reglas de crédito para cada EWP. El ejemplo del curso 2023: inicio del diseño 5 %; revisión interna de Ingeniería 20 % (acumulado 25 %); emitido para revisión (IFR, Issued for Review) 10 % (35 %); revisión y comentarios del cliente 5 % (40 %); emitido para construcción (IFC) sin retenciones 50 % (90 %); revisión y aprobación de Construcción 10 % (100 %).</a:t>
            </a:r>
          </a:p>
          <a:p>
            <a:r>
              <a:t>Observe que la mitad del crédito se gana solo cuando el paquete se emite IFC sin retenciones: se premia entregar paquetes completos, no planos sueltos.</a:t>
            </a:r>
          </a:p>
          <a:p>
            <a:r>
              <a:t>Las reglas las propone el contratista de Ingeniería y las revisa y acepta el propietario. Combinadas con las horas asignadas a cada EWP, dan el valor ganado de Ingeniería.</a:t>
            </a:r>
          </a:p>
          <a:p/>
          <a:p>
            <a:r>
              <a:t>FUENTE: awp-2023-integrado-pdf.md ('Engineering KPIs - Execute Stage - In Progress'; 'EWP Rules of Credit').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curso 2023 establece que los EWP los produce el contratista de Ingeniería para la fase de ejecución, independientemente del tipo de contrato. El equipo, liderado por el gerente de Ingeniería, es responsable de crearlos.</a:t>
            </a:r>
          </a:p>
          <a:p>
            <a:r>
              <a:t>Para producir EWP precisos, el contratista de Ingeniería debe conocer el POC y la estructura de paquetes. Debe existir una definición clara de cuándo se completa cada EWP y de la transferencia de información a Construcción, representada en el cronograma como interfaz: EWP completo → revisión del propietario o del contratista de construcción → EWP liberado → desarrollo del CWP.</a:t>
            </a:r>
          </a:p>
          <a:p>
            <a:r>
              <a:t>Si el contratista de Ingeniería cambia entre fases, conviene planificar la transición para no interrumpir el proceso AWP.</a:t>
            </a:r>
          </a:p>
          <a:p/>
          <a:p>
            <a:r>
              <a:t>FUENTE: awp-2023-integrado-pdf.md ('Who Prepares EWPs?', 'EWP Preparation - Schedule', 'EWP Preparation - Roles', 'EWP Preparation - Transition').</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Compras es un componente esencial de AWP. El curso 2023 explica:</a:t>
            </a:r>
          </a:p>
          <a:p>
            <a:r>
              <a:t>• Quién suministra qué se define temprano con una matriz de responsabilidad de materiales (MRM, Material Responsibility Matrix).</a:t>
            </a:r>
          </a:p>
          <a:p>
            <a:r>
              <a:t>• El contratista de compras adquiere todo el material que suministra el propietario según la MTO de cada EWP y trabaja con los proveedores para que su documentación apoye el proceso AWP. El contratista de construcción suele encargarse de la recepción, inspección y almacenamiento.</a:t>
            </a:r>
          </a:p>
          <a:p>
            <a:r>
              <a:t>• Los materiales a granel no se compran por EWP: se agregan en pedidos grandes para obtener mejor precio. Para no perder la secuencia, Compras debe verificar que la primera entrega para cada EWP llegue en su fecha requerida en obra (RAS, Required at Site).</a:t>
            </a:r>
          </a:p>
          <a:p>
            <a:r>
              <a:t>• El control exige poder rastrear la compra desde el informe de recepción (MRR), al pedido (PO), a la requisición, a la MTO y al EWP.</a:t>
            </a:r>
          </a:p>
          <a:p/>
          <a:p>
            <a:r>
              <a:t>FUENTE: awp-2023-integrado-pdf.md ('How Does AWP Impact Procurement?', 'Who Supplies What', 'Procurement Roles and Responsibilities', 'Timing', 'Procurement - Methods Used to Control').</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Desde la perspectiva de AWP, la clave de compras y de la gestión de materiales es la codificación: asignar cada componente a su EWP/CWP. Ese código es el Procurement Work Number.</a:t>
            </a:r>
          </a:p>
          <a:p>
            <a:r>
              <a:t>El curso 2023 distingue tres tipos de compra:</a:t>
            </a:r>
          </a:p>
          <a:p>
            <a:r>
              <a:t>• Ítems con tag: materiales o equipos únicos con nombre propio en el proyecto. Siguen la cadena diseño → MTO → pedido (PO) → documento de envío → informe de recepción (MRR, Material Receiving Report) → cierre.</a:t>
            </a:r>
          </a:p>
          <a:p>
            <a:r>
              <a:t>• Ítems a granel: se piden en grandes cantidades, no son únicos y sirven a varios EWP (tubería, accesorios, válvulas). Es el caso más complejo, porque los pedidos agregan varios EWP.</a:t>
            </a:r>
          </a:p>
          <a:p>
            <a:r>
              <a:t>• Ítems fabricados: se ensamblan fuera de obra (por ejemplo, spools o estructuras) y se gestionan igual que los ítems con tag.</a:t>
            </a:r>
          </a:p>
          <a:p>
            <a:r>
              <a:t>El requisito es poder rastrear la compra desde el MRR hasta el EWP.</a:t>
            </a:r>
          </a:p>
          <a:p/>
          <a:p>
            <a:r>
              <a:t>FUENTE: awp-2023-integrado-pdf.md ('What is a Procurement Work Number?', 'Tagged Items', 'Bulk Items', 'Fabricated Items').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marco de los CWP sigue el mismo proceso que el de los EWP. En ejecución, los CWP son el entregable final de Construcción, emitidos por área y disciplina, y suelen usarse como alcance de los contratos de construcción.</a:t>
            </a:r>
          </a:p>
          <a:p>
            <a:r>
              <a:t>Como el EWP es el punto de partida del CWP, es crítico que la información de Ingeniería se libere a tiempo; en el cronograma, el desarrollo del CWP empieza cuando el EWP se libera.</a:t>
            </a:r>
          </a:p>
          <a:p>
            <a:r>
              <a:t>Antes de desarrollar el CWP, Construcción revisa el EWP para detectar problemas. El avance del CWP se mide con reglas de crédito propuestas por quien lo prepara y aceptadas por el propietario. El plan de liberación de CWP toma como punto de partida la fecha de liberación del EWP.</a:t>
            </a:r>
          </a:p>
          <a:p>
            <a:r>
              <a:t>Recomendaciones de redacción: cuidado con el lenguaje que pueda leerse como instrucción; defina con claridad el límite del alcance y lo que harán otros; evite el texto repetido y el lenguaje contractual; y para equipos de proveedores, indique el alcance que queda por hacer en obra.</a:t>
            </a:r>
          </a:p>
          <a:p/>
          <a:p>
            <a:r>
              <a:t>FUENTE: awp-2023-integrado-pdf.md ('Understanding CWP Workflows', 'CWP Preparation - Schedule', 'CWP Preparation - EWP Review', 'CWP Rules of Credit', 'CWP Content -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curso 2023 indica que quién prepara los CWP depende en gran medida del modelo de contratación del proyecto. En proyectos pequeños, con recursos limitados, el contratista de Ingeniería puede producir también el CWP.</a:t>
            </a:r>
          </a:p>
          <a:p>
            <a:r>
              <a:t>Los procedimientos de Insight asignan a la gerencia de construcción mapear el POC e identificar el tamaño, contenido y secuencia de los CWP, y al WFP Coordinator la creación y gestión de los CWP y la entrega de la información del proyecto a los Workface Planners del contratista.</a:t>
            </a:r>
          </a:p>
          <a:p>
            <a:r>
              <a:t>Omega 365 ubica en el EPC/EPCM la definición de las CWA y los CWP y la coordinación de los entregables de ingeniería, compras y construcción.</a:t>
            </a:r>
          </a:p>
          <a:p>
            <a:r>
              <a:t>Recomendación: fije el responsable en el procedimiento del proyecto antes de licitar, para que las ofertas lo incluyan.</a:t>
            </a:r>
          </a:p>
          <a:p/>
          <a:p>
            <a:r>
              <a:t>FUENTE: awp-2023-integrado-pdf.md ('Who Prepares CWPs?', 'EWP / CWP Preparation - Small Projects'); 1-advanced-work-packaging-procedure-insight-awp-2017-pdf.md (§5 y §7); advanced-work-packaging-a-recommended-practice-for-capital-projects-omega-365-blogs.md (roles).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Lista de verificación de la Fase 2:</a:t>
            </a:r>
          </a:p>
          <a:p>
            <a:r>
              <a:t>• EWP emitidos en la secuencia del POC, seguidos con el plan de liberación.</a:t>
            </a:r>
          </a:p>
          <a:p>
            <a:r>
              <a:t>• PWP y matriz de responsabilidad de materiales, con fechas requeridas en obra por EWP.</a:t>
            </a:r>
          </a:p>
          <a:p>
            <a:r>
              <a:t>• CWP liberados, con alcance, límites, seguridad, calidad y requisitos de ejecución.</a:t>
            </a:r>
          </a:p>
          <a:p>
            <a:r>
              <a:t>• Modelo 3D con atributos, estructurado por CWA, EWP y CWP (Procedimiento 2.0).</a:t>
            </a:r>
          </a:p>
          <a:p>
            <a:r>
              <a:t>• Estimado separado por CWA, disciplina y secuencia; en ejecución, las ofertas se evalúan contra el estimado por CWP.</a:t>
            </a:r>
          </a:p>
          <a:p>
            <a:r>
              <a:t>• Cronograma de nivel 3 con una actividad por EWP y por CWP y sus hitos de interfaz.</a:t>
            </a:r>
          </a:p>
          <a:p>
            <a:r>
              <a:t>• Planes de liberación de EWP y CWP con fechas planificadas y reales.</a:t>
            </a:r>
          </a:p>
          <a:p/>
          <a:p>
            <a:r>
              <a:t>FUENTE: awp-2023-integrado-pdf.md ('EWP Review and Approval', 'CWP Review and Approval', 'Timing of Estimate Requirements'); advanced-work-packaging-a-recommended-practice-for-capital-projects-omega-365-blogs.md (Stage 2); 1-advanced-work-packaging-procedure-insight-awp-2017-pdf.md (§5); 2-information-management-procedure-insight-awp-2017-pdf.md.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Separador del Módulo 6. Hasta aquí, Construcción definió el orden (Fase 1) e Ingeniería y Compras entregaron sus paquetes en ese orden (Fase 2). Ahora el plan llega al frente de trabajo.</a:t>
            </a:r>
          </a:p>
          <a:p>
            <a:r>
              <a:t>En este módulo se ve el proceso de Workface Planning (WFP): cómo se dividen los CWP en IWP, cómo se eliminan las restricciones antes de liberar un paquete, cómo se mantiene un backlog y cómo se registra el avance.</a:t>
            </a:r>
          </a:p>
          <a:p>
            <a:r>
              <a:t>La barra inferior indica en qué fase del proyecto estamos; se repite en todos los separadores de fase.</a:t>
            </a:r>
          </a:p>
          <a:p/>
          <a:p>
            <a:r>
              <a:t>FUENTE: advanced-work-packaging-awp-quick-start-guide-pdf.md (secciones 5-7); 3-workface-planning-procedure-insight-awp-2017-pdf.md.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Así resume la Quick Start Guide el objetivo final de AWP: dar a cada capataz, al comienzo de cada semana, un IWP "listo para ejecutar". El alcance está identificado, los materiales y herramientas están disponibles, el trabajo previo está terminado y el andamio está montado y apto.</a:t>
            </a:r>
          </a:p>
          <a:p>
            <a:r>
              <a:t>La expectativa del superintendente es que el capataz y su cuadrilla completen el trabajo dentro de la ventana programada y de las horas estimadas. Todo lo anterior (POC, EWP, PWP, CWP) existe para que esta entrega semanal sea posible.</a:t>
            </a:r>
          </a:p>
          <a:p/>
          <a:p>
            <a:r>
              <a:t>FUENTE: advanced-work-packaging-awp-quick-start-guide-pdf.md (Introducción).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Definición del curso 2023: Workface Planning es la definición, creación, ejecución y seguimiento de los IWP. Estos paquetes dividen el alcance mayor en tareas ejecutables que se entregan a una cuadrilla. Su propósito es mejorar la eficiencia en campo asegurando que la cuadrilla tenga toda la información y los recursos necesarios.</a:t>
            </a:r>
          </a:p>
          <a:p>
            <a:r>
              <a:t>WFP es la etapa final de AWP, donde toda la planificación se usa en campo.</a:t>
            </a:r>
          </a:p>
          <a:p>
            <a:r>
              <a:t>El Workface Planner hace más que crear IWP: verifica el alcance del CWP (busca errores), gestiona restricciones, crea y mantiene el backlog, sigue el avance con el capataz, reporta el desempeño de instalación y arma paquetes específicos por sistema para la entrega.</a:t>
            </a:r>
          </a:p>
          <a:p>
            <a:r>
              <a:t>Nota del curso: muchos contratistas ya hacen parte de esto de manera informal; AWP no dice que lo estén haciendo mal, sino que estandariza las mejores prácticas.</a:t>
            </a:r>
          </a:p>
          <a:p/>
          <a:p>
            <a:r>
              <a:t>FUENTE: awp-2023-integrado-pdf.md ('Definition - Workface Planning', 'What do Workface Planners do?', 'Understanding the Process of Workface Planning').</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Quick Start Guide parte de una pregunta simple: ¿qué necesita un capataz para ejecutar el trabajo? La respuesta es el contenido del IWP: portada (nombre del IWP, valor planificado y una imagen del alcance), información de emergencia, restricciones (lista de elementos por satisfacer), alcance y secuencia básica, seguridad, calidad (requisitos del plan de inspección y ensayos, ITP, Inspection and Test Plan), documentos técnicos, materiales, herramientas y equipos, andamios y registro de avance.</a:t>
            </a:r>
          </a:p>
          <a:p>
            <a:r>
              <a:t>Seguridad: el IWP incluye los pasajes pertinentes del análisis de riesgos del trabajo (JHA, Job Hazard Analysis), resaltados, y lleva la firma del área de seguridad.</a:t>
            </a:r>
          </a:p>
          <a:p>
            <a:r>
              <a:t>Recomendación del curso 2023: el IWP no debe ser un documento largo; incluya solo lo que la cuadrilla necesita para ese paquete y evite texto genérico como "recuerde usar su EPP".</a:t>
            </a:r>
          </a:p>
          <a:p/>
          <a:p>
            <a:r>
              <a:t>FUENTE: advanced-work-packaging-awp-quick-start-guide-pdf.md (§6 Installation Work Packages); 3-workface-planning-procedure-insight-awp-2017-pdf.md (§12 Safety y §13 Quality Control); awp-2023-integrado-pdf.md ('Step 6 - Write the IWP document').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 de la Quick Start Guide: elija un CWP que se ejecutará en unos 90 días y pida al superintendente que se siente con el planificador y describa cómo dividir y secuenciar el trabajo. El planificador arma los IWP en el entorno 3D y redacta el alcance de cada uno; el superintendente revisa y aprueba la división y la secuencia; luego el planificador completa cada sección del IWP según su alcance.</a:t>
            </a:r>
          </a:p>
          <a:p>
            <a:r>
              <a:t>El curso 2023 detalla seis pasos: revisar el CWP; dividirlo en IWP (sin cortar un isométrico o un tendido de cable a la mitad); crear la lista de planos y verificar que estén IFC (si falta alguno, emitir una RFI); estimar las horas-hombre con tasas estándar; listar y verificar los materiales contra el estado de materiales; y redactar el IWP.</a:t>
            </a:r>
          </a:p>
          <a:p>
            <a:r>
              <a:t>Los CWP se dividen en IWP no antes de tres meses de su ejecución, en una planificación "por olas" (rolling wave).</a:t>
            </a:r>
          </a:p>
          <a:p/>
          <a:p>
            <a:r>
              <a:t>FUENTE: advanced-work-packaging-awp-quick-start-guide-pdf.md (§6 'The process of developing IWPs'); awp-2023-integrado-pdf.md ('What is an IWP, and how is it made?' pasos 1-6; 'Pro Tip!'); 3-workface-planning-procedure-insight-awp-2017-pdf.md (§9).</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¿Cuánto trabajo debe contener un IWP? La Quick Start Guide recomienda empezar con una rotación, aproximadamente 500 horas, y dejar que el modelo evolucione hasta adaptarse al proyecto. En general, los paquetes más pequeños son mejores para los capataces: son más fáciles de seguir y guían la ejecución de una secuencia específica.</a:t>
            </a:r>
          </a:p>
          <a:p>
            <a:r>
              <a:t>El curso 2023 da un rango de 500 a 1 000 horas según el tamaño de la cuadrilla, y pide que el trabajo pueda completarse sin detenerse.</a:t>
            </a:r>
          </a:p>
          <a:p>
            <a:r>
              <a:t>Los procedimientos de Insight definen al capataz como responsable de una cuadrilla de una disciplina, típicamente con 10 trabajadores, y el IWP como el trabajo de ese capataz y su cuadrilla en 7 días.</a:t>
            </a:r>
          </a:p>
          <a:p/>
          <a:p>
            <a:r>
              <a:t>FUENTE: advanced-work-packaging-awp-quick-start-guide-pdf.md (§6 'How much work should be in an IWP?'); awp-2023-integrado-pdf.md ('Step 2 - Break the CWP into IWPs'); 3-workface-planning-procedure-insight-awp-2017-pdf.md (§2 Field Supervision).</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Según la Quick Start Guide, la eliminación y gestión de restricciones es el mayor cambio respecto de la forma habitual de construir. La regla de oro: los IWP no se liberan a campo hasta que estén libres de restricciones y listos para ejecutar.</a:t>
            </a:r>
          </a:p>
          <a:p>
            <a:r>
              <a:t>Restricción (curso 2023): cualquier elemento que pueda impedir el inicio o el avance del trabajo; por ejemplo, planos faltantes, materiales faltantes, falta de acceso, equipos no disponibles o falta de personal.</a:t>
            </a:r>
          </a:p>
          <a:p>
            <a:r>
              <a:t>Las restricciones críticas suelen ser documentos, materiales y andamios. Las secundarias (equipos de construcción, controles, seguridad, calidad y personal) se resuelven internamente en poco tiempo.</a:t>
            </a:r>
          </a:p>
          <a:p>
            <a:r>
              <a:t>El proceso se gestiona con las firmas de la página de restricciones del IWP; el Workface Planner las recoge. Cuando el IWP queda libre, se imprime, se archiva en control documental y se registra en el Pack Track.</a:t>
            </a:r>
          </a:p>
          <a:p/>
          <a:p>
            <a:r>
              <a:t>FUENTE: advanced-work-packaging-awp-quick-start-guide-pdf.md (§7 Constraint Removal); awp-2023-integrado-pdf.md ('How to Manage Constraints', 'Standard types of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Education Framework del CII propone un calendario típico de restricciones para cada IWP, en semanas antes de su ejecución:</a:t>
            </a:r>
          </a:p>
          <a:p>
            <a:r>
              <a:t>• Proyecto pequeño, parada de planta o turnaround: IWP iniciado 6 semanas antes; restricciones identificadas a las 4; asignadas a las 3; liberadas a las 2, cuando el paquete se libera.</a:t>
            </a:r>
          </a:p>
          <a:p>
            <a:r>
              <a:t>• Proyecto grande, mega o giga: 12, 10, 8 y 4 semanas.</a:t>
            </a:r>
          </a:p>
          <a:p>
            <a:r>
              <a:t>El curso 2023 recomienda eliminar todas las restricciones 2 a 3 semanas antes. Cuando no es posible (trabajo previo, andamios), basta con que estén planificadas antes del IWP, pero el planificador debe vigilar que se cumplan.</a:t>
            </a:r>
          </a:p>
          <a:p>
            <a:r>
              <a:t>Cómo verificar: algunas restricciones se revisan con datos (lista de planos IFC, informe de materiales); otras exigen recorrer la obra (espacio de acopio, acceso libre); otras, conversar (con el capataz general sobre el personal, con el responsable de equipos sobre las grúas).</a:t>
            </a:r>
          </a:p>
          <a:p/>
          <a:p>
            <a:r>
              <a:t>FUENTE: cii-awp-cba-education-framework-pdf.md (Typical IWP Constraint Schedule by Project Size / Type); awp-2023-integrado-pdf.md ('Timing of Review', 'How to Check Constraints', 'Pro tip!').</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Buenas prácticas de gestión de restricciones del Education Framework del CII: una lista consolidada de todas las restricciones abiertas; asignación de dueño, fecha límite y prioridad para cada una; flujo de aprobación del cierre según el tipo de paquete; herramientas estandarizadas para la reunión de revisión; árbol de decisión para paquetes que mantienen restricciones abiertas; y reporte del estado de las restricciones.</a:t>
            </a:r>
          </a:p>
          <a:p>
            <a:r>
              <a:t>Quién participa: los responsables de despejar cada restricción (permisos, materiales, equipos de seguridad, equipos) informan el avance; el Construction Manager sigue las fechas de inicio planificadas frente a reales, vigila las cantidades retenidas por restricciones para priorizar y entiende el impacto y la criticidad de las restricciones abiertas.</a:t>
            </a:r>
          </a:p>
          <a:p>
            <a:r>
              <a:t>La lista estándar de restricciones del curso 2023 incluye: planos IFC, cronograma, materiales y fabricación, acceso y acopio, disponibilidad de personal, alcance, coordinación con otros oficios, seguridad, permisos, control de calidad, equipos y herramientas, andamios, subcontratistas y proveedores de servicios.</a:t>
            </a:r>
          </a:p>
          <a:p/>
          <a:p>
            <a:r>
              <a:t>FUENTE: cii-awp-cba-education-framework-pdf.md (Constraint Management Best Practices; Who is Involved in Constraint Management?); awp-2023-integrado-pdf.md ('Standard types of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backlog es el conjunto de IWP disponibles y libres de restricciones: indica cuánto trabajo hay listo para cada disciplina. La Quick Start Guide lo considera una de las mayores influencias sobre la productividad: el superintendente debe mantener un colchón de trabajo libre de restricciones, planificando al mismo ritmo que se ejecuta.</a:t>
            </a:r>
          </a:p>
          <a:p>
            <a:r>
              <a:t>Cifras: 4 semanas (Quick Start), 2 a 4 semanas (Procedimiento 3.0), 30 días (curso 2023). El backlog debe incluir trabajo "plan B" por si algo falla.</a:t>
            </a:r>
          </a:p>
          <a:p>
            <a:r>
              <a:t>Cómo se calcula (curso 2023): en horas (suma de horas de los IWP libres) o en días (horas disponibles ÷ horas que gana la dotación por día). Ejemplo: 50 personas × 10 h = 500 h/día; con 5 000 h de IWP libres, el backlog es de 10 días.</a:t>
            </a:r>
          </a:p>
          <a:p>
            <a:r>
              <a:t>Cree el backlog antes de movilizar a las cuadrillas: los planificadores se movilizan antes que ellas. El embudo muestra las etapas del Pack Track del Procedimiento 3.0.</a:t>
            </a:r>
          </a:p>
          <a:p/>
          <a:p>
            <a:r>
              <a:t>FUENTE: advanced-work-packaging-awp-quick-start-guide-pdf.md (§7 Backlog); 3-workface-planning-procedure-insight-awp-2017-pdf.md (§7 Pack Track y §8 Backlog); awp-2023-integrado-pdf.md ('How to Manage a Backlog', 'How to Calculate Backlog').</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plan look-ahead es un "minicronograma" que ayuda al Construction Manager a planificar el trabajo. Con Workface Planning, cada entrada del plan es un número de IWP (curso 2023).</a:t>
            </a:r>
          </a:p>
          <a:p>
            <a:r>
              <a:t>Cada semana el superintendente toma IWP libres de restricciones del backlog y los incorpora al cronograma como actividades de nivel 5, formando el look-ahead de tres semanas (Quick Start Guide). El Procedimiento 3.0 añade que se eligen según el cronograma y la realidad del campo.</a:t>
            </a:r>
          </a:p>
          <a:p>
            <a:r>
              <a:t>Todos los IWP de un CWP deben completarse dentro del plazo que el cronograma maestro asigna a ese CWP.</a:t>
            </a:r>
          </a:p>
          <a:p>
            <a:r>
              <a:t>La celda punteada ilustra una alerta: si una disciplina no tiene IWP libres para la semana 3, el backlog está por agotarse y hay que reaccionar ahora.</a:t>
            </a:r>
          </a:p>
          <a:p/>
          <a:p>
            <a:r>
              <a:t>FUENTE: awp-2023-integrado-pdf.md ('The Look-ahead Plan', 'The Look-ahead Plan &amp; Workface Planning'); advanced-work-packaging-awp-quick-start-guide-pdf.md (§7 Three week look ahead); 3-workface-planning-procedure-insight-awp-2017-pdf.md (§8).</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Pack Track es la hoja de cálculo del Procedimiento 3.0 que sigue el desarrollo de cada IWP y su avance en la eliminación de restricciones. La gestiona el WFP Coordinator del propietario y la alimentan los Workface Planners del contratista.</a:t>
            </a:r>
          </a:p>
          <a:p>
            <a:r>
              <a:t>Cada IWP entra en la ventana de planificación de 90 días cuando se desarrolla en el software WFP; tras incorporarse al cronograma de nivel 5 pasa al armado del IWP, donde permanece hasta que documentos y materiales están listos; luego entra al backlog y, finalmente, al look-ahead de tres semanas cuando se elige para ejecutarse.</a:t>
            </a:r>
          </a:p>
          <a:p>
            <a:r>
              <a:t>La tabla resume las columnas del ejemplo original con las semanas previas a la ejecución. El informe también muestra cuántos IWP de cada CWP se han emitido a campo y devuelto para registrar su avance.</a:t>
            </a:r>
          </a:p>
          <a:p>
            <a:r>
              <a:t>Nota: la tabla original se conservó parcialmente en la conversión; la asignación de semanas es aproximada.</a:t>
            </a:r>
          </a:p>
          <a:p/>
          <a:p>
            <a:r>
              <a:t>FUENTE: 3-workface-planning-procedure-insight-awp-2017-pdf.md (§7 Removing Constraints: Pack Track); INDICE.md §4.1.</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Lección aprendida de la Quick Start Guide: cada IWP debe tener una fecha límite de uso ("use by date") que muestre al capataz que el trabajo debe completarse en esa ventana para cumplir el cronograma. Si queda trabajo pendiente, la ventana puede extenderse uno o dos días. Si aun así no se completa, el IWP vuelve al capataz general y luego al planificador para reorganizar el trabajo y ubicarlo en un nuevo paquete.</a:t>
            </a:r>
          </a:p>
          <a:p>
            <a:r>
              <a:t>Complemento del Procedimiento 3.0 (ejecución en campo): el capataz general pide el material de cada IWP una semana antes de la fecha planificada y entrega el IWP al capataz antes del inicio. Al terminar, devuelve el IWP al planificador, que retira los documentos originales de calidad y los envía al área de calidad.</a:t>
            </a:r>
          </a:p>
          <a:p/>
          <a:p>
            <a:r>
              <a:t>FUENTE: advanced-work-packaging-awp-quick-start-guide-pdf.md (§7 Execution: 'Lesson Learned'); 3-workface-planning-procedure-insight-awp-2017-pdf.md (§14 Field Execution).</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capataz es responsable de ejecutar el trabajo y registrar el avance a diario en el IWP (Quick Start). Según el Procedimiento 3.0, lo informa cada día a los Workface Planners, que lo cargan en el software WFP; el contratista puede registrarlo también en su propio sistema.</a:t>
            </a:r>
          </a:p>
          <a:p>
            <a:r>
              <a:t>Con el valor planificado calculado a partir de los planos IFC y de tasas de instalación estándar, las horas codificadas por IWP en las hojas de tiempo y el avance físico registrado por componente, se obtienen datos muy precisos y oportunos que se consolidan en una sola versión de la verdad.</a:t>
            </a:r>
          </a:p>
          <a:p>
            <a:r>
              <a:t>El Procedimiento 3.0 también prevé una reunión diaria de alineación de 15 minutos, en la que cada capataz arma su plan diario a partir del IWP semanal y registra el avance.</a:t>
            </a:r>
          </a:p>
          <a:p/>
          <a:p>
            <a:r>
              <a:t>FUENTE: advanced-work-packaging-awp-quick-start-guide-pdf.md (§7 Progress; §8A Project Controls); 3-workface-planning-procedure-insight-awp-2017-pdf.md (§9 Project Controls y §15 Daily Alignment); 2-information-management-procedure-insight-awp-2017-pdf.md (§8 Cost Codes).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Procedimiento 2.0 establece que el contratista imprime una matriz de códigos de demora al reverso de las hojas de tiempo. Los capataces registran las desviaciones del plan en la sección de notas de la hoja diaria, en horas enteras que reflejan el tiempo total perdido por la cuadrilla.</a:t>
            </a:r>
          </a:p>
          <a:p>
            <a:r>
              <a:t>Con estos datos se analizan tendencias y se identifica qué habilitador falla (información, herramientas, materiales, acceso), en línea con el principio de los estudios de tool time.</a:t>
            </a:r>
          </a:p>
          <a:p>
            <a:r>
              <a:t>Importante: la tabla de códigos del Procedimiento 3.0 original era una imagen y no se conservó en la conversión a Markdown. Los códigos de esta lámina son un ejemplo construido a partir de la lista estándar de restricciones del curso 2023; defina los suyos en el procedimiento del proyecto.</a:t>
            </a:r>
          </a:p>
          <a:p/>
          <a:p>
            <a:r>
              <a:t>FUENTE: 2-information-management-procedure-insight-awp-2017-pdf.md (§8 Delay Codes); 3-workface-planning-procedure-insight-awp-2017-pdf.md (Delay Codes, §18); awp-2023-integrado-pdf.md ('Standard types of constraints'); INDICE.md §4.1.</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Lista de verificación de la Fase 3:</a:t>
            </a:r>
          </a:p>
          <a:p>
            <a:r>
              <a:t>• IWP liberados solo cuando están libres de restricciones, con las firmas de seguridad y calidad.</a:t>
            </a:r>
          </a:p>
          <a:p>
            <a:r>
              <a:t>• Pack Track actualizado cada semana, con un tablero para el informe de gestión.</a:t>
            </a:r>
          </a:p>
          <a:p>
            <a:r>
              <a:t>• Backlog de 2 a 4 semanas por disciplina.</a:t>
            </a:r>
          </a:p>
          <a:p>
            <a:r>
              <a:t>• Look-ahead de tres semanas expresado en números de IWP.</a:t>
            </a:r>
          </a:p>
          <a:p>
            <a:r>
              <a:t>• Plan diario del capataz en la reunión de alineación de 15 minutos.</a:t>
            </a:r>
          </a:p>
          <a:p>
            <a:r>
              <a:t>• Avance diario registrado por IWP y cargado en el software WFP.</a:t>
            </a:r>
          </a:p>
          <a:p>
            <a:r>
              <a:t>• Registro de restricciones y de demoras con sus causas.</a:t>
            </a:r>
          </a:p>
          <a:p>
            <a:r>
              <a:t>Además, el Procedimiento 3.0 incluye estrategia de ejecución de WFP del contratista, capacitación de planificadores, subcontratistas, entrega (turnover), estudios de tool time y auditorías.</a:t>
            </a:r>
          </a:p>
          <a:p/>
          <a:p>
            <a:r>
              <a:t>FUENTE: 3-workface-planning-procedure-insight-awp-2017-pdf.md (§7-§19); advanced-work-packaging-awp-quick-start-guide-pdf.md (§7).</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Separador del Módulo 7, cuarta fase. En la etapa final el foco pasa del avance de construcción a la preparación de los sistemas para el comisionamiento y el arranque.</a:t>
            </a:r>
          </a:p>
          <a:p>
            <a:r>
              <a:t>Es un tema en evolución: el CII todavía trabaja en la definición de los paquetes de puesta en marcha (RT-364), y la fuente más detallada del repositorio (Omega 365) lo explica ligado a su producto.</a:t>
            </a:r>
          </a:p>
          <a:p/>
          <a:p>
            <a:r>
              <a:t>FUENTE: advanced-work-packaging-a-recommended-practice-for-capital-projects-omega-365-blogs.md (Stage 4 – Commissioning &amp; Start-Up); awp-acronyms-definitions-pdf.md; INDICE.md §4.3.</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medida que avanza la construcción, el proyecto pasa de una ejecución por áreas a una preparación por sistemas. Los System Work Packages (SWP) agrupan porciones de CWP e IWP en sistemas funcionales (agua de enfriamiento, compresión de gas, distribución eléctrica) y conectan construcción y comisionamiento: completamiento mecánico, inspección, pruebas y certificación.</a:t>
            </a:r>
          </a:p>
          <a:p>
            <a:r>
              <a:t>Según Omega 365, este cambio de perspectiva se acelera hacia el 70 % de avance físico de la construcción, para identificar temprano los faltantes por sistema y resolverlos antes del arranque.</a:t>
            </a:r>
          </a:p>
          <a:p>
            <a:r>
              <a:t>El curso 2023 advierte sobre una limitación en proyectos industriales: la tubería se diseña por sistema pero se construye por área; hay que entender cómo gestionar esos enfoques en conflicto.</a:t>
            </a:r>
          </a:p>
          <a:p/>
          <a:p>
            <a:r>
              <a:t>FUENTE: advanced-work-packaging-a-recommended-practice-for-capital-projects-omega-365-blogs.md (System Work Packages and Turnover Packages); awp-2023-integrado-pdf.md ('Limitations - System vs Area').</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Omega 365 define el POC como la secuencia óptima en que se ejecutarán, probarán y entregarán las actividades, sistemas y áreas; por eso en los talleres participan también comisionamiento y operaciones. El representante de Operaciones aporta al POC, apoya la planificación del comisionamiento y acepta los sistemas en el RFOC.</a:t>
            </a:r>
          </a:p>
          <a:p>
            <a:r>
              <a:t>A nivel de ejecución, el POC guía la división de CWP en IWP y su secuencia en el look-ahead; los IWP completados se agregan en SWP y TOP según las secuencias de sistemas definidas por el POC. El POC sostiene tanto la vista macro (CWA/CWP) como la micro (IWP/SWP/TOP).</a:t>
            </a:r>
          </a:p>
          <a:p>
            <a:r>
              <a:t>El curso 2023 recomienda considerar en el cronograma de nivel 3 cómo se superpondrán las actividades de comisionamiento con las de construcción.</a:t>
            </a:r>
          </a:p>
          <a:p/>
          <a:p>
            <a:r>
              <a:t>FUENTE: advanced-work-packaging-a-recommended-practice-for-capital-projects-omega-365-blogs.md (Path of Construction; 'PoC and IWPs/SWPs/TOPs'; roles); awp-2023-integrado-pdf.md ('Pro Tips!' del cronograma de nivel 3).</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Turnover Package (TOP) consolida los alcances de un sistema en circuitos cerrados listos para la entrega, las pruebas y el arranque. El Glosario del CII lo define como un paquete de entrega que alinea los sistemas con la preparación de los TWP, CWP e IWP, e indica que RT-364 trabaja en su definición junto con el comisionamiento y la puesta en marcha.</a:t>
            </a:r>
          </a:p>
          <a:p>
            <a:r>
              <a:t>Test Work Package (TWP): paquete discreto de inspección o prueba que se realiza antes de apoyar el plan de comisionamiento y arranque.</a:t>
            </a:r>
          </a:p>
          <a:p>
            <a:r>
              <a:t>Omega 365 describe la verificación progresiva y el registro de resultados de pruebas, con emisión de certificados RFCC (Ready for Commissioning, listo para comisionar) y RFOC (Ready for Operation, listo para operar) vinculados a sus SWP y activos.</a:t>
            </a:r>
          </a:p>
          <a:p/>
          <a:p>
            <a:r>
              <a:t>FUENTE: awp-acronyms-definitions-pdf.md (Test Work Package, Turnover Package); advanced-work-packaging-a-recommended-practice-for-capital-projects-omega-365-blogs.md (Features of Omega 365: mechanical completion and commissioning).</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Lista de verificación de la Fase 4:</a:t>
            </a:r>
          </a:p>
          <a:p>
            <a:r>
              <a:t>• System Work Packages por sistema funcional.</a:t>
            </a:r>
          </a:p>
          <a:p>
            <a:r>
              <a:t>• Paquetes de prueba (TWP) con inspecciones y pruebas.</a:t>
            </a:r>
          </a:p>
          <a:p>
            <a:r>
              <a:t>• Turnover Packages con la documentación de entrega.</a:t>
            </a:r>
          </a:p>
          <a:p>
            <a:r>
              <a:t>• Certificados RFCC y RFOC.</a:t>
            </a:r>
          </a:p>
          <a:p>
            <a:r>
              <a:t>• Dossier de calidad, armado con los registros que cada IWP devolvió al área de calidad (Procedimiento 3.0, §13).</a:t>
            </a:r>
          </a:p>
          <a:p>
            <a:r>
              <a:t>• Lecciones aprendidas: al terminar el proyecto, revise el desempeño de los paquetes, las tendencias de restricciones, el cumplimiento del cronograma y las causas raíz de los retrasos (Omega 365).</a:t>
            </a:r>
          </a:p>
          <a:p/>
          <a:p>
            <a:r>
              <a:t>FUENTE: advanced-work-packaging-a-recommended-practice-for-capital-projects-omega-365-blogs.md (Stage 4; Lessons Learned and Continuous Improvement); 3-workface-planning-procedure-insight-awp-2017-pdf.md (§13 y §17 Turnover); awp-acronyms-definitions-pdf.md.</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Separador del Módulo 8. Information Management (IM) es el segundo de los tres procesos de AWP. Diseña las convenciones de nombres y los procesos de intercambio de datos para que todos los generadores y usuarios de información (Ingeniería, Compras, Materiales, Control Documental, Controles y Construcción) hablen el mismo idioma.</a:t>
            </a:r>
          </a:p>
          <a:p>
            <a:r>
              <a:t>Este módulo cubre el modelo 3D, los datos de fabricantes, el control documental y los sistemas de soporte que se benefician de AWP: materiales, andamios y equipos.</a:t>
            </a:r>
          </a:p>
          <a:p/>
          <a:p>
            <a:r>
              <a:t>FUENTE: 2-information-management-procedure-insight-awp-2017-pdf.md (§4 Information Management Overview); advanced-work-packaging-awp-quick-start-guide-pdf.md (§8 Extended Benefits).</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Quick Start Guide explica que la mayoría de los proyectos ya produce un modelo 3D con atributos y datos inteligentes de los fabricantes. Obtenerlos y ponerlos a disposición del equipo de WFP facilita la planificación. El AWP Champion y la gerencia del proyecto impulsan una matriz de atributos que guía a Ingeniería al poblar el modelo, para que Construcción pueda extraer los datos que necesita.</a:t>
            </a:r>
          </a:p>
          <a:p>
            <a:r>
              <a:t>El Procedimiento 2.0 propone la matriz base: atributos obligatorios o secundarios, responsable y fuente, por tipo de componente (civil, pilotes, concreto, acero, equipos, tuberías, equipos eléctricos, cables e instrumentos). La tabla muestra un extracto. Además: tipo de componente, peso, volumen, clase, diámetro, espesor, servicio, aislamiento, ignifugado, traceado, módulo, WBS, tipo de material y código de costo.</a:t>
            </a:r>
          </a:p>
          <a:p>
            <a:r>
              <a:t>El modelo debe estructurarse por CWA, EWP y CWP, las piezas de acero deben tener números únicos y los spools deben identificarse como subconjuntos de los isométricos.</a:t>
            </a:r>
          </a:p>
          <a:p/>
          <a:p>
            <a:r>
              <a:t>FUENTE: 2-information-management-procedure-insight-awp-2017-pdf.md (§7 Standard Model Attributes); advanced-work-packaging-awp-quick-start-guide-pdf.md (§3 3D Model and Fabrication); 1-advanced-work-packaging-procedure-insight-awp-2017-pdf.md (§7 Information Manager).</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Procedimiento 2.0 de Insight lista los formatos de intercambio recomendados entre actores:</a:t>
            </a:r>
          </a:p>
          <a:p>
            <a:r>
              <a:t>• Materiales a granel: hojas de cálculo. Fabricación de acero y tuberías: modelo 3D, archivos PCF/IDF y PDF inteligentes.</a:t>
            </a:r>
          </a:p>
          <a:p>
            <a:r>
              <a:t>• Ingeniería a control documental: planos en PCF/IDF y PDF inteligentes; especificaciones y hojas de datos en PDF inteligente.</a:t>
            </a:r>
          </a:p>
          <a:p>
            <a:r>
              <a:t>• Fabricación a construcción: acero en CIS2 y PDF inteligente; tuberías en PCF/IDF y PDF inteligente.</a:t>
            </a:r>
          </a:p>
          <a:p>
            <a:r>
              <a:t>• Ingeniería a construcción: modelo 3D con todos sus atributos. Revisiones y as-built: PCF/IDF y modelo 3D actualizados.</a:t>
            </a:r>
          </a:p>
          <a:p>
            <a:r>
              <a:t>• Construcción a controles: avance en hoja de cálculo (desde el software WFP) y costos a partir de las hojas de tiempo.</a:t>
            </a:r>
          </a:p>
          <a:p>
            <a:r>
              <a:t>Para lograrlo, Compras debe establecer obligaciones contractuales para que proveedores y fabricantes entreguen datos completos junto con sus productos (Procedimiento 2.0, §10). Siempre que sea posible, los datos deben cumplir la norma ISO 15926.</a:t>
            </a:r>
          </a:p>
          <a:p/>
          <a:p>
            <a:r>
              <a:t>FUENTE: 2-information-management-procedure-insight-awp-2017-pdf.md (§4 y §10); 1-advanced-work-packaging-procedure-insight-awp-2017-pdf.md (§16 Information Management).</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Quick Start Guide describe el modelo ideal de control documental: un único repositorio electrónico al que todos los actores acceden según sus permisos. Ingeniería carga los documentos y los contratistas de construcción los descargan. Es también la mejor forma de enlazar el modelo 3D de planificación con la revisión vigente de cada plano.</a:t>
            </a:r>
          </a:p>
          <a:p>
            <a:r>
              <a:t>Resultado: la revisión se gestiona sin desfase entre la emisión de Ingeniería y la recepción del contratista, y se reduce mucho el personal necesario para gestionar documentos en obra.</a:t>
            </a:r>
          </a:p>
          <a:p>
            <a:r>
              <a:t>El Procedimiento 3.0 añade que el software WFP enlaza el modelo 3D con la base documental en la nube: los planificadores acceden a los documentos seleccionando objetos en el modelo, y los contratistas tienen acceso de lectura para revisar el look-ahead e imprimir sus IWP.</a:t>
            </a:r>
          </a:p>
          <a:p/>
          <a:p>
            <a:r>
              <a:t>FUENTE: advanced-work-packaging-awp-quick-start-guide-pdf.md (§8C Document Control); 3-workface-planning-procedure-insight-awp-2017-pdf.md (§10 Document Control); 2-information-management-procedure-insight-awp-2017-pdf.md (§9).</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Según la Quick Start Guide, en un sistema de Workface Planning plenamente funcional los planificadores envían la lista de materiales de cada IWP al equipo de gestión de materiales hasta 8 semanas antes de la fecha programada. Así, el equipo puede agrupar las entregas por IWP a medida que se reciben. Si se usa una base de datos de materiales, los IWP pueden cargarse como reservas.</a:t>
            </a:r>
          </a:p>
          <a:p>
            <a:r>
              <a:t>El Pack Track incluye el hito "separar y etiquetar el material" (bag and tag) al entrar al look-ahead, y el Procedimiento 3.0 establece que el superintendente o el capataz general piden el material de cada IWP una semana antes de su ejecución.</a:t>
            </a:r>
          </a:p>
          <a:p>
            <a:r>
              <a:t>El Procedimiento 1.0 asigna a la gestión de materiales en obra seguir y reportar los materiales requeridos, pedidos y recibidos por IWP.</a:t>
            </a:r>
          </a:p>
          <a:p/>
          <a:p>
            <a:r>
              <a:t>FUENTE: advanced-work-packaging-awp-quick-start-guide-pdf.md (§8B Material Management; §7 Execution); 3-workface-planning-procedure-insight-awp-2017-pdf.md (§7 Pack Track); 1-advanced-work-packaging-procedure-insight-awp-2017-pdf.md (§5).</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Andamios (Quick Start, §8D): el objetivo principal es minimizar las demoras de las cuadrillas, pero planificar los andamios con anticipación también reduce su costo total. Al desarrollar cada IWP, el planificador genera la solicitud de los andamios que requiere el alcance; normalmente llega al grupo de andamios al menos dos semanas antes de la ejecución. Así se programa el montaje, se siguen los componentes y se registra la mano de obra.</a:t>
            </a:r>
          </a:p>
          <a:p>
            <a:r>
              <a:t>El Procedimiento 3.0 detalla que la solicitud es electrónica: el planificador de andamios la registra en su base de datos, le asigna un número y lo devuelve para insertarlo en el IWP.</a:t>
            </a:r>
          </a:p>
          <a:p>
            <a:r>
              <a:t>Equipos de construcción (Quick Start, §8E): grúas, elevadores y soldadoras se gestionan de forma similar. Identificar las necesidades con dos semanas de anticipación asegura suficientes equipos y ayuda a programar su uso.</a:t>
            </a:r>
          </a:p>
          <a:p/>
          <a:p>
            <a:r>
              <a:t>FUENTE: advanced-work-packaging-awp-quick-start-guide-pdf.md (§8D Scaffold Management y §8E Construction Equipment); 3-workface-planning-procedure-insight-awp-2017-pdf.md (§7 Scaffold Request).</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Lección 7 del curso 2023: hay mucha tecnología útil para implementar AWP, especialmente para WFP en obra, pero antes de pensar en tecnología hay que tener el proceso correcto. Trátelo como bloques de construcción: el proceso es la base.</a:t>
            </a:r>
          </a:p>
          <a:p>
            <a:r>
              <a:t>Omega 365 coincide: la tecnología facilita AWP al ofrecer una vista única y consistente del proyecto (hilo digital o digital thread, visualización 3D/BIM y planificación 4D, tableros de KPI), pero su propósito es simplificar la ejecución, no añadir complejidad. La integración entre sistemas sigue siendo un desafío: defina temprano la propiedad de los datos, los mecanismos de transferencia y los responsables de actualizarlos.</a:t>
            </a:r>
          </a:p>
          <a:p>
            <a:r>
              <a:t>El Framework responde a la objeción "no tengo la tecnología": los sistemas integrados permiten hacer más con menos personal, pero no son un requisito para empezar.</a:t>
            </a:r>
          </a:p>
          <a:p/>
          <a:p>
            <a:r>
              <a:t>FUENTE: awp-2023-integrado-pdf.md (AWP Related Lessons Learned, lección 7); advanced-work-packaging-a-recommended-practice-for-capital-projects-omega-365-blogs.md (Digital Enablement of AWP); cii-awp-cba-education-framework-pdf.md (objeción 'I don't have the technology').</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Separador del Módulo 9. AWP crea dos cargos nuevos (AWP Champion y Workface Planner), pero su mayor efecto está en cómo cambian los roles existentes: propietario, EPC, Ingeniería, Compras, Construcción, Controles y supervisión de campo.</a:t>
            </a:r>
          </a:p>
          <a:p>
            <a:r>
              <a:t>El curso 2023 recuerda que un componente central de AWP es la alineación: todos los miembros del equipo deben entender qué se espera de ellos.</a:t>
            </a:r>
          </a:p>
          <a:p/>
          <a:p>
            <a:r>
              <a:t>FUENTE: awp-2023-integrado-pdf.md ('AWP Implications on Traditional Project Roles'); advanced-work-packaging-a-recommended-practice-for-capital-projects-omega-365-blogs.md (Typical roles).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Roles según Omega 365:</a:t>
            </a:r>
          </a:p>
          <a:p>
            <a:r>
              <a:t>• Propietario o patrocinador: da respaldo corporativo, asegura la adopción de AWP por todos los actores y mantiene el foco en los resultados operativos.</a:t>
            </a:r>
          </a:p>
          <a:p>
            <a:r>
              <a:t>• EPC/EPCM: lidera la planificación de la ejecución AWP, define y mantiene el POC, estructura las CWA y los CWP y coordina los entregables de ingeniería, compras y construcción.</a:t>
            </a:r>
          </a:p>
          <a:p>
            <a:r>
              <a:t>• Ingeniería: desarrolla EWP alineados al POC, gestiona las dependencias entre disciplinas e incorpora los datos de proveedores.</a:t>
            </a:r>
          </a:p>
          <a:p>
            <a:r>
              <a:t>• Compras y cadena de suministro: gestiona los PWP, las órdenes de compra y los datos de proveedores, alineando las entregas con las necesidades de construcción.</a:t>
            </a:r>
          </a:p>
          <a:p>
            <a:r>
              <a:t>• Contratistas de construcción: desarrollan los IWP, ejecutan y retroalimentan la planificación.</a:t>
            </a:r>
          </a:p>
          <a:p>
            <a:r>
              <a:t>• Comisionamiento y operaciones: definen las prioridades de sistemas, los SWP y los TOP.</a:t>
            </a:r>
          </a:p>
          <a:p>
            <a:r>
              <a:t>• AWP Champion y equipo de soporte: integran AWP con los procesos de la empresa, capacitan e impulsan la mejora continua.</a:t>
            </a:r>
          </a:p>
          <a:p>
            <a:r>
              <a:t>Omega 365 sugiere visualizar estas responsabilidades con diagramas de carriles (swim lanes).</a:t>
            </a:r>
          </a:p>
          <a:p/>
          <a:p>
            <a:r>
              <a:t>FUENTE: advanced-work-packaging-a-recommended-practice-for-capital-projects-omega-365-blogs.md (Typical roles, responsibilities and organizational alignment; Integrating AWP with Existing Organizational Processes).</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curso 2023 describe cinco funciones del AWP Champion:</a:t>
            </a:r>
          </a:p>
          <a:p>
            <a:r>
              <a:t>1) Adopción: lidera la adopción de AWP en la organización y actúa como agente de cambio.</a:t>
            </a:r>
          </a:p>
          <a:p>
            <a:r>
              <a:t>2) Trabajo con propietarios: en empresas contratistas, es el punto de contacto para la coordinación AWP con el propietario.</a:t>
            </a:r>
          </a:p>
          <a:p>
            <a:r>
              <a:t>3) Trabajo con subcontratistas: en el propietario o el contratista principal, establece los requisitos AWP para los subcontratistas y vigila su desempeño.</a:t>
            </a:r>
          </a:p>
          <a:p>
            <a:r>
              <a:t>4) Trabajo con el equipo del proyecto: guía y mentoría; revisa que AWP se aplique según el procedimiento, como revisión de aseguramiento, y alinea a los actores (en especial Ingeniería y Compras) con el plan.</a:t>
            </a:r>
          </a:p>
          <a:p>
            <a:r>
              <a:t>5) Workface Planning: supervisa la implementación de WFP en obra y comunica los requisitos a todos los contratistas.</a:t>
            </a:r>
          </a:p>
          <a:p>
            <a:r>
              <a:t>El Procedimiento 1.0 añade: es el representante de la gerencia del proyecto que inicia y pilotea los procesos AWP, IM y WFP.</a:t>
            </a:r>
          </a:p>
          <a:p/>
          <a:p>
            <a:r>
              <a:t>FUENTE: awp-2023-integrado-pdf.md ('Role of the AWP Champion', funciones 1-5; 'Common Pitfalls in Hiring the AWP Champion'); 1-advanced-work-packaging-procedure-insight-awp-2017-pdf.md (§7).</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Quick Start Guide considera la creación del cargo de Workface Planner el componente crítico de WFP: un puesto adicional en la organización de construcción, dedicado a desarrollar los planes del capataz según la estrategia del superintendente.</a:t>
            </a:r>
          </a:p>
          <a:p>
            <a:r>
              <a:t>Perfil típico: un trabajador de oficio que entiende el trabajo, con experiencia en supervisión y ejecución en campo y conocimientos básicos de computación; forma parte de la organización de construcción y reporta directamente al superintendente (cada superintendente tiene uno).</a:t>
            </a:r>
          </a:p>
          <a:p>
            <a:r>
              <a:t>El Procedimiento 3.0 agrega: puede ser un técnico de oficio o de ingeniería con varios años de supervisión; solo arma IWP de su disciplina y se dedica exclusivamente a WFP; tiene una línea funcional con el WFP Coordinator del propietario, que entrevista, selecciona y capacita a los candidatos buscando un equipo con balance de experiencia, juventud y disciplinas.</a:t>
            </a:r>
          </a:p>
          <a:p>
            <a:r>
              <a:t>Consejos prácticos de la Quick Start: inscríbalos en un curso de WFP, deles a leer el libro "Schedule for Sale" y prepare un área común con escritorios, computadoras y teléfonos.</a:t>
            </a:r>
          </a:p>
          <a:p/>
          <a:p>
            <a:r>
              <a:t>FUENTE: advanced-work-packaging-awp-quick-start-guide-pdf.md (§5 Workface Planners); 3-workface-planning-procedure-insight-awp-2017-pdf.md (§5 Workface Planners).</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proporción aproximada es de un planificador por cada 50 trabajadores de campo, con ajustes por complejidad: la instrumentación requiere más recursos de planificación que el vaciado de concreto o el movimiento de tierras (Quick Start).</a:t>
            </a:r>
          </a:p>
          <a:p>
            <a:r>
              <a:t>El Procedimiento 3.0 da una regla de cálculo: 1 IWP por cada 10 trabajadores por semana × 5 cuadrillas = 20 IWP al mes = 1 Workface Planner. Su ejemplo para montadores de acero: con una dotación directa que sube de 25 a 80 personas, se necesitan 1 a 2 planificadores según el mes.</a:t>
            </a:r>
          </a:p>
          <a:p>
            <a:r>
              <a:t>El WFP Coordinator elabora con el contratista una matriz por disciplina que relaciona la carga de personal (del cronograma de nivel 3), la cantidad de IWP necesarios y el número de planificadores. La generación de IWP comienza al menos 4 semanas antes de la ejecución.</a:t>
            </a:r>
          </a:p>
          <a:p/>
          <a:p>
            <a:r>
              <a:t>FUENTE: advanced-work-packaging-awp-quick-start-guide-pdf.md (§5); 3-workface-planning-procedure-insight-awp-2017-pdf.md (§5 Workface Planners: ejemplo 'Iron Workers').</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proceso AWP pertenece a Construcción y busca el mayor beneficio para la ejecución; por eso el papel del Construction Manager es crítico. El curso 2023 describe cinco funciones:</a:t>
            </a:r>
          </a:p>
          <a:p>
            <a:r>
              <a:t>1) Adopción: entiende AWP y explica al equipo por qué se usa.</a:t>
            </a:r>
          </a:p>
          <a:p>
            <a:r>
              <a:t>2) Path of Construction: es dueño del proceso; convoca a los actores para que planteen sus restricciones.</a:t>
            </a:r>
          </a:p>
          <a:p>
            <a:r>
              <a:t>3) Constructabilidad: es dueño del proceso de constructabilidad desde las fases tempranas.</a:t>
            </a:r>
          </a:p>
          <a:p>
            <a:r>
              <a:t>4) Entregables: participa en la revisión de entregables clave (desglose de paquetes, estimado) y en la definición de metas y beneficios de AWP.</a:t>
            </a:r>
          </a:p>
          <a:p>
            <a:r>
              <a:t>5) Workface Planning: promueve WFP en obra, audita IWP, conversa con las cuadrillas y revisa el plan diario o el look-ahead por IWP.</a:t>
            </a:r>
          </a:p>
          <a:p>
            <a:r>
              <a:t>El Education Framework añade su papel en las restricciones: sigue fechas planificadas frente a reales, vigila las cantidades retenidas y entiende la criticidad de las restricciones abiertas.</a:t>
            </a:r>
          </a:p>
          <a:p>
            <a:r>
              <a:t>Consejo del curso: si el Construction Manager no entiende o no cree en AWP, la implementación será un trámite y no se obtendrán los beneficios.</a:t>
            </a:r>
          </a:p>
          <a:p/>
          <a:p>
            <a:r>
              <a:t>FUENTE: awp-2023-integrado-pdf.md ('Role of the Construction Manager', 'Pro Tip!'); cii-awp-cba-education-framework-pdf.md (Who is Involved in Constraint Management?).</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procedimientos de Insight definen tres niveles de supervisión de campo, con ratios que varían según la complejidad y pueden adaptarse a la norma local:</a:t>
            </a:r>
          </a:p>
          <a:p>
            <a:r>
              <a:t>• Capataz (Foreman): supervisa directamente una cuadrilla de una disciplina, típicamente 1 capataz por 10 trabajadores. Con AWP revisa su IWP antes del inicio, arma su plan diario en la reunión de alineación de 15 minutos y registra el avance y las demoras.</a:t>
            </a:r>
          </a:p>
          <a:p>
            <a:r>
              <a:t>• Capataz general (General Foreman, GF): supervisa hasta 4 capataces de una disciplina. Pide el material de cada IWP una semana antes, entrega el IWP al capataz y lo devuelve al planificador al terminar.</a:t>
            </a:r>
          </a:p>
          <a:p>
            <a:r>
              <a:t>• Superintendente: supervisa hasta 3 capataces generales de una disciplina. Describe al planificador cómo dividir y secuenciar el CWP, aprueba los IWP, mantiene el backlog y elige cada semana los IWP del look-ahead.</a:t>
            </a:r>
          </a:p>
          <a:p>
            <a:r>
              <a:t>El curso 2023 menciona también los cambios para la alta gerencia, Ingeniería, Compras, Controles (misma WBS y nomenclatura), Materiales, Calidad, Seguridad y Operaciones.</a:t>
            </a:r>
          </a:p>
          <a:p/>
          <a:p>
            <a:r>
              <a:t>FUENTE: 3-workface-planning-procedure-insight-awp-2017-pdf.md (§2 Field Supervision; §14 y §15); advanced-work-packaging-awp-quick-start-guide-pdf.md (§6-§7); awp-2023-integrado-pdf.md ('AWP Implications on Traditional Project Roles').</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fuentes difieren en la amplitud de control de la supervisión:</a:t>
            </a:r>
          </a:p>
          <a:p>
            <a:r>
              <a:t>• Procedimientos de Insight-AWP (2017): capataz general hasta 4 capataces; superintendente hasta 3 capataces generales; capataz con unos 10 trabajadores.</a:t>
            </a:r>
          </a:p>
          <a:p>
            <a:r>
              <a:t>• Glosario del CII (CII-EOC, marzo de 2021): capataz general hasta 5 capataces; superintendente hasta 4 capataces generales.</a:t>
            </a:r>
          </a:p>
          <a:p>
            <a:r>
              <a:t>Ambas fuentes aclaran que los ratios dependen de la complejidad y lo crítico de las tareas. Como la cantidad de planificadores se vincula a los superintendentes (al menos uno por superintendente), esta decisión afecta también al dimensionamiento del equipo de WFP.</a:t>
            </a:r>
          </a:p>
          <a:p/>
          <a:p>
            <a:r>
              <a:t>FUENTE: 3-workface-planning-procedure-insight-awp-2017-pdf.md (§2 Field Supervision); awp-acronyms-definitions-pdf.md (Superintendent, General Foreman); INDICE.md §3.</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matriz es una propuesta de síntesis, no una tabla de una fuente única. Se construyó a partir de:</a:t>
            </a:r>
          </a:p>
          <a:p>
            <a:r>
              <a:t>• Procedimiento 1.0 de Insight (§5): Ingeniería desarrolla y entrega los EWP en la secuencia correcta; Compras gestiona la fabricación secuencial e incluye AWP en los contratos; la gerencia de construcción mapea el POC y define los CWP; la gerencia del proyecto exige AWP en los contratos y nombra al Champion.</a:t>
            </a:r>
          </a:p>
          <a:p>
            <a:r>
              <a:t>• Omega 365: el EPC/EPCM mantiene el POC; los contratistas de construcción desarrollan los IWP; comisionamiento y operaciones definen SWP y TOP.</a:t>
            </a:r>
          </a:p>
          <a:p>
            <a:r>
              <a:t>• Curso 2023: el Construction Manager es dueño del POC; los EWP los prepara el contratista de Ingeniería.</a:t>
            </a:r>
          </a:p>
          <a:p>
            <a:r>
              <a:t>En la columna Construcción se agrupan la gerencia de construcción y los contratistas; separe ambos si su modelo de contrato lo requiere. Úsela como punto de partida para el taller de roles del proyecto.</a:t>
            </a:r>
          </a:p>
          <a:p/>
          <a:p>
            <a:r>
              <a:t>FUENTE: 1-advanced-work-packaging-procedure-insight-awp-2017-pdf.md (§5 Key Stakeholder Deliverables); advanced-work-packaging-a-recommended-practice-for-capital-projects-omega-365-blogs.md (roles); awp-2023-integrado-pdf.md (roles del POC y de los EWP). Síntesis propia.</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Separador del Módulo 10. Los indicadores clave de desempeño (KPI, Key Performance Indicators) permiten evaluar la "salud" de la implementación de AWP y su efectividad en el proyecto.</a:t>
            </a:r>
          </a:p>
          <a:p>
            <a:r>
              <a:t>En este módulo: las dos familias de KPI, el valor planificado por IWP, los estudios de tool time y las auditorías del proceso.</a:t>
            </a:r>
          </a:p>
          <a:p/>
          <a:p>
            <a:r>
              <a:t>FUENTE: awp-2023-integrado-pdf.md (Lección 'Monitoring AWP KPIs').</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curso 2023 divide los KPI de AWP en dos familias:</a:t>
            </a:r>
          </a:p>
          <a:p>
            <a:r>
              <a:t>• KPI de Ingeniería: en las etapas FEL, toman la forma de una lista de verificación de entregables, desarrollada en el plan AWP y alineada al procedimiento del propietario. En la ejecución, mientras la ingeniería avanza, se mide con las reglas de crédito de cada EWP; cuando se completa, se sigue con los planes de liberación de EWP y CWP (fechas planificadas frente a reales).</a:t>
            </a:r>
          </a:p>
          <a:p>
            <a:r>
              <a:t>• KPI de Construcción: validan el esfuerzo de Workface Planning y el cumplimiento de metas. Omega 365 menciona tableros con IWP listos frente al total, tasa de cierre de restricciones, avance hacia RFCC/RFOC, porcentaje de plan completado (PPC) y productividad por disciplina.</a:t>
            </a:r>
          </a:p>
          <a:p>
            <a:r>
              <a:t>Nota: las listas detalladas de KPI de campo del curso 2023 se perdieron en la conversión; la lámina 99 las reconstruye con Omega 365 y los procedimientos.</a:t>
            </a:r>
          </a:p>
          <a:p/>
          <a:p>
            <a:r>
              <a:t>FUENTE: awp-2023-integrado-pdf.md ('Two Primary Types of AWP KPIs', 'Engineering KPIs'); advanced-work-packaging-a-recommended-practice-for-capital-projects-omega-365-blogs.md (Features: dashboards y KPI); INDICE.md §4.3.</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Durante la ejecución, cuando los paquetes de Ingeniería se completan, se siguen con el plan de liberación de EWP y el de CWP. Estas hojas deben contener las fechas planificadas (tomadas del cronograma EPC aprobado) y las reales, para medir el desempeño.</a:t>
            </a:r>
          </a:p>
          <a:p>
            <a:r>
              <a:t>El ejemplo es ilustrativo: muestra cómo un atraso de 7 días en un EWP de acero se amplifica en el CWP que depende de él, porque el CWP no puede empezar hasta que el EWP se libera y además requiere la revisión de Construcción.</a:t>
            </a:r>
          </a:p>
          <a:p>
            <a:r>
              <a:t>Úselo para explicar por qué el plan de liberación es un indicador adelantado de los problemas de campo.</a:t>
            </a:r>
          </a:p>
          <a:p/>
          <a:p>
            <a:r>
              <a:t>FUENTE: awp-2023-integrado-pdf.md ('Engineering KPIs - Execute Stage - Complete'; 'Managing EWPs / CWPs - The Release Plan'). Datos del ejemplo: ilustrativos.</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KPI de Construcción recomendados, reconstruidos a partir de las fuentes:</a:t>
            </a:r>
          </a:p>
          <a:p>
            <a:r>
              <a:t>• IWP listos frente al total, tasa de cierre de restricciones, porcentaje de plan completado (PPC, Percent Plan Complete) y productividad por disciplina: tableros de Omega 365.</a:t>
            </a:r>
          </a:p>
          <a:p>
            <a:r>
              <a:t>• Días de backlog: cálculo del curso 2023 (horas de IWP libres ÷ horas que gana la dotación por día).</a:t>
            </a:r>
          </a:p>
          <a:p>
            <a:r>
              <a:t>• IWP completados dentro de su ventana y devueltos: el Pack Track del Procedimiento 3.0 registra cuántos IWP de cada CWP se emitieron a campo y se devolvieron.</a:t>
            </a:r>
          </a:p>
          <a:p>
            <a:r>
              <a:t>El curso 2023 menciona también estadísticas generales, como las fechas de emisión planificadas y reales de cada paquete y las horas en obra por IWP.</a:t>
            </a:r>
          </a:p>
          <a:p/>
          <a:p>
            <a:r>
              <a:t>FUENTE: advanced-work-packaging-a-recommended-practice-for-capital-projects-omega-365-blogs.md (dashboards: IWPs ready vs total, constraint closure rate, Percent Plan Complete, productivity per discipline); awp-2023-integrado-pdf.md ('How to Calculate Backlog', 'Construction KPIs'); 3-workface-planning-procedure-insight-awp-2017-pdf.md (§7 Pack Track).</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Según la Quick Start Guide (§8A), empaquetar el trabajo con anticipación crea una base sólida para los controles del proyecto. La clave: desarrollar los CWP en IWP no antes de tres meses de su ejecución (cronograma por olas o rolling wave); calcular el valor planificado con los planos IFC y tasas estándar de instalación; codificar las hojas de tiempo con el número de IWP; y hacer que los capataces registren el avance físico por componente. El resultado son datos precisos y oportunos que forman una sola versión de la verdad.</a:t>
            </a:r>
          </a:p>
          <a:p>
            <a:r>
              <a:t>El Procedimiento 2.0 asigna a Controles establecer un estándar único de tasas de instalación y reglas de crédito, y prevé un estimado de presupuesto (±10 %) cuando el CWP se emite IFC, con cantidades del modelo 3D.</a:t>
            </a:r>
          </a:p>
          <a:p>
            <a:r>
              <a:t>El curso 2023 resume la lógica del estimado alineado a la WBS: cantidad × tasa de colocación = horas; horas ÷ dotación = duración.</a:t>
            </a:r>
          </a:p>
          <a:p/>
          <a:p>
            <a:r>
              <a:t>FUENTE: advanced-work-packaging-awp-quick-start-guide-pdf.md (§8A Project Controls); 2-information-management-procedure-insight-awp-2017-pdf.md (§8 Project Controls); awp-2023-integrado-pdf.md ('Building an AWP-Based Estimate').</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tool time, o tiempo en herramientas, es el porcentaje de la jornada en que el trabajador está instalando. Es el indicador principal de productividad en campo.</a:t>
            </a:r>
          </a:p>
          <a:p>
            <a:r>
              <a:t>Según el Education Framework del CII, en proyectos tradicionales es del 37 % (3,7 h de una jornada de 10 h) y con AWP sube al 46 % (4,6 h); el curso 2023 cita 47 %. El resto del tiempo se pierde esperando información, materiales, herramientas o accesos, en traslados o en pausas.</a:t>
            </a:r>
          </a:p>
          <a:p>
            <a:r>
              <a:t>0,9 h adicionales de trabajo efectivo por persona y día equivalen a un aumento de productividad de alrededor del 24-25 %, coherente con el +25 % que reportan los estudios del CII.</a:t>
            </a:r>
          </a:p>
          <a:p>
            <a:r>
              <a:t>Cómo medirlo: el Procedimiento 3.0 recomienda estudios de tool time realizados por terceros cada 2 o 3 meses. Son una "nota" para la gerencia, no para los trabajadores: miden si se entregan a tiempo información, herramientas, materiales y acceso.</a:t>
            </a:r>
          </a:p>
          <a:p/>
          <a:p>
            <a:r>
              <a:t>FUENTE: cii-awp-cba-education-framework-pdf.md (Benefits &amp; Value of AWP: 37 % frente a 46 %); awp-2023-integrado-pdf.md (Lección 2: Tool Time 37 % / 47 %); 3-workface-planning-procedure-insight-awp-2017-pdf.md (§18 Tool Time Studies).</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procedimientos de Insight incluyen auditorías como parte del ciclo. El Procedimiento 3.0 declara que el documento guía la implementación del contratista y luego se usa periódicamente para auditar su cumplimiento (§1 y §19).</a:t>
            </a:r>
          </a:p>
          <a:p>
            <a:r>
              <a:t>El Toolbox incluye plantillas para una revisión independiente del plan de WFP (SD01, WFP Cold Eyes Review) y para la auditoría (SD07, WFP Audit Template); el INDICE.md advierte que el Procedimiento 3.0 intercambia por error las referencias SD06 y SD07.</a:t>
            </a:r>
          </a:p>
          <a:p>
            <a:r>
              <a:t>El WFP Coordinator prepara cada semana un tablero desde el Pack Track para el informe de gestión, y el comité de dirección de WFP se reúne mensualmente para plantear y resolver problemas durante todo el proyecto.</a:t>
            </a:r>
          </a:p>
          <a:p>
            <a:r>
              <a:t>La Quick Start Guide recuerda que los procedimientos crean la expectativa de cumplimiento y facilitan las auditorías posteriores.</a:t>
            </a:r>
          </a:p>
          <a:p/>
          <a:p>
            <a:r>
              <a:t>FUENTE: 3-workface-planning-procedure-insight-awp-2017-pdf.md (WFP Toolbox; §1; §7; §19 Audits); 1-advanced-work-packaging-procedure-insight-awp-2017-pdf.md (§11); advanced-work-packaging-awp-quick-start-guide-pdf.md (§2); INDICE.md §4.2.</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Separador del Módulo 11. Muchas empresas empezaron a aplicar AWP en proyectos grandes y luego quisieron llevar sus beneficios a proyectos menores. Este módulo trata el modelo de AWP escalable de la COAA, la diferencia de plazos para paradas de planta, la relación con Lean Construction y las objeciones más comunes con sus respuestas.</a:t>
            </a:r>
          </a:p>
          <a:p/>
          <a:p>
            <a:r>
              <a:t>FUENTE: cii-awp-cba-education-framework-pdf.md (Scaling AWP; Overcoming Common AWP Objections); awp-vs-lc-pdf.md.</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Según el Education Framework del CII, la COAA recibió pedidos para desarrollar una guía de AWP escalable aplicable a proyectos de menos de USD 100 millones sin comprometer los principios que mejoran el desempeño.</a:t>
            </a:r>
          </a:p>
          <a:p>
            <a:r>
              <a:t>El resultado es el informe "COAA Scalable Advanced Work Packaging Model Report", desarrollado por cuatro comités de trabajo con 40 profesionales de la industria y un comité directivo de 5 miembros, basado en el trabajo del CII y la COAA. El modelo se diseñó en 2019, incluye proyectos de ejemplo y herramientas desarrolladas por expertos, y está pensado para distintos tipos, tamaños, complejidades y sectores.</a:t>
            </a:r>
          </a:p>
          <a:p>
            <a:r>
              <a:t>Nota: el repositorio solo contiene extractos del informe; no incluye la herramienta de clasificación ni el detalle de las categorías.</a:t>
            </a:r>
          </a:p>
          <a:p/>
          <a:p>
            <a:r>
              <a:t>FUENTE: cii-awp-cba-education-framework-pdf.md (Scaling AWP; COAA Scalable AWP); INDICE.md §4.3.</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informe de AWP escalable de la COAA identifica dos factores que cambian las prácticas de entrega:</a:t>
            </a:r>
          </a:p>
          <a:p>
            <a:r>
              <a:t>• Familiaridad: si el tipo de proyecto es nuevo para la empresa, se considera poco familiar; si el mismo equipo ya lo hizo, es familiar.</a:t>
            </a:r>
          </a:p>
          <a:p>
            <a:r>
              <a:t>• Complejidad: de extremadamente simple a extremadamente complejo.</a:t>
            </a:r>
          </a:p>
          <a:p>
            <a:r>
              <a:t>Con ellos define cuatro categorías: A, poco familiar y de baja complejidad (proyecto); B, familiar y de baja complejidad (programa); C, poco familiar y de alta complejidad (proyecto); D, familiar y de alta complejidad (programa).</a:t>
            </a:r>
          </a:p>
          <a:p>
            <a:r>
              <a:t>Una herramienta de clasificación (screening tool) con una serie de preguntas determina la categoría. El modelo usa el diagrama de flujo integrado del ciclo de vida de la mejor práctica AWP, formateado para escalarlo según familiaridad y complejidad.</a:t>
            </a:r>
          </a:p>
          <a:p>
            <a:r>
              <a:t>El repositorio no contiene el detalle de qué actividades se simplifican en cada categoría; consulte el informe de la COAA.</a:t>
            </a:r>
          </a:p>
          <a:p/>
          <a:p>
            <a:r>
              <a:t>FUENTE: cii-awp-cba-education-framework-pdf.md (COAA Scalable AWP Model and Report; Key Excerpts: categorías A-D); INDICE.md §4.3.</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Education Framework del CII muestra el calendario típico de restricciones de un IWP según el tamaño o tipo de proyecto. En una parada de planta (shutdown o turnaround) o un proyecto pequeño, el ciclo completo cabe en 6 semanas; en un proyecto grande, mega o giga, se extiende a 12.</a:t>
            </a:r>
          </a:p>
          <a:p>
            <a:r>
              <a:t>Los pasos no cambian: iniciar el IWP, identificar las restricciones, asignarlas a un responsable y liberarlas antes de entregar el paquete. Lo que cambia es el horizonte.</a:t>
            </a:r>
          </a:p>
          <a:p>
            <a:r>
              <a:t>Las paradas de planta (STO/SDTA/STA en el Glosario del CII) son proyectos en los que se detiene la operación de una planta o de parte de ella para reparaciones, mantenimiento, ampliaciones o mejoras; su duración corta hace aún más valiosa la preparación previa de paquetes.</a:t>
            </a:r>
          </a:p>
          <a:p/>
          <a:p>
            <a:r>
              <a:t>FUENTE: cii-awp-cba-education-framework-pdf.md (Typical IWP Constraint Schedule by Project Size / Type); awp-acronyms-definitions-pdf.md (Shutdown / Turnaround).</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informe especial 22-01c del CII, elaborado con el Lean Construction Institute (LCI) en 2023, compara AWP con Lean Construction y su Last Planner System (LPS).</a:t>
            </a:r>
          </a:p>
          <a:p>
            <a:r>
              <a:t>• Quién planifica: en AWP, planificadores dedicados con experiencia de oficio o de ingeniería de campo, a partir de un POC desarrollado en sesiones interactivas. En Lean, los capataces y superintendentes conversan directamente para mapear el trabajo próximo, a menudo con facilitadores, centrados en compromisos confiables más que en asignaciones. Lean insiste en no separar "planificar" de "hacer".</a:t>
            </a:r>
          </a:p>
          <a:p>
            <a:r>
              <a:t>• Restricciones: el proceso de WFP es más estructurado y puede ser más adecuado para instalaciones muy técnicas; puede complementar el esfuerzo del LPS.</a:t>
            </a:r>
          </a:p>
          <a:p>
            <a:r>
              <a:t>• Avance: AWP compara el avance real con el plan original; Last Planner pone el acento en la adaptabilidad y la confiabilidad del flujo.</a:t>
            </a:r>
          </a:p>
          <a:p>
            <a:r>
              <a:t>Mensaje: no son excluyentes; muchas empresas combinan ambos.</a:t>
            </a:r>
          </a:p>
          <a:p/>
          <a:p>
            <a:r>
              <a:t>FUENTE: awp-vs-lc-pdf.md (temas 1, 2, 5 y 6).</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Resumen de los once temas del informe CII/LCI 22-01c:</a:t>
            </a:r>
          </a:p>
          <a:p>
            <a:r>
              <a:t>1) Quién planifica: planificadores dedicados en AWP; el "último planificador" en Lean.</a:t>
            </a:r>
          </a:p>
          <a:p>
            <a:r>
              <a:t>2) Rol del programador maestro: limitar el detalle temprano del cronograma maestro (LPS) evita sobrestimar su certeza; la eliminación de restricciones de WFP puede complementarlo.</a:t>
            </a:r>
          </a:p>
          <a:p>
            <a:r>
              <a:t>3) Quién ejecuta: el mismo enfoque con técnicas distintas.</a:t>
            </a:r>
          </a:p>
          <a:p>
            <a:r>
              <a:t>4) Cómo se empaqueta: algunos proyectos Lean/IPD (Integrated Project Delivery) ya usan paquetes muy parecidos; la diferencia es cuándo se desarrollan y cuánto participan los oficios ("Big Room").</a:t>
            </a:r>
          </a:p>
          <a:p>
            <a:r>
              <a:t>5) Restricciones: WFP más estructurado.</a:t>
            </a:r>
          </a:p>
          <a:p>
            <a:r>
              <a:t>6) Avance: plan frente a flujo.</a:t>
            </a:r>
          </a:p>
          <a:p>
            <a:r>
              <a:t>7) KPI: la crítica Lean a AWP es su foco en el valor ganado frente a la gestión del flujo.</a:t>
            </a:r>
          </a:p>
          <a:p>
            <a:r>
              <a:t>8) Alineación: AWP integra documentos (IWP para las cuadrillas); IPD integra equipos que producen los documentos que necesitan.</a:t>
            </a:r>
          </a:p>
          <a:p>
            <a:r>
              <a:t>9) Organización: marco distribuido de Lean/IPD frente al mando jerárquico asociado a AWP.</a:t>
            </a:r>
          </a:p>
          <a:p>
            <a:r>
              <a:t>10) Seguridad y calidad: ambos las priorizan.</a:t>
            </a:r>
          </a:p>
          <a:p>
            <a:r>
              <a:t>11) Puesta en marcha: AWP le presta más atención recientemente.</a:t>
            </a:r>
          </a:p>
          <a:p>
            <a:r>
              <a:t>Advertencia: en el archivo, algunos títulos de tema están desfasados y varios textos truncados; se usó el orden de las comparaciones.</a:t>
            </a:r>
          </a:p>
          <a:p/>
          <a:p>
            <a:r>
              <a:t>FUENTE: awp-vs-lc-pdf.md (Comparison Topics 1-11); INDICE.md §4.1.</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Education Framework del CII responde doce objeciones frecuentes:</a:t>
            </a:r>
          </a:p>
          <a:p>
            <a:r>
              <a:t>1) "No tengo suficiente gente": hay que comprometerse con AWP a nivel de organización; si no, fracasa en el proyecto. Quien dice no tener gente, en general no se ha comprometido.</a:t>
            </a:r>
          </a:p>
          <a:p>
            <a:r>
              <a:t>2) "Así no trabaja Ingeniería": es una falacia; el impacto en su productividad es pequeño, puede seguir diseñando por sistemas y cambia la distribución y prioridad de los entregables.</a:t>
            </a:r>
          </a:p>
          <a:p>
            <a:r>
              <a:t>3) "Es muy difícil": los clientes piden entregas más inteligentes; las empresas que no innovan dejan de existir.</a:t>
            </a:r>
          </a:p>
          <a:p>
            <a:r>
              <a:t>4) "Nuestro proceso está bien": 70 % de los proyectos termina sobre presupuesto y con retraso; 52 % termina en el 189 % de su presupuesto.</a:t>
            </a:r>
          </a:p>
          <a:p>
            <a:r>
              <a:t>5) "No tengo la tecnología": los sistemas integrados permiten controlar más con menos personal.</a:t>
            </a:r>
          </a:p>
          <a:p>
            <a:r>
              <a:t>6) "Es una moda": es mejor práctica reconocida por el CII y la COAA y requisito de muchos clientes de petróleo, gas y química.</a:t>
            </a:r>
          </a:p>
          <a:p>
            <a:r>
              <a:t>7) "No sirve para mi proyecto" y 9) "es muy pequeño": el concepto es escalable.</a:t>
            </a:r>
          </a:p>
          <a:p>
            <a:r>
              <a:t>8) "No tengo tiempo": hay recursos disponibles y el CII desarrolla un servicio de acompañamiento.</a:t>
            </a:r>
          </a:p>
          <a:p>
            <a:r>
              <a:t>10) "Está muy avanzado": si cambiar el rumbo es costoso, gestione al menos las restricciones de los IWP con WFP.</a:t>
            </a:r>
          </a:p>
          <a:p>
            <a:r>
              <a:t>11) "Suma alzada": más seguridad, productividad y menor costo aumentan el margen.</a:t>
            </a:r>
          </a:p>
          <a:p>
            <a:r>
              <a:t>12) "Ya hacemos AWP": muchos no dimensionan su alcance completo.</a:t>
            </a:r>
          </a:p>
          <a:p/>
          <a:p>
            <a:r>
              <a:t>FUENTE: cii-awp-cba-education-framework-pdf.md (Overcoming Common AWP Objections).</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 la objeción más peligrosa porque cierra la conversación. El Education Framework responde que muchas empresas tienen una idea equivocada del alcance de AWP: no se dan cuenta de que es un método integral de entrega de proyectos, desde la planificación temprana hasta el comisionamiento.</a:t>
            </a:r>
          </a:p>
          <a:p>
            <a:r>
              <a:t>El curso 2023 (lección 3, "Espere resistencia") añade que muchas personas, sobre todo en Construcción, se ponen a la defensiva y dicen que ya lo hacen. Conviene reconocer que AWP no es un concepto totalmente nuevo: toma lo mejor de lo que ya se hace y lo estandariza.</a:t>
            </a:r>
          </a:p>
          <a:p>
            <a:r>
              <a:t>Use las tres preguntas de la lámina para verificarlo: si no hay POC firmado, backlog medido ni Pack Track actualizado, lo que se hace es planificación de campo, no AWP.</a:t>
            </a:r>
          </a:p>
          <a:p/>
          <a:p>
            <a:r>
              <a:t>FUENTE: cii-awp-cba-education-framework-pdf.md (objeción 'We already do AWP'); awp-2023-integrado-pdf.md (AWP Related Lessons Learned, lección 3).</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Separador del Módulo 12. El curso 2023 dedica una lección a las lecciones aprendidas en la implementación de AWP. Aquí se presentan junto con una síntesis de los errores más costosos que se desprenden de todas las fuentes.</a:t>
            </a:r>
          </a:p>
          <a:p/>
          <a:p>
            <a:r>
              <a:t>FUENTE: awp-2023-integrado-pdf.md (AWP Related Lessons Learned).</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Lección 1 del curso 2023: AWP es un camino (a journey). No saldrá todo bien la primera vez; lo importante es aprender de lo que no funciona y reconocer los avances.</a:t>
            </a:r>
          </a:p>
          <a:p>
            <a:r>
              <a:t>Relaciónelo con la lámina de mejora continua (118): el registro de lecciones empieza en el seminario de arranque y alimenta al proyecto siguiente.</a:t>
            </a:r>
          </a:p>
          <a:p/>
          <a:p>
            <a:r>
              <a:t>FUENTE: awp-2023-integrado-pdf.md (AWP Related Lessons Learned, lección 1: 'AWP is a Journey').</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Lección 2 del curso 2023: no hace falta abordar todo de inmediato. Algunas empresas eligieron un enfoque de "gatear, caminar, correr".</a:t>
            </a:r>
          </a:p>
          <a:p>
            <a:r>
              <a:t>El ejemplo de etapas de la lámina es una propuesta basada en las fuentes: el curso 2023 cuenta que algunas empresas empezaron su camino AWP con el objetivo de producir CWP más precisos para usarlos como paquetes de licitación, con excelentes resultados; el Framework recuerda que, si el proyecto está avanzado, al menos puede aplicarse WFP con gestión de restricciones por IWP.</a:t>
            </a:r>
          </a:p>
          <a:p>
            <a:r>
              <a:t>Adapte las etapas a la madurez de su empresa y a la categoría del proyecto (lámina 105).</a:t>
            </a:r>
          </a:p>
          <a:p/>
          <a:p>
            <a:r>
              <a:t>FUENTE: awp-2023-integrado-pdf.md (lección 2: 'Crawl, Walk, Run'; 'The Value of a Good CWP'); cii-awp-cba-education-framework-pdf.md (objeción 'My project is too far along').</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Lección 3 del curso 2023, "Espere resistencia": mucha gente, en especial en Construcción, se pone a la defensiva y dice que ya lo hace. Es importante recordar que AWP no es un concepto totalmente nuevo: toma lo mejor de lo que ya se hace y lo ordena. La nota del curso lo dice así: "no decimos que lo estén haciendo mal; solo estandarizamos los mejores métodos de la industria".</a:t>
            </a:r>
          </a:p>
          <a:p>
            <a:r>
              <a:t>Lección 6, "Capacitación, capacitación, capacitación": enseñe a los equipos el lenguaje de AWP y úselo en reuniones, documentos y correspondencia. Que todos usen la misma terminología es una gran ventaja para alinear al equipo y lograr adhesión a la cultura AWP.</a:t>
            </a:r>
          </a:p>
          <a:p/>
          <a:p>
            <a:r>
              <a:t>FUENTE: awp-2023-integrado-pdf.md (lecciones 3 y 6; 'Note...' en 'Understanding the Process of Workface Planning').</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Lección 4 del curso 2023, "Contratistas expertos": muchos contratistas, cuando se les pregunta por su experiencia en AWP, asienten y dicen ser expertos; algunos incluso envían procedimientos muy bien escritos. Pero la única forma real de saberlo es sentarse a conversar con ellos.</a:t>
            </a:r>
          </a:p>
          <a:p>
            <a:r>
              <a:t>Lección 5, "Contratistas novatos": no ser experto en AWP no debería excluir a un contratista de la licitación o del proyecto. Es mejor trabajar con un novato que quiere aprender el proceso que con uno que dice ser experto pero no lo aplica.</a:t>
            </a:r>
          </a:p>
          <a:p>
            <a:r>
              <a:t>Conecte con la lámina 31: la entrevista forma parte de la evaluación de ofertas.</a:t>
            </a:r>
          </a:p>
          <a:p/>
          <a:p>
            <a:r>
              <a:t>FUENTE: awp-2023-integrado-pdf.md (lecciones 4 y 5); 1-advanced-work-packaging-procedure-insight-awp-2017-pdf.md (§10 Bid Assessments).</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tabla es una síntesis propia de las fuentes; cada fila se apoya en una recomendación explícita:</a:t>
            </a:r>
          </a:p>
          <a:p>
            <a:r>
              <a:t>1) Champion a medio tiempo: curso 2023, lección 8 ("debe ser un rol dedicado a tiempo completo") y errores al designarlo.</a:t>
            </a:r>
          </a:p>
          <a:p>
            <a:r>
              <a:t>2) POC tardío: curso 2023 (el POC es entregable de la compuerta 3 y debe firmarse antes de la ingeniería de detalle).</a:t>
            </a:r>
          </a:p>
          <a:p>
            <a:r>
              <a:t>3) IWP con restricciones: Quick Start, regla de oro.</a:t>
            </a:r>
          </a:p>
          <a:p>
            <a:r>
              <a:t>4) Sin backlog: curso 2023 ("cree el backlog antes de movilizar cuadrillas; los planificadores se movilizan antes") y el riesgo de "empezar demasiado pronto" sin backlog suficiente.</a:t>
            </a:r>
          </a:p>
          <a:p>
            <a:r>
              <a:t>5) Software antes que proceso: curso 2023, lección 7.</a:t>
            </a:r>
          </a:p>
          <a:p>
            <a:r>
              <a:t>6) Sin cláusula: Procedimiento 3.0 (§3) y Quick Start (§3).</a:t>
            </a:r>
          </a:p>
          <a:p>
            <a:r>
              <a:t>7) Sin medición: Procedimiento 3.0 (§18 y §19) y lección de KPI del curso 2023.</a:t>
            </a:r>
          </a:p>
          <a:p/>
          <a:p>
            <a:r>
              <a:t>FUENTE: Síntesis de awp-2023-integrado-pdf.md (lecciones 7 y 8; backlog; cronograma), advanced-work-packaging-awp-quick-start-guide-pdf.md (§3, §7), 3-workface-planning-procedure-insight-awp-2017-pdf.md (§3, §18, §19) y cii-awp-cba-education-framework-pdf.md.</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esta lista como diagnóstico rápido en la sesión: pida al público que responda sí o no para su proyecto actual.</a:t>
            </a:r>
          </a:p>
          <a:p>
            <a:r>
              <a:t>Las preguntas siguen los siete componentes de la Quick Start Guide y los hitos de las fases:</a:t>
            </a:r>
          </a:p>
          <a:p>
            <a:r>
              <a:t>1) Champion dedicado (Quick Start §1). 2) Procedimientos aprobados (§2). 3) POC firmado en la compuerta 3 (curso 2023). 4) EWP liberados según el POC (Procedimiento 1.0 §14). 5) Planificadores 1:50 (Quick Start §5). 6) Regla de oro de las restricciones (Quick Start §7). 7) Medición de tool time y backlog (Procedimiento 3.0 §18; curso 2023).</a:t>
            </a:r>
          </a:p>
          <a:p>
            <a:r>
              <a:t>Cada respuesta negativa se convierte en una acción de la hoja de ruta de 90 días (lámina 120).</a:t>
            </a:r>
          </a:p>
          <a:p/>
          <a:p>
            <a:r>
              <a:t>FUENTE: advanced-work-packaging-awp-quick-start-guide-pdf.md (§1-§7); awp-2023-integrado-pdf.md; 1-advanced-work-packaging-procedure-insight-awp-2017-pdf.md (§14); 3-workface-planning-procedure-insight-awp-2017-pdf.md (§18).</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Omega 365 sitúa la mejora continua en el centro de AWP: al terminar el proyecto, los equipos deben revisar el desempeño de los paquetes, las tendencias de restricciones, el cumplimiento del cronograma y las causas raíz de los retrasos. Las lecciones se guardan para aplicarlas en proyectos futuros; así cada proyecto empieza con una base AWP más madura y basada en datos.</a:t>
            </a:r>
          </a:p>
          <a:p>
            <a:r>
              <a:t>El Procedimiento 1.0 de Insight inicia el registro de lecciones en el seminario de arranque, dentro de los 30 días de la adjudicación, con aportes de todos los actores; el AWP Champion lo consolida y lo comunica, y el comité de dirección de WFP se reúne mensualmente.</a:t>
            </a:r>
          </a:p>
          <a:p/>
          <a:p>
            <a:r>
              <a:t>FUENTE: advanced-work-packaging-a-recommended-practice-for-capital-projects-omega-365-blogs.md (Lessons Learned and Continuous Improvement); 1-advanced-work-packaging-procedure-insight-awp-2017-pdf.md (§11 Kick-off and Lessons Learned).</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Separador del último módulo. Cierre con acciones concretas: qué hacer en los próximos 90 días para empezar a implementar AWP en el primer proyecto, y el resumen del recorrido completo.</a:t>
            </a:r>
          </a:p>
          <a:p/>
          <a:p>
            <a:r>
              <a:t>FUENTE: advanced-work-packaging-awp-quick-start-guide-pdf.md; awp-2023-integrado-pdf.md (AWP Related Lessons Learned).</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Hoja de ruta propuesta (síntesis de las fuentes) para el primer proyecto:</a:t>
            </a:r>
          </a:p>
          <a:p>
            <a:r>
              <a:t>• Días 1 a 30, nombrar y preparar: designar un AWP Champion dedicado (Quick Start §1; lección 8 del curso 2023), aplicar el diagnóstico de la lámina 117 y capacitar al equipo en el lenguaje de AWP (lección 6).</a:t>
            </a:r>
          </a:p>
          <a:p>
            <a:r>
              <a:t>• Días 31 a 60, escribir y contratar: redactar o adaptar los procedimientos AWP, IM y WFP (Quick Start §2; plantillas de Insight), definir la WBS y la nomenclatura, e incluir el procedimiento de WFP y la entrega de datos en las licitaciones (Procedimiento 3.0 §3).</a:t>
            </a:r>
          </a:p>
          <a:p>
            <a:r>
              <a:t>• Días 61 a 90, pilotear: realizar el taller del POC (o, si el proyecto ya está en ejecución, elegir un CWP a 90 días de su inicio), dividirlo en IWP con el superintendente, gestionar sus restricciones y seguirlo con un Pack Track (Quick Start §6-§7).</a:t>
            </a:r>
          </a:p>
          <a:p>
            <a:r>
              <a:t>Recuerde que el Procedimiento 1.0 dejó vacía su sección 12 ("Roadmap"); esta hoja de ruta la completa de forma práctica.</a:t>
            </a:r>
          </a:p>
          <a:p/>
          <a:p>
            <a:r>
              <a:t>FUENTE: Síntesis de advanced-work-packaging-awp-quick-start-guide-pdf.md (§1-§7), awp-2023-integrado-pdf.md (lecciones 2, 6 y 8), 3-workface-planning-procedure-insight-awp-2017-pdf.md (§3) y 1-advanced-work-packaging-procedure-insight-awp-2017-pdf.md (§12, vacía en el original).</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Resumen del recorrido:</a:t>
            </a:r>
          </a:p>
          <a:p>
            <a:r>
              <a:t>• Fase 1 (FEL 2): Construcción lidera la división en CWA, el Path of Construction en talleres interactivos y el plan de liberación de paquetes. El POC se congela al final de FEL 3.</a:t>
            </a:r>
          </a:p>
          <a:p>
            <a:r>
              <a:t>• Fase 2 (FEL 3 y ejecución): Ingeniería entrega EWP completos en la secuencia del POC; Compras alinea los PWP y las fechas requeridas en obra; Construcción prepara los CWP.</a:t>
            </a:r>
          </a:p>
          <a:p>
            <a:r>
              <a:t>• Fase 3 (ejecución): los Workface Planners dividen los CWP en IWP, liberan sus restricciones y mantienen el backlog; la supervisión ejecuta y registra el avance.</a:t>
            </a:r>
          </a:p>
          <a:p>
            <a:r>
              <a:t>• Fase 4 (arranque): comisionamiento y operaciones reciben el proyecto por sistemas (SWP, TOP, RFCC, RFOC).</a:t>
            </a:r>
          </a:p>
          <a:p>
            <a:r>
              <a:t>El hilo conductor, en palabras de la Quick Start Guide, es "empezar con el fin en mente": cuando ingeniería y compras se entregan en la secuencia correcta, la construcción puede avanzar sin interrupciones.</a:t>
            </a:r>
          </a:p>
          <a:p/>
          <a:p>
            <a:r>
              <a:t>FUENTE: advanced-work-packaging-a-recommended-practice-for-capital-projects-omega-365-blogs.md (Planning and Implementation Stages); advanced-work-packaging-awp-quick-start-guide-pdf.md (§8F Engineering Alignment with Construction).</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Resuma el hilo conductor en tres ideas:</a:t>
            </a:r>
          </a:p>
          <a:p>
            <a:r>
              <a:t>1. Construcción define el orden. El POC se construye en sesiones de planificación interactiva, se define en FEL 2 y se congela en FEL 3. De él salen las CWA y los CWP.</a:t>
            </a:r>
          </a:p>
          <a:p>
            <a:r>
              <a:t>2. Ingeniería y Compras siguen ese orden. Los EWP y PWP se entregan en la secuencia del POC (1 EWP = 1 PWP = 1 CWP).</a:t>
            </a:r>
          </a:p>
          <a:p>
            <a:r>
              <a:t>3. El campo ejecuta sin restricciones. Cada capataz recibe un IWP libre de restricciones, tomado de un backlog, y registra el avance a diario.</a:t>
            </a:r>
          </a:p>
          <a:p>
            <a:r>
              <a:t>Siguiente paso concreto: nombrar un AWP Champion dedicado a tiempo completo. Es el primer componente de la Quick Start Guide y la lección 8 del curso 2023.</a:t>
            </a:r>
          </a:p>
          <a:p>
            <a:r>
              <a:t>Abra la ronda de preguntas.</a:t>
            </a:r>
          </a:p>
          <a:p/>
          <a:p>
            <a:r>
              <a:t>FUENTE: advanced-work-packaging-awp-quick-start-guide-pdf.md (§1 y §8); awp-2023-integrado-pdf.md (AWP Related Lessons Learned, lección 8); síntesis de la presentación.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8.png"/><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4.png"/><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png"/><Relationship Id="rId3" Type="http://schemas.openxmlformats.org/officeDocument/2006/relationships/image" Target="../media/image30.png"/><Relationship Id="rId4" Type="http://schemas.openxmlformats.org/officeDocument/2006/relationships/image" Target="../media/image29.png"/><Relationship Id="rId5" Type="http://schemas.openxmlformats.org/officeDocument/2006/relationships/image" Target="../media/image31.png"/><Relationship Id="rId6" Type="http://schemas.openxmlformats.org/officeDocument/2006/relationships/image" Target="../media/image8.png"/><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15.png"/><Relationship Id="rId6" Type="http://schemas.openxmlformats.org/officeDocument/2006/relationships/image" Target="../media/image34.png"/><Relationship Id="rId7" Type="http://schemas.openxmlformats.org/officeDocument/2006/relationships/image" Target="../media/image8.png"/><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15.png"/><Relationship Id="rId5" Type="http://schemas.openxmlformats.org/officeDocument/2006/relationships/image" Target="../media/image11.png"/><Relationship Id="rId6" Type="http://schemas.openxmlformats.org/officeDocument/2006/relationships/image" Target="../media/image8.png"/><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29.png"/><Relationship Id="rId4" Type="http://schemas.openxmlformats.org/officeDocument/2006/relationships/image" Target="../media/image13.png"/><Relationship Id="rId5" Type="http://schemas.openxmlformats.org/officeDocument/2006/relationships/image" Target="../media/image37.png"/><Relationship Id="rId6" Type="http://schemas.openxmlformats.org/officeDocument/2006/relationships/image" Target="../media/image8.png"/><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image" Target="../media/image32.png"/><Relationship Id="rId4" Type="http://schemas.openxmlformats.org/officeDocument/2006/relationships/image" Target="../media/image38.png"/><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9.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27.png"/><Relationship Id="rId8" Type="http://schemas.openxmlformats.org/officeDocument/2006/relationships/image" Target="../media/image37.png"/><Relationship Id="rId9"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8.png"/><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6.png"/><Relationship Id="rId3" Type="http://schemas.openxmlformats.org/officeDocument/2006/relationships/image" Target="../media/image13.png"/><Relationship Id="rId4" Type="http://schemas.openxmlformats.org/officeDocument/2006/relationships/image" Target="../media/image29.png"/><Relationship Id="rId5" Type="http://schemas.openxmlformats.org/officeDocument/2006/relationships/image" Target="../media/image47.png"/><Relationship Id="rId6" Type="http://schemas.openxmlformats.org/officeDocument/2006/relationships/image" Target="../media/image48.png"/><Relationship Id="rId7" Type="http://schemas.openxmlformats.org/officeDocument/2006/relationships/image" Target="../media/image8.png"/><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png"/><Relationship Id="rId3" Type="http://schemas.openxmlformats.org/officeDocument/2006/relationships/image" Target="../media/image5.png"/><Relationship Id="rId4" Type="http://schemas.openxmlformats.org/officeDocument/2006/relationships/image" Target="../media/image29.png"/><Relationship Id="rId5" Type="http://schemas.openxmlformats.org/officeDocument/2006/relationships/image" Target="../media/image41.png"/><Relationship Id="rId6" Type="http://schemas.openxmlformats.org/officeDocument/2006/relationships/image" Target="../media/image8.png"/><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8.png"/><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3.png"/><Relationship Id="rId3" Type="http://schemas.openxmlformats.org/officeDocument/2006/relationships/image" Target="../media/image49.png"/><Relationship Id="rId4" Type="http://schemas.openxmlformats.org/officeDocument/2006/relationships/image" Target="../media/image38.png"/><Relationship Id="rId5" Type="http://schemas.openxmlformats.org/officeDocument/2006/relationships/image" Target="../media/image19.png"/><Relationship Id="rId6" Type="http://schemas.openxmlformats.org/officeDocument/2006/relationships/image" Target="../media/image8.png"/><Relationship Id="rId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png"/><Relationship Id="rId3" Type="http://schemas.openxmlformats.org/officeDocument/2006/relationships/image" Target="../media/image54.png"/><Relationship Id="rId4" Type="http://schemas.openxmlformats.org/officeDocument/2006/relationships/image" Target="../media/image48.png"/><Relationship Id="rId5" Type="http://schemas.openxmlformats.org/officeDocument/2006/relationships/image" Target="../media/image55.png"/><Relationship Id="rId6" Type="http://schemas.openxmlformats.org/officeDocument/2006/relationships/image" Target="../media/image8.png"/><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6.png"/><Relationship Id="rId3" Type="http://schemas.openxmlformats.org/officeDocument/2006/relationships/image" Target="../media/image31.png"/><Relationship Id="rId4" Type="http://schemas.openxmlformats.org/officeDocument/2006/relationships/image" Target="../media/image16.png"/><Relationship Id="rId5" Type="http://schemas.openxmlformats.org/officeDocument/2006/relationships/image" Target="../media/image30.png"/><Relationship Id="rId6" Type="http://schemas.openxmlformats.org/officeDocument/2006/relationships/image" Target="../media/image57.png"/><Relationship Id="rId7" Type="http://schemas.openxmlformats.org/officeDocument/2006/relationships/image" Target="../media/image23.png"/><Relationship Id="rId8" Type="http://schemas.openxmlformats.org/officeDocument/2006/relationships/image" Target="../media/image8.png"/><Relationship Id="rId9"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8.png"/><Relationship Id="rId3" Type="http://schemas.openxmlformats.org/officeDocument/2006/relationships/image" Target="../media/image56.png"/><Relationship Id="rId4" Type="http://schemas.openxmlformats.org/officeDocument/2006/relationships/image" Target="../media/image59.png"/><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png"/><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60.png"/><Relationship Id="rId6" Type="http://schemas.openxmlformats.org/officeDocument/2006/relationships/image" Target="../media/image8.png"/><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png"/><Relationship Id="rId3" Type="http://schemas.openxmlformats.org/officeDocument/2006/relationships/image" Target="../media/image50.png"/><Relationship Id="rId4" Type="http://schemas.openxmlformats.org/officeDocument/2006/relationships/image" Target="../media/image8.png"/><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19.pn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32.pn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8.png"/><Relationship Id="rId7"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4.png"/><Relationship Id="rId4" Type="http://schemas.openxmlformats.org/officeDocument/2006/relationships/image" Target="../media/image32.png"/><Relationship Id="rId5" Type="http://schemas.openxmlformats.org/officeDocument/2006/relationships/image" Target="../media/image66.png"/><Relationship Id="rId6" Type="http://schemas.openxmlformats.org/officeDocument/2006/relationships/image" Target="../media/image8.png"/><Relationship Id="rId7"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5.png"/><Relationship Id="rId3" Type="http://schemas.openxmlformats.org/officeDocument/2006/relationships/image" Target="../media/image25.png"/><Relationship Id="rId4" Type="http://schemas.openxmlformats.org/officeDocument/2006/relationships/image" Target="../media/image67.png"/><Relationship Id="rId5" Type="http://schemas.openxmlformats.org/officeDocument/2006/relationships/image" Target="../media/image68.png"/><Relationship Id="rId6" Type="http://schemas.openxmlformats.org/officeDocument/2006/relationships/image" Target="../media/image8.png"/><Relationship Id="rId7"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png"/><Relationship Id="rId3" Type="http://schemas.openxmlformats.org/officeDocument/2006/relationships/image" Target="../media/image69.png"/><Relationship Id="rId4" Type="http://schemas.openxmlformats.org/officeDocument/2006/relationships/image" Target="../media/image70.png"/><Relationship Id="rId5" Type="http://schemas.openxmlformats.org/officeDocument/2006/relationships/image" Target="../media/image71.png"/><Relationship Id="rId6" Type="http://schemas.openxmlformats.org/officeDocument/2006/relationships/image" Target="../media/image72.png"/><Relationship Id="rId7" Type="http://schemas.openxmlformats.org/officeDocument/2006/relationships/image" Target="../media/image8.png"/><Relationship Id="rId8"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image" Target="../media/image53.png"/><Relationship Id="rId4" Type="http://schemas.openxmlformats.org/officeDocument/2006/relationships/image" Target="../media/image13.png"/><Relationship Id="rId5" Type="http://schemas.openxmlformats.org/officeDocument/2006/relationships/image" Target="../media/image66.png"/><Relationship Id="rId6" Type="http://schemas.openxmlformats.org/officeDocument/2006/relationships/image" Target="../media/image31.png"/><Relationship Id="rId7"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3.png"/><Relationship Id="rId3" Type="http://schemas.openxmlformats.org/officeDocument/2006/relationships/image" Target="../media/image2.png"/><Relationship Id="rId4" Type="http://schemas.openxmlformats.org/officeDocument/2006/relationships/image" Target="../media/image74.png"/><Relationship Id="rId5" Type="http://schemas.openxmlformats.org/officeDocument/2006/relationships/image" Target="../media/image25.png"/><Relationship Id="rId6" Type="http://schemas.openxmlformats.org/officeDocument/2006/relationships/image" Target="../media/image8.png"/><Relationship Id="rId7"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19.png"/><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7.png"/><Relationship Id="rId4" Type="http://schemas.openxmlformats.org/officeDocument/2006/relationships/image" Target="../media/image15.png"/><Relationship Id="rId5" Type="http://schemas.openxmlformats.org/officeDocument/2006/relationships/image" Target="../media/image75.png"/><Relationship Id="rId6"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6.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64.png"/><Relationship Id="rId6"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image" Target="../media/image7.png"/><Relationship Id="rId4" Type="http://schemas.openxmlformats.org/officeDocument/2006/relationships/image" Target="../media/image37.png"/><Relationship Id="rId5" Type="http://schemas.openxmlformats.org/officeDocument/2006/relationships/image" Target="../media/image49.png"/><Relationship Id="rId6" Type="http://schemas.openxmlformats.org/officeDocument/2006/relationships/image" Target="../media/image77.png"/><Relationship Id="rId7" Type="http://schemas.openxmlformats.org/officeDocument/2006/relationships/image" Target="../media/image5.png"/><Relationship Id="rId8" Type="http://schemas.openxmlformats.org/officeDocument/2006/relationships/image" Target="../media/image32.png"/><Relationship Id="rId9" Type="http://schemas.openxmlformats.org/officeDocument/2006/relationships/image" Target="../media/image15.png"/><Relationship Id="rId10"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png"/><Relationship Id="rId3" Type="http://schemas.openxmlformats.org/officeDocument/2006/relationships/image" Target="../media/image50.png"/><Relationship Id="rId4" Type="http://schemas.openxmlformats.org/officeDocument/2006/relationships/image" Target="../media/image34.png"/><Relationship Id="rId5" Type="http://schemas.openxmlformats.org/officeDocument/2006/relationships/image" Target="../media/image78.png"/><Relationship Id="rId6" Type="http://schemas.openxmlformats.org/officeDocument/2006/relationships/image" Target="../media/image8.png"/><Relationship Id="rId7"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7.png"/><Relationship Id="rId4" Type="http://schemas.openxmlformats.org/officeDocument/2006/relationships/image" Target="../media/image47.png"/><Relationship Id="rId5" Type="http://schemas.openxmlformats.org/officeDocument/2006/relationships/image" Target="../media/image5.png"/><Relationship Id="rId6"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png"/><Relationship Id="rId3" Type="http://schemas.openxmlformats.org/officeDocument/2006/relationships/image" Target="../media/image53.png"/><Relationship Id="rId4" Type="http://schemas.openxmlformats.org/officeDocument/2006/relationships/image" Target="../media/image78.png"/><Relationship Id="rId5" Type="http://schemas.openxmlformats.org/officeDocument/2006/relationships/image" Target="../media/image37.png"/><Relationship Id="rId6" Type="http://schemas.openxmlformats.org/officeDocument/2006/relationships/image" Target="../media/image8.png"/><Relationship Id="rId7"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9.png"/><Relationship Id="rId3" Type="http://schemas.openxmlformats.org/officeDocument/2006/relationships/image" Target="../media/image78.png"/><Relationship Id="rId4" Type="http://schemas.openxmlformats.org/officeDocument/2006/relationships/image" Target="../media/image5.png"/><Relationship Id="rId5" Type="http://schemas.openxmlformats.org/officeDocument/2006/relationships/image" Target="../media/image50.png"/><Relationship Id="rId6" Type="http://schemas.openxmlformats.org/officeDocument/2006/relationships/image" Target="../media/image79.png"/><Relationship Id="rId7" Type="http://schemas.openxmlformats.org/officeDocument/2006/relationships/image" Target="../media/image10.png"/><Relationship Id="rId8" Type="http://schemas.openxmlformats.org/officeDocument/2006/relationships/image" Target="../media/image8.png"/><Relationship Id="rId9"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png"/><Relationship Id="rId3" Type="http://schemas.openxmlformats.org/officeDocument/2006/relationships/image" Target="../media/image11.png"/><Relationship Id="rId4" Type="http://schemas.openxmlformats.org/officeDocument/2006/relationships/image" Target="../media/image61.png"/><Relationship Id="rId5" Type="http://schemas.openxmlformats.org/officeDocument/2006/relationships/image" Target="../media/image27.png"/><Relationship Id="rId6" Type="http://schemas.openxmlformats.org/officeDocument/2006/relationships/image" Target="../media/image8.png"/><Relationship Id="rId7"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45.png"/><Relationship Id="rId4" Type="http://schemas.openxmlformats.org/officeDocument/2006/relationships/image" Target="../media/image80.png"/><Relationship Id="rId5" Type="http://schemas.openxmlformats.org/officeDocument/2006/relationships/image" Target="../media/image64.png"/><Relationship Id="rId6" Type="http://schemas.openxmlformats.org/officeDocument/2006/relationships/image" Target="../media/image8.png"/><Relationship Id="rId7"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19.png"/><Relationship Id="rId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81.png"/><Relationship Id="rId4" Type="http://schemas.openxmlformats.org/officeDocument/2006/relationships/image" Target="../media/image8.png"/><Relationship Id="rId5"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3.png"/><Relationship Id="rId5" Type="http://schemas.openxmlformats.org/officeDocument/2006/relationships/image" Target="../media/image83.png"/><Relationship Id="rId6" Type="http://schemas.openxmlformats.org/officeDocument/2006/relationships/image" Target="../media/image68.png"/><Relationship Id="rId7" Type="http://schemas.openxmlformats.org/officeDocument/2006/relationships/image" Target="../media/image8.png"/><Relationship Id="rId8"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53.png"/><Relationship Id="rId4" Type="http://schemas.openxmlformats.org/officeDocument/2006/relationships/image" Target="../media/image84.png"/><Relationship Id="rId5" Type="http://schemas.openxmlformats.org/officeDocument/2006/relationships/image" Target="../media/image57.png"/><Relationship Id="rId6" Type="http://schemas.openxmlformats.org/officeDocument/2006/relationships/image" Target="../media/image8.png"/><Relationship Id="rId7"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19.png"/><Relationship Id="rId4"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png"/><Relationship Id="rId3" Type="http://schemas.openxmlformats.org/officeDocument/2006/relationships/image" Target="../media/image85.png"/><Relationship Id="rId4" Type="http://schemas.openxmlformats.org/officeDocument/2006/relationships/image" Target="../media/image86.png"/><Relationship Id="rId5" Type="http://schemas.openxmlformats.org/officeDocument/2006/relationships/image" Target="../media/image2.png"/><Relationship Id="rId6" Type="http://schemas.openxmlformats.org/officeDocument/2006/relationships/image" Target="../media/image8.png"/><Relationship Id="rId7"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9.png"/><Relationship Id="rId3" Type="http://schemas.openxmlformats.org/officeDocument/2006/relationships/image" Target="../media/image87.png"/><Relationship Id="rId4" Type="http://schemas.openxmlformats.org/officeDocument/2006/relationships/image" Target="../media/image36.png"/><Relationship Id="rId5" Type="http://schemas.openxmlformats.org/officeDocument/2006/relationships/image" Target="../media/image35.png"/><Relationship Id="rId6" Type="http://schemas.openxmlformats.org/officeDocument/2006/relationships/image" Target="../media/image8.png"/><Relationship Id="rId7"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png"/><Relationship Id="rId3" Type="http://schemas.openxmlformats.org/officeDocument/2006/relationships/image" Target="../media/image13.png"/><Relationship Id="rId4" Type="http://schemas.openxmlformats.org/officeDocument/2006/relationships/image" Target="../media/image29.png"/><Relationship Id="rId5" Type="http://schemas.openxmlformats.org/officeDocument/2006/relationships/image" Target="../media/image19.png"/><Relationship Id="rId6" Type="http://schemas.openxmlformats.org/officeDocument/2006/relationships/image" Target="../media/image8.png"/><Relationship Id="rId7"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6.png"/><Relationship Id="rId4" Type="http://schemas.openxmlformats.org/officeDocument/2006/relationships/image" Target="../media/image47.png"/><Relationship Id="rId5" Type="http://schemas.openxmlformats.org/officeDocument/2006/relationships/image" Target="../media/image40.png"/><Relationship Id="rId6"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image" Target="../media/image73.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png"/><Relationship Id="rId7" Type="http://schemas.openxmlformats.org/officeDocument/2006/relationships/image" Target="../media/image81.png"/><Relationship Id="rId8" Type="http://schemas.openxmlformats.org/officeDocument/2006/relationships/image" Target="../media/image39.png"/><Relationship Id="rId9"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8.png"/><Relationship Id="rId3" Type="http://schemas.openxmlformats.org/officeDocument/2006/relationships/image" Target="../media/image62.png"/><Relationship Id="rId4" Type="http://schemas.openxmlformats.org/officeDocument/2006/relationships/image" Target="../media/image31.png"/><Relationship Id="rId5" Type="http://schemas.openxmlformats.org/officeDocument/2006/relationships/image" Target="../media/image54.png"/><Relationship Id="rId6" Type="http://schemas.openxmlformats.org/officeDocument/2006/relationships/image" Target="../media/image22.png"/><Relationship Id="rId7" Type="http://schemas.openxmlformats.org/officeDocument/2006/relationships/image" Target="../media/image8.png"/><Relationship Id="rId8"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9.png"/><Relationship Id="rId3" Type="http://schemas.openxmlformats.org/officeDocument/2006/relationships/image" Target="../media/image2.png"/><Relationship Id="rId4" Type="http://schemas.openxmlformats.org/officeDocument/2006/relationships/image" Target="../media/image90.png"/><Relationship Id="rId5" Type="http://schemas.openxmlformats.org/officeDocument/2006/relationships/image" Target="../media/image45.png"/><Relationship Id="rId6" Type="http://schemas.openxmlformats.org/officeDocument/2006/relationships/image" Target="../media/image91.png"/><Relationship Id="rId7" Type="http://schemas.openxmlformats.org/officeDocument/2006/relationships/image" Target="../media/image92.png"/><Relationship Id="rId8"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3.png"/><Relationship Id="rId3" Type="http://schemas.openxmlformats.org/officeDocument/2006/relationships/image" Target="../media/image82.png"/><Relationship Id="rId4" Type="http://schemas.openxmlformats.org/officeDocument/2006/relationships/image" Target="../media/image89.png"/><Relationship Id="rId5" Type="http://schemas.openxmlformats.org/officeDocument/2006/relationships/image" Target="../media/image63.png"/><Relationship Id="rId6" Type="http://schemas.openxmlformats.org/officeDocument/2006/relationships/image" Target="../media/image65.png"/><Relationship Id="rId7" Type="http://schemas.openxmlformats.org/officeDocument/2006/relationships/image" Target="../media/image8.png"/><Relationship Id="rId8"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37.png"/><Relationship Id="rId4" Type="http://schemas.openxmlformats.org/officeDocument/2006/relationships/image" Target="../media/image30.png"/><Relationship Id="rId5" Type="http://schemas.openxmlformats.org/officeDocument/2006/relationships/image" Target="../media/image29.png"/><Relationship Id="rId6" Type="http://schemas.openxmlformats.org/officeDocument/2006/relationships/image" Target="../media/image51.png"/><Relationship Id="rId7" Type="http://schemas.openxmlformats.org/officeDocument/2006/relationships/image" Target="../media/image94.png"/><Relationship Id="rId8"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png"/><Relationship Id="rId3" Type="http://schemas.openxmlformats.org/officeDocument/2006/relationships/image" Target="../media/image95.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8.png"/><Relationship Id="rId7"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6.png"/><Relationship Id="rId3" Type="http://schemas.openxmlformats.org/officeDocument/2006/relationships/image" Target="../media/image49.png"/><Relationship Id="rId4" Type="http://schemas.openxmlformats.org/officeDocument/2006/relationships/image" Target="../media/image13.png"/><Relationship Id="rId5" Type="http://schemas.openxmlformats.org/officeDocument/2006/relationships/image" Target="../media/image55.png"/><Relationship Id="rId6" Type="http://schemas.openxmlformats.org/officeDocument/2006/relationships/image" Target="../media/image8.png"/><Relationship Id="rId7"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5.png"/><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96.png"/><Relationship Id="rId4" Type="http://schemas.openxmlformats.org/officeDocument/2006/relationships/image" Target="../media/image30.png"/><Relationship Id="rId5" Type="http://schemas.openxmlformats.org/officeDocument/2006/relationships/image" Target="../media/image49.png"/><Relationship Id="rId6"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48.png"/><Relationship Id="rId4" Type="http://schemas.openxmlformats.org/officeDocument/2006/relationships/image" Target="../media/image97.png"/><Relationship Id="rId5" Type="http://schemas.openxmlformats.org/officeDocument/2006/relationships/image" Target="../media/image61.png"/><Relationship Id="rId6"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8.png"/><Relationship Id="rId3" Type="http://schemas.openxmlformats.org/officeDocument/2006/relationships/image" Target="../media/image99.png"/><Relationship Id="rId4" Type="http://schemas.openxmlformats.org/officeDocument/2006/relationships/image" Target="../media/image100.png"/><Relationship Id="rId5" Type="http://schemas.openxmlformats.org/officeDocument/2006/relationships/image" Target="../media/image8.png"/><Relationship Id="rId6"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0.png"/><Relationship Id="rId3" Type="http://schemas.openxmlformats.org/officeDocument/2006/relationships/image" Target="../media/image101.png"/><Relationship Id="rId4" Type="http://schemas.openxmlformats.org/officeDocument/2006/relationships/image" Target="../media/image33.png"/><Relationship Id="rId5" Type="http://schemas.openxmlformats.org/officeDocument/2006/relationships/image" Target="../media/image8.png"/><Relationship Id="rId6"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19.png"/><Relationship Id="rId4"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4.png"/><Relationship Id="rId3" Type="http://schemas.openxmlformats.org/officeDocument/2006/relationships/image" Target="../media/image76.png"/><Relationship Id="rId4" Type="http://schemas.openxmlformats.org/officeDocument/2006/relationships/image" Target="../media/image102.png"/><Relationship Id="rId5" Type="http://schemas.openxmlformats.org/officeDocument/2006/relationships/image" Target="../media/image93.png"/><Relationship Id="rId6"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png"/><Relationship Id="rId3" Type="http://schemas.openxmlformats.org/officeDocument/2006/relationships/image" Target="../media/image32.png"/><Relationship Id="rId4" Type="http://schemas.openxmlformats.org/officeDocument/2006/relationships/image" Target="../media/image27.png"/><Relationship Id="rId5" Type="http://schemas.openxmlformats.org/officeDocument/2006/relationships/notesSlide" Target="../notesSlides/notesSlide1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143000"/>
            <a:ext cx="6400800" cy="274320"/>
          </a:xfrm>
          <a:prstGeom prst="rect">
            <a:avLst/>
          </a:prstGeom>
          <a:noFill/>
        </p:spPr>
        <p:txBody>
          <a:bodyPr wrap="square" lIns="0" rIns="0" tIns="0" bIns="0" anchor="t">
            <a:spAutoFit/>
          </a:bodyPr>
          <a:lstStyle/>
          <a:p>
            <a:pPr algn="l"/>
            <a:r>
              <a:rPr sz="1200" b="1" i="0" spc="300">
                <a:solidFill>
                  <a:srgbClr val="FF6600"/>
                </a:solidFill>
                <a:latin typeface="Arial"/>
              </a:rPr>
              <a:t>GUÍA PRÁCTICA DE IMPLEMENTACIÓN</a:t>
            </a:r>
          </a:p>
        </p:txBody>
      </p:sp>
      <p:sp>
        <p:nvSpPr>
          <p:cNvPr id="4" name="Título"/>
          <p:cNvSpPr txBox="1"/>
          <p:nvPr/>
        </p:nvSpPr>
        <p:spPr>
          <a:xfrm>
            <a:off x="548640" y="1600200"/>
            <a:ext cx="6583680" cy="914400"/>
          </a:xfrm>
          <a:prstGeom prst="rect">
            <a:avLst/>
          </a:prstGeom>
          <a:noFill/>
        </p:spPr>
        <p:txBody>
          <a:bodyPr wrap="square" lIns="0" rIns="0" tIns="0" bIns="0" anchor="t">
            <a:spAutoFit/>
          </a:bodyPr>
          <a:lstStyle/>
          <a:p>
            <a:pPr algn="l"/>
            <a:r>
              <a:rPr sz="5400" b="1" i="0">
                <a:solidFill>
                  <a:srgbClr val="FFFFFF"/>
                </a:solidFill>
                <a:latin typeface="Arial"/>
              </a:rPr>
              <a:t>Implementar AWP</a:t>
            </a:r>
          </a:p>
        </p:txBody>
      </p:sp>
      <p:sp>
        <p:nvSpPr>
          <p:cNvPr id="5" name="TextBox 4"/>
          <p:cNvSpPr txBox="1"/>
          <p:nvPr/>
        </p:nvSpPr>
        <p:spPr>
          <a:xfrm>
            <a:off x="548640" y="2606040"/>
            <a:ext cx="6309360" cy="1005840"/>
          </a:xfrm>
          <a:prstGeom prst="rect">
            <a:avLst/>
          </a:prstGeom>
          <a:noFill/>
        </p:spPr>
        <p:txBody>
          <a:bodyPr wrap="square" lIns="0" rIns="0" tIns="0" bIns="0" anchor="t">
            <a:spAutoFit/>
          </a:bodyPr>
          <a:lstStyle/>
          <a:p>
            <a:pPr algn="l">
              <a:lnSpc>
                <a:spcPct val="105000"/>
              </a:lnSpc>
            </a:pPr>
            <a:r>
              <a:rPr sz="2400" b="0" i="0">
                <a:solidFill>
                  <a:srgbClr val="FF9955"/>
                </a:solidFill>
                <a:latin typeface="Arial"/>
              </a:rPr>
              <a:t>Construir el proyecto en el orden</a:t>
            </a:r>
          </a:p>
          <a:p>
            <a:pPr algn="l">
              <a:lnSpc>
                <a:spcPct val="105000"/>
              </a:lnSpc>
            </a:pPr>
            <a:r>
              <a:rPr sz="2400" b="0" i="0">
                <a:solidFill>
                  <a:srgbClr val="FF9955"/>
                </a:solidFill>
                <a:latin typeface="Arial"/>
              </a:rPr>
              <a:t>en que se va a construir</a:t>
            </a:r>
          </a:p>
        </p:txBody>
      </p:sp>
      <p:sp>
        <p:nvSpPr>
          <p:cNvPr id="6" name="TextBox 5"/>
          <p:cNvSpPr txBox="1"/>
          <p:nvPr/>
        </p:nvSpPr>
        <p:spPr>
          <a:xfrm>
            <a:off x="548640" y="3977639"/>
            <a:ext cx="6035040" cy="731520"/>
          </a:xfrm>
          <a:prstGeom prst="rect">
            <a:avLst/>
          </a:prstGeom>
          <a:noFill/>
        </p:spPr>
        <p:txBody>
          <a:bodyPr wrap="square" lIns="0" rIns="0" tIns="0" bIns="0" anchor="t">
            <a:spAutoFit/>
          </a:bodyPr>
          <a:lstStyle/>
          <a:p>
            <a:pPr algn="l">
              <a:lnSpc>
                <a:spcPct val="115000"/>
              </a:lnSpc>
            </a:pPr>
            <a:r>
              <a:rPr sz="1500" b="1" i="0">
                <a:solidFill>
                  <a:srgbClr val="FFFFFF"/>
                </a:solidFill>
                <a:latin typeface="Arial"/>
              </a:rPr>
              <a:t>Advanced Work Packaging (AWP)</a:t>
            </a:r>
            <a:r>
              <a:rPr sz="1500" b="0" i="0">
                <a:solidFill>
                  <a:srgbClr val="BCBEC0"/>
                </a:solidFill>
                <a:latin typeface="Arial"/>
              </a:rPr>
              <a:t> fase por fase: roles, entregables, errores comunes y lecciones aprendidas.</a:t>
            </a:r>
          </a:p>
        </p:txBody>
      </p:sp>
      <p:sp>
        <p:nvSpPr>
          <p:cNvPr id="7" name="TextBox 6"/>
          <p:cNvSpPr txBox="1"/>
          <p:nvPr/>
        </p:nvSpPr>
        <p:spPr>
          <a:xfrm>
            <a:off x="548640" y="5806440"/>
            <a:ext cx="6400800" cy="274320"/>
          </a:xfrm>
          <a:prstGeom prst="rect">
            <a:avLst/>
          </a:prstGeom>
          <a:noFill/>
        </p:spPr>
        <p:txBody>
          <a:bodyPr wrap="square" lIns="0" rIns="0" tIns="0" bIns="0" anchor="t">
            <a:spAutoFit/>
          </a:bodyPr>
          <a:lstStyle/>
          <a:p>
            <a:pPr algn="l"/>
            <a:r>
              <a:rPr sz="1100" b="0" i="0">
                <a:solidFill>
                  <a:srgbClr val="6D6E71"/>
                </a:solidFill>
                <a:latin typeface="Arial"/>
              </a:rPr>
              <a:t>Basado en guías del CII, la COAA e Insight-AWP</a:t>
            </a:r>
          </a:p>
        </p:txBody>
      </p:sp>
      <p:sp>
        <p:nvSpPr>
          <p:cNvPr id="8" name="Rectangle 7"/>
          <p:cNvSpPr/>
          <p:nvPr/>
        </p:nvSpPr>
        <p:spPr>
          <a:xfrm>
            <a:off x="7635240" y="1143000"/>
            <a:ext cx="4005072" cy="960120"/>
          </a:xfrm>
          <a:prstGeom prst="rect">
            <a:avLst/>
          </a:prstGeom>
          <a:solidFill>
            <a:srgbClr val="CC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map_w.png"/>
          <p:cNvPicPr>
            <a:picLocks noChangeAspect="1"/>
          </p:cNvPicPr>
          <p:nvPr/>
        </p:nvPicPr>
        <p:blipFill>
          <a:blip r:embed="rId2"/>
          <a:stretch>
            <a:fillRect/>
          </a:stretch>
        </p:blipFill>
        <p:spPr>
          <a:xfrm>
            <a:off x="7909560" y="1417320"/>
            <a:ext cx="411480" cy="411480"/>
          </a:xfrm>
          <a:prstGeom prst="rect">
            <a:avLst/>
          </a:prstGeom>
        </p:spPr>
      </p:pic>
      <p:sp>
        <p:nvSpPr>
          <p:cNvPr id="10" name="TextBox 9"/>
          <p:cNvSpPr txBox="1"/>
          <p:nvPr/>
        </p:nvSpPr>
        <p:spPr>
          <a:xfrm>
            <a:off x="8549640" y="1307592"/>
            <a:ext cx="2926080" cy="365760"/>
          </a:xfrm>
          <a:prstGeom prst="rect">
            <a:avLst/>
          </a:prstGeom>
          <a:noFill/>
        </p:spPr>
        <p:txBody>
          <a:bodyPr wrap="square" lIns="0" rIns="0" tIns="0" bIns="0" anchor="t">
            <a:spAutoFit/>
          </a:bodyPr>
          <a:lstStyle/>
          <a:p>
            <a:pPr algn="l"/>
            <a:r>
              <a:rPr sz="2200" b="1" i="0">
                <a:solidFill>
                  <a:srgbClr val="FFFFFF"/>
                </a:solidFill>
                <a:latin typeface="Courier New"/>
              </a:rPr>
              <a:t>CWA</a:t>
            </a:r>
          </a:p>
        </p:txBody>
      </p:sp>
      <p:sp>
        <p:nvSpPr>
          <p:cNvPr id="11" name="TextBox 10"/>
          <p:cNvSpPr txBox="1"/>
          <p:nvPr/>
        </p:nvSpPr>
        <p:spPr>
          <a:xfrm>
            <a:off x="8549640" y="1691640"/>
            <a:ext cx="2926080" cy="274320"/>
          </a:xfrm>
          <a:prstGeom prst="rect">
            <a:avLst/>
          </a:prstGeom>
          <a:noFill/>
        </p:spPr>
        <p:txBody>
          <a:bodyPr wrap="square" lIns="0" rIns="0" tIns="0" bIns="0" anchor="t">
            <a:spAutoFit/>
          </a:bodyPr>
          <a:lstStyle/>
          <a:p>
            <a:pPr algn="l"/>
            <a:r>
              <a:rPr sz="1100" b="0" i="0">
                <a:solidFill>
                  <a:srgbClr val="FFFFFF"/>
                </a:solidFill>
                <a:latin typeface="Arial"/>
              </a:rPr>
              <a:t>Construction Work Area</a:t>
            </a:r>
          </a:p>
        </p:txBody>
      </p:sp>
      <p:sp>
        <p:nvSpPr>
          <p:cNvPr id="12" name="Rectangle 11"/>
          <p:cNvSpPr/>
          <p:nvPr/>
        </p:nvSpPr>
        <p:spPr>
          <a:xfrm>
            <a:off x="7635240" y="2103120"/>
            <a:ext cx="4005072" cy="384048"/>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909560" y="2103120"/>
            <a:ext cx="3547872" cy="384048"/>
          </a:xfrm>
          <a:prstGeom prst="rect">
            <a:avLst/>
          </a:prstGeom>
          <a:noFill/>
        </p:spPr>
        <p:txBody>
          <a:bodyPr wrap="square" lIns="0" rIns="0" tIns="0" bIns="0" anchor="ctr">
            <a:spAutoFit/>
          </a:bodyPr>
          <a:lstStyle/>
          <a:p>
            <a:pPr algn="l"/>
            <a:r>
              <a:rPr sz="1100" b="0" i="0">
                <a:solidFill>
                  <a:srgbClr val="BCBEC0"/>
                </a:solidFill>
                <a:latin typeface="Arial"/>
              </a:rPr>
              <a:t>Área del terreno</a:t>
            </a:r>
          </a:p>
        </p:txBody>
      </p:sp>
      <p:sp>
        <p:nvSpPr>
          <p:cNvPr id="14" name="Rectangle 13"/>
          <p:cNvSpPr/>
          <p:nvPr/>
        </p:nvSpPr>
        <p:spPr>
          <a:xfrm>
            <a:off x="7635240" y="2715768"/>
            <a:ext cx="4005072" cy="96012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helmet_w.png"/>
          <p:cNvPicPr>
            <a:picLocks noChangeAspect="1"/>
          </p:cNvPicPr>
          <p:nvPr/>
        </p:nvPicPr>
        <p:blipFill>
          <a:blip r:embed="rId3"/>
          <a:stretch>
            <a:fillRect/>
          </a:stretch>
        </p:blipFill>
        <p:spPr>
          <a:xfrm>
            <a:off x="7909560" y="2990087"/>
            <a:ext cx="411480" cy="411480"/>
          </a:xfrm>
          <a:prstGeom prst="rect">
            <a:avLst/>
          </a:prstGeom>
        </p:spPr>
      </p:pic>
      <p:sp>
        <p:nvSpPr>
          <p:cNvPr id="16" name="TextBox 15"/>
          <p:cNvSpPr txBox="1"/>
          <p:nvPr/>
        </p:nvSpPr>
        <p:spPr>
          <a:xfrm>
            <a:off x="8549640" y="2880360"/>
            <a:ext cx="2926080" cy="365760"/>
          </a:xfrm>
          <a:prstGeom prst="rect">
            <a:avLst/>
          </a:prstGeom>
          <a:noFill/>
        </p:spPr>
        <p:txBody>
          <a:bodyPr wrap="square" lIns="0" rIns="0" tIns="0" bIns="0" anchor="t">
            <a:spAutoFit/>
          </a:bodyPr>
          <a:lstStyle/>
          <a:p>
            <a:pPr algn="l"/>
            <a:r>
              <a:rPr sz="2200" b="1" i="0">
                <a:solidFill>
                  <a:srgbClr val="FFFFFF"/>
                </a:solidFill>
                <a:latin typeface="Courier New"/>
              </a:rPr>
              <a:t>CWP</a:t>
            </a:r>
          </a:p>
        </p:txBody>
      </p:sp>
      <p:sp>
        <p:nvSpPr>
          <p:cNvPr id="17" name="TextBox 16"/>
          <p:cNvSpPr txBox="1"/>
          <p:nvPr/>
        </p:nvSpPr>
        <p:spPr>
          <a:xfrm>
            <a:off x="8549640" y="3264408"/>
            <a:ext cx="2926080" cy="274320"/>
          </a:xfrm>
          <a:prstGeom prst="rect">
            <a:avLst/>
          </a:prstGeom>
          <a:noFill/>
        </p:spPr>
        <p:txBody>
          <a:bodyPr wrap="square" lIns="0" rIns="0" tIns="0" bIns="0" anchor="t">
            <a:spAutoFit/>
          </a:bodyPr>
          <a:lstStyle/>
          <a:p>
            <a:pPr algn="l"/>
            <a:r>
              <a:rPr sz="1100" b="0" i="0">
                <a:solidFill>
                  <a:srgbClr val="FFFFFF"/>
                </a:solidFill>
                <a:latin typeface="Arial"/>
              </a:rPr>
              <a:t>Construction Work Package</a:t>
            </a:r>
          </a:p>
        </p:txBody>
      </p:sp>
      <p:sp>
        <p:nvSpPr>
          <p:cNvPr id="18" name="Rectangle 17"/>
          <p:cNvSpPr/>
          <p:nvPr/>
        </p:nvSpPr>
        <p:spPr>
          <a:xfrm>
            <a:off x="7635240" y="3675887"/>
            <a:ext cx="4005072" cy="384048"/>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909560" y="3675887"/>
            <a:ext cx="3547872" cy="384048"/>
          </a:xfrm>
          <a:prstGeom prst="rect">
            <a:avLst/>
          </a:prstGeom>
          <a:noFill/>
        </p:spPr>
        <p:txBody>
          <a:bodyPr wrap="square" lIns="0" rIns="0" tIns="0" bIns="0" anchor="ctr">
            <a:spAutoFit/>
          </a:bodyPr>
          <a:lstStyle/>
          <a:p>
            <a:pPr algn="l"/>
            <a:r>
              <a:rPr sz="1100" b="0" i="0">
                <a:solidFill>
                  <a:srgbClr val="BCBEC0"/>
                </a:solidFill>
                <a:latin typeface="Arial"/>
              </a:rPr>
              <a:t>Una disciplina del área</a:t>
            </a:r>
          </a:p>
        </p:txBody>
      </p:sp>
      <p:sp>
        <p:nvSpPr>
          <p:cNvPr id="20" name="Rectangle 19"/>
          <p:cNvSpPr/>
          <p:nvPr/>
        </p:nvSpPr>
        <p:spPr>
          <a:xfrm>
            <a:off x="7635240" y="4288536"/>
            <a:ext cx="4005072" cy="960120"/>
          </a:xfrm>
          <a:prstGeom prst="rect">
            <a:avLst/>
          </a:prstGeom>
          <a:solidFill>
            <a:srgbClr val="FF99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clip_w.png"/>
          <p:cNvPicPr>
            <a:picLocks noChangeAspect="1"/>
          </p:cNvPicPr>
          <p:nvPr/>
        </p:nvPicPr>
        <p:blipFill>
          <a:blip r:embed="rId4"/>
          <a:stretch>
            <a:fillRect/>
          </a:stretch>
        </p:blipFill>
        <p:spPr>
          <a:xfrm>
            <a:off x="7909560" y="4562855"/>
            <a:ext cx="411480" cy="411480"/>
          </a:xfrm>
          <a:prstGeom prst="rect">
            <a:avLst/>
          </a:prstGeom>
        </p:spPr>
      </p:pic>
      <p:sp>
        <p:nvSpPr>
          <p:cNvPr id="22" name="TextBox 21"/>
          <p:cNvSpPr txBox="1"/>
          <p:nvPr/>
        </p:nvSpPr>
        <p:spPr>
          <a:xfrm>
            <a:off x="8549640" y="4453127"/>
            <a:ext cx="2926080" cy="365760"/>
          </a:xfrm>
          <a:prstGeom prst="rect">
            <a:avLst/>
          </a:prstGeom>
          <a:noFill/>
        </p:spPr>
        <p:txBody>
          <a:bodyPr wrap="square" lIns="0" rIns="0" tIns="0" bIns="0" anchor="t">
            <a:spAutoFit/>
          </a:bodyPr>
          <a:lstStyle/>
          <a:p>
            <a:pPr algn="l"/>
            <a:r>
              <a:rPr sz="2200" b="1" i="0">
                <a:solidFill>
                  <a:srgbClr val="FFFFFF"/>
                </a:solidFill>
                <a:latin typeface="Courier New"/>
              </a:rPr>
              <a:t>IWP</a:t>
            </a:r>
          </a:p>
        </p:txBody>
      </p:sp>
      <p:sp>
        <p:nvSpPr>
          <p:cNvPr id="23" name="TextBox 22"/>
          <p:cNvSpPr txBox="1"/>
          <p:nvPr/>
        </p:nvSpPr>
        <p:spPr>
          <a:xfrm>
            <a:off x="8549640" y="4837175"/>
            <a:ext cx="2926080" cy="274320"/>
          </a:xfrm>
          <a:prstGeom prst="rect">
            <a:avLst/>
          </a:prstGeom>
          <a:noFill/>
        </p:spPr>
        <p:txBody>
          <a:bodyPr wrap="square" lIns="0" rIns="0" tIns="0" bIns="0" anchor="t">
            <a:spAutoFit/>
          </a:bodyPr>
          <a:lstStyle/>
          <a:p>
            <a:pPr algn="l"/>
            <a:r>
              <a:rPr sz="1100" b="0" i="0">
                <a:solidFill>
                  <a:srgbClr val="FFFFFF"/>
                </a:solidFill>
                <a:latin typeface="Arial"/>
              </a:rPr>
              <a:t>Installation Work Package</a:t>
            </a:r>
          </a:p>
        </p:txBody>
      </p:sp>
      <p:sp>
        <p:nvSpPr>
          <p:cNvPr id="24" name="Rectangle 23"/>
          <p:cNvSpPr/>
          <p:nvPr/>
        </p:nvSpPr>
        <p:spPr>
          <a:xfrm>
            <a:off x="7635240" y="5248655"/>
            <a:ext cx="4005072" cy="384048"/>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909560" y="5248655"/>
            <a:ext cx="3547872" cy="384048"/>
          </a:xfrm>
          <a:prstGeom prst="rect">
            <a:avLst/>
          </a:prstGeom>
          <a:noFill/>
        </p:spPr>
        <p:txBody>
          <a:bodyPr wrap="square" lIns="0" rIns="0" tIns="0" bIns="0" anchor="ctr">
            <a:spAutoFit/>
          </a:bodyPr>
          <a:lstStyle/>
          <a:p>
            <a:pPr algn="l"/>
            <a:r>
              <a:rPr sz="1100" b="0" i="0">
                <a:solidFill>
                  <a:srgbClr val="BCBEC0"/>
                </a:solidFill>
                <a:latin typeface="Arial"/>
              </a:rPr>
              <a:t>Una cuadrilla, una semana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APERTURA · AGENDA</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Esta guía recorre un proyecto real, fase por fase</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APERTURA</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002</a:t>
            </a:r>
          </a:p>
        </p:txBody>
      </p:sp>
      <p:sp>
        <p:nvSpPr>
          <p:cNvPr id="7" name="Rectangle 6"/>
          <p:cNvSpPr/>
          <p:nvPr/>
        </p:nvSpPr>
        <p:spPr>
          <a:xfrm>
            <a:off x="548640" y="1828800"/>
            <a:ext cx="2622727" cy="934974"/>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956816"/>
            <a:ext cx="822960" cy="678942"/>
          </a:xfrm>
          <a:prstGeom prst="rect">
            <a:avLst/>
          </a:prstGeom>
          <a:noFill/>
        </p:spPr>
        <p:txBody>
          <a:bodyPr wrap="square" lIns="0" rIns="0" tIns="0" bIns="0" anchor="ctr">
            <a:spAutoFit/>
          </a:bodyPr>
          <a:lstStyle/>
          <a:p>
            <a:pPr algn="l"/>
            <a:r>
              <a:rPr sz="2600" b="1" i="0">
                <a:solidFill>
                  <a:srgbClr val="FF6600"/>
                </a:solidFill>
                <a:latin typeface="Courier New"/>
              </a:rPr>
              <a:t>01</a:t>
            </a:r>
          </a:p>
        </p:txBody>
      </p:sp>
      <p:sp>
        <p:nvSpPr>
          <p:cNvPr id="9" name="TextBox 8"/>
          <p:cNvSpPr txBox="1"/>
          <p:nvPr/>
        </p:nvSpPr>
        <p:spPr>
          <a:xfrm>
            <a:off x="1645919" y="1920240"/>
            <a:ext cx="1388287" cy="752094"/>
          </a:xfrm>
          <a:prstGeom prst="rect">
            <a:avLst/>
          </a:prstGeom>
          <a:noFill/>
        </p:spPr>
        <p:txBody>
          <a:bodyPr wrap="square" lIns="0" rIns="0" tIns="0" bIns="0" anchor="ctr">
            <a:spAutoFit/>
          </a:bodyPr>
          <a:lstStyle/>
          <a:p>
            <a:pPr algn="l">
              <a:lnSpc>
                <a:spcPct val="100000"/>
              </a:lnSpc>
            </a:pPr>
            <a:r>
              <a:rPr sz="1300" b="1" i="0">
                <a:solidFill>
                  <a:srgbClr val="1A1A1A"/>
                </a:solidFill>
                <a:latin typeface="Arial"/>
              </a:rPr>
              <a:t>Por qué AWP</a:t>
            </a:r>
          </a:p>
        </p:txBody>
      </p:sp>
      <p:sp>
        <p:nvSpPr>
          <p:cNvPr id="10" name="Rectangle 9"/>
          <p:cNvSpPr/>
          <p:nvPr/>
        </p:nvSpPr>
        <p:spPr>
          <a:xfrm>
            <a:off x="3372535" y="1828800"/>
            <a:ext cx="2622727" cy="934974"/>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601135" y="1956816"/>
            <a:ext cx="822960" cy="678942"/>
          </a:xfrm>
          <a:prstGeom prst="rect">
            <a:avLst/>
          </a:prstGeom>
          <a:noFill/>
        </p:spPr>
        <p:txBody>
          <a:bodyPr wrap="square" lIns="0" rIns="0" tIns="0" bIns="0" anchor="ctr">
            <a:spAutoFit/>
          </a:bodyPr>
          <a:lstStyle/>
          <a:p>
            <a:pPr algn="l"/>
            <a:r>
              <a:rPr sz="2600" b="1" i="0">
                <a:solidFill>
                  <a:srgbClr val="FF6600"/>
                </a:solidFill>
                <a:latin typeface="Courier New"/>
              </a:rPr>
              <a:t>02</a:t>
            </a:r>
          </a:p>
        </p:txBody>
      </p:sp>
      <p:sp>
        <p:nvSpPr>
          <p:cNvPr id="12" name="TextBox 11"/>
          <p:cNvSpPr txBox="1"/>
          <p:nvPr/>
        </p:nvSpPr>
        <p:spPr>
          <a:xfrm>
            <a:off x="4469815" y="1920240"/>
            <a:ext cx="1388287" cy="752094"/>
          </a:xfrm>
          <a:prstGeom prst="rect">
            <a:avLst/>
          </a:prstGeom>
          <a:noFill/>
        </p:spPr>
        <p:txBody>
          <a:bodyPr wrap="square" lIns="0" rIns="0" tIns="0" bIns="0" anchor="ctr">
            <a:spAutoFit/>
          </a:bodyPr>
          <a:lstStyle/>
          <a:p>
            <a:pPr algn="l">
              <a:lnSpc>
                <a:spcPct val="100000"/>
              </a:lnSpc>
            </a:pPr>
            <a:r>
              <a:rPr sz="1300" b="1" i="0">
                <a:solidFill>
                  <a:srgbClr val="1A1A1A"/>
                </a:solidFill>
                <a:latin typeface="Arial"/>
              </a:rPr>
              <a:t>Qué es AWP</a:t>
            </a:r>
          </a:p>
        </p:txBody>
      </p:sp>
      <p:sp>
        <p:nvSpPr>
          <p:cNvPr id="13" name="Rectangle 12"/>
          <p:cNvSpPr/>
          <p:nvPr/>
        </p:nvSpPr>
        <p:spPr>
          <a:xfrm>
            <a:off x="6196431" y="1828800"/>
            <a:ext cx="2622727" cy="934974"/>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25031" y="1956816"/>
            <a:ext cx="822960" cy="678942"/>
          </a:xfrm>
          <a:prstGeom prst="rect">
            <a:avLst/>
          </a:prstGeom>
          <a:noFill/>
        </p:spPr>
        <p:txBody>
          <a:bodyPr wrap="square" lIns="0" rIns="0" tIns="0" bIns="0" anchor="ctr">
            <a:spAutoFit/>
          </a:bodyPr>
          <a:lstStyle/>
          <a:p>
            <a:pPr algn="l"/>
            <a:r>
              <a:rPr sz="2600" b="1" i="0">
                <a:solidFill>
                  <a:srgbClr val="FF6600"/>
                </a:solidFill>
                <a:latin typeface="Courier New"/>
              </a:rPr>
              <a:t>03</a:t>
            </a:r>
          </a:p>
        </p:txBody>
      </p:sp>
      <p:sp>
        <p:nvSpPr>
          <p:cNvPr id="15" name="TextBox 14"/>
          <p:cNvSpPr txBox="1"/>
          <p:nvPr/>
        </p:nvSpPr>
        <p:spPr>
          <a:xfrm>
            <a:off x="7293711" y="1920240"/>
            <a:ext cx="1388287" cy="752094"/>
          </a:xfrm>
          <a:prstGeom prst="rect">
            <a:avLst/>
          </a:prstGeom>
          <a:noFill/>
        </p:spPr>
        <p:txBody>
          <a:bodyPr wrap="square" lIns="0" rIns="0" tIns="0" bIns="0" anchor="ctr">
            <a:spAutoFit/>
          </a:bodyPr>
          <a:lstStyle/>
          <a:p>
            <a:pPr algn="l">
              <a:lnSpc>
                <a:spcPct val="100000"/>
              </a:lnSpc>
            </a:pPr>
            <a:r>
              <a:rPr sz="1300" b="1" i="0">
                <a:solidFill>
                  <a:srgbClr val="1A1A1A"/>
                </a:solidFill>
                <a:latin typeface="Arial"/>
              </a:rPr>
              <a:t>Preparar la organización</a:t>
            </a:r>
          </a:p>
        </p:txBody>
      </p:sp>
      <p:sp>
        <p:nvSpPr>
          <p:cNvPr id="16" name="Rectangle 15"/>
          <p:cNvSpPr/>
          <p:nvPr/>
        </p:nvSpPr>
        <p:spPr>
          <a:xfrm>
            <a:off x="9020327" y="1828800"/>
            <a:ext cx="2622727" cy="93497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248927" y="1956816"/>
            <a:ext cx="822960" cy="678942"/>
          </a:xfrm>
          <a:prstGeom prst="rect">
            <a:avLst/>
          </a:prstGeom>
          <a:noFill/>
        </p:spPr>
        <p:txBody>
          <a:bodyPr wrap="square" lIns="0" rIns="0" tIns="0" bIns="0" anchor="ctr">
            <a:spAutoFit/>
          </a:bodyPr>
          <a:lstStyle/>
          <a:p>
            <a:pPr algn="l"/>
            <a:r>
              <a:rPr sz="2600" b="1" i="0">
                <a:solidFill>
                  <a:srgbClr val="FF6600"/>
                </a:solidFill>
                <a:latin typeface="Courier New"/>
              </a:rPr>
              <a:t>04</a:t>
            </a:r>
          </a:p>
        </p:txBody>
      </p:sp>
      <p:sp>
        <p:nvSpPr>
          <p:cNvPr id="18" name="TextBox 17"/>
          <p:cNvSpPr txBox="1"/>
          <p:nvPr/>
        </p:nvSpPr>
        <p:spPr>
          <a:xfrm>
            <a:off x="10117607" y="1920240"/>
            <a:ext cx="1388287" cy="752094"/>
          </a:xfrm>
          <a:prstGeom prst="rect">
            <a:avLst/>
          </a:prstGeom>
          <a:noFill/>
        </p:spPr>
        <p:txBody>
          <a:bodyPr wrap="square" lIns="0" rIns="0" tIns="0" bIns="0" anchor="ctr">
            <a:spAutoFit/>
          </a:bodyPr>
          <a:lstStyle/>
          <a:p>
            <a:pPr algn="l">
              <a:lnSpc>
                <a:spcPct val="100000"/>
              </a:lnSpc>
            </a:pPr>
            <a:r>
              <a:rPr sz="1300" b="1" i="0">
                <a:solidFill>
                  <a:srgbClr val="FFFFFF"/>
                </a:solidFill>
                <a:latin typeface="Arial"/>
              </a:rPr>
              <a:t>Planificación preliminar</a:t>
            </a:r>
          </a:p>
          <a:p>
            <a:pPr algn="l">
              <a:lnSpc>
                <a:spcPct val="100000"/>
              </a:lnSpc>
            </a:pPr>
            <a:r>
              <a:rPr sz="1050" b="0" i="0">
                <a:solidFill>
                  <a:srgbClr val="FF9955"/>
                </a:solidFill>
                <a:latin typeface="Arial"/>
              </a:rPr>
              <a:t>Fase 1 · FEL 2</a:t>
            </a:r>
          </a:p>
        </p:txBody>
      </p:sp>
      <p:sp>
        <p:nvSpPr>
          <p:cNvPr id="19" name="Rectangle 18"/>
          <p:cNvSpPr/>
          <p:nvPr/>
        </p:nvSpPr>
        <p:spPr>
          <a:xfrm>
            <a:off x="548640" y="2964941"/>
            <a:ext cx="2622727" cy="93497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77240" y="3092958"/>
            <a:ext cx="822960" cy="678942"/>
          </a:xfrm>
          <a:prstGeom prst="rect">
            <a:avLst/>
          </a:prstGeom>
          <a:noFill/>
        </p:spPr>
        <p:txBody>
          <a:bodyPr wrap="square" lIns="0" rIns="0" tIns="0" bIns="0" anchor="ctr">
            <a:spAutoFit/>
          </a:bodyPr>
          <a:lstStyle/>
          <a:p>
            <a:pPr algn="l"/>
            <a:r>
              <a:rPr sz="2600" b="1" i="0">
                <a:solidFill>
                  <a:srgbClr val="FF6600"/>
                </a:solidFill>
                <a:latin typeface="Courier New"/>
              </a:rPr>
              <a:t>05</a:t>
            </a:r>
          </a:p>
        </p:txBody>
      </p:sp>
      <p:sp>
        <p:nvSpPr>
          <p:cNvPr id="21" name="TextBox 20"/>
          <p:cNvSpPr txBox="1"/>
          <p:nvPr/>
        </p:nvSpPr>
        <p:spPr>
          <a:xfrm>
            <a:off x="1645919" y="3056382"/>
            <a:ext cx="1388287" cy="752094"/>
          </a:xfrm>
          <a:prstGeom prst="rect">
            <a:avLst/>
          </a:prstGeom>
          <a:noFill/>
        </p:spPr>
        <p:txBody>
          <a:bodyPr wrap="square" lIns="0" rIns="0" tIns="0" bIns="0" anchor="ctr">
            <a:spAutoFit/>
          </a:bodyPr>
          <a:lstStyle/>
          <a:p>
            <a:pPr algn="l">
              <a:lnSpc>
                <a:spcPct val="100000"/>
              </a:lnSpc>
            </a:pPr>
            <a:r>
              <a:rPr sz="1300" b="1" i="0">
                <a:solidFill>
                  <a:srgbClr val="FFFFFF"/>
                </a:solidFill>
                <a:latin typeface="Arial"/>
              </a:rPr>
              <a:t>Ingeniería y compras</a:t>
            </a:r>
          </a:p>
          <a:p>
            <a:pPr algn="l">
              <a:lnSpc>
                <a:spcPct val="100000"/>
              </a:lnSpc>
            </a:pPr>
            <a:r>
              <a:rPr sz="1050" b="0" i="0">
                <a:solidFill>
                  <a:srgbClr val="FF9955"/>
                </a:solidFill>
                <a:latin typeface="Arial"/>
              </a:rPr>
              <a:t>Fase 2 · FEL 3</a:t>
            </a:r>
          </a:p>
        </p:txBody>
      </p:sp>
      <p:sp>
        <p:nvSpPr>
          <p:cNvPr id="22" name="Rectangle 21"/>
          <p:cNvSpPr/>
          <p:nvPr/>
        </p:nvSpPr>
        <p:spPr>
          <a:xfrm>
            <a:off x="3372535" y="2964941"/>
            <a:ext cx="2622727" cy="93497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601135" y="3092958"/>
            <a:ext cx="822960" cy="678942"/>
          </a:xfrm>
          <a:prstGeom prst="rect">
            <a:avLst/>
          </a:prstGeom>
          <a:noFill/>
        </p:spPr>
        <p:txBody>
          <a:bodyPr wrap="square" lIns="0" rIns="0" tIns="0" bIns="0" anchor="ctr">
            <a:spAutoFit/>
          </a:bodyPr>
          <a:lstStyle/>
          <a:p>
            <a:pPr algn="l"/>
            <a:r>
              <a:rPr sz="2600" b="1" i="0">
                <a:solidFill>
                  <a:srgbClr val="FF6600"/>
                </a:solidFill>
                <a:latin typeface="Courier New"/>
              </a:rPr>
              <a:t>06</a:t>
            </a:r>
          </a:p>
        </p:txBody>
      </p:sp>
      <p:sp>
        <p:nvSpPr>
          <p:cNvPr id="24" name="TextBox 23"/>
          <p:cNvSpPr txBox="1"/>
          <p:nvPr/>
        </p:nvSpPr>
        <p:spPr>
          <a:xfrm>
            <a:off x="4469815" y="3056382"/>
            <a:ext cx="1388287" cy="752094"/>
          </a:xfrm>
          <a:prstGeom prst="rect">
            <a:avLst/>
          </a:prstGeom>
          <a:noFill/>
        </p:spPr>
        <p:txBody>
          <a:bodyPr wrap="square" lIns="0" rIns="0" tIns="0" bIns="0" anchor="ctr">
            <a:spAutoFit/>
          </a:bodyPr>
          <a:lstStyle/>
          <a:p>
            <a:pPr algn="l">
              <a:lnSpc>
                <a:spcPct val="100000"/>
              </a:lnSpc>
            </a:pPr>
            <a:r>
              <a:rPr sz="1300" b="1" i="0">
                <a:solidFill>
                  <a:srgbClr val="FFFFFF"/>
                </a:solidFill>
                <a:latin typeface="Arial"/>
              </a:rPr>
              <a:t>Construcción y WFP</a:t>
            </a:r>
          </a:p>
          <a:p>
            <a:pPr algn="l">
              <a:lnSpc>
                <a:spcPct val="100000"/>
              </a:lnSpc>
            </a:pPr>
            <a:r>
              <a:rPr sz="1050" b="0" i="0">
                <a:solidFill>
                  <a:srgbClr val="FF9955"/>
                </a:solidFill>
                <a:latin typeface="Arial"/>
              </a:rPr>
              <a:t>Fase 3 · Ejecución</a:t>
            </a:r>
          </a:p>
        </p:txBody>
      </p:sp>
      <p:sp>
        <p:nvSpPr>
          <p:cNvPr id="25" name="Rectangle 24"/>
          <p:cNvSpPr/>
          <p:nvPr/>
        </p:nvSpPr>
        <p:spPr>
          <a:xfrm>
            <a:off x="6196431" y="2964941"/>
            <a:ext cx="2622727" cy="93497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425031" y="3092958"/>
            <a:ext cx="822960" cy="678942"/>
          </a:xfrm>
          <a:prstGeom prst="rect">
            <a:avLst/>
          </a:prstGeom>
          <a:noFill/>
        </p:spPr>
        <p:txBody>
          <a:bodyPr wrap="square" lIns="0" rIns="0" tIns="0" bIns="0" anchor="ctr">
            <a:spAutoFit/>
          </a:bodyPr>
          <a:lstStyle/>
          <a:p>
            <a:pPr algn="l"/>
            <a:r>
              <a:rPr sz="2600" b="1" i="0">
                <a:solidFill>
                  <a:srgbClr val="FF6600"/>
                </a:solidFill>
                <a:latin typeface="Courier New"/>
              </a:rPr>
              <a:t>07</a:t>
            </a:r>
          </a:p>
        </p:txBody>
      </p:sp>
      <p:sp>
        <p:nvSpPr>
          <p:cNvPr id="27" name="TextBox 26"/>
          <p:cNvSpPr txBox="1"/>
          <p:nvPr/>
        </p:nvSpPr>
        <p:spPr>
          <a:xfrm>
            <a:off x="7293711" y="3056382"/>
            <a:ext cx="1388287" cy="752094"/>
          </a:xfrm>
          <a:prstGeom prst="rect">
            <a:avLst/>
          </a:prstGeom>
          <a:noFill/>
        </p:spPr>
        <p:txBody>
          <a:bodyPr wrap="square" lIns="0" rIns="0" tIns="0" bIns="0" anchor="ctr">
            <a:spAutoFit/>
          </a:bodyPr>
          <a:lstStyle/>
          <a:p>
            <a:pPr algn="l">
              <a:lnSpc>
                <a:spcPct val="100000"/>
              </a:lnSpc>
            </a:pPr>
            <a:r>
              <a:rPr sz="1300" b="1" i="0">
                <a:solidFill>
                  <a:srgbClr val="FFFFFF"/>
                </a:solidFill>
                <a:latin typeface="Arial"/>
              </a:rPr>
              <a:t>Puesta en marcha</a:t>
            </a:r>
          </a:p>
          <a:p>
            <a:pPr algn="l">
              <a:lnSpc>
                <a:spcPct val="100000"/>
              </a:lnSpc>
            </a:pPr>
            <a:r>
              <a:rPr sz="1050" b="0" i="0">
                <a:solidFill>
                  <a:srgbClr val="FF9955"/>
                </a:solidFill>
                <a:latin typeface="Arial"/>
              </a:rPr>
              <a:t>Fase 4 · Entrega</a:t>
            </a:r>
          </a:p>
        </p:txBody>
      </p:sp>
      <p:sp>
        <p:nvSpPr>
          <p:cNvPr id="28" name="Rectangle 27"/>
          <p:cNvSpPr/>
          <p:nvPr/>
        </p:nvSpPr>
        <p:spPr>
          <a:xfrm>
            <a:off x="9020327" y="2964941"/>
            <a:ext cx="2622727" cy="934974"/>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248927" y="3092958"/>
            <a:ext cx="822960" cy="678942"/>
          </a:xfrm>
          <a:prstGeom prst="rect">
            <a:avLst/>
          </a:prstGeom>
          <a:noFill/>
        </p:spPr>
        <p:txBody>
          <a:bodyPr wrap="square" lIns="0" rIns="0" tIns="0" bIns="0" anchor="ctr">
            <a:spAutoFit/>
          </a:bodyPr>
          <a:lstStyle/>
          <a:p>
            <a:pPr algn="l"/>
            <a:r>
              <a:rPr sz="2600" b="1" i="0">
                <a:solidFill>
                  <a:srgbClr val="FF6600"/>
                </a:solidFill>
                <a:latin typeface="Courier New"/>
              </a:rPr>
              <a:t>08</a:t>
            </a:r>
          </a:p>
        </p:txBody>
      </p:sp>
      <p:sp>
        <p:nvSpPr>
          <p:cNvPr id="30" name="TextBox 29"/>
          <p:cNvSpPr txBox="1"/>
          <p:nvPr/>
        </p:nvSpPr>
        <p:spPr>
          <a:xfrm>
            <a:off x="10117607" y="3056382"/>
            <a:ext cx="1388287" cy="752094"/>
          </a:xfrm>
          <a:prstGeom prst="rect">
            <a:avLst/>
          </a:prstGeom>
          <a:noFill/>
        </p:spPr>
        <p:txBody>
          <a:bodyPr wrap="square" lIns="0" rIns="0" tIns="0" bIns="0" anchor="ctr">
            <a:spAutoFit/>
          </a:bodyPr>
          <a:lstStyle/>
          <a:p>
            <a:pPr algn="l">
              <a:lnSpc>
                <a:spcPct val="100000"/>
              </a:lnSpc>
            </a:pPr>
            <a:r>
              <a:rPr sz="1300" b="1" i="0">
                <a:solidFill>
                  <a:srgbClr val="1A1A1A"/>
                </a:solidFill>
                <a:latin typeface="Arial"/>
              </a:rPr>
              <a:t>Información y tecnología</a:t>
            </a:r>
          </a:p>
        </p:txBody>
      </p:sp>
      <p:sp>
        <p:nvSpPr>
          <p:cNvPr id="31" name="Rectangle 30"/>
          <p:cNvSpPr/>
          <p:nvPr/>
        </p:nvSpPr>
        <p:spPr>
          <a:xfrm>
            <a:off x="548640" y="4101083"/>
            <a:ext cx="2622727" cy="934974"/>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77240" y="4229099"/>
            <a:ext cx="822960" cy="678942"/>
          </a:xfrm>
          <a:prstGeom prst="rect">
            <a:avLst/>
          </a:prstGeom>
          <a:noFill/>
        </p:spPr>
        <p:txBody>
          <a:bodyPr wrap="square" lIns="0" rIns="0" tIns="0" bIns="0" anchor="ctr">
            <a:spAutoFit/>
          </a:bodyPr>
          <a:lstStyle/>
          <a:p>
            <a:pPr algn="l"/>
            <a:r>
              <a:rPr sz="2600" b="1" i="0">
                <a:solidFill>
                  <a:srgbClr val="FF6600"/>
                </a:solidFill>
                <a:latin typeface="Courier New"/>
              </a:rPr>
              <a:t>09</a:t>
            </a:r>
          </a:p>
        </p:txBody>
      </p:sp>
      <p:sp>
        <p:nvSpPr>
          <p:cNvPr id="33" name="TextBox 32"/>
          <p:cNvSpPr txBox="1"/>
          <p:nvPr/>
        </p:nvSpPr>
        <p:spPr>
          <a:xfrm>
            <a:off x="1645919" y="4192523"/>
            <a:ext cx="1388287" cy="752094"/>
          </a:xfrm>
          <a:prstGeom prst="rect">
            <a:avLst/>
          </a:prstGeom>
          <a:noFill/>
        </p:spPr>
        <p:txBody>
          <a:bodyPr wrap="square" lIns="0" rIns="0" tIns="0" bIns="0" anchor="ctr">
            <a:spAutoFit/>
          </a:bodyPr>
          <a:lstStyle/>
          <a:p>
            <a:pPr algn="l">
              <a:lnSpc>
                <a:spcPct val="100000"/>
              </a:lnSpc>
            </a:pPr>
            <a:r>
              <a:rPr sz="1300" b="1" i="0">
                <a:solidFill>
                  <a:srgbClr val="1A1A1A"/>
                </a:solidFill>
                <a:latin typeface="Arial"/>
              </a:rPr>
              <a:t>Roles y organización</a:t>
            </a:r>
          </a:p>
        </p:txBody>
      </p:sp>
      <p:sp>
        <p:nvSpPr>
          <p:cNvPr id="34" name="Rectangle 33"/>
          <p:cNvSpPr/>
          <p:nvPr/>
        </p:nvSpPr>
        <p:spPr>
          <a:xfrm>
            <a:off x="3372535" y="4101083"/>
            <a:ext cx="2622727" cy="934974"/>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601135" y="4229099"/>
            <a:ext cx="822960" cy="678942"/>
          </a:xfrm>
          <a:prstGeom prst="rect">
            <a:avLst/>
          </a:prstGeom>
          <a:noFill/>
        </p:spPr>
        <p:txBody>
          <a:bodyPr wrap="square" lIns="0" rIns="0" tIns="0" bIns="0" anchor="ctr">
            <a:spAutoFit/>
          </a:bodyPr>
          <a:lstStyle/>
          <a:p>
            <a:pPr algn="l"/>
            <a:r>
              <a:rPr sz="2600" b="1" i="0">
                <a:solidFill>
                  <a:srgbClr val="FF6600"/>
                </a:solidFill>
                <a:latin typeface="Courier New"/>
              </a:rPr>
              <a:t>10</a:t>
            </a:r>
          </a:p>
        </p:txBody>
      </p:sp>
      <p:sp>
        <p:nvSpPr>
          <p:cNvPr id="36" name="TextBox 35"/>
          <p:cNvSpPr txBox="1"/>
          <p:nvPr/>
        </p:nvSpPr>
        <p:spPr>
          <a:xfrm>
            <a:off x="4469815" y="4192523"/>
            <a:ext cx="1388287" cy="752094"/>
          </a:xfrm>
          <a:prstGeom prst="rect">
            <a:avLst/>
          </a:prstGeom>
          <a:noFill/>
        </p:spPr>
        <p:txBody>
          <a:bodyPr wrap="square" lIns="0" rIns="0" tIns="0" bIns="0" anchor="ctr">
            <a:spAutoFit/>
          </a:bodyPr>
          <a:lstStyle/>
          <a:p>
            <a:pPr algn="l">
              <a:lnSpc>
                <a:spcPct val="100000"/>
              </a:lnSpc>
            </a:pPr>
            <a:r>
              <a:rPr sz="1300" b="1" i="0">
                <a:solidFill>
                  <a:srgbClr val="1A1A1A"/>
                </a:solidFill>
                <a:latin typeface="Arial"/>
              </a:rPr>
              <a:t>Medición y KPIs</a:t>
            </a:r>
          </a:p>
        </p:txBody>
      </p:sp>
      <p:sp>
        <p:nvSpPr>
          <p:cNvPr id="37" name="Rectangle 36"/>
          <p:cNvSpPr/>
          <p:nvPr/>
        </p:nvSpPr>
        <p:spPr>
          <a:xfrm>
            <a:off x="6196431" y="4101083"/>
            <a:ext cx="2622727" cy="934974"/>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25031" y="4229099"/>
            <a:ext cx="822960" cy="678942"/>
          </a:xfrm>
          <a:prstGeom prst="rect">
            <a:avLst/>
          </a:prstGeom>
          <a:noFill/>
        </p:spPr>
        <p:txBody>
          <a:bodyPr wrap="square" lIns="0" rIns="0" tIns="0" bIns="0" anchor="ctr">
            <a:spAutoFit/>
          </a:bodyPr>
          <a:lstStyle/>
          <a:p>
            <a:pPr algn="l"/>
            <a:r>
              <a:rPr sz="2600" b="1" i="0">
                <a:solidFill>
                  <a:srgbClr val="FF6600"/>
                </a:solidFill>
                <a:latin typeface="Courier New"/>
              </a:rPr>
              <a:t>11</a:t>
            </a:r>
          </a:p>
        </p:txBody>
      </p:sp>
      <p:sp>
        <p:nvSpPr>
          <p:cNvPr id="39" name="TextBox 38"/>
          <p:cNvSpPr txBox="1"/>
          <p:nvPr/>
        </p:nvSpPr>
        <p:spPr>
          <a:xfrm>
            <a:off x="7293711" y="4192523"/>
            <a:ext cx="1388287" cy="752094"/>
          </a:xfrm>
          <a:prstGeom prst="rect">
            <a:avLst/>
          </a:prstGeom>
          <a:noFill/>
        </p:spPr>
        <p:txBody>
          <a:bodyPr wrap="square" lIns="0" rIns="0" tIns="0" bIns="0" anchor="ctr">
            <a:spAutoFit/>
          </a:bodyPr>
          <a:lstStyle/>
          <a:p>
            <a:pPr algn="l">
              <a:lnSpc>
                <a:spcPct val="100000"/>
              </a:lnSpc>
            </a:pPr>
            <a:r>
              <a:rPr sz="1300" b="1" i="0">
                <a:solidFill>
                  <a:srgbClr val="1A1A1A"/>
                </a:solidFill>
                <a:latin typeface="Arial"/>
              </a:rPr>
              <a:t>Escalar y adoptar</a:t>
            </a:r>
          </a:p>
        </p:txBody>
      </p:sp>
      <p:sp>
        <p:nvSpPr>
          <p:cNvPr id="40" name="Rectangle 39"/>
          <p:cNvSpPr/>
          <p:nvPr/>
        </p:nvSpPr>
        <p:spPr>
          <a:xfrm>
            <a:off x="9020327" y="4101083"/>
            <a:ext cx="2622727" cy="934974"/>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9248927" y="4229099"/>
            <a:ext cx="822960" cy="678942"/>
          </a:xfrm>
          <a:prstGeom prst="rect">
            <a:avLst/>
          </a:prstGeom>
          <a:noFill/>
        </p:spPr>
        <p:txBody>
          <a:bodyPr wrap="square" lIns="0" rIns="0" tIns="0" bIns="0" anchor="ctr">
            <a:spAutoFit/>
          </a:bodyPr>
          <a:lstStyle/>
          <a:p>
            <a:pPr algn="l"/>
            <a:r>
              <a:rPr sz="2600" b="1" i="0">
                <a:solidFill>
                  <a:srgbClr val="FF6600"/>
                </a:solidFill>
                <a:latin typeface="Courier New"/>
              </a:rPr>
              <a:t>12</a:t>
            </a:r>
          </a:p>
        </p:txBody>
      </p:sp>
      <p:sp>
        <p:nvSpPr>
          <p:cNvPr id="42" name="TextBox 41"/>
          <p:cNvSpPr txBox="1"/>
          <p:nvPr/>
        </p:nvSpPr>
        <p:spPr>
          <a:xfrm>
            <a:off x="10117607" y="4192523"/>
            <a:ext cx="1388287" cy="752094"/>
          </a:xfrm>
          <a:prstGeom prst="rect">
            <a:avLst/>
          </a:prstGeom>
          <a:noFill/>
        </p:spPr>
        <p:txBody>
          <a:bodyPr wrap="square" lIns="0" rIns="0" tIns="0" bIns="0" anchor="ctr">
            <a:spAutoFit/>
          </a:bodyPr>
          <a:lstStyle/>
          <a:p>
            <a:pPr algn="l">
              <a:lnSpc>
                <a:spcPct val="100000"/>
              </a:lnSpc>
            </a:pPr>
            <a:r>
              <a:rPr sz="1300" b="1" i="0">
                <a:solidFill>
                  <a:srgbClr val="1A1A1A"/>
                </a:solidFill>
                <a:latin typeface="Arial"/>
              </a:rPr>
              <a:t>Errores y lecciones</a:t>
            </a:r>
          </a:p>
        </p:txBody>
      </p:sp>
      <p:sp>
        <p:nvSpPr>
          <p:cNvPr id="43" name="Rectangle 42"/>
          <p:cNvSpPr/>
          <p:nvPr/>
        </p:nvSpPr>
        <p:spPr>
          <a:xfrm>
            <a:off x="548640" y="5237226"/>
            <a:ext cx="2622727" cy="934974"/>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777240" y="5365242"/>
            <a:ext cx="822960" cy="678942"/>
          </a:xfrm>
          <a:prstGeom prst="rect">
            <a:avLst/>
          </a:prstGeom>
          <a:noFill/>
        </p:spPr>
        <p:txBody>
          <a:bodyPr wrap="square" lIns="0" rIns="0" tIns="0" bIns="0" anchor="ctr">
            <a:spAutoFit/>
          </a:bodyPr>
          <a:lstStyle/>
          <a:p>
            <a:pPr algn="l"/>
            <a:r>
              <a:rPr sz="2600" b="1" i="0">
                <a:solidFill>
                  <a:srgbClr val="FF6600"/>
                </a:solidFill>
                <a:latin typeface="Courier New"/>
              </a:rPr>
              <a:t>13</a:t>
            </a:r>
          </a:p>
        </p:txBody>
      </p:sp>
      <p:sp>
        <p:nvSpPr>
          <p:cNvPr id="45" name="TextBox 44"/>
          <p:cNvSpPr txBox="1"/>
          <p:nvPr/>
        </p:nvSpPr>
        <p:spPr>
          <a:xfrm>
            <a:off x="1645919" y="5328666"/>
            <a:ext cx="1388287" cy="752094"/>
          </a:xfrm>
          <a:prstGeom prst="rect">
            <a:avLst/>
          </a:prstGeom>
          <a:noFill/>
        </p:spPr>
        <p:txBody>
          <a:bodyPr wrap="square" lIns="0" rIns="0" tIns="0" bIns="0" anchor="ctr">
            <a:spAutoFit/>
          </a:bodyPr>
          <a:lstStyle/>
          <a:p>
            <a:pPr algn="l">
              <a:lnSpc>
                <a:spcPct val="100000"/>
              </a:lnSpc>
            </a:pPr>
            <a:r>
              <a:rPr sz="1300" b="1" i="0">
                <a:solidFill>
                  <a:srgbClr val="1A1A1A"/>
                </a:solidFill>
                <a:latin typeface="Arial"/>
              </a:rPr>
              <a:t>Hoja de ruta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APERTURA · OBJETIVOS</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Al terminar, su equipo sabrá qué hacer, quién lo hace y cuándo</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APERTURA</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003</a:t>
            </a:r>
          </a:p>
        </p:txBody>
      </p:sp>
      <p:sp>
        <p:nvSpPr>
          <p:cNvPr id="7" name="Rectangle 6"/>
          <p:cNvSpPr/>
          <p:nvPr/>
        </p:nvSpPr>
        <p:spPr>
          <a:xfrm>
            <a:off x="548640" y="1828800"/>
            <a:ext cx="2581579" cy="24688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itemap_o.png"/>
          <p:cNvPicPr>
            <a:picLocks noChangeAspect="1"/>
          </p:cNvPicPr>
          <p:nvPr/>
        </p:nvPicPr>
        <p:blipFill>
          <a:blip r:embed="rId2"/>
          <a:stretch>
            <a:fillRect/>
          </a:stretch>
        </p:blipFill>
        <p:spPr>
          <a:xfrm>
            <a:off x="822959" y="2084832"/>
            <a:ext cx="457200" cy="457200"/>
          </a:xfrm>
          <a:prstGeom prst="rect">
            <a:avLst/>
          </a:prstGeom>
        </p:spPr>
      </p:pic>
      <p:sp>
        <p:nvSpPr>
          <p:cNvPr id="9" name="TextBox 8"/>
          <p:cNvSpPr txBox="1"/>
          <p:nvPr/>
        </p:nvSpPr>
        <p:spPr>
          <a:xfrm>
            <a:off x="822959" y="2706624"/>
            <a:ext cx="2078659"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Entender la jerarquía</a:t>
            </a:r>
          </a:p>
        </p:txBody>
      </p:sp>
      <p:sp>
        <p:nvSpPr>
          <p:cNvPr id="10" name="TextBox 9"/>
          <p:cNvSpPr txBox="1"/>
          <p:nvPr/>
        </p:nvSpPr>
        <p:spPr>
          <a:xfrm>
            <a:off x="822959" y="3328416"/>
            <a:ext cx="2078659" cy="832103"/>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CWA, CWP, EWP, PWP e IWP y cómo se conectan</a:t>
            </a:r>
          </a:p>
        </p:txBody>
      </p:sp>
      <p:sp>
        <p:nvSpPr>
          <p:cNvPr id="11" name="Rectangle 10"/>
          <p:cNvSpPr/>
          <p:nvPr/>
        </p:nvSpPr>
        <p:spPr>
          <a:xfrm>
            <a:off x="3386251" y="1828800"/>
            <a:ext cx="2581579" cy="24688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lipcheck_o.png"/>
          <p:cNvPicPr>
            <a:picLocks noChangeAspect="1"/>
          </p:cNvPicPr>
          <p:nvPr/>
        </p:nvPicPr>
        <p:blipFill>
          <a:blip r:embed="rId3"/>
          <a:stretch>
            <a:fillRect/>
          </a:stretch>
        </p:blipFill>
        <p:spPr>
          <a:xfrm>
            <a:off x="3660571" y="2084832"/>
            <a:ext cx="457200" cy="457200"/>
          </a:xfrm>
          <a:prstGeom prst="rect">
            <a:avLst/>
          </a:prstGeom>
        </p:spPr>
      </p:pic>
      <p:sp>
        <p:nvSpPr>
          <p:cNvPr id="13" name="TextBox 12"/>
          <p:cNvSpPr txBox="1"/>
          <p:nvPr/>
        </p:nvSpPr>
        <p:spPr>
          <a:xfrm>
            <a:off x="3660571" y="2706624"/>
            <a:ext cx="2078659"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Conocer los entregables</a:t>
            </a:r>
          </a:p>
        </p:txBody>
      </p:sp>
      <p:sp>
        <p:nvSpPr>
          <p:cNvPr id="14" name="TextBox 13"/>
          <p:cNvSpPr txBox="1"/>
          <p:nvPr/>
        </p:nvSpPr>
        <p:spPr>
          <a:xfrm>
            <a:off x="3660571" y="3328416"/>
            <a:ext cx="2078659" cy="832103"/>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Qué se produce en cada fase y en qué compuerta</a:t>
            </a:r>
          </a:p>
        </p:txBody>
      </p:sp>
      <p:sp>
        <p:nvSpPr>
          <p:cNvPr id="15" name="Rectangle 14"/>
          <p:cNvSpPr/>
          <p:nvPr/>
        </p:nvSpPr>
        <p:spPr>
          <a:xfrm>
            <a:off x="6223863" y="1828800"/>
            <a:ext cx="2581579" cy="24688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s_o.png"/>
          <p:cNvPicPr>
            <a:picLocks noChangeAspect="1"/>
          </p:cNvPicPr>
          <p:nvPr/>
        </p:nvPicPr>
        <p:blipFill>
          <a:blip r:embed="rId4"/>
          <a:stretch>
            <a:fillRect/>
          </a:stretch>
        </p:blipFill>
        <p:spPr>
          <a:xfrm>
            <a:off x="6498183" y="2084832"/>
            <a:ext cx="457200" cy="457200"/>
          </a:xfrm>
          <a:prstGeom prst="rect">
            <a:avLst/>
          </a:prstGeom>
        </p:spPr>
      </p:pic>
      <p:sp>
        <p:nvSpPr>
          <p:cNvPr id="17" name="TextBox 16"/>
          <p:cNvSpPr txBox="1"/>
          <p:nvPr/>
        </p:nvSpPr>
        <p:spPr>
          <a:xfrm>
            <a:off x="6498183" y="2706624"/>
            <a:ext cx="2078659"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Asignar los roles</a:t>
            </a:r>
          </a:p>
        </p:txBody>
      </p:sp>
      <p:sp>
        <p:nvSpPr>
          <p:cNvPr id="18" name="TextBox 17"/>
          <p:cNvSpPr txBox="1"/>
          <p:nvPr/>
        </p:nvSpPr>
        <p:spPr>
          <a:xfrm>
            <a:off x="6498183" y="3328416"/>
            <a:ext cx="2078659" cy="832103"/>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AWP Champion, Workface Planners y Construction Manager</a:t>
            </a:r>
          </a:p>
        </p:txBody>
      </p:sp>
      <p:sp>
        <p:nvSpPr>
          <p:cNvPr id="19" name="Rectangle 18"/>
          <p:cNvSpPr/>
          <p:nvPr/>
        </p:nvSpPr>
        <p:spPr>
          <a:xfrm>
            <a:off x="9061475" y="1828800"/>
            <a:ext cx="2581579" cy="24688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warning_o.png"/>
          <p:cNvPicPr>
            <a:picLocks noChangeAspect="1"/>
          </p:cNvPicPr>
          <p:nvPr/>
        </p:nvPicPr>
        <p:blipFill>
          <a:blip r:embed="rId5"/>
          <a:stretch>
            <a:fillRect/>
          </a:stretch>
        </p:blipFill>
        <p:spPr>
          <a:xfrm>
            <a:off x="9335795" y="2084832"/>
            <a:ext cx="457200" cy="457200"/>
          </a:xfrm>
          <a:prstGeom prst="rect">
            <a:avLst/>
          </a:prstGeom>
        </p:spPr>
      </p:pic>
      <p:sp>
        <p:nvSpPr>
          <p:cNvPr id="21" name="TextBox 20"/>
          <p:cNvSpPr txBox="1"/>
          <p:nvPr/>
        </p:nvSpPr>
        <p:spPr>
          <a:xfrm>
            <a:off x="9335795" y="2706624"/>
            <a:ext cx="2078659"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Evitar errores típicos</a:t>
            </a:r>
          </a:p>
        </p:txBody>
      </p:sp>
      <p:sp>
        <p:nvSpPr>
          <p:cNvPr id="22" name="TextBox 21"/>
          <p:cNvSpPr txBox="1"/>
          <p:nvPr/>
        </p:nvSpPr>
        <p:spPr>
          <a:xfrm>
            <a:off x="9335795" y="3328416"/>
            <a:ext cx="2078659" cy="832103"/>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Lecciones de proyectos que ya aplicaron AWP</a:t>
            </a:r>
          </a:p>
        </p:txBody>
      </p:sp>
      <p:sp>
        <p:nvSpPr>
          <p:cNvPr id="23" name="Rectangle 22"/>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flag_o.png"/>
          <p:cNvPicPr>
            <a:picLocks noChangeAspect="1"/>
          </p:cNvPicPr>
          <p:nvPr/>
        </p:nvPicPr>
        <p:blipFill>
          <a:blip r:embed="rId6"/>
          <a:stretch>
            <a:fillRect/>
          </a:stretch>
        </p:blipFill>
        <p:spPr>
          <a:xfrm>
            <a:off x="822959" y="5660136"/>
            <a:ext cx="365760" cy="365760"/>
          </a:xfrm>
          <a:prstGeom prst="rect">
            <a:avLst/>
          </a:prstGeom>
        </p:spPr>
      </p:pic>
      <p:sp>
        <p:nvSpPr>
          <p:cNvPr id="25" name="TextBox 24"/>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AWP es un cambio de sistema: afecta a todas las personas del proyecto, no solo a Construcción.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APERTURA · FUENTES</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Las cifras de esta guía vienen del CII, la COAA e Insight-AWP</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APERTURA</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004</a:t>
            </a:r>
          </a:p>
        </p:txBody>
      </p:sp>
      <p:graphicFrame>
        <p:nvGraphicFramePr>
          <p:cNvPr id="7" name="Table 6"/>
          <p:cNvGraphicFramePr>
            <a:graphicFrameLocks noGrp="1"/>
          </p:cNvGraphicFramePr>
          <p:nvPr/>
        </p:nvGraphicFramePr>
        <p:xfrm>
          <a:off x="563727" y="1828800"/>
          <a:ext cx="11064240" cy="3749040"/>
        </p:xfrm>
        <a:graphic>
          <a:graphicData uri="http://schemas.openxmlformats.org/drawingml/2006/table">
            <a:tbl>
              <a:tblPr firstRow="0" bandRow="0">
                <a:tableStyleId>{5C22544A-7EE6-4342-B048-85BDC9FD1C3A}</a:tableStyleId>
              </a:tblPr>
              <a:tblGrid>
                <a:gridCol w="3291840"/>
                <a:gridCol w="3840480"/>
                <a:gridCol w="3931920"/>
              </a:tblGrid>
              <a:tr h="457200">
                <a:tc>
                  <a:txBody>
                    <a:bodyPr wrap="square"/>
                    <a:lstStyle/>
                    <a:p>
                      <a:pPr algn="l"/>
                      <a:r>
                        <a:rPr sz="1000" b="1" spc="100">
                          <a:solidFill>
                            <a:srgbClr val="FFFFFF"/>
                          </a:solidFill>
                          <a:latin typeface="Arial"/>
                        </a:rPr>
                        <a:t>ORGANISMO</a:t>
                      </a:r>
                    </a:p>
                  </a:txBody>
                  <a:tcPr marL="137160" marR="91440" marT="27432" marB="27432" anchor="ctr">
                    <a:solidFill>
                      <a:srgbClr val="1A1A1A"/>
                    </a:solidFill>
                  </a:tcPr>
                </a:tc>
                <a:tc>
                  <a:txBody>
                    <a:bodyPr wrap="square"/>
                    <a:lstStyle/>
                    <a:p>
                      <a:pPr algn="l"/>
                      <a:r>
                        <a:rPr sz="1000" b="1" spc="100">
                          <a:solidFill>
                            <a:srgbClr val="FFFFFF"/>
                          </a:solidFill>
                          <a:latin typeface="Arial"/>
                        </a:rPr>
                        <a:t>QUÉ APORTA</a:t>
                      </a:r>
                    </a:p>
                  </a:txBody>
                  <a:tcPr marL="137160" marR="91440" marT="27432" marB="27432" anchor="ctr">
                    <a:solidFill>
                      <a:srgbClr val="1A1A1A"/>
                    </a:solidFill>
                  </a:tcPr>
                </a:tc>
                <a:tc>
                  <a:txBody>
                    <a:bodyPr wrap="square"/>
                    <a:lstStyle/>
                    <a:p>
                      <a:pPr algn="l"/>
                      <a:r>
                        <a:rPr sz="1000" b="1" spc="100">
                          <a:solidFill>
                            <a:srgbClr val="FFFFFF"/>
                          </a:solidFill>
                          <a:latin typeface="Arial"/>
                        </a:rPr>
                        <a:t>DOCUMENTOS DEL REPOSITORIO</a:t>
                      </a:r>
                    </a:p>
                  </a:txBody>
                  <a:tcPr marL="137160" marR="91440" marT="27432" marB="27432" anchor="ctr">
                    <a:solidFill>
                      <a:srgbClr val="1A1A1A"/>
                    </a:solidFill>
                  </a:tcPr>
                </a:tc>
              </a:tr>
              <a:tr h="822960">
                <a:tc>
                  <a:txBody>
                    <a:bodyPr wrap="square"/>
                    <a:lstStyle/>
                    <a:p>
                      <a:pPr algn="l"/>
                      <a:r>
                        <a:rPr sz="1250" b="1">
                          <a:solidFill>
                            <a:srgbClr val="1A1A1A"/>
                          </a:solidFill>
                          <a:latin typeface="Arial"/>
                        </a:rPr>
                        <a:t>CII · Construction Industry Institute</a:t>
                      </a:r>
                    </a:p>
                  </a:txBody>
                  <a:tcPr marL="137160" marR="91440" marT="27432" marB="27432" anchor="ctr">
                    <a:solidFill>
                      <a:srgbClr val="FFFFFF"/>
                    </a:solidFill>
                  </a:tcPr>
                </a:tc>
                <a:tc>
                  <a:txBody>
                    <a:bodyPr wrap="square"/>
                    <a:lstStyle/>
                    <a:p>
                      <a:pPr algn="l"/>
                      <a:r>
                        <a:rPr sz="1250" b="0">
                          <a:solidFill>
                            <a:srgbClr val="2E2E2E"/>
                          </a:solidFill>
                          <a:latin typeface="Arial"/>
                        </a:rPr>
                        <a:t>Estudios RT-272 y RT-319, definición oficial y glosario</a:t>
                      </a:r>
                    </a:p>
                  </a:txBody>
                  <a:tcPr marL="137160" marR="91440" marT="27432" marB="27432" anchor="ctr">
                    <a:solidFill>
                      <a:srgbClr val="FFFFFF"/>
                    </a:solidFill>
                  </a:tcPr>
                </a:tc>
                <a:tc>
                  <a:txBody>
                    <a:bodyPr wrap="square"/>
                    <a:lstStyle/>
                    <a:p>
                      <a:pPr algn="l"/>
                      <a:r>
                        <a:rPr sz="1250" b="0">
                          <a:solidFill>
                            <a:srgbClr val="2E2E2E"/>
                          </a:solidFill>
                          <a:latin typeface="Arial"/>
                        </a:rPr>
                        <a:t>Education Primer, Education Framework, Glosario, AWP vs Lean</a:t>
                      </a:r>
                    </a:p>
                  </a:txBody>
                  <a:tcPr marL="137160" marR="91440" marT="27432" marB="27432" anchor="ctr">
                    <a:solidFill>
                      <a:srgbClr val="FFFFFF"/>
                    </a:solidFill>
                  </a:tcPr>
                </a:tc>
              </a:tr>
              <a:tr h="822960">
                <a:tc>
                  <a:txBody>
                    <a:bodyPr wrap="square"/>
                    <a:lstStyle/>
                    <a:p>
                      <a:pPr algn="l"/>
                      <a:r>
                        <a:rPr sz="1250" b="1">
                          <a:solidFill>
                            <a:srgbClr val="1A1A1A"/>
                          </a:solidFill>
                          <a:latin typeface="Arial"/>
                        </a:rPr>
                        <a:t>COAA · Construction Owners Association of Alberta</a:t>
                      </a:r>
                    </a:p>
                  </a:txBody>
                  <a:tcPr marL="137160" marR="91440" marT="27432" marB="27432" anchor="ctr">
                    <a:solidFill>
                      <a:srgbClr val="F7F7F7"/>
                    </a:solidFill>
                  </a:tcPr>
                </a:tc>
                <a:tc>
                  <a:txBody>
                    <a:bodyPr wrap="square"/>
                    <a:lstStyle/>
                    <a:p>
                      <a:pPr algn="l"/>
                      <a:r>
                        <a:rPr sz="1250" b="0">
                          <a:solidFill>
                            <a:srgbClr val="2E2E2E"/>
                          </a:solidFill>
                          <a:latin typeface="Arial"/>
                        </a:rPr>
                        <a:t>Buenas prácticas de WFP y modelo de AWP escalable</a:t>
                      </a:r>
                    </a:p>
                  </a:txBody>
                  <a:tcPr marL="137160" marR="91440" marT="27432" marB="27432" anchor="ctr">
                    <a:solidFill>
                      <a:srgbClr val="F7F7F7"/>
                    </a:solidFill>
                  </a:tcPr>
                </a:tc>
                <a:tc>
                  <a:txBody>
                    <a:bodyPr wrap="square"/>
                    <a:lstStyle/>
                    <a:p>
                      <a:pPr algn="l"/>
                      <a:r>
                        <a:rPr sz="1250" b="0">
                          <a:solidFill>
                            <a:srgbClr val="2E2E2E"/>
                          </a:solidFill>
                          <a:latin typeface="Arial"/>
                        </a:rPr>
                        <a:t>Resumen COAA 2016; Framework (AWP escalable)</a:t>
                      </a:r>
                    </a:p>
                  </a:txBody>
                  <a:tcPr marL="137160" marR="91440" marT="27432" marB="27432" anchor="ctr">
                    <a:solidFill>
                      <a:srgbClr val="F7F7F7"/>
                    </a:solidFill>
                  </a:tcPr>
                </a:tc>
              </a:tr>
              <a:tr h="822960">
                <a:tc>
                  <a:txBody>
                    <a:bodyPr wrap="square"/>
                    <a:lstStyle/>
                    <a:p>
                      <a:pPr algn="l"/>
                      <a:r>
                        <a:rPr sz="1250" b="1">
                          <a:solidFill>
                            <a:srgbClr val="1A1A1A"/>
                          </a:solidFill>
                          <a:latin typeface="Arial"/>
                        </a:rPr>
                        <a:t>Insight-AWP</a:t>
                      </a:r>
                    </a:p>
                  </a:txBody>
                  <a:tcPr marL="137160" marR="91440" marT="27432" marB="27432" anchor="ctr">
                    <a:solidFill>
                      <a:srgbClr val="FFFFFF"/>
                    </a:solidFill>
                  </a:tcPr>
                </a:tc>
                <a:tc>
                  <a:txBody>
                    <a:bodyPr wrap="square"/>
                    <a:lstStyle/>
                    <a:p>
                      <a:pPr algn="l"/>
                      <a:r>
                        <a:rPr sz="1250" b="0">
                          <a:solidFill>
                            <a:srgbClr val="2E2E2E"/>
                          </a:solidFill>
                          <a:latin typeface="Arial"/>
                        </a:rPr>
                        <a:t>Guía de inicio rápido y procedimientos AWP, IM y WFP</a:t>
                      </a:r>
                    </a:p>
                  </a:txBody>
                  <a:tcPr marL="137160" marR="91440" marT="27432" marB="27432" anchor="ctr">
                    <a:solidFill>
                      <a:srgbClr val="FFFFFF"/>
                    </a:solidFill>
                  </a:tcPr>
                </a:tc>
                <a:tc>
                  <a:txBody>
                    <a:bodyPr wrap="square"/>
                    <a:lstStyle/>
                    <a:p>
                      <a:pPr algn="l"/>
                      <a:r>
                        <a:rPr sz="1250" b="0">
                          <a:solidFill>
                            <a:srgbClr val="2E2E2E"/>
                          </a:solidFill>
                          <a:latin typeface="Arial"/>
                        </a:rPr>
                        <a:t>Quick Start Guide; Procedimientos 1.0, 2.0 y 3.0</a:t>
                      </a:r>
                    </a:p>
                  </a:txBody>
                  <a:tcPr marL="137160" marR="91440" marT="27432" marB="27432" anchor="ctr">
                    <a:solidFill>
                      <a:srgbClr val="FFFFFF"/>
                    </a:solidFill>
                  </a:tcPr>
                </a:tc>
              </a:tr>
              <a:tr h="822960">
                <a:tc>
                  <a:txBody>
                    <a:bodyPr wrap="square"/>
                    <a:lstStyle/>
                    <a:p>
                      <a:pPr algn="l"/>
                      <a:r>
                        <a:rPr sz="1250" b="1">
                          <a:solidFill>
                            <a:srgbClr val="1A1A1A"/>
                          </a:solidFill>
                          <a:latin typeface="Arial"/>
                        </a:rPr>
                        <a:t>Otras fuentes</a:t>
                      </a:r>
                    </a:p>
                  </a:txBody>
                  <a:tcPr marL="137160" marR="91440" marT="27432" marB="27432" anchor="ctr">
                    <a:solidFill>
                      <a:srgbClr val="F7F7F7"/>
                    </a:solidFill>
                  </a:tcPr>
                </a:tc>
                <a:tc>
                  <a:txBody>
                    <a:bodyPr wrap="square"/>
                    <a:lstStyle/>
                    <a:p>
                      <a:pPr algn="l"/>
                      <a:r>
                        <a:rPr sz="1250" b="0">
                          <a:solidFill>
                            <a:srgbClr val="2E2E2E"/>
                          </a:solidFill>
                          <a:latin typeface="Arial"/>
                        </a:rPr>
                        <a:t>Curso integrado y enfoque digital</a:t>
                      </a:r>
                    </a:p>
                  </a:txBody>
                  <a:tcPr marL="137160" marR="91440" marT="27432" marB="27432" anchor="ctr">
                    <a:solidFill>
                      <a:srgbClr val="F7F7F7"/>
                    </a:solidFill>
                  </a:tcPr>
                </a:tc>
                <a:tc>
                  <a:txBody>
                    <a:bodyPr wrap="square"/>
                    <a:lstStyle/>
                    <a:p>
                      <a:pPr algn="l"/>
                      <a:r>
                        <a:rPr sz="1250" b="0">
                          <a:solidFill>
                            <a:srgbClr val="2E2E2E"/>
                          </a:solidFill>
                          <a:latin typeface="Arial"/>
                        </a:rPr>
                        <a:t>Curso AWP 2023; Omega 365; presentación 2022</a:t>
                      </a:r>
                    </a:p>
                  </a:txBody>
                  <a:tcPr marL="137160" marR="91440" marT="27432" marB="27432" anchor="ctr">
                    <a:solidFill>
                      <a:srgbClr val="F7F7F7"/>
                    </a:solidFill>
                  </a:tcPr>
                </a:tc>
              </a:tr>
            </a:tbl>
          </a:graphicData>
        </a:graphic>
      </p:graphicFrame>
      <p:pic>
        <p:nvPicPr>
          <p:cNvPr id="8" name="Picture 7" descr="layers_o.png"/>
          <p:cNvPicPr>
            <a:picLocks noChangeAspect="1"/>
          </p:cNvPicPr>
          <p:nvPr/>
        </p:nvPicPr>
        <p:blipFill>
          <a:blip r:embed="rId2"/>
          <a:stretch>
            <a:fillRect/>
          </a:stretch>
        </p:blipFill>
        <p:spPr>
          <a:xfrm>
            <a:off x="563727" y="5815583"/>
            <a:ext cx="292608" cy="292608"/>
          </a:xfrm>
          <a:prstGeom prst="rect">
            <a:avLst/>
          </a:prstGeom>
        </p:spPr>
      </p:pic>
      <p:sp>
        <p:nvSpPr>
          <p:cNvPr id="9" name="TextBox 8"/>
          <p:cNvSpPr txBox="1"/>
          <p:nvPr/>
        </p:nvSpPr>
        <p:spPr>
          <a:xfrm>
            <a:off x="1020927" y="5779007"/>
            <a:ext cx="10607040" cy="384048"/>
          </a:xfrm>
          <a:prstGeom prst="rect">
            <a:avLst/>
          </a:prstGeom>
          <a:noFill/>
        </p:spPr>
        <p:txBody>
          <a:bodyPr wrap="square" lIns="0" rIns="0" tIns="0" bIns="0" anchor="ctr">
            <a:spAutoFit/>
          </a:bodyPr>
          <a:lstStyle/>
          <a:p>
            <a:pPr algn="l"/>
            <a:r>
              <a:rPr sz="1200" b="0" i="0">
                <a:solidFill>
                  <a:srgbClr val="2E2E2E"/>
                </a:solidFill>
                <a:latin typeface="Arial"/>
              </a:rPr>
              <a:t>Cuando las fuentes no coinciden en una cifra, la lámina lo indica y el procedimiento del proyecto debe fijarla.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097280"/>
            <a:ext cx="3657600" cy="2194560"/>
          </a:xfrm>
          <a:prstGeom prst="rect">
            <a:avLst/>
          </a:prstGeom>
          <a:noFill/>
        </p:spPr>
        <p:txBody>
          <a:bodyPr wrap="square" lIns="0" rIns="0" tIns="0" bIns="0" anchor="t">
            <a:spAutoFit/>
          </a:bodyPr>
          <a:lstStyle/>
          <a:p>
            <a:pPr algn="l"/>
            <a:r>
              <a:rPr sz="15000" b="1" i="0">
                <a:solidFill>
                  <a:srgbClr val="FF6600"/>
                </a:solidFill>
                <a:latin typeface="Arial"/>
              </a:rPr>
              <a:t>01</a:t>
            </a:r>
          </a:p>
        </p:txBody>
      </p:sp>
      <p:sp>
        <p:nvSpPr>
          <p:cNvPr id="4" name="TextBox 3"/>
          <p:cNvSpPr txBox="1"/>
          <p:nvPr/>
        </p:nvSpPr>
        <p:spPr>
          <a:xfrm>
            <a:off x="4160520" y="1481328"/>
            <a:ext cx="7498079" cy="274320"/>
          </a:xfrm>
          <a:prstGeom prst="rect">
            <a:avLst/>
          </a:prstGeom>
          <a:noFill/>
        </p:spPr>
        <p:txBody>
          <a:bodyPr wrap="square" lIns="0" rIns="0" tIns="0" bIns="0" anchor="t">
            <a:spAutoFit/>
          </a:bodyPr>
          <a:lstStyle/>
          <a:p>
            <a:pPr algn="l"/>
            <a:r>
              <a:rPr sz="1200" b="1" i="0" spc="300">
                <a:solidFill>
                  <a:srgbClr val="FF6600"/>
                </a:solidFill>
                <a:latin typeface="Arial"/>
              </a:rPr>
              <a:t>MÓDULO 1 · POR QUÉ AWP</a:t>
            </a:r>
          </a:p>
        </p:txBody>
      </p:sp>
      <p:sp>
        <p:nvSpPr>
          <p:cNvPr id="5" name="Título"/>
          <p:cNvSpPr txBox="1"/>
          <p:nvPr/>
        </p:nvSpPr>
        <p:spPr>
          <a:xfrm>
            <a:off x="4160520" y="1874519"/>
            <a:ext cx="7452360" cy="1508760"/>
          </a:xfrm>
          <a:prstGeom prst="rect">
            <a:avLst/>
          </a:prstGeom>
          <a:noFill/>
        </p:spPr>
        <p:txBody>
          <a:bodyPr wrap="square" lIns="0" rIns="0" tIns="0" bIns="0" anchor="t">
            <a:spAutoFit/>
          </a:bodyPr>
          <a:lstStyle/>
          <a:p>
            <a:pPr algn="l">
              <a:lnSpc>
                <a:spcPct val="95000"/>
              </a:lnSpc>
            </a:pPr>
            <a:r>
              <a:rPr sz="3600" b="1" i="0">
                <a:solidFill>
                  <a:srgbClr val="FFFFFF"/>
                </a:solidFill>
                <a:latin typeface="Arial"/>
              </a:rPr>
              <a:t>El problema no es la cuadrilla, es la planificación</a:t>
            </a:r>
          </a:p>
        </p:txBody>
      </p:sp>
      <p:sp>
        <p:nvSpPr>
          <p:cNvPr id="6" name="TextBox 5"/>
          <p:cNvSpPr txBox="1"/>
          <p:nvPr/>
        </p:nvSpPr>
        <p:spPr>
          <a:xfrm>
            <a:off x="4160520" y="3474720"/>
            <a:ext cx="7406640" cy="685800"/>
          </a:xfrm>
          <a:prstGeom prst="rect">
            <a:avLst/>
          </a:prstGeom>
          <a:noFill/>
        </p:spPr>
        <p:txBody>
          <a:bodyPr wrap="square" lIns="0" rIns="0" tIns="0" bIns="0" anchor="t">
            <a:spAutoFit/>
          </a:bodyPr>
          <a:lstStyle/>
          <a:p>
            <a:pPr algn="l">
              <a:lnSpc>
                <a:spcPct val="110000"/>
              </a:lnSpc>
            </a:pPr>
            <a:r>
              <a:rPr sz="1500" b="0" i="0">
                <a:solidFill>
                  <a:srgbClr val="BCBEC0"/>
                </a:solidFill>
                <a:latin typeface="Arial"/>
              </a:rPr>
              <a:t>Qué dicen los datos sobre sobrecostos, productividad y tiempo perdido en campo.</a:t>
            </a:r>
          </a:p>
        </p:txBody>
      </p:sp>
      <p:sp>
        <p:nvSpPr>
          <p:cNvPr id="7" name="Rectangle 6"/>
          <p:cNvSpPr/>
          <p:nvPr/>
        </p:nvSpPr>
        <p:spPr>
          <a:xfrm>
            <a:off x="548640" y="5074920"/>
            <a:ext cx="769010" cy="50292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48640" y="5074920"/>
            <a:ext cx="769010" cy="502920"/>
          </a:xfrm>
          <a:prstGeom prst="rect">
            <a:avLst/>
          </a:prstGeom>
          <a:noFill/>
        </p:spPr>
        <p:txBody>
          <a:bodyPr wrap="square" lIns="0" rIns="0" tIns="0" bIns="0" anchor="ctr">
            <a:spAutoFit/>
          </a:bodyPr>
          <a:lstStyle/>
          <a:p>
            <a:pPr algn="ctr"/>
            <a:r>
              <a:rPr sz="1100" b="1" i="0">
                <a:solidFill>
                  <a:srgbClr val="FFFFFF"/>
                </a:solidFill>
                <a:latin typeface="Courier New"/>
              </a:rPr>
              <a:t>01</a:t>
            </a:r>
          </a:p>
        </p:txBody>
      </p:sp>
      <p:sp>
        <p:nvSpPr>
          <p:cNvPr id="9" name="Rectangle 8"/>
          <p:cNvSpPr/>
          <p:nvPr/>
        </p:nvSpPr>
        <p:spPr>
          <a:xfrm>
            <a:off x="1409090"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409090"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02</a:t>
            </a:r>
          </a:p>
        </p:txBody>
      </p:sp>
      <p:sp>
        <p:nvSpPr>
          <p:cNvPr id="11" name="Rectangle 10"/>
          <p:cNvSpPr/>
          <p:nvPr/>
        </p:nvSpPr>
        <p:spPr>
          <a:xfrm>
            <a:off x="2269540"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269540"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03</a:t>
            </a:r>
          </a:p>
        </p:txBody>
      </p:sp>
      <p:sp>
        <p:nvSpPr>
          <p:cNvPr id="13" name="Rectangle 12"/>
          <p:cNvSpPr/>
          <p:nvPr/>
        </p:nvSpPr>
        <p:spPr>
          <a:xfrm>
            <a:off x="3129991"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129991"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04</a:t>
            </a:r>
          </a:p>
        </p:txBody>
      </p:sp>
      <p:sp>
        <p:nvSpPr>
          <p:cNvPr id="15" name="Rectangle 14"/>
          <p:cNvSpPr/>
          <p:nvPr/>
        </p:nvSpPr>
        <p:spPr>
          <a:xfrm>
            <a:off x="3990441"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990441"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05</a:t>
            </a:r>
          </a:p>
        </p:txBody>
      </p:sp>
      <p:sp>
        <p:nvSpPr>
          <p:cNvPr id="17" name="Rectangle 16"/>
          <p:cNvSpPr/>
          <p:nvPr/>
        </p:nvSpPr>
        <p:spPr>
          <a:xfrm>
            <a:off x="4850892"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850892"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06</a:t>
            </a:r>
          </a:p>
        </p:txBody>
      </p:sp>
      <p:sp>
        <p:nvSpPr>
          <p:cNvPr id="19" name="Rectangle 18"/>
          <p:cNvSpPr/>
          <p:nvPr/>
        </p:nvSpPr>
        <p:spPr>
          <a:xfrm>
            <a:off x="5711342"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711342"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07</a:t>
            </a:r>
          </a:p>
        </p:txBody>
      </p:sp>
      <p:sp>
        <p:nvSpPr>
          <p:cNvPr id="21" name="Rectangle 20"/>
          <p:cNvSpPr/>
          <p:nvPr/>
        </p:nvSpPr>
        <p:spPr>
          <a:xfrm>
            <a:off x="6571792"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571792"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08</a:t>
            </a:r>
          </a:p>
        </p:txBody>
      </p:sp>
      <p:sp>
        <p:nvSpPr>
          <p:cNvPr id="23" name="Rectangle 22"/>
          <p:cNvSpPr/>
          <p:nvPr/>
        </p:nvSpPr>
        <p:spPr>
          <a:xfrm>
            <a:off x="7432243"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432243"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09</a:t>
            </a:r>
          </a:p>
        </p:txBody>
      </p:sp>
      <p:sp>
        <p:nvSpPr>
          <p:cNvPr id="25" name="Rectangle 24"/>
          <p:cNvSpPr/>
          <p:nvPr/>
        </p:nvSpPr>
        <p:spPr>
          <a:xfrm>
            <a:off x="8292693"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292693"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10</a:t>
            </a:r>
          </a:p>
        </p:txBody>
      </p:sp>
      <p:sp>
        <p:nvSpPr>
          <p:cNvPr id="27" name="Rectangle 26"/>
          <p:cNvSpPr/>
          <p:nvPr/>
        </p:nvSpPr>
        <p:spPr>
          <a:xfrm>
            <a:off x="9153144"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153144"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11</a:t>
            </a:r>
          </a:p>
        </p:txBody>
      </p:sp>
      <p:sp>
        <p:nvSpPr>
          <p:cNvPr id="29" name="Rectangle 28"/>
          <p:cNvSpPr/>
          <p:nvPr/>
        </p:nvSpPr>
        <p:spPr>
          <a:xfrm>
            <a:off x="10013594"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013594"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12</a:t>
            </a:r>
          </a:p>
        </p:txBody>
      </p:sp>
      <p:sp>
        <p:nvSpPr>
          <p:cNvPr id="31" name="Rectangle 30"/>
          <p:cNvSpPr/>
          <p:nvPr/>
        </p:nvSpPr>
        <p:spPr>
          <a:xfrm>
            <a:off x="10874044"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874044"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13</a:t>
            </a:r>
          </a:p>
        </p:txBody>
      </p:sp>
      <p:sp>
        <p:nvSpPr>
          <p:cNvPr id="33" name="TextBox 32"/>
          <p:cNvSpPr txBox="1"/>
          <p:nvPr/>
        </p:nvSpPr>
        <p:spPr>
          <a:xfrm>
            <a:off x="548640" y="4709159"/>
            <a:ext cx="5486400" cy="274320"/>
          </a:xfrm>
          <a:prstGeom prst="rect">
            <a:avLst/>
          </a:prstGeom>
          <a:noFill/>
        </p:spPr>
        <p:txBody>
          <a:bodyPr wrap="square" lIns="0" rIns="0" tIns="0" bIns="0" anchor="t">
            <a:spAutoFit/>
          </a:bodyPr>
          <a:lstStyle/>
          <a:p>
            <a:pPr algn="l"/>
            <a:r>
              <a:rPr sz="1000" b="1" i="0" spc="200">
                <a:solidFill>
                  <a:srgbClr val="8A8B8E"/>
                </a:solidFill>
                <a:latin typeface="Arial"/>
              </a:rPr>
              <a:t>MÓDULOS</a:t>
            </a:r>
          </a:p>
        </p:txBody>
      </p:sp>
      <p:sp>
        <p:nvSpPr>
          <p:cNvPr id="34" name="TextBox 33"/>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8A8B8E"/>
                </a:solidFill>
                <a:latin typeface="Arial"/>
              </a:rPr>
              <a:t>IMPLEMENTACIÓN DE AWP  ·  M1 · POR QUÉ AWP</a:t>
            </a:r>
          </a:p>
        </p:txBody>
      </p:sp>
      <p:sp>
        <p:nvSpPr>
          <p:cNvPr id="35" name="TextBox 34"/>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8A8B8E"/>
                </a:solidFill>
                <a:latin typeface="Courier New"/>
              </a:rPr>
              <a:t>005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1 · EL PROBLEMA</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El 65 % de los megaproyectos fracasa en costo, plazo o desempeño</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M1 · POR QUÉ AWP</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006</a:t>
            </a:r>
          </a:p>
        </p:txBody>
      </p:sp>
      <p:pic>
        <p:nvPicPr>
          <p:cNvPr id="7" name="Picture 6" descr="warning_o.png"/>
          <p:cNvPicPr>
            <a:picLocks noChangeAspect="1"/>
          </p:cNvPicPr>
          <p:nvPr/>
        </p:nvPicPr>
        <p:blipFill>
          <a:blip r:embed="rId2"/>
          <a:stretch>
            <a:fillRect/>
          </a:stretch>
        </p:blipFill>
        <p:spPr>
          <a:xfrm>
            <a:off x="548640" y="1965960"/>
            <a:ext cx="548640" cy="548640"/>
          </a:xfrm>
          <a:prstGeom prst="rect">
            <a:avLst/>
          </a:prstGeom>
        </p:spPr>
      </p:pic>
      <p:sp>
        <p:nvSpPr>
          <p:cNvPr id="8" name="TextBox 7"/>
          <p:cNvSpPr txBox="1"/>
          <p:nvPr/>
        </p:nvSpPr>
        <p:spPr>
          <a:xfrm>
            <a:off x="548640" y="2514600"/>
            <a:ext cx="6035040" cy="1737360"/>
          </a:xfrm>
          <a:prstGeom prst="rect">
            <a:avLst/>
          </a:prstGeom>
          <a:noFill/>
        </p:spPr>
        <p:txBody>
          <a:bodyPr wrap="square" lIns="0" rIns="0" tIns="0" bIns="0" anchor="ctr">
            <a:spAutoFit/>
          </a:bodyPr>
          <a:lstStyle/>
          <a:p>
            <a:pPr algn="l"/>
            <a:r>
              <a:rPr sz="12000" b="1" i="0">
                <a:solidFill>
                  <a:srgbClr val="FF6600"/>
                </a:solidFill>
                <a:latin typeface="Arial"/>
              </a:rPr>
              <a:t>65 %</a:t>
            </a:r>
          </a:p>
        </p:txBody>
      </p:sp>
      <p:sp>
        <p:nvSpPr>
          <p:cNvPr id="9" name="TextBox 8"/>
          <p:cNvSpPr txBox="1"/>
          <p:nvPr/>
        </p:nvSpPr>
        <p:spPr>
          <a:xfrm>
            <a:off x="548640" y="4389120"/>
            <a:ext cx="5760720" cy="411480"/>
          </a:xfrm>
          <a:prstGeom prst="rect">
            <a:avLst/>
          </a:prstGeom>
          <a:noFill/>
        </p:spPr>
        <p:txBody>
          <a:bodyPr wrap="square" lIns="0" rIns="0" tIns="0" bIns="0" anchor="t">
            <a:spAutoFit/>
          </a:bodyPr>
          <a:lstStyle/>
          <a:p>
            <a:pPr algn="l"/>
            <a:r>
              <a:rPr sz="2000" b="1" i="0">
                <a:solidFill>
                  <a:srgbClr val="1A1A1A"/>
                </a:solidFill>
                <a:latin typeface="Arial"/>
              </a:rPr>
              <a:t>de los megaproyectos fracasa</a:t>
            </a:r>
          </a:p>
        </p:txBody>
      </p:sp>
      <p:sp>
        <p:nvSpPr>
          <p:cNvPr id="10" name="TextBox 9"/>
          <p:cNvSpPr txBox="1"/>
          <p:nvPr/>
        </p:nvSpPr>
        <p:spPr>
          <a:xfrm>
            <a:off x="548640" y="4892040"/>
            <a:ext cx="5669279" cy="1188720"/>
          </a:xfrm>
          <a:prstGeom prst="rect">
            <a:avLst/>
          </a:prstGeom>
          <a:noFill/>
        </p:spPr>
        <p:txBody>
          <a:bodyPr wrap="square" lIns="0" rIns="0" tIns="0" bIns="0" anchor="t">
            <a:spAutoFit/>
          </a:bodyPr>
          <a:lstStyle/>
          <a:p>
            <a:pPr algn="l">
              <a:lnSpc>
                <a:spcPct val="110000"/>
              </a:lnSpc>
            </a:pPr>
            <a:r>
              <a:rPr sz="1400" b="0" i="0">
                <a:solidFill>
                  <a:srgbClr val="6D6E71"/>
                </a:solidFill>
                <a:latin typeface="Arial"/>
              </a:rPr>
              <a:t>Fracasar es terminar con sobrecosto, con retraso o con un desempeño operativo menor al prometido.</a:t>
            </a:r>
          </a:p>
        </p:txBody>
      </p:sp>
      <p:sp>
        <p:nvSpPr>
          <p:cNvPr id="11" name="Rectangle 10"/>
          <p:cNvSpPr/>
          <p:nvPr/>
        </p:nvSpPr>
        <p:spPr>
          <a:xfrm>
            <a:off x="6949440" y="1828800"/>
            <a:ext cx="4693615" cy="20574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69479" y="2011680"/>
            <a:ext cx="2011680" cy="1691640"/>
          </a:xfrm>
          <a:prstGeom prst="rect">
            <a:avLst/>
          </a:prstGeom>
          <a:noFill/>
        </p:spPr>
        <p:txBody>
          <a:bodyPr wrap="square" lIns="0" rIns="0" tIns="0" bIns="0" anchor="ctr">
            <a:spAutoFit/>
          </a:bodyPr>
          <a:lstStyle/>
          <a:p>
            <a:pPr algn="l"/>
            <a:r>
              <a:rPr sz="3000" b="1" i="0">
                <a:solidFill>
                  <a:srgbClr val="FF9955"/>
                </a:solidFill>
                <a:latin typeface="Arial"/>
              </a:rPr>
              <a:t>70 %</a:t>
            </a:r>
          </a:p>
        </p:txBody>
      </p:sp>
      <p:sp>
        <p:nvSpPr>
          <p:cNvPr id="13" name="TextBox 12"/>
          <p:cNvSpPr txBox="1"/>
          <p:nvPr/>
        </p:nvSpPr>
        <p:spPr>
          <a:xfrm>
            <a:off x="9326880" y="1965960"/>
            <a:ext cx="2087575" cy="1783080"/>
          </a:xfrm>
          <a:prstGeom prst="rect">
            <a:avLst/>
          </a:prstGeom>
          <a:noFill/>
        </p:spPr>
        <p:txBody>
          <a:bodyPr wrap="square" lIns="0" rIns="0" tIns="0" bIns="0" anchor="ctr">
            <a:spAutoFit/>
          </a:bodyPr>
          <a:lstStyle/>
          <a:p>
            <a:pPr algn="l">
              <a:lnSpc>
                <a:spcPct val="105000"/>
              </a:lnSpc>
            </a:pPr>
            <a:r>
              <a:rPr sz="1250" b="0" i="0">
                <a:solidFill>
                  <a:srgbClr val="FFFFFF"/>
                </a:solidFill>
                <a:latin typeface="Arial"/>
              </a:rPr>
              <a:t>de los proyectos de construcción termina sobre presupuesto y con retraso</a:t>
            </a:r>
          </a:p>
        </p:txBody>
      </p:sp>
      <p:sp>
        <p:nvSpPr>
          <p:cNvPr id="14" name="Rectangle 13"/>
          <p:cNvSpPr/>
          <p:nvPr/>
        </p:nvSpPr>
        <p:spPr>
          <a:xfrm>
            <a:off x="6949440" y="4114800"/>
            <a:ext cx="4693615" cy="20574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269479" y="4297680"/>
            <a:ext cx="2011680" cy="1691640"/>
          </a:xfrm>
          <a:prstGeom prst="rect">
            <a:avLst/>
          </a:prstGeom>
          <a:noFill/>
        </p:spPr>
        <p:txBody>
          <a:bodyPr wrap="square" lIns="0" rIns="0" tIns="0" bIns="0" anchor="ctr">
            <a:spAutoFit/>
          </a:bodyPr>
          <a:lstStyle/>
          <a:p>
            <a:pPr algn="l"/>
            <a:r>
              <a:rPr sz="3000" b="1" i="0">
                <a:solidFill>
                  <a:srgbClr val="FF9955"/>
                </a:solidFill>
                <a:latin typeface="Arial"/>
              </a:rPr>
              <a:t>189 %</a:t>
            </a:r>
          </a:p>
        </p:txBody>
      </p:sp>
      <p:sp>
        <p:nvSpPr>
          <p:cNvPr id="16" name="TextBox 15"/>
          <p:cNvSpPr txBox="1"/>
          <p:nvPr/>
        </p:nvSpPr>
        <p:spPr>
          <a:xfrm>
            <a:off x="9326880" y="4251960"/>
            <a:ext cx="2087575" cy="1783080"/>
          </a:xfrm>
          <a:prstGeom prst="rect">
            <a:avLst/>
          </a:prstGeom>
          <a:noFill/>
        </p:spPr>
        <p:txBody>
          <a:bodyPr wrap="square" lIns="0" rIns="0" tIns="0" bIns="0" anchor="ctr">
            <a:spAutoFit/>
          </a:bodyPr>
          <a:lstStyle/>
          <a:p>
            <a:pPr algn="l">
              <a:lnSpc>
                <a:spcPct val="105000"/>
              </a:lnSpc>
            </a:pPr>
            <a:r>
              <a:rPr sz="1250" b="0" i="0">
                <a:solidFill>
                  <a:srgbClr val="FFFFFF"/>
                </a:solidFill>
                <a:latin typeface="Arial"/>
              </a:rPr>
              <a:t>del presupuesto inicial: donde termina el 52 % de los proyectos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1 · EL PROBLEMA</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La productividad de la construcción no ha mejorado en 70 años</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M1 · POR QUÉ AWP</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007</a:t>
            </a:r>
          </a:p>
        </p:txBody>
      </p:sp>
      <p:pic>
        <p:nvPicPr>
          <p:cNvPr id="7" name="Picture 6" descr="chart_o.png"/>
          <p:cNvPicPr>
            <a:picLocks noChangeAspect="1"/>
          </p:cNvPicPr>
          <p:nvPr/>
        </p:nvPicPr>
        <p:blipFill>
          <a:blip r:embed="rId2"/>
          <a:stretch>
            <a:fillRect/>
          </a:stretch>
        </p:blipFill>
        <p:spPr>
          <a:xfrm>
            <a:off x="548640" y="1965960"/>
            <a:ext cx="548640" cy="548640"/>
          </a:xfrm>
          <a:prstGeom prst="rect">
            <a:avLst/>
          </a:prstGeom>
        </p:spPr>
      </p:pic>
      <p:sp>
        <p:nvSpPr>
          <p:cNvPr id="8" name="TextBox 7"/>
          <p:cNvSpPr txBox="1"/>
          <p:nvPr/>
        </p:nvSpPr>
        <p:spPr>
          <a:xfrm>
            <a:off x="548640" y="2514600"/>
            <a:ext cx="6035040" cy="1737360"/>
          </a:xfrm>
          <a:prstGeom prst="rect">
            <a:avLst/>
          </a:prstGeom>
          <a:noFill/>
        </p:spPr>
        <p:txBody>
          <a:bodyPr wrap="square" lIns="0" rIns="0" tIns="0" bIns="0" anchor="ctr">
            <a:spAutoFit/>
          </a:bodyPr>
          <a:lstStyle/>
          <a:p>
            <a:pPr algn="l"/>
            <a:r>
              <a:rPr sz="10000" b="1" i="0">
                <a:solidFill>
                  <a:srgbClr val="FF6600"/>
                </a:solidFill>
                <a:latin typeface="Arial"/>
              </a:rPr>
              <a:t>70 años</a:t>
            </a:r>
          </a:p>
        </p:txBody>
      </p:sp>
      <p:sp>
        <p:nvSpPr>
          <p:cNvPr id="9" name="TextBox 8"/>
          <p:cNvSpPr txBox="1"/>
          <p:nvPr/>
        </p:nvSpPr>
        <p:spPr>
          <a:xfrm>
            <a:off x="548640" y="4389120"/>
            <a:ext cx="5760720" cy="411480"/>
          </a:xfrm>
          <a:prstGeom prst="rect">
            <a:avLst/>
          </a:prstGeom>
          <a:noFill/>
        </p:spPr>
        <p:txBody>
          <a:bodyPr wrap="square" lIns="0" rIns="0" tIns="0" bIns="0" anchor="t">
            <a:spAutoFit/>
          </a:bodyPr>
          <a:lstStyle/>
          <a:p>
            <a:pPr algn="l"/>
            <a:r>
              <a:rPr sz="2000" b="1" i="0">
                <a:solidFill>
                  <a:srgbClr val="1A1A1A"/>
                </a:solidFill>
                <a:latin typeface="Arial"/>
              </a:rPr>
              <a:t>sin mejora de productividad en construcción</a:t>
            </a:r>
          </a:p>
        </p:txBody>
      </p:sp>
      <p:sp>
        <p:nvSpPr>
          <p:cNvPr id="10" name="TextBox 9"/>
          <p:cNvSpPr txBox="1"/>
          <p:nvPr/>
        </p:nvSpPr>
        <p:spPr>
          <a:xfrm>
            <a:off x="548640" y="4892040"/>
            <a:ext cx="5669279" cy="1188720"/>
          </a:xfrm>
          <a:prstGeom prst="rect">
            <a:avLst/>
          </a:prstGeom>
          <a:noFill/>
        </p:spPr>
        <p:txBody>
          <a:bodyPr wrap="square" lIns="0" rIns="0" tIns="0" bIns="0" anchor="t">
            <a:spAutoFit/>
          </a:bodyPr>
          <a:lstStyle/>
          <a:p>
            <a:pPr algn="l">
              <a:lnSpc>
                <a:spcPct val="110000"/>
              </a:lnSpc>
            </a:pPr>
            <a:r>
              <a:rPr sz="1400" b="0" i="0">
                <a:solidFill>
                  <a:srgbClr val="6D6E71"/>
                </a:solidFill>
                <a:latin typeface="Arial"/>
              </a:rPr>
              <a:t>Otras industrias sí mejoraron. La mano de obra es una de las mayores partidas del presupuesto.</a:t>
            </a:r>
          </a:p>
        </p:txBody>
      </p:sp>
      <p:sp>
        <p:nvSpPr>
          <p:cNvPr id="11" name="Rectangle 10"/>
          <p:cNvSpPr/>
          <p:nvPr/>
        </p:nvSpPr>
        <p:spPr>
          <a:xfrm>
            <a:off x="6949440" y="1828800"/>
            <a:ext cx="4693615" cy="20574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69479" y="2011680"/>
            <a:ext cx="2011680" cy="1691640"/>
          </a:xfrm>
          <a:prstGeom prst="rect">
            <a:avLst/>
          </a:prstGeom>
          <a:noFill/>
        </p:spPr>
        <p:txBody>
          <a:bodyPr wrap="square" lIns="0" rIns="0" tIns="0" bIns="0" anchor="ctr">
            <a:spAutoFit/>
          </a:bodyPr>
          <a:lstStyle/>
          <a:p>
            <a:pPr algn="l"/>
            <a:r>
              <a:rPr sz="3000" b="1" i="0">
                <a:solidFill>
                  <a:srgbClr val="FF9955"/>
                </a:solidFill>
                <a:latin typeface="Arial"/>
              </a:rPr>
              <a:t>&lt; 4 h</a:t>
            </a:r>
          </a:p>
        </p:txBody>
      </p:sp>
      <p:sp>
        <p:nvSpPr>
          <p:cNvPr id="13" name="TextBox 12"/>
          <p:cNvSpPr txBox="1"/>
          <p:nvPr/>
        </p:nvSpPr>
        <p:spPr>
          <a:xfrm>
            <a:off x="9326880" y="1965960"/>
            <a:ext cx="2087575" cy="1783080"/>
          </a:xfrm>
          <a:prstGeom prst="rect">
            <a:avLst/>
          </a:prstGeom>
          <a:noFill/>
        </p:spPr>
        <p:txBody>
          <a:bodyPr wrap="square" lIns="0" rIns="0" tIns="0" bIns="0" anchor="ctr">
            <a:spAutoFit/>
          </a:bodyPr>
          <a:lstStyle/>
          <a:p>
            <a:pPr algn="l">
              <a:lnSpc>
                <a:spcPct val="105000"/>
              </a:lnSpc>
            </a:pPr>
            <a:r>
              <a:rPr sz="1250" b="0" i="0">
                <a:solidFill>
                  <a:srgbClr val="FFFFFF"/>
                </a:solidFill>
                <a:latin typeface="Arial"/>
              </a:rPr>
              <a:t>productivas en una jornada de 10 horas</a:t>
            </a:r>
          </a:p>
        </p:txBody>
      </p:sp>
      <p:sp>
        <p:nvSpPr>
          <p:cNvPr id="14" name="Rectangle 13"/>
          <p:cNvSpPr/>
          <p:nvPr/>
        </p:nvSpPr>
        <p:spPr>
          <a:xfrm>
            <a:off x="6949440" y="4114800"/>
            <a:ext cx="4693615" cy="20574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269479" y="4297680"/>
            <a:ext cx="2011680" cy="1691640"/>
          </a:xfrm>
          <a:prstGeom prst="rect">
            <a:avLst/>
          </a:prstGeom>
          <a:noFill/>
        </p:spPr>
        <p:txBody>
          <a:bodyPr wrap="square" lIns="0" rIns="0" tIns="0" bIns="0" anchor="ctr">
            <a:spAutoFit/>
          </a:bodyPr>
          <a:lstStyle/>
          <a:p>
            <a:pPr algn="l"/>
            <a:r>
              <a:rPr sz="3000" b="1" i="0">
                <a:solidFill>
                  <a:srgbClr val="FF9955"/>
                </a:solidFill>
                <a:latin typeface="Arial"/>
              </a:rPr>
              <a:t>&lt; 2 h</a:t>
            </a:r>
          </a:p>
        </p:txBody>
      </p:sp>
      <p:sp>
        <p:nvSpPr>
          <p:cNvPr id="16" name="TextBox 15"/>
          <p:cNvSpPr txBox="1"/>
          <p:nvPr/>
        </p:nvSpPr>
        <p:spPr>
          <a:xfrm>
            <a:off x="9326880" y="4251960"/>
            <a:ext cx="2087575" cy="1783080"/>
          </a:xfrm>
          <a:prstGeom prst="rect">
            <a:avLst/>
          </a:prstGeom>
          <a:noFill/>
        </p:spPr>
        <p:txBody>
          <a:bodyPr wrap="square" lIns="0" rIns="0" tIns="0" bIns="0" anchor="ctr">
            <a:spAutoFit/>
          </a:bodyPr>
          <a:lstStyle/>
          <a:p>
            <a:pPr algn="l">
              <a:lnSpc>
                <a:spcPct val="105000"/>
              </a:lnSpc>
            </a:pPr>
            <a:r>
              <a:rPr sz="1250" b="0" i="0">
                <a:solidFill>
                  <a:srgbClr val="FFFFFF"/>
                </a:solidFill>
                <a:latin typeface="Arial"/>
              </a:rPr>
              <a:t>al día de supervisión directa de la cuadrilla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1 · EL PROBLEMA</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Menos de 4 de cada 10 horas de la jornada son productivas</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M1 · POR QUÉ AWP</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008</a:t>
            </a:r>
          </a:p>
        </p:txBody>
      </p:sp>
      <p:pic>
        <p:nvPicPr>
          <p:cNvPr id="7" name="Picture 6" descr="clock_o.png"/>
          <p:cNvPicPr>
            <a:picLocks noChangeAspect="1"/>
          </p:cNvPicPr>
          <p:nvPr/>
        </p:nvPicPr>
        <p:blipFill>
          <a:blip r:embed="rId2"/>
          <a:stretch>
            <a:fillRect/>
          </a:stretch>
        </p:blipFill>
        <p:spPr>
          <a:xfrm>
            <a:off x="548640" y="1965960"/>
            <a:ext cx="548640" cy="548640"/>
          </a:xfrm>
          <a:prstGeom prst="rect">
            <a:avLst/>
          </a:prstGeom>
        </p:spPr>
      </p:pic>
      <p:sp>
        <p:nvSpPr>
          <p:cNvPr id="8" name="TextBox 7"/>
          <p:cNvSpPr txBox="1"/>
          <p:nvPr/>
        </p:nvSpPr>
        <p:spPr>
          <a:xfrm>
            <a:off x="548640" y="2514600"/>
            <a:ext cx="6035040" cy="1737360"/>
          </a:xfrm>
          <a:prstGeom prst="rect">
            <a:avLst/>
          </a:prstGeom>
          <a:noFill/>
        </p:spPr>
        <p:txBody>
          <a:bodyPr wrap="square" lIns="0" rIns="0" tIns="0" bIns="0" anchor="ctr">
            <a:spAutoFit/>
          </a:bodyPr>
          <a:lstStyle/>
          <a:p>
            <a:pPr algn="l"/>
            <a:r>
              <a:rPr sz="12000" b="1" i="0">
                <a:solidFill>
                  <a:srgbClr val="FF6600"/>
                </a:solidFill>
                <a:latin typeface="Arial"/>
              </a:rPr>
              <a:t>3,7 h</a:t>
            </a:r>
          </a:p>
        </p:txBody>
      </p:sp>
      <p:sp>
        <p:nvSpPr>
          <p:cNvPr id="9" name="TextBox 8"/>
          <p:cNvSpPr txBox="1"/>
          <p:nvPr/>
        </p:nvSpPr>
        <p:spPr>
          <a:xfrm>
            <a:off x="548640" y="4389120"/>
            <a:ext cx="5760720" cy="411480"/>
          </a:xfrm>
          <a:prstGeom prst="rect">
            <a:avLst/>
          </a:prstGeom>
          <a:noFill/>
        </p:spPr>
        <p:txBody>
          <a:bodyPr wrap="square" lIns="0" rIns="0" tIns="0" bIns="0" anchor="t">
            <a:spAutoFit/>
          </a:bodyPr>
          <a:lstStyle/>
          <a:p>
            <a:pPr algn="l"/>
            <a:r>
              <a:rPr sz="2000" b="1" i="0">
                <a:solidFill>
                  <a:srgbClr val="1A1A1A"/>
                </a:solidFill>
                <a:latin typeface="Arial"/>
              </a:rPr>
              <a:t>de 10 horas en herramientas (37 %)</a:t>
            </a:r>
          </a:p>
        </p:txBody>
      </p:sp>
      <p:sp>
        <p:nvSpPr>
          <p:cNvPr id="10" name="TextBox 9"/>
          <p:cNvSpPr txBox="1"/>
          <p:nvPr/>
        </p:nvSpPr>
        <p:spPr>
          <a:xfrm>
            <a:off x="548640" y="4892040"/>
            <a:ext cx="5669279" cy="1188720"/>
          </a:xfrm>
          <a:prstGeom prst="rect">
            <a:avLst/>
          </a:prstGeom>
          <a:noFill/>
        </p:spPr>
        <p:txBody>
          <a:bodyPr wrap="square" lIns="0" rIns="0" tIns="0" bIns="0" anchor="t">
            <a:spAutoFit/>
          </a:bodyPr>
          <a:lstStyle/>
          <a:p>
            <a:pPr algn="l">
              <a:lnSpc>
                <a:spcPct val="110000"/>
              </a:lnSpc>
            </a:pPr>
            <a:r>
              <a:rPr sz="1400" b="0" i="0">
                <a:solidFill>
                  <a:srgbClr val="6D6E71"/>
                </a:solidFill>
                <a:latin typeface="Arial"/>
              </a:rPr>
              <a:t>El resto se pierde en esperas, traslados, búsqueda de materiales e información y pausas.</a:t>
            </a:r>
          </a:p>
        </p:txBody>
      </p:sp>
      <p:sp>
        <p:nvSpPr>
          <p:cNvPr id="11" name="Rectangle 10"/>
          <p:cNvSpPr/>
          <p:nvPr/>
        </p:nvSpPr>
        <p:spPr>
          <a:xfrm>
            <a:off x="6949440" y="1828800"/>
            <a:ext cx="4693615" cy="20574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69479" y="2011680"/>
            <a:ext cx="2011680" cy="1691640"/>
          </a:xfrm>
          <a:prstGeom prst="rect">
            <a:avLst/>
          </a:prstGeom>
          <a:noFill/>
        </p:spPr>
        <p:txBody>
          <a:bodyPr wrap="square" lIns="0" rIns="0" tIns="0" bIns="0" anchor="ctr">
            <a:spAutoFit/>
          </a:bodyPr>
          <a:lstStyle/>
          <a:p>
            <a:pPr algn="l"/>
            <a:r>
              <a:rPr sz="3000" b="1" i="0">
                <a:solidFill>
                  <a:srgbClr val="FF9955"/>
                </a:solidFill>
                <a:latin typeface="Arial"/>
              </a:rPr>
              <a:t>6,3 h</a:t>
            </a:r>
          </a:p>
        </p:txBody>
      </p:sp>
      <p:sp>
        <p:nvSpPr>
          <p:cNvPr id="13" name="TextBox 12"/>
          <p:cNvSpPr txBox="1"/>
          <p:nvPr/>
        </p:nvSpPr>
        <p:spPr>
          <a:xfrm>
            <a:off x="9326880" y="1965960"/>
            <a:ext cx="2087575" cy="1783080"/>
          </a:xfrm>
          <a:prstGeom prst="rect">
            <a:avLst/>
          </a:prstGeom>
          <a:noFill/>
        </p:spPr>
        <p:txBody>
          <a:bodyPr wrap="square" lIns="0" rIns="0" tIns="0" bIns="0" anchor="ctr">
            <a:spAutoFit/>
          </a:bodyPr>
          <a:lstStyle/>
          <a:p>
            <a:pPr algn="l">
              <a:lnSpc>
                <a:spcPct val="105000"/>
              </a:lnSpc>
            </a:pPr>
            <a:r>
              <a:rPr sz="1250" b="0" i="0">
                <a:solidFill>
                  <a:srgbClr val="FFFFFF"/>
                </a:solidFill>
                <a:latin typeface="Arial"/>
              </a:rPr>
              <a:t>sin herramientas por trabajador y día en proyectos tradicionales</a:t>
            </a:r>
          </a:p>
        </p:txBody>
      </p:sp>
      <p:sp>
        <p:nvSpPr>
          <p:cNvPr id="14" name="Rectangle 13"/>
          <p:cNvSpPr/>
          <p:nvPr/>
        </p:nvSpPr>
        <p:spPr>
          <a:xfrm>
            <a:off x="6949440" y="4114800"/>
            <a:ext cx="4693615" cy="20574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269479" y="4297680"/>
            <a:ext cx="2011680" cy="1691640"/>
          </a:xfrm>
          <a:prstGeom prst="rect">
            <a:avLst/>
          </a:prstGeom>
          <a:noFill/>
        </p:spPr>
        <p:txBody>
          <a:bodyPr wrap="square" lIns="0" rIns="0" tIns="0" bIns="0" anchor="ctr">
            <a:spAutoFit/>
          </a:bodyPr>
          <a:lstStyle/>
          <a:p>
            <a:pPr algn="l"/>
            <a:r>
              <a:rPr sz="3000" b="1" i="0">
                <a:solidFill>
                  <a:srgbClr val="FF9955"/>
                </a:solidFill>
                <a:latin typeface="Arial"/>
              </a:rPr>
              <a:t>4,6 h</a:t>
            </a:r>
          </a:p>
        </p:txBody>
      </p:sp>
      <p:sp>
        <p:nvSpPr>
          <p:cNvPr id="16" name="TextBox 15"/>
          <p:cNvSpPr txBox="1"/>
          <p:nvPr/>
        </p:nvSpPr>
        <p:spPr>
          <a:xfrm>
            <a:off x="9326880" y="4251960"/>
            <a:ext cx="2087575" cy="1783080"/>
          </a:xfrm>
          <a:prstGeom prst="rect">
            <a:avLst/>
          </a:prstGeom>
          <a:noFill/>
        </p:spPr>
        <p:txBody>
          <a:bodyPr wrap="square" lIns="0" rIns="0" tIns="0" bIns="0" anchor="ctr">
            <a:spAutoFit/>
          </a:bodyPr>
          <a:lstStyle/>
          <a:p>
            <a:pPr algn="l">
              <a:lnSpc>
                <a:spcPct val="105000"/>
              </a:lnSpc>
            </a:pPr>
            <a:r>
              <a:rPr sz="1250" b="0" i="0">
                <a:solidFill>
                  <a:srgbClr val="FFFFFF"/>
                </a:solidFill>
                <a:latin typeface="Arial"/>
              </a:rPr>
              <a:t>en herramientas en proyectos con AWP (46 %)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1 · CAUSAS</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Los retrasos en campo nacen en la oficina</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M1 · POR QUÉ AWP</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009</a:t>
            </a:r>
          </a:p>
        </p:txBody>
      </p:sp>
      <p:sp>
        <p:nvSpPr>
          <p:cNvPr id="7" name="Rectangle 6"/>
          <p:cNvSpPr/>
          <p:nvPr/>
        </p:nvSpPr>
        <p:spPr>
          <a:xfrm>
            <a:off x="548640" y="1828800"/>
            <a:ext cx="4754880" cy="502920"/>
          </a:xfrm>
          <a:prstGeom prst="rect">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building_w.png"/>
          <p:cNvPicPr>
            <a:picLocks noChangeAspect="1"/>
          </p:cNvPicPr>
          <p:nvPr/>
        </p:nvPicPr>
        <p:blipFill>
          <a:blip r:embed="rId2"/>
          <a:stretch>
            <a:fillRect/>
          </a:stretch>
        </p:blipFill>
        <p:spPr>
          <a:xfrm>
            <a:off x="749808" y="1920240"/>
            <a:ext cx="320040" cy="320040"/>
          </a:xfrm>
          <a:prstGeom prst="rect">
            <a:avLst/>
          </a:prstGeom>
        </p:spPr>
      </p:pic>
      <p:sp>
        <p:nvSpPr>
          <p:cNvPr id="9" name="TextBox 8"/>
          <p:cNvSpPr txBox="1"/>
          <p:nvPr/>
        </p:nvSpPr>
        <p:spPr>
          <a:xfrm>
            <a:off x="1234440" y="1828800"/>
            <a:ext cx="3931920" cy="502920"/>
          </a:xfrm>
          <a:prstGeom prst="rect">
            <a:avLst/>
          </a:prstGeom>
          <a:noFill/>
        </p:spPr>
        <p:txBody>
          <a:bodyPr wrap="square" lIns="0" rIns="0" tIns="0" bIns="0" anchor="ctr">
            <a:spAutoFit/>
          </a:bodyPr>
          <a:lstStyle/>
          <a:p>
            <a:pPr algn="l"/>
            <a:r>
              <a:rPr sz="1200" b="1" i="0" spc="200">
                <a:solidFill>
                  <a:srgbClr val="FFFFFF"/>
                </a:solidFill>
                <a:latin typeface="Arial"/>
              </a:rPr>
              <a:t>EN LA OFICINA (CAUSA)</a:t>
            </a:r>
          </a:p>
        </p:txBody>
      </p:sp>
      <p:sp>
        <p:nvSpPr>
          <p:cNvPr id="10" name="Rectangle 9"/>
          <p:cNvSpPr/>
          <p:nvPr/>
        </p:nvSpPr>
        <p:spPr>
          <a:xfrm>
            <a:off x="6888175" y="1828800"/>
            <a:ext cx="4754880" cy="50292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helmet_w.png"/>
          <p:cNvPicPr>
            <a:picLocks noChangeAspect="1"/>
          </p:cNvPicPr>
          <p:nvPr/>
        </p:nvPicPr>
        <p:blipFill>
          <a:blip r:embed="rId3"/>
          <a:stretch>
            <a:fillRect/>
          </a:stretch>
        </p:blipFill>
        <p:spPr>
          <a:xfrm>
            <a:off x="7089343" y="1920240"/>
            <a:ext cx="320040" cy="320040"/>
          </a:xfrm>
          <a:prstGeom prst="rect">
            <a:avLst/>
          </a:prstGeom>
        </p:spPr>
      </p:pic>
      <p:sp>
        <p:nvSpPr>
          <p:cNvPr id="12" name="TextBox 11"/>
          <p:cNvSpPr txBox="1"/>
          <p:nvPr/>
        </p:nvSpPr>
        <p:spPr>
          <a:xfrm>
            <a:off x="7573975" y="1828800"/>
            <a:ext cx="3931920" cy="502920"/>
          </a:xfrm>
          <a:prstGeom prst="rect">
            <a:avLst/>
          </a:prstGeom>
          <a:noFill/>
        </p:spPr>
        <p:txBody>
          <a:bodyPr wrap="square" lIns="0" rIns="0" tIns="0" bIns="0" anchor="ctr">
            <a:spAutoFit/>
          </a:bodyPr>
          <a:lstStyle/>
          <a:p>
            <a:pPr algn="l"/>
            <a:r>
              <a:rPr sz="1200" b="1" i="0" spc="200">
                <a:solidFill>
                  <a:srgbClr val="FFFFFF"/>
                </a:solidFill>
                <a:latin typeface="Arial"/>
              </a:rPr>
              <a:t>EN EL CAMPO (SÍNTOMA)</a:t>
            </a:r>
          </a:p>
        </p:txBody>
      </p:sp>
      <p:sp>
        <p:nvSpPr>
          <p:cNvPr id="13" name="Rectangle 12"/>
          <p:cNvSpPr/>
          <p:nvPr/>
        </p:nvSpPr>
        <p:spPr>
          <a:xfrm>
            <a:off x="548640" y="2468880"/>
            <a:ext cx="4754880" cy="56464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77240" y="2468880"/>
            <a:ext cx="4343400" cy="564642"/>
          </a:xfrm>
          <a:prstGeom prst="rect">
            <a:avLst/>
          </a:prstGeom>
          <a:noFill/>
        </p:spPr>
        <p:txBody>
          <a:bodyPr wrap="square" lIns="0" rIns="0" tIns="0" bIns="0" anchor="ctr">
            <a:spAutoFit/>
          </a:bodyPr>
          <a:lstStyle/>
          <a:p>
            <a:pPr algn="l"/>
            <a:r>
              <a:rPr sz="1300" b="0" i="0">
                <a:solidFill>
                  <a:srgbClr val="1A1A1A"/>
                </a:solidFill>
                <a:latin typeface="Arial"/>
              </a:rPr>
              <a:t>Ingeniería emite planos en su propio orden</a:t>
            </a:r>
          </a:p>
        </p:txBody>
      </p:sp>
      <p:sp>
        <p:nvSpPr>
          <p:cNvPr id="15" name="Rectangle 14"/>
          <p:cNvSpPr/>
          <p:nvPr/>
        </p:nvSpPr>
        <p:spPr>
          <a:xfrm>
            <a:off x="6888175" y="2468880"/>
            <a:ext cx="4754880" cy="56464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116775" y="2468880"/>
            <a:ext cx="4343400" cy="564642"/>
          </a:xfrm>
          <a:prstGeom prst="rect">
            <a:avLst/>
          </a:prstGeom>
          <a:noFill/>
        </p:spPr>
        <p:txBody>
          <a:bodyPr wrap="square" lIns="0" rIns="0" tIns="0" bIns="0" anchor="ctr">
            <a:spAutoFit/>
          </a:bodyPr>
          <a:lstStyle/>
          <a:p>
            <a:pPr algn="l"/>
            <a:r>
              <a:rPr sz="1300" b="0" i="0">
                <a:solidFill>
                  <a:srgbClr val="1A1A1A"/>
                </a:solidFill>
                <a:latin typeface="Arial"/>
              </a:rPr>
              <a:t>La cuadrilla espera información o trabaja fuera de secuencia</a:t>
            </a:r>
          </a:p>
        </p:txBody>
      </p:sp>
      <p:cxnSp>
        <p:nvCxnSpPr>
          <p:cNvPr id="17" name="Connector 16"/>
          <p:cNvCxnSpPr/>
          <p:nvPr/>
        </p:nvCxnSpPr>
        <p:spPr>
          <a:xfrm>
            <a:off x="5440680" y="2751201"/>
            <a:ext cx="1310335"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48640" y="3161538"/>
            <a:ext cx="4754880" cy="56464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77240" y="3161538"/>
            <a:ext cx="4343400" cy="564642"/>
          </a:xfrm>
          <a:prstGeom prst="rect">
            <a:avLst/>
          </a:prstGeom>
          <a:noFill/>
        </p:spPr>
        <p:txBody>
          <a:bodyPr wrap="square" lIns="0" rIns="0" tIns="0" bIns="0" anchor="ctr">
            <a:spAutoFit/>
          </a:bodyPr>
          <a:lstStyle/>
          <a:p>
            <a:pPr algn="l"/>
            <a:r>
              <a:rPr sz="1300" b="0" i="0">
                <a:solidFill>
                  <a:srgbClr val="1A1A1A"/>
                </a:solidFill>
                <a:latin typeface="Arial"/>
              </a:rPr>
              <a:t>Compras sin la secuencia de construcción</a:t>
            </a:r>
          </a:p>
        </p:txBody>
      </p:sp>
      <p:sp>
        <p:nvSpPr>
          <p:cNvPr id="20" name="Rectangle 19"/>
          <p:cNvSpPr/>
          <p:nvPr/>
        </p:nvSpPr>
        <p:spPr>
          <a:xfrm>
            <a:off x="6888175" y="3161538"/>
            <a:ext cx="4754880" cy="56464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116775" y="3161538"/>
            <a:ext cx="4343400" cy="564642"/>
          </a:xfrm>
          <a:prstGeom prst="rect">
            <a:avLst/>
          </a:prstGeom>
          <a:noFill/>
        </p:spPr>
        <p:txBody>
          <a:bodyPr wrap="square" lIns="0" rIns="0" tIns="0" bIns="0" anchor="ctr">
            <a:spAutoFit/>
          </a:bodyPr>
          <a:lstStyle/>
          <a:p>
            <a:pPr algn="l"/>
            <a:r>
              <a:rPr sz="1300" b="0" i="0">
                <a:solidFill>
                  <a:srgbClr val="1A1A1A"/>
                </a:solidFill>
                <a:latin typeface="Arial"/>
              </a:rPr>
              <a:t>Faltan materiales en el frente de trabajo</a:t>
            </a:r>
          </a:p>
        </p:txBody>
      </p:sp>
      <p:cxnSp>
        <p:nvCxnSpPr>
          <p:cNvPr id="22" name="Connector 21"/>
          <p:cNvCxnSpPr/>
          <p:nvPr/>
        </p:nvCxnSpPr>
        <p:spPr>
          <a:xfrm>
            <a:off x="5440680" y="3443859"/>
            <a:ext cx="1310335"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48640" y="3854196"/>
            <a:ext cx="4754880" cy="56464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77240" y="3854196"/>
            <a:ext cx="4343400" cy="564642"/>
          </a:xfrm>
          <a:prstGeom prst="rect">
            <a:avLst/>
          </a:prstGeom>
          <a:noFill/>
        </p:spPr>
        <p:txBody>
          <a:bodyPr wrap="square" lIns="0" rIns="0" tIns="0" bIns="0" anchor="ctr">
            <a:spAutoFit/>
          </a:bodyPr>
          <a:lstStyle/>
          <a:p>
            <a:pPr algn="l"/>
            <a:r>
              <a:rPr sz="1300" b="0" i="0">
                <a:solidFill>
                  <a:srgbClr val="1A1A1A"/>
                </a:solidFill>
                <a:latin typeface="Arial"/>
              </a:rPr>
              <a:t>Andamios y equipos sin planificar</a:t>
            </a:r>
          </a:p>
        </p:txBody>
      </p:sp>
      <p:sp>
        <p:nvSpPr>
          <p:cNvPr id="25" name="Rectangle 24"/>
          <p:cNvSpPr/>
          <p:nvPr/>
        </p:nvSpPr>
        <p:spPr>
          <a:xfrm>
            <a:off x="6888175" y="3854196"/>
            <a:ext cx="4754880" cy="56464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116775" y="3854196"/>
            <a:ext cx="4343400" cy="564642"/>
          </a:xfrm>
          <a:prstGeom prst="rect">
            <a:avLst/>
          </a:prstGeom>
          <a:noFill/>
        </p:spPr>
        <p:txBody>
          <a:bodyPr wrap="square" lIns="0" rIns="0" tIns="0" bIns="0" anchor="ctr">
            <a:spAutoFit/>
          </a:bodyPr>
          <a:lstStyle/>
          <a:p>
            <a:pPr algn="l"/>
            <a:r>
              <a:rPr sz="1300" b="0" i="0">
                <a:solidFill>
                  <a:srgbClr val="1A1A1A"/>
                </a:solidFill>
                <a:latin typeface="Arial"/>
              </a:rPr>
              <a:t>Horas perdidas esperando acceso o grúas</a:t>
            </a:r>
          </a:p>
        </p:txBody>
      </p:sp>
      <p:cxnSp>
        <p:nvCxnSpPr>
          <p:cNvPr id="27" name="Connector 26"/>
          <p:cNvCxnSpPr/>
          <p:nvPr/>
        </p:nvCxnSpPr>
        <p:spPr>
          <a:xfrm>
            <a:off x="5440680" y="4136517"/>
            <a:ext cx="1310335"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548640" y="4546854"/>
            <a:ext cx="4754880" cy="56464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77240" y="4546854"/>
            <a:ext cx="4343400" cy="564642"/>
          </a:xfrm>
          <a:prstGeom prst="rect">
            <a:avLst/>
          </a:prstGeom>
          <a:noFill/>
        </p:spPr>
        <p:txBody>
          <a:bodyPr wrap="square" lIns="0" rIns="0" tIns="0" bIns="0" anchor="ctr">
            <a:spAutoFit/>
          </a:bodyPr>
          <a:lstStyle/>
          <a:p>
            <a:pPr algn="l"/>
            <a:r>
              <a:rPr sz="1300" b="0" i="0">
                <a:solidFill>
                  <a:srgbClr val="1A1A1A"/>
                </a:solidFill>
                <a:latin typeface="Arial"/>
              </a:rPr>
              <a:t>Revisiones de planos sin control</a:t>
            </a:r>
          </a:p>
        </p:txBody>
      </p:sp>
      <p:sp>
        <p:nvSpPr>
          <p:cNvPr id="30" name="Rectangle 29"/>
          <p:cNvSpPr/>
          <p:nvPr/>
        </p:nvSpPr>
        <p:spPr>
          <a:xfrm>
            <a:off x="6888175" y="4546854"/>
            <a:ext cx="4754880" cy="56464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116775" y="4546854"/>
            <a:ext cx="4343400" cy="564642"/>
          </a:xfrm>
          <a:prstGeom prst="rect">
            <a:avLst/>
          </a:prstGeom>
          <a:noFill/>
        </p:spPr>
        <p:txBody>
          <a:bodyPr wrap="square" lIns="0" rIns="0" tIns="0" bIns="0" anchor="ctr">
            <a:spAutoFit/>
          </a:bodyPr>
          <a:lstStyle/>
          <a:p>
            <a:pPr algn="l"/>
            <a:r>
              <a:rPr sz="1300" b="0" i="0">
                <a:solidFill>
                  <a:srgbClr val="1A1A1A"/>
                </a:solidFill>
                <a:latin typeface="Arial"/>
              </a:rPr>
              <a:t>Consultas técnicas (RFI) y retrabajo en el frente</a:t>
            </a:r>
          </a:p>
        </p:txBody>
      </p:sp>
      <p:cxnSp>
        <p:nvCxnSpPr>
          <p:cNvPr id="32" name="Connector 31"/>
          <p:cNvCxnSpPr/>
          <p:nvPr/>
        </p:nvCxnSpPr>
        <p:spPr>
          <a:xfrm>
            <a:off x="5440680" y="4829175"/>
            <a:ext cx="1310335"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flag_o.png"/>
          <p:cNvPicPr>
            <a:picLocks noChangeAspect="1"/>
          </p:cNvPicPr>
          <p:nvPr/>
        </p:nvPicPr>
        <p:blipFill>
          <a:blip r:embed="rId4"/>
          <a:stretch>
            <a:fillRect/>
          </a:stretch>
        </p:blipFill>
        <p:spPr>
          <a:xfrm>
            <a:off x="822959" y="5660136"/>
            <a:ext cx="365760" cy="365760"/>
          </a:xfrm>
          <a:prstGeom prst="rect">
            <a:avLst/>
          </a:prstGeom>
        </p:spPr>
      </p:pic>
      <p:sp>
        <p:nvSpPr>
          <p:cNvPr id="35" name="TextBox 34"/>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Workface Planning ataca el síntoma en campo; AWP ataca la causa en la oficina.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1 · HABILITADORES</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El trabajador ejecuta cuando tiene información, herramientas, materiales, acceso y voluntad</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M1 · POR QUÉ AWP</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010</a:t>
            </a:r>
          </a:p>
        </p:txBody>
      </p:sp>
      <p:sp>
        <p:nvSpPr>
          <p:cNvPr id="7" name="Rectangle 6"/>
          <p:cNvSpPr/>
          <p:nvPr/>
        </p:nvSpPr>
        <p:spPr>
          <a:xfrm>
            <a:off x="548640" y="1828800"/>
            <a:ext cx="2014057" cy="24688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_o.png"/>
          <p:cNvPicPr>
            <a:picLocks noChangeAspect="1"/>
          </p:cNvPicPr>
          <p:nvPr/>
        </p:nvPicPr>
        <p:blipFill>
          <a:blip r:embed="rId2"/>
          <a:stretch>
            <a:fillRect/>
          </a:stretch>
        </p:blipFill>
        <p:spPr>
          <a:xfrm>
            <a:off x="822959" y="2084832"/>
            <a:ext cx="457200" cy="457200"/>
          </a:xfrm>
          <a:prstGeom prst="rect">
            <a:avLst/>
          </a:prstGeom>
        </p:spPr>
      </p:pic>
      <p:sp>
        <p:nvSpPr>
          <p:cNvPr id="9" name="TextBox 8"/>
          <p:cNvSpPr txBox="1"/>
          <p:nvPr/>
        </p:nvSpPr>
        <p:spPr>
          <a:xfrm>
            <a:off x="822959" y="2706624"/>
            <a:ext cx="1511137"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Información</a:t>
            </a:r>
          </a:p>
        </p:txBody>
      </p:sp>
      <p:sp>
        <p:nvSpPr>
          <p:cNvPr id="10" name="TextBox 9"/>
          <p:cNvSpPr txBox="1"/>
          <p:nvPr/>
        </p:nvSpPr>
        <p:spPr>
          <a:xfrm>
            <a:off x="822959" y="3328416"/>
            <a:ext cx="1511137" cy="832103"/>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Planos IFC vigentes y alcance claro</a:t>
            </a:r>
          </a:p>
        </p:txBody>
      </p:sp>
      <p:sp>
        <p:nvSpPr>
          <p:cNvPr id="11" name="Rectangle 10"/>
          <p:cNvSpPr/>
          <p:nvPr/>
        </p:nvSpPr>
        <p:spPr>
          <a:xfrm>
            <a:off x="2818729" y="1828800"/>
            <a:ext cx="2014057" cy="24688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wrench_o.png"/>
          <p:cNvPicPr>
            <a:picLocks noChangeAspect="1"/>
          </p:cNvPicPr>
          <p:nvPr/>
        </p:nvPicPr>
        <p:blipFill>
          <a:blip r:embed="rId3"/>
          <a:stretch>
            <a:fillRect/>
          </a:stretch>
        </p:blipFill>
        <p:spPr>
          <a:xfrm>
            <a:off x="3093049" y="2084832"/>
            <a:ext cx="457200" cy="457200"/>
          </a:xfrm>
          <a:prstGeom prst="rect">
            <a:avLst/>
          </a:prstGeom>
        </p:spPr>
      </p:pic>
      <p:sp>
        <p:nvSpPr>
          <p:cNvPr id="13" name="TextBox 12"/>
          <p:cNvSpPr txBox="1"/>
          <p:nvPr/>
        </p:nvSpPr>
        <p:spPr>
          <a:xfrm>
            <a:off x="3093049" y="2706624"/>
            <a:ext cx="1511137"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Herramientas</a:t>
            </a:r>
          </a:p>
        </p:txBody>
      </p:sp>
      <p:sp>
        <p:nvSpPr>
          <p:cNvPr id="14" name="TextBox 13"/>
          <p:cNvSpPr txBox="1"/>
          <p:nvPr/>
        </p:nvSpPr>
        <p:spPr>
          <a:xfrm>
            <a:off x="3093049" y="3328416"/>
            <a:ext cx="1511137" cy="832103"/>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Equipos y consumibles en el frente</a:t>
            </a:r>
          </a:p>
        </p:txBody>
      </p:sp>
      <p:sp>
        <p:nvSpPr>
          <p:cNvPr id="15" name="Rectangle 14"/>
          <p:cNvSpPr/>
          <p:nvPr/>
        </p:nvSpPr>
        <p:spPr>
          <a:xfrm>
            <a:off x="5088818" y="1828800"/>
            <a:ext cx="2014057" cy="24688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boxes_o.png"/>
          <p:cNvPicPr>
            <a:picLocks noChangeAspect="1"/>
          </p:cNvPicPr>
          <p:nvPr/>
        </p:nvPicPr>
        <p:blipFill>
          <a:blip r:embed="rId4"/>
          <a:stretch>
            <a:fillRect/>
          </a:stretch>
        </p:blipFill>
        <p:spPr>
          <a:xfrm>
            <a:off x="5363138" y="2084832"/>
            <a:ext cx="457200" cy="457200"/>
          </a:xfrm>
          <a:prstGeom prst="rect">
            <a:avLst/>
          </a:prstGeom>
        </p:spPr>
      </p:pic>
      <p:sp>
        <p:nvSpPr>
          <p:cNvPr id="17" name="TextBox 16"/>
          <p:cNvSpPr txBox="1"/>
          <p:nvPr/>
        </p:nvSpPr>
        <p:spPr>
          <a:xfrm>
            <a:off x="5363138" y="2706624"/>
            <a:ext cx="1511137"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Materiales</a:t>
            </a:r>
          </a:p>
        </p:txBody>
      </p:sp>
      <p:sp>
        <p:nvSpPr>
          <p:cNvPr id="18" name="TextBox 17"/>
          <p:cNvSpPr txBox="1"/>
          <p:nvPr/>
        </p:nvSpPr>
        <p:spPr>
          <a:xfrm>
            <a:off x="5363138" y="3328416"/>
            <a:ext cx="1511137" cy="832103"/>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Completos y a mano antes del inicio</a:t>
            </a:r>
          </a:p>
        </p:txBody>
      </p:sp>
      <p:sp>
        <p:nvSpPr>
          <p:cNvPr id="19" name="Rectangle 18"/>
          <p:cNvSpPr/>
          <p:nvPr/>
        </p:nvSpPr>
        <p:spPr>
          <a:xfrm>
            <a:off x="7358908" y="1828800"/>
            <a:ext cx="2014057" cy="24688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road_o.png"/>
          <p:cNvPicPr>
            <a:picLocks noChangeAspect="1"/>
          </p:cNvPicPr>
          <p:nvPr/>
        </p:nvPicPr>
        <p:blipFill>
          <a:blip r:embed="rId5"/>
          <a:stretch>
            <a:fillRect/>
          </a:stretch>
        </p:blipFill>
        <p:spPr>
          <a:xfrm>
            <a:off x="7633228" y="2084832"/>
            <a:ext cx="457200" cy="457200"/>
          </a:xfrm>
          <a:prstGeom prst="rect">
            <a:avLst/>
          </a:prstGeom>
        </p:spPr>
      </p:pic>
      <p:sp>
        <p:nvSpPr>
          <p:cNvPr id="21" name="TextBox 20"/>
          <p:cNvSpPr txBox="1"/>
          <p:nvPr/>
        </p:nvSpPr>
        <p:spPr>
          <a:xfrm>
            <a:off x="7633228" y="2706624"/>
            <a:ext cx="1511137"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Acceso</a:t>
            </a:r>
          </a:p>
        </p:txBody>
      </p:sp>
      <p:sp>
        <p:nvSpPr>
          <p:cNvPr id="22" name="TextBox 21"/>
          <p:cNvSpPr txBox="1"/>
          <p:nvPr/>
        </p:nvSpPr>
        <p:spPr>
          <a:xfrm>
            <a:off x="7633228" y="3328416"/>
            <a:ext cx="1511137" cy="832103"/>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Andamios, permisos y frente libre</a:t>
            </a:r>
          </a:p>
        </p:txBody>
      </p:sp>
      <p:sp>
        <p:nvSpPr>
          <p:cNvPr id="23" name="Rectangle 22"/>
          <p:cNvSpPr/>
          <p:nvPr/>
        </p:nvSpPr>
        <p:spPr>
          <a:xfrm>
            <a:off x="9628997" y="1828800"/>
            <a:ext cx="2014057" cy="24688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thumbsup_o.png"/>
          <p:cNvPicPr>
            <a:picLocks noChangeAspect="1"/>
          </p:cNvPicPr>
          <p:nvPr/>
        </p:nvPicPr>
        <p:blipFill>
          <a:blip r:embed="rId6"/>
          <a:stretch>
            <a:fillRect/>
          </a:stretch>
        </p:blipFill>
        <p:spPr>
          <a:xfrm>
            <a:off x="9903317" y="2084832"/>
            <a:ext cx="457200" cy="457200"/>
          </a:xfrm>
          <a:prstGeom prst="rect">
            <a:avLst/>
          </a:prstGeom>
        </p:spPr>
      </p:pic>
      <p:sp>
        <p:nvSpPr>
          <p:cNvPr id="25" name="TextBox 24"/>
          <p:cNvSpPr txBox="1"/>
          <p:nvPr/>
        </p:nvSpPr>
        <p:spPr>
          <a:xfrm>
            <a:off x="9903317" y="2706624"/>
            <a:ext cx="1511137"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Voluntad</a:t>
            </a:r>
          </a:p>
        </p:txBody>
      </p:sp>
      <p:sp>
        <p:nvSpPr>
          <p:cNvPr id="26" name="TextBox 25"/>
          <p:cNvSpPr txBox="1"/>
          <p:nvPr/>
        </p:nvSpPr>
        <p:spPr>
          <a:xfrm>
            <a:off x="9903317" y="3328416"/>
            <a:ext cx="1511137" cy="832103"/>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Una cuadrilla motivada y respaldada</a:t>
            </a:r>
          </a:p>
        </p:txBody>
      </p:sp>
      <p:sp>
        <p:nvSpPr>
          <p:cNvPr id="27" name="Rectangle 26"/>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lag_o.png"/>
          <p:cNvPicPr>
            <a:picLocks noChangeAspect="1"/>
          </p:cNvPicPr>
          <p:nvPr/>
        </p:nvPicPr>
        <p:blipFill>
          <a:blip r:embed="rId7"/>
          <a:stretch>
            <a:fillRect/>
          </a:stretch>
        </p:blipFill>
        <p:spPr>
          <a:xfrm>
            <a:off x="822959" y="5660136"/>
            <a:ext cx="365760" cy="365760"/>
          </a:xfrm>
          <a:prstGeom prst="rect">
            <a:avLst/>
          </a:prstGeom>
        </p:spPr>
      </p:pic>
      <p:sp>
        <p:nvSpPr>
          <p:cNvPr id="29" name="TextBox 28"/>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La gerencia debe asegurar las cuatro primeras; la voluntad crece cuando ellas están resueltas.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1 · POR QUÉ NO BASTA WFP</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Workface Planning (WFP) solo no basta: llega tarde</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M1 · POR QUÉ AWP</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011</a:t>
            </a:r>
          </a:p>
        </p:txBody>
      </p:sp>
      <p:sp>
        <p:nvSpPr>
          <p:cNvPr id="7" name="Rectangle 6"/>
          <p:cNvSpPr/>
          <p:nvPr/>
        </p:nvSpPr>
        <p:spPr>
          <a:xfrm>
            <a:off x="548640" y="1828800"/>
            <a:ext cx="5396331" cy="434340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48640" y="1828800"/>
            <a:ext cx="5396331" cy="502920"/>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1828800"/>
            <a:ext cx="4847691" cy="502920"/>
          </a:xfrm>
          <a:prstGeom prst="rect">
            <a:avLst/>
          </a:prstGeom>
          <a:noFill/>
        </p:spPr>
        <p:txBody>
          <a:bodyPr wrap="square" lIns="0" rIns="0" tIns="0" bIns="0" anchor="ctr">
            <a:spAutoFit/>
          </a:bodyPr>
          <a:lstStyle/>
          <a:p>
            <a:pPr algn="l"/>
            <a:r>
              <a:rPr sz="1200" b="1" i="0" spc="200">
                <a:solidFill>
                  <a:srgbClr val="FFFFFF"/>
                </a:solidFill>
                <a:latin typeface="Arial"/>
              </a:rPr>
              <a:t>SOLO WFP</a:t>
            </a:r>
          </a:p>
        </p:txBody>
      </p:sp>
      <p:sp>
        <p:nvSpPr>
          <p:cNvPr id="10" name="Oval 9"/>
          <p:cNvSpPr/>
          <p:nvPr/>
        </p:nvSpPr>
        <p:spPr>
          <a:xfrm>
            <a:off x="932688" y="2670048"/>
            <a:ext cx="155448" cy="155448"/>
          </a:xfrm>
          <a:prstGeom prst="ellipse">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17319" y="2542032"/>
            <a:ext cx="4253331" cy="274320"/>
          </a:xfrm>
          <a:prstGeom prst="rect">
            <a:avLst/>
          </a:prstGeom>
          <a:noFill/>
        </p:spPr>
        <p:txBody>
          <a:bodyPr wrap="square" lIns="0" rIns="0" tIns="0" bIns="0" anchor="t">
            <a:spAutoFit/>
          </a:bodyPr>
          <a:lstStyle/>
          <a:p>
            <a:pPr algn="l"/>
            <a:r>
              <a:rPr sz="1400" b="1" i="0">
                <a:solidFill>
                  <a:srgbClr val="1A1A1A"/>
                </a:solidFill>
                <a:latin typeface="Arial"/>
              </a:rPr>
              <a:t>Se planifica en campo</a:t>
            </a:r>
          </a:p>
        </p:txBody>
      </p:sp>
      <p:sp>
        <p:nvSpPr>
          <p:cNvPr id="12" name="TextBox 11"/>
          <p:cNvSpPr txBox="1"/>
          <p:nvPr/>
        </p:nvSpPr>
        <p:spPr>
          <a:xfrm>
            <a:off x="1417319" y="2834639"/>
            <a:ext cx="4253331" cy="548640"/>
          </a:xfrm>
          <a:prstGeom prst="rect">
            <a:avLst/>
          </a:prstGeom>
          <a:noFill/>
        </p:spPr>
        <p:txBody>
          <a:bodyPr wrap="square" lIns="0" rIns="0" tIns="0" bIns="0" anchor="t">
            <a:spAutoFit/>
          </a:bodyPr>
          <a:lstStyle/>
          <a:p>
            <a:pPr algn="l"/>
            <a:r>
              <a:rPr sz="1150" b="0" i="0">
                <a:solidFill>
                  <a:srgbClr val="6D6E71"/>
                </a:solidFill>
                <a:latin typeface="Arial"/>
              </a:rPr>
              <a:t>El planificador arma paquetes con lo que llega</a:t>
            </a:r>
          </a:p>
        </p:txBody>
      </p:sp>
      <p:sp>
        <p:nvSpPr>
          <p:cNvPr id="13" name="Oval 12"/>
          <p:cNvSpPr/>
          <p:nvPr/>
        </p:nvSpPr>
        <p:spPr>
          <a:xfrm>
            <a:off x="932688" y="3538728"/>
            <a:ext cx="155448" cy="155448"/>
          </a:xfrm>
          <a:prstGeom prst="ellipse">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417319" y="3410712"/>
            <a:ext cx="4253331" cy="274320"/>
          </a:xfrm>
          <a:prstGeom prst="rect">
            <a:avLst/>
          </a:prstGeom>
          <a:noFill/>
        </p:spPr>
        <p:txBody>
          <a:bodyPr wrap="square" lIns="0" rIns="0" tIns="0" bIns="0" anchor="t">
            <a:spAutoFit/>
          </a:bodyPr>
          <a:lstStyle/>
          <a:p>
            <a:pPr algn="l"/>
            <a:r>
              <a:rPr sz="1400" b="1" i="0">
                <a:solidFill>
                  <a:srgbClr val="1A1A1A"/>
                </a:solidFill>
                <a:latin typeface="Arial"/>
              </a:rPr>
              <a:t>Ingeniería y Compras siguen su lógica</a:t>
            </a:r>
          </a:p>
        </p:txBody>
      </p:sp>
      <p:sp>
        <p:nvSpPr>
          <p:cNvPr id="15" name="TextBox 14"/>
          <p:cNvSpPr txBox="1"/>
          <p:nvPr/>
        </p:nvSpPr>
        <p:spPr>
          <a:xfrm>
            <a:off x="1417319" y="3703320"/>
            <a:ext cx="4253331" cy="548640"/>
          </a:xfrm>
          <a:prstGeom prst="rect">
            <a:avLst/>
          </a:prstGeom>
          <a:noFill/>
        </p:spPr>
        <p:txBody>
          <a:bodyPr wrap="square" lIns="0" rIns="0" tIns="0" bIns="0" anchor="t">
            <a:spAutoFit/>
          </a:bodyPr>
          <a:lstStyle/>
          <a:p>
            <a:pPr algn="l"/>
            <a:r>
              <a:rPr sz="1150" b="0" i="0">
                <a:solidFill>
                  <a:srgbClr val="6D6E71"/>
                </a:solidFill>
                <a:latin typeface="Arial"/>
              </a:rPr>
              <a:t>Los paquetes quedan incompletos o esperan</a:t>
            </a:r>
          </a:p>
        </p:txBody>
      </p:sp>
      <p:sp>
        <p:nvSpPr>
          <p:cNvPr id="16" name="Oval 15"/>
          <p:cNvSpPr/>
          <p:nvPr/>
        </p:nvSpPr>
        <p:spPr>
          <a:xfrm>
            <a:off x="932688" y="4407408"/>
            <a:ext cx="155448" cy="155448"/>
          </a:xfrm>
          <a:prstGeom prst="ellipse">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417319" y="4279392"/>
            <a:ext cx="4253331" cy="274320"/>
          </a:xfrm>
          <a:prstGeom prst="rect">
            <a:avLst/>
          </a:prstGeom>
          <a:noFill/>
        </p:spPr>
        <p:txBody>
          <a:bodyPr wrap="square" lIns="0" rIns="0" tIns="0" bIns="0" anchor="t">
            <a:spAutoFit/>
          </a:bodyPr>
          <a:lstStyle/>
          <a:p>
            <a:pPr algn="l"/>
            <a:r>
              <a:rPr sz="1400" b="1" i="0">
                <a:solidFill>
                  <a:srgbClr val="1A1A1A"/>
                </a:solidFill>
                <a:latin typeface="Arial"/>
              </a:rPr>
              <a:t>Se administra la escasez</a:t>
            </a:r>
          </a:p>
        </p:txBody>
      </p:sp>
      <p:sp>
        <p:nvSpPr>
          <p:cNvPr id="18" name="TextBox 17"/>
          <p:cNvSpPr txBox="1"/>
          <p:nvPr/>
        </p:nvSpPr>
        <p:spPr>
          <a:xfrm>
            <a:off x="1417319" y="4572000"/>
            <a:ext cx="4253331" cy="548640"/>
          </a:xfrm>
          <a:prstGeom prst="rect">
            <a:avLst/>
          </a:prstGeom>
          <a:noFill/>
        </p:spPr>
        <p:txBody>
          <a:bodyPr wrap="square" lIns="0" rIns="0" tIns="0" bIns="0" anchor="t">
            <a:spAutoFit/>
          </a:bodyPr>
          <a:lstStyle/>
          <a:p>
            <a:pPr algn="l"/>
            <a:r>
              <a:rPr sz="1150" b="0" i="0">
                <a:solidFill>
                  <a:srgbClr val="6D6E71"/>
                </a:solidFill>
                <a:latin typeface="Arial"/>
              </a:rPr>
              <a:t>Mejora local, sin tocar la causa</a:t>
            </a:r>
          </a:p>
        </p:txBody>
      </p:sp>
      <p:sp>
        <p:nvSpPr>
          <p:cNvPr id="19" name="Rectangle 18"/>
          <p:cNvSpPr/>
          <p:nvPr/>
        </p:nvSpPr>
        <p:spPr>
          <a:xfrm>
            <a:off x="822959" y="5303520"/>
            <a:ext cx="4847691" cy="640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xmark_g.png"/>
          <p:cNvPicPr>
            <a:picLocks noChangeAspect="1"/>
          </p:cNvPicPr>
          <p:nvPr/>
        </p:nvPicPr>
        <p:blipFill>
          <a:blip r:embed="rId2"/>
          <a:stretch>
            <a:fillRect/>
          </a:stretch>
        </p:blipFill>
        <p:spPr>
          <a:xfrm>
            <a:off x="1005840" y="5440680"/>
            <a:ext cx="365760" cy="365760"/>
          </a:xfrm>
          <a:prstGeom prst="rect">
            <a:avLst/>
          </a:prstGeom>
        </p:spPr>
      </p:pic>
      <p:sp>
        <p:nvSpPr>
          <p:cNvPr id="21" name="TextBox 20"/>
          <p:cNvSpPr txBox="1"/>
          <p:nvPr/>
        </p:nvSpPr>
        <p:spPr>
          <a:xfrm>
            <a:off x="1554480" y="5303520"/>
            <a:ext cx="4024731" cy="640080"/>
          </a:xfrm>
          <a:prstGeom prst="rect">
            <a:avLst/>
          </a:prstGeom>
          <a:noFill/>
        </p:spPr>
        <p:txBody>
          <a:bodyPr wrap="square" lIns="0" rIns="0" tIns="0" bIns="0" anchor="ctr">
            <a:spAutoFit/>
          </a:bodyPr>
          <a:lstStyle/>
          <a:p>
            <a:pPr algn="l"/>
            <a:r>
              <a:rPr sz="1350" b="1" i="0">
                <a:solidFill>
                  <a:srgbClr val="1A1A1A"/>
                </a:solidFill>
                <a:latin typeface="Arial"/>
              </a:rPr>
              <a:t>Mejora limitada al frente de trabajo</a:t>
            </a:r>
          </a:p>
        </p:txBody>
      </p:sp>
      <p:sp>
        <p:nvSpPr>
          <p:cNvPr id="22" name="Rectangle 21"/>
          <p:cNvSpPr/>
          <p:nvPr/>
        </p:nvSpPr>
        <p:spPr>
          <a:xfrm>
            <a:off x="6246723" y="1828800"/>
            <a:ext cx="5396331" cy="434340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246723" y="1828800"/>
            <a:ext cx="5396331" cy="50292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521043" y="1828800"/>
            <a:ext cx="4847691" cy="502920"/>
          </a:xfrm>
          <a:prstGeom prst="rect">
            <a:avLst/>
          </a:prstGeom>
          <a:noFill/>
        </p:spPr>
        <p:txBody>
          <a:bodyPr wrap="square" lIns="0" rIns="0" tIns="0" bIns="0" anchor="ctr">
            <a:spAutoFit/>
          </a:bodyPr>
          <a:lstStyle/>
          <a:p>
            <a:pPr algn="l"/>
            <a:r>
              <a:rPr sz="1200" b="1" i="0" spc="200">
                <a:solidFill>
                  <a:srgbClr val="FFFFFF"/>
                </a:solidFill>
                <a:latin typeface="Arial"/>
              </a:rPr>
              <a:t>AWP (INCLUYE WFP)</a:t>
            </a:r>
          </a:p>
        </p:txBody>
      </p:sp>
      <p:sp>
        <p:nvSpPr>
          <p:cNvPr id="25" name="Oval 24"/>
          <p:cNvSpPr/>
          <p:nvPr/>
        </p:nvSpPr>
        <p:spPr>
          <a:xfrm>
            <a:off x="6630771" y="2670048"/>
            <a:ext cx="155448" cy="15544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115403" y="2542032"/>
            <a:ext cx="4253331" cy="274320"/>
          </a:xfrm>
          <a:prstGeom prst="rect">
            <a:avLst/>
          </a:prstGeom>
          <a:noFill/>
        </p:spPr>
        <p:txBody>
          <a:bodyPr wrap="square" lIns="0" rIns="0" tIns="0" bIns="0" anchor="t">
            <a:spAutoFit/>
          </a:bodyPr>
          <a:lstStyle/>
          <a:p>
            <a:pPr algn="l"/>
            <a:r>
              <a:rPr sz="1400" b="1" i="0">
                <a:solidFill>
                  <a:srgbClr val="1A1A1A"/>
                </a:solidFill>
                <a:latin typeface="Arial"/>
              </a:rPr>
              <a:t>La planificación empieza en FEL 2</a:t>
            </a:r>
          </a:p>
        </p:txBody>
      </p:sp>
      <p:sp>
        <p:nvSpPr>
          <p:cNvPr id="27" name="TextBox 26"/>
          <p:cNvSpPr txBox="1"/>
          <p:nvPr/>
        </p:nvSpPr>
        <p:spPr>
          <a:xfrm>
            <a:off x="7115403" y="2834639"/>
            <a:ext cx="4253331" cy="548640"/>
          </a:xfrm>
          <a:prstGeom prst="rect">
            <a:avLst/>
          </a:prstGeom>
          <a:noFill/>
        </p:spPr>
        <p:txBody>
          <a:bodyPr wrap="square" lIns="0" rIns="0" tIns="0" bIns="0" anchor="t">
            <a:spAutoFit/>
          </a:bodyPr>
          <a:lstStyle/>
          <a:p>
            <a:pPr algn="l"/>
            <a:r>
              <a:rPr sz="1150" b="0" i="0">
                <a:solidFill>
                  <a:srgbClr val="6D6E71"/>
                </a:solidFill>
                <a:latin typeface="Arial"/>
              </a:rPr>
              <a:t>Construcción define el orden antes de diseñar</a:t>
            </a:r>
          </a:p>
        </p:txBody>
      </p:sp>
      <p:sp>
        <p:nvSpPr>
          <p:cNvPr id="28" name="Oval 27"/>
          <p:cNvSpPr/>
          <p:nvPr/>
        </p:nvSpPr>
        <p:spPr>
          <a:xfrm>
            <a:off x="6630771" y="3538728"/>
            <a:ext cx="155448" cy="15544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115403" y="3410712"/>
            <a:ext cx="4253331" cy="274320"/>
          </a:xfrm>
          <a:prstGeom prst="rect">
            <a:avLst/>
          </a:prstGeom>
          <a:noFill/>
        </p:spPr>
        <p:txBody>
          <a:bodyPr wrap="square" lIns="0" rIns="0" tIns="0" bIns="0" anchor="t">
            <a:spAutoFit/>
          </a:bodyPr>
          <a:lstStyle/>
          <a:p>
            <a:pPr algn="l"/>
            <a:r>
              <a:rPr sz="1400" b="1" i="0">
                <a:solidFill>
                  <a:srgbClr val="1A1A1A"/>
                </a:solidFill>
                <a:latin typeface="Arial"/>
              </a:rPr>
              <a:t>Ingeniería y Compras siguen ese orden</a:t>
            </a:r>
          </a:p>
        </p:txBody>
      </p:sp>
      <p:sp>
        <p:nvSpPr>
          <p:cNvPr id="30" name="TextBox 29"/>
          <p:cNvSpPr txBox="1"/>
          <p:nvPr/>
        </p:nvSpPr>
        <p:spPr>
          <a:xfrm>
            <a:off x="7115403" y="3703320"/>
            <a:ext cx="4253331" cy="548640"/>
          </a:xfrm>
          <a:prstGeom prst="rect">
            <a:avLst/>
          </a:prstGeom>
          <a:noFill/>
        </p:spPr>
        <p:txBody>
          <a:bodyPr wrap="square" lIns="0" rIns="0" tIns="0" bIns="0" anchor="t">
            <a:spAutoFit/>
          </a:bodyPr>
          <a:lstStyle/>
          <a:p>
            <a:pPr algn="l"/>
            <a:r>
              <a:rPr sz="1150" b="0" i="0">
                <a:solidFill>
                  <a:srgbClr val="6D6E71"/>
                </a:solidFill>
                <a:latin typeface="Arial"/>
              </a:rPr>
              <a:t>EWP y PWP llegan completos y en secuencia</a:t>
            </a:r>
          </a:p>
        </p:txBody>
      </p:sp>
      <p:sp>
        <p:nvSpPr>
          <p:cNvPr id="31" name="Oval 30"/>
          <p:cNvSpPr/>
          <p:nvPr/>
        </p:nvSpPr>
        <p:spPr>
          <a:xfrm>
            <a:off x="6630771" y="4407408"/>
            <a:ext cx="155448" cy="15544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115403" y="4279392"/>
            <a:ext cx="4253331" cy="274320"/>
          </a:xfrm>
          <a:prstGeom prst="rect">
            <a:avLst/>
          </a:prstGeom>
          <a:noFill/>
        </p:spPr>
        <p:txBody>
          <a:bodyPr wrap="square" lIns="0" rIns="0" tIns="0" bIns="0" anchor="t">
            <a:spAutoFit/>
          </a:bodyPr>
          <a:lstStyle/>
          <a:p>
            <a:pPr algn="l"/>
            <a:r>
              <a:rPr sz="1400" b="1" i="0">
                <a:solidFill>
                  <a:srgbClr val="1A1A1A"/>
                </a:solidFill>
                <a:latin typeface="Arial"/>
              </a:rPr>
              <a:t>WFP ejecuta sin restricciones</a:t>
            </a:r>
          </a:p>
        </p:txBody>
      </p:sp>
      <p:sp>
        <p:nvSpPr>
          <p:cNvPr id="33" name="TextBox 32"/>
          <p:cNvSpPr txBox="1"/>
          <p:nvPr/>
        </p:nvSpPr>
        <p:spPr>
          <a:xfrm>
            <a:off x="7115403" y="4572000"/>
            <a:ext cx="4253331" cy="548640"/>
          </a:xfrm>
          <a:prstGeom prst="rect">
            <a:avLst/>
          </a:prstGeom>
          <a:noFill/>
        </p:spPr>
        <p:txBody>
          <a:bodyPr wrap="square" lIns="0" rIns="0" tIns="0" bIns="0" anchor="t">
            <a:spAutoFit/>
          </a:bodyPr>
          <a:lstStyle/>
          <a:p>
            <a:pPr algn="l"/>
            <a:r>
              <a:rPr sz="1150" b="0" i="0">
                <a:solidFill>
                  <a:srgbClr val="6D6E71"/>
                </a:solidFill>
                <a:latin typeface="Arial"/>
              </a:rPr>
              <a:t>IWP listos para cada cuadrilla</a:t>
            </a:r>
          </a:p>
        </p:txBody>
      </p:sp>
      <p:sp>
        <p:nvSpPr>
          <p:cNvPr id="34" name="Rectangle 33"/>
          <p:cNvSpPr/>
          <p:nvPr/>
        </p:nvSpPr>
        <p:spPr>
          <a:xfrm>
            <a:off x="6521043" y="5303520"/>
            <a:ext cx="4847691" cy="640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check_o.png"/>
          <p:cNvPicPr>
            <a:picLocks noChangeAspect="1"/>
          </p:cNvPicPr>
          <p:nvPr/>
        </p:nvPicPr>
        <p:blipFill>
          <a:blip r:embed="rId3"/>
          <a:stretch>
            <a:fillRect/>
          </a:stretch>
        </p:blipFill>
        <p:spPr>
          <a:xfrm>
            <a:off x="6703923" y="5440680"/>
            <a:ext cx="365760" cy="365760"/>
          </a:xfrm>
          <a:prstGeom prst="rect">
            <a:avLst/>
          </a:prstGeom>
        </p:spPr>
      </p:pic>
      <p:sp>
        <p:nvSpPr>
          <p:cNvPr id="36" name="TextBox 35"/>
          <p:cNvSpPr txBox="1"/>
          <p:nvPr/>
        </p:nvSpPr>
        <p:spPr>
          <a:xfrm>
            <a:off x="7252563" y="5303520"/>
            <a:ext cx="4024731" cy="640080"/>
          </a:xfrm>
          <a:prstGeom prst="rect">
            <a:avLst/>
          </a:prstGeom>
          <a:noFill/>
        </p:spPr>
        <p:txBody>
          <a:bodyPr wrap="square" lIns="0" rIns="0" tIns="0" bIns="0" anchor="ctr">
            <a:spAutoFit/>
          </a:bodyPr>
          <a:lstStyle/>
          <a:p>
            <a:pPr algn="l"/>
            <a:r>
              <a:rPr sz="1350" b="1" i="0">
                <a:solidFill>
                  <a:srgbClr val="1A1A1A"/>
                </a:solidFill>
                <a:latin typeface="Arial"/>
              </a:rPr>
              <a:t>Mejora en todo el ciclo del proyecto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1 · BENEFICIOS</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Con AWP la productividad sube 25 % y el costo total baja 10 %</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M1 · POR QUÉ AWP</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012</a:t>
            </a:r>
          </a:p>
        </p:txBody>
      </p:sp>
      <p:pic>
        <p:nvPicPr>
          <p:cNvPr id="7" name="Picture 6" descr="money_o.png"/>
          <p:cNvPicPr>
            <a:picLocks noChangeAspect="1"/>
          </p:cNvPicPr>
          <p:nvPr/>
        </p:nvPicPr>
        <p:blipFill>
          <a:blip r:embed="rId2"/>
          <a:stretch>
            <a:fillRect/>
          </a:stretch>
        </p:blipFill>
        <p:spPr>
          <a:xfrm>
            <a:off x="548640" y="1965960"/>
            <a:ext cx="548640" cy="548640"/>
          </a:xfrm>
          <a:prstGeom prst="rect">
            <a:avLst/>
          </a:prstGeom>
        </p:spPr>
      </p:pic>
      <p:sp>
        <p:nvSpPr>
          <p:cNvPr id="8" name="TextBox 7"/>
          <p:cNvSpPr txBox="1"/>
          <p:nvPr/>
        </p:nvSpPr>
        <p:spPr>
          <a:xfrm>
            <a:off x="548640" y="2514600"/>
            <a:ext cx="6035040" cy="1737360"/>
          </a:xfrm>
          <a:prstGeom prst="rect">
            <a:avLst/>
          </a:prstGeom>
          <a:noFill/>
        </p:spPr>
        <p:txBody>
          <a:bodyPr wrap="square" lIns="0" rIns="0" tIns="0" bIns="0" anchor="ctr">
            <a:spAutoFit/>
          </a:bodyPr>
          <a:lstStyle/>
          <a:p>
            <a:pPr algn="l"/>
            <a:r>
              <a:rPr sz="12000" b="1" i="0">
                <a:solidFill>
                  <a:srgbClr val="FF6600"/>
                </a:solidFill>
                <a:latin typeface="Arial"/>
              </a:rPr>
              <a:t>+25 %</a:t>
            </a:r>
          </a:p>
        </p:txBody>
      </p:sp>
      <p:sp>
        <p:nvSpPr>
          <p:cNvPr id="9" name="TextBox 8"/>
          <p:cNvSpPr txBox="1"/>
          <p:nvPr/>
        </p:nvSpPr>
        <p:spPr>
          <a:xfrm>
            <a:off x="548640" y="4389120"/>
            <a:ext cx="5760720" cy="411480"/>
          </a:xfrm>
          <a:prstGeom prst="rect">
            <a:avLst/>
          </a:prstGeom>
          <a:noFill/>
        </p:spPr>
        <p:txBody>
          <a:bodyPr wrap="square" lIns="0" rIns="0" tIns="0" bIns="0" anchor="t">
            <a:spAutoFit/>
          </a:bodyPr>
          <a:lstStyle/>
          <a:p>
            <a:pPr algn="l"/>
            <a:r>
              <a:rPr sz="2000" b="1" i="0">
                <a:solidFill>
                  <a:srgbClr val="1A1A1A"/>
                </a:solidFill>
                <a:latin typeface="Arial"/>
              </a:rPr>
              <a:t>de productividad en campo</a:t>
            </a:r>
          </a:p>
        </p:txBody>
      </p:sp>
      <p:sp>
        <p:nvSpPr>
          <p:cNvPr id="10" name="TextBox 9"/>
          <p:cNvSpPr txBox="1"/>
          <p:nvPr/>
        </p:nvSpPr>
        <p:spPr>
          <a:xfrm>
            <a:off x="548640" y="4892040"/>
            <a:ext cx="5669279" cy="1188720"/>
          </a:xfrm>
          <a:prstGeom prst="rect">
            <a:avLst/>
          </a:prstGeom>
          <a:noFill/>
        </p:spPr>
        <p:txBody>
          <a:bodyPr wrap="square" lIns="0" rIns="0" tIns="0" bIns="0" anchor="t">
            <a:spAutoFit/>
          </a:bodyPr>
          <a:lstStyle/>
          <a:p>
            <a:pPr algn="l">
              <a:lnSpc>
                <a:spcPct val="110000"/>
              </a:lnSpc>
            </a:pPr>
            <a:r>
              <a:rPr sz="1400" b="0" i="0">
                <a:solidFill>
                  <a:srgbClr val="6D6E71"/>
                </a:solidFill>
                <a:latin typeface="Arial"/>
              </a:rPr>
              <a:t>Resultados de proyectos con AWP maduro según los estudios RT-272 y RT-319 del CII.</a:t>
            </a:r>
          </a:p>
        </p:txBody>
      </p:sp>
      <p:sp>
        <p:nvSpPr>
          <p:cNvPr id="11" name="Rectangle 10"/>
          <p:cNvSpPr/>
          <p:nvPr/>
        </p:nvSpPr>
        <p:spPr>
          <a:xfrm>
            <a:off x="6949440" y="1828800"/>
            <a:ext cx="4693615" cy="12954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69479" y="2011680"/>
            <a:ext cx="2011680" cy="929640"/>
          </a:xfrm>
          <a:prstGeom prst="rect">
            <a:avLst/>
          </a:prstGeom>
          <a:noFill/>
        </p:spPr>
        <p:txBody>
          <a:bodyPr wrap="square" lIns="0" rIns="0" tIns="0" bIns="0" anchor="ctr">
            <a:spAutoFit/>
          </a:bodyPr>
          <a:lstStyle/>
          <a:p>
            <a:pPr algn="l"/>
            <a:r>
              <a:rPr sz="3000" b="1" i="0">
                <a:solidFill>
                  <a:srgbClr val="FF9955"/>
                </a:solidFill>
                <a:latin typeface="Arial"/>
              </a:rPr>
              <a:t>−10 %</a:t>
            </a:r>
          </a:p>
        </p:txBody>
      </p:sp>
      <p:sp>
        <p:nvSpPr>
          <p:cNvPr id="13" name="TextBox 12"/>
          <p:cNvSpPr txBox="1"/>
          <p:nvPr/>
        </p:nvSpPr>
        <p:spPr>
          <a:xfrm>
            <a:off x="9326880" y="1965960"/>
            <a:ext cx="2087575" cy="1021080"/>
          </a:xfrm>
          <a:prstGeom prst="rect">
            <a:avLst/>
          </a:prstGeom>
          <a:noFill/>
        </p:spPr>
        <p:txBody>
          <a:bodyPr wrap="square" lIns="0" rIns="0" tIns="0" bIns="0" anchor="ctr">
            <a:spAutoFit/>
          </a:bodyPr>
          <a:lstStyle/>
          <a:p>
            <a:pPr algn="l">
              <a:lnSpc>
                <a:spcPct val="105000"/>
              </a:lnSpc>
            </a:pPr>
            <a:r>
              <a:rPr sz="1250" b="0" i="0">
                <a:solidFill>
                  <a:srgbClr val="FFFFFF"/>
                </a:solidFill>
                <a:latin typeface="Arial"/>
              </a:rPr>
              <a:t>de costo total instalado (TIC)</a:t>
            </a:r>
          </a:p>
        </p:txBody>
      </p:sp>
      <p:sp>
        <p:nvSpPr>
          <p:cNvPr id="14" name="Rectangle 13"/>
          <p:cNvSpPr/>
          <p:nvPr/>
        </p:nvSpPr>
        <p:spPr>
          <a:xfrm>
            <a:off x="6949440" y="3352800"/>
            <a:ext cx="4693615" cy="12954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269479" y="3535680"/>
            <a:ext cx="2011680" cy="929640"/>
          </a:xfrm>
          <a:prstGeom prst="rect">
            <a:avLst/>
          </a:prstGeom>
          <a:noFill/>
        </p:spPr>
        <p:txBody>
          <a:bodyPr wrap="square" lIns="0" rIns="0" tIns="0" bIns="0" anchor="ctr">
            <a:spAutoFit/>
          </a:bodyPr>
          <a:lstStyle/>
          <a:p>
            <a:pPr algn="l"/>
            <a:r>
              <a:rPr sz="2400" b="1" i="0">
                <a:solidFill>
                  <a:srgbClr val="FF9955"/>
                </a:solidFill>
                <a:latin typeface="Arial"/>
              </a:rPr>
              <a:t>SPI +25 %</a:t>
            </a:r>
          </a:p>
        </p:txBody>
      </p:sp>
      <p:sp>
        <p:nvSpPr>
          <p:cNvPr id="16" name="TextBox 15"/>
          <p:cNvSpPr txBox="1"/>
          <p:nvPr/>
        </p:nvSpPr>
        <p:spPr>
          <a:xfrm>
            <a:off x="9326880" y="3489960"/>
            <a:ext cx="2087575" cy="1021080"/>
          </a:xfrm>
          <a:prstGeom prst="rect">
            <a:avLst/>
          </a:prstGeom>
          <a:noFill/>
        </p:spPr>
        <p:txBody>
          <a:bodyPr wrap="square" lIns="0" rIns="0" tIns="0" bIns="0" anchor="ctr">
            <a:spAutoFit/>
          </a:bodyPr>
          <a:lstStyle/>
          <a:p>
            <a:pPr algn="l">
              <a:lnSpc>
                <a:spcPct val="105000"/>
              </a:lnSpc>
            </a:pPr>
            <a:r>
              <a:rPr sz="1250" b="0" i="0">
                <a:solidFill>
                  <a:srgbClr val="FFFFFF"/>
                </a:solidFill>
                <a:latin typeface="Arial"/>
              </a:rPr>
              <a:t>mejora del desempeño en plazo</a:t>
            </a:r>
          </a:p>
        </p:txBody>
      </p:sp>
      <p:sp>
        <p:nvSpPr>
          <p:cNvPr id="17" name="Rectangle 16"/>
          <p:cNvSpPr/>
          <p:nvPr/>
        </p:nvSpPr>
        <p:spPr>
          <a:xfrm>
            <a:off x="6949440" y="4876800"/>
            <a:ext cx="4693615" cy="12954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269479" y="5059680"/>
            <a:ext cx="2011680" cy="929640"/>
          </a:xfrm>
          <a:prstGeom prst="rect">
            <a:avLst/>
          </a:prstGeom>
          <a:noFill/>
        </p:spPr>
        <p:txBody>
          <a:bodyPr wrap="square" lIns="0" rIns="0" tIns="0" bIns="0" anchor="ctr">
            <a:spAutoFit/>
          </a:bodyPr>
          <a:lstStyle/>
          <a:p>
            <a:pPr algn="l"/>
            <a:r>
              <a:rPr sz="2400" b="1" i="0">
                <a:solidFill>
                  <a:srgbClr val="FF9955"/>
                </a:solidFill>
                <a:latin typeface="Arial"/>
              </a:rPr>
              <a:t>CPI +33 %</a:t>
            </a:r>
          </a:p>
        </p:txBody>
      </p:sp>
      <p:sp>
        <p:nvSpPr>
          <p:cNvPr id="19" name="TextBox 18"/>
          <p:cNvSpPr txBox="1"/>
          <p:nvPr/>
        </p:nvSpPr>
        <p:spPr>
          <a:xfrm>
            <a:off x="9326880" y="5013960"/>
            <a:ext cx="2087575" cy="1021080"/>
          </a:xfrm>
          <a:prstGeom prst="rect">
            <a:avLst/>
          </a:prstGeom>
          <a:noFill/>
        </p:spPr>
        <p:txBody>
          <a:bodyPr wrap="square" lIns="0" rIns="0" tIns="0" bIns="0" anchor="ctr">
            <a:spAutoFit/>
          </a:bodyPr>
          <a:lstStyle/>
          <a:p>
            <a:pPr algn="l">
              <a:lnSpc>
                <a:spcPct val="105000"/>
              </a:lnSpc>
            </a:pPr>
            <a:r>
              <a:rPr sz="1250" b="0" i="0">
                <a:solidFill>
                  <a:srgbClr val="FFFFFF"/>
                </a:solidFill>
                <a:latin typeface="Arial"/>
              </a:rPr>
              <a:t>mejora del desempeño en costo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097280"/>
            <a:ext cx="3657600" cy="2194560"/>
          </a:xfrm>
          <a:prstGeom prst="rect">
            <a:avLst/>
          </a:prstGeom>
          <a:noFill/>
        </p:spPr>
        <p:txBody>
          <a:bodyPr wrap="square" lIns="0" rIns="0" tIns="0" bIns="0" anchor="t">
            <a:spAutoFit/>
          </a:bodyPr>
          <a:lstStyle/>
          <a:p>
            <a:pPr algn="l"/>
            <a:r>
              <a:rPr sz="15000" b="1" i="0">
                <a:solidFill>
                  <a:srgbClr val="FF6600"/>
                </a:solidFill>
                <a:latin typeface="Arial"/>
              </a:rPr>
              <a:t>02</a:t>
            </a:r>
          </a:p>
        </p:txBody>
      </p:sp>
      <p:sp>
        <p:nvSpPr>
          <p:cNvPr id="4" name="TextBox 3"/>
          <p:cNvSpPr txBox="1"/>
          <p:nvPr/>
        </p:nvSpPr>
        <p:spPr>
          <a:xfrm>
            <a:off x="4160520" y="1481328"/>
            <a:ext cx="7498079" cy="274320"/>
          </a:xfrm>
          <a:prstGeom prst="rect">
            <a:avLst/>
          </a:prstGeom>
          <a:noFill/>
        </p:spPr>
        <p:txBody>
          <a:bodyPr wrap="square" lIns="0" rIns="0" tIns="0" bIns="0" anchor="t">
            <a:spAutoFit/>
          </a:bodyPr>
          <a:lstStyle/>
          <a:p>
            <a:pPr algn="l"/>
            <a:r>
              <a:rPr sz="1200" b="1" i="0" spc="300">
                <a:solidFill>
                  <a:srgbClr val="FF6600"/>
                </a:solidFill>
                <a:latin typeface="Arial"/>
              </a:rPr>
              <a:t>MÓDULO 2 · QUÉ ES AWP</a:t>
            </a:r>
          </a:p>
        </p:txBody>
      </p:sp>
      <p:sp>
        <p:nvSpPr>
          <p:cNvPr id="5" name="Título"/>
          <p:cNvSpPr txBox="1"/>
          <p:nvPr/>
        </p:nvSpPr>
        <p:spPr>
          <a:xfrm>
            <a:off x="4160520" y="1874519"/>
            <a:ext cx="7452360" cy="1508760"/>
          </a:xfrm>
          <a:prstGeom prst="rect">
            <a:avLst/>
          </a:prstGeom>
          <a:noFill/>
        </p:spPr>
        <p:txBody>
          <a:bodyPr wrap="square" lIns="0" rIns="0" tIns="0" bIns="0" anchor="t">
            <a:spAutoFit/>
          </a:bodyPr>
          <a:lstStyle/>
          <a:p>
            <a:pPr algn="l">
              <a:lnSpc>
                <a:spcPct val="95000"/>
              </a:lnSpc>
            </a:pPr>
            <a:r>
              <a:rPr sz="3600" b="1" i="0">
                <a:solidFill>
                  <a:srgbClr val="FFFFFF"/>
                </a:solidFill>
                <a:latin typeface="Arial"/>
              </a:rPr>
              <a:t>AWP es un proceso, no un software</a:t>
            </a:r>
          </a:p>
        </p:txBody>
      </p:sp>
      <p:sp>
        <p:nvSpPr>
          <p:cNvPr id="6" name="TextBox 5"/>
          <p:cNvSpPr txBox="1"/>
          <p:nvPr/>
        </p:nvSpPr>
        <p:spPr>
          <a:xfrm>
            <a:off x="4160520" y="3474720"/>
            <a:ext cx="7406640" cy="685800"/>
          </a:xfrm>
          <a:prstGeom prst="rect">
            <a:avLst/>
          </a:prstGeom>
          <a:noFill/>
        </p:spPr>
        <p:txBody>
          <a:bodyPr wrap="square" lIns="0" rIns="0" tIns="0" bIns="0" anchor="t">
            <a:spAutoFit/>
          </a:bodyPr>
          <a:lstStyle/>
          <a:p>
            <a:pPr algn="l">
              <a:lnSpc>
                <a:spcPct val="110000"/>
              </a:lnSpc>
            </a:pPr>
            <a:r>
              <a:rPr sz="1500" b="0" i="0">
                <a:solidFill>
                  <a:srgbClr val="BCBEC0"/>
                </a:solidFill>
                <a:latin typeface="Arial"/>
              </a:rPr>
              <a:t>Definición, los tres procesos que lo componen y la familia de paquetes de trabajo.</a:t>
            </a:r>
          </a:p>
        </p:txBody>
      </p:sp>
      <p:sp>
        <p:nvSpPr>
          <p:cNvPr id="7" name="Rectangle 6"/>
          <p:cNvSpPr/>
          <p:nvPr/>
        </p:nvSpPr>
        <p:spPr>
          <a:xfrm>
            <a:off x="548640"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48640"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01</a:t>
            </a:r>
          </a:p>
        </p:txBody>
      </p:sp>
      <p:sp>
        <p:nvSpPr>
          <p:cNvPr id="9" name="Rectangle 8"/>
          <p:cNvSpPr/>
          <p:nvPr/>
        </p:nvSpPr>
        <p:spPr>
          <a:xfrm>
            <a:off x="1409090" y="5074920"/>
            <a:ext cx="769010" cy="50292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409090" y="5074920"/>
            <a:ext cx="769010" cy="502920"/>
          </a:xfrm>
          <a:prstGeom prst="rect">
            <a:avLst/>
          </a:prstGeom>
          <a:noFill/>
        </p:spPr>
        <p:txBody>
          <a:bodyPr wrap="square" lIns="0" rIns="0" tIns="0" bIns="0" anchor="ctr">
            <a:spAutoFit/>
          </a:bodyPr>
          <a:lstStyle/>
          <a:p>
            <a:pPr algn="ctr"/>
            <a:r>
              <a:rPr sz="1100" b="1" i="0">
                <a:solidFill>
                  <a:srgbClr val="FFFFFF"/>
                </a:solidFill>
                <a:latin typeface="Courier New"/>
              </a:rPr>
              <a:t>02</a:t>
            </a:r>
          </a:p>
        </p:txBody>
      </p:sp>
      <p:sp>
        <p:nvSpPr>
          <p:cNvPr id="11" name="Rectangle 10"/>
          <p:cNvSpPr/>
          <p:nvPr/>
        </p:nvSpPr>
        <p:spPr>
          <a:xfrm>
            <a:off x="2269540"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269540"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03</a:t>
            </a:r>
          </a:p>
        </p:txBody>
      </p:sp>
      <p:sp>
        <p:nvSpPr>
          <p:cNvPr id="13" name="Rectangle 12"/>
          <p:cNvSpPr/>
          <p:nvPr/>
        </p:nvSpPr>
        <p:spPr>
          <a:xfrm>
            <a:off x="3129991"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129991"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04</a:t>
            </a:r>
          </a:p>
        </p:txBody>
      </p:sp>
      <p:sp>
        <p:nvSpPr>
          <p:cNvPr id="15" name="Rectangle 14"/>
          <p:cNvSpPr/>
          <p:nvPr/>
        </p:nvSpPr>
        <p:spPr>
          <a:xfrm>
            <a:off x="3990441"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990441"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05</a:t>
            </a:r>
          </a:p>
        </p:txBody>
      </p:sp>
      <p:sp>
        <p:nvSpPr>
          <p:cNvPr id="17" name="Rectangle 16"/>
          <p:cNvSpPr/>
          <p:nvPr/>
        </p:nvSpPr>
        <p:spPr>
          <a:xfrm>
            <a:off x="4850892"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850892"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06</a:t>
            </a:r>
          </a:p>
        </p:txBody>
      </p:sp>
      <p:sp>
        <p:nvSpPr>
          <p:cNvPr id="19" name="Rectangle 18"/>
          <p:cNvSpPr/>
          <p:nvPr/>
        </p:nvSpPr>
        <p:spPr>
          <a:xfrm>
            <a:off x="5711342"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711342"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07</a:t>
            </a:r>
          </a:p>
        </p:txBody>
      </p:sp>
      <p:sp>
        <p:nvSpPr>
          <p:cNvPr id="21" name="Rectangle 20"/>
          <p:cNvSpPr/>
          <p:nvPr/>
        </p:nvSpPr>
        <p:spPr>
          <a:xfrm>
            <a:off x="6571792"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571792"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08</a:t>
            </a:r>
          </a:p>
        </p:txBody>
      </p:sp>
      <p:sp>
        <p:nvSpPr>
          <p:cNvPr id="23" name="Rectangle 22"/>
          <p:cNvSpPr/>
          <p:nvPr/>
        </p:nvSpPr>
        <p:spPr>
          <a:xfrm>
            <a:off x="7432243"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432243"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09</a:t>
            </a:r>
          </a:p>
        </p:txBody>
      </p:sp>
      <p:sp>
        <p:nvSpPr>
          <p:cNvPr id="25" name="Rectangle 24"/>
          <p:cNvSpPr/>
          <p:nvPr/>
        </p:nvSpPr>
        <p:spPr>
          <a:xfrm>
            <a:off x="8292693"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292693"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10</a:t>
            </a:r>
          </a:p>
        </p:txBody>
      </p:sp>
      <p:sp>
        <p:nvSpPr>
          <p:cNvPr id="27" name="Rectangle 26"/>
          <p:cNvSpPr/>
          <p:nvPr/>
        </p:nvSpPr>
        <p:spPr>
          <a:xfrm>
            <a:off x="9153144"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153144"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11</a:t>
            </a:r>
          </a:p>
        </p:txBody>
      </p:sp>
      <p:sp>
        <p:nvSpPr>
          <p:cNvPr id="29" name="Rectangle 28"/>
          <p:cNvSpPr/>
          <p:nvPr/>
        </p:nvSpPr>
        <p:spPr>
          <a:xfrm>
            <a:off x="10013594"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013594"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12</a:t>
            </a:r>
          </a:p>
        </p:txBody>
      </p:sp>
      <p:sp>
        <p:nvSpPr>
          <p:cNvPr id="31" name="Rectangle 30"/>
          <p:cNvSpPr/>
          <p:nvPr/>
        </p:nvSpPr>
        <p:spPr>
          <a:xfrm>
            <a:off x="10874044"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874044"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13</a:t>
            </a:r>
          </a:p>
        </p:txBody>
      </p:sp>
      <p:sp>
        <p:nvSpPr>
          <p:cNvPr id="33" name="TextBox 32"/>
          <p:cNvSpPr txBox="1"/>
          <p:nvPr/>
        </p:nvSpPr>
        <p:spPr>
          <a:xfrm>
            <a:off x="548640" y="4709159"/>
            <a:ext cx="5486400" cy="274320"/>
          </a:xfrm>
          <a:prstGeom prst="rect">
            <a:avLst/>
          </a:prstGeom>
          <a:noFill/>
        </p:spPr>
        <p:txBody>
          <a:bodyPr wrap="square" lIns="0" rIns="0" tIns="0" bIns="0" anchor="t">
            <a:spAutoFit/>
          </a:bodyPr>
          <a:lstStyle/>
          <a:p>
            <a:pPr algn="l"/>
            <a:r>
              <a:rPr sz="1000" b="1" i="0" spc="200">
                <a:solidFill>
                  <a:srgbClr val="8A8B8E"/>
                </a:solidFill>
                <a:latin typeface="Arial"/>
              </a:rPr>
              <a:t>MÓDULOS</a:t>
            </a:r>
          </a:p>
        </p:txBody>
      </p:sp>
      <p:sp>
        <p:nvSpPr>
          <p:cNvPr id="34" name="TextBox 33"/>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8A8B8E"/>
                </a:solidFill>
                <a:latin typeface="Arial"/>
              </a:rPr>
              <a:t>IMPLEMENTACIÓN DE AWP  ·  M2 · QUÉ ES AWP</a:t>
            </a:r>
          </a:p>
        </p:txBody>
      </p:sp>
      <p:sp>
        <p:nvSpPr>
          <p:cNvPr id="35" name="TextBox 34"/>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8A8B8E"/>
                </a:solidFill>
                <a:latin typeface="Courier New"/>
              </a:rPr>
              <a:t>013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2 · DEFINICIÓN</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FFFFFF"/>
                </a:solidFill>
                <a:latin typeface="Arial"/>
              </a:rPr>
              <a:t>AWP alinea ingeniería, compras y construcción según cómo se va a construir</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8A8B8E"/>
                </a:solidFill>
                <a:latin typeface="Arial"/>
              </a:rPr>
              <a:t>IMPLEMENTACIÓN DE AWP  ·  M2 · QUÉ ES AWP</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8A8B8E"/>
                </a:solidFill>
                <a:latin typeface="Courier New"/>
              </a:rPr>
              <a:t>014</a:t>
            </a:r>
          </a:p>
        </p:txBody>
      </p:sp>
      <p:pic>
        <p:nvPicPr>
          <p:cNvPr id="7" name="Picture 6" descr="quote_o.png"/>
          <p:cNvPicPr>
            <a:picLocks noChangeAspect="1"/>
          </p:cNvPicPr>
          <p:nvPr/>
        </p:nvPicPr>
        <p:blipFill>
          <a:blip r:embed="rId2"/>
          <a:stretch>
            <a:fillRect/>
          </a:stretch>
        </p:blipFill>
        <p:spPr>
          <a:xfrm>
            <a:off x="548640" y="1920240"/>
            <a:ext cx="548640" cy="548640"/>
          </a:xfrm>
          <a:prstGeom prst="rect">
            <a:avLst/>
          </a:prstGeom>
        </p:spPr>
      </p:pic>
      <p:sp>
        <p:nvSpPr>
          <p:cNvPr id="8" name="TextBox 7"/>
          <p:cNvSpPr txBox="1"/>
          <p:nvPr/>
        </p:nvSpPr>
        <p:spPr>
          <a:xfrm>
            <a:off x="1417319" y="1828800"/>
            <a:ext cx="10225735" cy="1737360"/>
          </a:xfrm>
          <a:prstGeom prst="rect">
            <a:avLst/>
          </a:prstGeom>
          <a:noFill/>
        </p:spPr>
        <p:txBody>
          <a:bodyPr wrap="square" lIns="0" rIns="0" tIns="0" bIns="0" anchor="ctr">
            <a:spAutoFit/>
          </a:bodyPr>
          <a:lstStyle/>
          <a:p>
            <a:pPr algn="l">
              <a:lnSpc>
                <a:spcPct val="110000"/>
              </a:lnSpc>
            </a:pPr>
            <a:r>
              <a:rPr sz="2400" b="0" i="1">
                <a:solidFill>
                  <a:srgbClr val="FFFFFF"/>
                </a:solidFill>
                <a:latin typeface="Arial"/>
              </a:rPr>
              <a:t>“El flujo general de todos los paquetes de trabajo detallados: de construcción, de ingeniería y de instalación. Un proceso planificado y ejecutable, desde la planificación inicial hasta el diseño detallado y la construcción.”</a:t>
            </a:r>
          </a:p>
        </p:txBody>
      </p:sp>
      <p:sp>
        <p:nvSpPr>
          <p:cNvPr id="9" name="TextBox 8"/>
          <p:cNvSpPr txBox="1"/>
          <p:nvPr/>
        </p:nvSpPr>
        <p:spPr>
          <a:xfrm>
            <a:off x="1417319" y="3657600"/>
            <a:ext cx="10225735" cy="274320"/>
          </a:xfrm>
          <a:prstGeom prst="rect">
            <a:avLst/>
          </a:prstGeom>
          <a:noFill/>
        </p:spPr>
        <p:txBody>
          <a:bodyPr wrap="square" lIns="0" rIns="0" tIns="0" bIns="0" anchor="t">
            <a:spAutoFit/>
          </a:bodyPr>
          <a:lstStyle/>
          <a:p>
            <a:pPr algn="l"/>
            <a:r>
              <a:rPr sz="1100" b="1" i="0" spc="100">
                <a:solidFill>
                  <a:srgbClr val="FF9955"/>
                </a:solidFill>
                <a:latin typeface="Arial"/>
              </a:rPr>
              <a:t>DEFINICIÓN DEL CONSTRUCTION INDUSTRY INSTITUTE (CII) · TRADUCCIÓN</a:t>
            </a:r>
          </a:p>
        </p:txBody>
      </p:sp>
      <p:sp>
        <p:nvSpPr>
          <p:cNvPr id="10" name="Rectangle 9"/>
          <p:cNvSpPr/>
          <p:nvPr/>
        </p:nvSpPr>
        <p:spPr>
          <a:xfrm>
            <a:off x="548640" y="4160520"/>
            <a:ext cx="3527450" cy="201168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helmet_o.png"/>
          <p:cNvPicPr>
            <a:picLocks noChangeAspect="1"/>
          </p:cNvPicPr>
          <p:nvPr/>
        </p:nvPicPr>
        <p:blipFill>
          <a:blip r:embed="rId3"/>
          <a:stretch>
            <a:fillRect/>
          </a:stretch>
        </p:blipFill>
        <p:spPr>
          <a:xfrm>
            <a:off x="822959" y="4974336"/>
            <a:ext cx="384048" cy="384048"/>
          </a:xfrm>
          <a:prstGeom prst="rect">
            <a:avLst/>
          </a:prstGeom>
        </p:spPr>
      </p:pic>
      <p:sp>
        <p:nvSpPr>
          <p:cNvPr id="12" name="TextBox 11"/>
          <p:cNvSpPr txBox="1"/>
          <p:nvPr/>
        </p:nvSpPr>
        <p:spPr>
          <a:xfrm>
            <a:off x="1417319" y="4251959"/>
            <a:ext cx="2475890" cy="1828800"/>
          </a:xfrm>
          <a:prstGeom prst="rect">
            <a:avLst/>
          </a:prstGeom>
          <a:noFill/>
        </p:spPr>
        <p:txBody>
          <a:bodyPr wrap="square" lIns="0" rIns="0" tIns="0" bIns="0" anchor="ctr">
            <a:spAutoFit/>
          </a:bodyPr>
          <a:lstStyle/>
          <a:p>
            <a:pPr algn="l">
              <a:lnSpc>
                <a:spcPct val="105000"/>
              </a:lnSpc>
            </a:pPr>
            <a:r>
              <a:rPr sz="1300" b="0" i="0">
                <a:solidFill>
                  <a:srgbClr val="FFFFFF"/>
                </a:solidFill>
                <a:latin typeface="Arial"/>
              </a:rPr>
              <a:t>Dirigido por Construcción: el orden lo fija cómo se va a construir</a:t>
            </a:r>
          </a:p>
        </p:txBody>
      </p:sp>
      <p:sp>
        <p:nvSpPr>
          <p:cNvPr id="13" name="Rectangle 12"/>
          <p:cNvSpPr/>
          <p:nvPr/>
        </p:nvSpPr>
        <p:spPr>
          <a:xfrm>
            <a:off x="4332122" y="4160520"/>
            <a:ext cx="3527450" cy="201168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project_o.png"/>
          <p:cNvPicPr>
            <a:picLocks noChangeAspect="1"/>
          </p:cNvPicPr>
          <p:nvPr/>
        </p:nvPicPr>
        <p:blipFill>
          <a:blip r:embed="rId4"/>
          <a:stretch>
            <a:fillRect/>
          </a:stretch>
        </p:blipFill>
        <p:spPr>
          <a:xfrm>
            <a:off x="4606442" y="4974336"/>
            <a:ext cx="384048" cy="384048"/>
          </a:xfrm>
          <a:prstGeom prst="rect">
            <a:avLst/>
          </a:prstGeom>
        </p:spPr>
      </p:pic>
      <p:sp>
        <p:nvSpPr>
          <p:cNvPr id="15" name="TextBox 14"/>
          <p:cNvSpPr txBox="1"/>
          <p:nvPr/>
        </p:nvSpPr>
        <p:spPr>
          <a:xfrm>
            <a:off x="5200802" y="4251959"/>
            <a:ext cx="2475890" cy="1828800"/>
          </a:xfrm>
          <a:prstGeom prst="rect">
            <a:avLst/>
          </a:prstGeom>
          <a:noFill/>
        </p:spPr>
        <p:txBody>
          <a:bodyPr wrap="square" lIns="0" rIns="0" tIns="0" bIns="0" anchor="ctr">
            <a:spAutoFit/>
          </a:bodyPr>
          <a:lstStyle/>
          <a:p>
            <a:pPr algn="l">
              <a:lnSpc>
                <a:spcPct val="105000"/>
              </a:lnSpc>
            </a:pPr>
            <a:r>
              <a:rPr sz="1300" b="0" i="0">
                <a:solidFill>
                  <a:srgbClr val="FFFFFF"/>
                </a:solidFill>
                <a:latin typeface="Arial"/>
              </a:rPr>
              <a:t>Abarca desde la planificación inicial hasta la puesta en marcha</a:t>
            </a:r>
          </a:p>
        </p:txBody>
      </p:sp>
      <p:sp>
        <p:nvSpPr>
          <p:cNvPr id="16" name="Rectangle 15"/>
          <p:cNvSpPr/>
          <p:nvPr/>
        </p:nvSpPr>
        <p:spPr>
          <a:xfrm>
            <a:off x="8115604" y="4160520"/>
            <a:ext cx="3527450" cy="201168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uzzle_o.png"/>
          <p:cNvPicPr>
            <a:picLocks noChangeAspect="1"/>
          </p:cNvPicPr>
          <p:nvPr/>
        </p:nvPicPr>
        <p:blipFill>
          <a:blip r:embed="rId5"/>
          <a:stretch>
            <a:fillRect/>
          </a:stretch>
        </p:blipFill>
        <p:spPr>
          <a:xfrm>
            <a:off x="8389924" y="4974336"/>
            <a:ext cx="384048" cy="384048"/>
          </a:xfrm>
          <a:prstGeom prst="rect">
            <a:avLst/>
          </a:prstGeom>
        </p:spPr>
      </p:pic>
      <p:sp>
        <p:nvSpPr>
          <p:cNvPr id="18" name="TextBox 17"/>
          <p:cNvSpPr txBox="1"/>
          <p:nvPr/>
        </p:nvSpPr>
        <p:spPr>
          <a:xfrm>
            <a:off x="8984284" y="4251959"/>
            <a:ext cx="2475890" cy="1828800"/>
          </a:xfrm>
          <a:prstGeom prst="rect">
            <a:avLst/>
          </a:prstGeom>
          <a:noFill/>
        </p:spPr>
        <p:txBody>
          <a:bodyPr wrap="square" lIns="0" rIns="0" tIns="0" bIns="0" anchor="ctr">
            <a:spAutoFit/>
          </a:bodyPr>
          <a:lstStyle/>
          <a:p>
            <a:pPr algn="l">
              <a:lnSpc>
                <a:spcPct val="105000"/>
              </a:lnSpc>
            </a:pPr>
            <a:r>
              <a:rPr sz="1300" b="0" i="0">
                <a:solidFill>
                  <a:srgbClr val="FFFFFF"/>
                </a:solidFill>
                <a:latin typeface="Arial"/>
              </a:rPr>
              <a:t>Supone un plan de ejecución de la construcción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2 · TRES PROCESOS</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AWP integra tres procesos: AWP, Information Management (IM) y Workface Planning (WFP)</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M2 · QUÉ ES AWP</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015</a:t>
            </a:r>
          </a:p>
        </p:txBody>
      </p:sp>
      <p:sp>
        <p:nvSpPr>
          <p:cNvPr id="7" name="Oval 6"/>
          <p:cNvSpPr/>
          <p:nvPr/>
        </p:nvSpPr>
        <p:spPr>
          <a:xfrm>
            <a:off x="2941167" y="1874519"/>
            <a:ext cx="2377440" cy="2377440"/>
          </a:xfrm>
          <a:prstGeom prst="ellipse">
            <a:avLst/>
          </a:prstGeom>
          <a:solidFill>
            <a:srgbClr val="CC4400">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215487" y="2560320"/>
            <a:ext cx="1828800" cy="502920"/>
          </a:xfrm>
          <a:prstGeom prst="rect">
            <a:avLst/>
          </a:prstGeom>
          <a:noFill/>
        </p:spPr>
        <p:txBody>
          <a:bodyPr wrap="square" lIns="0" rIns="0" tIns="0" bIns="0" anchor="t">
            <a:spAutoFit/>
          </a:bodyPr>
          <a:lstStyle/>
          <a:p>
            <a:pPr algn="ctr"/>
            <a:r>
              <a:rPr sz="2600" b="1" i="0">
                <a:solidFill>
                  <a:srgbClr val="FFFFFF"/>
                </a:solidFill>
                <a:latin typeface="Courier New"/>
              </a:rPr>
              <a:t>AWP</a:t>
            </a:r>
          </a:p>
        </p:txBody>
      </p:sp>
      <p:sp>
        <p:nvSpPr>
          <p:cNvPr id="9" name="TextBox 8"/>
          <p:cNvSpPr txBox="1"/>
          <p:nvPr/>
        </p:nvSpPr>
        <p:spPr>
          <a:xfrm>
            <a:off x="3444087" y="3108960"/>
            <a:ext cx="1371600" cy="548640"/>
          </a:xfrm>
          <a:prstGeom prst="rect">
            <a:avLst/>
          </a:prstGeom>
          <a:noFill/>
        </p:spPr>
        <p:txBody>
          <a:bodyPr wrap="square" lIns="0" rIns="0" tIns="0" bIns="0" anchor="t">
            <a:spAutoFit/>
          </a:bodyPr>
          <a:lstStyle/>
          <a:p>
            <a:pPr algn="ctr">
              <a:lnSpc>
                <a:spcPct val="100000"/>
              </a:lnSpc>
            </a:pPr>
            <a:r>
              <a:rPr sz="1100" b="0" i="0">
                <a:solidFill>
                  <a:srgbClr val="FFFFFF"/>
                </a:solidFill>
                <a:latin typeface="Arial"/>
              </a:rPr>
              <a:t>Advanced Work Packaging</a:t>
            </a:r>
          </a:p>
        </p:txBody>
      </p:sp>
      <p:sp>
        <p:nvSpPr>
          <p:cNvPr id="10" name="Oval 9"/>
          <p:cNvSpPr/>
          <p:nvPr/>
        </p:nvSpPr>
        <p:spPr>
          <a:xfrm>
            <a:off x="4907127" y="1874519"/>
            <a:ext cx="2377440" cy="2377440"/>
          </a:xfrm>
          <a:prstGeom prst="ellipse">
            <a:avLst/>
          </a:prstGeom>
          <a:solidFill>
            <a:srgbClr val="003087">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181447" y="2560320"/>
            <a:ext cx="1828800" cy="502920"/>
          </a:xfrm>
          <a:prstGeom prst="rect">
            <a:avLst/>
          </a:prstGeom>
          <a:noFill/>
        </p:spPr>
        <p:txBody>
          <a:bodyPr wrap="square" lIns="0" rIns="0" tIns="0" bIns="0" anchor="t">
            <a:spAutoFit/>
          </a:bodyPr>
          <a:lstStyle/>
          <a:p>
            <a:pPr algn="ctr"/>
            <a:r>
              <a:rPr sz="2600" b="1" i="0">
                <a:solidFill>
                  <a:srgbClr val="FFFFFF"/>
                </a:solidFill>
                <a:latin typeface="Courier New"/>
              </a:rPr>
              <a:t>IM</a:t>
            </a:r>
          </a:p>
        </p:txBody>
      </p:sp>
      <p:sp>
        <p:nvSpPr>
          <p:cNvPr id="12" name="TextBox 11"/>
          <p:cNvSpPr txBox="1"/>
          <p:nvPr/>
        </p:nvSpPr>
        <p:spPr>
          <a:xfrm>
            <a:off x="5410047" y="3108960"/>
            <a:ext cx="1371600" cy="548640"/>
          </a:xfrm>
          <a:prstGeom prst="rect">
            <a:avLst/>
          </a:prstGeom>
          <a:noFill/>
        </p:spPr>
        <p:txBody>
          <a:bodyPr wrap="square" lIns="0" rIns="0" tIns="0" bIns="0" anchor="t">
            <a:spAutoFit/>
          </a:bodyPr>
          <a:lstStyle/>
          <a:p>
            <a:pPr algn="ctr">
              <a:lnSpc>
                <a:spcPct val="100000"/>
              </a:lnSpc>
            </a:pPr>
            <a:r>
              <a:rPr sz="1100" b="0" i="0">
                <a:solidFill>
                  <a:srgbClr val="FFFFFF"/>
                </a:solidFill>
                <a:latin typeface="Arial"/>
              </a:rPr>
              <a:t>Information Management</a:t>
            </a:r>
          </a:p>
        </p:txBody>
      </p:sp>
      <p:sp>
        <p:nvSpPr>
          <p:cNvPr id="13" name="Oval 12"/>
          <p:cNvSpPr/>
          <p:nvPr/>
        </p:nvSpPr>
        <p:spPr>
          <a:xfrm>
            <a:off x="6873087" y="1874519"/>
            <a:ext cx="2377440" cy="2377440"/>
          </a:xfrm>
          <a:prstGeom prst="ellipse">
            <a:avLst/>
          </a:prstGeom>
          <a:solidFill>
            <a:srgbClr val="FF6600">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147407" y="2560320"/>
            <a:ext cx="1828800" cy="502920"/>
          </a:xfrm>
          <a:prstGeom prst="rect">
            <a:avLst/>
          </a:prstGeom>
          <a:noFill/>
        </p:spPr>
        <p:txBody>
          <a:bodyPr wrap="square" lIns="0" rIns="0" tIns="0" bIns="0" anchor="t">
            <a:spAutoFit/>
          </a:bodyPr>
          <a:lstStyle/>
          <a:p>
            <a:pPr algn="ctr"/>
            <a:r>
              <a:rPr sz="2600" b="1" i="0">
                <a:solidFill>
                  <a:srgbClr val="FFFFFF"/>
                </a:solidFill>
                <a:latin typeface="Courier New"/>
              </a:rPr>
              <a:t>WFP</a:t>
            </a:r>
          </a:p>
        </p:txBody>
      </p:sp>
      <p:sp>
        <p:nvSpPr>
          <p:cNvPr id="15" name="TextBox 14"/>
          <p:cNvSpPr txBox="1"/>
          <p:nvPr/>
        </p:nvSpPr>
        <p:spPr>
          <a:xfrm>
            <a:off x="7376007" y="3108960"/>
            <a:ext cx="1371600" cy="548640"/>
          </a:xfrm>
          <a:prstGeom prst="rect">
            <a:avLst/>
          </a:prstGeom>
          <a:noFill/>
        </p:spPr>
        <p:txBody>
          <a:bodyPr wrap="square" lIns="0" rIns="0" tIns="0" bIns="0" anchor="t">
            <a:spAutoFit/>
          </a:bodyPr>
          <a:lstStyle/>
          <a:p>
            <a:pPr algn="ctr">
              <a:lnSpc>
                <a:spcPct val="100000"/>
              </a:lnSpc>
            </a:pPr>
            <a:r>
              <a:rPr sz="1100" b="0" i="0">
                <a:solidFill>
                  <a:srgbClr val="FFFFFF"/>
                </a:solidFill>
                <a:latin typeface="Arial"/>
              </a:rPr>
              <a:t>Workface Planning</a:t>
            </a:r>
          </a:p>
        </p:txBody>
      </p:sp>
      <p:sp>
        <p:nvSpPr>
          <p:cNvPr id="16" name="TextBox 15"/>
          <p:cNvSpPr txBox="1"/>
          <p:nvPr/>
        </p:nvSpPr>
        <p:spPr>
          <a:xfrm>
            <a:off x="731520" y="4526280"/>
            <a:ext cx="3332378" cy="1097280"/>
          </a:xfrm>
          <a:prstGeom prst="rect">
            <a:avLst/>
          </a:prstGeom>
          <a:noFill/>
        </p:spPr>
        <p:txBody>
          <a:bodyPr wrap="square" lIns="0" rIns="0" tIns="0" bIns="0" anchor="t">
            <a:spAutoFit/>
          </a:bodyPr>
          <a:lstStyle/>
          <a:p>
            <a:pPr algn="ctr">
              <a:lnSpc>
                <a:spcPct val="110000"/>
              </a:lnSpc>
            </a:pPr>
            <a:r>
              <a:rPr sz="1300" b="0" i="0">
                <a:solidFill>
                  <a:srgbClr val="2E2E2E"/>
                </a:solidFill>
                <a:latin typeface="Arial"/>
              </a:rPr>
              <a:t>Alinea EWP, PWP y CWP con la secuencia de construcción</a:t>
            </a:r>
          </a:p>
        </p:txBody>
      </p:sp>
      <p:sp>
        <p:nvSpPr>
          <p:cNvPr id="17" name="TextBox 16"/>
          <p:cNvSpPr txBox="1"/>
          <p:nvPr/>
        </p:nvSpPr>
        <p:spPr>
          <a:xfrm>
            <a:off x="4429658" y="4526280"/>
            <a:ext cx="3332378" cy="1097280"/>
          </a:xfrm>
          <a:prstGeom prst="rect">
            <a:avLst/>
          </a:prstGeom>
          <a:noFill/>
        </p:spPr>
        <p:txBody>
          <a:bodyPr wrap="square" lIns="0" rIns="0" tIns="0" bIns="0" anchor="t">
            <a:spAutoFit/>
          </a:bodyPr>
          <a:lstStyle/>
          <a:p>
            <a:pPr algn="ctr">
              <a:lnSpc>
                <a:spcPct val="110000"/>
              </a:lnSpc>
            </a:pPr>
            <a:r>
              <a:rPr sz="1300" b="0" i="0">
                <a:solidFill>
                  <a:srgbClr val="2E2E2E"/>
                </a:solidFill>
                <a:latin typeface="Arial"/>
              </a:rPr>
              <a:t>Estandariza WBS, nomenclatura, modelo 3D e intercambio de datos</a:t>
            </a:r>
          </a:p>
        </p:txBody>
      </p:sp>
      <p:sp>
        <p:nvSpPr>
          <p:cNvPr id="18" name="TextBox 17"/>
          <p:cNvSpPr txBox="1"/>
          <p:nvPr/>
        </p:nvSpPr>
        <p:spPr>
          <a:xfrm>
            <a:off x="8127796" y="4526280"/>
            <a:ext cx="3332378" cy="1097280"/>
          </a:xfrm>
          <a:prstGeom prst="rect">
            <a:avLst/>
          </a:prstGeom>
          <a:noFill/>
        </p:spPr>
        <p:txBody>
          <a:bodyPr wrap="square" lIns="0" rIns="0" tIns="0" bIns="0" anchor="t">
            <a:spAutoFit/>
          </a:bodyPr>
          <a:lstStyle/>
          <a:p>
            <a:pPr algn="ctr">
              <a:lnSpc>
                <a:spcPct val="110000"/>
              </a:lnSpc>
            </a:pPr>
            <a:r>
              <a:rPr sz="1300" b="0" i="0">
                <a:solidFill>
                  <a:srgbClr val="2E2E2E"/>
                </a:solidFill>
                <a:latin typeface="Arial"/>
              </a:rPr>
              <a:t>Crea, libera y sigue los paquetes de cada cuadrilla</a:t>
            </a:r>
          </a:p>
        </p:txBody>
      </p:sp>
      <p:sp>
        <p:nvSpPr>
          <p:cNvPr id="19" name="Rectangle 18"/>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lag_o.png"/>
          <p:cNvPicPr>
            <a:picLocks noChangeAspect="1"/>
          </p:cNvPicPr>
          <p:nvPr/>
        </p:nvPicPr>
        <p:blipFill>
          <a:blip r:embed="rId2"/>
          <a:stretch>
            <a:fillRect/>
          </a:stretch>
        </p:blipFill>
        <p:spPr>
          <a:xfrm>
            <a:off x="822959" y="5660136"/>
            <a:ext cx="365760" cy="365760"/>
          </a:xfrm>
          <a:prstGeom prst="rect">
            <a:avLst/>
          </a:prstGeom>
        </p:spPr>
      </p:pic>
      <p:sp>
        <p:nvSpPr>
          <p:cNvPr id="21" name="TextBox 20"/>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Los tres se implementan juntos: sin datos confiables (IM) no hay paquetes confiables (WFP).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2 · JERARQUÍA DE PAQUETES</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Todo se ordena en una jerarquía: del área al paquete que recibe el capataz</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M2 · QUÉ ES AWP</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016</a:t>
            </a:r>
          </a:p>
        </p:txBody>
      </p:sp>
      <p:sp>
        <p:nvSpPr>
          <p:cNvPr id="7" name="Rectangle 6"/>
          <p:cNvSpPr/>
          <p:nvPr/>
        </p:nvSpPr>
        <p:spPr>
          <a:xfrm>
            <a:off x="4495647" y="1783080"/>
            <a:ext cx="3200400" cy="98755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map_w.png"/>
          <p:cNvPicPr>
            <a:picLocks noChangeAspect="1"/>
          </p:cNvPicPr>
          <p:nvPr/>
        </p:nvPicPr>
        <p:blipFill>
          <a:blip r:embed="rId2"/>
          <a:stretch>
            <a:fillRect/>
          </a:stretch>
        </p:blipFill>
        <p:spPr>
          <a:xfrm>
            <a:off x="4696815" y="2084832"/>
            <a:ext cx="384048" cy="384048"/>
          </a:xfrm>
          <a:prstGeom prst="rect">
            <a:avLst/>
          </a:prstGeom>
        </p:spPr>
      </p:pic>
      <p:sp>
        <p:nvSpPr>
          <p:cNvPr id="9" name="TextBox 8"/>
          <p:cNvSpPr txBox="1"/>
          <p:nvPr/>
        </p:nvSpPr>
        <p:spPr>
          <a:xfrm>
            <a:off x="5272887" y="1911095"/>
            <a:ext cx="2286000" cy="320040"/>
          </a:xfrm>
          <a:prstGeom prst="rect">
            <a:avLst/>
          </a:prstGeom>
          <a:noFill/>
        </p:spPr>
        <p:txBody>
          <a:bodyPr wrap="square" lIns="0" rIns="0" tIns="0" bIns="0" anchor="t">
            <a:spAutoFit/>
          </a:bodyPr>
          <a:lstStyle/>
          <a:p>
            <a:pPr algn="l"/>
            <a:r>
              <a:rPr sz="1800" b="1" i="0">
                <a:solidFill>
                  <a:srgbClr val="FFFFFF"/>
                </a:solidFill>
                <a:latin typeface="Courier New"/>
              </a:rPr>
              <a:t>CWA</a:t>
            </a:r>
          </a:p>
        </p:txBody>
      </p:sp>
      <p:sp>
        <p:nvSpPr>
          <p:cNvPr id="10" name="TextBox 9"/>
          <p:cNvSpPr txBox="1"/>
          <p:nvPr/>
        </p:nvSpPr>
        <p:spPr>
          <a:xfrm>
            <a:off x="5272887" y="2221991"/>
            <a:ext cx="2286000" cy="228600"/>
          </a:xfrm>
          <a:prstGeom prst="rect">
            <a:avLst/>
          </a:prstGeom>
          <a:noFill/>
        </p:spPr>
        <p:txBody>
          <a:bodyPr wrap="square" lIns="0" rIns="0" tIns="0" bIns="0" anchor="t">
            <a:spAutoFit/>
          </a:bodyPr>
          <a:lstStyle/>
          <a:p>
            <a:pPr algn="l"/>
            <a:r>
              <a:rPr sz="1050" b="0" i="0">
                <a:solidFill>
                  <a:srgbClr val="FFFFFF"/>
                </a:solidFill>
                <a:latin typeface="Arial"/>
              </a:rPr>
              <a:t>Construction Work Area</a:t>
            </a:r>
          </a:p>
        </p:txBody>
      </p:sp>
      <p:sp>
        <p:nvSpPr>
          <p:cNvPr id="11" name="TextBox 10"/>
          <p:cNvSpPr txBox="1"/>
          <p:nvPr/>
        </p:nvSpPr>
        <p:spPr>
          <a:xfrm>
            <a:off x="5272887" y="2459736"/>
            <a:ext cx="2286000" cy="228600"/>
          </a:xfrm>
          <a:prstGeom prst="rect">
            <a:avLst/>
          </a:prstGeom>
          <a:noFill/>
        </p:spPr>
        <p:txBody>
          <a:bodyPr wrap="square" lIns="0" rIns="0" tIns="0" bIns="0" anchor="t">
            <a:spAutoFit/>
          </a:bodyPr>
          <a:lstStyle/>
          <a:p>
            <a:pPr algn="l"/>
            <a:r>
              <a:rPr sz="1050" b="1" i="0">
                <a:solidFill>
                  <a:srgbClr val="FF9955"/>
                </a:solidFill>
                <a:latin typeface="Arial"/>
              </a:rPr>
              <a:t>Área del terreno · nivel 2</a:t>
            </a:r>
          </a:p>
        </p:txBody>
      </p:sp>
      <p:sp>
        <p:nvSpPr>
          <p:cNvPr id="12" name="Rectangle 11"/>
          <p:cNvSpPr/>
          <p:nvPr/>
        </p:nvSpPr>
        <p:spPr>
          <a:xfrm>
            <a:off x="4495647" y="3246120"/>
            <a:ext cx="3200400" cy="98755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helmet_w.png"/>
          <p:cNvPicPr>
            <a:picLocks noChangeAspect="1"/>
          </p:cNvPicPr>
          <p:nvPr/>
        </p:nvPicPr>
        <p:blipFill>
          <a:blip r:embed="rId3"/>
          <a:stretch>
            <a:fillRect/>
          </a:stretch>
        </p:blipFill>
        <p:spPr>
          <a:xfrm>
            <a:off x="4696815" y="3547872"/>
            <a:ext cx="384048" cy="384048"/>
          </a:xfrm>
          <a:prstGeom prst="rect">
            <a:avLst/>
          </a:prstGeom>
        </p:spPr>
      </p:pic>
      <p:sp>
        <p:nvSpPr>
          <p:cNvPr id="14" name="TextBox 13"/>
          <p:cNvSpPr txBox="1"/>
          <p:nvPr/>
        </p:nvSpPr>
        <p:spPr>
          <a:xfrm>
            <a:off x="5272887" y="3374136"/>
            <a:ext cx="2286000" cy="320040"/>
          </a:xfrm>
          <a:prstGeom prst="rect">
            <a:avLst/>
          </a:prstGeom>
          <a:noFill/>
        </p:spPr>
        <p:txBody>
          <a:bodyPr wrap="square" lIns="0" rIns="0" tIns="0" bIns="0" anchor="t">
            <a:spAutoFit/>
          </a:bodyPr>
          <a:lstStyle/>
          <a:p>
            <a:pPr algn="l"/>
            <a:r>
              <a:rPr sz="1800" b="1" i="0">
                <a:solidFill>
                  <a:srgbClr val="FFFFFF"/>
                </a:solidFill>
                <a:latin typeface="Courier New"/>
              </a:rPr>
              <a:t>CWP</a:t>
            </a:r>
          </a:p>
        </p:txBody>
      </p:sp>
      <p:sp>
        <p:nvSpPr>
          <p:cNvPr id="15" name="TextBox 14"/>
          <p:cNvSpPr txBox="1"/>
          <p:nvPr/>
        </p:nvSpPr>
        <p:spPr>
          <a:xfrm>
            <a:off x="5272887" y="3685031"/>
            <a:ext cx="2286000" cy="228600"/>
          </a:xfrm>
          <a:prstGeom prst="rect">
            <a:avLst/>
          </a:prstGeom>
          <a:noFill/>
        </p:spPr>
        <p:txBody>
          <a:bodyPr wrap="square" lIns="0" rIns="0" tIns="0" bIns="0" anchor="t">
            <a:spAutoFit/>
          </a:bodyPr>
          <a:lstStyle/>
          <a:p>
            <a:pPr algn="l"/>
            <a:r>
              <a:rPr sz="1050" b="0" i="0">
                <a:solidFill>
                  <a:srgbClr val="FFFFFF"/>
                </a:solidFill>
                <a:latin typeface="Arial"/>
              </a:rPr>
              <a:t>Construction Work Package</a:t>
            </a:r>
          </a:p>
        </p:txBody>
      </p:sp>
      <p:sp>
        <p:nvSpPr>
          <p:cNvPr id="16" name="TextBox 15"/>
          <p:cNvSpPr txBox="1"/>
          <p:nvPr/>
        </p:nvSpPr>
        <p:spPr>
          <a:xfrm>
            <a:off x="5272887" y="3922776"/>
            <a:ext cx="2286000" cy="228600"/>
          </a:xfrm>
          <a:prstGeom prst="rect">
            <a:avLst/>
          </a:prstGeom>
          <a:noFill/>
        </p:spPr>
        <p:txBody>
          <a:bodyPr wrap="square" lIns="0" rIns="0" tIns="0" bIns="0" anchor="t">
            <a:spAutoFit/>
          </a:bodyPr>
          <a:lstStyle/>
          <a:p>
            <a:pPr algn="l"/>
            <a:r>
              <a:rPr sz="1050" b="1" i="0">
                <a:solidFill>
                  <a:srgbClr val="FFFFFF"/>
                </a:solidFill>
                <a:latin typeface="Arial"/>
              </a:rPr>
              <a:t>1 disciplina · &lt; 40 000 HH · nivel 3</a:t>
            </a:r>
          </a:p>
        </p:txBody>
      </p:sp>
      <p:sp>
        <p:nvSpPr>
          <p:cNvPr id="17" name="Rectangle 16"/>
          <p:cNvSpPr/>
          <p:nvPr/>
        </p:nvSpPr>
        <p:spPr>
          <a:xfrm>
            <a:off x="685800" y="3246120"/>
            <a:ext cx="3200400" cy="987552"/>
          </a:xfrm>
          <a:prstGeom prst="rect">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ruler_w.png"/>
          <p:cNvPicPr>
            <a:picLocks noChangeAspect="1"/>
          </p:cNvPicPr>
          <p:nvPr/>
        </p:nvPicPr>
        <p:blipFill>
          <a:blip r:embed="rId4"/>
          <a:stretch>
            <a:fillRect/>
          </a:stretch>
        </p:blipFill>
        <p:spPr>
          <a:xfrm>
            <a:off x="886968" y="3547872"/>
            <a:ext cx="384048" cy="384048"/>
          </a:xfrm>
          <a:prstGeom prst="rect">
            <a:avLst/>
          </a:prstGeom>
        </p:spPr>
      </p:pic>
      <p:sp>
        <p:nvSpPr>
          <p:cNvPr id="19" name="TextBox 18"/>
          <p:cNvSpPr txBox="1"/>
          <p:nvPr/>
        </p:nvSpPr>
        <p:spPr>
          <a:xfrm>
            <a:off x="1463040" y="3374136"/>
            <a:ext cx="2286000" cy="320040"/>
          </a:xfrm>
          <a:prstGeom prst="rect">
            <a:avLst/>
          </a:prstGeom>
          <a:noFill/>
        </p:spPr>
        <p:txBody>
          <a:bodyPr wrap="square" lIns="0" rIns="0" tIns="0" bIns="0" anchor="t">
            <a:spAutoFit/>
          </a:bodyPr>
          <a:lstStyle/>
          <a:p>
            <a:pPr algn="l"/>
            <a:r>
              <a:rPr sz="1800" b="1" i="0">
                <a:solidFill>
                  <a:srgbClr val="FFFFFF"/>
                </a:solidFill>
                <a:latin typeface="Courier New"/>
              </a:rPr>
              <a:t>EWP</a:t>
            </a:r>
          </a:p>
        </p:txBody>
      </p:sp>
      <p:sp>
        <p:nvSpPr>
          <p:cNvPr id="20" name="TextBox 19"/>
          <p:cNvSpPr txBox="1"/>
          <p:nvPr/>
        </p:nvSpPr>
        <p:spPr>
          <a:xfrm>
            <a:off x="1463040" y="3685031"/>
            <a:ext cx="2286000" cy="228600"/>
          </a:xfrm>
          <a:prstGeom prst="rect">
            <a:avLst/>
          </a:prstGeom>
          <a:noFill/>
        </p:spPr>
        <p:txBody>
          <a:bodyPr wrap="square" lIns="0" rIns="0" tIns="0" bIns="0" anchor="t">
            <a:spAutoFit/>
          </a:bodyPr>
          <a:lstStyle/>
          <a:p>
            <a:pPr algn="l"/>
            <a:r>
              <a:rPr sz="1050" b="0" i="0">
                <a:solidFill>
                  <a:srgbClr val="FFFFFF"/>
                </a:solidFill>
                <a:latin typeface="Arial"/>
              </a:rPr>
              <a:t>Engineering Work Package</a:t>
            </a:r>
          </a:p>
        </p:txBody>
      </p:sp>
      <p:sp>
        <p:nvSpPr>
          <p:cNvPr id="21" name="TextBox 20"/>
          <p:cNvSpPr txBox="1"/>
          <p:nvPr/>
        </p:nvSpPr>
        <p:spPr>
          <a:xfrm>
            <a:off x="1463040" y="3922776"/>
            <a:ext cx="2286000" cy="228600"/>
          </a:xfrm>
          <a:prstGeom prst="rect">
            <a:avLst/>
          </a:prstGeom>
          <a:noFill/>
        </p:spPr>
        <p:txBody>
          <a:bodyPr wrap="square" lIns="0" rIns="0" tIns="0" bIns="0" anchor="t">
            <a:spAutoFit/>
          </a:bodyPr>
          <a:lstStyle/>
          <a:p>
            <a:pPr algn="l"/>
            <a:r>
              <a:rPr sz="1050" b="1" i="0">
                <a:solidFill>
                  <a:srgbClr val="A8CFE8"/>
                </a:solidFill>
                <a:latin typeface="Arial"/>
              </a:rPr>
              <a:t>Planos, specs, lista de materiales</a:t>
            </a:r>
          </a:p>
        </p:txBody>
      </p:sp>
      <p:sp>
        <p:nvSpPr>
          <p:cNvPr id="22" name="Rectangle 21"/>
          <p:cNvSpPr/>
          <p:nvPr/>
        </p:nvSpPr>
        <p:spPr>
          <a:xfrm>
            <a:off x="8305495" y="3246120"/>
            <a:ext cx="3200400" cy="987552"/>
          </a:xfrm>
          <a:prstGeom prst="rect">
            <a:avLst/>
          </a:prstGeom>
          <a:solidFill>
            <a:srgbClr val="0078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truck_w.png"/>
          <p:cNvPicPr>
            <a:picLocks noChangeAspect="1"/>
          </p:cNvPicPr>
          <p:nvPr/>
        </p:nvPicPr>
        <p:blipFill>
          <a:blip r:embed="rId5"/>
          <a:stretch>
            <a:fillRect/>
          </a:stretch>
        </p:blipFill>
        <p:spPr>
          <a:xfrm>
            <a:off x="8506663" y="3547872"/>
            <a:ext cx="384048" cy="384048"/>
          </a:xfrm>
          <a:prstGeom prst="rect">
            <a:avLst/>
          </a:prstGeom>
        </p:spPr>
      </p:pic>
      <p:sp>
        <p:nvSpPr>
          <p:cNvPr id="24" name="TextBox 23"/>
          <p:cNvSpPr txBox="1"/>
          <p:nvPr/>
        </p:nvSpPr>
        <p:spPr>
          <a:xfrm>
            <a:off x="9082735" y="3374136"/>
            <a:ext cx="2286000" cy="320040"/>
          </a:xfrm>
          <a:prstGeom prst="rect">
            <a:avLst/>
          </a:prstGeom>
          <a:noFill/>
        </p:spPr>
        <p:txBody>
          <a:bodyPr wrap="square" lIns="0" rIns="0" tIns="0" bIns="0" anchor="t">
            <a:spAutoFit/>
          </a:bodyPr>
          <a:lstStyle/>
          <a:p>
            <a:pPr algn="l"/>
            <a:r>
              <a:rPr sz="1800" b="1" i="0">
                <a:solidFill>
                  <a:srgbClr val="FFFFFF"/>
                </a:solidFill>
                <a:latin typeface="Courier New"/>
              </a:rPr>
              <a:t>PWP</a:t>
            </a:r>
          </a:p>
        </p:txBody>
      </p:sp>
      <p:sp>
        <p:nvSpPr>
          <p:cNvPr id="25" name="TextBox 24"/>
          <p:cNvSpPr txBox="1"/>
          <p:nvPr/>
        </p:nvSpPr>
        <p:spPr>
          <a:xfrm>
            <a:off x="9082735" y="3685031"/>
            <a:ext cx="2286000" cy="228600"/>
          </a:xfrm>
          <a:prstGeom prst="rect">
            <a:avLst/>
          </a:prstGeom>
          <a:noFill/>
        </p:spPr>
        <p:txBody>
          <a:bodyPr wrap="square" lIns="0" rIns="0" tIns="0" bIns="0" anchor="t">
            <a:spAutoFit/>
          </a:bodyPr>
          <a:lstStyle/>
          <a:p>
            <a:pPr algn="l"/>
            <a:r>
              <a:rPr sz="1050" b="0" i="0">
                <a:solidFill>
                  <a:srgbClr val="FFFFFF"/>
                </a:solidFill>
                <a:latin typeface="Arial"/>
              </a:rPr>
              <a:t>Procurement Work Package</a:t>
            </a:r>
          </a:p>
        </p:txBody>
      </p:sp>
      <p:sp>
        <p:nvSpPr>
          <p:cNvPr id="26" name="TextBox 25"/>
          <p:cNvSpPr txBox="1"/>
          <p:nvPr/>
        </p:nvSpPr>
        <p:spPr>
          <a:xfrm>
            <a:off x="9082735" y="3922776"/>
            <a:ext cx="2286000" cy="228600"/>
          </a:xfrm>
          <a:prstGeom prst="rect">
            <a:avLst/>
          </a:prstGeom>
          <a:noFill/>
        </p:spPr>
        <p:txBody>
          <a:bodyPr wrap="square" lIns="0" rIns="0" tIns="0" bIns="0" anchor="t">
            <a:spAutoFit/>
          </a:bodyPr>
          <a:lstStyle/>
          <a:p>
            <a:pPr algn="l"/>
            <a:r>
              <a:rPr sz="1050" b="1" i="0">
                <a:solidFill>
                  <a:srgbClr val="FFFFFF"/>
                </a:solidFill>
                <a:latin typeface="Arial"/>
              </a:rPr>
              <a:t>Materiales y equipos del CWP</a:t>
            </a:r>
          </a:p>
        </p:txBody>
      </p:sp>
      <p:cxnSp>
        <p:nvCxnSpPr>
          <p:cNvPr id="27" name="Connector 26"/>
          <p:cNvCxnSpPr/>
          <p:nvPr/>
        </p:nvCxnSpPr>
        <p:spPr>
          <a:xfrm>
            <a:off x="3959352" y="3739896"/>
            <a:ext cx="444855" cy="0"/>
          </a:xfrm>
          <a:prstGeom prst="line">
            <a:avLst/>
          </a:prstGeom>
          <a:ln w="22225">
            <a:solidFill>
              <a:srgbClr val="00308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7787487" y="3739896"/>
            <a:ext cx="444856" cy="0"/>
          </a:xfrm>
          <a:prstGeom prst="line">
            <a:avLst/>
          </a:prstGeom>
          <a:ln w="22225">
            <a:solidFill>
              <a:srgbClr val="0078C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095847" y="2825496"/>
            <a:ext cx="0" cy="347472"/>
          </a:xfrm>
          <a:prstGeom prst="line">
            <a:avLst/>
          </a:prstGeom>
          <a:ln w="22225">
            <a:solidFill>
              <a:srgbClr val="6D6E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2438247" y="4709160"/>
            <a:ext cx="2286000" cy="8686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clip_o.png"/>
          <p:cNvPicPr>
            <a:picLocks noChangeAspect="1"/>
          </p:cNvPicPr>
          <p:nvPr/>
        </p:nvPicPr>
        <p:blipFill>
          <a:blip r:embed="rId6"/>
          <a:stretch>
            <a:fillRect/>
          </a:stretch>
        </p:blipFill>
        <p:spPr>
          <a:xfrm>
            <a:off x="2621127" y="4946904"/>
            <a:ext cx="384048" cy="384048"/>
          </a:xfrm>
          <a:prstGeom prst="rect">
            <a:avLst/>
          </a:prstGeom>
        </p:spPr>
      </p:pic>
      <p:sp>
        <p:nvSpPr>
          <p:cNvPr id="32" name="TextBox 31"/>
          <p:cNvSpPr txBox="1"/>
          <p:nvPr/>
        </p:nvSpPr>
        <p:spPr>
          <a:xfrm>
            <a:off x="3169767" y="4837176"/>
            <a:ext cx="1463040" cy="320040"/>
          </a:xfrm>
          <a:prstGeom prst="rect">
            <a:avLst/>
          </a:prstGeom>
          <a:noFill/>
        </p:spPr>
        <p:txBody>
          <a:bodyPr wrap="square" lIns="0" rIns="0" tIns="0" bIns="0" anchor="t">
            <a:spAutoFit/>
          </a:bodyPr>
          <a:lstStyle/>
          <a:p>
            <a:pPr algn="l"/>
            <a:r>
              <a:rPr sz="1500" b="1" i="0">
                <a:solidFill>
                  <a:srgbClr val="1A1A1A"/>
                </a:solidFill>
                <a:latin typeface="Courier New"/>
              </a:rPr>
              <a:t>IWP-01</a:t>
            </a:r>
          </a:p>
        </p:txBody>
      </p:sp>
      <p:sp>
        <p:nvSpPr>
          <p:cNvPr id="33" name="TextBox 32"/>
          <p:cNvSpPr txBox="1"/>
          <p:nvPr/>
        </p:nvSpPr>
        <p:spPr>
          <a:xfrm>
            <a:off x="3169767" y="5184648"/>
            <a:ext cx="1463040" cy="274320"/>
          </a:xfrm>
          <a:prstGeom prst="rect">
            <a:avLst/>
          </a:prstGeom>
          <a:noFill/>
        </p:spPr>
        <p:txBody>
          <a:bodyPr wrap="square" lIns="0" rIns="0" tIns="0" bIns="0" anchor="t">
            <a:spAutoFit/>
          </a:bodyPr>
          <a:lstStyle/>
          <a:p>
            <a:pPr algn="l"/>
            <a:r>
              <a:rPr sz="1050" b="0" i="0">
                <a:solidFill>
                  <a:srgbClr val="6D6E71"/>
                </a:solidFill>
                <a:latin typeface="Arial"/>
              </a:rPr>
              <a:t>1 cuadrilla · 1 semana</a:t>
            </a:r>
          </a:p>
        </p:txBody>
      </p:sp>
      <p:cxnSp>
        <p:nvCxnSpPr>
          <p:cNvPr id="34" name="Connector 33"/>
          <p:cNvCxnSpPr/>
          <p:nvPr/>
        </p:nvCxnSpPr>
        <p:spPr>
          <a:xfrm flipH="1">
            <a:off x="3581247" y="4288536"/>
            <a:ext cx="2514600" cy="347472"/>
          </a:xfrm>
          <a:prstGeom prst="line">
            <a:avLst/>
          </a:prstGeom>
          <a:ln w="15875">
            <a:solidFill>
              <a:srgbClr val="6D6E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4952847" y="4709160"/>
            <a:ext cx="2286000" cy="8686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Picture 35" descr="clip_o.png"/>
          <p:cNvPicPr>
            <a:picLocks noChangeAspect="1"/>
          </p:cNvPicPr>
          <p:nvPr/>
        </p:nvPicPr>
        <p:blipFill>
          <a:blip r:embed="rId6"/>
          <a:stretch>
            <a:fillRect/>
          </a:stretch>
        </p:blipFill>
        <p:spPr>
          <a:xfrm>
            <a:off x="5135727" y="4946904"/>
            <a:ext cx="384048" cy="384048"/>
          </a:xfrm>
          <a:prstGeom prst="rect">
            <a:avLst/>
          </a:prstGeom>
        </p:spPr>
      </p:pic>
      <p:sp>
        <p:nvSpPr>
          <p:cNvPr id="37" name="TextBox 36"/>
          <p:cNvSpPr txBox="1"/>
          <p:nvPr/>
        </p:nvSpPr>
        <p:spPr>
          <a:xfrm>
            <a:off x="5684367" y="4837176"/>
            <a:ext cx="1463040" cy="320040"/>
          </a:xfrm>
          <a:prstGeom prst="rect">
            <a:avLst/>
          </a:prstGeom>
          <a:noFill/>
        </p:spPr>
        <p:txBody>
          <a:bodyPr wrap="square" lIns="0" rIns="0" tIns="0" bIns="0" anchor="t">
            <a:spAutoFit/>
          </a:bodyPr>
          <a:lstStyle/>
          <a:p>
            <a:pPr algn="l"/>
            <a:r>
              <a:rPr sz="1500" b="1" i="0">
                <a:solidFill>
                  <a:srgbClr val="1A1A1A"/>
                </a:solidFill>
                <a:latin typeface="Courier New"/>
              </a:rPr>
              <a:t>IWP-02</a:t>
            </a:r>
          </a:p>
        </p:txBody>
      </p:sp>
      <p:sp>
        <p:nvSpPr>
          <p:cNvPr id="38" name="TextBox 37"/>
          <p:cNvSpPr txBox="1"/>
          <p:nvPr/>
        </p:nvSpPr>
        <p:spPr>
          <a:xfrm>
            <a:off x="5684367" y="5184648"/>
            <a:ext cx="1463040" cy="274320"/>
          </a:xfrm>
          <a:prstGeom prst="rect">
            <a:avLst/>
          </a:prstGeom>
          <a:noFill/>
        </p:spPr>
        <p:txBody>
          <a:bodyPr wrap="square" lIns="0" rIns="0" tIns="0" bIns="0" anchor="t">
            <a:spAutoFit/>
          </a:bodyPr>
          <a:lstStyle/>
          <a:p>
            <a:pPr algn="l"/>
            <a:r>
              <a:rPr sz="1050" b="0" i="0">
                <a:solidFill>
                  <a:srgbClr val="6D6E71"/>
                </a:solidFill>
                <a:latin typeface="Arial"/>
              </a:rPr>
              <a:t>1 cuadrilla · 1 semana</a:t>
            </a:r>
          </a:p>
        </p:txBody>
      </p:sp>
      <p:cxnSp>
        <p:nvCxnSpPr>
          <p:cNvPr id="39" name="Connector 38"/>
          <p:cNvCxnSpPr/>
          <p:nvPr/>
        </p:nvCxnSpPr>
        <p:spPr>
          <a:xfrm>
            <a:off x="6095847" y="4288536"/>
            <a:ext cx="0" cy="347472"/>
          </a:xfrm>
          <a:prstGeom prst="line">
            <a:avLst/>
          </a:prstGeom>
          <a:ln w="15875">
            <a:solidFill>
              <a:srgbClr val="6D6E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7467447" y="4709160"/>
            <a:ext cx="2286000" cy="8686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clip_o.png"/>
          <p:cNvPicPr>
            <a:picLocks noChangeAspect="1"/>
          </p:cNvPicPr>
          <p:nvPr/>
        </p:nvPicPr>
        <p:blipFill>
          <a:blip r:embed="rId6"/>
          <a:stretch>
            <a:fillRect/>
          </a:stretch>
        </p:blipFill>
        <p:spPr>
          <a:xfrm>
            <a:off x="7650327" y="4946904"/>
            <a:ext cx="384048" cy="384048"/>
          </a:xfrm>
          <a:prstGeom prst="rect">
            <a:avLst/>
          </a:prstGeom>
        </p:spPr>
      </p:pic>
      <p:sp>
        <p:nvSpPr>
          <p:cNvPr id="42" name="TextBox 41"/>
          <p:cNvSpPr txBox="1"/>
          <p:nvPr/>
        </p:nvSpPr>
        <p:spPr>
          <a:xfrm>
            <a:off x="8198967" y="4837176"/>
            <a:ext cx="1463040" cy="320040"/>
          </a:xfrm>
          <a:prstGeom prst="rect">
            <a:avLst/>
          </a:prstGeom>
          <a:noFill/>
        </p:spPr>
        <p:txBody>
          <a:bodyPr wrap="square" lIns="0" rIns="0" tIns="0" bIns="0" anchor="t">
            <a:spAutoFit/>
          </a:bodyPr>
          <a:lstStyle/>
          <a:p>
            <a:pPr algn="l"/>
            <a:r>
              <a:rPr sz="1500" b="1" i="0">
                <a:solidFill>
                  <a:srgbClr val="1A1A1A"/>
                </a:solidFill>
                <a:latin typeface="Courier New"/>
              </a:rPr>
              <a:t>IWP-03</a:t>
            </a:r>
          </a:p>
        </p:txBody>
      </p:sp>
      <p:sp>
        <p:nvSpPr>
          <p:cNvPr id="43" name="TextBox 42"/>
          <p:cNvSpPr txBox="1"/>
          <p:nvPr/>
        </p:nvSpPr>
        <p:spPr>
          <a:xfrm>
            <a:off x="8198967" y="5184648"/>
            <a:ext cx="1463040" cy="274320"/>
          </a:xfrm>
          <a:prstGeom prst="rect">
            <a:avLst/>
          </a:prstGeom>
          <a:noFill/>
        </p:spPr>
        <p:txBody>
          <a:bodyPr wrap="square" lIns="0" rIns="0" tIns="0" bIns="0" anchor="t">
            <a:spAutoFit/>
          </a:bodyPr>
          <a:lstStyle/>
          <a:p>
            <a:pPr algn="l"/>
            <a:r>
              <a:rPr sz="1050" b="0" i="0">
                <a:solidFill>
                  <a:srgbClr val="6D6E71"/>
                </a:solidFill>
                <a:latin typeface="Arial"/>
              </a:rPr>
              <a:t>1 cuadrilla · 1 semana</a:t>
            </a:r>
          </a:p>
        </p:txBody>
      </p:sp>
      <p:cxnSp>
        <p:nvCxnSpPr>
          <p:cNvPr id="44" name="Connector 43"/>
          <p:cNvCxnSpPr/>
          <p:nvPr/>
        </p:nvCxnSpPr>
        <p:spPr>
          <a:xfrm>
            <a:off x="6095847" y="4288536"/>
            <a:ext cx="2514600" cy="347472"/>
          </a:xfrm>
          <a:prstGeom prst="line">
            <a:avLst/>
          </a:prstGeom>
          <a:ln w="15875">
            <a:solidFill>
              <a:srgbClr val="6D6E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2438247" y="5733288"/>
            <a:ext cx="7315200" cy="274320"/>
          </a:xfrm>
          <a:prstGeom prst="rect">
            <a:avLst/>
          </a:prstGeom>
          <a:noFill/>
        </p:spPr>
        <p:txBody>
          <a:bodyPr wrap="square" lIns="0" rIns="0" tIns="0" bIns="0" anchor="t">
            <a:spAutoFit/>
          </a:bodyPr>
          <a:lstStyle/>
          <a:p>
            <a:pPr algn="ctr"/>
            <a:r>
              <a:rPr sz="1100" b="1" i="0">
                <a:solidFill>
                  <a:srgbClr val="1A1A1A"/>
                </a:solidFill>
                <a:latin typeface="Arial"/>
              </a:rPr>
              <a:t>Installation Work Package (IWP): </a:t>
            </a:r>
            <a:r>
              <a:rPr sz="1100" b="0" i="0">
                <a:solidFill>
                  <a:srgbClr val="6D6E71"/>
                </a:solidFill>
                <a:latin typeface="Arial"/>
              </a:rPr>
              <a:t>lo que recibe el capataz · nivel 5</a:t>
            </a:r>
          </a:p>
        </p:txBody>
      </p:sp>
      <p:sp>
        <p:nvSpPr>
          <p:cNvPr id="46" name="TextBox 45"/>
          <p:cNvSpPr txBox="1"/>
          <p:nvPr/>
        </p:nvSpPr>
        <p:spPr>
          <a:xfrm>
            <a:off x="10027767" y="4754880"/>
            <a:ext cx="2468880" cy="822960"/>
          </a:xfrm>
          <a:prstGeom prst="rect">
            <a:avLst/>
          </a:prstGeom>
          <a:noFill/>
        </p:spPr>
        <p:txBody>
          <a:bodyPr wrap="square" lIns="0" rIns="0" tIns="0" bIns="0" anchor="t">
            <a:spAutoFit/>
          </a:bodyPr>
          <a:lstStyle/>
          <a:p>
            <a:pPr algn="l">
              <a:lnSpc>
                <a:spcPct val="110000"/>
              </a:lnSpc>
            </a:pPr>
            <a:r>
              <a:rPr sz="1100" b="1" i="0">
                <a:solidFill>
                  <a:srgbClr val="FF6600"/>
                </a:solidFill>
                <a:latin typeface="Arial"/>
              </a:rPr>
              <a:t>Regla base</a:t>
            </a:r>
          </a:p>
          <a:p>
            <a:pPr algn="l">
              <a:lnSpc>
                <a:spcPct val="110000"/>
              </a:lnSpc>
            </a:pPr>
            <a:r>
              <a:rPr sz="1100" b="0" i="0">
                <a:solidFill>
                  <a:srgbClr val="2E2E2E"/>
                </a:solidFill>
                <a:latin typeface="Arial"/>
              </a:rPr>
              <a:t>1 EWP = 1 PWP = 1 CWP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2 · CWA</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La Construction Work Area (CWA) es la primera división del terreno</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M2 · QUÉ ES AWP</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017</a:t>
            </a:r>
          </a:p>
        </p:txBody>
      </p:sp>
      <p:sp>
        <p:nvSpPr>
          <p:cNvPr id="7" name="Rectangle 6"/>
          <p:cNvSpPr/>
          <p:nvPr/>
        </p:nvSpPr>
        <p:spPr>
          <a:xfrm>
            <a:off x="548640" y="1828800"/>
            <a:ext cx="6949440" cy="434340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3840480"/>
            <a:ext cx="6492240" cy="320040"/>
          </a:xfrm>
          <a:prstGeom prst="rect">
            <a:avLst/>
          </a:prstGeom>
          <a:solidFill>
            <a:srgbClr val="E3EEF7"/>
          </a:solidFill>
          <a:ln w="9525">
            <a:solidFill>
              <a:srgbClr val="A8C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377440" y="3840480"/>
            <a:ext cx="4754879" cy="320040"/>
          </a:xfrm>
          <a:prstGeom prst="rect">
            <a:avLst/>
          </a:prstGeom>
          <a:noFill/>
        </p:spPr>
        <p:txBody>
          <a:bodyPr wrap="square" lIns="0" rIns="0" tIns="0" bIns="0" anchor="ctr">
            <a:spAutoFit/>
          </a:bodyPr>
          <a:lstStyle/>
          <a:p>
            <a:pPr algn="r"/>
            <a:r>
              <a:rPr sz="900" b="1" i="0" spc="100">
                <a:solidFill>
                  <a:srgbClr val="003087"/>
                </a:solidFill>
                <a:latin typeface="Arial"/>
              </a:rPr>
              <a:t>RACK DE TUBERÍAS · CWA-05</a:t>
            </a:r>
          </a:p>
        </p:txBody>
      </p:sp>
      <p:sp>
        <p:nvSpPr>
          <p:cNvPr id="10" name="Rectangle 9"/>
          <p:cNvSpPr/>
          <p:nvPr/>
        </p:nvSpPr>
        <p:spPr>
          <a:xfrm>
            <a:off x="777240" y="2057400"/>
            <a:ext cx="2103120" cy="1645920"/>
          </a:xfrm>
          <a:prstGeom prst="rect">
            <a:avLst/>
          </a:prstGeom>
          <a:solidFill>
            <a:srgbClr val="FFE3CF"/>
          </a:solidFill>
          <a:ln w="9525">
            <a:solidFill>
              <a:srgbClr val="FF66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86968" y="2130552"/>
            <a:ext cx="1920239" cy="228600"/>
          </a:xfrm>
          <a:prstGeom prst="rect">
            <a:avLst/>
          </a:prstGeom>
          <a:noFill/>
        </p:spPr>
        <p:txBody>
          <a:bodyPr wrap="square" lIns="0" rIns="0" tIns="0" bIns="0" anchor="t">
            <a:spAutoFit/>
          </a:bodyPr>
          <a:lstStyle/>
          <a:p>
            <a:pPr algn="l"/>
            <a:r>
              <a:rPr sz="1000" b="1" i="0">
                <a:solidFill>
                  <a:srgbClr val="CC4400"/>
                </a:solidFill>
                <a:latin typeface="Courier New"/>
              </a:rPr>
              <a:t>CWA-01</a:t>
            </a:r>
          </a:p>
        </p:txBody>
      </p:sp>
      <p:sp>
        <p:nvSpPr>
          <p:cNvPr id="12" name="TextBox 11"/>
          <p:cNvSpPr txBox="1"/>
          <p:nvPr/>
        </p:nvSpPr>
        <p:spPr>
          <a:xfrm>
            <a:off x="886968" y="2359152"/>
            <a:ext cx="1920239" cy="274320"/>
          </a:xfrm>
          <a:prstGeom prst="rect">
            <a:avLst/>
          </a:prstGeom>
          <a:noFill/>
        </p:spPr>
        <p:txBody>
          <a:bodyPr wrap="square" lIns="0" rIns="0" tIns="0" bIns="0" anchor="t">
            <a:spAutoFit/>
          </a:bodyPr>
          <a:lstStyle/>
          <a:p>
            <a:pPr algn="l"/>
            <a:r>
              <a:rPr sz="1000" b="0" i="0">
                <a:solidFill>
                  <a:srgbClr val="6D6E71"/>
                </a:solidFill>
                <a:latin typeface="Arial"/>
              </a:rPr>
              <a:t>Unidad de proceso</a:t>
            </a:r>
          </a:p>
        </p:txBody>
      </p:sp>
      <p:sp>
        <p:nvSpPr>
          <p:cNvPr id="13" name="Rectangle 12"/>
          <p:cNvSpPr/>
          <p:nvPr/>
        </p:nvSpPr>
        <p:spPr>
          <a:xfrm>
            <a:off x="3017520" y="2057400"/>
            <a:ext cx="1920240" cy="1645920"/>
          </a:xfrm>
          <a:prstGeom prst="rect">
            <a:avLst/>
          </a:prstGeom>
          <a:solidFill>
            <a:srgbClr val="F2F2F2"/>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127248" y="2130552"/>
            <a:ext cx="1737360" cy="228600"/>
          </a:xfrm>
          <a:prstGeom prst="rect">
            <a:avLst/>
          </a:prstGeom>
          <a:noFill/>
        </p:spPr>
        <p:txBody>
          <a:bodyPr wrap="square" lIns="0" rIns="0" tIns="0" bIns="0" anchor="t">
            <a:spAutoFit/>
          </a:bodyPr>
          <a:lstStyle/>
          <a:p>
            <a:pPr algn="l"/>
            <a:r>
              <a:rPr sz="1000" b="1" i="0">
                <a:solidFill>
                  <a:srgbClr val="003087"/>
                </a:solidFill>
                <a:latin typeface="Courier New"/>
              </a:rPr>
              <a:t>CWA-02</a:t>
            </a:r>
          </a:p>
        </p:txBody>
      </p:sp>
      <p:sp>
        <p:nvSpPr>
          <p:cNvPr id="15" name="TextBox 14"/>
          <p:cNvSpPr txBox="1"/>
          <p:nvPr/>
        </p:nvSpPr>
        <p:spPr>
          <a:xfrm>
            <a:off x="3127248" y="2359152"/>
            <a:ext cx="1737360" cy="274320"/>
          </a:xfrm>
          <a:prstGeom prst="rect">
            <a:avLst/>
          </a:prstGeom>
          <a:noFill/>
        </p:spPr>
        <p:txBody>
          <a:bodyPr wrap="square" lIns="0" rIns="0" tIns="0" bIns="0" anchor="t">
            <a:spAutoFit/>
          </a:bodyPr>
          <a:lstStyle/>
          <a:p>
            <a:pPr algn="l"/>
            <a:r>
              <a:rPr sz="1000" b="0" i="0">
                <a:solidFill>
                  <a:srgbClr val="6D6E71"/>
                </a:solidFill>
                <a:latin typeface="Arial"/>
              </a:rPr>
              <a:t>Compresión</a:t>
            </a:r>
          </a:p>
        </p:txBody>
      </p:sp>
      <p:sp>
        <p:nvSpPr>
          <p:cNvPr id="16" name="Rectangle 15"/>
          <p:cNvSpPr/>
          <p:nvPr/>
        </p:nvSpPr>
        <p:spPr>
          <a:xfrm>
            <a:off x="5074920" y="2057400"/>
            <a:ext cx="2194560" cy="777240"/>
          </a:xfrm>
          <a:prstGeom prst="rect">
            <a:avLst/>
          </a:prstGeom>
          <a:solidFill>
            <a:srgbClr val="F2F2F2"/>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184648" y="2130552"/>
            <a:ext cx="2011679" cy="228600"/>
          </a:xfrm>
          <a:prstGeom prst="rect">
            <a:avLst/>
          </a:prstGeom>
          <a:noFill/>
        </p:spPr>
        <p:txBody>
          <a:bodyPr wrap="square" lIns="0" rIns="0" tIns="0" bIns="0" anchor="t">
            <a:spAutoFit/>
          </a:bodyPr>
          <a:lstStyle/>
          <a:p>
            <a:pPr algn="l"/>
            <a:r>
              <a:rPr sz="1000" b="1" i="0">
                <a:solidFill>
                  <a:srgbClr val="003087"/>
                </a:solidFill>
                <a:latin typeface="Courier New"/>
              </a:rPr>
              <a:t>CWA-03</a:t>
            </a:r>
          </a:p>
        </p:txBody>
      </p:sp>
      <p:sp>
        <p:nvSpPr>
          <p:cNvPr id="18" name="TextBox 17"/>
          <p:cNvSpPr txBox="1"/>
          <p:nvPr/>
        </p:nvSpPr>
        <p:spPr>
          <a:xfrm>
            <a:off x="5184648" y="2359152"/>
            <a:ext cx="2011679" cy="274320"/>
          </a:xfrm>
          <a:prstGeom prst="rect">
            <a:avLst/>
          </a:prstGeom>
          <a:noFill/>
        </p:spPr>
        <p:txBody>
          <a:bodyPr wrap="square" lIns="0" rIns="0" tIns="0" bIns="0" anchor="t">
            <a:spAutoFit/>
          </a:bodyPr>
          <a:lstStyle/>
          <a:p>
            <a:pPr algn="l"/>
            <a:r>
              <a:rPr sz="1000" b="0" i="0">
                <a:solidFill>
                  <a:srgbClr val="6D6E71"/>
                </a:solidFill>
                <a:latin typeface="Arial"/>
              </a:rPr>
              <a:t>Subestación</a:t>
            </a:r>
          </a:p>
        </p:txBody>
      </p:sp>
      <p:sp>
        <p:nvSpPr>
          <p:cNvPr id="19" name="Rectangle 18"/>
          <p:cNvSpPr/>
          <p:nvPr/>
        </p:nvSpPr>
        <p:spPr>
          <a:xfrm>
            <a:off x="5074920" y="2926080"/>
            <a:ext cx="2194560" cy="777240"/>
          </a:xfrm>
          <a:prstGeom prst="rect">
            <a:avLst/>
          </a:prstGeom>
          <a:solidFill>
            <a:srgbClr val="F2F2F2"/>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184648" y="2999232"/>
            <a:ext cx="2011679" cy="228600"/>
          </a:xfrm>
          <a:prstGeom prst="rect">
            <a:avLst/>
          </a:prstGeom>
          <a:noFill/>
        </p:spPr>
        <p:txBody>
          <a:bodyPr wrap="square" lIns="0" rIns="0" tIns="0" bIns="0" anchor="t">
            <a:spAutoFit/>
          </a:bodyPr>
          <a:lstStyle/>
          <a:p>
            <a:pPr algn="l"/>
            <a:r>
              <a:rPr sz="1000" b="1" i="0">
                <a:solidFill>
                  <a:srgbClr val="003087"/>
                </a:solidFill>
                <a:latin typeface="Courier New"/>
              </a:rPr>
              <a:t>CWA-04</a:t>
            </a:r>
          </a:p>
        </p:txBody>
      </p:sp>
      <p:sp>
        <p:nvSpPr>
          <p:cNvPr id="21" name="TextBox 20"/>
          <p:cNvSpPr txBox="1"/>
          <p:nvPr/>
        </p:nvSpPr>
        <p:spPr>
          <a:xfrm>
            <a:off x="5184648" y="3227832"/>
            <a:ext cx="2011679" cy="274320"/>
          </a:xfrm>
          <a:prstGeom prst="rect">
            <a:avLst/>
          </a:prstGeom>
          <a:noFill/>
        </p:spPr>
        <p:txBody>
          <a:bodyPr wrap="square" lIns="0" rIns="0" tIns="0" bIns="0" anchor="t">
            <a:spAutoFit/>
          </a:bodyPr>
          <a:lstStyle/>
          <a:p>
            <a:pPr algn="l"/>
            <a:r>
              <a:rPr sz="1000" b="0" i="0">
                <a:solidFill>
                  <a:srgbClr val="6D6E71"/>
                </a:solidFill>
                <a:latin typeface="Arial"/>
              </a:rPr>
              <a:t>Sala de control</a:t>
            </a:r>
          </a:p>
        </p:txBody>
      </p:sp>
      <p:sp>
        <p:nvSpPr>
          <p:cNvPr id="22" name="Rectangle 21"/>
          <p:cNvSpPr/>
          <p:nvPr/>
        </p:nvSpPr>
        <p:spPr>
          <a:xfrm>
            <a:off x="777240" y="4297680"/>
            <a:ext cx="2743200" cy="1645920"/>
          </a:xfrm>
          <a:prstGeom prst="rect">
            <a:avLst/>
          </a:prstGeom>
          <a:solidFill>
            <a:srgbClr val="F2F2F2"/>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86968" y="4370832"/>
            <a:ext cx="2560320" cy="228600"/>
          </a:xfrm>
          <a:prstGeom prst="rect">
            <a:avLst/>
          </a:prstGeom>
          <a:noFill/>
        </p:spPr>
        <p:txBody>
          <a:bodyPr wrap="square" lIns="0" rIns="0" tIns="0" bIns="0" anchor="t">
            <a:spAutoFit/>
          </a:bodyPr>
          <a:lstStyle/>
          <a:p>
            <a:pPr algn="l"/>
            <a:r>
              <a:rPr sz="1000" b="1" i="0">
                <a:solidFill>
                  <a:srgbClr val="003087"/>
                </a:solidFill>
                <a:latin typeface="Courier New"/>
              </a:rPr>
              <a:t>CWA-06</a:t>
            </a:r>
          </a:p>
        </p:txBody>
      </p:sp>
      <p:sp>
        <p:nvSpPr>
          <p:cNvPr id="24" name="TextBox 23"/>
          <p:cNvSpPr txBox="1"/>
          <p:nvPr/>
        </p:nvSpPr>
        <p:spPr>
          <a:xfrm>
            <a:off x="886968" y="4599432"/>
            <a:ext cx="2560320" cy="274320"/>
          </a:xfrm>
          <a:prstGeom prst="rect">
            <a:avLst/>
          </a:prstGeom>
          <a:noFill/>
        </p:spPr>
        <p:txBody>
          <a:bodyPr wrap="square" lIns="0" rIns="0" tIns="0" bIns="0" anchor="t">
            <a:spAutoFit/>
          </a:bodyPr>
          <a:lstStyle/>
          <a:p>
            <a:pPr algn="l"/>
            <a:r>
              <a:rPr sz="1000" b="0" i="0">
                <a:solidFill>
                  <a:srgbClr val="6D6E71"/>
                </a:solidFill>
                <a:latin typeface="Arial"/>
              </a:rPr>
              <a:t>Tanques</a:t>
            </a:r>
          </a:p>
        </p:txBody>
      </p:sp>
      <p:sp>
        <p:nvSpPr>
          <p:cNvPr id="25" name="Rectangle 24"/>
          <p:cNvSpPr/>
          <p:nvPr/>
        </p:nvSpPr>
        <p:spPr>
          <a:xfrm>
            <a:off x="3657600" y="4297680"/>
            <a:ext cx="1828800" cy="1645920"/>
          </a:xfrm>
          <a:prstGeom prst="rect">
            <a:avLst/>
          </a:prstGeom>
          <a:solidFill>
            <a:srgbClr val="F2F2F2"/>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767328" y="4370832"/>
            <a:ext cx="1645920" cy="228600"/>
          </a:xfrm>
          <a:prstGeom prst="rect">
            <a:avLst/>
          </a:prstGeom>
          <a:noFill/>
        </p:spPr>
        <p:txBody>
          <a:bodyPr wrap="square" lIns="0" rIns="0" tIns="0" bIns="0" anchor="t">
            <a:spAutoFit/>
          </a:bodyPr>
          <a:lstStyle/>
          <a:p>
            <a:pPr algn="l"/>
            <a:r>
              <a:rPr sz="1000" b="1" i="0">
                <a:solidFill>
                  <a:srgbClr val="003087"/>
                </a:solidFill>
                <a:latin typeface="Courier New"/>
              </a:rPr>
              <a:t>CWA-07</a:t>
            </a:r>
          </a:p>
        </p:txBody>
      </p:sp>
      <p:sp>
        <p:nvSpPr>
          <p:cNvPr id="27" name="TextBox 26"/>
          <p:cNvSpPr txBox="1"/>
          <p:nvPr/>
        </p:nvSpPr>
        <p:spPr>
          <a:xfrm>
            <a:off x="3767328" y="4599432"/>
            <a:ext cx="1645920" cy="274320"/>
          </a:xfrm>
          <a:prstGeom prst="rect">
            <a:avLst/>
          </a:prstGeom>
          <a:noFill/>
        </p:spPr>
        <p:txBody>
          <a:bodyPr wrap="square" lIns="0" rIns="0" tIns="0" bIns="0" anchor="t">
            <a:spAutoFit/>
          </a:bodyPr>
          <a:lstStyle/>
          <a:p>
            <a:pPr algn="l"/>
            <a:r>
              <a:rPr sz="1000" b="0" i="0">
                <a:solidFill>
                  <a:srgbClr val="6D6E71"/>
                </a:solidFill>
                <a:latin typeface="Arial"/>
              </a:rPr>
              <a:t>Torre de enfriamiento</a:t>
            </a:r>
          </a:p>
        </p:txBody>
      </p:sp>
      <p:sp>
        <p:nvSpPr>
          <p:cNvPr id="28" name="Rectangle 27"/>
          <p:cNvSpPr/>
          <p:nvPr/>
        </p:nvSpPr>
        <p:spPr>
          <a:xfrm>
            <a:off x="5623559" y="4297680"/>
            <a:ext cx="1645920" cy="1645920"/>
          </a:xfrm>
          <a:prstGeom prst="rect">
            <a:avLst/>
          </a:prstGeom>
          <a:solidFill>
            <a:srgbClr val="F2F2F2"/>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733288" y="4370832"/>
            <a:ext cx="1463040" cy="228600"/>
          </a:xfrm>
          <a:prstGeom prst="rect">
            <a:avLst/>
          </a:prstGeom>
          <a:noFill/>
        </p:spPr>
        <p:txBody>
          <a:bodyPr wrap="square" lIns="0" rIns="0" tIns="0" bIns="0" anchor="t">
            <a:spAutoFit/>
          </a:bodyPr>
          <a:lstStyle/>
          <a:p>
            <a:pPr algn="l"/>
            <a:r>
              <a:rPr sz="1000" b="1" i="0">
                <a:solidFill>
                  <a:srgbClr val="003087"/>
                </a:solidFill>
                <a:latin typeface="Courier New"/>
              </a:rPr>
              <a:t>CWA-08</a:t>
            </a:r>
          </a:p>
        </p:txBody>
      </p:sp>
      <p:sp>
        <p:nvSpPr>
          <p:cNvPr id="30" name="TextBox 29"/>
          <p:cNvSpPr txBox="1"/>
          <p:nvPr/>
        </p:nvSpPr>
        <p:spPr>
          <a:xfrm>
            <a:off x="5733288" y="4599432"/>
            <a:ext cx="1463040" cy="274320"/>
          </a:xfrm>
          <a:prstGeom prst="rect">
            <a:avLst/>
          </a:prstGeom>
          <a:noFill/>
        </p:spPr>
        <p:txBody>
          <a:bodyPr wrap="square" lIns="0" rIns="0" tIns="0" bIns="0" anchor="t">
            <a:spAutoFit/>
          </a:bodyPr>
          <a:lstStyle/>
          <a:p>
            <a:pPr algn="l"/>
            <a:r>
              <a:rPr sz="1000" b="0" i="0">
                <a:solidFill>
                  <a:srgbClr val="6D6E71"/>
                </a:solidFill>
                <a:latin typeface="Arial"/>
              </a:rPr>
              <a:t>Servicios</a:t>
            </a:r>
          </a:p>
        </p:txBody>
      </p:sp>
      <p:sp>
        <p:nvSpPr>
          <p:cNvPr id="31" name="Rectangle 30"/>
          <p:cNvSpPr/>
          <p:nvPr/>
        </p:nvSpPr>
        <p:spPr>
          <a:xfrm>
            <a:off x="7818119" y="1828800"/>
            <a:ext cx="3824935" cy="1310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map_o.png"/>
          <p:cNvPicPr>
            <a:picLocks noChangeAspect="1"/>
          </p:cNvPicPr>
          <p:nvPr/>
        </p:nvPicPr>
        <p:blipFill>
          <a:blip r:embed="rId2"/>
          <a:stretch>
            <a:fillRect/>
          </a:stretch>
        </p:blipFill>
        <p:spPr>
          <a:xfrm>
            <a:off x="8046719" y="2029968"/>
            <a:ext cx="365760" cy="365760"/>
          </a:xfrm>
          <a:prstGeom prst="rect">
            <a:avLst/>
          </a:prstGeom>
        </p:spPr>
      </p:pic>
      <p:sp>
        <p:nvSpPr>
          <p:cNvPr id="33" name="TextBox 32"/>
          <p:cNvSpPr txBox="1"/>
          <p:nvPr/>
        </p:nvSpPr>
        <p:spPr>
          <a:xfrm>
            <a:off x="8595359" y="1938528"/>
            <a:ext cx="2864815" cy="1082039"/>
          </a:xfrm>
          <a:prstGeom prst="rect">
            <a:avLst/>
          </a:prstGeom>
          <a:noFill/>
        </p:spPr>
        <p:txBody>
          <a:bodyPr wrap="square" lIns="0" rIns="0" tIns="0" bIns="0" anchor="ctr">
            <a:spAutoFit/>
          </a:bodyPr>
          <a:lstStyle/>
          <a:p>
            <a:pPr algn="l">
              <a:lnSpc>
                <a:spcPct val="105000"/>
              </a:lnSpc>
              <a:spcAft>
                <a:spcPts val="200"/>
              </a:spcAft>
            </a:pPr>
            <a:r>
              <a:rPr sz="1350" b="1" i="0">
                <a:solidFill>
                  <a:srgbClr val="1A1A1A"/>
                </a:solidFill>
                <a:latin typeface="Arial"/>
              </a:rPr>
              <a:t>Parte lógica del plano</a:t>
            </a:r>
          </a:p>
          <a:p>
            <a:pPr algn="l">
              <a:lnSpc>
                <a:spcPct val="105000"/>
              </a:lnSpc>
              <a:spcAft>
                <a:spcPts val="200"/>
              </a:spcAft>
            </a:pPr>
            <a:r>
              <a:rPr sz="1150" b="0" i="0">
                <a:solidFill>
                  <a:srgbClr val="6D6E71"/>
                </a:solidFill>
                <a:latin typeface="Arial"/>
              </a:rPr>
              <a:t>Incluye todas las disciplinas del área</a:t>
            </a:r>
          </a:p>
        </p:txBody>
      </p:sp>
      <p:sp>
        <p:nvSpPr>
          <p:cNvPr id="34" name="Rectangle 33"/>
          <p:cNvSpPr/>
          <p:nvPr/>
        </p:nvSpPr>
        <p:spPr>
          <a:xfrm>
            <a:off x="7818119" y="3276599"/>
            <a:ext cx="3824935" cy="1310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calendar_o.png"/>
          <p:cNvPicPr>
            <a:picLocks noChangeAspect="1"/>
          </p:cNvPicPr>
          <p:nvPr/>
        </p:nvPicPr>
        <p:blipFill>
          <a:blip r:embed="rId3"/>
          <a:stretch>
            <a:fillRect/>
          </a:stretch>
        </p:blipFill>
        <p:spPr>
          <a:xfrm>
            <a:off x="8046719" y="3477768"/>
            <a:ext cx="365760" cy="365760"/>
          </a:xfrm>
          <a:prstGeom prst="rect">
            <a:avLst/>
          </a:prstGeom>
        </p:spPr>
      </p:pic>
      <p:sp>
        <p:nvSpPr>
          <p:cNvPr id="36" name="TextBox 35"/>
          <p:cNvSpPr txBox="1"/>
          <p:nvPr/>
        </p:nvSpPr>
        <p:spPr>
          <a:xfrm>
            <a:off x="8595359" y="3386328"/>
            <a:ext cx="2864815" cy="1082039"/>
          </a:xfrm>
          <a:prstGeom prst="rect">
            <a:avLst/>
          </a:prstGeom>
          <a:noFill/>
        </p:spPr>
        <p:txBody>
          <a:bodyPr wrap="square" lIns="0" rIns="0" tIns="0" bIns="0" anchor="ctr">
            <a:spAutoFit/>
          </a:bodyPr>
          <a:lstStyle/>
          <a:p>
            <a:pPr algn="l">
              <a:lnSpc>
                <a:spcPct val="105000"/>
              </a:lnSpc>
              <a:spcAft>
                <a:spcPts val="200"/>
              </a:spcAft>
            </a:pPr>
            <a:r>
              <a:rPr sz="1350" b="1" i="0">
                <a:solidFill>
                  <a:srgbClr val="1A1A1A"/>
                </a:solidFill>
                <a:latin typeface="Arial"/>
              </a:rPr>
              <a:t>Nivel 2 del cronograma</a:t>
            </a:r>
          </a:p>
          <a:p>
            <a:pPr algn="l">
              <a:lnSpc>
                <a:spcPct val="105000"/>
              </a:lnSpc>
              <a:spcAft>
                <a:spcPts val="200"/>
              </a:spcAft>
            </a:pPr>
            <a:r>
              <a:rPr sz="1150" b="0" i="0">
                <a:solidFill>
                  <a:srgbClr val="6D6E71"/>
                </a:solidFill>
                <a:latin typeface="Arial"/>
              </a:rPr>
              <a:t>Horizonte de unos 6 meses</a:t>
            </a:r>
          </a:p>
        </p:txBody>
      </p:sp>
      <p:sp>
        <p:nvSpPr>
          <p:cNvPr id="37" name="Rectangle 36"/>
          <p:cNvSpPr/>
          <p:nvPr/>
        </p:nvSpPr>
        <p:spPr>
          <a:xfrm>
            <a:off x="7818119" y="4724399"/>
            <a:ext cx="3824935" cy="1310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sitemap_o.png"/>
          <p:cNvPicPr>
            <a:picLocks noChangeAspect="1"/>
          </p:cNvPicPr>
          <p:nvPr/>
        </p:nvPicPr>
        <p:blipFill>
          <a:blip r:embed="rId4"/>
          <a:stretch>
            <a:fillRect/>
          </a:stretch>
        </p:blipFill>
        <p:spPr>
          <a:xfrm>
            <a:off x="8046719" y="4925567"/>
            <a:ext cx="365760" cy="365760"/>
          </a:xfrm>
          <a:prstGeom prst="rect">
            <a:avLst/>
          </a:prstGeom>
        </p:spPr>
      </p:pic>
      <p:sp>
        <p:nvSpPr>
          <p:cNvPr id="39" name="TextBox 38"/>
          <p:cNvSpPr txBox="1"/>
          <p:nvPr/>
        </p:nvSpPr>
        <p:spPr>
          <a:xfrm>
            <a:off x="8595359" y="4834128"/>
            <a:ext cx="2864815" cy="1082039"/>
          </a:xfrm>
          <a:prstGeom prst="rect">
            <a:avLst/>
          </a:prstGeom>
          <a:noFill/>
        </p:spPr>
        <p:txBody>
          <a:bodyPr wrap="square" lIns="0" rIns="0" tIns="0" bIns="0" anchor="ctr">
            <a:spAutoFit/>
          </a:bodyPr>
          <a:lstStyle/>
          <a:p>
            <a:pPr algn="l">
              <a:lnSpc>
                <a:spcPct val="105000"/>
              </a:lnSpc>
              <a:spcAft>
                <a:spcPts val="200"/>
              </a:spcAft>
            </a:pPr>
            <a:r>
              <a:rPr sz="1350" b="1" i="0">
                <a:solidFill>
                  <a:srgbClr val="1A1A1A"/>
                </a:solidFill>
                <a:latin typeface="Arial"/>
              </a:rPr>
              <a:t>Contenedor de CWP</a:t>
            </a:r>
          </a:p>
          <a:p>
            <a:pPr algn="l">
              <a:lnSpc>
                <a:spcPct val="105000"/>
              </a:lnSpc>
              <a:spcAft>
                <a:spcPts val="200"/>
              </a:spcAft>
            </a:pPr>
            <a:r>
              <a:rPr sz="1150" b="0" i="0">
                <a:solidFill>
                  <a:srgbClr val="6D6E71"/>
                </a:solidFill>
                <a:latin typeface="Arial"/>
              </a:rPr>
              <a:t>Una CWA tiene varios CWP, uno por disciplina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2 · CWP</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Un Construction Work Package (CWP) es una disciplina dentro de una CWA</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M2 · QUÉ ES AWP</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018</a:t>
            </a:r>
          </a:p>
        </p:txBody>
      </p:sp>
      <p:sp>
        <p:nvSpPr>
          <p:cNvPr id="7" name="Rectangle 6"/>
          <p:cNvSpPr/>
          <p:nvPr/>
        </p:nvSpPr>
        <p:spPr>
          <a:xfrm>
            <a:off x="548640" y="1828800"/>
            <a:ext cx="2581579" cy="24688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helmet_o.png"/>
          <p:cNvPicPr>
            <a:picLocks noChangeAspect="1"/>
          </p:cNvPicPr>
          <p:nvPr/>
        </p:nvPicPr>
        <p:blipFill>
          <a:blip r:embed="rId2"/>
          <a:stretch>
            <a:fillRect/>
          </a:stretch>
        </p:blipFill>
        <p:spPr>
          <a:xfrm>
            <a:off x="822959" y="2084832"/>
            <a:ext cx="457200" cy="457200"/>
          </a:xfrm>
          <a:prstGeom prst="rect">
            <a:avLst/>
          </a:prstGeom>
        </p:spPr>
      </p:pic>
      <p:sp>
        <p:nvSpPr>
          <p:cNvPr id="9" name="TextBox 8"/>
          <p:cNvSpPr txBox="1"/>
          <p:nvPr/>
        </p:nvSpPr>
        <p:spPr>
          <a:xfrm>
            <a:off x="822959" y="2706624"/>
            <a:ext cx="2078659"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Una disciplina, una CWA</a:t>
            </a:r>
          </a:p>
        </p:txBody>
      </p:sp>
      <p:sp>
        <p:nvSpPr>
          <p:cNvPr id="10" name="TextBox 9"/>
          <p:cNvSpPr txBox="1"/>
          <p:nvPr/>
        </p:nvSpPr>
        <p:spPr>
          <a:xfrm>
            <a:off x="822959" y="3328416"/>
            <a:ext cx="2078659" cy="832103"/>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Ej.: tuberías del área 2 o electricidad del área 4</a:t>
            </a:r>
          </a:p>
        </p:txBody>
      </p:sp>
      <p:sp>
        <p:nvSpPr>
          <p:cNvPr id="11" name="Rectangle 10"/>
          <p:cNvSpPr/>
          <p:nvPr/>
        </p:nvSpPr>
        <p:spPr>
          <a:xfrm>
            <a:off x="3386251" y="1828800"/>
            <a:ext cx="2581579" cy="24688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hourglass_o.png"/>
          <p:cNvPicPr>
            <a:picLocks noChangeAspect="1"/>
          </p:cNvPicPr>
          <p:nvPr/>
        </p:nvPicPr>
        <p:blipFill>
          <a:blip r:embed="rId3"/>
          <a:stretch>
            <a:fillRect/>
          </a:stretch>
        </p:blipFill>
        <p:spPr>
          <a:xfrm>
            <a:off x="3660571" y="2084832"/>
            <a:ext cx="457200" cy="457200"/>
          </a:xfrm>
          <a:prstGeom prst="rect">
            <a:avLst/>
          </a:prstGeom>
        </p:spPr>
      </p:pic>
      <p:sp>
        <p:nvSpPr>
          <p:cNvPr id="13" name="TextBox 12"/>
          <p:cNvSpPr txBox="1"/>
          <p:nvPr/>
        </p:nvSpPr>
        <p:spPr>
          <a:xfrm>
            <a:off x="3660571" y="2706624"/>
            <a:ext cx="2078659"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Menos de 40 000 HH</a:t>
            </a:r>
          </a:p>
        </p:txBody>
      </p:sp>
      <p:sp>
        <p:nvSpPr>
          <p:cNvPr id="14" name="TextBox 13"/>
          <p:cNvSpPr txBox="1"/>
          <p:nvPr/>
        </p:nvSpPr>
        <p:spPr>
          <a:xfrm>
            <a:off x="3660571" y="3328416"/>
            <a:ext cx="2078659" cy="832103"/>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Tamaño que permite controlar y contratar</a:t>
            </a:r>
          </a:p>
        </p:txBody>
      </p:sp>
      <p:sp>
        <p:nvSpPr>
          <p:cNvPr id="15" name="Rectangle 14"/>
          <p:cNvSpPr/>
          <p:nvPr/>
        </p:nvSpPr>
        <p:spPr>
          <a:xfrm>
            <a:off x="6223863" y="1828800"/>
            <a:ext cx="2581579" cy="24688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alendar_o.png"/>
          <p:cNvPicPr>
            <a:picLocks noChangeAspect="1"/>
          </p:cNvPicPr>
          <p:nvPr/>
        </p:nvPicPr>
        <p:blipFill>
          <a:blip r:embed="rId4"/>
          <a:stretch>
            <a:fillRect/>
          </a:stretch>
        </p:blipFill>
        <p:spPr>
          <a:xfrm>
            <a:off x="6498183" y="2084832"/>
            <a:ext cx="457200" cy="457200"/>
          </a:xfrm>
          <a:prstGeom prst="rect">
            <a:avLst/>
          </a:prstGeom>
        </p:spPr>
      </p:pic>
      <p:sp>
        <p:nvSpPr>
          <p:cNvPr id="17" name="TextBox 16"/>
          <p:cNvSpPr txBox="1"/>
          <p:nvPr/>
        </p:nvSpPr>
        <p:spPr>
          <a:xfrm>
            <a:off x="6498183" y="2706624"/>
            <a:ext cx="2078659"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Nivel 3 del cronograma</a:t>
            </a:r>
          </a:p>
        </p:txBody>
      </p:sp>
      <p:sp>
        <p:nvSpPr>
          <p:cNvPr id="18" name="TextBox 17"/>
          <p:cNvSpPr txBox="1"/>
          <p:nvPr/>
        </p:nvSpPr>
        <p:spPr>
          <a:xfrm>
            <a:off x="6498183" y="3328416"/>
            <a:ext cx="2078659" cy="832103"/>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Horizonte de unos 3 meses</a:t>
            </a:r>
          </a:p>
        </p:txBody>
      </p:sp>
      <p:sp>
        <p:nvSpPr>
          <p:cNvPr id="19" name="Rectangle 18"/>
          <p:cNvSpPr/>
          <p:nvPr/>
        </p:nvSpPr>
        <p:spPr>
          <a:xfrm>
            <a:off x="9061475" y="1828800"/>
            <a:ext cx="2581579" cy="24688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ontract_o.png"/>
          <p:cNvPicPr>
            <a:picLocks noChangeAspect="1"/>
          </p:cNvPicPr>
          <p:nvPr/>
        </p:nvPicPr>
        <p:blipFill>
          <a:blip r:embed="rId5"/>
          <a:stretch>
            <a:fillRect/>
          </a:stretch>
        </p:blipFill>
        <p:spPr>
          <a:xfrm>
            <a:off x="9335795" y="2084832"/>
            <a:ext cx="457200" cy="457200"/>
          </a:xfrm>
          <a:prstGeom prst="rect">
            <a:avLst/>
          </a:prstGeom>
        </p:spPr>
      </p:pic>
      <p:sp>
        <p:nvSpPr>
          <p:cNvPr id="21" name="TextBox 20"/>
          <p:cNvSpPr txBox="1"/>
          <p:nvPr/>
        </p:nvSpPr>
        <p:spPr>
          <a:xfrm>
            <a:off x="9335795" y="2706624"/>
            <a:ext cx="2078659"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Límite contractual</a:t>
            </a:r>
          </a:p>
        </p:txBody>
      </p:sp>
      <p:sp>
        <p:nvSpPr>
          <p:cNvPr id="22" name="TextBox 21"/>
          <p:cNvSpPr txBox="1"/>
          <p:nvPr/>
        </p:nvSpPr>
        <p:spPr>
          <a:xfrm>
            <a:off x="9335795" y="3328416"/>
            <a:ext cx="2078659" cy="832103"/>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Los CWP no se superponen: sirven como alcance de licitación</a:t>
            </a:r>
          </a:p>
        </p:txBody>
      </p:sp>
      <p:sp>
        <p:nvSpPr>
          <p:cNvPr id="23" name="Rectangle 22"/>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flag_o.png"/>
          <p:cNvPicPr>
            <a:picLocks noChangeAspect="1"/>
          </p:cNvPicPr>
          <p:nvPr/>
        </p:nvPicPr>
        <p:blipFill>
          <a:blip r:embed="rId6"/>
          <a:stretch>
            <a:fillRect/>
          </a:stretch>
        </p:blipFill>
        <p:spPr>
          <a:xfrm>
            <a:off x="822959" y="5660136"/>
            <a:ext cx="365760" cy="365760"/>
          </a:xfrm>
          <a:prstGeom prst="rect">
            <a:avLst/>
          </a:prstGeom>
        </p:spPr>
      </p:pic>
      <p:sp>
        <p:nvSpPr>
          <p:cNvPr id="25" name="TextBox 24"/>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El CWP es la unidad central de ejecución: integra ingeniería, compras, instalación y comisionamiento.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2 · EWP</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Un Engineering Work Package (EWP) entrega toda la ingeniería que necesita un CWP</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M2 · QUÉ ES AWP</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019</a:t>
            </a:r>
          </a:p>
        </p:txBody>
      </p:sp>
      <p:sp>
        <p:nvSpPr>
          <p:cNvPr id="7" name="Rectangle 6"/>
          <p:cNvSpPr/>
          <p:nvPr/>
        </p:nvSpPr>
        <p:spPr>
          <a:xfrm>
            <a:off x="548640" y="1828800"/>
            <a:ext cx="3527450" cy="15773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_o.png"/>
          <p:cNvPicPr>
            <a:picLocks noChangeAspect="1"/>
          </p:cNvPicPr>
          <p:nvPr/>
        </p:nvPicPr>
        <p:blipFill>
          <a:blip r:embed="rId2"/>
          <a:stretch>
            <a:fillRect/>
          </a:stretch>
        </p:blipFill>
        <p:spPr>
          <a:xfrm>
            <a:off x="822959" y="2057400"/>
            <a:ext cx="384048" cy="384048"/>
          </a:xfrm>
          <a:prstGeom prst="rect">
            <a:avLst/>
          </a:prstGeom>
        </p:spPr>
      </p:pic>
      <p:sp>
        <p:nvSpPr>
          <p:cNvPr id="9" name="TextBox 8"/>
          <p:cNvSpPr txBox="1"/>
          <p:nvPr/>
        </p:nvSpPr>
        <p:spPr>
          <a:xfrm>
            <a:off x="1371600" y="2011680"/>
            <a:ext cx="2475890" cy="475488"/>
          </a:xfrm>
          <a:prstGeom prst="rect">
            <a:avLst/>
          </a:prstGeom>
          <a:noFill/>
        </p:spPr>
        <p:txBody>
          <a:bodyPr wrap="square" lIns="0" rIns="0" tIns="0" bIns="0" anchor="ctr">
            <a:spAutoFit/>
          </a:bodyPr>
          <a:lstStyle/>
          <a:p>
            <a:pPr algn="l">
              <a:lnSpc>
                <a:spcPct val="95000"/>
              </a:lnSpc>
            </a:pPr>
            <a:r>
              <a:rPr sz="1400" b="1" i="0">
                <a:solidFill>
                  <a:srgbClr val="1A1A1A"/>
                </a:solidFill>
                <a:latin typeface="Arial"/>
              </a:rPr>
              <a:t>Alcance y exclusiones</a:t>
            </a:r>
          </a:p>
        </p:txBody>
      </p:sp>
      <p:sp>
        <p:nvSpPr>
          <p:cNvPr id="10" name="TextBox 9"/>
          <p:cNvSpPr txBox="1"/>
          <p:nvPr/>
        </p:nvSpPr>
        <p:spPr>
          <a:xfrm>
            <a:off x="822959" y="2606040"/>
            <a:ext cx="3024530" cy="70866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Qué incluye, qué no y dónde están las interfaces</a:t>
            </a:r>
          </a:p>
        </p:txBody>
      </p:sp>
      <p:sp>
        <p:nvSpPr>
          <p:cNvPr id="11" name="Rectangle 10"/>
          <p:cNvSpPr/>
          <p:nvPr/>
        </p:nvSpPr>
        <p:spPr>
          <a:xfrm>
            <a:off x="4332122" y="1828800"/>
            <a:ext cx="3527450" cy="15773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ruler_o.png"/>
          <p:cNvPicPr>
            <a:picLocks noChangeAspect="1"/>
          </p:cNvPicPr>
          <p:nvPr/>
        </p:nvPicPr>
        <p:blipFill>
          <a:blip r:embed="rId3"/>
          <a:stretch>
            <a:fillRect/>
          </a:stretch>
        </p:blipFill>
        <p:spPr>
          <a:xfrm>
            <a:off x="4606442" y="2057400"/>
            <a:ext cx="384048" cy="384048"/>
          </a:xfrm>
          <a:prstGeom prst="rect">
            <a:avLst/>
          </a:prstGeom>
        </p:spPr>
      </p:pic>
      <p:sp>
        <p:nvSpPr>
          <p:cNvPr id="13" name="TextBox 12"/>
          <p:cNvSpPr txBox="1"/>
          <p:nvPr/>
        </p:nvSpPr>
        <p:spPr>
          <a:xfrm>
            <a:off x="5155082" y="2011680"/>
            <a:ext cx="2475890" cy="475488"/>
          </a:xfrm>
          <a:prstGeom prst="rect">
            <a:avLst/>
          </a:prstGeom>
          <a:noFill/>
        </p:spPr>
        <p:txBody>
          <a:bodyPr wrap="square" lIns="0" rIns="0" tIns="0" bIns="0" anchor="ctr">
            <a:spAutoFit/>
          </a:bodyPr>
          <a:lstStyle/>
          <a:p>
            <a:pPr algn="l">
              <a:lnSpc>
                <a:spcPct val="95000"/>
              </a:lnSpc>
            </a:pPr>
            <a:r>
              <a:rPr sz="1400" b="1" i="0">
                <a:solidFill>
                  <a:srgbClr val="1A1A1A"/>
                </a:solidFill>
                <a:latin typeface="Arial"/>
              </a:rPr>
              <a:t>Planos IFC</a:t>
            </a:r>
          </a:p>
        </p:txBody>
      </p:sp>
      <p:sp>
        <p:nvSpPr>
          <p:cNvPr id="14" name="TextBox 13"/>
          <p:cNvSpPr txBox="1"/>
          <p:nvPr/>
        </p:nvSpPr>
        <p:spPr>
          <a:xfrm>
            <a:off x="4606442" y="2606040"/>
            <a:ext cx="3024530" cy="70866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Lista de planos de ingeniería y de proveedores</a:t>
            </a:r>
          </a:p>
        </p:txBody>
      </p:sp>
      <p:sp>
        <p:nvSpPr>
          <p:cNvPr id="15" name="Rectangle 14"/>
          <p:cNvSpPr/>
          <p:nvPr/>
        </p:nvSpPr>
        <p:spPr>
          <a:xfrm>
            <a:off x="8115604" y="1828800"/>
            <a:ext cx="3527450" cy="15773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book_o.png"/>
          <p:cNvPicPr>
            <a:picLocks noChangeAspect="1"/>
          </p:cNvPicPr>
          <p:nvPr/>
        </p:nvPicPr>
        <p:blipFill>
          <a:blip r:embed="rId4"/>
          <a:stretch>
            <a:fillRect/>
          </a:stretch>
        </p:blipFill>
        <p:spPr>
          <a:xfrm>
            <a:off x="8389924" y="2057400"/>
            <a:ext cx="384048" cy="384048"/>
          </a:xfrm>
          <a:prstGeom prst="rect">
            <a:avLst/>
          </a:prstGeom>
        </p:spPr>
      </p:pic>
      <p:sp>
        <p:nvSpPr>
          <p:cNvPr id="17" name="TextBox 16"/>
          <p:cNvSpPr txBox="1"/>
          <p:nvPr/>
        </p:nvSpPr>
        <p:spPr>
          <a:xfrm>
            <a:off x="8938564" y="2011680"/>
            <a:ext cx="2475890" cy="475488"/>
          </a:xfrm>
          <a:prstGeom prst="rect">
            <a:avLst/>
          </a:prstGeom>
          <a:noFill/>
        </p:spPr>
        <p:txBody>
          <a:bodyPr wrap="square" lIns="0" rIns="0" tIns="0" bIns="0" anchor="ctr">
            <a:spAutoFit/>
          </a:bodyPr>
          <a:lstStyle/>
          <a:p>
            <a:pPr algn="l">
              <a:lnSpc>
                <a:spcPct val="95000"/>
              </a:lnSpc>
            </a:pPr>
            <a:r>
              <a:rPr sz="1400" b="1" i="0">
                <a:solidFill>
                  <a:srgbClr val="1A1A1A"/>
                </a:solidFill>
                <a:latin typeface="Arial"/>
              </a:rPr>
              <a:t>Especificaciones</a:t>
            </a:r>
          </a:p>
        </p:txBody>
      </p:sp>
      <p:sp>
        <p:nvSpPr>
          <p:cNvPr id="18" name="TextBox 17"/>
          <p:cNvSpPr txBox="1"/>
          <p:nvPr/>
        </p:nvSpPr>
        <p:spPr>
          <a:xfrm>
            <a:off x="8389924" y="2606040"/>
            <a:ext cx="3024530" cy="70866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Normas y estándares aplicables</a:t>
            </a:r>
          </a:p>
        </p:txBody>
      </p:sp>
      <p:sp>
        <p:nvSpPr>
          <p:cNvPr id="19" name="Rectangle 18"/>
          <p:cNvSpPr/>
          <p:nvPr/>
        </p:nvSpPr>
        <p:spPr>
          <a:xfrm>
            <a:off x="548640" y="3662172"/>
            <a:ext cx="3527450" cy="15773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boxes_o.png"/>
          <p:cNvPicPr>
            <a:picLocks noChangeAspect="1"/>
          </p:cNvPicPr>
          <p:nvPr/>
        </p:nvPicPr>
        <p:blipFill>
          <a:blip r:embed="rId5"/>
          <a:stretch>
            <a:fillRect/>
          </a:stretch>
        </p:blipFill>
        <p:spPr>
          <a:xfrm>
            <a:off x="822959" y="3890772"/>
            <a:ext cx="384048" cy="384048"/>
          </a:xfrm>
          <a:prstGeom prst="rect">
            <a:avLst/>
          </a:prstGeom>
        </p:spPr>
      </p:pic>
      <p:sp>
        <p:nvSpPr>
          <p:cNvPr id="21" name="TextBox 20"/>
          <p:cNvSpPr txBox="1"/>
          <p:nvPr/>
        </p:nvSpPr>
        <p:spPr>
          <a:xfrm>
            <a:off x="1371600" y="3845052"/>
            <a:ext cx="2475890" cy="475488"/>
          </a:xfrm>
          <a:prstGeom prst="rect">
            <a:avLst/>
          </a:prstGeom>
          <a:noFill/>
        </p:spPr>
        <p:txBody>
          <a:bodyPr wrap="square" lIns="0" rIns="0" tIns="0" bIns="0" anchor="ctr">
            <a:spAutoFit/>
          </a:bodyPr>
          <a:lstStyle/>
          <a:p>
            <a:pPr algn="l">
              <a:lnSpc>
                <a:spcPct val="95000"/>
              </a:lnSpc>
            </a:pPr>
            <a:r>
              <a:rPr sz="1400" b="1" i="0">
                <a:solidFill>
                  <a:srgbClr val="1A1A1A"/>
                </a:solidFill>
                <a:latin typeface="Arial"/>
              </a:rPr>
              <a:t>Materiales</a:t>
            </a:r>
          </a:p>
        </p:txBody>
      </p:sp>
      <p:sp>
        <p:nvSpPr>
          <p:cNvPr id="22" name="TextBox 21"/>
          <p:cNvSpPr txBox="1"/>
          <p:nvPr/>
        </p:nvSpPr>
        <p:spPr>
          <a:xfrm>
            <a:off x="822959" y="4439412"/>
            <a:ext cx="3024530" cy="70866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Lista de materiales (MTO) y quién suministra cada ítem</a:t>
            </a:r>
          </a:p>
        </p:txBody>
      </p:sp>
      <p:sp>
        <p:nvSpPr>
          <p:cNvPr id="23" name="Rectangle 22"/>
          <p:cNvSpPr/>
          <p:nvPr/>
        </p:nvSpPr>
        <p:spPr>
          <a:xfrm>
            <a:off x="4332122" y="3662172"/>
            <a:ext cx="3527450" cy="15773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cube_o.png"/>
          <p:cNvPicPr>
            <a:picLocks noChangeAspect="1"/>
          </p:cNvPicPr>
          <p:nvPr/>
        </p:nvPicPr>
        <p:blipFill>
          <a:blip r:embed="rId6"/>
          <a:stretch>
            <a:fillRect/>
          </a:stretch>
        </p:blipFill>
        <p:spPr>
          <a:xfrm>
            <a:off x="4606442" y="3890772"/>
            <a:ext cx="384048" cy="384048"/>
          </a:xfrm>
          <a:prstGeom prst="rect">
            <a:avLst/>
          </a:prstGeom>
        </p:spPr>
      </p:pic>
      <p:sp>
        <p:nvSpPr>
          <p:cNvPr id="25" name="TextBox 24"/>
          <p:cNvSpPr txBox="1"/>
          <p:nvPr/>
        </p:nvSpPr>
        <p:spPr>
          <a:xfrm>
            <a:off x="5155082" y="3845052"/>
            <a:ext cx="2475890" cy="475488"/>
          </a:xfrm>
          <a:prstGeom prst="rect">
            <a:avLst/>
          </a:prstGeom>
          <a:noFill/>
        </p:spPr>
        <p:txBody>
          <a:bodyPr wrap="square" lIns="0" rIns="0" tIns="0" bIns="0" anchor="ctr">
            <a:spAutoFit/>
          </a:bodyPr>
          <a:lstStyle/>
          <a:p>
            <a:pPr algn="l">
              <a:lnSpc>
                <a:spcPct val="95000"/>
              </a:lnSpc>
            </a:pPr>
            <a:r>
              <a:rPr sz="1400" b="1" i="0">
                <a:solidFill>
                  <a:srgbClr val="1A1A1A"/>
                </a:solidFill>
                <a:latin typeface="Arial"/>
              </a:rPr>
              <a:t>Vistas del modelo 3D</a:t>
            </a:r>
          </a:p>
        </p:txBody>
      </p:sp>
      <p:sp>
        <p:nvSpPr>
          <p:cNvPr id="26" name="TextBox 25"/>
          <p:cNvSpPr txBox="1"/>
          <p:nvPr/>
        </p:nvSpPr>
        <p:spPr>
          <a:xfrm>
            <a:off x="4606442" y="4439412"/>
            <a:ext cx="3024530" cy="70866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Imágenes del alcance para ubicarlo en planta</a:t>
            </a:r>
          </a:p>
        </p:txBody>
      </p:sp>
      <p:sp>
        <p:nvSpPr>
          <p:cNvPr id="27" name="Rectangle 26"/>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lag_o.png"/>
          <p:cNvPicPr>
            <a:picLocks noChangeAspect="1"/>
          </p:cNvPicPr>
          <p:nvPr/>
        </p:nvPicPr>
        <p:blipFill>
          <a:blip r:embed="rId7"/>
          <a:stretch>
            <a:fillRect/>
          </a:stretch>
        </p:blipFill>
        <p:spPr>
          <a:xfrm>
            <a:off x="822959" y="5660136"/>
            <a:ext cx="365760" cy="365760"/>
          </a:xfrm>
          <a:prstGeom prst="rect">
            <a:avLst/>
          </a:prstGeom>
        </p:spPr>
      </p:pic>
      <p:sp>
        <p:nvSpPr>
          <p:cNvPr id="29" name="TextBox 28"/>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Tamaño típico: de 5 000 a 20 000 HH de campo. Evite EWP de más de 50 000 HH: son difíciles de controlar.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2 · PWP</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Un Procurement Work Package (PWP) asegura los materiales de un CWP</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M2 · QUÉ ES AWP</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020</a:t>
            </a:r>
          </a:p>
        </p:txBody>
      </p:sp>
      <p:sp>
        <p:nvSpPr>
          <p:cNvPr id="7" name="Rectangle 6"/>
          <p:cNvSpPr/>
          <p:nvPr/>
        </p:nvSpPr>
        <p:spPr>
          <a:xfrm>
            <a:off x="548640" y="1828800"/>
            <a:ext cx="2581579" cy="24688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ruck_o.png"/>
          <p:cNvPicPr>
            <a:picLocks noChangeAspect="1"/>
          </p:cNvPicPr>
          <p:nvPr/>
        </p:nvPicPr>
        <p:blipFill>
          <a:blip r:embed="rId2"/>
          <a:stretch>
            <a:fillRect/>
          </a:stretch>
        </p:blipFill>
        <p:spPr>
          <a:xfrm>
            <a:off x="822959" y="2084832"/>
            <a:ext cx="457200" cy="457200"/>
          </a:xfrm>
          <a:prstGeom prst="rect">
            <a:avLst/>
          </a:prstGeom>
        </p:spPr>
      </p:pic>
      <p:sp>
        <p:nvSpPr>
          <p:cNvPr id="9" name="TextBox 8"/>
          <p:cNvSpPr txBox="1"/>
          <p:nvPr/>
        </p:nvSpPr>
        <p:spPr>
          <a:xfrm>
            <a:off x="822959" y="2706624"/>
            <a:ext cx="2078659"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Materiales y equipos del CWP</a:t>
            </a:r>
          </a:p>
        </p:txBody>
      </p:sp>
      <p:sp>
        <p:nvSpPr>
          <p:cNvPr id="10" name="TextBox 9"/>
          <p:cNvSpPr txBox="1"/>
          <p:nvPr/>
        </p:nvSpPr>
        <p:spPr>
          <a:xfrm>
            <a:off x="822959" y="3328416"/>
            <a:ext cx="2078659" cy="832103"/>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Uno o varios pedidos de compra</a:t>
            </a:r>
          </a:p>
        </p:txBody>
      </p:sp>
      <p:sp>
        <p:nvSpPr>
          <p:cNvPr id="11" name="Rectangle 10"/>
          <p:cNvSpPr/>
          <p:nvPr/>
        </p:nvSpPr>
        <p:spPr>
          <a:xfrm>
            <a:off x="3386251" y="1828800"/>
            <a:ext cx="2581579" cy="24688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barcode_o.png"/>
          <p:cNvPicPr>
            <a:picLocks noChangeAspect="1"/>
          </p:cNvPicPr>
          <p:nvPr/>
        </p:nvPicPr>
        <p:blipFill>
          <a:blip r:embed="rId3"/>
          <a:stretch>
            <a:fillRect/>
          </a:stretch>
        </p:blipFill>
        <p:spPr>
          <a:xfrm>
            <a:off x="3660571" y="2084832"/>
            <a:ext cx="457200" cy="457200"/>
          </a:xfrm>
          <a:prstGeom prst="rect">
            <a:avLst/>
          </a:prstGeom>
        </p:spPr>
      </p:pic>
      <p:sp>
        <p:nvSpPr>
          <p:cNvPr id="13" name="TextBox 12"/>
          <p:cNvSpPr txBox="1"/>
          <p:nvPr/>
        </p:nvSpPr>
        <p:spPr>
          <a:xfrm>
            <a:off x="3660571" y="2706624"/>
            <a:ext cx="2078659"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Un identificador, no una caja</a:t>
            </a:r>
          </a:p>
        </p:txBody>
      </p:sp>
      <p:sp>
        <p:nvSpPr>
          <p:cNvPr id="14" name="TextBox 13"/>
          <p:cNvSpPr txBox="1"/>
          <p:nvPr/>
        </p:nvSpPr>
        <p:spPr>
          <a:xfrm>
            <a:off x="3660571" y="3328416"/>
            <a:ext cx="2078659" cy="832103"/>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Alinea las compras con la secuencia de construcción</a:t>
            </a:r>
          </a:p>
        </p:txBody>
      </p:sp>
      <p:sp>
        <p:nvSpPr>
          <p:cNvPr id="15" name="Rectangle 14"/>
          <p:cNvSpPr/>
          <p:nvPr/>
        </p:nvSpPr>
        <p:spPr>
          <a:xfrm>
            <a:off x="6223863" y="1828800"/>
            <a:ext cx="2581579" cy="24688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boxes_o.png"/>
          <p:cNvPicPr>
            <a:picLocks noChangeAspect="1"/>
          </p:cNvPicPr>
          <p:nvPr/>
        </p:nvPicPr>
        <p:blipFill>
          <a:blip r:embed="rId4"/>
          <a:stretch>
            <a:fillRect/>
          </a:stretch>
        </p:blipFill>
        <p:spPr>
          <a:xfrm>
            <a:off x="6498183" y="2084832"/>
            <a:ext cx="457200" cy="457200"/>
          </a:xfrm>
          <a:prstGeom prst="rect">
            <a:avLst/>
          </a:prstGeom>
        </p:spPr>
      </p:pic>
      <p:sp>
        <p:nvSpPr>
          <p:cNvPr id="17" name="TextBox 16"/>
          <p:cNvSpPr txBox="1"/>
          <p:nvPr/>
        </p:nvSpPr>
        <p:spPr>
          <a:xfrm>
            <a:off x="6498183" y="2706624"/>
            <a:ext cx="2078659"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Granel agrupado</a:t>
            </a:r>
          </a:p>
        </p:txBody>
      </p:sp>
      <p:sp>
        <p:nvSpPr>
          <p:cNvPr id="18" name="TextBox 17"/>
          <p:cNvSpPr txBox="1"/>
          <p:nvPr/>
        </p:nvSpPr>
        <p:spPr>
          <a:xfrm>
            <a:off x="6498183" y="3328416"/>
            <a:ext cx="2078659" cy="832103"/>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Bandejas o soportes pueden compartir un PWP</a:t>
            </a:r>
          </a:p>
        </p:txBody>
      </p:sp>
      <p:sp>
        <p:nvSpPr>
          <p:cNvPr id="19" name="Rectangle 18"/>
          <p:cNvSpPr/>
          <p:nvPr/>
        </p:nvSpPr>
        <p:spPr>
          <a:xfrm>
            <a:off x="9061475" y="1828800"/>
            <a:ext cx="2581579" cy="24688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lock_o.png"/>
          <p:cNvPicPr>
            <a:picLocks noChangeAspect="1"/>
          </p:cNvPicPr>
          <p:nvPr/>
        </p:nvPicPr>
        <p:blipFill>
          <a:blip r:embed="rId5"/>
          <a:stretch>
            <a:fillRect/>
          </a:stretch>
        </p:blipFill>
        <p:spPr>
          <a:xfrm>
            <a:off x="9335795" y="2084832"/>
            <a:ext cx="457200" cy="457200"/>
          </a:xfrm>
          <a:prstGeom prst="rect">
            <a:avLst/>
          </a:prstGeom>
        </p:spPr>
      </p:pic>
      <p:sp>
        <p:nvSpPr>
          <p:cNvPr id="21" name="TextBox 20"/>
          <p:cNvSpPr txBox="1"/>
          <p:nvPr/>
        </p:nvSpPr>
        <p:spPr>
          <a:xfrm>
            <a:off x="9335795" y="2706624"/>
            <a:ext cx="2078659"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En definición en el CII</a:t>
            </a:r>
          </a:p>
        </p:txBody>
      </p:sp>
      <p:sp>
        <p:nvSpPr>
          <p:cNvPr id="22" name="TextBox 21"/>
          <p:cNvSpPr txBox="1"/>
          <p:nvPr/>
        </p:nvSpPr>
        <p:spPr>
          <a:xfrm>
            <a:off x="9335795" y="3328416"/>
            <a:ext cx="2078659" cy="832103"/>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El estudio RT-363 aún lo desarrolla</a:t>
            </a:r>
          </a:p>
        </p:txBody>
      </p:sp>
      <p:sp>
        <p:nvSpPr>
          <p:cNvPr id="23" name="Rectangle 22"/>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flag_o.png"/>
          <p:cNvPicPr>
            <a:picLocks noChangeAspect="1"/>
          </p:cNvPicPr>
          <p:nvPr/>
        </p:nvPicPr>
        <p:blipFill>
          <a:blip r:embed="rId6"/>
          <a:stretch>
            <a:fillRect/>
          </a:stretch>
        </p:blipFill>
        <p:spPr>
          <a:xfrm>
            <a:off x="822959" y="5660136"/>
            <a:ext cx="365760" cy="365760"/>
          </a:xfrm>
          <a:prstGeom prst="rect">
            <a:avLst/>
          </a:prstGeom>
        </p:spPr>
      </p:pic>
      <p:sp>
        <p:nvSpPr>
          <p:cNvPr id="25" name="TextBox 24"/>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Para acero y tuberías, el PWP se convierte en un paquete de fabricación con entrega conjunta.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2 · IWP</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Un Installation Work Package (IWP) es el trabajo de una cuadrilla en una semana</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M2 · QUÉ ES AWP</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021</a:t>
            </a:r>
          </a:p>
        </p:txBody>
      </p:sp>
      <p:sp>
        <p:nvSpPr>
          <p:cNvPr id="7" name="Rectangle 6"/>
          <p:cNvSpPr/>
          <p:nvPr/>
        </p:nvSpPr>
        <p:spPr>
          <a:xfrm>
            <a:off x="548640" y="1828800"/>
            <a:ext cx="2581579" cy="24688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users_o.png"/>
          <p:cNvPicPr>
            <a:picLocks noChangeAspect="1"/>
          </p:cNvPicPr>
          <p:nvPr/>
        </p:nvPicPr>
        <p:blipFill>
          <a:blip r:embed="rId2"/>
          <a:stretch>
            <a:fillRect/>
          </a:stretch>
        </p:blipFill>
        <p:spPr>
          <a:xfrm>
            <a:off x="822959" y="2084832"/>
            <a:ext cx="457200" cy="457200"/>
          </a:xfrm>
          <a:prstGeom prst="rect">
            <a:avLst/>
          </a:prstGeom>
        </p:spPr>
      </p:pic>
      <p:sp>
        <p:nvSpPr>
          <p:cNvPr id="9" name="TextBox 8"/>
          <p:cNvSpPr txBox="1"/>
          <p:nvPr/>
        </p:nvSpPr>
        <p:spPr>
          <a:xfrm>
            <a:off x="822959" y="2706624"/>
            <a:ext cx="2078659"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Un capataz, una cuadrilla</a:t>
            </a:r>
          </a:p>
        </p:txBody>
      </p:sp>
      <p:sp>
        <p:nvSpPr>
          <p:cNvPr id="10" name="TextBox 9"/>
          <p:cNvSpPr txBox="1"/>
          <p:nvPr/>
        </p:nvSpPr>
        <p:spPr>
          <a:xfrm>
            <a:off x="822959" y="3328416"/>
            <a:ext cx="2078659" cy="832103"/>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Unos 10 trabajadores por capataz</a:t>
            </a:r>
          </a:p>
        </p:txBody>
      </p:sp>
      <p:sp>
        <p:nvSpPr>
          <p:cNvPr id="11" name="Rectangle 10"/>
          <p:cNvSpPr/>
          <p:nvPr/>
        </p:nvSpPr>
        <p:spPr>
          <a:xfrm>
            <a:off x="3386251" y="1828800"/>
            <a:ext cx="2581579" cy="24688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alendar_o.png"/>
          <p:cNvPicPr>
            <a:picLocks noChangeAspect="1"/>
          </p:cNvPicPr>
          <p:nvPr/>
        </p:nvPicPr>
        <p:blipFill>
          <a:blip r:embed="rId3"/>
          <a:stretch>
            <a:fillRect/>
          </a:stretch>
        </p:blipFill>
        <p:spPr>
          <a:xfrm>
            <a:off x="3660571" y="2084832"/>
            <a:ext cx="457200" cy="457200"/>
          </a:xfrm>
          <a:prstGeom prst="rect">
            <a:avLst/>
          </a:prstGeom>
        </p:spPr>
      </p:pic>
      <p:sp>
        <p:nvSpPr>
          <p:cNvPr id="13" name="TextBox 12"/>
          <p:cNvSpPr txBox="1"/>
          <p:nvPr/>
        </p:nvSpPr>
        <p:spPr>
          <a:xfrm>
            <a:off x="3660571" y="2706624"/>
            <a:ext cx="2078659"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Unos 7 días</a:t>
            </a:r>
          </a:p>
        </p:txBody>
      </p:sp>
      <p:sp>
        <p:nvSpPr>
          <p:cNvPr id="14" name="TextBox 13"/>
          <p:cNvSpPr txBox="1"/>
          <p:nvPr/>
        </p:nvSpPr>
        <p:spPr>
          <a:xfrm>
            <a:off x="3660571" y="3328416"/>
            <a:ext cx="2078659" cy="832103"/>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Actividad de nivel 5 del cronograma</a:t>
            </a:r>
          </a:p>
        </p:txBody>
      </p:sp>
      <p:sp>
        <p:nvSpPr>
          <p:cNvPr id="15" name="Rectangle 14"/>
          <p:cNvSpPr/>
          <p:nvPr/>
        </p:nvSpPr>
        <p:spPr>
          <a:xfrm>
            <a:off x="6223863" y="1828800"/>
            <a:ext cx="2581579" cy="24688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_o.png"/>
          <p:cNvPicPr>
            <a:picLocks noChangeAspect="1"/>
          </p:cNvPicPr>
          <p:nvPr/>
        </p:nvPicPr>
        <p:blipFill>
          <a:blip r:embed="rId4"/>
          <a:stretch>
            <a:fillRect/>
          </a:stretch>
        </p:blipFill>
        <p:spPr>
          <a:xfrm>
            <a:off x="6498183" y="2084832"/>
            <a:ext cx="457200" cy="457200"/>
          </a:xfrm>
          <a:prstGeom prst="rect">
            <a:avLst/>
          </a:prstGeom>
        </p:spPr>
      </p:pic>
      <p:sp>
        <p:nvSpPr>
          <p:cNvPr id="17" name="TextBox 16"/>
          <p:cNvSpPr txBox="1"/>
          <p:nvPr/>
        </p:nvSpPr>
        <p:spPr>
          <a:xfrm>
            <a:off x="6498183" y="2706624"/>
            <a:ext cx="2078659"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Planos completos</a:t>
            </a:r>
          </a:p>
        </p:txBody>
      </p:sp>
      <p:sp>
        <p:nvSpPr>
          <p:cNvPr id="18" name="TextBox 17"/>
          <p:cNvSpPr txBox="1"/>
          <p:nvPr/>
        </p:nvSpPr>
        <p:spPr>
          <a:xfrm>
            <a:off x="6498183" y="3328416"/>
            <a:ext cx="2078659" cy="832103"/>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Nunca se corta un isométrico a la mitad</a:t>
            </a:r>
          </a:p>
        </p:txBody>
      </p:sp>
      <p:sp>
        <p:nvSpPr>
          <p:cNvPr id="19" name="Rectangle 18"/>
          <p:cNvSpPr/>
          <p:nvPr/>
        </p:nvSpPr>
        <p:spPr>
          <a:xfrm>
            <a:off x="9061475" y="1828800"/>
            <a:ext cx="2581579" cy="24688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nlock_o.png"/>
          <p:cNvPicPr>
            <a:picLocks noChangeAspect="1"/>
          </p:cNvPicPr>
          <p:nvPr/>
        </p:nvPicPr>
        <p:blipFill>
          <a:blip r:embed="rId5"/>
          <a:stretch>
            <a:fillRect/>
          </a:stretch>
        </p:blipFill>
        <p:spPr>
          <a:xfrm>
            <a:off x="9335795" y="2084832"/>
            <a:ext cx="457200" cy="457200"/>
          </a:xfrm>
          <a:prstGeom prst="rect">
            <a:avLst/>
          </a:prstGeom>
        </p:spPr>
      </p:pic>
      <p:sp>
        <p:nvSpPr>
          <p:cNvPr id="21" name="TextBox 20"/>
          <p:cNvSpPr txBox="1"/>
          <p:nvPr/>
        </p:nvSpPr>
        <p:spPr>
          <a:xfrm>
            <a:off x="9335795" y="2706624"/>
            <a:ext cx="2078659"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Libre de restricciones</a:t>
            </a:r>
          </a:p>
        </p:txBody>
      </p:sp>
      <p:sp>
        <p:nvSpPr>
          <p:cNvPr id="22" name="TextBox 21"/>
          <p:cNvSpPr txBox="1"/>
          <p:nvPr/>
        </p:nvSpPr>
        <p:spPr>
          <a:xfrm>
            <a:off x="9335795" y="3328416"/>
            <a:ext cx="2078659" cy="832103"/>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Solo así se entrega a campo</a:t>
            </a:r>
          </a:p>
        </p:txBody>
      </p:sp>
      <p:sp>
        <p:nvSpPr>
          <p:cNvPr id="23" name="Rectangle 22"/>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flag_o.png"/>
          <p:cNvPicPr>
            <a:picLocks noChangeAspect="1"/>
          </p:cNvPicPr>
          <p:nvPr/>
        </p:nvPicPr>
        <p:blipFill>
          <a:blip r:embed="rId6"/>
          <a:stretch>
            <a:fillRect/>
          </a:stretch>
        </p:blipFill>
        <p:spPr>
          <a:xfrm>
            <a:off x="822959" y="5660136"/>
            <a:ext cx="365760" cy="365760"/>
          </a:xfrm>
          <a:prstGeom prst="rect">
            <a:avLst/>
          </a:prstGeom>
        </p:spPr>
      </p:pic>
      <p:sp>
        <p:nvSpPr>
          <p:cNvPr id="25" name="TextBox 24"/>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Tamaño de referencia: de 500 a 1 000 HH, según el tamaño de la cuadrilla.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2 · ALINEACIÓN</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La regla base es 1 EWP = 1 PWP = 1 CWP</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M2 · QUÉ ES AWP</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022</a:t>
            </a:r>
          </a:p>
        </p:txBody>
      </p:sp>
      <p:sp>
        <p:nvSpPr>
          <p:cNvPr id="7" name="TextBox 6"/>
          <p:cNvSpPr txBox="1"/>
          <p:nvPr/>
        </p:nvSpPr>
        <p:spPr>
          <a:xfrm>
            <a:off x="548640" y="1828800"/>
            <a:ext cx="2103120" cy="274320"/>
          </a:xfrm>
          <a:prstGeom prst="rect">
            <a:avLst/>
          </a:prstGeom>
          <a:noFill/>
        </p:spPr>
        <p:txBody>
          <a:bodyPr wrap="square" lIns="0" rIns="0" tIns="0" bIns="0" anchor="t">
            <a:spAutoFit/>
          </a:bodyPr>
          <a:lstStyle/>
          <a:p>
            <a:pPr algn="ctr"/>
            <a:r>
              <a:rPr sz="1050" b="1" i="0" spc="200">
                <a:solidFill>
                  <a:srgbClr val="003087"/>
                </a:solidFill>
                <a:latin typeface="Arial"/>
              </a:rPr>
              <a:t>INGENIERÍA</a:t>
            </a:r>
          </a:p>
        </p:txBody>
      </p:sp>
      <p:sp>
        <p:nvSpPr>
          <p:cNvPr id="8" name="Rectangle 7"/>
          <p:cNvSpPr/>
          <p:nvPr/>
        </p:nvSpPr>
        <p:spPr>
          <a:xfrm>
            <a:off x="548640" y="2240280"/>
            <a:ext cx="2103120" cy="914400"/>
          </a:xfrm>
          <a:prstGeom prst="rect">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2350008"/>
            <a:ext cx="2103120" cy="365760"/>
          </a:xfrm>
          <a:prstGeom prst="rect">
            <a:avLst/>
          </a:prstGeom>
          <a:noFill/>
        </p:spPr>
        <p:txBody>
          <a:bodyPr wrap="square" lIns="0" rIns="0" tIns="0" bIns="0" anchor="t">
            <a:spAutoFit/>
          </a:bodyPr>
          <a:lstStyle/>
          <a:p>
            <a:pPr algn="ctr"/>
            <a:r>
              <a:rPr sz="1700" b="1" i="0">
                <a:solidFill>
                  <a:srgbClr val="FFFFFF"/>
                </a:solidFill>
                <a:latin typeface="Courier New"/>
              </a:rPr>
              <a:t>EWP-01</a:t>
            </a:r>
          </a:p>
        </p:txBody>
      </p:sp>
      <p:sp>
        <p:nvSpPr>
          <p:cNvPr id="10" name="TextBox 9"/>
          <p:cNvSpPr txBox="1"/>
          <p:nvPr/>
        </p:nvSpPr>
        <p:spPr>
          <a:xfrm>
            <a:off x="548640" y="2743200"/>
            <a:ext cx="2103120" cy="274320"/>
          </a:xfrm>
          <a:prstGeom prst="rect">
            <a:avLst/>
          </a:prstGeom>
          <a:noFill/>
        </p:spPr>
        <p:txBody>
          <a:bodyPr wrap="square" lIns="0" rIns="0" tIns="0" bIns="0" anchor="t">
            <a:spAutoFit/>
          </a:bodyPr>
          <a:lstStyle/>
          <a:p>
            <a:pPr algn="ctr"/>
            <a:r>
              <a:rPr sz="1150" b="0" i="0">
                <a:solidFill>
                  <a:srgbClr val="FFFFFF"/>
                </a:solidFill>
                <a:latin typeface="Arial"/>
              </a:rPr>
              <a:t>Concreto</a:t>
            </a:r>
          </a:p>
        </p:txBody>
      </p:sp>
      <p:sp>
        <p:nvSpPr>
          <p:cNvPr id="11" name="TextBox 10"/>
          <p:cNvSpPr txBox="1"/>
          <p:nvPr/>
        </p:nvSpPr>
        <p:spPr>
          <a:xfrm>
            <a:off x="2651760" y="2240280"/>
            <a:ext cx="685800" cy="914400"/>
          </a:xfrm>
          <a:prstGeom prst="rect">
            <a:avLst/>
          </a:prstGeom>
          <a:noFill/>
        </p:spPr>
        <p:txBody>
          <a:bodyPr wrap="square" lIns="0" rIns="0" tIns="0" bIns="0" anchor="ctr">
            <a:spAutoFit/>
          </a:bodyPr>
          <a:lstStyle/>
          <a:p>
            <a:pPr algn="ctr"/>
            <a:r>
              <a:rPr sz="2600" b="1" i="0">
                <a:solidFill>
                  <a:srgbClr val="6D6E71"/>
                </a:solidFill>
                <a:latin typeface="Arial"/>
              </a:rPr>
              <a:t>=</a:t>
            </a:r>
          </a:p>
        </p:txBody>
      </p:sp>
      <p:sp>
        <p:nvSpPr>
          <p:cNvPr id="12" name="Rectangle 11"/>
          <p:cNvSpPr/>
          <p:nvPr/>
        </p:nvSpPr>
        <p:spPr>
          <a:xfrm>
            <a:off x="548640" y="3429000"/>
            <a:ext cx="2103120" cy="914400"/>
          </a:xfrm>
          <a:prstGeom prst="rect">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8640" y="3538728"/>
            <a:ext cx="2103120" cy="365760"/>
          </a:xfrm>
          <a:prstGeom prst="rect">
            <a:avLst/>
          </a:prstGeom>
          <a:noFill/>
        </p:spPr>
        <p:txBody>
          <a:bodyPr wrap="square" lIns="0" rIns="0" tIns="0" bIns="0" anchor="t">
            <a:spAutoFit/>
          </a:bodyPr>
          <a:lstStyle/>
          <a:p>
            <a:pPr algn="ctr"/>
            <a:r>
              <a:rPr sz="1700" b="1" i="0">
                <a:solidFill>
                  <a:srgbClr val="FFFFFF"/>
                </a:solidFill>
                <a:latin typeface="Courier New"/>
              </a:rPr>
              <a:t>EWP-02</a:t>
            </a:r>
          </a:p>
        </p:txBody>
      </p:sp>
      <p:sp>
        <p:nvSpPr>
          <p:cNvPr id="14" name="TextBox 13"/>
          <p:cNvSpPr txBox="1"/>
          <p:nvPr/>
        </p:nvSpPr>
        <p:spPr>
          <a:xfrm>
            <a:off x="548640" y="3931920"/>
            <a:ext cx="2103120" cy="274320"/>
          </a:xfrm>
          <a:prstGeom prst="rect">
            <a:avLst/>
          </a:prstGeom>
          <a:noFill/>
        </p:spPr>
        <p:txBody>
          <a:bodyPr wrap="square" lIns="0" rIns="0" tIns="0" bIns="0" anchor="t">
            <a:spAutoFit/>
          </a:bodyPr>
          <a:lstStyle/>
          <a:p>
            <a:pPr algn="ctr"/>
            <a:r>
              <a:rPr sz="1150" b="0" i="0">
                <a:solidFill>
                  <a:srgbClr val="FFFFFF"/>
                </a:solidFill>
                <a:latin typeface="Arial"/>
              </a:rPr>
              <a:t>Acero</a:t>
            </a:r>
          </a:p>
        </p:txBody>
      </p:sp>
      <p:sp>
        <p:nvSpPr>
          <p:cNvPr id="15" name="TextBox 14"/>
          <p:cNvSpPr txBox="1"/>
          <p:nvPr/>
        </p:nvSpPr>
        <p:spPr>
          <a:xfrm>
            <a:off x="2651760" y="3429000"/>
            <a:ext cx="685800" cy="914400"/>
          </a:xfrm>
          <a:prstGeom prst="rect">
            <a:avLst/>
          </a:prstGeom>
          <a:noFill/>
        </p:spPr>
        <p:txBody>
          <a:bodyPr wrap="square" lIns="0" rIns="0" tIns="0" bIns="0" anchor="ctr">
            <a:spAutoFit/>
          </a:bodyPr>
          <a:lstStyle/>
          <a:p>
            <a:pPr algn="ctr"/>
            <a:r>
              <a:rPr sz="2600" b="1" i="0">
                <a:solidFill>
                  <a:srgbClr val="6D6E71"/>
                </a:solidFill>
                <a:latin typeface="Arial"/>
              </a:rPr>
              <a:t>=</a:t>
            </a:r>
          </a:p>
        </p:txBody>
      </p:sp>
      <p:sp>
        <p:nvSpPr>
          <p:cNvPr id="16" name="Rectangle 15"/>
          <p:cNvSpPr/>
          <p:nvPr/>
        </p:nvSpPr>
        <p:spPr>
          <a:xfrm>
            <a:off x="548640" y="4617720"/>
            <a:ext cx="2103120" cy="914400"/>
          </a:xfrm>
          <a:prstGeom prst="rect">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 y="4727448"/>
            <a:ext cx="2103120" cy="365760"/>
          </a:xfrm>
          <a:prstGeom prst="rect">
            <a:avLst/>
          </a:prstGeom>
          <a:noFill/>
        </p:spPr>
        <p:txBody>
          <a:bodyPr wrap="square" lIns="0" rIns="0" tIns="0" bIns="0" anchor="t">
            <a:spAutoFit/>
          </a:bodyPr>
          <a:lstStyle/>
          <a:p>
            <a:pPr algn="ctr"/>
            <a:r>
              <a:rPr sz="1700" b="1" i="0">
                <a:solidFill>
                  <a:srgbClr val="FFFFFF"/>
                </a:solidFill>
                <a:latin typeface="Courier New"/>
              </a:rPr>
              <a:t>EWP-03</a:t>
            </a:r>
          </a:p>
        </p:txBody>
      </p:sp>
      <p:sp>
        <p:nvSpPr>
          <p:cNvPr id="18" name="TextBox 17"/>
          <p:cNvSpPr txBox="1"/>
          <p:nvPr/>
        </p:nvSpPr>
        <p:spPr>
          <a:xfrm>
            <a:off x="548640" y="5120640"/>
            <a:ext cx="2103120" cy="274320"/>
          </a:xfrm>
          <a:prstGeom prst="rect">
            <a:avLst/>
          </a:prstGeom>
          <a:noFill/>
        </p:spPr>
        <p:txBody>
          <a:bodyPr wrap="square" lIns="0" rIns="0" tIns="0" bIns="0" anchor="t">
            <a:spAutoFit/>
          </a:bodyPr>
          <a:lstStyle/>
          <a:p>
            <a:pPr algn="ctr"/>
            <a:r>
              <a:rPr sz="1150" b="0" i="0">
                <a:solidFill>
                  <a:srgbClr val="FFFFFF"/>
                </a:solidFill>
                <a:latin typeface="Arial"/>
              </a:rPr>
              <a:t>Tuberías</a:t>
            </a:r>
          </a:p>
        </p:txBody>
      </p:sp>
      <p:sp>
        <p:nvSpPr>
          <p:cNvPr id="19" name="TextBox 18"/>
          <p:cNvSpPr txBox="1"/>
          <p:nvPr/>
        </p:nvSpPr>
        <p:spPr>
          <a:xfrm>
            <a:off x="2651760" y="4617720"/>
            <a:ext cx="685800" cy="914400"/>
          </a:xfrm>
          <a:prstGeom prst="rect">
            <a:avLst/>
          </a:prstGeom>
          <a:noFill/>
        </p:spPr>
        <p:txBody>
          <a:bodyPr wrap="square" lIns="0" rIns="0" tIns="0" bIns="0" anchor="ctr">
            <a:spAutoFit/>
          </a:bodyPr>
          <a:lstStyle/>
          <a:p>
            <a:pPr algn="ctr"/>
            <a:r>
              <a:rPr sz="2600" b="1" i="0">
                <a:solidFill>
                  <a:srgbClr val="6D6E71"/>
                </a:solidFill>
                <a:latin typeface="Arial"/>
              </a:rPr>
              <a:t>=</a:t>
            </a:r>
          </a:p>
        </p:txBody>
      </p:sp>
      <p:sp>
        <p:nvSpPr>
          <p:cNvPr id="20" name="TextBox 19"/>
          <p:cNvSpPr txBox="1"/>
          <p:nvPr/>
        </p:nvSpPr>
        <p:spPr>
          <a:xfrm>
            <a:off x="3337560" y="1828800"/>
            <a:ext cx="2103120" cy="274320"/>
          </a:xfrm>
          <a:prstGeom prst="rect">
            <a:avLst/>
          </a:prstGeom>
          <a:noFill/>
        </p:spPr>
        <p:txBody>
          <a:bodyPr wrap="square" lIns="0" rIns="0" tIns="0" bIns="0" anchor="t">
            <a:spAutoFit/>
          </a:bodyPr>
          <a:lstStyle/>
          <a:p>
            <a:pPr algn="ctr"/>
            <a:r>
              <a:rPr sz="1050" b="1" i="0" spc="200">
                <a:solidFill>
                  <a:srgbClr val="0078C1"/>
                </a:solidFill>
                <a:latin typeface="Arial"/>
              </a:rPr>
              <a:t>COMPRAS</a:t>
            </a:r>
          </a:p>
        </p:txBody>
      </p:sp>
      <p:sp>
        <p:nvSpPr>
          <p:cNvPr id="21" name="Rectangle 20"/>
          <p:cNvSpPr/>
          <p:nvPr/>
        </p:nvSpPr>
        <p:spPr>
          <a:xfrm>
            <a:off x="3337560" y="2240280"/>
            <a:ext cx="2103120" cy="914400"/>
          </a:xfrm>
          <a:prstGeom prst="rect">
            <a:avLst/>
          </a:prstGeom>
          <a:solidFill>
            <a:srgbClr val="0078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337560" y="2350008"/>
            <a:ext cx="2103120" cy="365760"/>
          </a:xfrm>
          <a:prstGeom prst="rect">
            <a:avLst/>
          </a:prstGeom>
          <a:noFill/>
        </p:spPr>
        <p:txBody>
          <a:bodyPr wrap="square" lIns="0" rIns="0" tIns="0" bIns="0" anchor="t">
            <a:spAutoFit/>
          </a:bodyPr>
          <a:lstStyle/>
          <a:p>
            <a:pPr algn="ctr"/>
            <a:r>
              <a:rPr sz="1700" b="1" i="0">
                <a:solidFill>
                  <a:srgbClr val="FFFFFF"/>
                </a:solidFill>
                <a:latin typeface="Courier New"/>
              </a:rPr>
              <a:t>PWP-01</a:t>
            </a:r>
          </a:p>
        </p:txBody>
      </p:sp>
      <p:sp>
        <p:nvSpPr>
          <p:cNvPr id="23" name="TextBox 22"/>
          <p:cNvSpPr txBox="1"/>
          <p:nvPr/>
        </p:nvSpPr>
        <p:spPr>
          <a:xfrm>
            <a:off x="3337560" y="2743200"/>
            <a:ext cx="2103120" cy="274320"/>
          </a:xfrm>
          <a:prstGeom prst="rect">
            <a:avLst/>
          </a:prstGeom>
          <a:noFill/>
        </p:spPr>
        <p:txBody>
          <a:bodyPr wrap="square" lIns="0" rIns="0" tIns="0" bIns="0" anchor="t">
            <a:spAutoFit/>
          </a:bodyPr>
          <a:lstStyle/>
          <a:p>
            <a:pPr algn="ctr"/>
            <a:r>
              <a:rPr sz="1150" b="0" i="0">
                <a:solidFill>
                  <a:srgbClr val="FFFFFF"/>
                </a:solidFill>
                <a:latin typeface="Arial"/>
              </a:rPr>
              <a:t>Concreto</a:t>
            </a:r>
          </a:p>
        </p:txBody>
      </p:sp>
      <p:sp>
        <p:nvSpPr>
          <p:cNvPr id="24" name="TextBox 23"/>
          <p:cNvSpPr txBox="1"/>
          <p:nvPr/>
        </p:nvSpPr>
        <p:spPr>
          <a:xfrm>
            <a:off x="5440679" y="2240280"/>
            <a:ext cx="685800" cy="914400"/>
          </a:xfrm>
          <a:prstGeom prst="rect">
            <a:avLst/>
          </a:prstGeom>
          <a:noFill/>
        </p:spPr>
        <p:txBody>
          <a:bodyPr wrap="square" lIns="0" rIns="0" tIns="0" bIns="0" anchor="ctr">
            <a:spAutoFit/>
          </a:bodyPr>
          <a:lstStyle/>
          <a:p>
            <a:pPr algn="ctr"/>
            <a:r>
              <a:rPr sz="2600" b="1" i="0">
                <a:solidFill>
                  <a:srgbClr val="6D6E71"/>
                </a:solidFill>
                <a:latin typeface="Arial"/>
              </a:rPr>
              <a:t>=</a:t>
            </a:r>
          </a:p>
        </p:txBody>
      </p:sp>
      <p:sp>
        <p:nvSpPr>
          <p:cNvPr id="25" name="Rectangle 24"/>
          <p:cNvSpPr/>
          <p:nvPr/>
        </p:nvSpPr>
        <p:spPr>
          <a:xfrm>
            <a:off x="3337560" y="3429000"/>
            <a:ext cx="2103120" cy="914400"/>
          </a:xfrm>
          <a:prstGeom prst="rect">
            <a:avLst/>
          </a:prstGeom>
          <a:solidFill>
            <a:srgbClr val="0078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337560" y="3538728"/>
            <a:ext cx="2103120" cy="365760"/>
          </a:xfrm>
          <a:prstGeom prst="rect">
            <a:avLst/>
          </a:prstGeom>
          <a:noFill/>
        </p:spPr>
        <p:txBody>
          <a:bodyPr wrap="square" lIns="0" rIns="0" tIns="0" bIns="0" anchor="t">
            <a:spAutoFit/>
          </a:bodyPr>
          <a:lstStyle/>
          <a:p>
            <a:pPr algn="ctr"/>
            <a:r>
              <a:rPr sz="1700" b="1" i="0">
                <a:solidFill>
                  <a:srgbClr val="FFFFFF"/>
                </a:solidFill>
                <a:latin typeface="Courier New"/>
              </a:rPr>
              <a:t>PWP-02</a:t>
            </a:r>
          </a:p>
        </p:txBody>
      </p:sp>
      <p:sp>
        <p:nvSpPr>
          <p:cNvPr id="27" name="TextBox 26"/>
          <p:cNvSpPr txBox="1"/>
          <p:nvPr/>
        </p:nvSpPr>
        <p:spPr>
          <a:xfrm>
            <a:off x="3337560" y="3931920"/>
            <a:ext cx="2103120" cy="274320"/>
          </a:xfrm>
          <a:prstGeom prst="rect">
            <a:avLst/>
          </a:prstGeom>
          <a:noFill/>
        </p:spPr>
        <p:txBody>
          <a:bodyPr wrap="square" lIns="0" rIns="0" tIns="0" bIns="0" anchor="t">
            <a:spAutoFit/>
          </a:bodyPr>
          <a:lstStyle/>
          <a:p>
            <a:pPr algn="ctr"/>
            <a:r>
              <a:rPr sz="1150" b="0" i="0">
                <a:solidFill>
                  <a:srgbClr val="FFFFFF"/>
                </a:solidFill>
                <a:latin typeface="Arial"/>
              </a:rPr>
              <a:t>Acero</a:t>
            </a:r>
          </a:p>
        </p:txBody>
      </p:sp>
      <p:sp>
        <p:nvSpPr>
          <p:cNvPr id="28" name="TextBox 27"/>
          <p:cNvSpPr txBox="1"/>
          <p:nvPr/>
        </p:nvSpPr>
        <p:spPr>
          <a:xfrm>
            <a:off x="5440679" y="3429000"/>
            <a:ext cx="685800" cy="914400"/>
          </a:xfrm>
          <a:prstGeom prst="rect">
            <a:avLst/>
          </a:prstGeom>
          <a:noFill/>
        </p:spPr>
        <p:txBody>
          <a:bodyPr wrap="square" lIns="0" rIns="0" tIns="0" bIns="0" anchor="ctr">
            <a:spAutoFit/>
          </a:bodyPr>
          <a:lstStyle/>
          <a:p>
            <a:pPr algn="ctr"/>
            <a:r>
              <a:rPr sz="2600" b="1" i="0">
                <a:solidFill>
                  <a:srgbClr val="6D6E71"/>
                </a:solidFill>
                <a:latin typeface="Arial"/>
              </a:rPr>
              <a:t>=</a:t>
            </a:r>
          </a:p>
        </p:txBody>
      </p:sp>
      <p:sp>
        <p:nvSpPr>
          <p:cNvPr id="29" name="Rectangle 28"/>
          <p:cNvSpPr/>
          <p:nvPr/>
        </p:nvSpPr>
        <p:spPr>
          <a:xfrm>
            <a:off x="3337560" y="4617720"/>
            <a:ext cx="2103120" cy="914400"/>
          </a:xfrm>
          <a:prstGeom prst="rect">
            <a:avLst/>
          </a:prstGeom>
          <a:solidFill>
            <a:srgbClr val="0078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337560" y="4727448"/>
            <a:ext cx="2103120" cy="365760"/>
          </a:xfrm>
          <a:prstGeom prst="rect">
            <a:avLst/>
          </a:prstGeom>
          <a:noFill/>
        </p:spPr>
        <p:txBody>
          <a:bodyPr wrap="square" lIns="0" rIns="0" tIns="0" bIns="0" anchor="t">
            <a:spAutoFit/>
          </a:bodyPr>
          <a:lstStyle/>
          <a:p>
            <a:pPr algn="ctr"/>
            <a:r>
              <a:rPr sz="1700" b="1" i="0">
                <a:solidFill>
                  <a:srgbClr val="FFFFFF"/>
                </a:solidFill>
                <a:latin typeface="Courier New"/>
              </a:rPr>
              <a:t>PWP-03</a:t>
            </a:r>
          </a:p>
        </p:txBody>
      </p:sp>
      <p:sp>
        <p:nvSpPr>
          <p:cNvPr id="31" name="TextBox 30"/>
          <p:cNvSpPr txBox="1"/>
          <p:nvPr/>
        </p:nvSpPr>
        <p:spPr>
          <a:xfrm>
            <a:off x="3337560" y="5120640"/>
            <a:ext cx="2103120" cy="274320"/>
          </a:xfrm>
          <a:prstGeom prst="rect">
            <a:avLst/>
          </a:prstGeom>
          <a:noFill/>
        </p:spPr>
        <p:txBody>
          <a:bodyPr wrap="square" lIns="0" rIns="0" tIns="0" bIns="0" anchor="t">
            <a:spAutoFit/>
          </a:bodyPr>
          <a:lstStyle/>
          <a:p>
            <a:pPr algn="ctr"/>
            <a:r>
              <a:rPr sz="1150" b="0" i="0">
                <a:solidFill>
                  <a:srgbClr val="FFFFFF"/>
                </a:solidFill>
                <a:latin typeface="Arial"/>
              </a:rPr>
              <a:t>Tuberías</a:t>
            </a:r>
          </a:p>
        </p:txBody>
      </p:sp>
      <p:sp>
        <p:nvSpPr>
          <p:cNvPr id="32" name="TextBox 31"/>
          <p:cNvSpPr txBox="1"/>
          <p:nvPr/>
        </p:nvSpPr>
        <p:spPr>
          <a:xfrm>
            <a:off x="5440679" y="4617720"/>
            <a:ext cx="685800" cy="914400"/>
          </a:xfrm>
          <a:prstGeom prst="rect">
            <a:avLst/>
          </a:prstGeom>
          <a:noFill/>
        </p:spPr>
        <p:txBody>
          <a:bodyPr wrap="square" lIns="0" rIns="0" tIns="0" bIns="0" anchor="ctr">
            <a:spAutoFit/>
          </a:bodyPr>
          <a:lstStyle/>
          <a:p>
            <a:pPr algn="ctr"/>
            <a:r>
              <a:rPr sz="2600" b="1" i="0">
                <a:solidFill>
                  <a:srgbClr val="6D6E71"/>
                </a:solidFill>
                <a:latin typeface="Arial"/>
              </a:rPr>
              <a:t>=</a:t>
            </a:r>
          </a:p>
        </p:txBody>
      </p:sp>
      <p:sp>
        <p:nvSpPr>
          <p:cNvPr id="33" name="TextBox 32"/>
          <p:cNvSpPr txBox="1"/>
          <p:nvPr/>
        </p:nvSpPr>
        <p:spPr>
          <a:xfrm>
            <a:off x="6126479" y="1828800"/>
            <a:ext cx="2103120" cy="274320"/>
          </a:xfrm>
          <a:prstGeom prst="rect">
            <a:avLst/>
          </a:prstGeom>
          <a:noFill/>
        </p:spPr>
        <p:txBody>
          <a:bodyPr wrap="square" lIns="0" rIns="0" tIns="0" bIns="0" anchor="t">
            <a:spAutoFit/>
          </a:bodyPr>
          <a:lstStyle/>
          <a:p>
            <a:pPr algn="ctr"/>
            <a:r>
              <a:rPr sz="1050" b="1" i="0" spc="200">
                <a:solidFill>
                  <a:srgbClr val="FF6600"/>
                </a:solidFill>
                <a:latin typeface="Arial"/>
              </a:rPr>
              <a:t>CONSTRUCCIÓN</a:t>
            </a:r>
          </a:p>
        </p:txBody>
      </p:sp>
      <p:sp>
        <p:nvSpPr>
          <p:cNvPr id="34" name="Rectangle 33"/>
          <p:cNvSpPr/>
          <p:nvPr/>
        </p:nvSpPr>
        <p:spPr>
          <a:xfrm>
            <a:off x="6126479" y="2240280"/>
            <a:ext cx="2103120" cy="9144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126479" y="2350008"/>
            <a:ext cx="2103120" cy="365760"/>
          </a:xfrm>
          <a:prstGeom prst="rect">
            <a:avLst/>
          </a:prstGeom>
          <a:noFill/>
        </p:spPr>
        <p:txBody>
          <a:bodyPr wrap="square" lIns="0" rIns="0" tIns="0" bIns="0" anchor="t">
            <a:spAutoFit/>
          </a:bodyPr>
          <a:lstStyle/>
          <a:p>
            <a:pPr algn="ctr"/>
            <a:r>
              <a:rPr sz="1700" b="1" i="0">
                <a:solidFill>
                  <a:srgbClr val="FFFFFF"/>
                </a:solidFill>
                <a:latin typeface="Courier New"/>
              </a:rPr>
              <a:t>CWP-01</a:t>
            </a:r>
          </a:p>
        </p:txBody>
      </p:sp>
      <p:sp>
        <p:nvSpPr>
          <p:cNvPr id="36" name="TextBox 35"/>
          <p:cNvSpPr txBox="1"/>
          <p:nvPr/>
        </p:nvSpPr>
        <p:spPr>
          <a:xfrm>
            <a:off x="6126479" y="2743200"/>
            <a:ext cx="2103120" cy="274320"/>
          </a:xfrm>
          <a:prstGeom prst="rect">
            <a:avLst/>
          </a:prstGeom>
          <a:noFill/>
        </p:spPr>
        <p:txBody>
          <a:bodyPr wrap="square" lIns="0" rIns="0" tIns="0" bIns="0" anchor="t">
            <a:spAutoFit/>
          </a:bodyPr>
          <a:lstStyle/>
          <a:p>
            <a:pPr algn="ctr"/>
            <a:r>
              <a:rPr sz="1150" b="0" i="0">
                <a:solidFill>
                  <a:srgbClr val="FFFFFF"/>
                </a:solidFill>
                <a:latin typeface="Arial"/>
              </a:rPr>
              <a:t>Concreto</a:t>
            </a:r>
          </a:p>
        </p:txBody>
      </p:sp>
      <p:sp>
        <p:nvSpPr>
          <p:cNvPr id="37" name="Rectangle 36"/>
          <p:cNvSpPr/>
          <p:nvPr/>
        </p:nvSpPr>
        <p:spPr>
          <a:xfrm>
            <a:off x="6126479" y="3429000"/>
            <a:ext cx="2103120" cy="9144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126479" y="3538728"/>
            <a:ext cx="2103120" cy="365760"/>
          </a:xfrm>
          <a:prstGeom prst="rect">
            <a:avLst/>
          </a:prstGeom>
          <a:noFill/>
        </p:spPr>
        <p:txBody>
          <a:bodyPr wrap="square" lIns="0" rIns="0" tIns="0" bIns="0" anchor="t">
            <a:spAutoFit/>
          </a:bodyPr>
          <a:lstStyle/>
          <a:p>
            <a:pPr algn="ctr"/>
            <a:r>
              <a:rPr sz="1700" b="1" i="0">
                <a:solidFill>
                  <a:srgbClr val="FFFFFF"/>
                </a:solidFill>
                <a:latin typeface="Courier New"/>
              </a:rPr>
              <a:t>CWP-02</a:t>
            </a:r>
          </a:p>
        </p:txBody>
      </p:sp>
      <p:sp>
        <p:nvSpPr>
          <p:cNvPr id="39" name="TextBox 38"/>
          <p:cNvSpPr txBox="1"/>
          <p:nvPr/>
        </p:nvSpPr>
        <p:spPr>
          <a:xfrm>
            <a:off x="6126479" y="3931920"/>
            <a:ext cx="2103120" cy="274320"/>
          </a:xfrm>
          <a:prstGeom prst="rect">
            <a:avLst/>
          </a:prstGeom>
          <a:noFill/>
        </p:spPr>
        <p:txBody>
          <a:bodyPr wrap="square" lIns="0" rIns="0" tIns="0" bIns="0" anchor="t">
            <a:spAutoFit/>
          </a:bodyPr>
          <a:lstStyle/>
          <a:p>
            <a:pPr algn="ctr"/>
            <a:r>
              <a:rPr sz="1150" b="0" i="0">
                <a:solidFill>
                  <a:srgbClr val="FFFFFF"/>
                </a:solidFill>
                <a:latin typeface="Arial"/>
              </a:rPr>
              <a:t>Acero</a:t>
            </a:r>
          </a:p>
        </p:txBody>
      </p:sp>
      <p:sp>
        <p:nvSpPr>
          <p:cNvPr id="40" name="Rectangle 39"/>
          <p:cNvSpPr/>
          <p:nvPr/>
        </p:nvSpPr>
        <p:spPr>
          <a:xfrm>
            <a:off x="6126479" y="4617720"/>
            <a:ext cx="2103120" cy="9144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126479" y="4727448"/>
            <a:ext cx="2103120" cy="365760"/>
          </a:xfrm>
          <a:prstGeom prst="rect">
            <a:avLst/>
          </a:prstGeom>
          <a:noFill/>
        </p:spPr>
        <p:txBody>
          <a:bodyPr wrap="square" lIns="0" rIns="0" tIns="0" bIns="0" anchor="t">
            <a:spAutoFit/>
          </a:bodyPr>
          <a:lstStyle/>
          <a:p>
            <a:pPr algn="ctr"/>
            <a:r>
              <a:rPr sz="1700" b="1" i="0">
                <a:solidFill>
                  <a:srgbClr val="FFFFFF"/>
                </a:solidFill>
                <a:latin typeface="Courier New"/>
              </a:rPr>
              <a:t>CWP-03</a:t>
            </a:r>
          </a:p>
        </p:txBody>
      </p:sp>
      <p:sp>
        <p:nvSpPr>
          <p:cNvPr id="42" name="TextBox 41"/>
          <p:cNvSpPr txBox="1"/>
          <p:nvPr/>
        </p:nvSpPr>
        <p:spPr>
          <a:xfrm>
            <a:off x="6126479" y="5120640"/>
            <a:ext cx="2103120" cy="274320"/>
          </a:xfrm>
          <a:prstGeom prst="rect">
            <a:avLst/>
          </a:prstGeom>
          <a:noFill/>
        </p:spPr>
        <p:txBody>
          <a:bodyPr wrap="square" lIns="0" rIns="0" tIns="0" bIns="0" anchor="t">
            <a:spAutoFit/>
          </a:bodyPr>
          <a:lstStyle/>
          <a:p>
            <a:pPr algn="ctr"/>
            <a:r>
              <a:rPr sz="1150" b="0" i="0">
                <a:solidFill>
                  <a:srgbClr val="FFFFFF"/>
                </a:solidFill>
                <a:latin typeface="Arial"/>
              </a:rPr>
              <a:t>Tuberías</a:t>
            </a:r>
          </a:p>
        </p:txBody>
      </p:sp>
      <p:sp>
        <p:nvSpPr>
          <p:cNvPr id="43" name="Rectangle 42"/>
          <p:cNvSpPr/>
          <p:nvPr/>
        </p:nvSpPr>
        <p:spPr>
          <a:xfrm>
            <a:off x="8641080" y="1828800"/>
            <a:ext cx="3001975" cy="43434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8915400" y="2103120"/>
            <a:ext cx="2453335" cy="274320"/>
          </a:xfrm>
          <a:prstGeom prst="rect">
            <a:avLst/>
          </a:prstGeom>
          <a:noFill/>
        </p:spPr>
        <p:txBody>
          <a:bodyPr wrap="square" lIns="0" rIns="0" tIns="0" bIns="0" anchor="t">
            <a:spAutoFit/>
          </a:bodyPr>
          <a:lstStyle/>
          <a:p>
            <a:pPr algn="l"/>
            <a:r>
              <a:rPr sz="1050" b="1" i="0" spc="200">
                <a:solidFill>
                  <a:srgbClr val="FF6600"/>
                </a:solidFill>
                <a:latin typeface="Arial"/>
              </a:rPr>
              <a:t>EXCEPCIONES ADMITIDAS</a:t>
            </a:r>
          </a:p>
        </p:txBody>
      </p:sp>
      <p:pic>
        <p:nvPicPr>
          <p:cNvPr id="45" name="Picture 44" descr="boxes_o.png"/>
          <p:cNvPicPr>
            <a:picLocks noChangeAspect="1"/>
          </p:cNvPicPr>
          <p:nvPr/>
        </p:nvPicPr>
        <p:blipFill>
          <a:blip r:embed="rId2"/>
          <a:stretch>
            <a:fillRect/>
          </a:stretch>
        </p:blipFill>
        <p:spPr>
          <a:xfrm>
            <a:off x="8915400" y="2606039"/>
            <a:ext cx="347472" cy="347472"/>
          </a:xfrm>
          <a:prstGeom prst="rect">
            <a:avLst/>
          </a:prstGeom>
        </p:spPr>
      </p:pic>
      <p:sp>
        <p:nvSpPr>
          <p:cNvPr id="46" name="TextBox 45"/>
          <p:cNvSpPr txBox="1"/>
          <p:nvPr/>
        </p:nvSpPr>
        <p:spPr>
          <a:xfrm>
            <a:off x="9418319" y="2560320"/>
            <a:ext cx="1996135" cy="1097280"/>
          </a:xfrm>
          <a:prstGeom prst="rect">
            <a:avLst/>
          </a:prstGeom>
          <a:noFill/>
        </p:spPr>
        <p:txBody>
          <a:bodyPr wrap="square" lIns="0" rIns="0" tIns="0" bIns="0" anchor="t">
            <a:spAutoFit/>
          </a:bodyPr>
          <a:lstStyle/>
          <a:p>
            <a:pPr algn="l">
              <a:lnSpc>
                <a:spcPct val="105000"/>
              </a:lnSpc>
              <a:spcAft>
                <a:spcPts val="200"/>
              </a:spcAft>
            </a:pPr>
            <a:r>
              <a:rPr sz="1300" b="1" i="0">
                <a:solidFill>
                  <a:srgbClr val="FFFFFF"/>
                </a:solidFill>
                <a:latin typeface="Arial"/>
              </a:rPr>
              <a:t>Materiales a granel</a:t>
            </a:r>
          </a:p>
          <a:p>
            <a:pPr algn="l">
              <a:lnSpc>
                <a:spcPct val="105000"/>
              </a:lnSpc>
              <a:spcAft>
                <a:spcPts val="200"/>
              </a:spcAft>
            </a:pPr>
            <a:r>
              <a:rPr sz="1150" b="0" i="0">
                <a:solidFill>
                  <a:srgbClr val="BCBEC0"/>
                </a:solidFill>
                <a:latin typeface="Arial"/>
              </a:rPr>
              <a:t>Bandejas, soportes o tubería se agrupan en un PWP común para varios CWP.</a:t>
            </a:r>
          </a:p>
        </p:txBody>
      </p:sp>
      <p:pic>
        <p:nvPicPr>
          <p:cNvPr id="47" name="Picture 46" descr="ruler_o.png"/>
          <p:cNvPicPr>
            <a:picLocks noChangeAspect="1"/>
          </p:cNvPicPr>
          <p:nvPr/>
        </p:nvPicPr>
        <p:blipFill>
          <a:blip r:embed="rId3"/>
          <a:stretch>
            <a:fillRect/>
          </a:stretch>
        </p:blipFill>
        <p:spPr>
          <a:xfrm>
            <a:off x="8915400" y="3794759"/>
            <a:ext cx="347472" cy="347472"/>
          </a:xfrm>
          <a:prstGeom prst="rect">
            <a:avLst/>
          </a:prstGeom>
        </p:spPr>
      </p:pic>
      <p:sp>
        <p:nvSpPr>
          <p:cNvPr id="48" name="TextBox 47"/>
          <p:cNvSpPr txBox="1"/>
          <p:nvPr/>
        </p:nvSpPr>
        <p:spPr>
          <a:xfrm>
            <a:off x="9418319" y="3749039"/>
            <a:ext cx="1996135" cy="1097280"/>
          </a:xfrm>
          <a:prstGeom prst="rect">
            <a:avLst/>
          </a:prstGeom>
          <a:noFill/>
        </p:spPr>
        <p:txBody>
          <a:bodyPr wrap="square" lIns="0" rIns="0" tIns="0" bIns="0" anchor="t">
            <a:spAutoFit/>
          </a:bodyPr>
          <a:lstStyle/>
          <a:p>
            <a:pPr algn="l">
              <a:lnSpc>
                <a:spcPct val="105000"/>
              </a:lnSpc>
              <a:spcAft>
                <a:spcPts val="200"/>
              </a:spcAft>
            </a:pPr>
            <a:r>
              <a:rPr sz="1300" b="1" i="0">
                <a:solidFill>
                  <a:srgbClr val="FFFFFF"/>
                </a:solidFill>
                <a:latin typeface="Arial"/>
              </a:rPr>
              <a:t>Criterios de diseño</a:t>
            </a:r>
          </a:p>
          <a:p>
            <a:pPr algn="l">
              <a:lnSpc>
                <a:spcPct val="105000"/>
              </a:lnSpc>
              <a:spcAft>
                <a:spcPts val="200"/>
              </a:spcAft>
            </a:pPr>
            <a:r>
              <a:rPr sz="1150" b="0" i="0">
                <a:solidFill>
                  <a:srgbClr val="BCBEC0"/>
                </a:solidFill>
                <a:latin typeface="Arial"/>
              </a:rPr>
              <a:t>Un EWP general puede servir a varios CWP.</a:t>
            </a:r>
          </a:p>
        </p:txBody>
      </p:sp>
      <p:pic>
        <p:nvPicPr>
          <p:cNvPr id="49" name="Picture 48" descr="link_o.png"/>
          <p:cNvPicPr>
            <a:picLocks noChangeAspect="1"/>
          </p:cNvPicPr>
          <p:nvPr/>
        </p:nvPicPr>
        <p:blipFill>
          <a:blip r:embed="rId4"/>
          <a:stretch>
            <a:fillRect/>
          </a:stretch>
        </p:blipFill>
        <p:spPr>
          <a:xfrm>
            <a:off x="8915400" y="4983479"/>
            <a:ext cx="347472" cy="347472"/>
          </a:xfrm>
          <a:prstGeom prst="rect">
            <a:avLst/>
          </a:prstGeom>
        </p:spPr>
      </p:pic>
      <p:sp>
        <p:nvSpPr>
          <p:cNvPr id="50" name="TextBox 49"/>
          <p:cNvSpPr txBox="1"/>
          <p:nvPr/>
        </p:nvSpPr>
        <p:spPr>
          <a:xfrm>
            <a:off x="9418319" y="4937759"/>
            <a:ext cx="1996135" cy="1097280"/>
          </a:xfrm>
          <a:prstGeom prst="rect">
            <a:avLst/>
          </a:prstGeom>
          <a:noFill/>
        </p:spPr>
        <p:txBody>
          <a:bodyPr wrap="square" lIns="0" rIns="0" tIns="0" bIns="0" anchor="t">
            <a:spAutoFit/>
          </a:bodyPr>
          <a:lstStyle/>
          <a:p>
            <a:pPr algn="l">
              <a:lnSpc>
                <a:spcPct val="105000"/>
              </a:lnSpc>
              <a:spcAft>
                <a:spcPts val="200"/>
              </a:spcAft>
            </a:pPr>
            <a:r>
              <a:rPr sz="1300" b="1" i="0">
                <a:solidFill>
                  <a:srgbClr val="FFFFFF"/>
                </a:solidFill>
                <a:latin typeface="Arial"/>
              </a:rPr>
              <a:t>Interdisciplina</a:t>
            </a:r>
          </a:p>
          <a:p>
            <a:pPr algn="l">
              <a:lnSpc>
                <a:spcPct val="105000"/>
              </a:lnSpc>
              <a:spcAft>
                <a:spcPts val="200"/>
              </a:spcAft>
            </a:pPr>
            <a:r>
              <a:rPr sz="1150" b="0" i="0">
                <a:solidFill>
                  <a:srgbClr val="BCBEC0"/>
                </a:solidFill>
                <a:latin typeface="Arial"/>
              </a:rPr>
              <a:t>Un CWP puede depender de varios EWP (civil, mecánica, estructuras).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2 · SISTEMAS</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Para la puesta en marcha se empaqueta por sistemas, no por áreas</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M2 · QUÉ ES AWP</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023</a:t>
            </a:r>
          </a:p>
        </p:txBody>
      </p:sp>
      <p:sp>
        <p:nvSpPr>
          <p:cNvPr id="7" name="Rectangle 6"/>
          <p:cNvSpPr/>
          <p:nvPr/>
        </p:nvSpPr>
        <p:spPr>
          <a:xfrm>
            <a:off x="548640" y="1828800"/>
            <a:ext cx="5396331" cy="341071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48640" y="1828800"/>
            <a:ext cx="5396331" cy="502920"/>
          </a:xfrm>
          <a:prstGeom prst="rect">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1828800"/>
            <a:ext cx="4847691" cy="502920"/>
          </a:xfrm>
          <a:prstGeom prst="rect">
            <a:avLst/>
          </a:prstGeom>
          <a:noFill/>
        </p:spPr>
        <p:txBody>
          <a:bodyPr wrap="square" lIns="0" rIns="0" tIns="0" bIns="0" anchor="ctr">
            <a:spAutoFit/>
          </a:bodyPr>
          <a:lstStyle/>
          <a:p>
            <a:pPr algn="l"/>
            <a:r>
              <a:rPr sz="1200" b="1" i="0" spc="200">
                <a:solidFill>
                  <a:srgbClr val="FFFFFF"/>
                </a:solidFill>
                <a:latin typeface="Arial"/>
              </a:rPr>
              <a:t>POR ÁREAS · CONSTRUCCIÓN</a:t>
            </a:r>
          </a:p>
        </p:txBody>
      </p:sp>
      <p:sp>
        <p:nvSpPr>
          <p:cNvPr id="10" name="Oval 9"/>
          <p:cNvSpPr/>
          <p:nvPr/>
        </p:nvSpPr>
        <p:spPr>
          <a:xfrm>
            <a:off x="932688" y="2670048"/>
            <a:ext cx="155448" cy="155448"/>
          </a:xfrm>
          <a:prstGeom prst="ellipse">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17319" y="2542032"/>
            <a:ext cx="4253331" cy="274320"/>
          </a:xfrm>
          <a:prstGeom prst="rect">
            <a:avLst/>
          </a:prstGeom>
          <a:noFill/>
        </p:spPr>
        <p:txBody>
          <a:bodyPr wrap="square" lIns="0" rIns="0" tIns="0" bIns="0" anchor="t">
            <a:spAutoFit/>
          </a:bodyPr>
          <a:lstStyle/>
          <a:p>
            <a:pPr algn="l"/>
            <a:r>
              <a:rPr sz="1400" b="1" i="0">
                <a:solidFill>
                  <a:srgbClr val="1A1A1A"/>
                </a:solidFill>
                <a:latin typeface="Arial"/>
              </a:rPr>
              <a:t>CWA → CWP → IWP</a:t>
            </a:r>
          </a:p>
        </p:txBody>
      </p:sp>
      <p:sp>
        <p:nvSpPr>
          <p:cNvPr id="12" name="TextBox 11"/>
          <p:cNvSpPr txBox="1"/>
          <p:nvPr/>
        </p:nvSpPr>
        <p:spPr>
          <a:xfrm>
            <a:off x="1417319" y="2834639"/>
            <a:ext cx="4253331" cy="527304"/>
          </a:xfrm>
          <a:prstGeom prst="rect">
            <a:avLst/>
          </a:prstGeom>
          <a:noFill/>
        </p:spPr>
        <p:txBody>
          <a:bodyPr wrap="square" lIns="0" rIns="0" tIns="0" bIns="0" anchor="t">
            <a:spAutoFit/>
          </a:bodyPr>
          <a:lstStyle/>
          <a:p>
            <a:pPr algn="l"/>
            <a:r>
              <a:rPr sz="1150" b="0" i="0">
                <a:solidFill>
                  <a:srgbClr val="6D6E71"/>
                </a:solidFill>
                <a:latin typeface="Arial"/>
              </a:rPr>
              <a:t>Organiza el trabajo por ubicación física</a:t>
            </a:r>
          </a:p>
        </p:txBody>
      </p:sp>
      <p:sp>
        <p:nvSpPr>
          <p:cNvPr id="13" name="Oval 12"/>
          <p:cNvSpPr/>
          <p:nvPr/>
        </p:nvSpPr>
        <p:spPr>
          <a:xfrm>
            <a:off x="932688" y="3517392"/>
            <a:ext cx="155448" cy="155448"/>
          </a:xfrm>
          <a:prstGeom prst="ellipse">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417319" y="3389376"/>
            <a:ext cx="4253331" cy="274320"/>
          </a:xfrm>
          <a:prstGeom prst="rect">
            <a:avLst/>
          </a:prstGeom>
          <a:noFill/>
        </p:spPr>
        <p:txBody>
          <a:bodyPr wrap="square" lIns="0" rIns="0" tIns="0" bIns="0" anchor="t">
            <a:spAutoFit/>
          </a:bodyPr>
          <a:lstStyle/>
          <a:p>
            <a:pPr algn="l"/>
            <a:r>
              <a:rPr sz="1400" b="1" i="0">
                <a:solidFill>
                  <a:srgbClr val="1A1A1A"/>
                </a:solidFill>
                <a:latin typeface="Arial"/>
              </a:rPr>
              <a:t>Una disciplina por paquete</a:t>
            </a:r>
          </a:p>
        </p:txBody>
      </p:sp>
      <p:sp>
        <p:nvSpPr>
          <p:cNvPr id="15" name="TextBox 14"/>
          <p:cNvSpPr txBox="1"/>
          <p:nvPr/>
        </p:nvSpPr>
        <p:spPr>
          <a:xfrm>
            <a:off x="1417319" y="3681983"/>
            <a:ext cx="4253331" cy="527304"/>
          </a:xfrm>
          <a:prstGeom prst="rect">
            <a:avLst/>
          </a:prstGeom>
          <a:noFill/>
        </p:spPr>
        <p:txBody>
          <a:bodyPr wrap="square" lIns="0" rIns="0" tIns="0" bIns="0" anchor="t">
            <a:spAutoFit/>
          </a:bodyPr>
          <a:lstStyle/>
          <a:p>
            <a:pPr algn="l"/>
            <a:r>
              <a:rPr sz="1150" b="0" i="0">
                <a:solidFill>
                  <a:srgbClr val="6D6E71"/>
                </a:solidFill>
                <a:latin typeface="Arial"/>
              </a:rPr>
              <a:t>Facilita la ejecución y el control</a:t>
            </a:r>
          </a:p>
        </p:txBody>
      </p:sp>
      <p:sp>
        <p:nvSpPr>
          <p:cNvPr id="16" name="Oval 15"/>
          <p:cNvSpPr/>
          <p:nvPr/>
        </p:nvSpPr>
        <p:spPr>
          <a:xfrm>
            <a:off x="932688" y="4364736"/>
            <a:ext cx="155448" cy="155448"/>
          </a:xfrm>
          <a:prstGeom prst="ellipse">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417319" y="4236720"/>
            <a:ext cx="4253331" cy="274320"/>
          </a:xfrm>
          <a:prstGeom prst="rect">
            <a:avLst/>
          </a:prstGeom>
          <a:noFill/>
        </p:spPr>
        <p:txBody>
          <a:bodyPr wrap="square" lIns="0" rIns="0" tIns="0" bIns="0" anchor="t">
            <a:spAutoFit/>
          </a:bodyPr>
          <a:lstStyle/>
          <a:p>
            <a:pPr algn="l"/>
            <a:r>
              <a:rPr sz="1400" b="1" i="0">
                <a:solidFill>
                  <a:srgbClr val="1A1A1A"/>
                </a:solidFill>
                <a:latin typeface="Arial"/>
              </a:rPr>
              <a:t>Relación uno a muchos</a:t>
            </a:r>
          </a:p>
        </p:txBody>
      </p:sp>
      <p:sp>
        <p:nvSpPr>
          <p:cNvPr id="18" name="TextBox 17"/>
          <p:cNvSpPr txBox="1"/>
          <p:nvPr/>
        </p:nvSpPr>
        <p:spPr>
          <a:xfrm>
            <a:off x="1417319" y="4529328"/>
            <a:ext cx="4253331" cy="527304"/>
          </a:xfrm>
          <a:prstGeom prst="rect">
            <a:avLst/>
          </a:prstGeom>
          <a:noFill/>
        </p:spPr>
        <p:txBody>
          <a:bodyPr wrap="square" lIns="0" rIns="0" tIns="0" bIns="0" anchor="t">
            <a:spAutoFit/>
          </a:bodyPr>
          <a:lstStyle/>
          <a:p>
            <a:pPr algn="l"/>
            <a:r>
              <a:rPr sz="1150" b="0" i="0">
                <a:solidFill>
                  <a:srgbClr val="6D6E71"/>
                </a:solidFill>
                <a:latin typeface="Arial"/>
              </a:rPr>
              <a:t>Cada CWP se divide en varios IWP</a:t>
            </a:r>
          </a:p>
        </p:txBody>
      </p:sp>
      <p:sp>
        <p:nvSpPr>
          <p:cNvPr id="19" name="Rectangle 18"/>
          <p:cNvSpPr/>
          <p:nvPr/>
        </p:nvSpPr>
        <p:spPr>
          <a:xfrm>
            <a:off x="6246723" y="1828800"/>
            <a:ext cx="5396331" cy="341071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246723" y="1828800"/>
            <a:ext cx="5396331" cy="50292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521043" y="1828800"/>
            <a:ext cx="4847691" cy="502920"/>
          </a:xfrm>
          <a:prstGeom prst="rect">
            <a:avLst/>
          </a:prstGeom>
          <a:noFill/>
        </p:spPr>
        <p:txBody>
          <a:bodyPr wrap="square" lIns="0" rIns="0" tIns="0" bIns="0" anchor="ctr">
            <a:spAutoFit/>
          </a:bodyPr>
          <a:lstStyle/>
          <a:p>
            <a:pPr algn="l"/>
            <a:r>
              <a:rPr sz="1200" b="1" i="0" spc="200">
                <a:solidFill>
                  <a:srgbClr val="FFFFFF"/>
                </a:solidFill>
                <a:latin typeface="Arial"/>
              </a:rPr>
              <a:t>POR SISTEMAS · PUESTA EN MARCHA</a:t>
            </a:r>
          </a:p>
        </p:txBody>
      </p:sp>
      <p:sp>
        <p:nvSpPr>
          <p:cNvPr id="22" name="Oval 21"/>
          <p:cNvSpPr/>
          <p:nvPr/>
        </p:nvSpPr>
        <p:spPr>
          <a:xfrm>
            <a:off x="6630771" y="2670048"/>
            <a:ext cx="155448" cy="15544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115403" y="2542032"/>
            <a:ext cx="4253331" cy="274320"/>
          </a:xfrm>
          <a:prstGeom prst="rect">
            <a:avLst/>
          </a:prstGeom>
          <a:noFill/>
        </p:spPr>
        <p:txBody>
          <a:bodyPr wrap="square" lIns="0" rIns="0" tIns="0" bIns="0" anchor="t">
            <a:spAutoFit/>
          </a:bodyPr>
          <a:lstStyle/>
          <a:p>
            <a:pPr algn="l"/>
            <a:r>
              <a:rPr sz="1400" b="1" i="0">
                <a:solidFill>
                  <a:srgbClr val="1A1A1A"/>
                </a:solidFill>
                <a:latin typeface="Arial"/>
              </a:rPr>
              <a:t>System Work Package (SWP)</a:t>
            </a:r>
          </a:p>
        </p:txBody>
      </p:sp>
      <p:sp>
        <p:nvSpPr>
          <p:cNvPr id="24" name="TextBox 23"/>
          <p:cNvSpPr txBox="1"/>
          <p:nvPr/>
        </p:nvSpPr>
        <p:spPr>
          <a:xfrm>
            <a:off x="7115403" y="2834639"/>
            <a:ext cx="4253331" cy="527304"/>
          </a:xfrm>
          <a:prstGeom prst="rect">
            <a:avLst/>
          </a:prstGeom>
          <a:noFill/>
        </p:spPr>
        <p:txBody>
          <a:bodyPr wrap="square" lIns="0" rIns="0" tIns="0" bIns="0" anchor="t">
            <a:spAutoFit/>
          </a:bodyPr>
          <a:lstStyle/>
          <a:p>
            <a:pPr algn="l"/>
            <a:r>
              <a:rPr sz="1150" b="0" i="0">
                <a:solidFill>
                  <a:srgbClr val="6D6E71"/>
                </a:solidFill>
                <a:latin typeface="Arial"/>
              </a:rPr>
              <a:t>Agrupa partes de CWP e IWP por sistema funcional</a:t>
            </a:r>
          </a:p>
        </p:txBody>
      </p:sp>
      <p:sp>
        <p:nvSpPr>
          <p:cNvPr id="25" name="Oval 24"/>
          <p:cNvSpPr/>
          <p:nvPr/>
        </p:nvSpPr>
        <p:spPr>
          <a:xfrm>
            <a:off x="6630771" y="3517392"/>
            <a:ext cx="155448" cy="15544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115403" y="3389376"/>
            <a:ext cx="4253331" cy="274320"/>
          </a:xfrm>
          <a:prstGeom prst="rect">
            <a:avLst/>
          </a:prstGeom>
          <a:noFill/>
        </p:spPr>
        <p:txBody>
          <a:bodyPr wrap="square" lIns="0" rIns="0" tIns="0" bIns="0" anchor="t">
            <a:spAutoFit/>
          </a:bodyPr>
          <a:lstStyle/>
          <a:p>
            <a:pPr algn="l"/>
            <a:r>
              <a:rPr sz="1400" b="1" i="0">
                <a:solidFill>
                  <a:srgbClr val="1A1A1A"/>
                </a:solidFill>
                <a:latin typeface="Arial"/>
              </a:rPr>
              <a:t>Turnover Package (TOP)</a:t>
            </a:r>
          </a:p>
        </p:txBody>
      </p:sp>
      <p:sp>
        <p:nvSpPr>
          <p:cNvPr id="27" name="TextBox 26"/>
          <p:cNvSpPr txBox="1"/>
          <p:nvPr/>
        </p:nvSpPr>
        <p:spPr>
          <a:xfrm>
            <a:off x="7115403" y="3681983"/>
            <a:ext cx="4253331" cy="527304"/>
          </a:xfrm>
          <a:prstGeom prst="rect">
            <a:avLst/>
          </a:prstGeom>
          <a:noFill/>
        </p:spPr>
        <p:txBody>
          <a:bodyPr wrap="square" lIns="0" rIns="0" tIns="0" bIns="0" anchor="t">
            <a:spAutoFit/>
          </a:bodyPr>
          <a:lstStyle/>
          <a:p>
            <a:pPr algn="l"/>
            <a:r>
              <a:rPr sz="1150" b="0" i="0">
                <a:solidFill>
                  <a:srgbClr val="6D6E71"/>
                </a:solidFill>
                <a:latin typeface="Arial"/>
              </a:rPr>
              <a:t>Consolida el sistema para su entrega y arranque</a:t>
            </a:r>
          </a:p>
        </p:txBody>
      </p:sp>
      <p:sp>
        <p:nvSpPr>
          <p:cNvPr id="28" name="Oval 27"/>
          <p:cNvSpPr/>
          <p:nvPr/>
        </p:nvSpPr>
        <p:spPr>
          <a:xfrm>
            <a:off x="6630771" y="4364736"/>
            <a:ext cx="155448" cy="15544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115403" y="4236720"/>
            <a:ext cx="4253331" cy="274320"/>
          </a:xfrm>
          <a:prstGeom prst="rect">
            <a:avLst/>
          </a:prstGeom>
          <a:noFill/>
        </p:spPr>
        <p:txBody>
          <a:bodyPr wrap="square" lIns="0" rIns="0" tIns="0" bIns="0" anchor="t">
            <a:spAutoFit/>
          </a:bodyPr>
          <a:lstStyle/>
          <a:p>
            <a:pPr algn="l"/>
            <a:r>
              <a:rPr sz="1400" b="1" i="0">
                <a:solidFill>
                  <a:srgbClr val="1A1A1A"/>
                </a:solidFill>
                <a:latin typeface="Arial"/>
              </a:rPr>
              <a:t>Relación muchos a muchos</a:t>
            </a:r>
          </a:p>
        </p:txBody>
      </p:sp>
      <p:sp>
        <p:nvSpPr>
          <p:cNvPr id="30" name="TextBox 29"/>
          <p:cNvSpPr txBox="1"/>
          <p:nvPr/>
        </p:nvSpPr>
        <p:spPr>
          <a:xfrm>
            <a:off x="7115403" y="4529328"/>
            <a:ext cx="4253331" cy="527304"/>
          </a:xfrm>
          <a:prstGeom prst="rect">
            <a:avLst/>
          </a:prstGeom>
          <a:noFill/>
        </p:spPr>
        <p:txBody>
          <a:bodyPr wrap="square" lIns="0" rIns="0" tIns="0" bIns="0" anchor="t">
            <a:spAutoFit/>
          </a:bodyPr>
          <a:lstStyle/>
          <a:p>
            <a:pPr algn="l"/>
            <a:r>
              <a:rPr sz="1150" b="0" i="0">
                <a:solidFill>
                  <a:srgbClr val="6D6E71"/>
                </a:solidFill>
                <a:latin typeface="Arial"/>
              </a:rPr>
              <a:t>Un sistema cruza varias CWA y varios CWP</a:t>
            </a:r>
          </a:p>
        </p:txBody>
      </p:sp>
      <p:sp>
        <p:nvSpPr>
          <p:cNvPr id="31" name="Rectangle 30"/>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flag_o.png"/>
          <p:cNvPicPr>
            <a:picLocks noChangeAspect="1"/>
          </p:cNvPicPr>
          <p:nvPr/>
        </p:nvPicPr>
        <p:blipFill>
          <a:blip r:embed="rId2"/>
          <a:stretch>
            <a:fillRect/>
          </a:stretch>
        </p:blipFill>
        <p:spPr>
          <a:xfrm>
            <a:off x="822959" y="5660136"/>
            <a:ext cx="365760" cy="365760"/>
          </a:xfrm>
          <a:prstGeom prst="rect">
            <a:avLst/>
          </a:prstGeom>
        </p:spPr>
      </p:pic>
      <p:sp>
        <p:nvSpPr>
          <p:cNvPr id="33" name="TextBox 32"/>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El cambio de enfoque de áreas a sistemas se acelera hacia el 70 % de avance físico.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2 · CIFRAS EN DISCUSIÓN</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Las fuentes no coinciden en algunos números: fije los suyos en el procedimiento</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M2 · QUÉ ES AWP</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024</a:t>
            </a:r>
          </a:p>
        </p:txBody>
      </p:sp>
      <p:graphicFrame>
        <p:nvGraphicFramePr>
          <p:cNvPr id="7" name="Table 6"/>
          <p:cNvGraphicFramePr>
            <a:graphicFrameLocks noGrp="1"/>
          </p:cNvGraphicFramePr>
          <p:nvPr/>
        </p:nvGraphicFramePr>
        <p:xfrm>
          <a:off x="563727" y="1828800"/>
          <a:ext cx="11064240" cy="3703320"/>
        </p:xfrm>
        <a:graphic>
          <a:graphicData uri="http://schemas.openxmlformats.org/drawingml/2006/table">
            <a:tbl>
              <a:tblPr firstRow="0" bandRow="0">
                <a:tableStyleId>{5C22544A-7EE6-4342-B048-85BDC9FD1C3A}</a:tableStyleId>
              </a:tblPr>
              <a:tblGrid>
                <a:gridCol w="2651760"/>
                <a:gridCol w="5760720"/>
                <a:gridCol w="2651760"/>
              </a:tblGrid>
              <a:tr h="457200">
                <a:tc>
                  <a:txBody>
                    <a:bodyPr wrap="square"/>
                    <a:lstStyle/>
                    <a:p>
                      <a:pPr algn="l"/>
                      <a:r>
                        <a:rPr sz="1000" b="1" spc="100">
                          <a:solidFill>
                            <a:srgbClr val="FFFFFF"/>
                          </a:solidFill>
                          <a:latin typeface="Arial"/>
                        </a:rPr>
                        <a:t>TEMA</a:t>
                      </a:r>
                    </a:p>
                  </a:txBody>
                  <a:tcPr marL="137160" marR="91440" marT="27432" marB="27432" anchor="ctr">
                    <a:solidFill>
                      <a:srgbClr val="1A1A1A"/>
                    </a:solidFill>
                  </a:tcPr>
                </a:tc>
                <a:tc>
                  <a:txBody>
                    <a:bodyPr wrap="square"/>
                    <a:lstStyle/>
                    <a:p>
                      <a:pPr algn="l"/>
                      <a:r>
                        <a:rPr sz="1000" b="1" spc="100">
                          <a:solidFill>
                            <a:srgbClr val="FFFFFF"/>
                          </a:solidFill>
                          <a:latin typeface="Arial"/>
                        </a:rPr>
                        <a:t>QUÉ DICEN LAS FUENTES</a:t>
                      </a:r>
                    </a:p>
                  </a:txBody>
                  <a:tcPr marL="137160" marR="91440" marT="27432" marB="27432" anchor="ctr">
                    <a:solidFill>
                      <a:srgbClr val="1A1A1A"/>
                    </a:solidFill>
                  </a:tcPr>
                </a:tc>
                <a:tc>
                  <a:txBody>
                    <a:bodyPr wrap="square"/>
                    <a:lstStyle/>
                    <a:p>
                      <a:pPr algn="l"/>
                      <a:r>
                        <a:rPr sz="1000" b="1" spc="100">
                          <a:solidFill>
                            <a:srgbClr val="FFFFFF"/>
                          </a:solidFill>
                          <a:latin typeface="Arial"/>
                        </a:rPr>
                        <a:t>QUÉ DEBE DECIDIR</a:t>
                      </a:r>
                    </a:p>
                  </a:txBody>
                  <a:tcPr marL="137160" marR="91440" marT="27432" marB="27432" anchor="ctr">
                    <a:solidFill>
                      <a:srgbClr val="1A1A1A"/>
                    </a:solidFill>
                  </a:tcPr>
                </a:tc>
              </a:tr>
              <a:tr h="541020">
                <a:tc>
                  <a:txBody>
                    <a:bodyPr wrap="square"/>
                    <a:lstStyle/>
                    <a:p>
                      <a:pPr algn="l"/>
                      <a:r>
                        <a:rPr sz="1250" b="1">
                          <a:solidFill>
                            <a:srgbClr val="1A1A1A"/>
                          </a:solidFill>
                          <a:latin typeface="Arial"/>
                        </a:rPr>
                        <a:t>Nivel del IWP</a:t>
                      </a:r>
                    </a:p>
                  </a:txBody>
                  <a:tcPr marL="137160" marR="91440" marT="27432" marB="27432" anchor="ctr">
                    <a:solidFill>
                      <a:srgbClr val="FFFFFF"/>
                    </a:solidFill>
                  </a:tcPr>
                </a:tc>
                <a:tc>
                  <a:txBody>
                    <a:bodyPr wrap="square"/>
                    <a:lstStyle/>
                    <a:p>
                      <a:pPr algn="l"/>
                      <a:r>
                        <a:rPr sz="1250" b="0">
                          <a:solidFill>
                            <a:srgbClr val="2E2E2E"/>
                          </a:solidFill>
                          <a:latin typeface="Arial"/>
                        </a:rPr>
                        <a:t>Nivel 5 (Insight, Quick Start) · nivel 4 (Glosario CII)</a:t>
                      </a:r>
                    </a:p>
                  </a:txBody>
                  <a:tcPr marL="137160" marR="91440" marT="27432" marB="27432" anchor="ctr">
                    <a:solidFill>
                      <a:srgbClr val="FFFFFF"/>
                    </a:solidFill>
                  </a:tcPr>
                </a:tc>
                <a:tc>
                  <a:txBody>
                    <a:bodyPr wrap="square"/>
                    <a:lstStyle/>
                    <a:p>
                      <a:pPr algn="l"/>
                      <a:r>
                        <a:rPr sz="1250" b="0">
                          <a:solidFill>
                            <a:srgbClr val="2E2E2E"/>
                          </a:solidFill>
                          <a:latin typeface="Arial"/>
                        </a:rPr>
                        <a:t>Un solo criterio</a:t>
                      </a:r>
                    </a:p>
                  </a:txBody>
                  <a:tcPr marL="137160" marR="91440" marT="27432" marB="27432" anchor="ctr">
                    <a:solidFill>
                      <a:srgbClr val="FFFFFF"/>
                    </a:solidFill>
                  </a:tcPr>
                </a:tc>
              </a:tr>
              <a:tr h="541020">
                <a:tc>
                  <a:txBody>
                    <a:bodyPr wrap="square"/>
                    <a:lstStyle/>
                    <a:p>
                      <a:pPr algn="l"/>
                      <a:r>
                        <a:rPr sz="1250" b="1">
                          <a:solidFill>
                            <a:srgbClr val="1A1A1A"/>
                          </a:solidFill>
                          <a:latin typeface="Arial"/>
                        </a:rPr>
                        <a:t>Duración del IWP</a:t>
                      </a:r>
                    </a:p>
                  </a:txBody>
                  <a:tcPr marL="137160" marR="91440" marT="27432" marB="27432" anchor="ctr">
                    <a:solidFill>
                      <a:srgbClr val="F7F7F7"/>
                    </a:solidFill>
                  </a:tcPr>
                </a:tc>
                <a:tc>
                  <a:txBody>
                    <a:bodyPr wrap="square"/>
                    <a:lstStyle/>
                    <a:p>
                      <a:pPr algn="l"/>
                      <a:r>
                        <a:rPr sz="1250" b="0">
                          <a:solidFill>
                            <a:srgbClr val="2E2E2E"/>
                          </a:solidFill>
                          <a:latin typeface="Arial"/>
                        </a:rPr>
                        <a:t>Un turno · 7 días · 1 a 2 semanas</a:t>
                      </a:r>
                    </a:p>
                  </a:txBody>
                  <a:tcPr marL="137160" marR="91440" marT="27432" marB="27432" anchor="ctr">
                    <a:solidFill>
                      <a:srgbClr val="F7F7F7"/>
                    </a:solidFill>
                  </a:tcPr>
                </a:tc>
                <a:tc>
                  <a:txBody>
                    <a:bodyPr wrap="square"/>
                    <a:lstStyle/>
                    <a:p>
                      <a:pPr algn="l"/>
                      <a:r>
                        <a:rPr sz="1250" b="0">
                          <a:solidFill>
                            <a:srgbClr val="2E2E2E"/>
                          </a:solidFill>
                          <a:latin typeface="Arial"/>
                        </a:rPr>
                        <a:t>Ventana estándar</a:t>
                      </a:r>
                    </a:p>
                  </a:txBody>
                  <a:tcPr marL="137160" marR="91440" marT="27432" marB="27432" anchor="ctr">
                    <a:solidFill>
                      <a:srgbClr val="F7F7F7"/>
                    </a:solidFill>
                  </a:tcPr>
                </a:tc>
              </a:tr>
              <a:tr h="541020">
                <a:tc>
                  <a:txBody>
                    <a:bodyPr wrap="square"/>
                    <a:lstStyle/>
                    <a:p>
                      <a:pPr algn="l"/>
                      <a:r>
                        <a:rPr sz="1250" b="1">
                          <a:solidFill>
                            <a:srgbClr val="1A1A1A"/>
                          </a:solidFill>
                          <a:latin typeface="Arial"/>
                        </a:rPr>
                        <a:t>Tamaño del IWP</a:t>
                      </a:r>
                    </a:p>
                  </a:txBody>
                  <a:tcPr marL="137160" marR="91440" marT="27432" marB="27432" anchor="ctr">
                    <a:solidFill>
                      <a:srgbClr val="FFFFFF"/>
                    </a:solidFill>
                  </a:tcPr>
                </a:tc>
                <a:tc>
                  <a:txBody>
                    <a:bodyPr wrap="square"/>
                    <a:lstStyle/>
                    <a:p>
                      <a:pPr algn="l"/>
                      <a:r>
                        <a:rPr sz="1250" b="0">
                          <a:solidFill>
                            <a:srgbClr val="2E2E2E"/>
                          </a:solidFill>
                          <a:latin typeface="Arial"/>
                        </a:rPr>
                        <a:t>~500 h (Quick Start) · 500 a 1 000 h (curso 2023)</a:t>
                      </a:r>
                    </a:p>
                  </a:txBody>
                  <a:tcPr marL="137160" marR="91440" marT="27432" marB="27432" anchor="ctr">
                    <a:solidFill>
                      <a:srgbClr val="FFFFFF"/>
                    </a:solidFill>
                  </a:tcPr>
                </a:tc>
                <a:tc>
                  <a:txBody>
                    <a:bodyPr wrap="square"/>
                    <a:lstStyle/>
                    <a:p>
                      <a:pPr algn="l"/>
                      <a:r>
                        <a:rPr sz="1250" b="0">
                          <a:solidFill>
                            <a:srgbClr val="2E2E2E"/>
                          </a:solidFill>
                          <a:latin typeface="Arial"/>
                        </a:rPr>
                        <a:t>Rango por disciplina</a:t>
                      </a:r>
                    </a:p>
                  </a:txBody>
                  <a:tcPr marL="137160" marR="91440" marT="27432" marB="27432" anchor="ctr">
                    <a:solidFill>
                      <a:srgbClr val="FFFFFF"/>
                    </a:solidFill>
                  </a:tcPr>
                </a:tc>
              </a:tr>
              <a:tr h="541020">
                <a:tc>
                  <a:txBody>
                    <a:bodyPr wrap="square"/>
                    <a:lstStyle/>
                    <a:p>
                      <a:pPr algn="l"/>
                      <a:r>
                        <a:rPr sz="1250" b="1">
                          <a:solidFill>
                            <a:srgbClr val="1A1A1A"/>
                          </a:solidFill>
                          <a:latin typeface="Arial"/>
                        </a:rPr>
                        <a:t>Backlog</a:t>
                      </a:r>
                    </a:p>
                  </a:txBody>
                  <a:tcPr marL="137160" marR="91440" marT="27432" marB="27432" anchor="ctr">
                    <a:solidFill>
                      <a:srgbClr val="F7F7F7"/>
                    </a:solidFill>
                  </a:tcPr>
                </a:tc>
                <a:tc>
                  <a:txBody>
                    <a:bodyPr wrap="square"/>
                    <a:lstStyle/>
                    <a:p>
                      <a:pPr algn="l"/>
                      <a:r>
                        <a:rPr sz="1250" b="0">
                          <a:solidFill>
                            <a:srgbClr val="2E2E2E"/>
                          </a:solidFill>
                          <a:latin typeface="Arial"/>
                        </a:rPr>
                        <a:t>2 a 4 semanas · 4 semanas · 30 días</a:t>
                      </a:r>
                    </a:p>
                  </a:txBody>
                  <a:tcPr marL="137160" marR="91440" marT="27432" marB="27432" anchor="ctr">
                    <a:solidFill>
                      <a:srgbClr val="F7F7F7"/>
                    </a:solidFill>
                  </a:tcPr>
                </a:tc>
                <a:tc>
                  <a:txBody>
                    <a:bodyPr wrap="square"/>
                    <a:lstStyle/>
                    <a:p>
                      <a:pPr algn="l"/>
                      <a:r>
                        <a:rPr sz="1250" b="0">
                          <a:solidFill>
                            <a:srgbClr val="2E2E2E"/>
                          </a:solidFill>
                          <a:latin typeface="Arial"/>
                        </a:rPr>
                        <a:t>Meta por disciplina</a:t>
                      </a:r>
                    </a:p>
                  </a:txBody>
                  <a:tcPr marL="137160" marR="91440" marT="27432" marB="27432" anchor="ctr">
                    <a:solidFill>
                      <a:srgbClr val="F7F7F7"/>
                    </a:solidFill>
                  </a:tcPr>
                </a:tc>
              </a:tr>
              <a:tr h="541020">
                <a:tc>
                  <a:txBody>
                    <a:bodyPr wrap="square"/>
                    <a:lstStyle/>
                    <a:p>
                      <a:pPr algn="l"/>
                      <a:r>
                        <a:rPr sz="1250" b="1">
                          <a:solidFill>
                            <a:srgbClr val="1A1A1A"/>
                          </a:solidFill>
                          <a:latin typeface="Arial"/>
                        </a:rPr>
                        <a:t>Supervisión</a:t>
                      </a:r>
                    </a:p>
                  </a:txBody>
                  <a:tcPr marL="137160" marR="91440" marT="27432" marB="27432" anchor="ctr">
                    <a:solidFill>
                      <a:srgbClr val="FFFFFF"/>
                    </a:solidFill>
                  </a:tcPr>
                </a:tc>
                <a:tc>
                  <a:txBody>
                    <a:bodyPr wrap="square"/>
                    <a:lstStyle/>
                    <a:p>
                      <a:pPr algn="l"/>
                      <a:r>
                        <a:rPr sz="1250" b="0">
                          <a:solidFill>
                            <a:srgbClr val="2E2E2E"/>
                          </a:solidFill>
                          <a:latin typeface="Arial"/>
                        </a:rPr>
                        <a:t>Capataz general (GF): 4 o 5 capataces · superintendente: 3 o 4 GF</a:t>
                      </a:r>
                    </a:p>
                  </a:txBody>
                  <a:tcPr marL="137160" marR="91440" marT="27432" marB="27432" anchor="ctr">
                    <a:solidFill>
                      <a:srgbClr val="FFFFFF"/>
                    </a:solidFill>
                  </a:tcPr>
                </a:tc>
                <a:tc>
                  <a:txBody>
                    <a:bodyPr wrap="square"/>
                    <a:lstStyle/>
                    <a:p>
                      <a:pPr algn="l"/>
                      <a:r>
                        <a:rPr sz="1250" b="0">
                          <a:solidFill>
                            <a:srgbClr val="2E2E2E"/>
                          </a:solidFill>
                          <a:latin typeface="Arial"/>
                        </a:rPr>
                        <a:t>Ratios del proyecto</a:t>
                      </a:r>
                    </a:p>
                  </a:txBody>
                  <a:tcPr marL="137160" marR="91440" marT="27432" marB="27432" anchor="ctr">
                    <a:solidFill>
                      <a:srgbClr val="FFFFFF"/>
                    </a:solidFill>
                  </a:tcPr>
                </a:tc>
              </a:tr>
              <a:tr h="541020">
                <a:tc>
                  <a:txBody>
                    <a:bodyPr wrap="square"/>
                    <a:lstStyle/>
                    <a:p>
                      <a:pPr algn="l"/>
                      <a:r>
                        <a:rPr sz="1250" b="1">
                          <a:solidFill>
                            <a:srgbClr val="1A1A1A"/>
                          </a:solidFill>
                          <a:latin typeface="Arial"/>
                        </a:rPr>
                        <a:t>Plazo de restricciones</a:t>
                      </a:r>
                    </a:p>
                  </a:txBody>
                  <a:tcPr marL="137160" marR="91440" marT="27432" marB="27432" anchor="ctr">
                    <a:solidFill>
                      <a:srgbClr val="F7F7F7"/>
                    </a:solidFill>
                  </a:tcPr>
                </a:tc>
                <a:tc>
                  <a:txBody>
                    <a:bodyPr wrap="square"/>
                    <a:lstStyle/>
                    <a:p>
                      <a:pPr algn="l"/>
                      <a:r>
                        <a:rPr sz="1250" b="0">
                          <a:solidFill>
                            <a:srgbClr val="2E2E2E"/>
                          </a:solidFill>
                          <a:latin typeface="Arial"/>
                        </a:rPr>
                        <a:t>2 a 3 semanas · 6 o 12 semanas según tamaño</a:t>
                      </a:r>
                    </a:p>
                  </a:txBody>
                  <a:tcPr marL="137160" marR="91440" marT="27432" marB="27432" anchor="ctr">
                    <a:solidFill>
                      <a:srgbClr val="F7F7F7"/>
                    </a:solidFill>
                  </a:tcPr>
                </a:tc>
                <a:tc>
                  <a:txBody>
                    <a:bodyPr wrap="square"/>
                    <a:lstStyle/>
                    <a:p>
                      <a:pPr algn="l"/>
                      <a:r>
                        <a:rPr sz="1250" b="0">
                          <a:solidFill>
                            <a:srgbClr val="2E2E2E"/>
                          </a:solidFill>
                          <a:latin typeface="Arial"/>
                        </a:rPr>
                        <a:t>Calendario por tamaño</a:t>
                      </a:r>
                    </a:p>
                  </a:txBody>
                  <a:tcPr marL="137160" marR="91440" marT="27432" marB="27432" anchor="ctr">
                    <a:solidFill>
                      <a:srgbClr val="F7F7F7"/>
                    </a:solidFill>
                  </a:tcPr>
                </a:tc>
              </a:tr>
            </a:tbl>
          </a:graphicData>
        </a:graphic>
      </p:graphicFrame>
      <p:pic>
        <p:nvPicPr>
          <p:cNvPr id="8" name="Picture 7" descr="layers_o.png"/>
          <p:cNvPicPr>
            <a:picLocks noChangeAspect="1"/>
          </p:cNvPicPr>
          <p:nvPr/>
        </p:nvPicPr>
        <p:blipFill>
          <a:blip r:embed="rId2"/>
          <a:stretch>
            <a:fillRect/>
          </a:stretch>
        </p:blipFill>
        <p:spPr>
          <a:xfrm>
            <a:off x="563727" y="5769864"/>
            <a:ext cx="292608" cy="292608"/>
          </a:xfrm>
          <a:prstGeom prst="rect">
            <a:avLst/>
          </a:prstGeom>
        </p:spPr>
      </p:pic>
      <p:sp>
        <p:nvSpPr>
          <p:cNvPr id="9" name="TextBox 8"/>
          <p:cNvSpPr txBox="1"/>
          <p:nvPr/>
        </p:nvSpPr>
        <p:spPr>
          <a:xfrm>
            <a:off x="1020927" y="5733288"/>
            <a:ext cx="10607040" cy="384048"/>
          </a:xfrm>
          <a:prstGeom prst="rect">
            <a:avLst/>
          </a:prstGeom>
          <a:noFill/>
        </p:spPr>
        <p:txBody>
          <a:bodyPr wrap="square" lIns="0" rIns="0" tIns="0" bIns="0" anchor="ctr">
            <a:spAutoFit/>
          </a:bodyPr>
          <a:lstStyle/>
          <a:p>
            <a:pPr algn="l"/>
            <a:r>
              <a:rPr sz="1200" b="0" i="0">
                <a:solidFill>
                  <a:srgbClr val="2E2E2E"/>
                </a:solidFill>
                <a:latin typeface="Arial"/>
              </a:rPr>
              <a:t>Documente la decisión y su justificación en el procedimiento AWP del proyecto.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097280"/>
            <a:ext cx="3657600" cy="2194560"/>
          </a:xfrm>
          <a:prstGeom prst="rect">
            <a:avLst/>
          </a:prstGeom>
          <a:noFill/>
        </p:spPr>
        <p:txBody>
          <a:bodyPr wrap="square" lIns="0" rIns="0" tIns="0" bIns="0" anchor="t">
            <a:spAutoFit/>
          </a:bodyPr>
          <a:lstStyle/>
          <a:p>
            <a:pPr algn="l"/>
            <a:r>
              <a:rPr sz="15000" b="1" i="0">
                <a:solidFill>
                  <a:srgbClr val="FF6600"/>
                </a:solidFill>
                <a:latin typeface="Arial"/>
              </a:rPr>
              <a:t>03</a:t>
            </a:r>
          </a:p>
        </p:txBody>
      </p:sp>
      <p:sp>
        <p:nvSpPr>
          <p:cNvPr id="4" name="TextBox 3"/>
          <p:cNvSpPr txBox="1"/>
          <p:nvPr/>
        </p:nvSpPr>
        <p:spPr>
          <a:xfrm>
            <a:off x="4160520" y="1481328"/>
            <a:ext cx="7498079" cy="274320"/>
          </a:xfrm>
          <a:prstGeom prst="rect">
            <a:avLst/>
          </a:prstGeom>
          <a:noFill/>
        </p:spPr>
        <p:txBody>
          <a:bodyPr wrap="square" lIns="0" rIns="0" tIns="0" bIns="0" anchor="t">
            <a:spAutoFit/>
          </a:bodyPr>
          <a:lstStyle/>
          <a:p>
            <a:pPr algn="l"/>
            <a:r>
              <a:rPr sz="1200" b="1" i="0" spc="300">
                <a:solidFill>
                  <a:srgbClr val="FF6600"/>
                </a:solidFill>
                <a:latin typeface="Arial"/>
              </a:rPr>
              <a:t>MÓDULO 3 · PREPARAR LA ORGANIZACIÓN</a:t>
            </a:r>
          </a:p>
        </p:txBody>
      </p:sp>
      <p:sp>
        <p:nvSpPr>
          <p:cNvPr id="5" name="Título"/>
          <p:cNvSpPr txBox="1"/>
          <p:nvPr/>
        </p:nvSpPr>
        <p:spPr>
          <a:xfrm>
            <a:off x="4160520" y="1874519"/>
            <a:ext cx="7452360" cy="1508760"/>
          </a:xfrm>
          <a:prstGeom prst="rect">
            <a:avLst/>
          </a:prstGeom>
          <a:noFill/>
        </p:spPr>
        <p:txBody>
          <a:bodyPr wrap="square" lIns="0" rIns="0" tIns="0" bIns="0" anchor="t">
            <a:spAutoFit/>
          </a:bodyPr>
          <a:lstStyle/>
          <a:p>
            <a:pPr algn="l">
              <a:lnSpc>
                <a:spcPct val="95000"/>
              </a:lnSpc>
            </a:pPr>
            <a:r>
              <a:rPr sz="3600" b="1" i="0">
                <a:solidFill>
                  <a:srgbClr val="FFFFFF"/>
                </a:solidFill>
                <a:latin typeface="Arial"/>
              </a:rPr>
              <a:t>AWP empieza antes del primer plano</a:t>
            </a:r>
          </a:p>
        </p:txBody>
      </p:sp>
      <p:sp>
        <p:nvSpPr>
          <p:cNvPr id="6" name="TextBox 5"/>
          <p:cNvSpPr txBox="1"/>
          <p:nvPr/>
        </p:nvSpPr>
        <p:spPr>
          <a:xfrm>
            <a:off x="4160520" y="3474720"/>
            <a:ext cx="7406640" cy="685800"/>
          </a:xfrm>
          <a:prstGeom prst="rect">
            <a:avLst/>
          </a:prstGeom>
          <a:noFill/>
        </p:spPr>
        <p:txBody>
          <a:bodyPr wrap="square" lIns="0" rIns="0" tIns="0" bIns="0" anchor="t">
            <a:spAutoFit/>
          </a:bodyPr>
          <a:lstStyle/>
          <a:p>
            <a:pPr algn="l">
              <a:lnSpc>
                <a:spcPct val="110000"/>
              </a:lnSpc>
            </a:pPr>
            <a:r>
              <a:rPr sz="1500" b="0" i="0">
                <a:solidFill>
                  <a:srgbClr val="BCBEC0"/>
                </a:solidFill>
                <a:latin typeface="Arial"/>
              </a:rPr>
              <a:t>Qué debe tener lista la empresa antes de iniciar: un responsable, procedimientos, contrato, software y nomenclatura.</a:t>
            </a:r>
          </a:p>
        </p:txBody>
      </p:sp>
      <p:sp>
        <p:nvSpPr>
          <p:cNvPr id="7" name="Rectangle 6"/>
          <p:cNvSpPr/>
          <p:nvPr/>
        </p:nvSpPr>
        <p:spPr>
          <a:xfrm>
            <a:off x="548640"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48640"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01</a:t>
            </a:r>
          </a:p>
        </p:txBody>
      </p:sp>
      <p:sp>
        <p:nvSpPr>
          <p:cNvPr id="9" name="Rectangle 8"/>
          <p:cNvSpPr/>
          <p:nvPr/>
        </p:nvSpPr>
        <p:spPr>
          <a:xfrm>
            <a:off x="1409090"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409090"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02</a:t>
            </a:r>
          </a:p>
        </p:txBody>
      </p:sp>
      <p:sp>
        <p:nvSpPr>
          <p:cNvPr id="11" name="Rectangle 10"/>
          <p:cNvSpPr/>
          <p:nvPr/>
        </p:nvSpPr>
        <p:spPr>
          <a:xfrm>
            <a:off x="2269540" y="5074920"/>
            <a:ext cx="769010" cy="50292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269540" y="5074920"/>
            <a:ext cx="769010" cy="502920"/>
          </a:xfrm>
          <a:prstGeom prst="rect">
            <a:avLst/>
          </a:prstGeom>
          <a:noFill/>
        </p:spPr>
        <p:txBody>
          <a:bodyPr wrap="square" lIns="0" rIns="0" tIns="0" bIns="0" anchor="ctr">
            <a:spAutoFit/>
          </a:bodyPr>
          <a:lstStyle/>
          <a:p>
            <a:pPr algn="ctr"/>
            <a:r>
              <a:rPr sz="1100" b="1" i="0">
                <a:solidFill>
                  <a:srgbClr val="FFFFFF"/>
                </a:solidFill>
                <a:latin typeface="Courier New"/>
              </a:rPr>
              <a:t>03</a:t>
            </a:r>
          </a:p>
        </p:txBody>
      </p:sp>
      <p:sp>
        <p:nvSpPr>
          <p:cNvPr id="13" name="Rectangle 12"/>
          <p:cNvSpPr/>
          <p:nvPr/>
        </p:nvSpPr>
        <p:spPr>
          <a:xfrm>
            <a:off x="3129991"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129991"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04</a:t>
            </a:r>
          </a:p>
        </p:txBody>
      </p:sp>
      <p:sp>
        <p:nvSpPr>
          <p:cNvPr id="15" name="Rectangle 14"/>
          <p:cNvSpPr/>
          <p:nvPr/>
        </p:nvSpPr>
        <p:spPr>
          <a:xfrm>
            <a:off x="3990441"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990441"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05</a:t>
            </a:r>
          </a:p>
        </p:txBody>
      </p:sp>
      <p:sp>
        <p:nvSpPr>
          <p:cNvPr id="17" name="Rectangle 16"/>
          <p:cNvSpPr/>
          <p:nvPr/>
        </p:nvSpPr>
        <p:spPr>
          <a:xfrm>
            <a:off x="4850892"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850892"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06</a:t>
            </a:r>
          </a:p>
        </p:txBody>
      </p:sp>
      <p:sp>
        <p:nvSpPr>
          <p:cNvPr id="19" name="Rectangle 18"/>
          <p:cNvSpPr/>
          <p:nvPr/>
        </p:nvSpPr>
        <p:spPr>
          <a:xfrm>
            <a:off x="5711342"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711342"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07</a:t>
            </a:r>
          </a:p>
        </p:txBody>
      </p:sp>
      <p:sp>
        <p:nvSpPr>
          <p:cNvPr id="21" name="Rectangle 20"/>
          <p:cNvSpPr/>
          <p:nvPr/>
        </p:nvSpPr>
        <p:spPr>
          <a:xfrm>
            <a:off x="6571792"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571792"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08</a:t>
            </a:r>
          </a:p>
        </p:txBody>
      </p:sp>
      <p:sp>
        <p:nvSpPr>
          <p:cNvPr id="23" name="Rectangle 22"/>
          <p:cNvSpPr/>
          <p:nvPr/>
        </p:nvSpPr>
        <p:spPr>
          <a:xfrm>
            <a:off x="7432243"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432243"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09</a:t>
            </a:r>
          </a:p>
        </p:txBody>
      </p:sp>
      <p:sp>
        <p:nvSpPr>
          <p:cNvPr id="25" name="Rectangle 24"/>
          <p:cNvSpPr/>
          <p:nvPr/>
        </p:nvSpPr>
        <p:spPr>
          <a:xfrm>
            <a:off x="8292693"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292693"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10</a:t>
            </a:r>
          </a:p>
        </p:txBody>
      </p:sp>
      <p:sp>
        <p:nvSpPr>
          <p:cNvPr id="27" name="Rectangle 26"/>
          <p:cNvSpPr/>
          <p:nvPr/>
        </p:nvSpPr>
        <p:spPr>
          <a:xfrm>
            <a:off x="9153144"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153144"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11</a:t>
            </a:r>
          </a:p>
        </p:txBody>
      </p:sp>
      <p:sp>
        <p:nvSpPr>
          <p:cNvPr id="29" name="Rectangle 28"/>
          <p:cNvSpPr/>
          <p:nvPr/>
        </p:nvSpPr>
        <p:spPr>
          <a:xfrm>
            <a:off x="10013594"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013594"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12</a:t>
            </a:r>
          </a:p>
        </p:txBody>
      </p:sp>
      <p:sp>
        <p:nvSpPr>
          <p:cNvPr id="31" name="Rectangle 30"/>
          <p:cNvSpPr/>
          <p:nvPr/>
        </p:nvSpPr>
        <p:spPr>
          <a:xfrm>
            <a:off x="10874044"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874044"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13</a:t>
            </a:r>
          </a:p>
        </p:txBody>
      </p:sp>
      <p:sp>
        <p:nvSpPr>
          <p:cNvPr id="33" name="TextBox 32"/>
          <p:cNvSpPr txBox="1"/>
          <p:nvPr/>
        </p:nvSpPr>
        <p:spPr>
          <a:xfrm>
            <a:off x="548640" y="4709159"/>
            <a:ext cx="5486400" cy="274320"/>
          </a:xfrm>
          <a:prstGeom prst="rect">
            <a:avLst/>
          </a:prstGeom>
          <a:noFill/>
        </p:spPr>
        <p:txBody>
          <a:bodyPr wrap="square" lIns="0" rIns="0" tIns="0" bIns="0" anchor="t">
            <a:spAutoFit/>
          </a:bodyPr>
          <a:lstStyle/>
          <a:p>
            <a:pPr algn="l"/>
            <a:r>
              <a:rPr sz="1000" b="1" i="0" spc="200">
                <a:solidFill>
                  <a:srgbClr val="8A8B8E"/>
                </a:solidFill>
                <a:latin typeface="Arial"/>
              </a:rPr>
              <a:t>MÓDULOS</a:t>
            </a:r>
          </a:p>
        </p:txBody>
      </p:sp>
      <p:sp>
        <p:nvSpPr>
          <p:cNvPr id="34" name="TextBox 33"/>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8A8B8E"/>
                </a:solidFill>
                <a:latin typeface="Arial"/>
              </a:rPr>
              <a:t>IMPLEMENTACIÓN DE AWP  ·  M3 · PREPARAR LA ORGANIZACIÓN</a:t>
            </a:r>
          </a:p>
        </p:txBody>
      </p:sp>
      <p:sp>
        <p:nvSpPr>
          <p:cNvPr id="35" name="TextBox 34"/>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8A8B8E"/>
                </a:solidFill>
                <a:latin typeface="Courier New"/>
              </a:rPr>
              <a:t>025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3 · COMPONENTES</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Siete componentes bastan para arrancar</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M3 · PREPARAR LA ORGANIZACIÓN</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026</a:t>
            </a:r>
          </a:p>
        </p:txBody>
      </p:sp>
      <p:sp>
        <p:nvSpPr>
          <p:cNvPr id="7" name="Rectangle 6"/>
          <p:cNvSpPr/>
          <p:nvPr/>
        </p:nvSpPr>
        <p:spPr>
          <a:xfrm>
            <a:off x="548640" y="1828800"/>
            <a:ext cx="2581579" cy="2043684"/>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tar_o.png"/>
          <p:cNvPicPr>
            <a:picLocks noChangeAspect="1"/>
          </p:cNvPicPr>
          <p:nvPr/>
        </p:nvPicPr>
        <p:blipFill>
          <a:blip r:embed="rId2"/>
          <a:stretch>
            <a:fillRect/>
          </a:stretch>
        </p:blipFill>
        <p:spPr>
          <a:xfrm>
            <a:off x="822959" y="2084832"/>
            <a:ext cx="457200" cy="457200"/>
          </a:xfrm>
          <a:prstGeom prst="rect">
            <a:avLst/>
          </a:prstGeom>
        </p:spPr>
      </p:pic>
      <p:sp>
        <p:nvSpPr>
          <p:cNvPr id="9" name="TextBox 8"/>
          <p:cNvSpPr txBox="1"/>
          <p:nvPr/>
        </p:nvSpPr>
        <p:spPr>
          <a:xfrm>
            <a:off x="822959" y="2706624"/>
            <a:ext cx="2078659"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1 · AWP Champion</a:t>
            </a:r>
          </a:p>
        </p:txBody>
      </p:sp>
      <p:sp>
        <p:nvSpPr>
          <p:cNvPr id="10" name="TextBox 9"/>
          <p:cNvSpPr txBox="1"/>
          <p:nvPr/>
        </p:nvSpPr>
        <p:spPr>
          <a:xfrm>
            <a:off x="822959" y="3328416"/>
            <a:ext cx="2078659" cy="406907"/>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Líder dedicado a tiempo completo</a:t>
            </a:r>
          </a:p>
        </p:txBody>
      </p:sp>
      <p:sp>
        <p:nvSpPr>
          <p:cNvPr id="11" name="Rectangle 10"/>
          <p:cNvSpPr/>
          <p:nvPr/>
        </p:nvSpPr>
        <p:spPr>
          <a:xfrm>
            <a:off x="3386251" y="1828800"/>
            <a:ext cx="2581579" cy="2043684"/>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book_o.png"/>
          <p:cNvPicPr>
            <a:picLocks noChangeAspect="1"/>
          </p:cNvPicPr>
          <p:nvPr/>
        </p:nvPicPr>
        <p:blipFill>
          <a:blip r:embed="rId3"/>
          <a:stretch>
            <a:fillRect/>
          </a:stretch>
        </p:blipFill>
        <p:spPr>
          <a:xfrm>
            <a:off x="3660571" y="2084832"/>
            <a:ext cx="457200" cy="457200"/>
          </a:xfrm>
          <a:prstGeom prst="rect">
            <a:avLst/>
          </a:prstGeom>
        </p:spPr>
      </p:pic>
      <p:sp>
        <p:nvSpPr>
          <p:cNvPr id="13" name="TextBox 12"/>
          <p:cNvSpPr txBox="1"/>
          <p:nvPr/>
        </p:nvSpPr>
        <p:spPr>
          <a:xfrm>
            <a:off x="3660571" y="2706624"/>
            <a:ext cx="2078659"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2 · Procedimientos</a:t>
            </a:r>
          </a:p>
        </p:txBody>
      </p:sp>
      <p:sp>
        <p:nvSpPr>
          <p:cNvPr id="14" name="TextBox 13"/>
          <p:cNvSpPr txBox="1"/>
          <p:nvPr/>
        </p:nvSpPr>
        <p:spPr>
          <a:xfrm>
            <a:off x="3660571" y="3328416"/>
            <a:ext cx="2078659" cy="406907"/>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AWP, IM y WFP por escrito</a:t>
            </a:r>
          </a:p>
        </p:txBody>
      </p:sp>
      <p:sp>
        <p:nvSpPr>
          <p:cNvPr id="15" name="Rectangle 14"/>
          <p:cNvSpPr/>
          <p:nvPr/>
        </p:nvSpPr>
        <p:spPr>
          <a:xfrm>
            <a:off x="6223863" y="1828800"/>
            <a:ext cx="2581579" cy="2043684"/>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ube_o.png"/>
          <p:cNvPicPr>
            <a:picLocks noChangeAspect="1"/>
          </p:cNvPicPr>
          <p:nvPr/>
        </p:nvPicPr>
        <p:blipFill>
          <a:blip r:embed="rId4"/>
          <a:stretch>
            <a:fillRect/>
          </a:stretch>
        </p:blipFill>
        <p:spPr>
          <a:xfrm>
            <a:off x="6498183" y="2084832"/>
            <a:ext cx="457200" cy="457200"/>
          </a:xfrm>
          <a:prstGeom prst="rect">
            <a:avLst/>
          </a:prstGeom>
        </p:spPr>
      </p:pic>
      <p:sp>
        <p:nvSpPr>
          <p:cNvPr id="17" name="TextBox 16"/>
          <p:cNvSpPr txBox="1"/>
          <p:nvPr/>
        </p:nvSpPr>
        <p:spPr>
          <a:xfrm>
            <a:off x="6498183" y="2706624"/>
            <a:ext cx="2078659"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3 · Modelo 3D</a:t>
            </a:r>
          </a:p>
        </p:txBody>
      </p:sp>
      <p:sp>
        <p:nvSpPr>
          <p:cNvPr id="18" name="TextBox 17"/>
          <p:cNvSpPr txBox="1"/>
          <p:nvPr/>
        </p:nvSpPr>
        <p:spPr>
          <a:xfrm>
            <a:off x="6498183" y="3328416"/>
            <a:ext cx="2078659" cy="406907"/>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Con los datos de los fabricantes</a:t>
            </a:r>
          </a:p>
        </p:txBody>
      </p:sp>
      <p:sp>
        <p:nvSpPr>
          <p:cNvPr id="19" name="Rectangle 18"/>
          <p:cNvSpPr/>
          <p:nvPr/>
        </p:nvSpPr>
        <p:spPr>
          <a:xfrm>
            <a:off x="9061475" y="1828800"/>
            <a:ext cx="2581579" cy="2043684"/>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aptop_o.png"/>
          <p:cNvPicPr>
            <a:picLocks noChangeAspect="1"/>
          </p:cNvPicPr>
          <p:nvPr/>
        </p:nvPicPr>
        <p:blipFill>
          <a:blip r:embed="rId5"/>
          <a:stretch>
            <a:fillRect/>
          </a:stretch>
        </p:blipFill>
        <p:spPr>
          <a:xfrm>
            <a:off x="9335795" y="2084832"/>
            <a:ext cx="457200" cy="457200"/>
          </a:xfrm>
          <a:prstGeom prst="rect">
            <a:avLst/>
          </a:prstGeom>
        </p:spPr>
      </p:pic>
      <p:sp>
        <p:nvSpPr>
          <p:cNvPr id="21" name="TextBox 20"/>
          <p:cNvSpPr txBox="1"/>
          <p:nvPr/>
        </p:nvSpPr>
        <p:spPr>
          <a:xfrm>
            <a:off x="9335795" y="2706624"/>
            <a:ext cx="2078659"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4 · Software WFP</a:t>
            </a:r>
          </a:p>
        </p:txBody>
      </p:sp>
      <p:sp>
        <p:nvSpPr>
          <p:cNvPr id="22" name="TextBox 21"/>
          <p:cNvSpPr txBox="1"/>
          <p:nvPr/>
        </p:nvSpPr>
        <p:spPr>
          <a:xfrm>
            <a:off x="9335795" y="3328416"/>
            <a:ext cx="2078659" cy="406907"/>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Paquetes armados sobre el modelo</a:t>
            </a:r>
          </a:p>
        </p:txBody>
      </p:sp>
      <p:sp>
        <p:nvSpPr>
          <p:cNvPr id="23" name="Rectangle 22"/>
          <p:cNvSpPr/>
          <p:nvPr/>
        </p:nvSpPr>
        <p:spPr>
          <a:xfrm>
            <a:off x="548640" y="4128515"/>
            <a:ext cx="2581579" cy="2043684"/>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usertie_o.png"/>
          <p:cNvPicPr>
            <a:picLocks noChangeAspect="1"/>
          </p:cNvPicPr>
          <p:nvPr/>
        </p:nvPicPr>
        <p:blipFill>
          <a:blip r:embed="rId6"/>
          <a:stretch>
            <a:fillRect/>
          </a:stretch>
        </p:blipFill>
        <p:spPr>
          <a:xfrm>
            <a:off x="822959" y="4384548"/>
            <a:ext cx="457200" cy="457200"/>
          </a:xfrm>
          <a:prstGeom prst="rect">
            <a:avLst/>
          </a:prstGeom>
        </p:spPr>
      </p:pic>
      <p:sp>
        <p:nvSpPr>
          <p:cNvPr id="25" name="TextBox 24"/>
          <p:cNvSpPr txBox="1"/>
          <p:nvPr/>
        </p:nvSpPr>
        <p:spPr>
          <a:xfrm>
            <a:off x="822959" y="5006340"/>
            <a:ext cx="2078659"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5 · Workface Planners</a:t>
            </a:r>
          </a:p>
        </p:txBody>
      </p:sp>
      <p:sp>
        <p:nvSpPr>
          <p:cNvPr id="26" name="TextBox 25"/>
          <p:cNvSpPr txBox="1"/>
          <p:nvPr/>
        </p:nvSpPr>
        <p:spPr>
          <a:xfrm>
            <a:off x="822959" y="5628131"/>
            <a:ext cx="2078659" cy="406908"/>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Un cargo nuevo en la obra</a:t>
            </a:r>
          </a:p>
        </p:txBody>
      </p:sp>
      <p:sp>
        <p:nvSpPr>
          <p:cNvPr id="27" name="Rectangle 26"/>
          <p:cNvSpPr/>
          <p:nvPr/>
        </p:nvSpPr>
        <p:spPr>
          <a:xfrm>
            <a:off x="3386251" y="4128515"/>
            <a:ext cx="2581579" cy="2043684"/>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lip_o.png"/>
          <p:cNvPicPr>
            <a:picLocks noChangeAspect="1"/>
          </p:cNvPicPr>
          <p:nvPr/>
        </p:nvPicPr>
        <p:blipFill>
          <a:blip r:embed="rId7"/>
          <a:stretch>
            <a:fillRect/>
          </a:stretch>
        </p:blipFill>
        <p:spPr>
          <a:xfrm>
            <a:off x="3660571" y="4384548"/>
            <a:ext cx="457200" cy="457200"/>
          </a:xfrm>
          <a:prstGeom prst="rect">
            <a:avLst/>
          </a:prstGeom>
        </p:spPr>
      </p:pic>
      <p:sp>
        <p:nvSpPr>
          <p:cNvPr id="29" name="TextBox 28"/>
          <p:cNvSpPr txBox="1"/>
          <p:nvPr/>
        </p:nvSpPr>
        <p:spPr>
          <a:xfrm>
            <a:off x="3660571" y="5006340"/>
            <a:ext cx="2078659"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6 · IWP</a:t>
            </a:r>
          </a:p>
        </p:txBody>
      </p:sp>
      <p:sp>
        <p:nvSpPr>
          <p:cNvPr id="30" name="TextBox 29"/>
          <p:cNvSpPr txBox="1"/>
          <p:nvPr/>
        </p:nvSpPr>
        <p:spPr>
          <a:xfrm>
            <a:off x="3660571" y="5628131"/>
            <a:ext cx="2078659" cy="406908"/>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Lo que el capataz necesita</a:t>
            </a:r>
          </a:p>
        </p:txBody>
      </p:sp>
      <p:sp>
        <p:nvSpPr>
          <p:cNvPr id="31" name="Rectangle 30"/>
          <p:cNvSpPr/>
          <p:nvPr/>
        </p:nvSpPr>
        <p:spPr>
          <a:xfrm>
            <a:off x="6223863" y="4128515"/>
            <a:ext cx="2581579" cy="2043684"/>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unlock_o.png"/>
          <p:cNvPicPr>
            <a:picLocks noChangeAspect="1"/>
          </p:cNvPicPr>
          <p:nvPr/>
        </p:nvPicPr>
        <p:blipFill>
          <a:blip r:embed="rId8"/>
          <a:stretch>
            <a:fillRect/>
          </a:stretch>
        </p:blipFill>
        <p:spPr>
          <a:xfrm>
            <a:off x="6498183" y="4384548"/>
            <a:ext cx="457200" cy="457200"/>
          </a:xfrm>
          <a:prstGeom prst="rect">
            <a:avLst/>
          </a:prstGeom>
        </p:spPr>
      </p:pic>
      <p:sp>
        <p:nvSpPr>
          <p:cNvPr id="33" name="TextBox 32"/>
          <p:cNvSpPr txBox="1"/>
          <p:nvPr/>
        </p:nvSpPr>
        <p:spPr>
          <a:xfrm>
            <a:off x="6498183" y="5006340"/>
            <a:ext cx="2078659"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7 · Restricciones</a:t>
            </a:r>
          </a:p>
        </p:txBody>
      </p:sp>
      <p:sp>
        <p:nvSpPr>
          <p:cNvPr id="34" name="TextBox 33"/>
          <p:cNvSpPr txBox="1"/>
          <p:nvPr/>
        </p:nvSpPr>
        <p:spPr>
          <a:xfrm>
            <a:off x="6498183" y="5628131"/>
            <a:ext cx="2078659" cy="406908"/>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Eliminarlas antes de liberar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3 · AWP CHAMPION</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El AWP Champion es el primer nombramiento y debe ser a tiempo completo</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M3 · PREPARAR LA ORGANIZACIÓN</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027</a:t>
            </a:r>
          </a:p>
        </p:txBody>
      </p:sp>
      <p:sp>
        <p:nvSpPr>
          <p:cNvPr id="7" name="Rectangle 6"/>
          <p:cNvSpPr/>
          <p:nvPr/>
        </p:nvSpPr>
        <p:spPr>
          <a:xfrm>
            <a:off x="548640" y="1828800"/>
            <a:ext cx="5387187" cy="114300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2080260"/>
            <a:ext cx="640080" cy="64008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handshake_w.png"/>
          <p:cNvPicPr>
            <a:picLocks noChangeAspect="1"/>
          </p:cNvPicPr>
          <p:nvPr/>
        </p:nvPicPr>
        <p:blipFill>
          <a:blip r:embed="rId2"/>
          <a:stretch>
            <a:fillRect/>
          </a:stretch>
        </p:blipFill>
        <p:spPr>
          <a:xfrm>
            <a:off x="930859" y="2233879"/>
            <a:ext cx="332841" cy="332841"/>
          </a:xfrm>
          <a:prstGeom prst="rect">
            <a:avLst/>
          </a:prstGeom>
        </p:spPr>
      </p:pic>
      <p:sp>
        <p:nvSpPr>
          <p:cNvPr id="10" name="TextBox 9"/>
          <p:cNvSpPr txBox="1"/>
          <p:nvPr/>
        </p:nvSpPr>
        <p:spPr>
          <a:xfrm>
            <a:off x="1645919" y="1956816"/>
            <a:ext cx="4061307" cy="886968"/>
          </a:xfrm>
          <a:prstGeom prst="rect">
            <a:avLst/>
          </a:prstGeom>
          <a:noFill/>
        </p:spPr>
        <p:txBody>
          <a:bodyPr wrap="square" lIns="0" rIns="0" tIns="0" bIns="0" anchor="ctr">
            <a:spAutoFit/>
          </a:bodyPr>
          <a:lstStyle/>
          <a:p>
            <a:pPr algn="l">
              <a:lnSpc>
                <a:spcPct val="105000"/>
              </a:lnSpc>
              <a:spcAft>
                <a:spcPts val="300"/>
              </a:spcAft>
            </a:pPr>
            <a:r>
              <a:rPr sz="1400" b="1" i="0">
                <a:solidFill>
                  <a:srgbClr val="1A1A1A"/>
                </a:solidFill>
                <a:latin typeface="Arial"/>
              </a:rPr>
              <a:t>Representa al propietario</a:t>
            </a:r>
          </a:p>
          <a:p>
            <a:pPr algn="l">
              <a:lnSpc>
                <a:spcPct val="105000"/>
              </a:lnSpc>
              <a:spcAft>
                <a:spcPts val="300"/>
              </a:spcAft>
            </a:pPr>
            <a:r>
              <a:rPr sz="1200" b="0" i="0">
                <a:solidFill>
                  <a:srgbClr val="6D6E71"/>
                </a:solidFill>
                <a:latin typeface="Arial"/>
              </a:rPr>
              <a:t>Coordina a todos los actores con imparcialidad</a:t>
            </a:r>
          </a:p>
        </p:txBody>
      </p:sp>
      <p:sp>
        <p:nvSpPr>
          <p:cNvPr id="11" name="Rectangle 10"/>
          <p:cNvSpPr/>
          <p:nvPr/>
        </p:nvSpPr>
        <p:spPr>
          <a:xfrm>
            <a:off x="6255867" y="1828800"/>
            <a:ext cx="5387187" cy="114300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6484467" y="2080260"/>
            <a:ext cx="640080" cy="64008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teach_w.png"/>
          <p:cNvPicPr>
            <a:picLocks noChangeAspect="1"/>
          </p:cNvPicPr>
          <p:nvPr/>
        </p:nvPicPr>
        <p:blipFill>
          <a:blip r:embed="rId3"/>
          <a:stretch>
            <a:fillRect/>
          </a:stretch>
        </p:blipFill>
        <p:spPr>
          <a:xfrm>
            <a:off x="6638086" y="2233879"/>
            <a:ext cx="332841" cy="332841"/>
          </a:xfrm>
          <a:prstGeom prst="rect">
            <a:avLst/>
          </a:prstGeom>
        </p:spPr>
      </p:pic>
      <p:sp>
        <p:nvSpPr>
          <p:cNvPr id="14" name="TextBox 13"/>
          <p:cNvSpPr txBox="1"/>
          <p:nvPr/>
        </p:nvSpPr>
        <p:spPr>
          <a:xfrm>
            <a:off x="7353147" y="1956816"/>
            <a:ext cx="4061307" cy="886968"/>
          </a:xfrm>
          <a:prstGeom prst="rect">
            <a:avLst/>
          </a:prstGeom>
          <a:noFill/>
        </p:spPr>
        <p:txBody>
          <a:bodyPr wrap="square" lIns="0" rIns="0" tIns="0" bIns="0" anchor="ctr">
            <a:spAutoFit/>
          </a:bodyPr>
          <a:lstStyle/>
          <a:p>
            <a:pPr algn="l">
              <a:lnSpc>
                <a:spcPct val="105000"/>
              </a:lnSpc>
              <a:spcAft>
                <a:spcPts val="300"/>
              </a:spcAft>
            </a:pPr>
            <a:r>
              <a:rPr sz="1400" b="1" i="0">
                <a:solidFill>
                  <a:srgbClr val="1A1A1A"/>
                </a:solidFill>
                <a:latin typeface="Arial"/>
              </a:rPr>
              <a:t>Actúa como coach</a:t>
            </a:r>
          </a:p>
          <a:p>
            <a:pPr algn="l">
              <a:lnSpc>
                <a:spcPct val="105000"/>
              </a:lnSpc>
              <a:spcAft>
                <a:spcPts val="300"/>
              </a:spcAft>
            </a:pPr>
            <a:r>
              <a:rPr sz="1200" b="0" i="0">
                <a:solidFill>
                  <a:srgbClr val="6D6E71"/>
                </a:solidFill>
                <a:latin typeface="Arial"/>
              </a:rPr>
              <a:t>Guía la aplicación de los procedimientos AWP, IM y WFP</a:t>
            </a:r>
          </a:p>
        </p:txBody>
      </p:sp>
      <p:sp>
        <p:nvSpPr>
          <p:cNvPr id="15" name="Rectangle 14"/>
          <p:cNvSpPr/>
          <p:nvPr/>
        </p:nvSpPr>
        <p:spPr>
          <a:xfrm>
            <a:off x="548640" y="3172968"/>
            <a:ext cx="5387187" cy="114300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777240" y="3424427"/>
            <a:ext cx="640080" cy="64008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users_w.png"/>
          <p:cNvPicPr>
            <a:picLocks noChangeAspect="1"/>
          </p:cNvPicPr>
          <p:nvPr/>
        </p:nvPicPr>
        <p:blipFill>
          <a:blip r:embed="rId4"/>
          <a:stretch>
            <a:fillRect/>
          </a:stretch>
        </p:blipFill>
        <p:spPr>
          <a:xfrm>
            <a:off x="930859" y="3578047"/>
            <a:ext cx="332841" cy="332841"/>
          </a:xfrm>
          <a:prstGeom prst="rect">
            <a:avLst/>
          </a:prstGeom>
        </p:spPr>
      </p:pic>
      <p:sp>
        <p:nvSpPr>
          <p:cNvPr id="18" name="TextBox 17"/>
          <p:cNvSpPr txBox="1"/>
          <p:nvPr/>
        </p:nvSpPr>
        <p:spPr>
          <a:xfrm>
            <a:off x="1645919" y="3300984"/>
            <a:ext cx="4061307" cy="886968"/>
          </a:xfrm>
          <a:prstGeom prst="rect">
            <a:avLst/>
          </a:prstGeom>
          <a:noFill/>
        </p:spPr>
        <p:txBody>
          <a:bodyPr wrap="square" lIns="0" rIns="0" tIns="0" bIns="0" anchor="ctr">
            <a:spAutoFit/>
          </a:bodyPr>
          <a:lstStyle/>
          <a:p>
            <a:pPr algn="l">
              <a:lnSpc>
                <a:spcPct val="105000"/>
              </a:lnSpc>
              <a:spcAft>
                <a:spcPts val="300"/>
              </a:spcAft>
            </a:pPr>
            <a:r>
              <a:rPr sz="1400" b="1" i="0">
                <a:solidFill>
                  <a:srgbClr val="1A1A1A"/>
                </a:solidFill>
                <a:latin typeface="Arial"/>
              </a:rPr>
              <a:t>Se enfoca en las personas</a:t>
            </a:r>
          </a:p>
          <a:p>
            <a:pPr algn="l">
              <a:lnSpc>
                <a:spcPct val="105000"/>
              </a:lnSpc>
              <a:spcAft>
                <a:spcPts val="300"/>
              </a:spcAft>
            </a:pPr>
            <a:r>
              <a:rPr sz="1200" b="0" i="0">
                <a:solidFill>
                  <a:srgbClr val="6D6E71"/>
                </a:solidFill>
                <a:latin typeface="Arial"/>
              </a:rPr>
              <a:t>Ayuda a cada rol a adaptarse al cambio</a:t>
            </a:r>
          </a:p>
        </p:txBody>
      </p:sp>
      <p:sp>
        <p:nvSpPr>
          <p:cNvPr id="19" name="Rectangle 18"/>
          <p:cNvSpPr/>
          <p:nvPr/>
        </p:nvSpPr>
        <p:spPr>
          <a:xfrm>
            <a:off x="6255867" y="3172968"/>
            <a:ext cx="5387187" cy="114300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6484467" y="3424427"/>
            <a:ext cx="640080" cy="64008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usertie_w.png"/>
          <p:cNvPicPr>
            <a:picLocks noChangeAspect="1"/>
          </p:cNvPicPr>
          <p:nvPr/>
        </p:nvPicPr>
        <p:blipFill>
          <a:blip r:embed="rId5"/>
          <a:stretch>
            <a:fillRect/>
          </a:stretch>
        </p:blipFill>
        <p:spPr>
          <a:xfrm>
            <a:off x="6638086" y="3578047"/>
            <a:ext cx="332841" cy="332841"/>
          </a:xfrm>
          <a:prstGeom prst="rect">
            <a:avLst/>
          </a:prstGeom>
        </p:spPr>
      </p:pic>
      <p:sp>
        <p:nvSpPr>
          <p:cNvPr id="22" name="TextBox 21"/>
          <p:cNvSpPr txBox="1"/>
          <p:nvPr/>
        </p:nvSpPr>
        <p:spPr>
          <a:xfrm>
            <a:off x="7353147" y="3300984"/>
            <a:ext cx="4061307" cy="886968"/>
          </a:xfrm>
          <a:prstGeom prst="rect">
            <a:avLst/>
          </a:prstGeom>
          <a:noFill/>
        </p:spPr>
        <p:txBody>
          <a:bodyPr wrap="square" lIns="0" rIns="0" tIns="0" bIns="0" anchor="ctr">
            <a:spAutoFit/>
          </a:bodyPr>
          <a:lstStyle/>
          <a:p>
            <a:pPr algn="l">
              <a:lnSpc>
                <a:spcPct val="105000"/>
              </a:lnSpc>
              <a:spcAft>
                <a:spcPts val="300"/>
              </a:spcAft>
            </a:pPr>
            <a:r>
              <a:rPr sz="1400" b="1" i="0">
                <a:solidFill>
                  <a:srgbClr val="1A1A1A"/>
                </a:solidFill>
                <a:latin typeface="Arial"/>
              </a:rPr>
              <a:t>Perfil experto</a:t>
            </a:r>
          </a:p>
          <a:p>
            <a:pPr algn="l">
              <a:lnSpc>
                <a:spcPct val="105000"/>
              </a:lnSpc>
              <a:spcAft>
                <a:spcPts val="300"/>
              </a:spcAft>
            </a:pPr>
            <a:r>
              <a:rPr sz="1200" b="0" i="0">
                <a:solidFill>
                  <a:srgbClr val="6D6E71"/>
                </a:solidFill>
                <a:latin typeface="Arial"/>
              </a:rPr>
              <a:t>AWP, gestión de proyectos y construcción</a:t>
            </a:r>
          </a:p>
        </p:txBody>
      </p:sp>
      <p:sp>
        <p:nvSpPr>
          <p:cNvPr id="23" name="Rectangle 22"/>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flag_o.png"/>
          <p:cNvPicPr>
            <a:picLocks noChangeAspect="1"/>
          </p:cNvPicPr>
          <p:nvPr/>
        </p:nvPicPr>
        <p:blipFill>
          <a:blip r:embed="rId6"/>
          <a:stretch>
            <a:fillRect/>
          </a:stretch>
        </p:blipFill>
        <p:spPr>
          <a:xfrm>
            <a:off x="822959" y="5660136"/>
            <a:ext cx="365760" cy="365760"/>
          </a:xfrm>
          <a:prstGeom prst="rect">
            <a:avLst/>
          </a:prstGeom>
        </p:spPr>
      </p:pic>
      <p:sp>
        <p:nvSpPr>
          <p:cNvPr id="25" name="TextBox 24"/>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No asuma que el rol recae en el gerente del proyecto: requiere dedicación exclusiva.</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3 · PROCEDIMIENTOS</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Los procedimientos fijan quién, qué, cuándo, cómo y por qué</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M3 · PREPARAR LA ORGANIZACIÓN</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028</a:t>
            </a:r>
          </a:p>
        </p:txBody>
      </p:sp>
      <p:sp>
        <p:nvSpPr>
          <p:cNvPr id="7" name="Rectangle 6"/>
          <p:cNvSpPr/>
          <p:nvPr/>
        </p:nvSpPr>
        <p:spPr>
          <a:xfrm>
            <a:off x="548640" y="1828800"/>
            <a:ext cx="3527450" cy="15773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user_o.png"/>
          <p:cNvPicPr>
            <a:picLocks noChangeAspect="1"/>
          </p:cNvPicPr>
          <p:nvPr/>
        </p:nvPicPr>
        <p:blipFill>
          <a:blip r:embed="rId2"/>
          <a:stretch>
            <a:fillRect/>
          </a:stretch>
        </p:blipFill>
        <p:spPr>
          <a:xfrm>
            <a:off x="822959" y="2057400"/>
            <a:ext cx="384048" cy="384048"/>
          </a:xfrm>
          <a:prstGeom prst="rect">
            <a:avLst/>
          </a:prstGeom>
        </p:spPr>
      </p:pic>
      <p:sp>
        <p:nvSpPr>
          <p:cNvPr id="9" name="TextBox 8"/>
          <p:cNvSpPr txBox="1"/>
          <p:nvPr/>
        </p:nvSpPr>
        <p:spPr>
          <a:xfrm>
            <a:off x="1371600" y="2011680"/>
            <a:ext cx="2475890" cy="475488"/>
          </a:xfrm>
          <a:prstGeom prst="rect">
            <a:avLst/>
          </a:prstGeom>
          <a:noFill/>
        </p:spPr>
        <p:txBody>
          <a:bodyPr wrap="square" lIns="0" rIns="0" tIns="0" bIns="0" anchor="ctr">
            <a:spAutoFit/>
          </a:bodyPr>
          <a:lstStyle/>
          <a:p>
            <a:pPr algn="l">
              <a:lnSpc>
                <a:spcPct val="95000"/>
              </a:lnSpc>
            </a:pPr>
            <a:r>
              <a:rPr sz="1500" b="1" i="0">
                <a:solidFill>
                  <a:srgbClr val="1A1A1A"/>
                </a:solidFill>
                <a:latin typeface="Arial"/>
              </a:rPr>
              <a:t>¿Quién?</a:t>
            </a:r>
          </a:p>
        </p:txBody>
      </p:sp>
      <p:sp>
        <p:nvSpPr>
          <p:cNvPr id="10" name="TextBox 9"/>
          <p:cNvSpPr txBox="1"/>
          <p:nvPr/>
        </p:nvSpPr>
        <p:spPr>
          <a:xfrm>
            <a:off x="822959" y="2606040"/>
            <a:ext cx="3024530" cy="70866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Responsable de cada entregable</a:t>
            </a:r>
          </a:p>
        </p:txBody>
      </p:sp>
      <p:sp>
        <p:nvSpPr>
          <p:cNvPr id="11" name="Rectangle 10"/>
          <p:cNvSpPr/>
          <p:nvPr/>
        </p:nvSpPr>
        <p:spPr>
          <a:xfrm>
            <a:off x="4332122" y="1828800"/>
            <a:ext cx="3527450" cy="15773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_o.png"/>
          <p:cNvPicPr>
            <a:picLocks noChangeAspect="1"/>
          </p:cNvPicPr>
          <p:nvPr/>
        </p:nvPicPr>
        <p:blipFill>
          <a:blip r:embed="rId3"/>
          <a:stretch>
            <a:fillRect/>
          </a:stretch>
        </p:blipFill>
        <p:spPr>
          <a:xfrm>
            <a:off x="4606442" y="2057400"/>
            <a:ext cx="384048" cy="384048"/>
          </a:xfrm>
          <a:prstGeom prst="rect">
            <a:avLst/>
          </a:prstGeom>
        </p:spPr>
      </p:pic>
      <p:sp>
        <p:nvSpPr>
          <p:cNvPr id="13" name="TextBox 12"/>
          <p:cNvSpPr txBox="1"/>
          <p:nvPr/>
        </p:nvSpPr>
        <p:spPr>
          <a:xfrm>
            <a:off x="5155082" y="2011680"/>
            <a:ext cx="2475890" cy="475488"/>
          </a:xfrm>
          <a:prstGeom prst="rect">
            <a:avLst/>
          </a:prstGeom>
          <a:noFill/>
        </p:spPr>
        <p:txBody>
          <a:bodyPr wrap="square" lIns="0" rIns="0" tIns="0" bIns="0" anchor="ctr">
            <a:spAutoFit/>
          </a:bodyPr>
          <a:lstStyle/>
          <a:p>
            <a:pPr algn="l">
              <a:lnSpc>
                <a:spcPct val="95000"/>
              </a:lnSpc>
            </a:pPr>
            <a:r>
              <a:rPr sz="1500" b="1" i="0">
                <a:solidFill>
                  <a:srgbClr val="1A1A1A"/>
                </a:solidFill>
                <a:latin typeface="Arial"/>
              </a:rPr>
              <a:t>¿Qué?</a:t>
            </a:r>
          </a:p>
        </p:txBody>
      </p:sp>
      <p:sp>
        <p:nvSpPr>
          <p:cNvPr id="14" name="TextBox 13"/>
          <p:cNvSpPr txBox="1"/>
          <p:nvPr/>
        </p:nvSpPr>
        <p:spPr>
          <a:xfrm>
            <a:off x="4606442" y="2606040"/>
            <a:ext cx="3024530" cy="70866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Entregable y su contenido</a:t>
            </a:r>
          </a:p>
        </p:txBody>
      </p:sp>
      <p:sp>
        <p:nvSpPr>
          <p:cNvPr id="15" name="Rectangle 14"/>
          <p:cNvSpPr/>
          <p:nvPr/>
        </p:nvSpPr>
        <p:spPr>
          <a:xfrm>
            <a:off x="8115604" y="1828800"/>
            <a:ext cx="3527450" cy="15773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alendar_o.png"/>
          <p:cNvPicPr>
            <a:picLocks noChangeAspect="1"/>
          </p:cNvPicPr>
          <p:nvPr/>
        </p:nvPicPr>
        <p:blipFill>
          <a:blip r:embed="rId4"/>
          <a:stretch>
            <a:fillRect/>
          </a:stretch>
        </p:blipFill>
        <p:spPr>
          <a:xfrm>
            <a:off x="8389924" y="2057400"/>
            <a:ext cx="384048" cy="384048"/>
          </a:xfrm>
          <a:prstGeom prst="rect">
            <a:avLst/>
          </a:prstGeom>
        </p:spPr>
      </p:pic>
      <p:sp>
        <p:nvSpPr>
          <p:cNvPr id="17" name="TextBox 16"/>
          <p:cNvSpPr txBox="1"/>
          <p:nvPr/>
        </p:nvSpPr>
        <p:spPr>
          <a:xfrm>
            <a:off x="8938564" y="2011680"/>
            <a:ext cx="2475890" cy="475488"/>
          </a:xfrm>
          <a:prstGeom prst="rect">
            <a:avLst/>
          </a:prstGeom>
          <a:noFill/>
        </p:spPr>
        <p:txBody>
          <a:bodyPr wrap="square" lIns="0" rIns="0" tIns="0" bIns="0" anchor="ctr">
            <a:spAutoFit/>
          </a:bodyPr>
          <a:lstStyle/>
          <a:p>
            <a:pPr algn="l">
              <a:lnSpc>
                <a:spcPct val="95000"/>
              </a:lnSpc>
            </a:pPr>
            <a:r>
              <a:rPr sz="1500" b="1" i="0">
                <a:solidFill>
                  <a:srgbClr val="1A1A1A"/>
                </a:solidFill>
                <a:latin typeface="Arial"/>
              </a:rPr>
              <a:t>¿Cuándo?</a:t>
            </a:r>
          </a:p>
        </p:txBody>
      </p:sp>
      <p:sp>
        <p:nvSpPr>
          <p:cNvPr id="18" name="TextBox 17"/>
          <p:cNvSpPr txBox="1"/>
          <p:nvPr/>
        </p:nvSpPr>
        <p:spPr>
          <a:xfrm>
            <a:off x="8389924" y="2606040"/>
            <a:ext cx="3024530" cy="70866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Fase y plazo de entrega</a:t>
            </a:r>
          </a:p>
        </p:txBody>
      </p:sp>
      <p:sp>
        <p:nvSpPr>
          <p:cNvPr id="19" name="Rectangle 18"/>
          <p:cNvSpPr/>
          <p:nvPr/>
        </p:nvSpPr>
        <p:spPr>
          <a:xfrm>
            <a:off x="548640" y="3662172"/>
            <a:ext cx="3527450" cy="15773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gears_o.png"/>
          <p:cNvPicPr>
            <a:picLocks noChangeAspect="1"/>
          </p:cNvPicPr>
          <p:nvPr/>
        </p:nvPicPr>
        <p:blipFill>
          <a:blip r:embed="rId5"/>
          <a:stretch>
            <a:fillRect/>
          </a:stretch>
        </p:blipFill>
        <p:spPr>
          <a:xfrm>
            <a:off x="822959" y="3890772"/>
            <a:ext cx="384048" cy="384048"/>
          </a:xfrm>
          <a:prstGeom prst="rect">
            <a:avLst/>
          </a:prstGeom>
        </p:spPr>
      </p:pic>
      <p:sp>
        <p:nvSpPr>
          <p:cNvPr id="21" name="TextBox 20"/>
          <p:cNvSpPr txBox="1"/>
          <p:nvPr/>
        </p:nvSpPr>
        <p:spPr>
          <a:xfrm>
            <a:off x="1371600" y="3845052"/>
            <a:ext cx="2475890" cy="475488"/>
          </a:xfrm>
          <a:prstGeom prst="rect">
            <a:avLst/>
          </a:prstGeom>
          <a:noFill/>
        </p:spPr>
        <p:txBody>
          <a:bodyPr wrap="square" lIns="0" rIns="0" tIns="0" bIns="0" anchor="ctr">
            <a:spAutoFit/>
          </a:bodyPr>
          <a:lstStyle/>
          <a:p>
            <a:pPr algn="l">
              <a:lnSpc>
                <a:spcPct val="95000"/>
              </a:lnSpc>
            </a:pPr>
            <a:r>
              <a:rPr sz="1500" b="1" i="0">
                <a:solidFill>
                  <a:srgbClr val="1A1A1A"/>
                </a:solidFill>
                <a:latin typeface="Arial"/>
              </a:rPr>
              <a:t>¿Cómo?</a:t>
            </a:r>
          </a:p>
        </p:txBody>
      </p:sp>
      <p:sp>
        <p:nvSpPr>
          <p:cNvPr id="22" name="TextBox 21"/>
          <p:cNvSpPr txBox="1"/>
          <p:nvPr/>
        </p:nvSpPr>
        <p:spPr>
          <a:xfrm>
            <a:off x="822959" y="4439412"/>
            <a:ext cx="3024530" cy="70866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Diagramas de flujo y plantillas</a:t>
            </a:r>
          </a:p>
        </p:txBody>
      </p:sp>
      <p:sp>
        <p:nvSpPr>
          <p:cNvPr id="23" name="Rectangle 22"/>
          <p:cNvSpPr/>
          <p:nvPr/>
        </p:nvSpPr>
        <p:spPr>
          <a:xfrm>
            <a:off x="4332122" y="3662172"/>
            <a:ext cx="3527450" cy="15773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bulb_o.png"/>
          <p:cNvPicPr>
            <a:picLocks noChangeAspect="1"/>
          </p:cNvPicPr>
          <p:nvPr/>
        </p:nvPicPr>
        <p:blipFill>
          <a:blip r:embed="rId6"/>
          <a:stretch>
            <a:fillRect/>
          </a:stretch>
        </p:blipFill>
        <p:spPr>
          <a:xfrm>
            <a:off x="4606442" y="3890772"/>
            <a:ext cx="384048" cy="384048"/>
          </a:xfrm>
          <a:prstGeom prst="rect">
            <a:avLst/>
          </a:prstGeom>
        </p:spPr>
      </p:pic>
      <p:sp>
        <p:nvSpPr>
          <p:cNvPr id="25" name="TextBox 24"/>
          <p:cNvSpPr txBox="1"/>
          <p:nvPr/>
        </p:nvSpPr>
        <p:spPr>
          <a:xfrm>
            <a:off x="5155082" y="3845052"/>
            <a:ext cx="2475890" cy="475488"/>
          </a:xfrm>
          <a:prstGeom prst="rect">
            <a:avLst/>
          </a:prstGeom>
          <a:noFill/>
        </p:spPr>
        <p:txBody>
          <a:bodyPr wrap="square" lIns="0" rIns="0" tIns="0" bIns="0" anchor="ctr">
            <a:spAutoFit/>
          </a:bodyPr>
          <a:lstStyle/>
          <a:p>
            <a:pPr algn="l">
              <a:lnSpc>
                <a:spcPct val="95000"/>
              </a:lnSpc>
            </a:pPr>
            <a:r>
              <a:rPr sz="1500" b="1" i="0">
                <a:solidFill>
                  <a:srgbClr val="1A1A1A"/>
                </a:solidFill>
                <a:latin typeface="Arial"/>
              </a:rPr>
              <a:t>¿Por qué?</a:t>
            </a:r>
          </a:p>
        </p:txBody>
      </p:sp>
      <p:sp>
        <p:nvSpPr>
          <p:cNvPr id="26" name="TextBox 25"/>
          <p:cNvSpPr txBox="1"/>
          <p:nvPr/>
        </p:nvSpPr>
        <p:spPr>
          <a:xfrm>
            <a:off x="4606442" y="4439412"/>
            <a:ext cx="3024530" cy="70866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El propósito que da sentido al cambio</a:t>
            </a:r>
          </a:p>
        </p:txBody>
      </p:sp>
      <p:sp>
        <p:nvSpPr>
          <p:cNvPr id="27" name="Rectangle 26"/>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lag_o.png"/>
          <p:cNvPicPr>
            <a:picLocks noChangeAspect="1"/>
          </p:cNvPicPr>
          <p:nvPr/>
        </p:nvPicPr>
        <p:blipFill>
          <a:blip r:embed="rId7"/>
          <a:stretch>
            <a:fillRect/>
          </a:stretch>
        </p:blipFill>
        <p:spPr>
          <a:xfrm>
            <a:off x="822959" y="5660136"/>
            <a:ext cx="365760" cy="365760"/>
          </a:xfrm>
          <a:prstGeom prst="rect">
            <a:avLst/>
          </a:prstGeom>
        </p:spPr>
      </p:pic>
      <p:sp>
        <p:nvSpPr>
          <p:cNvPr id="29" name="TextBox 28"/>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Los procedimientos no cambian la cultura por sí solos, pero crean la obligación de cumplir y permiten auditar.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3 · PROCEDIMIENTOS</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Los procedimientos cubren tres áreas: AWP, IM y WFP</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M3 · PREPARAR LA ORGANIZACIÓN</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029</a:t>
            </a:r>
          </a:p>
        </p:txBody>
      </p:sp>
      <p:graphicFrame>
        <p:nvGraphicFramePr>
          <p:cNvPr id="7" name="Table 6"/>
          <p:cNvGraphicFramePr>
            <a:graphicFrameLocks noGrp="1"/>
          </p:cNvGraphicFramePr>
          <p:nvPr/>
        </p:nvGraphicFramePr>
        <p:xfrm>
          <a:off x="563727" y="1828800"/>
          <a:ext cx="11064240" cy="3063240"/>
        </p:xfrm>
        <a:graphic>
          <a:graphicData uri="http://schemas.openxmlformats.org/drawingml/2006/table">
            <a:tbl>
              <a:tblPr firstRow="0" bandRow="0">
                <a:tableStyleId>{5C22544A-7EE6-4342-B048-85BDC9FD1C3A}</a:tableStyleId>
              </a:tblPr>
              <a:tblGrid>
                <a:gridCol w="1828800"/>
                <a:gridCol w="6126480"/>
                <a:gridCol w="3108960"/>
              </a:tblGrid>
              <a:tr h="457200">
                <a:tc>
                  <a:txBody>
                    <a:bodyPr wrap="square"/>
                    <a:lstStyle/>
                    <a:p>
                      <a:pPr algn="l"/>
                      <a:r>
                        <a:rPr sz="1000" b="1" spc="100">
                          <a:solidFill>
                            <a:srgbClr val="FFFFFF"/>
                          </a:solidFill>
                          <a:latin typeface="Arial"/>
                        </a:rPr>
                        <a:t>PROCEDIMIENTO</a:t>
                      </a:r>
                    </a:p>
                  </a:txBody>
                  <a:tcPr marL="137160" marR="91440" marT="27432" marB="27432" anchor="ctr">
                    <a:solidFill>
                      <a:srgbClr val="1A1A1A"/>
                    </a:solidFill>
                  </a:tcPr>
                </a:tc>
                <a:tc>
                  <a:txBody>
                    <a:bodyPr wrap="square"/>
                    <a:lstStyle/>
                    <a:p>
                      <a:pPr algn="l"/>
                      <a:r>
                        <a:rPr sz="1000" b="1" spc="100">
                          <a:solidFill>
                            <a:srgbClr val="FFFFFF"/>
                          </a:solidFill>
                          <a:latin typeface="Arial"/>
                        </a:rPr>
                        <a:t>QUÉ ESTABLECE</a:t>
                      </a:r>
                    </a:p>
                  </a:txBody>
                  <a:tcPr marL="137160" marR="91440" marT="27432" marB="27432" anchor="ctr">
                    <a:solidFill>
                      <a:srgbClr val="1A1A1A"/>
                    </a:solidFill>
                  </a:tcPr>
                </a:tc>
                <a:tc>
                  <a:txBody>
                    <a:bodyPr wrap="square"/>
                    <a:lstStyle/>
                    <a:p>
                      <a:pPr algn="l"/>
                      <a:r>
                        <a:rPr sz="1000" b="1" spc="100">
                          <a:solidFill>
                            <a:srgbClr val="FFFFFF"/>
                          </a:solidFill>
                          <a:latin typeface="Arial"/>
                        </a:rPr>
                        <a:t>RESPONSABLE TÍPICO</a:t>
                      </a:r>
                    </a:p>
                  </a:txBody>
                  <a:tcPr marL="137160" marR="91440" marT="27432" marB="27432" anchor="ctr">
                    <a:solidFill>
                      <a:srgbClr val="1A1A1A"/>
                    </a:solidFill>
                  </a:tcPr>
                </a:tc>
              </a:tr>
              <a:tr h="868680">
                <a:tc>
                  <a:txBody>
                    <a:bodyPr wrap="square"/>
                    <a:lstStyle/>
                    <a:p>
                      <a:pPr algn="l"/>
                      <a:r>
                        <a:rPr sz="1250" b="1">
                          <a:solidFill>
                            <a:srgbClr val="555555"/>
                          </a:solidFill>
                          <a:latin typeface="Courier New"/>
                        </a:rPr>
                        <a:t>1.0 AWP</a:t>
                      </a:r>
                    </a:p>
                  </a:txBody>
                  <a:tcPr marL="137160" marR="91440" marT="27432" marB="27432" anchor="ctr">
                    <a:solidFill>
                      <a:srgbClr val="FFFFFF"/>
                    </a:solidFill>
                  </a:tcPr>
                </a:tc>
                <a:tc>
                  <a:txBody>
                    <a:bodyPr wrap="square"/>
                    <a:lstStyle/>
                    <a:p>
                      <a:pPr algn="l"/>
                      <a:r>
                        <a:rPr sz="1250" b="0">
                          <a:solidFill>
                            <a:srgbClr val="2E2E2E"/>
                          </a:solidFill>
                          <a:latin typeface="Arial"/>
                        </a:rPr>
                        <a:t>Cláusulas contractuales, Path of Construction, secuencia de ingeniería y compras, estándares de control</a:t>
                      </a:r>
                    </a:p>
                  </a:txBody>
                  <a:tcPr marL="137160" marR="91440" marT="27432" marB="27432" anchor="ctr">
                    <a:solidFill>
                      <a:srgbClr val="FFFFFF"/>
                    </a:solidFill>
                  </a:tcPr>
                </a:tc>
                <a:tc>
                  <a:txBody>
                    <a:bodyPr wrap="square"/>
                    <a:lstStyle/>
                    <a:p>
                      <a:pPr algn="l"/>
                      <a:r>
                        <a:rPr sz="1250" b="0">
                          <a:solidFill>
                            <a:srgbClr val="2E2E2E"/>
                          </a:solidFill>
                          <a:latin typeface="Arial"/>
                        </a:rPr>
                        <a:t>Gerencia del proyecto y AWP Champion</a:t>
                      </a:r>
                    </a:p>
                  </a:txBody>
                  <a:tcPr marL="137160" marR="91440" marT="27432" marB="27432" anchor="ctr">
                    <a:solidFill>
                      <a:srgbClr val="FFFFFF"/>
                    </a:solidFill>
                  </a:tcPr>
                </a:tc>
              </a:tr>
              <a:tr h="868680">
                <a:tc>
                  <a:txBody>
                    <a:bodyPr wrap="square"/>
                    <a:lstStyle/>
                    <a:p>
                      <a:pPr algn="l"/>
                      <a:r>
                        <a:rPr sz="1250" b="1">
                          <a:solidFill>
                            <a:srgbClr val="555555"/>
                          </a:solidFill>
                          <a:latin typeface="Courier New"/>
                        </a:rPr>
                        <a:t>2.0 IM</a:t>
                      </a:r>
                    </a:p>
                  </a:txBody>
                  <a:tcPr marL="137160" marR="91440" marT="27432" marB="27432" anchor="ctr">
                    <a:solidFill>
                      <a:srgbClr val="F7F7F7"/>
                    </a:solidFill>
                  </a:tcPr>
                </a:tc>
                <a:tc>
                  <a:txBody>
                    <a:bodyPr wrap="square"/>
                    <a:lstStyle/>
                    <a:p>
                      <a:pPr algn="l"/>
                      <a:r>
                        <a:rPr sz="1250" b="0">
                          <a:solidFill>
                            <a:srgbClr val="2E2E2E"/>
                          </a:solidFill>
                          <a:latin typeface="Arial"/>
                        </a:rPr>
                        <a:t>WBS, nomenclatura, intercambio de datos, interfaces de software y atributos del modelo 3D</a:t>
                      </a:r>
                    </a:p>
                  </a:txBody>
                  <a:tcPr marL="137160" marR="91440" marT="27432" marB="27432" anchor="ctr">
                    <a:solidFill>
                      <a:srgbClr val="F7F7F7"/>
                    </a:solidFill>
                  </a:tcPr>
                </a:tc>
                <a:tc>
                  <a:txBody>
                    <a:bodyPr wrap="square"/>
                    <a:lstStyle/>
                    <a:p>
                      <a:pPr algn="l"/>
                      <a:r>
                        <a:rPr sz="1250" b="0">
                          <a:solidFill>
                            <a:srgbClr val="2E2E2E"/>
                          </a:solidFill>
                          <a:latin typeface="Arial"/>
                        </a:rPr>
                        <a:t>Information Manager</a:t>
                      </a:r>
                    </a:p>
                  </a:txBody>
                  <a:tcPr marL="137160" marR="91440" marT="27432" marB="27432" anchor="ctr">
                    <a:solidFill>
                      <a:srgbClr val="F7F7F7"/>
                    </a:solidFill>
                  </a:tcPr>
                </a:tc>
              </a:tr>
              <a:tr h="868680">
                <a:tc>
                  <a:txBody>
                    <a:bodyPr wrap="square"/>
                    <a:lstStyle/>
                    <a:p>
                      <a:pPr algn="l"/>
                      <a:r>
                        <a:rPr sz="1250" b="1">
                          <a:solidFill>
                            <a:srgbClr val="555555"/>
                          </a:solidFill>
                          <a:latin typeface="Courier New"/>
                        </a:rPr>
                        <a:t>3.0 WFP</a:t>
                      </a:r>
                    </a:p>
                  </a:txBody>
                  <a:tcPr marL="137160" marR="91440" marT="27432" marB="27432" anchor="ctr">
                    <a:solidFill>
                      <a:srgbClr val="FFFFFF"/>
                    </a:solidFill>
                  </a:tcPr>
                </a:tc>
                <a:tc>
                  <a:txBody>
                    <a:bodyPr wrap="square"/>
                    <a:lstStyle/>
                    <a:p>
                      <a:pPr algn="l"/>
                      <a:r>
                        <a:rPr sz="1250" b="0">
                          <a:solidFill>
                            <a:srgbClr val="2E2E2E"/>
                          </a:solidFill>
                          <a:latin typeface="Arial"/>
                        </a:rPr>
                        <a:t>Workface Planners, IWP, gestión de restricciones, ejecución en campo y reportes</a:t>
                      </a:r>
                    </a:p>
                  </a:txBody>
                  <a:tcPr marL="137160" marR="91440" marT="27432" marB="27432" anchor="ctr">
                    <a:solidFill>
                      <a:srgbClr val="FFFFFF"/>
                    </a:solidFill>
                  </a:tcPr>
                </a:tc>
                <a:tc>
                  <a:txBody>
                    <a:bodyPr wrap="square"/>
                    <a:lstStyle/>
                    <a:p>
                      <a:pPr algn="l"/>
                      <a:r>
                        <a:rPr sz="1250" b="0">
                          <a:solidFill>
                            <a:srgbClr val="2E2E2E"/>
                          </a:solidFill>
                          <a:latin typeface="Arial"/>
                        </a:rPr>
                        <a:t>Contratista de construcción con el WFP Coordinator</a:t>
                      </a:r>
                    </a:p>
                  </a:txBody>
                  <a:tcPr marL="137160" marR="91440" marT="27432" marB="27432" anchor="ctr">
                    <a:solidFill>
                      <a:srgbClr val="FFFFFF"/>
                    </a:solidFill>
                  </a:tcPr>
                </a:tc>
              </a:tr>
            </a:tbl>
          </a:graphicData>
        </a:graphic>
      </p:graphicFrame>
      <p:pic>
        <p:nvPicPr>
          <p:cNvPr id="8" name="Picture 7" descr="layers_o.png"/>
          <p:cNvPicPr>
            <a:picLocks noChangeAspect="1"/>
          </p:cNvPicPr>
          <p:nvPr/>
        </p:nvPicPr>
        <p:blipFill>
          <a:blip r:embed="rId2"/>
          <a:stretch>
            <a:fillRect/>
          </a:stretch>
        </p:blipFill>
        <p:spPr>
          <a:xfrm>
            <a:off x="563727" y="5129783"/>
            <a:ext cx="292608" cy="292608"/>
          </a:xfrm>
          <a:prstGeom prst="rect">
            <a:avLst/>
          </a:prstGeom>
        </p:spPr>
      </p:pic>
      <p:sp>
        <p:nvSpPr>
          <p:cNvPr id="9" name="TextBox 8"/>
          <p:cNvSpPr txBox="1"/>
          <p:nvPr/>
        </p:nvSpPr>
        <p:spPr>
          <a:xfrm>
            <a:off x="1020927" y="5093207"/>
            <a:ext cx="10607040" cy="384048"/>
          </a:xfrm>
          <a:prstGeom prst="rect">
            <a:avLst/>
          </a:prstGeom>
          <a:noFill/>
        </p:spPr>
        <p:txBody>
          <a:bodyPr wrap="square" lIns="0" rIns="0" tIns="0" bIns="0" anchor="ctr">
            <a:spAutoFit/>
          </a:bodyPr>
          <a:lstStyle/>
          <a:p>
            <a:pPr algn="l"/>
            <a:r>
              <a:rPr sz="1200" b="0" i="0">
                <a:solidFill>
                  <a:srgbClr val="2E2E2E"/>
                </a:solidFill>
                <a:latin typeface="Arial"/>
              </a:rPr>
              <a:t>Insight-AWP incluye plantillas: estrategia de ejecución, IWP, plan diario, informe semanal, auditoría y perfiles de puesto.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3 · CONTRATO</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AWP se exige en el contrato o no ocurre</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M3 · PREPARAR LA ORGANIZACIÓN</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030</a:t>
            </a:r>
          </a:p>
        </p:txBody>
      </p:sp>
      <p:sp>
        <p:nvSpPr>
          <p:cNvPr id="7" name="Rectangle 6"/>
          <p:cNvSpPr/>
          <p:nvPr/>
        </p:nvSpPr>
        <p:spPr>
          <a:xfrm>
            <a:off x="548640" y="1828800"/>
            <a:ext cx="2581579" cy="24688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ontract_o.png"/>
          <p:cNvPicPr>
            <a:picLocks noChangeAspect="1"/>
          </p:cNvPicPr>
          <p:nvPr/>
        </p:nvPicPr>
        <p:blipFill>
          <a:blip r:embed="rId2"/>
          <a:stretch>
            <a:fillRect/>
          </a:stretch>
        </p:blipFill>
        <p:spPr>
          <a:xfrm>
            <a:off x="822959" y="2084832"/>
            <a:ext cx="457200" cy="457200"/>
          </a:xfrm>
          <a:prstGeom prst="rect">
            <a:avLst/>
          </a:prstGeom>
        </p:spPr>
      </p:pic>
      <p:sp>
        <p:nvSpPr>
          <p:cNvPr id="9" name="TextBox 8"/>
          <p:cNvSpPr txBox="1"/>
          <p:nvPr/>
        </p:nvSpPr>
        <p:spPr>
          <a:xfrm>
            <a:off x="822959" y="2706624"/>
            <a:ext cx="2078659"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Procedimiento en la licitación</a:t>
            </a:r>
          </a:p>
        </p:txBody>
      </p:sp>
      <p:sp>
        <p:nvSpPr>
          <p:cNvPr id="10" name="TextBox 9"/>
          <p:cNvSpPr txBox="1"/>
          <p:nvPr/>
        </p:nvSpPr>
        <p:spPr>
          <a:xfrm>
            <a:off x="822959" y="3328416"/>
            <a:ext cx="2078659" cy="832103"/>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Va con la solicitud de propuesta (RFP) en todo tipo de contrato</a:t>
            </a:r>
          </a:p>
        </p:txBody>
      </p:sp>
      <p:sp>
        <p:nvSpPr>
          <p:cNvPr id="11" name="Rectangle 10"/>
          <p:cNvSpPr/>
          <p:nvPr/>
        </p:nvSpPr>
        <p:spPr>
          <a:xfrm>
            <a:off x="3386251" y="1828800"/>
            <a:ext cx="2581579" cy="24688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lipcheck_o.png"/>
          <p:cNvPicPr>
            <a:picLocks noChangeAspect="1"/>
          </p:cNvPicPr>
          <p:nvPr/>
        </p:nvPicPr>
        <p:blipFill>
          <a:blip r:embed="rId3"/>
          <a:stretch>
            <a:fillRect/>
          </a:stretch>
        </p:blipFill>
        <p:spPr>
          <a:xfrm>
            <a:off x="3660571" y="2084832"/>
            <a:ext cx="457200" cy="457200"/>
          </a:xfrm>
          <a:prstGeom prst="rect">
            <a:avLst/>
          </a:prstGeom>
        </p:spPr>
      </p:pic>
      <p:sp>
        <p:nvSpPr>
          <p:cNvPr id="13" name="TextBox 12"/>
          <p:cNvSpPr txBox="1"/>
          <p:nvPr/>
        </p:nvSpPr>
        <p:spPr>
          <a:xfrm>
            <a:off x="3660571" y="2706624"/>
            <a:ext cx="2078659"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Compromiso del postor</a:t>
            </a:r>
          </a:p>
        </p:txBody>
      </p:sp>
      <p:sp>
        <p:nvSpPr>
          <p:cNvPr id="14" name="TextBox 13"/>
          <p:cNvSpPr txBox="1"/>
          <p:nvPr/>
        </p:nvSpPr>
        <p:spPr>
          <a:xfrm>
            <a:off x="3660571" y="3328416"/>
            <a:ext cx="2078659" cy="832103"/>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La oferta declara su intención de cumplirlo</a:t>
            </a:r>
          </a:p>
        </p:txBody>
      </p:sp>
      <p:sp>
        <p:nvSpPr>
          <p:cNvPr id="15" name="Rectangle 14"/>
          <p:cNvSpPr/>
          <p:nvPr/>
        </p:nvSpPr>
        <p:spPr>
          <a:xfrm>
            <a:off x="6223863" y="1828800"/>
            <a:ext cx="2581579" cy="24688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alendar_o.png"/>
          <p:cNvPicPr>
            <a:picLocks noChangeAspect="1"/>
          </p:cNvPicPr>
          <p:nvPr/>
        </p:nvPicPr>
        <p:blipFill>
          <a:blip r:embed="rId4"/>
          <a:stretch>
            <a:fillRect/>
          </a:stretch>
        </p:blipFill>
        <p:spPr>
          <a:xfrm>
            <a:off x="6498183" y="2084832"/>
            <a:ext cx="457200" cy="457200"/>
          </a:xfrm>
          <a:prstGeom prst="rect">
            <a:avLst/>
          </a:prstGeom>
        </p:spPr>
      </p:pic>
      <p:sp>
        <p:nvSpPr>
          <p:cNvPr id="17" name="TextBox 16"/>
          <p:cNvSpPr txBox="1"/>
          <p:nvPr/>
        </p:nvSpPr>
        <p:spPr>
          <a:xfrm>
            <a:off x="6498183" y="2706624"/>
            <a:ext cx="2078659"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Cronograma a nivel 3 y 5</a:t>
            </a:r>
          </a:p>
        </p:txBody>
      </p:sp>
      <p:sp>
        <p:nvSpPr>
          <p:cNvPr id="18" name="TextBox 17"/>
          <p:cNvSpPr txBox="1"/>
          <p:nvPr/>
        </p:nvSpPr>
        <p:spPr>
          <a:xfrm>
            <a:off x="6498183" y="3328416"/>
            <a:ext cx="2078659" cy="832103"/>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CWP en el nivel 3 e IWP en el nivel 5</a:t>
            </a:r>
          </a:p>
        </p:txBody>
      </p:sp>
      <p:sp>
        <p:nvSpPr>
          <p:cNvPr id="19" name="Rectangle 18"/>
          <p:cNvSpPr/>
          <p:nvPr/>
        </p:nvSpPr>
        <p:spPr>
          <a:xfrm>
            <a:off x="9061475" y="1828800"/>
            <a:ext cx="2581579" cy="24688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tie_o.png"/>
          <p:cNvPicPr>
            <a:picLocks noChangeAspect="1"/>
          </p:cNvPicPr>
          <p:nvPr/>
        </p:nvPicPr>
        <p:blipFill>
          <a:blip r:embed="rId5"/>
          <a:stretch>
            <a:fillRect/>
          </a:stretch>
        </p:blipFill>
        <p:spPr>
          <a:xfrm>
            <a:off x="9335795" y="2084832"/>
            <a:ext cx="457200" cy="457200"/>
          </a:xfrm>
          <a:prstGeom prst="rect">
            <a:avLst/>
          </a:prstGeom>
        </p:spPr>
      </p:pic>
      <p:sp>
        <p:nvSpPr>
          <p:cNvPr id="21" name="TextBox 20"/>
          <p:cNvSpPr txBox="1"/>
          <p:nvPr/>
        </p:nvSpPr>
        <p:spPr>
          <a:xfrm>
            <a:off x="9335795" y="2706624"/>
            <a:ext cx="2078659"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Planificadores calificados</a:t>
            </a:r>
          </a:p>
        </p:txBody>
      </p:sp>
      <p:sp>
        <p:nvSpPr>
          <p:cNvPr id="22" name="TextBox 21"/>
          <p:cNvSpPr txBox="1"/>
          <p:nvPr/>
        </p:nvSpPr>
        <p:spPr>
          <a:xfrm>
            <a:off x="9335795" y="3328416"/>
            <a:ext cx="2078659" cy="832103"/>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Currículos entrevistados y aprobados por el propietario</a:t>
            </a:r>
          </a:p>
        </p:txBody>
      </p:sp>
      <p:sp>
        <p:nvSpPr>
          <p:cNvPr id="23" name="Rectangle 22"/>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flag_o.png"/>
          <p:cNvPicPr>
            <a:picLocks noChangeAspect="1"/>
          </p:cNvPicPr>
          <p:nvPr/>
        </p:nvPicPr>
        <p:blipFill>
          <a:blip r:embed="rId6"/>
          <a:stretch>
            <a:fillRect/>
          </a:stretch>
        </p:blipFill>
        <p:spPr>
          <a:xfrm>
            <a:off x="822959" y="5660136"/>
            <a:ext cx="365760" cy="365760"/>
          </a:xfrm>
          <a:prstGeom prst="rect">
            <a:avLst/>
          </a:prstGeom>
        </p:spPr>
      </p:pic>
      <p:sp>
        <p:nvSpPr>
          <p:cNvPr id="25" name="TextBox 24"/>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Incluya también los datos del modelo 3D y de los fabricantes como entregables del contrato.</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3 · SELECCIÓN DE CONTRATISTAS</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Evalúe la capacidad AWP de cada postor en una conversación, no en un papel</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M3 · PREPARAR LA ORGANIZACIÓN</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031</a:t>
            </a:r>
          </a:p>
        </p:txBody>
      </p:sp>
      <p:sp>
        <p:nvSpPr>
          <p:cNvPr id="7" name="Rectangle 6"/>
          <p:cNvSpPr/>
          <p:nvPr/>
        </p:nvSpPr>
        <p:spPr>
          <a:xfrm>
            <a:off x="548640" y="1874519"/>
            <a:ext cx="2567863"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1</a:t>
            </a:r>
          </a:p>
        </p:txBody>
      </p:sp>
      <p:pic>
        <p:nvPicPr>
          <p:cNvPr id="10" name="Picture 9" descr="listcheck_o.png"/>
          <p:cNvPicPr>
            <a:picLocks noChangeAspect="1"/>
          </p:cNvPicPr>
          <p:nvPr/>
        </p:nvPicPr>
        <p:blipFill>
          <a:blip r:embed="rId2"/>
          <a:stretch>
            <a:fillRect/>
          </a:stretch>
        </p:blipFill>
        <p:spPr>
          <a:xfrm>
            <a:off x="2458135" y="2148839"/>
            <a:ext cx="420624" cy="420624"/>
          </a:xfrm>
          <a:prstGeom prst="rect">
            <a:avLst/>
          </a:prstGeom>
        </p:spPr>
      </p:pic>
      <p:sp>
        <p:nvSpPr>
          <p:cNvPr id="11" name="TextBox 10"/>
          <p:cNvSpPr txBox="1"/>
          <p:nvPr/>
        </p:nvSpPr>
        <p:spPr>
          <a:xfrm>
            <a:off x="777240"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Aplicar la tabla de puntuación</a:t>
            </a:r>
          </a:p>
        </p:txBody>
      </p:sp>
      <p:sp>
        <p:nvSpPr>
          <p:cNvPr id="12" name="TextBox 11"/>
          <p:cNvSpPr txBox="1"/>
          <p:nvPr/>
        </p:nvSpPr>
        <p:spPr>
          <a:xfrm>
            <a:off x="777240" y="3429000"/>
            <a:ext cx="2156383"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El Champion califica cada oferta con la plantilla de evaluación</a:t>
            </a:r>
          </a:p>
        </p:txBody>
      </p:sp>
      <p:cxnSp>
        <p:nvCxnSpPr>
          <p:cNvPr id="13" name="Connector 12"/>
          <p:cNvCxnSpPr/>
          <p:nvPr/>
        </p:nvCxnSpPr>
        <p:spPr>
          <a:xfrm>
            <a:off x="3153079" y="3291839"/>
            <a:ext cx="201168"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3390823" y="1874519"/>
            <a:ext cx="2567863"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3619423"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619423"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2</a:t>
            </a:r>
          </a:p>
        </p:txBody>
      </p:sp>
      <p:pic>
        <p:nvPicPr>
          <p:cNvPr id="17" name="Picture 16" descr="comments_o.png"/>
          <p:cNvPicPr>
            <a:picLocks noChangeAspect="1"/>
          </p:cNvPicPr>
          <p:nvPr/>
        </p:nvPicPr>
        <p:blipFill>
          <a:blip r:embed="rId3"/>
          <a:stretch>
            <a:fillRect/>
          </a:stretch>
        </p:blipFill>
        <p:spPr>
          <a:xfrm>
            <a:off x="5300319" y="2148839"/>
            <a:ext cx="420624" cy="420624"/>
          </a:xfrm>
          <a:prstGeom prst="rect">
            <a:avLst/>
          </a:prstGeom>
        </p:spPr>
      </p:pic>
      <p:sp>
        <p:nvSpPr>
          <p:cNvPr id="18" name="TextBox 17"/>
          <p:cNvSpPr txBox="1"/>
          <p:nvPr/>
        </p:nvSpPr>
        <p:spPr>
          <a:xfrm>
            <a:off x="3619423"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Entrevistar al postor</a:t>
            </a:r>
          </a:p>
        </p:txBody>
      </p:sp>
      <p:sp>
        <p:nvSpPr>
          <p:cNvPr id="19" name="TextBox 18"/>
          <p:cNvSpPr txBox="1"/>
          <p:nvPr/>
        </p:nvSpPr>
        <p:spPr>
          <a:xfrm>
            <a:off x="3619423" y="3429000"/>
            <a:ext cx="2156383"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Un representante explica cómo aplicaría WFP en la obra</a:t>
            </a:r>
          </a:p>
        </p:txBody>
      </p:sp>
      <p:cxnSp>
        <p:nvCxnSpPr>
          <p:cNvPr id="20" name="Connector 19"/>
          <p:cNvCxnSpPr/>
          <p:nvPr/>
        </p:nvCxnSpPr>
        <p:spPr>
          <a:xfrm>
            <a:off x="5995263" y="3291839"/>
            <a:ext cx="201168"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233007" y="1874519"/>
            <a:ext cx="2567863"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6461607"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461607"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3</a:t>
            </a:r>
          </a:p>
        </p:txBody>
      </p:sp>
      <p:pic>
        <p:nvPicPr>
          <p:cNvPr id="24" name="Picture 23" descr="percent_o.png"/>
          <p:cNvPicPr>
            <a:picLocks noChangeAspect="1"/>
          </p:cNvPicPr>
          <p:nvPr/>
        </p:nvPicPr>
        <p:blipFill>
          <a:blip r:embed="rId4"/>
          <a:stretch>
            <a:fillRect/>
          </a:stretch>
        </p:blipFill>
        <p:spPr>
          <a:xfrm>
            <a:off x="8142503" y="2148839"/>
            <a:ext cx="420624" cy="420624"/>
          </a:xfrm>
          <a:prstGeom prst="rect">
            <a:avLst/>
          </a:prstGeom>
        </p:spPr>
      </p:pic>
      <p:sp>
        <p:nvSpPr>
          <p:cNvPr id="25" name="TextBox 24"/>
          <p:cNvSpPr txBox="1"/>
          <p:nvPr/>
        </p:nvSpPr>
        <p:spPr>
          <a:xfrm>
            <a:off x="6461607"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Calcular el puntaje</a:t>
            </a:r>
          </a:p>
        </p:txBody>
      </p:sp>
      <p:sp>
        <p:nvSpPr>
          <p:cNvPr id="26" name="TextBox 25"/>
          <p:cNvSpPr txBox="1"/>
          <p:nvPr/>
        </p:nvSpPr>
        <p:spPr>
          <a:xfrm>
            <a:off x="6461607" y="3429000"/>
            <a:ext cx="2156383"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Resultado como porcentaje del máximo alcanzable</a:t>
            </a:r>
          </a:p>
        </p:txBody>
      </p:sp>
      <p:cxnSp>
        <p:nvCxnSpPr>
          <p:cNvPr id="27" name="Connector 26"/>
          <p:cNvCxnSpPr/>
          <p:nvPr/>
        </p:nvCxnSpPr>
        <p:spPr>
          <a:xfrm>
            <a:off x="8837447" y="3291839"/>
            <a:ext cx="201168"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9075191" y="1874519"/>
            <a:ext cx="2567863"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9303791"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303791"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4</a:t>
            </a:r>
          </a:p>
        </p:txBody>
      </p:sp>
      <p:pic>
        <p:nvPicPr>
          <p:cNvPr id="31" name="Picture 30" descr="scale_o.png"/>
          <p:cNvPicPr>
            <a:picLocks noChangeAspect="1"/>
          </p:cNvPicPr>
          <p:nvPr/>
        </p:nvPicPr>
        <p:blipFill>
          <a:blip r:embed="rId5"/>
          <a:stretch>
            <a:fillRect/>
          </a:stretch>
        </p:blipFill>
        <p:spPr>
          <a:xfrm>
            <a:off x="10984687" y="2148839"/>
            <a:ext cx="420624" cy="420624"/>
          </a:xfrm>
          <a:prstGeom prst="rect">
            <a:avLst/>
          </a:prstGeom>
        </p:spPr>
      </p:pic>
      <p:sp>
        <p:nvSpPr>
          <p:cNvPr id="32" name="TextBox 31"/>
          <p:cNvSpPr txBox="1"/>
          <p:nvPr/>
        </p:nvSpPr>
        <p:spPr>
          <a:xfrm>
            <a:off x="9303791"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Integrar a la evaluación técnica</a:t>
            </a:r>
          </a:p>
        </p:txBody>
      </p:sp>
      <p:sp>
        <p:nvSpPr>
          <p:cNvPr id="33" name="TextBox 32"/>
          <p:cNvSpPr txBox="1"/>
          <p:nvPr/>
        </p:nvSpPr>
        <p:spPr>
          <a:xfrm>
            <a:off x="9303791" y="3429000"/>
            <a:ext cx="2156383"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El equipo de contratos lo pondera con el resto</a:t>
            </a:r>
          </a:p>
        </p:txBody>
      </p:sp>
      <p:sp>
        <p:nvSpPr>
          <p:cNvPr id="34" name="Rectangle 33"/>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flag_o.png"/>
          <p:cNvPicPr>
            <a:picLocks noChangeAspect="1"/>
          </p:cNvPicPr>
          <p:nvPr/>
        </p:nvPicPr>
        <p:blipFill>
          <a:blip r:embed="rId6"/>
          <a:stretch>
            <a:fillRect/>
          </a:stretch>
        </p:blipFill>
        <p:spPr>
          <a:xfrm>
            <a:off x="822959" y="5660136"/>
            <a:ext cx="365760" cy="365760"/>
          </a:xfrm>
          <a:prstGeom prst="rect">
            <a:avLst/>
          </a:prstGeom>
        </p:spPr>
      </p:pic>
      <p:sp>
        <p:nvSpPr>
          <p:cNvPr id="36" name="TextBox 35"/>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Un contratista novato dispuesto a aprender es mejor socio que un «experto» que no practica.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3 · SOFTWARE</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Elija el software WFP antes del FEED, según lo que ya usa</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M3 · PREPARAR LA ORGANIZACIÓN</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032</a:t>
            </a:r>
          </a:p>
        </p:txBody>
      </p:sp>
      <p:sp>
        <p:nvSpPr>
          <p:cNvPr id="7" name="Rectangle 6"/>
          <p:cNvSpPr/>
          <p:nvPr/>
        </p:nvSpPr>
        <p:spPr>
          <a:xfrm>
            <a:off x="548640" y="1874519"/>
            <a:ext cx="2567863"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1</a:t>
            </a:r>
          </a:p>
        </p:txBody>
      </p:sp>
      <p:pic>
        <p:nvPicPr>
          <p:cNvPr id="10" name="Picture 9" descr="search_o.png"/>
          <p:cNvPicPr>
            <a:picLocks noChangeAspect="1"/>
          </p:cNvPicPr>
          <p:nvPr/>
        </p:nvPicPr>
        <p:blipFill>
          <a:blip r:embed="rId2"/>
          <a:stretch>
            <a:fillRect/>
          </a:stretch>
        </p:blipFill>
        <p:spPr>
          <a:xfrm>
            <a:off x="2458135" y="2148839"/>
            <a:ext cx="420624" cy="420624"/>
          </a:xfrm>
          <a:prstGeom prst="rect">
            <a:avLst/>
          </a:prstGeom>
        </p:spPr>
      </p:pic>
      <p:sp>
        <p:nvSpPr>
          <p:cNvPr id="11" name="TextBox 10"/>
          <p:cNvSpPr txBox="1"/>
          <p:nvPr/>
        </p:nvSpPr>
        <p:spPr>
          <a:xfrm>
            <a:off x="777240"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Relevar los sistemas actuales</a:t>
            </a:r>
          </a:p>
        </p:txBody>
      </p:sp>
      <p:sp>
        <p:nvSpPr>
          <p:cNvPr id="12" name="TextBox 11"/>
          <p:cNvSpPr txBox="1"/>
          <p:nvPr/>
        </p:nvSpPr>
        <p:spPr>
          <a:xfrm>
            <a:off x="777240" y="3429000"/>
            <a:ext cx="2156383"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Modelo 3D, gestión de materiales y control documental</a:t>
            </a:r>
          </a:p>
        </p:txBody>
      </p:sp>
      <p:cxnSp>
        <p:nvCxnSpPr>
          <p:cNvPr id="13" name="Connector 12"/>
          <p:cNvCxnSpPr/>
          <p:nvPr/>
        </p:nvCxnSpPr>
        <p:spPr>
          <a:xfrm>
            <a:off x="3153079" y="3291839"/>
            <a:ext cx="201168"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3390823" y="1874519"/>
            <a:ext cx="2567863"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3619423"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619423"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2</a:t>
            </a:r>
          </a:p>
        </p:txBody>
      </p:sp>
      <p:pic>
        <p:nvPicPr>
          <p:cNvPr id="17" name="Picture 16" descr="listcheck_o.png"/>
          <p:cNvPicPr>
            <a:picLocks noChangeAspect="1"/>
          </p:cNvPicPr>
          <p:nvPr/>
        </p:nvPicPr>
        <p:blipFill>
          <a:blip r:embed="rId3"/>
          <a:stretch>
            <a:fillRect/>
          </a:stretch>
        </p:blipFill>
        <p:spPr>
          <a:xfrm>
            <a:off x="5300319" y="2148839"/>
            <a:ext cx="420624" cy="420624"/>
          </a:xfrm>
          <a:prstGeom prst="rect">
            <a:avLst/>
          </a:prstGeom>
        </p:spPr>
      </p:pic>
      <p:sp>
        <p:nvSpPr>
          <p:cNvPr id="18" name="TextBox 17"/>
          <p:cNvSpPr txBox="1"/>
          <p:nvPr/>
        </p:nvSpPr>
        <p:spPr>
          <a:xfrm>
            <a:off x="3619423"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Definir las necesidades</a:t>
            </a:r>
          </a:p>
        </p:txBody>
      </p:sp>
      <p:sp>
        <p:nvSpPr>
          <p:cNvPr id="19" name="TextBox 18"/>
          <p:cNvSpPr txBox="1"/>
          <p:nvPr/>
        </p:nvSpPr>
        <p:spPr>
          <a:xfrm>
            <a:off x="3619423" y="3429000"/>
            <a:ext cx="2156383"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Paquetes en 3D, valor planificado y simulación 4D</a:t>
            </a:r>
          </a:p>
        </p:txBody>
      </p:sp>
      <p:cxnSp>
        <p:nvCxnSpPr>
          <p:cNvPr id="20" name="Connector 19"/>
          <p:cNvCxnSpPr/>
          <p:nvPr/>
        </p:nvCxnSpPr>
        <p:spPr>
          <a:xfrm>
            <a:off x="5995263" y="3291839"/>
            <a:ext cx="201168"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233007" y="1874519"/>
            <a:ext cx="2567863"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6461607"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461607"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3</a:t>
            </a:r>
          </a:p>
        </p:txBody>
      </p:sp>
      <p:pic>
        <p:nvPicPr>
          <p:cNvPr id="24" name="Picture 23" descr="link_o.png"/>
          <p:cNvPicPr>
            <a:picLocks noChangeAspect="1"/>
          </p:cNvPicPr>
          <p:nvPr/>
        </p:nvPicPr>
        <p:blipFill>
          <a:blip r:embed="rId4"/>
          <a:stretch>
            <a:fillRect/>
          </a:stretch>
        </p:blipFill>
        <p:spPr>
          <a:xfrm>
            <a:off x="8142503" y="2148839"/>
            <a:ext cx="420624" cy="420624"/>
          </a:xfrm>
          <a:prstGeom prst="rect">
            <a:avLst/>
          </a:prstGeom>
        </p:spPr>
      </p:pic>
      <p:sp>
        <p:nvSpPr>
          <p:cNvPr id="25" name="TextBox 24"/>
          <p:cNvSpPr txBox="1"/>
          <p:nvPr/>
        </p:nvSpPr>
        <p:spPr>
          <a:xfrm>
            <a:off x="6461607"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Evaluar la compatibilidad</a:t>
            </a:r>
          </a:p>
        </p:txBody>
      </p:sp>
      <p:sp>
        <p:nvSpPr>
          <p:cNvPr id="26" name="TextBox 25"/>
          <p:cNvSpPr txBox="1"/>
          <p:nvPr/>
        </p:nvSpPr>
        <p:spPr>
          <a:xfrm>
            <a:off x="6461607" y="3429000"/>
            <a:ext cx="2156383"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El Champion y el Information Manager comparan productos</a:t>
            </a:r>
          </a:p>
        </p:txBody>
      </p:sp>
      <p:cxnSp>
        <p:nvCxnSpPr>
          <p:cNvPr id="27" name="Connector 26"/>
          <p:cNvCxnSpPr/>
          <p:nvPr/>
        </p:nvCxnSpPr>
        <p:spPr>
          <a:xfrm>
            <a:off x="8837447" y="3291839"/>
            <a:ext cx="201168"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9075191" y="1874519"/>
            <a:ext cx="2567863"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9303791"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303791"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4</a:t>
            </a:r>
          </a:p>
        </p:txBody>
      </p:sp>
      <p:pic>
        <p:nvPicPr>
          <p:cNvPr id="31" name="Picture 30" descr="check_o.png"/>
          <p:cNvPicPr>
            <a:picLocks noChangeAspect="1"/>
          </p:cNvPicPr>
          <p:nvPr/>
        </p:nvPicPr>
        <p:blipFill>
          <a:blip r:embed="rId5"/>
          <a:stretch>
            <a:fillRect/>
          </a:stretch>
        </p:blipFill>
        <p:spPr>
          <a:xfrm>
            <a:off x="10984687" y="2148839"/>
            <a:ext cx="420624" cy="420624"/>
          </a:xfrm>
          <a:prstGeom prst="rect">
            <a:avLst/>
          </a:prstGeom>
        </p:spPr>
      </p:pic>
      <p:sp>
        <p:nvSpPr>
          <p:cNvPr id="32" name="TextBox 31"/>
          <p:cNvSpPr txBox="1"/>
          <p:nvPr/>
        </p:nvSpPr>
        <p:spPr>
          <a:xfrm>
            <a:off x="9303791"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Seleccionar antes del FEED</a:t>
            </a:r>
          </a:p>
        </p:txBody>
      </p:sp>
      <p:sp>
        <p:nvSpPr>
          <p:cNvPr id="33" name="TextBox 32"/>
          <p:cNvSpPr txBox="1"/>
          <p:nvPr/>
        </p:nvSpPr>
        <p:spPr>
          <a:xfrm>
            <a:off x="9303791" y="3429000"/>
            <a:ext cx="2156383"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Front End Engineering Design: antes del diseño detallado</a:t>
            </a:r>
          </a:p>
        </p:txBody>
      </p:sp>
      <p:sp>
        <p:nvSpPr>
          <p:cNvPr id="34" name="Rectangle 33"/>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flag_o.png"/>
          <p:cNvPicPr>
            <a:picLocks noChangeAspect="1"/>
          </p:cNvPicPr>
          <p:nvPr/>
        </p:nvPicPr>
        <p:blipFill>
          <a:blip r:embed="rId6"/>
          <a:stretch>
            <a:fillRect/>
          </a:stretch>
        </p:blipFill>
        <p:spPr>
          <a:xfrm>
            <a:off x="822959" y="5660136"/>
            <a:ext cx="365760" cy="365760"/>
          </a:xfrm>
          <a:prstGeom prst="rect">
            <a:avLst/>
          </a:prstGeom>
        </p:spPr>
      </p:pic>
      <p:sp>
        <p:nvSpPr>
          <p:cNvPr id="36" name="TextBox 35"/>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Recuerde: </a:t>
            </a:r>
            <a:r>
              <a:rPr sz="1400" b="0" i="0">
                <a:solidFill>
                  <a:srgbClr val="FFFFFF"/>
                </a:solidFill>
                <a:latin typeface="Arial"/>
              </a:rPr>
              <a:t>primero las personas y el proceso; el software lo acelera, no lo reemplaza.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3 · NOMENCLATURA</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La WBS y la nomenclatura comunes son el idioma del proyecto</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M3 · PREPARAR LA ORGANIZACIÓN</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033</a:t>
            </a:r>
          </a:p>
        </p:txBody>
      </p:sp>
      <p:sp>
        <p:nvSpPr>
          <p:cNvPr id="7" name="Rectangle 6"/>
          <p:cNvSpPr/>
          <p:nvPr/>
        </p:nvSpPr>
        <p:spPr>
          <a:xfrm>
            <a:off x="1569567" y="1920240"/>
            <a:ext cx="1417320" cy="1005840"/>
          </a:xfrm>
          <a:prstGeom prst="rect">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569567" y="1920240"/>
            <a:ext cx="1417320" cy="1005840"/>
          </a:xfrm>
          <a:prstGeom prst="rect">
            <a:avLst/>
          </a:prstGeom>
          <a:noFill/>
        </p:spPr>
        <p:txBody>
          <a:bodyPr wrap="square" lIns="0" rIns="0" tIns="0" bIns="0" anchor="ctr">
            <a:spAutoFit/>
          </a:bodyPr>
          <a:lstStyle/>
          <a:p>
            <a:pPr algn="ctr"/>
            <a:r>
              <a:rPr sz="3400" b="1" i="0">
                <a:solidFill>
                  <a:srgbClr val="FFFFFF"/>
                </a:solidFill>
                <a:latin typeface="Courier New"/>
              </a:rPr>
              <a:t>WTF</a:t>
            </a:r>
          </a:p>
        </p:txBody>
      </p:sp>
      <p:sp>
        <p:nvSpPr>
          <p:cNvPr id="9" name="TextBox 8"/>
          <p:cNvSpPr txBox="1"/>
          <p:nvPr/>
        </p:nvSpPr>
        <p:spPr>
          <a:xfrm>
            <a:off x="2986887" y="1920240"/>
            <a:ext cx="384048" cy="1005840"/>
          </a:xfrm>
          <a:prstGeom prst="rect">
            <a:avLst/>
          </a:prstGeom>
          <a:noFill/>
        </p:spPr>
        <p:txBody>
          <a:bodyPr wrap="square" lIns="0" rIns="0" tIns="0" bIns="0" anchor="ctr">
            <a:spAutoFit/>
          </a:bodyPr>
          <a:lstStyle/>
          <a:p>
            <a:pPr algn="ctr"/>
            <a:r>
              <a:rPr sz="3000" b="1" i="0">
                <a:solidFill>
                  <a:srgbClr val="6D6E71"/>
                </a:solidFill>
                <a:latin typeface="Courier New"/>
              </a:rPr>
              <a:t>–</a:t>
            </a:r>
          </a:p>
        </p:txBody>
      </p:sp>
      <p:sp>
        <p:nvSpPr>
          <p:cNvPr id="10" name="Rectangle 9"/>
          <p:cNvSpPr/>
          <p:nvPr/>
        </p:nvSpPr>
        <p:spPr>
          <a:xfrm>
            <a:off x="3370935" y="1920240"/>
            <a:ext cx="868680" cy="1005840"/>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370935" y="1920240"/>
            <a:ext cx="868680" cy="1005840"/>
          </a:xfrm>
          <a:prstGeom prst="rect">
            <a:avLst/>
          </a:prstGeom>
          <a:noFill/>
        </p:spPr>
        <p:txBody>
          <a:bodyPr wrap="square" lIns="0" rIns="0" tIns="0" bIns="0" anchor="ctr">
            <a:spAutoFit/>
          </a:bodyPr>
          <a:lstStyle/>
          <a:p>
            <a:pPr algn="ctr"/>
            <a:r>
              <a:rPr sz="3400" b="1" i="0">
                <a:solidFill>
                  <a:srgbClr val="FFFFFF"/>
                </a:solidFill>
                <a:latin typeface="Courier New"/>
              </a:rPr>
              <a:t>I</a:t>
            </a:r>
          </a:p>
        </p:txBody>
      </p:sp>
      <p:sp>
        <p:nvSpPr>
          <p:cNvPr id="12" name="TextBox 11"/>
          <p:cNvSpPr txBox="1"/>
          <p:nvPr/>
        </p:nvSpPr>
        <p:spPr>
          <a:xfrm>
            <a:off x="4239615" y="1920240"/>
            <a:ext cx="384048" cy="1005840"/>
          </a:xfrm>
          <a:prstGeom prst="rect">
            <a:avLst/>
          </a:prstGeom>
          <a:noFill/>
        </p:spPr>
        <p:txBody>
          <a:bodyPr wrap="square" lIns="0" rIns="0" tIns="0" bIns="0" anchor="ctr">
            <a:spAutoFit/>
          </a:bodyPr>
          <a:lstStyle/>
          <a:p>
            <a:pPr algn="ctr"/>
            <a:r>
              <a:rPr sz="3000" b="1" i="0">
                <a:solidFill>
                  <a:srgbClr val="6D6E71"/>
                </a:solidFill>
                <a:latin typeface="Courier New"/>
              </a:rPr>
              <a:t>–</a:t>
            </a:r>
          </a:p>
        </p:txBody>
      </p:sp>
      <p:sp>
        <p:nvSpPr>
          <p:cNvPr id="13" name="Rectangle 12"/>
          <p:cNvSpPr/>
          <p:nvPr/>
        </p:nvSpPr>
        <p:spPr>
          <a:xfrm>
            <a:off x="4623663" y="1920240"/>
            <a:ext cx="1097280" cy="1005840"/>
          </a:xfrm>
          <a:prstGeom prst="rect">
            <a:avLst/>
          </a:prstGeom>
          <a:solidFill>
            <a:srgbClr val="CC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623663" y="1920240"/>
            <a:ext cx="1097280" cy="1005840"/>
          </a:xfrm>
          <a:prstGeom prst="rect">
            <a:avLst/>
          </a:prstGeom>
          <a:noFill/>
        </p:spPr>
        <p:txBody>
          <a:bodyPr wrap="square" lIns="0" rIns="0" tIns="0" bIns="0" anchor="ctr">
            <a:spAutoFit/>
          </a:bodyPr>
          <a:lstStyle/>
          <a:p>
            <a:pPr algn="ctr"/>
            <a:r>
              <a:rPr sz="3400" b="1" i="0">
                <a:solidFill>
                  <a:srgbClr val="FFFFFF"/>
                </a:solidFill>
                <a:latin typeface="Courier New"/>
              </a:rPr>
              <a:t>12</a:t>
            </a:r>
          </a:p>
        </p:txBody>
      </p:sp>
      <p:sp>
        <p:nvSpPr>
          <p:cNvPr id="15" name="TextBox 14"/>
          <p:cNvSpPr txBox="1"/>
          <p:nvPr/>
        </p:nvSpPr>
        <p:spPr>
          <a:xfrm>
            <a:off x="5720943" y="1920240"/>
            <a:ext cx="384048" cy="1005840"/>
          </a:xfrm>
          <a:prstGeom prst="rect">
            <a:avLst/>
          </a:prstGeom>
          <a:noFill/>
        </p:spPr>
        <p:txBody>
          <a:bodyPr wrap="square" lIns="0" rIns="0" tIns="0" bIns="0" anchor="ctr">
            <a:spAutoFit/>
          </a:bodyPr>
          <a:lstStyle/>
          <a:p>
            <a:pPr algn="ctr"/>
            <a:r>
              <a:rPr sz="3000" b="1" i="0">
                <a:solidFill>
                  <a:srgbClr val="6D6E71"/>
                </a:solidFill>
                <a:latin typeface="Courier New"/>
              </a:rPr>
              <a:t>–</a:t>
            </a:r>
          </a:p>
        </p:txBody>
      </p:sp>
      <p:sp>
        <p:nvSpPr>
          <p:cNvPr id="16" name="Rectangle 15"/>
          <p:cNvSpPr/>
          <p:nvPr/>
        </p:nvSpPr>
        <p:spPr>
          <a:xfrm>
            <a:off x="6104991" y="1920240"/>
            <a:ext cx="1234440" cy="100584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104991" y="1920240"/>
            <a:ext cx="1234440" cy="1005840"/>
          </a:xfrm>
          <a:prstGeom prst="rect">
            <a:avLst/>
          </a:prstGeom>
          <a:noFill/>
        </p:spPr>
        <p:txBody>
          <a:bodyPr wrap="square" lIns="0" rIns="0" tIns="0" bIns="0" anchor="ctr">
            <a:spAutoFit/>
          </a:bodyPr>
          <a:lstStyle/>
          <a:p>
            <a:pPr algn="ctr"/>
            <a:r>
              <a:rPr sz="3400" b="1" i="0">
                <a:solidFill>
                  <a:srgbClr val="FFFFFF"/>
                </a:solidFill>
                <a:latin typeface="Courier New"/>
              </a:rPr>
              <a:t>E4</a:t>
            </a:r>
          </a:p>
        </p:txBody>
      </p:sp>
      <p:sp>
        <p:nvSpPr>
          <p:cNvPr id="18" name="TextBox 17"/>
          <p:cNvSpPr txBox="1"/>
          <p:nvPr/>
        </p:nvSpPr>
        <p:spPr>
          <a:xfrm>
            <a:off x="7339431" y="1920240"/>
            <a:ext cx="384048" cy="1005840"/>
          </a:xfrm>
          <a:prstGeom prst="rect">
            <a:avLst/>
          </a:prstGeom>
          <a:noFill/>
        </p:spPr>
        <p:txBody>
          <a:bodyPr wrap="square" lIns="0" rIns="0" tIns="0" bIns="0" anchor="ctr">
            <a:spAutoFit/>
          </a:bodyPr>
          <a:lstStyle/>
          <a:p>
            <a:pPr algn="ctr"/>
            <a:r>
              <a:rPr sz="3000" b="1" i="0">
                <a:solidFill>
                  <a:srgbClr val="6D6E71"/>
                </a:solidFill>
                <a:latin typeface="Courier New"/>
              </a:rPr>
              <a:t>–</a:t>
            </a:r>
          </a:p>
        </p:txBody>
      </p:sp>
      <p:sp>
        <p:nvSpPr>
          <p:cNvPr id="19" name="Rectangle 18"/>
          <p:cNvSpPr/>
          <p:nvPr/>
        </p:nvSpPr>
        <p:spPr>
          <a:xfrm>
            <a:off x="7723479" y="1920240"/>
            <a:ext cx="1417320" cy="1005840"/>
          </a:xfrm>
          <a:prstGeom prst="rect">
            <a:avLst/>
          </a:prstGeom>
          <a:solidFill>
            <a:srgbClr val="FF99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723479" y="1920240"/>
            <a:ext cx="1417320" cy="1005840"/>
          </a:xfrm>
          <a:prstGeom prst="rect">
            <a:avLst/>
          </a:prstGeom>
          <a:noFill/>
        </p:spPr>
        <p:txBody>
          <a:bodyPr wrap="square" lIns="0" rIns="0" tIns="0" bIns="0" anchor="ctr">
            <a:spAutoFit/>
          </a:bodyPr>
          <a:lstStyle/>
          <a:p>
            <a:pPr algn="ctr"/>
            <a:r>
              <a:rPr sz="3400" b="1" i="0">
                <a:solidFill>
                  <a:srgbClr val="FFFFFF"/>
                </a:solidFill>
                <a:latin typeface="Courier New"/>
              </a:rPr>
              <a:t>C05</a:t>
            </a:r>
          </a:p>
        </p:txBody>
      </p:sp>
      <p:sp>
        <p:nvSpPr>
          <p:cNvPr id="21" name="TextBox 20"/>
          <p:cNvSpPr txBox="1"/>
          <p:nvPr/>
        </p:nvSpPr>
        <p:spPr>
          <a:xfrm>
            <a:off x="9140799" y="1920240"/>
            <a:ext cx="384048" cy="1005840"/>
          </a:xfrm>
          <a:prstGeom prst="rect">
            <a:avLst/>
          </a:prstGeom>
          <a:noFill/>
        </p:spPr>
        <p:txBody>
          <a:bodyPr wrap="square" lIns="0" rIns="0" tIns="0" bIns="0" anchor="ctr">
            <a:spAutoFit/>
          </a:bodyPr>
          <a:lstStyle/>
          <a:p>
            <a:pPr algn="ctr"/>
            <a:r>
              <a:rPr sz="3000" b="1" i="0">
                <a:solidFill>
                  <a:srgbClr val="6D6E71"/>
                </a:solidFill>
                <a:latin typeface="Courier New"/>
              </a:rPr>
              <a:t>–</a:t>
            </a:r>
          </a:p>
        </p:txBody>
      </p:sp>
      <p:sp>
        <p:nvSpPr>
          <p:cNvPr id="22" name="Rectangle 21"/>
          <p:cNvSpPr/>
          <p:nvPr/>
        </p:nvSpPr>
        <p:spPr>
          <a:xfrm>
            <a:off x="9524847" y="1920240"/>
            <a:ext cx="1097280" cy="1005840"/>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524847" y="1920240"/>
            <a:ext cx="1097280" cy="1005840"/>
          </a:xfrm>
          <a:prstGeom prst="rect">
            <a:avLst/>
          </a:prstGeom>
          <a:noFill/>
        </p:spPr>
        <p:txBody>
          <a:bodyPr wrap="square" lIns="0" rIns="0" tIns="0" bIns="0" anchor="ctr">
            <a:spAutoFit/>
          </a:bodyPr>
          <a:lstStyle/>
          <a:p>
            <a:pPr algn="ctr"/>
            <a:r>
              <a:rPr sz="3400" b="1" i="0">
                <a:solidFill>
                  <a:srgbClr val="FFFFFF"/>
                </a:solidFill>
                <a:latin typeface="Courier New"/>
              </a:rPr>
              <a:t>14</a:t>
            </a:r>
          </a:p>
        </p:txBody>
      </p:sp>
      <p:cxnSp>
        <p:nvCxnSpPr>
          <p:cNvPr id="24" name="Connector 23"/>
          <p:cNvCxnSpPr/>
          <p:nvPr/>
        </p:nvCxnSpPr>
        <p:spPr>
          <a:xfrm>
            <a:off x="2278227" y="2926080"/>
            <a:ext cx="0" cy="320040"/>
          </a:xfrm>
          <a:prstGeom prst="line">
            <a:avLst/>
          </a:prstGeom>
          <a:ln w="19050">
            <a:solidFill>
              <a:srgbClr val="003087"/>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89507" y="3291840"/>
            <a:ext cx="2377440" cy="822960"/>
          </a:xfrm>
          <a:prstGeom prst="rect">
            <a:avLst/>
          </a:prstGeom>
          <a:noFill/>
        </p:spPr>
        <p:txBody>
          <a:bodyPr wrap="square" lIns="0" rIns="0" tIns="0" bIns="0" anchor="t">
            <a:spAutoFit/>
          </a:bodyPr>
          <a:lstStyle/>
          <a:p>
            <a:pPr algn="ctr">
              <a:lnSpc>
                <a:spcPct val="100000"/>
              </a:lnSpc>
            </a:pPr>
            <a:r>
              <a:rPr sz="1300" b="1" i="0">
                <a:solidFill>
                  <a:srgbClr val="1A1A1A"/>
                </a:solidFill>
                <a:latin typeface="Arial"/>
              </a:rPr>
              <a:t>Planta</a:t>
            </a:r>
          </a:p>
          <a:p>
            <a:pPr algn="ctr">
              <a:lnSpc>
                <a:spcPct val="100000"/>
              </a:lnSpc>
            </a:pPr>
            <a:r>
              <a:rPr sz="1100" b="0" i="0">
                <a:solidFill>
                  <a:srgbClr val="6D6E71"/>
                </a:solidFill>
                <a:latin typeface="Arial"/>
              </a:rPr>
              <a:t>Water Treatment Facility</a:t>
            </a:r>
          </a:p>
        </p:txBody>
      </p:sp>
      <p:cxnSp>
        <p:nvCxnSpPr>
          <p:cNvPr id="26" name="Connector 25"/>
          <p:cNvCxnSpPr/>
          <p:nvPr/>
        </p:nvCxnSpPr>
        <p:spPr>
          <a:xfrm>
            <a:off x="3805275" y="2926080"/>
            <a:ext cx="0" cy="1097280"/>
          </a:xfrm>
          <a:prstGeom prst="line">
            <a:avLst/>
          </a:prstGeom>
          <a:ln w="19050">
            <a:solidFill>
              <a:srgbClr val="005A9C"/>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2616555" y="4069080"/>
            <a:ext cx="2377440" cy="822960"/>
          </a:xfrm>
          <a:prstGeom prst="rect">
            <a:avLst/>
          </a:prstGeom>
          <a:noFill/>
        </p:spPr>
        <p:txBody>
          <a:bodyPr wrap="square" lIns="0" rIns="0" tIns="0" bIns="0" anchor="t">
            <a:spAutoFit/>
          </a:bodyPr>
          <a:lstStyle/>
          <a:p>
            <a:pPr algn="ctr">
              <a:lnSpc>
                <a:spcPct val="100000"/>
              </a:lnSpc>
            </a:pPr>
            <a:r>
              <a:rPr sz="1300" b="1" i="0">
                <a:solidFill>
                  <a:srgbClr val="1A1A1A"/>
                </a:solidFill>
                <a:latin typeface="Arial"/>
              </a:rPr>
              <a:t>Zona</a:t>
            </a:r>
          </a:p>
          <a:p>
            <a:pPr algn="ctr">
              <a:lnSpc>
                <a:spcPct val="100000"/>
              </a:lnSpc>
            </a:pPr>
            <a:r>
              <a:rPr sz="1100" b="0" i="0">
                <a:solidFill>
                  <a:srgbClr val="6D6E71"/>
                </a:solidFill>
                <a:latin typeface="Arial"/>
              </a:rPr>
              <a:t>I = ISBL · O = OSBL</a:t>
            </a:r>
          </a:p>
        </p:txBody>
      </p:sp>
      <p:cxnSp>
        <p:nvCxnSpPr>
          <p:cNvPr id="28" name="Connector 27"/>
          <p:cNvCxnSpPr/>
          <p:nvPr/>
        </p:nvCxnSpPr>
        <p:spPr>
          <a:xfrm>
            <a:off x="5172303" y="2926080"/>
            <a:ext cx="0" cy="320040"/>
          </a:xfrm>
          <a:prstGeom prst="line">
            <a:avLst/>
          </a:prstGeom>
          <a:ln w="19050">
            <a:solidFill>
              <a:srgbClr val="CC44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983583" y="3291840"/>
            <a:ext cx="2377440" cy="822960"/>
          </a:xfrm>
          <a:prstGeom prst="rect">
            <a:avLst/>
          </a:prstGeom>
          <a:noFill/>
        </p:spPr>
        <p:txBody>
          <a:bodyPr wrap="square" lIns="0" rIns="0" tIns="0" bIns="0" anchor="t">
            <a:spAutoFit/>
          </a:bodyPr>
          <a:lstStyle/>
          <a:p>
            <a:pPr algn="ctr">
              <a:lnSpc>
                <a:spcPct val="100000"/>
              </a:lnSpc>
            </a:pPr>
            <a:r>
              <a:rPr sz="1300" b="1" i="0">
                <a:solidFill>
                  <a:srgbClr val="1A1A1A"/>
                </a:solidFill>
                <a:latin typeface="Arial"/>
              </a:rPr>
              <a:t>CWA</a:t>
            </a:r>
          </a:p>
          <a:p>
            <a:pPr algn="ctr">
              <a:lnSpc>
                <a:spcPct val="100000"/>
              </a:lnSpc>
            </a:pPr>
            <a:r>
              <a:rPr sz="1100" b="0" i="0">
                <a:solidFill>
                  <a:srgbClr val="6D6E71"/>
                </a:solidFill>
                <a:latin typeface="Arial"/>
              </a:rPr>
              <a:t>Área de construcción</a:t>
            </a:r>
          </a:p>
        </p:txBody>
      </p:sp>
      <p:cxnSp>
        <p:nvCxnSpPr>
          <p:cNvPr id="30" name="Connector 29"/>
          <p:cNvCxnSpPr/>
          <p:nvPr/>
        </p:nvCxnSpPr>
        <p:spPr>
          <a:xfrm>
            <a:off x="6722211" y="2926080"/>
            <a:ext cx="0" cy="1097280"/>
          </a:xfrm>
          <a:prstGeom prst="line">
            <a:avLst/>
          </a:prstGeom>
          <a:ln w="19050">
            <a:solidFill>
              <a:srgbClr val="FF660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533491" y="4069080"/>
            <a:ext cx="2377440" cy="822960"/>
          </a:xfrm>
          <a:prstGeom prst="rect">
            <a:avLst/>
          </a:prstGeom>
          <a:noFill/>
        </p:spPr>
        <p:txBody>
          <a:bodyPr wrap="square" lIns="0" rIns="0" tIns="0" bIns="0" anchor="t">
            <a:spAutoFit/>
          </a:bodyPr>
          <a:lstStyle/>
          <a:p>
            <a:pPr algn="ctr">
              <a:lnSpc>
                <a:spcPct val="100000"/>
              </a:lnSpc>
            </a:pPr>
            <a:r>
              <a:rPr sz="1300" b="1" i="0">
                <a:solidFill>
                  <a:srgbClr val="1A1A1A"/>
                </a:solidFill>
                <a:latin typeface="Arial"/>
              </a:rPr>
              <a:t>Disciplina</a:t>
            </a:r>
          </a:p>
          <a:p>
            <a:pPr algn="ctr">
              <a:lnSpc>
                <a:spcPct val="100000"/>
              </a:lnSpc>
            </a:pPr>
            <a:r>
              <a:rPr sz="1100" b="0" i="0">
                <a:solidFill>
                  <a:srgbClr val="6D6E71"/>
                </a:solidFill>
                <a:latin typeface="Arial"/>
              </a:rPr>
              <a:t>E = movimiento de tierras · 4 = excavación</a:t>
            </a:r>
          </a:p>
        </p:txBody>
      </p:sp>
      <p:cxnSp>
        <p:nvCxnSpPr>
          <p:cNvPr id="32" name="Connector 31"/>
          <p:cNvCxnSpPr/>
          <p:nvPr/>
        </p:nvCxnSpPr>
        <p:spPr>
          <a:xfrm>
            <a:off x="8432139" y="2926080"/>
            <a:ext cx="0" cy="320040"/>
          </a:xfrm>
          <a:prstGeom prst="line">
            <a:avLst/>
          </a:prstGeom>
          <a:ln w="19050">
            <a:solidFill>
              <a:srgbClr val="FF9955"/>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243419" y="3291840"/>
            <a:ext cx="2377440" cy="822960"/>
          </a:xfrm>
          <a:prstGeom prst="rect">
            <a:avLst/>
          </a:prstGeom>
          <a:noFill/>
        </p:spPr>
        <p:txBody>
          <a:bodyPr wrap="square" lIns="0" rIns="0" tIns="0" bIns="0" anchor="t">
            <a:spAutoFit/>
          </a:bodyPr>
          <a:lstStyle/>
          <a:p>
            <a:pPr algn="ctr">
              <a:lnSpc>
                <a:spcPct val="100000"/>
              </a:lnSpc>
            </a:pPr>
            <a:r>
              <a:rPr sz="1300" b="1" i="0">
                <a:solidFill>
                  <a:srgbClr val="1A1A1A"/>
                </a:solidFill>
                <a:latin typeface="Arial"/>
              </a:rPr>
              <a:t>Paquete</a:t>
            </a:r>
          </a:p>
          <a:p>
            <a:pPr algn="ctr">
              <a:lnSpc>
                <a:spcPct val="100000"/>
              </a:lnSpc>
            </a:pPr>
            <a:r>
              <a:rPr sz="1100" b="0" i="0">
                <a:solidFill>
                  <a:srgbClr val="6D6E71"/>
                </a:solidFill>
                <a:latin typeface="Arial"/>
              </a:rPr>
              <a:t>C = CWP (E, M, F, P = otros paquetes)</a:t>
            </a:r>
          </a:p>
        </p:txBody>
      </p:sp>
      <p:cxnSp>
        <p:nvCxnSpPr>
          <p:cNvPr id="34" name="Connector 33"/>
          <p:cNvCxnSpPr/>
          <p:nvPr/>
        </p:nvCxnSpPr>
        <p:spPr>
          <a:xfrm>
            <a:off x="10073487" y="2926080"/>
            <a:ext cx="0" cy="1097280"/>
          </a:xfrm>
          <a:prstGeom prst="line">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884767" y="4069080"/>
            <a:ext cx="2377440" cy="822960"/>
          </a:xfrm>
          <a:prstGeom prst="rect">
            <a:avLst/>
          </a:prstGeom>
          <a:noFill/>
        </p:spPr>
        <p:txBody>
          <a:bodyPr wrap="square" lIns="0" rIns="0" tIns="0" bIns="0" anchor="t">
            <a:spAutoFit/>
          </a:bodyPr>
          <a:lstStyle/>
          <a:p>
            <a:pPr algn="ctr">
              <a:lnSpc>
                <a:spcPct val="100000"/>
              </a:lnSpc>
            </a:pPr>
            <a:r>
              <a:rPr sz="1300" b="1" i="0">
                <a:solidFill>
                  <a:srgbClr val="1A1A1A"/>
                </a:solidFill>
                <a:latin typeface="Arial"/>
              </a:rPr>
              <a:t>IWP</a:t>
            </a:r>
          </a:p>
          <a:p>
            <a:pPr algn="ctr">
              <a:lnSpc>
                <a:spcPct val="100000"/>
              </a:lnSpc>
            </a:pPr>
            <a:r>
              <a:rPr sz="1100" b="0" i="0">
                <a:solidFill>
                  <a:srgbClr val="6D6E71"/>
                </a:solidFill>
                <a:latin typeface="Arial"/>
              </a:rPr>
              <a:t>Paquete de instalación, plano o spool</a:t>
            </a:r>
          </a:p>
        </p:txBody>
      </p:sp>
      <p:sp>
        <p:nvSpPr>
          <p:cNvPr id="36" name="Rectangle 35"/>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flag_o.png"/>
          <p:cNvPicPr>
            <a:picLocks noChangeAspect="1"/>
          </p:cNvPicPr>
          <p:nvPr/>
        </p:nvPicPr>
        <p:blipFill>
          <a:blip r:embed="rId2"/>
          <a:stretch>
            <a:fillRect/>
          </a:stretch>
        </p:blipFill>
        <p:spPr>
          <a:xfrm>
            <a:off x="822959" y="5660136"/>
            <a:ext cx="365760" cy="365760"/>
          </a:xfrm>
          <a:prstGeom prst="rect">
            <a:avLst/>
          </a:prstGeom>
        </p:spPr>
      </p:pic>
      <p:sp>
        <p:nvSpPr>
          <p:cNvPr id="38" name="TextBox 37"/>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El mismo código identifica componentes, planos, spools, actividades, códigos de costo y paquetes.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3 · ARRANQUE</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Arranque con un kick-off AWP y un registro de lecciones aprendidas</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M3 · PREPARAR LA ORGANIZACIÓN</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034</a:t>
            </a:r>
          </a:p>
        </p:txBody>
      </p:sp>
      <p:sp>
        <p:nvSpPr>
          <p:cNvPr id="7" name="Rectangle 6"/>
          <p:cNvSpPr/>
          <p:nvPr/>
        </p:nvSpPr>
        <p:spPr>
          <a:xfrm>
            <a:off x="548640" y="1874519"/>
            <a:ext cx="2567863"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1</a:t>
            </a:r>
          </a:p>
        </p:txBody>
      </p:sp>
      <p:pic>
        <p:nvPicPr>
          <p:cNvPr id="10" name="Picture 9" descr="calendar_o.png"/>
          <p:cNvPicPr>
            <a:picLocks noChangeAspect="1"/>
          </p:cNvPicPr>
          <p:nvPr/>
        </p:nvPicPr>
        <p:blipFill>
          <a:blip r:embed="rId2"/>
          <a:stretch>
            <a:fillRect/>
          </a:stretch>
        </p:blipFill>
        <p:spPr>
          <a:xfrm>
            <a:off x="2458135" y="2148839"/>
            <a:ext cx="420624" cy="420624"/>
          </a:xfrm>
          <a:prstGeom prst="rect">
            <a:avLst/>
          </a:prstGeom>
        </p:spPr>
      </p:pic>
      <p:sp>
        <p:nvSpPr>
          <p:cNvPr id="11" name="TextBox 10"/>
          <p:cNvSpPr txBox="1"/>
          <p:nvPr/>
        </p:nvSpPr>
        <p:spPr>
          <a:xfrm>
            <a:off x="777240"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Dentro de 30 días</a:t>
            </a:r>
          </a:p>
        </p:txBody>
      </p:sp>
      <p:sp>
        <p:nvSpPr>
          <p:cNvPr id="12" name="TextBox 11"/>
          <p:cNvSpPr txBox="1"/>
          <p:nvPr/>
        </p:nvSpPr>
        <p:spPr>
          <a:xfrm>
            <a:off x="777240" y="3429000"/>
            <a:ext cx="2156383"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Seminario de un día tras la adjudicación del contrato</a:t>
            </a:r>
          </a:p>
        </p:txBody>
      </p:sp>
      <p:cxnSp>
        <p:nvCxnSpPr>
          <p:cNvPr id="13" name="Connector 12"/>
          <p:cNvCxnSpPr/>
          <p:nvPr/>
        </p:nvCxnSpPr>
        <p:spPr>
          <a:xfrm>
            <a:off x="3153079" y="3291839"/>
            <a:ext cx="201168"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3390823" y="1874519"/>
            <a:ext cx="2567863"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3619423"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619423"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2</a:t>
            </a:r>
          </a:p>
        </p:txBody>
      </p:sp>
      <p:pic>
        <p:nvPicPr>
          <p:cNvPr id="17" name="Picture 16" descr="teach_o.png"/>
          <p:cNvPicPr>
            <a:picLocks noChangeAspect="1"/>
          </p:cNvPicPr>
          <p:nvPr/>
        </p:nvPicPr>
        <p:blipFill>
          <a:blip r:embed="rId3"/>
          <a:stretch>
            <a:fillRect/>
          </a:stretch>
        </p:blipFill>
        <p:spPr>
          <a:xfrm>
            <a:off x="5300319" y="2148839"/>
            <a:ext cx="420624" cy="420624"/>
          </a:xfrm>
          <a:prstGeom prst="rect">
            <a:avLst/>
          </a:prstGeom>
        </p:spPr>
      </p:pic>
      <p:sp>
        <p:nvSpPr>
          <p:cNvPr id="18" name="TextBox 17"/>
          <p:cNvSpPr txBox="1"/>
          <p:nvPr/>
        </p:nvSpPr>
        <p:spPr>
          <a:xfrm>
            <a:off x="3619423"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Mañana: capacitación</a:t>
            </a:r>
          </a:p>
        </p:txBody>
      </p:sp>
      <p:sp>
        <p:nvSpPr>
          <p:cNvPr id="19" name="TextBox 18"/>
          <p:cNvSpPr txBox="1"/>
          <p:nvPr/>
        </p:nvSpPr>
        <p:spPr>
          <a:xfrm>
            <a:off x="3619423" y="3429000"/>
            <a:ext cx="2156383"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Conceptos, entregables e interdependencias de AWP, IM y WFP</a:t>
            </a:r>
          </a:p>
        </p:txBody>
      </p:sp>
      <p:cxnSp>
        <p:nvCxnSpPr>
          <p:cNvPr id="20" name="Connector 19"/>
          <p:cNvCxnSpPr/>
          <p:nvPr/>
        </p:nvCxnSpPr>
        <p:spPr>
          <a:xfrm>
            <a:off x="5995263" y="3291839"/>
            <a:ext cx="201168"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233007" y="1874519"/>
            <a:ext cx="2567863"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6461607"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461607"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3</a:t>
            </a:r>
          </a:p>
        </p:txBody>
      </p:sp>
      <p:pic>
        <p:nvPicPr>
          <p:cNvPr id="24" name="Picture 23" descr="bulb_o.png"/>
          <p:cNvPicPr>
            <a:picLocks noChangeAspect="1"/>
          </p:cNvPicPr>
          <p:nvPr/>
        </p:nvPicPr>
        <p:blipFill>
          <a:blip r:embed="rId4"/>
          <a:stretch>
            <a:fillRect/>
          </a:stretch>
        </p:blipFill>
        <p:spPr>
          <a:xfrm>
            <a:off x="8142503" y="2148839"/>
            <a:ext cx="420624" cy="420624"/>
          </a:xfrm>
          <a:prstGeom prst="rect">
            <a:avLst/>
          </a:prstGeom>
        </p:spPr>
      </p:pic>
      <p:sp>
        <p:nvSpPr>
          <p:cNvPr id="25" name="TextBox 24"/>
          <p:cNvSpPr txBox="1"/>
          <p:nvPr/>
        </p:nvSpPr>
        <p:spPr>
          <a:xfrm>
            <a:off x="6461607"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Tarde: lecciones</a:t>
            </a:r>
          </a:p>
        </p:txBody>
      </p:sp>
      <p:sp>
        <p:nvSpPr>
          <p:cNvPr id="26" name="TextBox 25"/>
          <p:cNvSpPr txBox="1"/>
          <p:nvPr/>
        </p:nvSpPr>
        <p:spPr>
          <a:xfrm>
            <a:off x="6461607" y="3429000"/>
            <a:ext cx="2156383"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Experiencias de otros proyectos y registro abierto a todos</a:t>
            </a:r>
          </a:p>
        </p:txBody>
      </p:sp>
      <p:cxnSp>
        <p:nvCxnSpPr>
          <p:cNvPr id="27" name="Connector 26"/>
          <p:cNvCxnSpPr/>
          <p:nvPr/>
        </p:nvCxnSpPr>
        <p:spPr>
          <a:xfrm>
            <a:off x="8837447" y="3291839"/>
            <a:ext cx="201168"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9075191" y="1874519"/>
            <a:ext cx="2567863"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9303791"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303791"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4</a:t>
            </a:r>
          </a:p>
        </p:txBody>
      </p:sp>
      <p:pic>
        <p:nvPicPr>
          <p:cNvPr id="31" name="Picture 30" descr="group_o.png"/>
          <p:cNvPicPr>
            <a:picLocks noChangeAspect="1"/>
          </p:cNvPicPr>
          <p:nvPr/>
        </p:nvPicPr>
        <p:blipFill>
          <a:blip r:embed="rId5"/>
          <a:stretch>
            <a:fillRect/>
          </a:stretch>
        </p:blipFill>
        <p:spPr>
          <a:xfrm>
            <a:off x="10984687" y="2148839"/>
            <a:ext cx="420624" cy="420624"/>
          </a:xfrm>
          <a:prstGeom prst="rect">
            <a:avLst/>
          </a:prstGeom>
        </p:spPr>
      </p:pic>
      <p:sp>
        <p:nvSpPr>
          <p:cNvPr id="32" name="TextBox 31"/>
          <p:cNvSpPr txBox="1"/>
          <p:nvPr/>
        </p:nvSpPr>
        <p:spPr>
          <a:xfrm>
            <a:off x="9303791"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Comité de dirección</a:t>
            </a:r>
          </a:p>
        </p:txBody>
      </p:sp>
      <p:sp>
        <p:nvSpPr>
          <p:cNvPr id="33" name="TextBox 32"/>
          <p:cNvSpPr txBox="1"/>
          <p:nvPr/>
        </p:nvSpPr>
        <p:spPr>
          <a:xfrm>
            <a:off x="9303791" y="3429000"/>
            <a:ext cx="2156383"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Representantes de cada actor; reunión mensual</a:t>
            </a:r>
          </a:p>
        </p:txBody>
      </p:sp>
      <p:sp>
        <p:nvSpPr>
          <p:cNvPr id="34" name="Rectangle 33"/>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flag_o.png"/>
          <p:cNvPicPr>
            <a:picLocks noChangeAspect="1"/>
          </p:cNvPicPr>
          <p:nvPr/>
        </p:nvPicPr>
        <p:blipFill>
          <a:blip r:embed="rId6"/>
          <a:stretch>
            <a:fillRect/>
          </a:stretch>
        </p:blipFill>
        <p:spPr>
          <a:xfrm>
            <a:off x="822959" y="5660136"/>
            <a:ext cx="365760" cy="365760"/>
          </a:xfrm>
          <a:prstGeom prst="rect">
            <a:avLst/>
          </a:prstGeom>
        </p:spPr>
      </p:pic>
      <p:sp>
        <p:nvSpPr>
          <p:cNvPr id="36" name="TextBox 35"/>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El Champion consolida el registro de lecciones y lo difunde en todo el proyecto.</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097280"/>
            <a:ext cx="3657600" cy="2194560"/>
          </a:xfrm>
          <a:prstGeom prst="rect">
            <a:avLst/>
          </a:prstGeom>
          <a:noFill/>
        </p:spPr>
        <p:txBody>
          <a:bodyPr wrap="square" lIns="0" rIns="0" tIns="0" bIns="0" anchor="t">
            <a:spAutoFit/>
          </a:bodyPr>
          <a:lstStyle/>
          <a:p>
            <a:pPr algn="l"/>
            <a:r>
              <a:rPr sz="15000" b="1" i="0">
                <a:solidFill>
                  <a:srgbClr val="FF6600"/>
                </a:solidFill>
                <a:latin typeface="Arial"/>
              </a:rPr>
              <a:t>04</a:t>
            </a:r>
          </a:p>
        </p:txBody>
      </p:sp>
      <p:sp>
        <p:nvSpPr>
          <p:cNvPr id="4" name="TextBox 3"/>
          <p:cNvSpPr txBox="1"/>
          <p:nvPr/>
        </p:nvSpPr>
        <p:spPr>
          <a:xfrm>
            <a:off x="4160520" y="1481328"/>
            <a:ext cx="7498079" cy="274320"/>
          </a:xfrm>
          <a:prstGeom prst="rect">
            <a:avLst/>
          </a:prstGeom>
          <a:noFill/>
        </p:spPr>
        <p:txBody>
          <a:bodyPr wrap="square" lIns="0" rIns="0" tIns="0" bIns="0" anchor="t">
            <a:spAutoFit/>
          </a:bodyPr>
          <a:lstStyle/>
          <a:p>
            <a:pPr algn="l"/>
            <a:r>
              <a:rPr sz="1200" b="1" i="0" spc="300">
                <a:solidFill>
                  <a:srgbClr val="FF6600"/>
                </a:solidFill>
                <a:latin typeface="Arial"/>
              </a:rPr>
              <a:t>MÓDULO 4 · FASE 1: PLANIFICACIÓN PRELIMINAR</a:t>
            </a:r>
          </a:p>
        </p:txBody>
      </p:sp>
      <p:sp>
        <p:nvSpPr>
          <p:cNvPr id="5" name="Título"/>
          <p:cNvSpPr txBox="1"/>
          <p:nvPr/>
        </p:nvSpPr>
        <p:spPr>
          <a:xfrm>
            <a:off x="4160520" y="1874519"/>
            <a:ext cx="7452360" cy="1508760"/>
          </a:xfrm>
          <a:prstGeom prst="rect">
            <a:avLst/>
          </a:prstGeom>
          <a:noFill/>
        </p:spPr>
        <p:txBody>
          <a:bodyPr wrap="square" lIns="0" rIns="0" tIns="0" bIns="0" anchor="t">
            <a:spAutoFit/>
          </a:bodyPr>
          <a:lstStyle/>
          <a:p>
            <a:pPr algn="l">
              <a:lnSpc>
                <a:spcPct val="95000"/>
              </a:lnSpc>
            </a:pPr>
            <a:r>
              <a:rPr sz="3600" b="1" i="0">
                <a:solidFill>
                  <a:srgbClr val="FFFFFF"/>
                </a:solidFill>
                <a:latin typeface="Arial"/>
              </a:rPr>
              <a:t>En FEL 2 se decide cómo se construirá la planta</a:t>
            </a:r>
          </a:p>
        </p:txBody>
      </p:sp>
      <p:sp>
        <p:nvSpPr>
          <p:cNvPr id="6" name="TextBox 5"/>
          <p:cNvSpPr txBox="1"/>
          <p:nvPr/>
        </p:nvSpPr>
        <p:spPr>
          <a:xfrm>
            <a:off x="4160520" y="3474720"/>
            <a:ext cx="7406640" cy="685800"/>
          </a:xfrm>
          <a:prstGeom prst="rect">
            <a:avLst/>
          </a:prstGeom>
          <a:noFill/>
        </p:spPr>
        <p:txBody>
          <a:bodyPr wrap="square" lIns="0" rIns="0" tIns="0" bIns="0" anchor="t">
            <a:spAutoFit/>
          </a:bodyPr>
          <a:lstStyle/>
          <a:p>
            <a:pPr algn="l">
              <a:lnSpc>
                <a:spcPct val="110000"/>
              </a:lnSpc>
            </a:pPr>
            <a:r>
              <a:rPr sz="1500" b="0" i="0">
                <a:solidFill>
                  <a:srgbClr val="BCBEC0"/>
                </a:solidFill>
                <a:latin typeface="Arial"/>
              </a:rPr>
              <a:t>Áreas de construcción, Path of Construction, talleres de planificación y plan de liberación de paquetes.</a:t>
            </a:r>
          </a:p>
        </p:txBody>
      </p:sp>
      <p:sp>
        <p:nvSpPr>
          <p:cNvPr id="7" name="Rectangle 6"/>
          <p:cNvSpPr/>
          <p:nvPr/>
        </p:nvSpPr>
        <p:spPr>
          <a:xfrm>
            <a:off x="548640" y="4892040"/>
            <a:ext cx="2606040" cy="86868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5047488"/>
            <a:ext cx="2240280" cy="228600"/>
          </a:xfrm>
          <a:prstGeom prst="rect">
            <a:avLst/>
          </a:prstGeom>
          <a:noFill/>
        </p:spPr>
        <p:txBody>
          <a:bodyPr wrap="square" lIns="0" rIns="0" tIns="0" bIns="0" anchor="t">
            <a:spAutoFit/>
          </a:bodyPr>
          <a:lstStyle/>
          <a:p>
            <a:pPr algn="l"/>
            <a:r>
              <a:rPr sz="1000" b="1" i="0" spc="200">
                <a:solidFill>
                  <a:srgbClr val="FFFFFF"/>
                </a:solidFill>
                <a:latin typeface="Arial"/>
              </a:rPr>
              <a:t>FASE 1</a:t>
            </a:r>
          </a:p>
        </p:txBody>
      </p:sp>
      <p:sp>
        <p:nvSpPr>
          <p:cNvPr id="9" name="TextBox 8"/>
          <p:cNvSpPr txBox="1"/>
          <p:nvPr/>
        </p:nvSpPr>
        <p:spPr>
          <a:xfrm>
            <a:off x="777240" y="5321807"/>
            <a:ext cx="2240280" cy="274320"/>
          </a:xfrm>
          <a:prstGeom prst="rect">
            <a:avLst/>
          </a:prstGeom>
          <a:noFill/>
        </p:spPr>
        <p:txBody>
          <a:bodyPr wrap="square" lIns="0" rIns="0" tIns="0" bIns="0" anchor="t">
            <a:spAutoFit/>
          </a:bodyPr>
          <a:lstStyle/>
          <a:p>
            <a:pPr algn="l"/>
            <a:r>
              <a:rPr sz="1200" b="1" i="0">
                <a:solidFill>
                  <a:srgbClr val="FFFFFF"/>
                </a:solidFill>
                <a:latin typeface="Arial"/>
              </a:rPr>
              <a:t>Planificación · FEL 2</a:t>
            </a:r>
          </a:p>
        </p:txBody>
      </p:sp>
      <p:sp>
        <p:nvSpPr>
          <p:cNvPr id="10" name="Rectangle 9"/>
          <p:cNvSpPr/>
          <p:nvPr/>
        </p:nvSpPr>
        <p:spPr>
          <a:xfrm>
            <a:off x="3374136" y="4892040"/>
            <a:ext cx="2606040" cy="86868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602736" y="5047488"/>
            <a:ext cx="2240280" cy="228600"/>
          </a:xfrm>
          <a:prstGeom prst="rect">
            <a:avLst/>
          </a:prstGeom>
          <a:noFill/>
        </p:spPr>
        <p:txBody>
          <a:bodyPr wrap="square" lIns="0" rIns="0" tIns="0" bIns="0" anchor="t">
            <a:spAutoFit/>
          </a:bodyPr>
          <a:lstStyle/>
          <a:p>
            <a:pPr algn="l"/>
            <a:r>
              <a:rPr sz="1000" b="1" i="0" spc="200">
                <a:solidFill>
                  <a:srgbClr val="FF6600"/>
                </a:solidFill>
                <a:latin typeface="Arial"/>
              </a:rPr>
              <a:t>FASE 2</a:t>
            </a:r>
          </a:p>
        </p:txBody>
      </p:sp>
      <p:sp>
        <p:nvSpPr>
          <p:cNvPr id="12" name="TextBox 11"/>
          <p:cNvSpPr txBox="1"/>
          <p:nvPr/>
        </p:nvSpPr>
        <p:spPr>
          <a:xfrm>
            <a:off x="3602736" y="5321807"/>
            <a:ext cx="2240280" cy="274320"/>
          </a:xfrm>
          <a:prstGeom prst="rect">
            <a:avLst/>
          </a:prstGeom>
          <a:noFill/>
        </p:spPr>
        <p:txBody>
          <a:bodyPr wrap="square" lIns="0" rIns="0" tIns="0" bIns="0" anchor="t">
            <a:spAutoFit/>
          </a:bodyPr>
          <a:lstStyle/>
          <a:p>
            <a:pPr algn="l"/>
            <a:r>
              <a:rPr sz="1200" b="0" i="0">
                <a:solidFill>
                  <a:srgbClr val="BCBEC0"/>
                </a:solidFill>
                <a:latin typeface="Arial"/>
              </a:rPr>
              <a:t>Ingeniería y compras · FEL 3</a:t>
            </a:r>
          </a:p>
        </p:txBody>
      </p:sp>
      <p:sp>
        <p:nvSpPr>
          <p:cNvPr id="13" name="Rectangle 12"/>
          <p:cNvSpPr/>
          <p:nvPr/>
        </p:nvSpPr>
        <p:spPr>
          <a:xfrm>
            <a:off x="6199631" y="4892040"/>
            <a:ext cx="2606040" cy="86868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28231" y="5047488"/>
            <a:ext cx="2240280" cy="228600"/>
          </a:xfrm>
          <a:prstGeom prst="rect">
            <a:avLst/>
          </a:prstGeom>
          <a:noFill/>
        </p:spPr>
        <p:txBody>
          <a:bodyPr wrap="square" lIns="0" rIns="0" tIns="0" bIns="0" anchor="t">
            <a:spAutoFit/>
          </a:bodyPr>
          <a:lstStyle/>
          <a:p>
            <a:pPr algn="l"/>
            <a:r>
              <a:rPr sz="1000" b="1" i="0" spc="200">
                <a:solidFill>
                  <a:srgbClr val="FF6600"/>
                </a:solidFill>
                <a:latin typeface="Arial"/>
              </a:rPr>
              <a:t>FASE 3</a:t>
            </a:r>
          </a:p>
        </p:txBody>
      </p:sp>
      <p:sp>
        <p:nvSpPr>
          <p:cNvPr id="15" name="TextBox 14"/>
          <p:cNvSpPr txBox="1"/>
          <p:nvPr/>
        </p:nvSpPr>
        <p:spPr>
          <a:xfrm>
            <a:off x="6428231" y="5321807"/>
            <a:ext cx="2240280" cy="274320"/>
          </a:xfrm>
          <a:prstGeom prst="rect">
            <a:avLst/>
          </a:prstGeom>
          <a:noFill/>
        </p:spPr>
        <p:txBody>
          <a:bodyPr wrap="square" lIns="0" rIns="0" tIns="0" bIns="0" anchor="t">
            <a:spAutoFit/>
          </a:bodyPr>
          <a:lstStyle/>
          <a:p>
            <a:pPr algn="l"/>
            <a:r>
              <a:rPr sz="1200" b="0" i="0">
                <a:solidFill>
                  <a:srgbClr val="BCBEC0"/>
                </a:solidFill>
                <a:latin typeface="Arial"/>
              </a:rPr>
              <a:t>Construcción</a:t>
            </a:r>
          </a:p>
        </p:txBody>
      </p:sp>
      <p:sp>
        <p:nvSpPr>
          <p:cNvPr id="16" name="Rectangle 15"/>
          <p:cNvSpPr/>
          <p:nvPr/>
        </p:nvSpPr>
        <p:spPr>
          <a:xfrm>
            <a:off x="9025128" y="4892040"/>
            <a:ext cx="2606040" cy="86868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253728" y="5047488"/>
            <a:ext cx="2240280" cy="228600"/>
          </a:xfrm>
          <a:prstGeom prst="rect">
            <a:avLst/>
          </a:prstGeom>
          <a:noFill/>
        </p:spPr>
        <p:txBody>
          <a:bodyPr wrap="square" lIns="0" rIns="0" tIns="0" bIns="0" anchor="t">
            <a:spAutoFit/>
          </a:bodyPr>
          <a:lstStyle/>
          <a:p>
            <a:pPr algn="l"/>
            <a:r>
              <a:rPr sz="1000" b="1" i="0" spc="200">
                <a:solidFill>
                  <a:srgbClr val="FF6600"/>
                </a:solidFill>
                <a:latin typeface="Arial"/>
              </a:rPr>
              <a:t>FASE 4</a:t>
            </a:r>
          </a:p>
        </p:txBody>
      </p:sp>
      <p:sp>
        <p:nvSpPr>
          <p:cNvPr id="18" name="TextBox 17"/>
          <p:cNvSpPr txBox="1"/>
          <p:nvPr/>
        </p:nvSpPr>
        <p:spPr>
          <a:xfrm>
            <a:off x="9253728" y="5321807"/>
            <a:ext cx="2240280" cy="274320"/>
          </a:xfrm>
          <a:prstGeom prst="rect">
            <a:avLst/>
          </a:prstGeom>
          <a:noFill/>
        </p:spPr>
        <p:txBody>
          <a:bodyPr wrap="square" lIns="0" rIns="0" tIns="0" bIns="0" anchor="t">
            <a:spAutoFit/>
          </a:bodyPr>
          <a:lstStyle/>
          <a:p>
            <a:pPr algn="l"/>
            <a:r>
              <a:rPr sz="1200" b="0" i="0">
                <a:solidFill>
                  <a:srgbClr val="BCBEC0"/>
                </a:solidFill>
                <a:latin typeface="Arial"/>
              </a:rPr>
              <a:t>Puesta en marcha</a:t>
            </a:r>
          </a:p>
        </p:txBody>
      </p:sp>
      <p:sp>
        <p:nvSpPr>
          <p:cNvPr id="19" name="TextBox 18"/>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8A8B8E"/>
                </a:solidFill>
                <a:latin typeface="Arial"/>
              </a:rPr>
              <a:t>IMPLEMENTACIÓN DE AWP  ·  M4 · FASE 1: PLANIFICACIÓN PRELIMINAR</a:t>
            </a:r>
          </a:p>
        </p:txBody>
      </p:sp>
      <p:sp>
        <p:nvSpPr>
          <p:cNvPr id="20" name="TextBox 19"/>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8A8B8E"/>
                </a:solidFill>
                <a:latin typeface="Courier New"/>
              </a:rPr>
              <a:t>035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4 · ETAPAS</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AWP se implementa en cuatro etapas ligadas a las compuertas del proyecto</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M4 · FASE 1: PLANIFICACIÓN PRELIMINAR</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036</a:t>
            </a:r>
          </a:p>
        </p:txBody>
      </p:sp>
      <p:sp>
        <p:nvSpPr>
          <p:cNvPr id="7" name="Rectangle 6"/>
          <p:cNvSpPr/>
          <p:nvPr/>
        </p:nvSpPr>
        <p:spPr>
          <a:xfrm>
            <a:off x="548640" y="2761488"/>
            <a:ext cx="11094415" cy="54864"/>
          </a:xfrm>
          <a:prstGeom prst="rect">
            <a:avLst/>
          </a:prstGeom>
          <a:solidFill>
            <a:srgbClr val="BCB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79" y="1874519"/>
            <a:ext cx="2590723" cy="502920"/>
          </a:xfrm>
          <a:prstGeom prst="rect">
            <a:avLst/>
          </a:prstGeom>
          <a:noFill/>
        </p:spPr>
        <p:txBody>
          <a:bodyPr wrap="square" lIns="0" rIns="0" tIns="0" bIns="0" anchor="b">
            <a:spAutoFit/>
          </a:bodyPr>
          <a:lstStyle/>
          <a:p>
            <a:pPr algn="ctr"/>
            <a:r>
              <a:rPr sz="1300" b="1" i="0">
                <a:solidFill>
                  <a:srgbClr val="CC4400"/>
                </a:solidFill>
                <a:latin typeface="Courier New"/>
              </a:rPr>
              <a:t>FEL 2</a:t>
            </a:r>
          </a:p>
        </p:txBody>
      </p:sp>
      <p:sp>
        <p:nvSpPr>
          <p:cNvPr id="9" name="Oval 8"/>
          <p:cNvSpPr/>
          <p:nvPr/>
        </p:nvSpPr>
        <p:spPr>
          <a:xfrm>
            <a:off x="1752561" y="2606039"/>
            <a:ext cx="365760" cy="365760"/>
          </a:xfrm>
          <a:prstGeom prst="ellipse">
            <a:avLst/>
          </a:prstGeom>
          <a:solidFill>
            <a:srgbClr val="CC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21791" y="3200400"/>
            <a:ext cx="2627299" cy="203911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04671" y="3383280"/>
            <a:ext cx="2261539"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Planificación preliminar</a:t>
            </a:r>
          </a:p>
        </p:txBody>
      </p:sp>
      <p:sp>
        <p:nvSpPr>
          <p:cNvPr id="12" name="TextBox 11"/>
          <p:cNvSpPr txBox="1"/>
          <p:nvPr/>
        </p:nvSpPr>
        <p:spPr>
          <a:xfrm>
            <a:off x="804671" y="3977639"/>
            <a:ext cx="2261539" cy="1124712"/>
          </a:xfrm>
          <a:prstGeom prst="rect">
            <a:avLst/>
          </a:prstGeom>
          <a:noFill/>
        </p:spPr>
        <p:txBody>
          <a:bodyPr wrap="square" lIns="0" rIns="0" tIns="0" bIns="0" anchor="t">
            <a:spAutoFit/>
          </a:bodyPr>
          <a:lstStyle/>
          <a:p>
            <a:pPr algn="l">
              <a:lnSpc>
                <a:spcPct val="105000"/>
              </a:lnSpc>
            </a:pPr>
            <a:r>
              <a:rPr sz="1150" b="0" i="0">
                <a:solidFill>
                  <a:srgbClr val="6D6E71"/>
                </a:solidFill>
                <a:latin typeface="Arial"/>
              </a:rPr>
              <a:t>Marco AWP, CWA y primer Path of Construction</a:t>
            </a:r>
          </a:p>
        </p:txBody>
      </p:sp>
      <p:sp>
        <p:nvSpPr>
          <p:cNvPr id="13" name="TextBox 12"/>
          <p:cNvSpPr txBox="1"/>
          <p:nvPr/>
        </p:nvSpPr>
        <p:spPr>
          <a:xfrm>
            <a:off x="3413683" y="1874519"/>
            <a:ext cx="2590723" cy="502920"/>
          </a:xfrm>
          <a:prstGeom prst="rect">
            <a:avLst/>
          </a:prstGeom>
          <a:noFill/>
        </p:spPr>
        <p:txBody>
          <a:bodyPr wrap="square" lIns="0" rIns="0" tIns="0" bIns="0" anchor="b">
            <a:spAutoFit/>
          </a:bodyPr>
          <a:lstStyle/>
          <a:p>
            <a:pPr algn="ctr"/>
            <a:r>
              <a:rPr sz="1300" b="1" i="0">
                <a:solidFill>
                  <a:srgbClr val="FF6600"/>
                </a:solidFill>
                <a:latin typeface="Courier New"/>
              </a:rPr>
              <a:t>FEL 3</a:t>
            </a:r>
          </a:p>
        </p:txBody>
      </p:sp>
      <p:sp>
        <p:nvSpPr>
          <p:cNvPr id="14" name="Oval 13"/>
          <p:cNvSpPr/>
          <p:nvPr/>
        </p:nvSpPr>
        <p:spPr>
          <a:xfrm>
            <a:off x="4526165" y="2606039"/>
            <a:ext cx="365760" cy="36576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3395395" y="3200400"/>
            <a:ext cx="2627299" cy="203911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78275" y="3383280"/>
            <a:ext cx="2261539"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Ingeniería y compras</a:t>
            </a:r>
          </a:p>
        </p:txBody>
      </p:sp>
      <p:sp>
        <p:nvSpPr>
          <p:cNvPr id="17" name="TextBox 16"/>
          <p:cNvSpPr txBox="1"/>
          <p:nvPr/>
        </p:nvSpPr>
        <p:spPr>
          <a:xfrm>
            <a:off x="3578275" y="3977639"/>
            <a:ext cx="2261539" cy="1124712"/>
          </a:xfrm>
          <a:prstGeom prst="rect">
            <a:avLst/>
          </a:prstGeom>
          <a:noFill/>
        </p:spPr>
        <p:txBody>
          <a:bodyPr wrap="square" lIns="0" rIns="0" tIns="0" bIns="0" anchor="t">
            <a:spAutoFit/>
          </a:bodyPr>
          <a:lstStyle/>
          <a:p>
            <a:pPr algn="l">
              <a:lnSpc>
                <a:spcPct val="105000"/>
              </a:lnSpc>
            </a:pPr>
            <a:r>
              <a:rPr sz="1150" b="0" i="0">
                <a:solidFill>
                  <a:srgbClr val="6D6E71"/>
                </a:solidFill>
                <a:latin typeface="Arial"/>
              </a:rPr>
              <a:t>POC congelado; EWP y PWP en secuencia</a:t>
            </a:r>
          </a:p>
        </p:txBody>
      </p:sp>
      <p:sp>
        <p:nvSpPr>
          <p:cNvPr id="18" name="TextBox 17"/>
          <p:cNvSpPr txBox="1"/>
          <p:nvPr/>
        </p:nvSpPr>
        <p:spPr>
          <a:xfrm>
            <a:off x="6187287" y="1874519"/>
            <a:ext cx="2590723" cy="502920"/>
          </a:xfrm>
          <a:prstGeom prst="rect">
            <a:avLst/>
          </a:prstGeom>
          <a:noFill/>
        </p:spPr>
        <p:txBody>
          <a:bodyPr wrap="square" lIns="0" rIns="0" tIns="0" bIns="0" anchor="b">
            <a:spAutoFit/>
          </a:bodyPr>
          <a:lstStyle/>
          <a:p>
            <a:pPr algn="ctr"/>
            <a:r>
              <a:rPr sz="1300" b="1" i="0">
                <a:solidFill>
                  <a:srgbClr val="0078C1"/>
                </a:solidFill>
                <a:latin typeface="Courier New"/>
              </a:rPr>
              <a:t>EJECUCIÓN</a:t>
            </a:r>
          </a:p>
        </p:txBody>
      </p:sp>
      <p:sp>
        <p:nvSpPr>
          <p:cNvPr id="19" name="Oval 18"/>
          <p:cNvSpPr/>
          <p:nvPr/>
        </p:nvSpPr>
        <p:spPr>
          <a:xfrm>
            <a:off x="7299769" y="2606039"/>
            <a:ext cx="365760" cy="365760"/>
          </a:xfrm>
          <a:prstGeom prst="ellipse">
            <a:avLst/>
          </a:prstGeom>
          <a:solidFill>
            <a:srgbClr val="0078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168999" y="3200400"/>
            <a:ext cx="2627299" cy="203911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1879" y="3383280"/>
            <a:ext cx="2261539"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Construcción e integración</a:t>
            </a:r>
          </a:p>
        </p:txBody>
      </p:sp>
      <p:sp>
        <p:nvSpPr>
          <p:cNvPr id="22" name="TextBox 21"/>
          <p:cNvSpPr txBox="1"/>
          <p:nvPr/>
        </p:nvSpPr>
        <p:spPr>
          <a:xfrm>
            <a:off x="6351879" y="3977639"/>
            <a:ext cx="2261539" cy="1124712"/>
          </a:xfrm>
          <a:prstGeom prst="rect">
            <a:avLst/>
          </a:prstGeom>
          <a:noFill/>
        </p:spPr>
        <p:txBody>
          <a:bodyPr wrap="square" lIns="0" rIns="0" tIns="0" bIns="0" anchor="t">
            <a:spAutoFit/>
          </a:bodyPr>
          <a:lstStyle/>
          <a:p>
            <a:pPr algn="l">
              <a:lnSpc>
                <a:spcPct val="105000"/>
              </a:lnSpc>
            </a:pPr>
            <a:r>
              <a:rPr sz="1150" b="0" i="0">
                <a:solidFill>
                  <a:srgbClr val="6D6E71"/>
                </a:solidFill>
                <a:latin typeface="Arial"/>
              </a:rPr>
              <a:t>IWP, restricciones y backlog en campo</a:t>
            </a:r>
          </a:p>
        </p:txBody>
      </p:sp>
      <p:sp>
        <p:nvSpPr>
          <p:cNvPr id="23" name="TextBox 22"/>
          <p:cNvSpPr txBox="1"/>
          <p:nvPr/>
        </p:nvSpPr>
        <p:spPr>
          <a:xfrm>
            <a:off x="8960891" y="1874519"/>
            <a:ext cx="2590723" cy="502920"/>
          </a:xfrm>
          <a:prstGeom prst="rect">
            <a:avLst/>
          </a:prstGeom>
          <a:noFill/>
        </p:spPr>
        <p:txBody>
          <a:bodyPr wrap="square" lIns="0" rIns="0" tIns="0" bIns="0" anchor="b">
            <a:spAutoFit/>
          </a:bodyPr>
          <a:lstStyle/>
          <a:p>
            <a:pPr algn="ctr"/>
            <a:r>
              <a:rPr sz="1300" b="1" i="0">
                <a:solidFill>
                  <a:srgbClr val="003087"/>
                </a:solidFill>
                <a:latin typeface="Courier New"/>
              </a:rPr>
              <a:t>ARRANQUE</a:t>
            </a:r>
          </a:p>
        </p:txBody>
      </p:sp>
      <p:sp>
        <p:nvSpPr>
          <p:cNvPr id="24" name="Oval 23"/>
          <p:cNvSpPr/>
          <p:nvPr/>
        </p:nvSpPr>
        <p:spPr>
          <a:xfrm>
            <a:off x="10073373" y="2606039"/>
            <a:ext cx="365760" cy="365760"/>
          </a:xfrm>
          <a:prstGeom prst="ellipse">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42603" y="3200400"/>
            <a:ext cx="2627299" cy="203911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125483" y="3383280"/>
            <a:ext cx="2261539"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Comisionamiento y puesta en marcha</a:t>
            </a:r>
          </a:p>
        </p:txBody>
      </p:sp>
      <p:sp>
        <p:nvSpPr>
          <p:cNvPr id="27" name="TextBox 26"/>
          <p:cNvSpPr txBox="1"/>
          <p:nvPr/>
        </p:nvSpPr>
        <p:spPr>
          <a:xfrm>
            <a:off x="9125483" y="3977639"/>
            <a:ext cx="2261539" cy="1124712"/>
          </a:xfrm>
          <a:prstGeom prst="rect">
            <a:avLst/>
          </a:prstGeom>
          <a:noFill/>
        </p:spPr>
        <p:txBody>
          <a:bodyPr wrap="square" lIns="0" rIns="0" tIns="0" bIns="0" anchor="t">
            <a:spAutoFit/>
          </a:bodyPr>
          <a:lstStyle/>
          <a:p>
            <a:pPr algn="l">
              <a:lnSpc>
                <a:spcPct val="105000"/>
              </a:lnSpc>
            </a:pPr>
            <a:r>
              <a:rPr sz="1150" b="0" i="0">
                <a:solidFill>
                  <a:srgbClr val="6D6E71"/>
                </a:solidFill>
                <a:latin typeface="Arial"/>
              </a:rPr>
              <a:t>SWP, TOP y entrega por sistemas</a:t>
            </a:r>
          </a:p>
        </p:txBody>
      </p:sp>
      <p:sp>
        <p:nvSpPr>
          <p:cNvPr id="28" name="Rectangle 27"/>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flag_o.png"/>
          <p:cNvPicPr>
            <a:picLocks noChangeAspect="1"/>
          </p:cNvPicPr>
          <p:nvPr/>
        </p:nvPicPr>
        <p:blipFill>
          <a:blip r:embed="rId2"/>
          <a:stretch>
            <a:fillRect/>
          </a:stretch>
        </p:blipFill>
        <p:spPr>
          <a:xfrm>
            <a:off x="822959" y="5660136"/>
            <a:ext cx="365760" cy="365760"/>
          </a:xfrm>
          <a:prstGeom prst="rect">
            <a:avLst/>
          </a:prstGeom>
        </p:spPr>
      </p:pic>
      <p:sp>
        <p:nvSpPr>
          <p:cNvPr id="30" name="TextBox 29"/>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FEL: </a:t>
            </a:r>
            <a:r>
              <a:rPr sz="1400" b="0" i="0">
                <a:solidFill>
                  <a:srgbClr val="FFFFFF"/>
                </a:solidFill>
                <a:latin typeface="Arial"/>
              </a:rPr>
              <a:t>Front End Loading, etapas de definición del proyecto previas a la decisión de inversión.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4 · COMPUERTAS</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Cada etapa tiene una compuerta y un entregable AWP</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M4 · FASE 1: PLANIFICACIÓN PRELIMINAR</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037</a:t>
            </a:r>
          </a:p>
        </p:txBody>
      </p:sp>
      <p:graphicFrame>
        <p:nvGraphicFramePr>
          <p:cNvPr id="7" name="Table 6"/>
          <p:cNvGraphicFramePr>
            <a:graphicFrameLocks noGrp="1"/>
          </p:cNvGraphicFramePr>
          <p:nvPr/>
        </p:nvGraphicFramePr>
        <p:xfrm>
          <a:off x="563727" y="1828800"/>
          <a:ext cx="11064240" cy="3566160"/>
        </p:xfrm>
        <a:graphic>
          <a:graphicData uri="http://schemas.openxmlformats.org/drawingml/2006/table">
            <a:tbl>
              <a:tblPr firstRow="0" bandRow="0">
                <a:tableStyleId>{5C22544A-7EE6-4342-B048-85BDC9FD1C3A}</a:tableStyleId>
              </a:tblPr>
              <a:tblGrid>
                <a:gridCol w="2377440"/>
                <a:gridCol w="2834640"/>
                <a:gridCol w="3566160"/>
                <a:gridCol w="2286000"/>
              </a:tblGrid>
              <a:tr h="457200">
                <a:tc>
                  <a:txBody>
                    <a:bodyPr wrap="square"/>
                    <a:lstStyle/>
                    <a:p>
                      <a:pPr algn="l"/>
                      <a:r>
                        <a:rPr sz="1000" b="1" spc="100">
                          <a:solidFill>
                            <a:srgbClr val="FFFFFF"/>
                          </a:solidFill>
                          <a:latin typeface="Arial"/>
                        </a:rPr>
                        <a:t>ETAPA</a:t>
                      </a:r>
                    </a:p>
                  </a:txBody>
                  <a:tcPr marL="137160" marR="91440" marT="27432" marB="27432" anchor="ctr">
                    <a:solidFill>
                      <a:srgbClr val="1A1A1A"/>
                    </a:solidFill>
                  </a:tcPr>
                </a:tc>
                <a:tc>
                  <a:txBody>
                    <a:bodyPr wrap="square"/>
                    <a:lstStyle/>
                    <a:p>
                      <a:pPr algn="l"/>
                      <a:r>
                        <a:rPr sz="1000" b="1" spc="100">
                          <a:solidFill>
                            <a:srgbClr val="FFFFFF"/>
                          </a:solidFill>
                          <a:latin typeface="Arial"/>
                        </a:rPr>
                        <a:t>COMPUERTA</a:t>
                      </a:r>
                    </a:p>
                  </a:txBody>
                  <a:tcPr marL="137160" marR="91440" marT="27432" marB="27432" anchor="ctr">
                    <a:solidFill>
                      <a:srgbClr val="1A1A1A"/>
                    </a:solidFill>
                  </a:tcPr>
                </a:tc>
                <a:tc>
                  <a:txBody>
                    <a:bodyPr wrap="square"/>
                    <a:lstStyle/>
                    <a:p>
                      <a:pPr algn="l"/>
                      <a:r>
                        <a:rPr sz="1000" b="1" spc="100">
                          <a:solidFill>
                            <a:srgbClr val="FFFFFF"/>
                          </a:solidFill>
                          <a:latin typeface="Arial"/>
                        </a:rPr>
                        <a:t>ENTREGABLES AWP</a:t>
                      </a:r>
                    </a:p>
                  </a:txBody>
                  <a:tcPr marL="137160" marR="91440" marT="27432" marB="27432" anchor="ctr">
                    <a:solidFill>
                      <a:srgbClr val="1A1A1A"/>
                    </a:solidFill>
                  </a:tcPr>
                </a:tc>
                <a:tc>
                  <a:txBody>
                    <a:bodyPr wrap="square"/>
                    <a:lstStyle/>
                    <a:p>
                      <a:pPr algn="l"/>
                      <a:r>
                        <a:rPr sz="1000" b="1" spc="100">
                          <a:solidFill>
                            <a:srgbClr val="FFFFFF"/>
                          </a:solidFill>
                          <a:latin typeface="Arial"/>
                        </a:rPr>
                        <a:t>ESTIMADO</a:t>
                      </a:r>
                    </a:p>
                  </a:txBody>
                  <a:tcPr marL="137160" marR="91440" marT="27432" marB="27432" anchor="ctr">
                    <a:solidFill>
                      <a:srgbClr val="1A1A1A"/>
                    </a:solidFill>
                  </a:tcPr>
                </a:tc>
              </a:tr>
              <a:tr h="777240">
                <a:tc>
                  <a:txBody>
                    <a:bodyPr wrap="square"/>
                    <a:lstStyle/>
                    <a:p>
                      <a:pPr algn="l"/>
                      <a:r>
                        <a:rPr sz="1200" b="1">
                          <a:solidFill>
                            <a:srgbClr val="1A1A1A"/>
                          </a:solidFill>
                          <a:latin typeface="Arial"/>
                        </a:rPr>
                        <a:t>FEL 1 · Evaluar</a:t>
                      </a:r>
                    </a:p>
                  </a:txBody>
                  <a:tcPr marL="137160" marR="91440" marT="27432" marB="27432" anchor="ctr">
                    <a:solidFill>
                      <a:srgbClr val="FFFFFF"/>
                    </a:solidFill>
                  </a:tcPr>
                </a:tc>
                <a:tc>
                  <a:txBody>
                    <a:bodyPr wrap="square"/>
                    <a:lstStyle/>
                    <a:p>
                      <a:pPr algn="l"/>
                      <a:r>
                        <a:rPr sz="1200" b="0">
                          <a:solidFill>
                            <a:srgbClr val="2E2E2E"/>
                          </a:solidFill>
                          <a:latin typeface="Arial"/>
                        </a:rPr>
                        <a:t>Compuerta 1</a:t>
                      </a:r>
                    </a:p>
                  </a:txBody>
                  <a:tcPr marL="137160" marR="91440" marT="27432" marB="27432" anchor="ctr">
                    <a:solidFill>
                      <a:srgbClr val="FFFFFF"/>
                    </a:solidFill>
                  </a:tcPr>
                </a:tc>
                <a:tc>
                  <a:txBody>
                    <a:bodyPr wrap="square"/>
                    <a:lstStyle/>
                    <a:p>
                      <a:pPr algn="l"/>
                      <a:r>
                        <a:rPr sz="1200" b="0">
                          <a:solidFill>
                            <a:srgbClr val="2E2E2E"/>
                          </a:solidFill>
                          <a:latin typeface="Arial"/>
                        </a:rPr>
                        <a:t>Sin requisitos AWP</a:t>
                      </a:r>
                    </a:p>
                  </a:txBody>
                  <a:tcPr marL="137160" marR="91440" marT="27432" marB="27432" anchor="ctr">
                    <a:solidFill>
                      <a:srgbClr val="FFFFFF"/>
                    </a:solidFill>
                  </a:tcPr>
                </a:tc>
                <a:tc>
                  <a:txBody>
                    <a:bodyPr wrap="square"/>
                    <a:lstStyle/>
                    <a:p>
                      <a:pPr algn="l"/>
                      <a:r>
                        <a:rPr sz="1200" b="0">
                          <a:solidFill>
                            <a:srgbClr val="2E2E2E"/>
                          </a:solidFill>
                          <a:latin typeface="Arial"/>
                        </a:rPr>
                        <a:t>—</a:t>
                      </a:r>
                    </a:p>
                  </a:txBody>
                  <a:tcPr marL="137160" marR="91440" marT="27432" marB="27432" anchor="ctr">
                    <a:solidFill>
                      <a:srgbClr val="FFFFFF"/>
                    </a:solidFill>
                  </a:tcPr>
                </a:tc>
              </a:tr>
              <a:tr h="777240">
                <a:tc>
                  <a:txBody>
                    <a:bodyPr wrap="square"/>
                    <a:lstStyle/>
                    <a:p>
                      <a:pPr algn="l"/>
                      <a:r>
                        <a:rPr sz="1200" b="1">
                          <a:solidFill>
                            <a:srgbClr val="1A1A1A"/>
                          </a:solidFill>
                          <a:latin typeface="Arial"/>
                        </a:rPr>
                        <a:t>FEL 2 · Seleccionar</a:t>
                      </a:r>
                    </a:p>
                  </a:txBody>
                  <a:tcPr marL="137160" marR="91440" marT="27432" marB="27432" anchor="ctr">
                    <a:solidFill>
                      <a:srgbClr val="F7F7F7"/>
                    </a:solidFill>
                  </a:tcPr>
                </a:tc>
                <a:tc>
                  <a:txBody>
                    <a:bodyPr wrap="square"/>
                    <a:lstStyle/>
                    <a:p>
                      <a:pPr algn="l"/>
                      <a:r>
                        <a:rPr sz="1200" b="0">
                          <a:solidFill>
                            <a:srgbClr val="2E2E2E"/>
                          </a:solidFill>
                          <a:latin typeface="Arial"/>
                        </a:rPr>
                        <a:t>Compuerta 2</a:t>
                      </a:r>
                    </a:p>
                  </a:txBody>
                  <a:tcPr marL="137160" marR="91440" marT="27432" marB="27432" anchor="ctr">
                    <a:solidFill>
                      <a:srgbClr val="F7F7F7"/>
                    </a:solidFill>
                  </a:tcPr>
                </a:tc>
                <a:tc>
                  <a:txBody>
                    <a:bodyPr wrap="square"/>
                    <a:lstStyle/>
                    <a:p>
                      <a:pPr algn="l"/>
                      <a:r>
                        <a:rPr sz="1200" b="0">
                          <a:solidFill>
                            <a:srgbClr val="2E2E2E"/>
                          </a:solidFill>
                          <a:latin typeface="Arial"/>
                        </a:rPr>
                        <a:t>Plan AWP, CWA, primer POC, matriz EWP/CWP</a:t>
                      </a:r>
                    </a:p>
                  </a:txBody>
                  <a:tcPr marL="137160" marR="91440" marT="27432" marB="27432" anchor="ctr">
                    <a:solidFill>
                      <a:srgbClr val="F7F7F7"/>
                    </a:solidFill>
                  </a:tcPr>
                </a:tc>
                <a:tc>
                  <a:txBody>
                    <a:bodyPr wrap="square"/>
                    <a:lstStyle/>
                    <a:p>
                      <a:pPr algn="l"/>
                      <a:r>
                        <a:rPr sz="1200" b="0">
                          <a:solidFill>
                            <a:srgbClr val="2E2E2E"/>
                          </a:solidFill>
                          <a:latin typeface="Arial"/>
                        </a:rPr>
                        <a:t>Por CWA y disciplina</a:t>
                      </a:r>
                    </a:p>
                  </a:txBody>
                  <a:tcPr marL="137160" marR="91440" marT="27432" marB="27432" anchor="ctr">
                    <a:solidFill>
                      <a:srgbClr val="F7F7F7"/>
                    </a:solidFill>
                  </a:tcPr>
                </a:tc>
              </a:tr>
              <a:tr h="777240">
                <a:tc>
                  <a:txBody>
                    <a:bodyPr wrap="square"/>
                    <a:lstStyle/>
                    <a:p>
                      <a:pPr algn="l"/>
                      <a:r>
                        <a:rPr sz="1200" b="1">
                          <a:solidFill>
                            <a:srgbClr val="1A1A1A"/>
                          </a:solidFill>
                          <a:latin typeface="Arial"/>
                        </a:rPr>
                        <a:t>FEL 3 · Definir (FEED)</a:t>
                      </a:r>
                    </a:p>
                  </a:txBody>
                  <a:tcPr marL="137160" marR="91440" marT="27432" marB="27432" anchor="ctr">
                    <a:solidFill>
                      <a:srgbClr val="FFE3CF"/>
                    </a:solidFill>
                  </a:tcPr>
                </a:tc>
                <a:tc>
                  <a:txBody>
                    <a:bodyPr wrap="square"/>
                    <a:lstStyle/>
                    <a:p>
                      <a:pPr algn="l"/>
                      <a:r>
                        <a:rPr sz="1200" b="1">
                          <a:solidFill>
                            <a:srgbClr val="2E2E2E"/>
                          </a:solidFill>
                          <a:latin typeface="Arial"/>
                        </a:rPr>
                        <a:t>Compuerta 3 · decisión de inversión (FID)</a:t>
                      </a:r>
                    </a:p>
                  </a:txBody>
                  <a:tcPr marL="137160" marR="91440" marT="27432" marB="27432" anchor="ctr">
                    <a:solidFill>
                      <a:srgbClr val="FFE3CF"/>
                    </a:solidFill>
                  </a:tcPr>
                </a:tc>
                <a:tc>
                  <a:txBody>
                    <a:bodyPr wrap="square"/>
                    <a:lstStyle/>
                    <a:p>
                      <a:pPr algn="l"/>
                      <a:r>
                        <a:rPr sz="1200" b="0">
                          <a:solidFill>
                            <a:srgbClr val="2E2E2E"/>
                          </a:solidFill>
                          <a:latin typeface="Arial"/>
                        </a:rPr>
                        <a:t>POC final firmado, planes de liberación, WBS</a:t>
                      </a:r>
                    </a:p>
                  </a:txBody>
                  <a:tcPr marL="137160" marR="91440" marT="27432" marB="27432" anchor="ctr">
                    <a:solidFill>
                      <a:srgbClr val="FFE3CF"/>
                    </a:solidFill>
                  </a:tcPr>
                </a:tc>
                <a:tc>
                  <a:txBody>
                    <a:bodyPr wrap="square"/>
                    <a:lstStyle/>
                    <a:p>
                      <a:pPr algn="l"/>
                      <a:r>
                        <a:rPr sz="1200" b="0">
                          <a:solidFill>
                            <a:srgbClr val="2E2E2E"/>
                          </a:solidFill>
                          <a:latin typeface="Arial"/>
                        </a:rPr>
                        <a:t>Por CWA, disciplina y secuencia</a:t>
                      </a:r>
                    </a:p>
                  </a:txBody>
                  <a:tcPr marL="137160" marR="91440" marT="27432" marB="27432" anchor="ctr">
                    <a:solidFill>
                      <a:srgbClr val="FFE3CF"/>
                    </a:solidFill>
                  </a:tcPr>
                </a:tc>
              </a:tr>
              <a:tr h="777240">
                <a:tc>
                  <a:txBody>
                    <a:bodyPr wrap="square"/>
                    <a:lstStyle/>
                    <a:p>
                      <a:pPr algn="l"/>
                      <a:r>
                        <a:rPr sz="1200" b="1">
                          <a:solidFill>
                            <a:srgbClr val="1A1A1A"/>
                          </a:solidFill>
                          <a:latin typeface="Arial"/>
                        </a:rPr>
                        <a:t>Ejecución</a:t>
                      </a:r>
                    </a:p>
                  </a:txBody>
                  <a:tcPr marL="137160" marR="91440" marT="27432" marB="27432" anchor="ctr">
                    <a:solidFill>
                      <a:srgbClr val="F7F7F7"/>
                    </a:solidFill>
                  </a:tcPr>
                </a:tc>
                <a:tc>
                  <a:txBody>
                    <a:bodyPr wrap="square"/>
                    <a:lstStyle/>
                    <a:p>
                      <a:pPr algn="l"/>
                      <a:r>
                        <a:rPr sz="1200" b="0">
                          <a:solidFill>
                            <a:srgbClr val="2E2E2E"/>
                          </a:solidFill>
                          <a:latin typeface="Arial"/>
                        </a:rPr>
                        <a:t>—</a:t>
                      </a:r>
                    </a:p>
                  </a:txBody>
                  <a:tcPr marL="137160" marR="91440" marT="27432" marB="27432" anchor="ctr">
                    <a:solidFill>
                      <a:srgbClr val="F7F7F7"/>
                    </a:solidFill>
                  </a:tcPr>
                </a:tc>
                <a:tc>
                  <a:txBody>
                    <a:bodyPr wrap="square"/>
                    <a:lstStyle/>
                    <a:p>
                      <a:pPr algn="l"/>
                      <a:r>
                        <a:rPr sz="1200" b="0">
                          <a:solidFill>
                            <a:srgbClr val="2E2E2E"/>
                          </a:solidFill>
                          <a:latin typeface="Arial"/>
                        </a:rPr>
                        <a:t>EWP, CWP e IWP</a:t>
                      </a:r>
                    </a:p>
                  </a:txBody>
                  <a:tcPr marL="137160" marR="91440" marT="27432" marB="27432" anchor="ctr">
                    <a:solidFill>
                      <a:srgbClr val="F7F7F7"/>
                    </a:solidFill>
                  </a:tcPr>
                </a:tc>
                <a:tc>
                  <a:txBody>
                    <a:bodyPr wrap="square"/>
                    <a:lstStyle/>
                    <a:p>
                      <a:pPr algn="l"/>
                      <a:r>
                        <a:rPr sz="1200" b="0">
                          <a:solidFill>
                            <a:srgbClr val="2E2E2E"/>
                          </a:solidFill>
                          <a:latin typeface="Arial"/>
                        </a:rPr>
                        <a:t>Ofertas contra estimado por CWP</a:t>
                      </a:r>
                    </a:p>
                  </a:txBody>
                  <a:tcPr marL="137160" marR="91440" marT="27432" marB="27432" anchor="ctr">
                    <a:solidFill>
                      <a:srgbClr val="F7F7F7"/>
                    </a:solidFill>
                  </a:tcPr>
                </a:tc>
              </a:tr>
            </a:tbl>
          </a:graphicData>
        </a:graphic>
      </p:graphicFrame>
      <p:pic>
        <p:nvPicPr>
          <p:cNvPr id="8" name="Picture 7" descr="layers_o.png"/>
          <p:cNvPicPr>
            <a:picLocks noChangeAspect="1"/>
          </p:cNvPicPr>
          <p:nvPr/>
        </p:nvPicPr>
        <p:blipFill>
          <a:blip r:embed="rId2"/>
          <a:stretch>
            <a:fillRect/>
          </a:stretch>
        </p:blipFill>
        <p:spPr>
          <a:xfrm>
            <a:off x="563727" y="5632704"/>
            <a:ext cx="292608" cy="292608"/>
          </a:xfrm>
          <a:prstGeom prst="rect">
            <a:avLst/>
          </a:prstGeom>
        </p:spPr>
      </p:pic>
      <p:sp>
        <p:nvSpPr>
          <p:cNvPr id="9" name="TextBox 8"/>
          <p:cNvSpPr txBox="1"/>
          <p:nvPr/>
        </p:nvSpPr>
        <p:spPr>
          <a:xfrm>
            <a:off x="1020927" y="5596128"/>
            <a:ext cx="10607040" cy="384048"/>
          </a:xfrm>
          <a:prstGeom prst="rect">
            <a:avLst/>
          </a:prstGeom>
          <a:noFill/>
        </p:spPr>
        <p:txBody>
          <a:bodyPr wrap="square" lIns="0" rIns="0" tIns="0" bIns="0" anchor="ctr">
            <a:spAutoFit/>
          </a:bodyPr>
          <a:lstStyle/>
          <a:p>
            <a:pPr algn="l"/>
            <a:r>
              <a:rPr sz="1200" b="0" i="0">
                <a:solidFill>
                  <a:srgbClr val="2E2E2E"/>
                </a:solidFill>
                <a:latin typeface="Arial"/>
              </a:rPr>
              <a:t>El Path of Construction es un entregable de la compuerta 3: debe firmarse antes de la ingeniería de detalle.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4 · CWA</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Divida el terreno en CWA antes de diseñar</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M4 · FASE 1: PLANIFICACIÓN PRELIMINAR</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038</a:t>
            </a:r>
          </a:p>
        </p:txBody>
      </p:sp>
      <p:sp>
        <p:nvSpPr>
          <p:cNvPr id="7" name="Rectangle 6"/>
          <p:cNvSpPr/>
          <p:nvPr/>
        </p:nvSpPr>
        <p:spPr>
          <a:xfrm>
            <a:off x="548640" y="1828800"/>
            <a:ext cx="3527450" cy="15773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arget_o.png"/>
          <p:cNvPicPr>
            <a:picLocks noChangeAspect="1"/>
          </p:cNvPicPr>
          <p:nvPr/>
        </p:nvPicPr>
        <p:blipFill>
          <a:blip r:embed="rId2"/>
          <a:stretch>
            <a:fillRect/>
          </a:stretch>
        </p:blipFill>
        <p:spPr>
          <a:xfrm>
            <a:off x="822959" y="2057400"/>
            <a:ext cx="384048" cy="384048"/>
          </a:xfrm>
          <a:prstGeom prst="rect">
            <a:avLst/>
          </a:prstGeom>
        </p:spPr>
      </p:pic>
      <p:sp>
        <p:nvSpPr>
          <p:cNvPr id="9" name="TextBox 8"/>
          <p:cNvSpPr txBox="1"/>
          <p:nvPr/>
        </p:nvSpPr>
        <p:spPr>
          <a:xfrm>
            <a:off x="1371600" y="2011680"/>
            <a:ext cx="2475890" cy="475488"/>
          </a:xfrm>
          <a:prstGeom prst="rect">
            <a:avLst/>
          </a:prstGeom>
          <a:noFill/>
        </p:spPr>
        <p:txBody>
          <a:bodyPr wrap="square" lIns="0" rIns="0" tIns="0" bIns="0" anchor="ctr">
            <a:spAutoFit/>
          </a:bodyPr>
          <a:lstStyle/>
          <a:p>
            <a:pPr algn="l">
              <a:lnSpc>
                <a:spcPct val="95000"/>
              </a:lnSpc>
            </a:pPr>
            <a:r>
              <a:rPr sz="1500" b="1" i="0">
                <a:solidFill>
                  <a:srgbClr val="1A1A1A"/>
                </a:solidFill>
                <a:latin typeface="Arial"/>
              </a:rPr>
              <a:t>Prioridad</a:t>
            </a:r>
          </a:p>
        </p:txBody>
      </p:sp>
      <p:sp>
        <p:nvSpPr>
          <p:cNvPr id="10" name="TextBox 9"/>
          <p:cNvSpPr txBox="1"/>
          <p:nvPr/>
        </p:nvSpPr>
        <p:spPr>
          <a:xfrm>
            <a:off x="822959" y="2606040"/>
            <a:ext cx="3024530" cy="70866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Aislar las áreas de alta prioridad</a:t>
            </a:r>
          </a:p>
        </p:txBody>
      </p:sp>
      <p:sp>
        <p:nvSpPr>
          <p:cNvPr id="11" name="Rectangle 10"/>
          <p:cNvSpPr/>
          <p:nvPr/>
        </p:nvSpPr>
        <p:spPr>
          <a:xfrm>
            <a:off x="4332122" y="1828800"/>
            <a:ext cx="3527450" cy="15773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ontract_o.png"/>
          <p:cNvPicPr>
            <a:picLocks noChangeAspect="1"/>
          </p:cNvPicPr>
          <p:nvPr/>
        </p:nvPicPr>
        <p:blipFill>
          <a:blip r:embed="rId3"/>
          <a:stretch>
            <a:fillRect/>
          </a:stretch>
        </p:blipFill>
        <p:spPr>
          <a:xfrm>
            <a:off x="4606442" y="2057400"/>
            <a:ext cx="384048" cy="384048"/>
          </a:xfrm>
          <a:prstGeom prst="rect">
            <a:avLst/>
          </a:prstGeom>
        </p:spPr>
      </p:pic>
      <p:sp>
        <p:nvSpPr>
          <p:cNvPr id="13" name="TextBox 12"/>
          <p:cNvSpPr txBox="1"/>
          <p:nvPr/>
        </p:nvSpPr>
        <p:spPr>
          <a:xfrm>
            <a:off x="5155082" y="2011680"/>
            <a:ext cx="2475890" cy="475488"/>
          </a:xfrm>
          <a:prstGeom prst="rect">
            <a:avLst/>
          </a:prstGeom>
          <a:noFill/>
        </p:spPr>
        <p:txBody>
          <a:bodyPr wrap="square" lIns="0" rIns="0" tIns="0" bIns="0" anchor="ctr">
            <a:spAutoFit/>
          </a:bodyPr>
          <a:lstStyle/>
          <a:p>
            <a:pPr algn="l">
              <a:lnSpc>
                <a:spcPct val="95000"/>
              </a:lnSpc>
            </a:pPr>
            <a:r>
              <a:rPr sz="1500" b="1" i="0">
                <a:solidFill>
                  <a:srgbClr val="1A1A1A"/>
                </a:solidFill>
                <a:latin typeface="Arial"/>
              </a:rPr>
              <a:t>Contratación</a:t>
            </a:r>
          </a:p>
        </p:txBody>
      </p:sp>
      <p:sp>
        <p:nvSpPr>
          <p:cNvPr id="14" name="TextBox 13"/>
          <p:cNvSpPr txBox="1"/>
          <p:nvPr/>
        </p:nvSpPr>
        <p:spPr>
          <a:xfrm>
            <a:off x="4606442" y="2606040"/>
            <a:ext cx="3024530" cy="70866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Áreas a cargo de contratistas distintos</a:t>
            </a:r>
          </a:p>
        </p:txBody>
      </p:sp>
      <p:sp>
        <p:nvSpPr>
          <p:cNvPr id="15" name="Rectangle 14"/>
          <p:cNvSpPr/>
          <p:nvPr/>
        </p:nvSpPr>
        <p:spPr>
          <a:xfrm>
            <a:off x="8115604" y="1828800"/>
            <a:ext cx="3527450" cy="15773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road_o.png"/>
          <p:cNvPicPr>
            <a:picLocks noChangeAspect="1"/>
          </p:cNvPicPr>
          <p:nvPr/>
        </p:nvPicPr>
        <p:blipFill>
          <a:blip r:embed="rId4"/>
          <a:stretch>
            <a:fillRect/>
          </a:stretch>
        </p:blipFill>
        <p:spPr>
          <a:xfrm>
            <a:off x="8389924" y="2057400"/>
            <a:ext cx="384048" cy="384048"/>
          </a:xfrm>
          <a:prstGeom prst="rect">
            <a:avLst/>
          </a:prstGeom>
        </p:spPr>
      </p:pic>
      <p:sp>
        <p:nvSpPr>
          <p:cNvPr id="17" name="TextBox 16"/>
          <p:cNvSpPr txBox="1"/>
          <p:nvPr/>
        </p:nvSpPr>
        <p:spPr>
          <a:xfrm>
            <a:off x="8938564" y="2011680"/>
            <a:ext cx="2475890" cy="475488"/>
          </a:xfrm>
          <a:prstGeom prst="rect">
            <a:avLst/>
          </a:prstGeom>
          <a:noFill/>
        </p:spPr>
        <p:txBody>
          <a:bodyPr wrap="square" lIns="0" rIns="0" tIns="0" bIns="0" anchor="ctr">
            <a:spAutoFit/>
          </a:bodyPr>
          <a:lstStyle/>
          <a:p>
            <a:pPr algn="l">
              <a:lnSpc>
                <a:spcPct val="95000"/>
              </a:lnSpc>
            </a:pPr>
            <a:r>
              <a:rPr sz="1500" b="1" i="0">
                <a:solidFill>
                  <a:srgbClr val="1A1A1A"/>
                </a:solidFill>
                <a:latin typeface="Arial"/>
              </a:rPr>
              <a:t>Racks de tuberías</a:t>
            </a:r>
          </a:p>
        </p:txBody>
      </p:sp>
      <p:sp>
        <p:nvSpPr>
          <p:cNvPr id="18" name="TextBox 17"/>
          <p:cNvSpPr txBox="1"/>
          <p:nvPr/>
        </p:nvSpPr>
        <p:spPr>
          <a:xfrm>
            <a:off x="8389924" y="2606040"/>
            <a:ext cx="3024530" cy="70866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Delimitar bien su espacio</a:t>
            </a:r>
          </a:p>
        </p:txBody>
      </p:sp>
      <p:sp>
        <p:nvSpPr>
          <p:cNvPr id="19" name="Rectangle 18"/>
          <p:cNvSpPr/>
          <p:nvPr/>
        </p:nvSpPr>
        <p:spPr>
          <a:xfrm>
            <a:off x="548640" y="3662172"/>
            <a:ext cx="3527450" cy="15773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hourglass_o.png"/>
          <p:cNvPicPr>
            <a:picLocks noChangeAspect="1"/>
          </p:cNvPicPr>
          <p:nvPr/>
        </p:nvPicPr>
        <p:blipFill>
          <a:blip r:embed="rId5"/>
          <a:stretch>
            <a:fillRect/>
          </a:stretch>
        </p:blipFill>
        <p:spPr>
          <a:xfrm>
            <a:off x="822959" y="3890772"/>
            <a:ext cx="384048" cy="384048"/>
          </a:xfrm>
          <a:prstGeom prst="rect">
            <a:avLst/>
          </a:prstGeom>
        </p:spPr>
      </p:pic>
      <p:sp>
        <p:nvSpPr>
          <p:cNvPr id="21" name="TextBox 20"/>
          <p:cNvSpPr txBox="1"/>
          <p:nvPr/>
        </p:nvSpPr>
        <p:spPr>
          <a:xfrm>
            <a:off x="1371600" y="3845052"/>
            <a:ext cx="2475890" cy="475488"/>
          </a:xfrm>
          <a:prstGeom prst="rect">
            <a:avLst/>
          </a:prstGeom>
          <a:noFill/>
        </p:spPr>
        <p:txBody>
          <a:bodyPr wrap="square" lIns="0" rIns="0" tIns="0" bIns="0" anchor="ctr">
            <a:spAutoFit/>
          </a:bodyPr>
          <a:lstStyle/>
          <a:p>
            <a:pPr algn="l">
              <a:lnSpc>
                <a:spcPct val="95000"/>
              </a:lnSpc>
            </a:pPr>
            <a:r>
              <a:rPr sz="1500" b="1" i="0">
                <a:solidFill>
                  <a:srgbClr val="1A1A1A"/>
                </a:solidFill>
                <a:latin typeface="Arial"/>
              </a:rPr>
              <a:t>Horas similares</a:t>
            </a:r>
          </a:p>
        </p:txBody>
      </p:sp>
      <p:sp>
        <p:nvSpPr>
          <p:cNvPr id="22" name="TextBox 21"/>
          <p:cNvSpPr txBox="1"/>
          <p:nvPr/>
        </p:nvSpPr>
        <p:spPr>
          <a:xfrm>
            <a:off x="822959" y="4439412"/>
            <a:ext cx="3024530" cy="70866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Mismo orden de horas de campo, no el mismo tamaño</a:t>
            </a:r>
          </a:p>
        </p:txBody>
      </p:sp>
      <p:sp>
        <p:nvSpPr>
          <p:cNvPr id="23" name="Rectangle 22"/>
          <p:cNvSpPr/>
          <p:nvPr/>
        </p:nvSpPr>
        <p:spPr>
          <a:xfrm>
            <a:off x="4332122" y="3662172"/>
            <a:ext cx="3527450" cy="15773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industry_o.png"/>
          <p:cNvPicPr>
            <a:picLocks noChangeAspect="1"/>
          </p:cNvPicPr>
          <p:nvPr/>
        </p:nvPicPr>
        <p:blipFill>
          <a:blip r:embed="rId6"/>
          <a:stretch>
            <a:fillRect/>
          </a:stretch>
        </p:blipFill>
        <p:spPr>
          <a:xfrm>
            <a:off x="4606442" y="3890772"/>
            <a:ext cx="384048" cy="384048"/>
          </a:xfrm>
          <a:prstGeom prst="rect">
            <a:avLst/>
          </a:prstGeom>
        </p:spPr>
      </p:pic>
      <p:sp>
        <p:nvSpPr>
          <p:cNvPr id="25" name="TextBox 24"/>
          <p:cNvSpPr txBox="1"/>
          <p:nvPr/>
        </p:nvSpPr>
        <p:spPr>
          <a:xfrm>
            <a:off x="5155082" y="3845052"/>
            <a:ext cx="2475890" cy="475488"/>
          </a:xfrm>
          <a:prstGeom prst="rect">
            <a:avLst/>
          </a:prstGeom>
          <a:noFill/>
        </p:spPr>
        <p:txBody>
          <a:bodyPr wrap="square" lIns="0" rIns="0" tIns="0" bIns="0" anchor="ctr">
            <a:spAutoFit/>
          </a:bodyPr>
          <a:lstStyle/>
          <a:p>
            <a:pPr algn="l">
              <a:lnSpc>
                <a:spcPct val="95000"/>
              </a:lnSpc>
            </a:pPr>
            <a:r>
              <a:rPr sz="1500" b="1" i="0">
                <a:solidFill>
                  <a:srgbClr val="1A1A1A"/>
                </a:solidFill>
                <a:latin typeface="Arial"/>
              </a:rPr>
              <a:t>Función</a:t>
            </a:r>
          </a:p>
        </p:txBody>
      </p:sp>
      <p:sp>
        <p:nvSpPr>
          <p:cNvPr id="26" name="TextBox 25"/>
          <p:cNvSpPr txBox="1"/>
          <p:nvPr/>
        </p:nvSpPr>
        <p:spPr>
          <a:xfrm>
            <a:off x="4606442" y="4439412"/>
            <a:ext cx="3024530" cy="70866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Áreas con función propia, como un patio de tanques</a:t>
            </a:r>
          </a:p>
        </p:txBody>
      </p:sp>
      <p:sp>
        <p:nvSpPr>
          <p:cNvPr id="27" name="Rectangle 26"/>
          <p:cNvSpPr/>
          <p:nvPr/>
        </p:nvSpPr>
        <p:spPr>
          <a:xfrm>
            <a:off x="8115604" y="3662172"/>
            <a:ext cx="3527450" cy="15773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project_o.png"/>
          <p:cNvPicPr>
            <a:picLocks noChangeAspect="1"/>
          </p:cNvPicPr>
          <p:nvPr/>
        </p:nvPicPr>
        <p:blipFill>
          <a:blip r:embed="rId7"/>
          <a:stretch>
            <a:fillRect/>
          </a:stretch>
        </p:blipFill>
        <p:spPr>
          <a:xfrm>
            <a:off x="8389924" y="3890772"/>
            <a:ext cx="384048" cy="384048"/>
          </a:xfrm>
          <a:prstGeom prst="rect">
            <a:avLst/>
          </a:prstGeom>
        </p:spPr>
      </p:pic>
      <p:sp>
        <p:nvSpPr>
          <p:cNvPr id="29" name="TextBox 28"/>
          <p:cNvSpPr txBox="1"/>
          <p:nvPr/>
        </p:nvSpPr>
        <p:spPr>
          <a:xfrm>
            <a:off x="8938564" y="3845052"/>
            <a:ext cx="2475890" cy="475488"/>
          </a:xfrm>
          <a:prstGeom prst="rect">
            <a:avLst/>
          </a:prstGeom>
          <a:noFill/>
        </p:spPr>
        <p:txBody>
          <a:bodyPr wrap="square" lIns="0" rIns="0" tIns="0" bIns="0" anchor="ctr">
            <a:spAutoFit/>
          </a:bodyPr>
          <a:lstStyle/>
          <a:p>
            <a:pPr algn="l">
              <a:lnSpc>
                <a:spcPct val="95000"/>
              </a:lnSpc>
            </a:pPr>
            <a:r>
              <a:rPr sz="1500" b="1" i="0">
                <a:solidFill>
                  <a:srgbClr val="1A1A1A"/>
                </a:solidFill>
                <a:latin typeface="Arial"/>
              </a:rPr>
              <a:t>Proceso</a:t>
            </a:r>
          </a:p>
        </p:txBody>
      </p:sp>
      <p:sp>
        <p:nvSpPr>
          <p:cNvPr id="30" name="TextBox 29"/>
          <p:cNvSpPr txBox="1"/>
          <p:nvPr/>
        </p:nvSpPr>
        <p:spPr>
          <a:xfrm>
            <a:off x="8389924" y="4439412"/>
            <a:ext cx="3024530" cy="70866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No tienen que coincidir con las unidades de proceso</a:t>
            </a:r>
          </a:p>
        </p:txBody>
      </p:sp>
      <p:sp>
        <p:nvSpPr>
          <p:cNvPr id="31" name="Rectangle 30"/>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flag_o.png"/>
          <p:cNvPicPr>
            <a:picLocks noChangeAspect="1"/>
          </p:cNvPicPr>
          <p:nvPr/>
        </p:nvPicPr>
        <p:blipFill>
          <a:blip r:embed="rId8"/>
          <a:stretch>
            <a:fillRect/>
          </a:stretch>
        </p:blipFill>
        <p:spPr>
          <a:xfrm>
            <a:off x="822959" y="5660136"/>
            <a:ext cx="365760" cy="365760"/>
          </a:xfrm>
          <a:prstGeom prst="rect">
            <a:avLst/>
          </a:prstGeom>
        </p:spPr>
      </p:pic>
      <p:sp>
        <p:nvSpPr>
          <p:cNvPr id="33" name="TextBox 32"/>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Cree las CWA a inicios de FEL 2 (o al comienzo de FEL 3, como máximo) y publíquelas en un plano marcado.</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4 · PATH OF CONSTRUCTION</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El Path of Construction (POC) responde: ¿cómo y en qué orden se construye?</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M4 · FASE 1: PLANIFICACIÓN PRELIMINAR</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039</a:t>
            </a:r>
          </a:p>
        </p:txBody>
      </p:sp>
      <p:sp>
        <p:nvSpPr>
          <p:cNvPr id="7" name="Rectangle 6"/>
          <p:cNvSpPr/>
          <p:nvPr/>
        </p:nvSpPr>
        <p:spPr>
          <a:xfrm>
            <a:off x="548640" y="1828800"/>
            <a:ext cx="6949440" cy="434340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3840480"/>
            <a:ext cx="6492240" cy="320040"/>
          </a:xfrm>
          <a:prstGeom prst="rect">
            <a:avLst/>
          </a:prstGeom>
          <a:solidFill>
            <a:srgbClr val="E3EEF7"/>
          </a:solidFill>
          <a:ln w="9525">
            <a:solidFill>
              <a:srgbClr val="A8C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377440" y="3840480"/>
            <a:ext cx="4754879" cy="320040"/>
          </a:xfrm>
          <a:prstGeom prst="rect">
            <a:avLst/>
          </a:prstGeom>
          <a:noFill/>
        </p:spPr>
        <p:txBody>
          <a:bodyPr wrap="square" lIns="0" rIns="0" tIns="0" bIns="0" anchor="ctr">
            <a:spAutoFit/>
          </a:bodyPr>
          <a:lstStyle/>
          <a:p>
            <a:pPr algn="r"/>
            <a:r>
              <a:rPr sz="900" b="1" i="0" spc="100">
                <a:solidFill>
                  <a:srgbClr val="003087"/>
                </a:solidFill>
                <a:latin typeface="Arial"/>
              </a:rPr>
              <a:t>RACK DE TUBERÍAS · CWA-05</a:t>
            </a:r>
          </a:p>
        </p:txBody>
      </p:sp>
      <p:sp>
        <p:nvSpPr>
          <p:cNvPr id="10" name="Rectangle 9"/>
          <p:cNvSpPr/>
          <p:nvPr/>
        </p:nvSpPr>
        <p:spPr>
          <a:xfrm>
            <a:off x="777240" y="2057400"/>
            <a:ext cx="2103120" cy="1645920"/>
          </a:xfrm>
          <a:prstGeom prst="rect">
            <a:avLst/>
          </a:prstGeom>
          <a:solidFill>
            <a:srgbClr val="F2F2F2"/>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86968" y="2130552"/>
            <a:ext cx="1920239" cy="228600"/>
          </a:xfrm>
          <a:prstGeom prst="rect">
            <a:avLst/>
          </a:prstGeom>
          <a:noFill/>
        </p:spPr>
        <p:txBody>
          <a:bodyPr wrap="square" lIns="0" rIns="0" tIns="0" bIns="0" anchor="t">
            <a:spAutoFit/>
          </a:bodyPr>
          <a:lstStyle/>
          <a:p>
            <a:pPr algn="l"/>
            <a:r>
              <a:rPr sz="1000" b="1" i="0">
                <a:solidFill>
                  <a:srgbClr val="003087"/>
                </a:solidFill>
                <a:latin typeface="Courier New"/>
              </a:rPr>
              <a:t>CWA-01</a:t>
            </a:r>
          </a:p>
        </p:txBody>
      </p:sp>
      <p:sp>
        <p:nvSpPr>
          <p:cNvPr id="12" name="TextBox 11"/>
          <p:cNvSpPr txBox="1"/>
          <p:nvPr/>
        </p:nvSpPr>
        <p:spPr>
          <a:xfrm>
            <a:off x="886968" y="2359152"/>
            <a:ext cx="1920239" cy="274320"/>
          </a:xfrm>
          <a:prstGeom prst="rect">
            <a:avLst/>
          </a:prstGeom>
          <a:noFill/>
        </p:spPr>
        <p:txBody>
          <a:bodyPr wrap="square" lIns="0" rIns="0" tIns="0" bIns="0" anchor="t">
            <a:spAutoFit/>
          </a:bodyPr>
          <a:lstStyle/>
          <a:p>
            <a:pPr algn="l"/>
            <a:r>
              <a:rPr sz="1000" b="0" i="0">
                <a:solidFill>
                  <a:srgbClr val="6D6E71"/>
                </a:solidFill>
                <a:latin typeface="Arial"/>
              </a:rPr>
              <a:t>Unidad de proceso</a:t>
            </a:r>
          </a:p>
        </p:txBody>
      </p:sp>
      <p:sp>
        <p:nvSpPr>
          <p:cNvPr id="13" name="Rectangle 12"/>
          <p:cNvSpPr/>
          <p:nvPr/>
        </p:nvSpPr>
        <p:spPr>
          <a:xfrm>
            <a:off x="3017520" y="2057400"/>
            <a:ext cx="1920240" cy="1645920"/>
          </a:xfrm>
          <a:prstGeom prst="rect">
            <a:avLst/>
          </a:prstGeom>
          <a:solidFill>
            <a:srgbClr val="F2F2F2"/>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127248" y="2130552"/>
            <a:ext cx="1737360" cy="228600"/>
          </a:xfrm>
          <a:prstGeom prst="rect">
            <a:avLst/>
          </a:prstGeom>
          <a:noFill/>
        </p:spPr>
        <p:txBody>
          <a:bodyPr wrap="square" lIns="0" rIns="0" tIns="0" bIns="0" anchor="t">
            <a:spAutoFit/>
          </a:bodyPr>
          <a:lstStyle/>
          <a:p>
            <a:pPr algn="l"/>
            <a:r>
              <a:rPr sz="1000" b="1" i="0">
                <a:solidFill>
                  <a:srgbClr val="003087"/>
                </a:solidFill>
                <a:latin typeface="Courier New"/>
              </a:rPr>
              <a:t>CWA-02</a:t>
            </a:r>
          </a:p>
        </p:txBody>
      </p:sp>
      <p:sp>
        <p:nvSpPr>
          <p:cNvPr id="15" name="TextBox 14"/>
          <p:cNvSpPr txBox="1"/>
          <p:nvPr/>
        </p:nvSpPr>
        <p:spPr>
          <a:xfrm>
            <a:off x="3127248" y="2359152"/>
            <a:ext cx="1737360" cy="274320"/>
          </a:xfrm>
          <a:prstGeom prst="rect">
            <a:avLst/>
          </a:prstGeom>
          <a:noFill/>
        </p:spPr>
        <p:txBody>
          <a:bodyPr wrap="square" lIns="0" rIns="0" tIns="0" bIns="0" anchor="t">
            <a:spAutoFit/>
          </a:bodyPr>
          <a:lstStyle/>
          <a:p>
            <a:pPr algn="l"/>
            <a:r>
              <a:rPr sz="1000" b="0" i="0">
                <a:solidFill>
                  <a:srgbClr val="6D6E71"/>
                </a:solidFill>
                <a:latin typeface="Arial"/>
              </a:rPr>
              <a:t>Compresión</a:t>
            </a:r>
          </a:p>
        </p:txBody>
      </p:sp>
      <p:sp>
        <p:nvSpPr>
          <p:cNvPr id="16" name="Rectangle 15"/>
          <p:cNvSpPr/>
          <p:nvPr/>
        </p:nvSpPr>
        <p:spPr>
          <a:xfrm>
            <a:off x="5074920" y="2057400"/>
            <a:ext cx="2194560" cy="777240"/>
          </a:xfrm>
          <a:prstGeom prst="rect">
            <a:avLst/>
          </a:prstGeom>
          <a:solidFill>
            <a:srgbClr val="F2F2F2"/>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184648" y="2130552"/>
            <a:ext cx="2011679" cy="228600"/>
          </a:xfrm>
          <a:prstGeom prst="rect">
            <a:avLst/>
          </a:prstGeom>
          <a:noFill/>
        </p:spPr>
        <p:txBody>
          <a:bodyPr wrap="square" lIns="0" rIns="0" tIns="0" bIns="0" anchor="t">
            <a:spAutoFit/>
          </a:bodyPr>
          <a:lstStyle/>
          <a:p>
            <a:pPr algn="l"/>
            <a:r>
              <a:rPr sz="1000" b="1" i="0">
                <a:solidFill>
                  <a:srgbClr val="003087"/>
                </a:solidFill>
                <a:latin typeface="Courier New"/>
              </a:rPr>
              <a:t>CWA-03</a:t>
            </a:r>
          </a:p>
        </p:txBody>
      </p:sp>
      <p:sp>
        <p:nvSpPr>
          <p:cNvPr id="18" name="TextBox 17"/>
          <p:cNvSpPr txBox="1"/>
          <p:nvPr/>
        </p:nvSpPr>
        <p:spPr>
          <a:xfrm>
            <a:off x="5184648" y="2359152"/>
            <a:ext cx="2011679" cy="274320"/>
          </a:xfrm>
          <a:prstGeom prst="rect">
            <a:avLst/>
          </a:prstGeom>
          <a:noFill/>
        </p:spPr>
        <p:txBody>
          <a:bodyPr wrap="square" lIns="0" rIns="0" tIns="0" bIns="0" anchor="t">
            <a:spAutoFit/>
          </a:bodyPr>
          <a:lstStyle/>
          <a:p>
            <a:pPr algn="l"/>
            <a:r>
              <a:rPr sz="1000" b="0" i="0">
                <a:solidFill>
                  <a:srgbClr val="6D6E71"/>
                </a:solidFill>
                <a:latin typeface="Arial"/>
              </a:rPr>
              <a:t>Subestación</a:t>
            </a:r>
          </a:p>
        </p:txBody>
      </p:sp>
      <p:sp>
        <p:nvSpPr>
          <p:cNvPr id="19" name="Rectangle 18"/>
          <p:cNvSpPr/>
          <p:nvPr/>
        </p:nvSpPr>
        <p:spPr>
          <a:xfrm>
            <a:off x="5074920" y="2926080"/>
            <a:ext cx="2194560" cy="777240"/>
          </a:xfrm>
          <a:prstGeom prst="rect">
            <a:avLst/>
          </a:prstGeom>
          <a:solidFill>
            <a:srgbClr val="F2F2F2"/>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184648" y="2999232"/>
            <a:ext cx="2011679" cy="228600"/>
          </a:xfrm>
          <a:prstGeom prst="rect">
            <a:avLst/>
          </a:prstGeom>
          <a:noFill/>
        </p:spPr>
        <p:txBody>
          <a:bodyPr wrap="square" lIns="0" rIns="0" tIns="0" bIns="0" anchor="t">
            <a:spAutoFit/>
          </a:bodyPr>
          <a:lstStyle/>
          <a:p>
            <a:pPr algn="l"/>
            <a:r>
              <a:rPr sz="1000" b="1" i="0">
                <a:solidFill>
                  <a:srgbClr val="003087"/>
                </a:solidFill>
                <a:latin typeface="Courier New"/>
              </a:rPr>
              <a:t>CWA-04</a:t>
            </a:r>
          </a:p>
        </p:txBody>
      </p:sp>
      <p:sp>
        <p:nvSpPr>
          <p:cNvPr id="21" name="TextBox 20"/>
          <p:cNvSpPr txBox="1"/>
          <p:nvPr/>
        </p:nvSpPr>
        <p:spPr>
          <a:xfrm>
            <a:off x="5184648" y="3227832"/>
            <a:ext cx="2011679" cy="274320"/>
          </a:xfrm>
          <a:prstGeom prst="rect">
            <a:avLst/>
          </a:prstGeom>
          <a:noFill/>
        </p:spPr>
        <p:txBody>
          <a:bodyPr wrap="square" lIns="0" rIns="0" tIns="0" bIns="0" anchor="t">
            <a:spAutoFit/>
          </a:bodyPr>
          <a:lstStyle/>
          <a:p>
            <a:pPr algn="l"/>
            <a:r>
              <a:rPr sz="1000" b="0" i="0">
                <a:solidFill>
                  <a:srgbClr val="6D6E71"/>
                </a:solidFill>
                <a:latin typeface="Arial"/>
              </a:rPr>
              <a:t>Sala de control</a:t>
            </a:r>
          </a:p>
        </p:txBody>
      </p:sp>
      <p:sp>
        <p:nvSpPr>
          <p:cNvPr id="22" name="Rectangle 21"/>
          <p:cNvSpPr/>
          <p:nvPr/>
        </p:nvSpPr>
        <p:spPr>
          <a:xfrm>
            <a:off x="777240" y="4297680"/>
            <a:ext cx="2743200" cy="1645920"/>
          </a:xfrm>
          <a:prstGeom prst="rect">
            <a:avLst/>
          </a:prstGeom>
          <a:solidFill>
            <a:srgbClr val="F2F2F2"/>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86968" y="4370832"/>
            <a:ext cx="2560320" cy="228600"/>
          </a:xfrm>
          <a:prstGeom prst="rect">
            <a:avLst/>
          </a:prstGeom>
          <a:noFill/>
        </p:spPr>
        <p:txBody>
          <a:bodyPr wrap="square" lIns="0" rIns="0" tIns="0" bIns="0" anchor="t">
            <a:spAutoFit/>
          </a:bodyPr>
          <a:lstStyle/>
          <a:p>
            <a:pPr algn="l"/>
            <a:r>
              <a:rPr sz="1000" b="1" i="0">
                <a:solidFill>
                  <a:srgbClr val="003087"/>
                </a:solidFill>
                <a:latin typeface="Courier New"/>
              </a:rPr>
              <a:t>CWA-06</a:t>
            </a:r>
          </a:p>
        </p:txBody>
      </p:sp>
      <p:sp>
        <p:nvSpPr>
          <p:cNvPr id="24" name="TextBox 23"/>
          <p:cNvSpPr txBox="1"/>
          <p:nvPr/>
        </p:nvSpPr>
        <p:spPr>
          <a:xfrm>
            <a:off x="886968" y="4599432"/>
            <a:ext cx="2560320" cy="274320"/>
          </a:xfrm>
          <a:prstGeom prst="rect">
            <a:avLst/>
          </a:prstGeom>
          <a:noFill/>
        </p:spPr>
        <p:txBody>
          <a:bodyPr wrap="square" lIns="0" rIns="0" tIns="0" bIns="0" anchor="t">
            <a:spAutoFit/>
          </a:bodyPr>
          <a:lstStyle/>
          <a:p>
            <a:pPr algn="l"/>
            <a:r>
              <a:rPr sz="1000" b="0" i="0">
                <a:solidFill>
                  <a:srgbClr val="6D6E71"/>
                </a:solidFill>
                <a:latin typeface="Arial"/>
              </a:rPr>
              <a:t>Tanques</a:t>
            </a:r>
          </a:p>
        </p:txBody>
      </p:sp>
      <p:sp>
        <p:nvSpPr>
          <p:cNvPr id="25" name="Rectangle 24"/>
          <p:cNvSpPr/>
          <p:nvPr/>
        </p:nvSpPr>
        <p:spPr>
          <a:xfrm>
            <a:off x="3657600" y="4297680"/>
            <a:ext cx="1828800" cy="1645920"/>
          </a:xfrm>
          <a:prstGeom prst="rect">
            <a:avLst/>
          </a:prstGeom>
          <a:solidFill>
            <a:srgbClr val="F2F2F2"/>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767328" y="4370832"/>
            <a:ext cx="1645920" cy="228600"/>
          </a:xfrm>
          <a:prstGeom prst="rect">
            <a:avLst/>
          </a:prstGeom>
          <a:noFill/>
        </p:spPr>
        <p:txBody>
          <a:bodyPr wrap="square" lIns="0" rIns="0" tIns="0" bIns="0" anchor="t">
            <a:spAutoFit/>
          </a:bodyPr>
          <a:lstStyle/>
          <a:p>
            <a:pPr algn="l"/>
            <a:r>
              <a:rPr sz="1000" b="1" i="0">
                <a:solidFill>
                  <a:srgbClr val="003087"/>
                </a:solidFill>
                <a:latin typeface="Courier New"/>
              </a:rPr>
              <a:t>CWA-07</a:t>
            </a:r>
          </a:p>
        </p:txBody>
      </p:sp>
      <p:sp>
        <p:nvSpPr>
          <p:cNvPr id="27" name="TextBox 26"/>
          <p:cNvSpPr txBox="1"/>
          <p:nvPr/>
        </p:nvSpPr>
        <p:spPr>
          <a:xfrm>
            <a:off x="3767328" y="4599432"/>
            <a:ext cx="1645920" cy="274320"/>
          </a:xfrm>
          <a:prstGeom prst="rect">
            <a:avLst/>
          </a:prstGeom>
          <a:noFill/>
        </p:spPr>
        <p:txBody>
          <a:bodyPr wrap="square" lIns="0" rIns="0" tIns="0" bIns="0" anchor="t">
            <a:spAutoFit/>
          </a:bodyPr>
          <a:lstStyle/>
          <a:p>
            <a:pPr algn="l"/>
            <a:r>
              <a:rPr sz="1000" b="0" i="0">
                <a:solidFill>
                  <a:srgbClr val="6D6E71"/>
                </a:solidFill>
                <a:latin typeface="Arial"/>
              </a:rPr>
              <a:t>Torre de enfriamiento</a:t>
            </a:r>
          </a:p>
        </p:txBody>
      </p:sp>
      <p:sp>
        <p:nvSpPr>
          <p:cNvPr id="28" name="Rectangle 27"/>
          <p:cNvSpPr/>
          <p:nvPr/>
        </p:nvSpPr>
        <p:spPr>
          <a:xfrm>
            <a:off x="5623559" y="4297680"/>
            <a:ext cx="1645920" cy="1645920"/>
          </a:xfrm>
          <a:prstGeom prst="rect">
            <a:avLst/>
          </a:prstGeom>
          <a:solidFill>
            <a:srgbClr val="F2F2F2"/>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733288" y="4370832"/>
            <a:ext cx="1463040" cy="228600"/>
          </a:xfrm>
          <a:prstGeom prst="rect">
            <a:avLst/>
          </a:prstGeom>
          <a:noFill/>
        </p:spPr>
        <p:txBody>
          <a:bodyPr wrap="square" lIns="0" rIns="0" tIns="0" bIns="0" anchor="t">
            <a:spAutoFit/>
          </a:bodyPr>
          <a:lstStyle/>
          <a:p>
            <a:pPr algn="l"/>
            <a:r>
              <a:rPr sz="1000" b="1" i="0">
                <a:solidFill>
                  <a:srgbClr val="003087"/>
                </a:solidFill>
                <a:latin typeface="Courier New"/>
              </a:rPr>
              <a:t>CWA-08</a:t>
            </a:r>
          </a:p>
        </p:txBody>
      </p:sp>
      <p:sp>
        <p:nvSpPr>
          <p:cNvPr id="30" name="TextBox 29"/>
          <p:cNvSpPr txBox="1"/>
          <p:nvPr/>
        </p:nvSpPr>
        <p:spPr>
          <a:xfrm>
            <a:off x="5733288" y="4599432"/>
            <a:ext cx="1463040" cy="274320"/>
          </a:xfrm>
          <a:prstGeom prst="rect">
            <a:avLst/>
          </a:prstGeom>
          <a:noFill/>
        </p:spPr>
        <p:txBody>
          <a:bodyPr wrap="square" lIns="0" rIns="0" tIns="0" bIns="0" anchor="t">
            <a:spAutoFit/>
          </a:bodyPr>
          <a:lstStyle/>
          <a:p>
            <a:pPr algn="l"/>
            <a:r>
              <a:rPr sz="1000" b="0" i="0">
                <a:solidFill>
                  <a:srgbClr val="6D6E71"/>
                </a:solidFill>
                <a:latin typeface="Arial"/>
              </a:rPr>
              <a:t>Servicios</a:t>
            </a:r>
          </a:p>
        </p:txBody>
      </p:sp>
      <p:sp>
        <p:nvSpPr>
          <p:cNvPr id="31" name="Oval 30"/>
          <p:cNvSpPr/>
          <p:nvPr/>
        </p:nvSpPr>
        <p:spPr>
          <a:xfrm>
            <a:off x="6720839" y="2432304"/>
            <a:ext cx="365760" cy="36576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720839" y="2432304"/>
            <a:ext cx="365760" cy="365760"/>
          </a:xfrm>
          <a:prstGeom prst="rect">
            <a:avLst/>
          </a:prstGeom>
          <a:noFill/>
        </p:spPr>
        <p:txBody>
          <a:bodyPr wrap="square" lIns="0" rIns="0" tIns="0" bIns="0" anchor="ctr">
            <a:spAutoFit/>
          </a:bodyPr>
          <a:lstStyle/>
          <a:p>
            <a:pPr algn="ctr"/>
            <a:r>
              <a:rPr sz="1200" b="1" i="0">
                <a:solidFill>
                  <a:srgbClr val="FFFFFF"/>
                </a:solidFill>
                <a:latin typeface="Arial"/>
              </a:rPr>
              <a:t>1</a:t>
            </a:r>
          </a:p>
        </p:txBody>
      </p:sp>
      <p:sp>
        <p:nvSpPr>
          <p:cNvPr id="33" name="Oval 32"/>
          <p:cNvSpPr/>
          <p:nvPr/>
        </p:nvSpPr>
        <p:spPr>
          <a:xfrm>
            <a:off x="6720839" y="3300983"/>
            <a:ext cx="365760" cy="36576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720839" y="3300983"/>
            <a:ext cx="365760" cy="365760"/>
          </a:xfrm>
          <a:prstGeom prst="rect">
            <a:avLst/>
          </a:prstGeom>
          <a:noFill/>
        </p:spPr>
        <p:txBody>
          <a:bodyPr wrap="square" lIns="0" rIns="0" tIns="0" bIns="0" anchor="ctr">
            <a:spAutoFit/>
          </a:bodyPr>
          <a:lstStyle/>
          <a:p>
            <a:pPr algn="ctr"/>
            <a:r>
              <a:rPr sz="1200" b="1" i="0">
                <a:solidFill>
                  <a:srgbClr val="FFFFFF"/>
                </a:solidFill>
                <a:latin typeface="Arial"/>
              </a:rPr>
              <a:t>2</a:t>
            </a:r>
          </a:p>
        </p:txBody>
      </p:sp>
      <p:sp>
        <p:nvSpPr>
          <p:cNvPr id="35" name="Oval 34"/>
          <p:cNvSpPr/>
          <p:nvPr/>
        </p:nvSpPr>
        <p:spPr>
          <a:xfrm>
            <a:off x="4389120" y="3300983"/>
            <a:ext cx="365760" cy="36576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389120" y="3300983"/>
            <a:ext cx="365760" cy="365760"/>
          </a:xfrm>
          <a:prstGeom prst="rect">
            <a:avLst/>
          </a:prstGeom>
          <a:noFill/>
        </p:spPr>
        <p:txBody>
          <a:bodyPr wrap="square" lIns="0" rIns="0" tIns="0" bIns="0" anchor="ctr">
            <a:spAutoFit/>
          </a:bodyPr>
          <a:lstStyle/>
          <a:p>
            <a:pPr algn="ctr"/>
            <a:r>
              <a:rPr sz="1200" b="1" i="0">
                <a:solidFill>
                  <a:srgbClr val="FFFFFF"/>
                </a:solidFill>
                <a:latin typeface="Arial"/>
              </a:rPr>
              <a:t>3</a:t>
            </a:r>
          </a:p>
        </p:txBody>
      </p:sp>
      <p:sp>
        <p:nvSpPr>
          <p:cNvPr id="37" name="Oval 36"/>
          <p:cNvSpPr/>
          <p:nvPr/>
        </p:nvSpPr>
        <p:spPr>
          <a:xfrm>
            <a:off x="2331720" y="3300983"/>
            <a:ext cx="365760" cy="36576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2331720" y="3300983"/>
            <a:ext cx="365760" cy="365760"/>
          </a:xfrm>
          <a:prstGeom prst="rect">
            <a:avLst/>
          </a:prstGeom>
          <a:noFill/>
        </p:spPr>
        <p:txBody>
          <a:bodyPr wrap="square" lIns="0" rIns="0" tIns="0" bIns="0" anchor="ctr">
            <a:spAutoFit/>
          </a:bodyPr>
          <a:lstStyle/>
          <a:p>
            <a:pPr algn="ctr"/>
            <a:r>
              <a:rPr sz="1200" b="1" i="0">
                <a:solidFill>
                  <a:srgbClr val="FFFFFF"/>
                </a:solidFill>
                <a:latin typeface="Arial"/>
              </a:rPr>
              <a:t>4</a:t>
            </a:r>
          </a:p>
        </p:txBody>
      </p:sp>
      <p:sp>
        <p:nvSpPr>
          <p:cNvPr id="39" name="Oval 38"/>
          <p:cNvSpPr/>
          <p:nvPr/>
        </p:nvSpPr>
        <p:spPr>
          <a:xfrm>
            <a:off x="1645920" y="3817620"/>
            <a:ext cx="365760" cy="36576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645920" y="3817620"/>
            <a:ext cx="365760" cy="365760"/>
          </a:xfrm>
          <a:prstGeom prst="rect">
            <a:avLst/>
          </a:prstGeom>
          <a:noFill/>
        </p:spPr>
        <p:txBody>
          <a:bodyPr wrap="square" lIns="0" rIns="0" tIns="0" bIns="0" anchor="ctr">
            <a:spAutoFit/>
          </a:bodyPr>
          <a:lstStyle/>
          <a:p>
            <a:pPr algn="ctr"/>
            <a:r>
              <a:rPr sz="1200" b="1" i="0">
                <a:solidFill>
                  <a:srgbClr val="FFFFFF"/>
                </a:solidFill>
                <a:latin typeface="Arial"/>
              </a:rPr>
              <a:t>5</a:t>
            </a:r>
          </a:p>
        </p:txBody>
      </p:sp>
      <p:sp>
        <p:nvSpPr>
          <p:cNvPr id="41" name="Oval 40"/>
          <p:cNvSpPr/>
          <p:nvPr/>
        </p:nvSpPr>
        <p:spPr>
          <a:xfrm>
            <a:off x="2971800" y="5541264"/>
            <a:ext cx="365760" cy="36576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2971800" y="5541264"/>
            <a:ext cx="365760" cy="365760"/>
          </a:xfrm>
          <a:prstGeom prst="rect">
            <a:avLst/>
          </a:prstGeom>
          <a:noFill/>
        </p:spPr>
        <p:txBody>
          <a:bodyPr wrap="square" lIns="0" rIns="0" tIns="0" bIns="0" anchor="ctr">
            <a:spAutoFit/>
          </a:bodyPr>
          <a:lstStyle/>
          <a:p>
            <a:pPr algn="ctr"/>
            <a:r>
              <a:rPr sz="1200" b="1" i="0">
                <a:solidFill>
                  <a:srgbClr val="FFFFFF"/>
                </a:solidFill>
                <a:latin typeface="Arial"/>
              </a:rPr>
              <a:t>6</a:t>
            </a:r>
          </a:p>
        </p:txBody>
      </p:sp>
      <p:sp>
        <p:nvSpPr>
          <p:cNvPr id="43" name="Oval 42"/>
          <p:cNvSpPr/>
          <p:nvPr/>
        </p:nvSpPr>
        <p:spPr>
          <a:xfrm>
            <a:off x="4937759" y="5541264"/>
            <a:ext cx="365760" cy="36576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4937759" y="5541264"/>
            <a:ext cx="365760" cy="365760"/>
          </a:xfrm>
          <a:prstGeom prst="rect">
            <a:avLst/>
          </a:prstGeom>
          <a:noFill/>
        </p:spPr>
        <p:txBody>
          <a:bodyPr wrap="square" lIns="0" rIns="0" tIns="0" bIns="0" anchor="ctr">
            <a:spAutoFit/>
          </a:bodyPr>
          <a:lstStyle/>
          <a:p>
            <a:pPr algn="ctr"/>
            <a:r>
              <a:rPr sz="1200" b="1" i="0">
                <a:solidFill>
                  <a:srgbClr val="FFFFFF"/>
                </a:solidFill>
                <a:latin typeface="Arial"/>
              </a:rPr>
              <a:t>7</a:t>
            </a:r>
          </a:p>
        </p:txBody>
      </p:sp>
      <p:sp>
        <p:nvSpPr>
          <p:cNvPr id="45" name="Oval 44"/>
          <p:cNvSpPr/>
          <p:nvPr/>
        </p:nvSpPr>
        <p:spPr>
          <a:xfrm>
            <a:off x="6720839" y="5541264"/>
            <a:ext cx="365760" cy="36576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6720839" y="5541264"/>
            <a:ext cx="365760" cy="365760"/>
          </a:xfrm>
          <a:prstGeom prst="rect">
            <a:avLst/>
          </a:prstGeom>
          <a:noFill/>
        </p:spPr>
        <p:txBody>
          <a:bodyPr wrap="square" lIns="0" rIns="0" tIns="0" bIns="0" anchor="ctr">
            <a:spAutoFit/>
          </a:bodyPr>
          <a:lstStyle/>
          <a:p>
            <a:pPr algn="ctr"/>
            <a:r>
              <a:rPr sz="1200" b="1" i="0">
                <a:solidFill>
                  <a:srgbClr val="FFFFFF"/>
                </a:solidFill>
                <a:latin typeface="Arial"/>
              </a:rPr>
              <a:t>8</a:t>
            </a:r>
          </a:p>
        </p:txBody>
      </p:sp>
      <p:cxnSp>
        <p:nvCxnSpPr>
          <p:cNvPr id="47" name="Connector 46"/>
          <p:cNvCxnSpPr/>
          <p:nvPr/>
        </p:nvCxnSpPr>
        <p:spPr>
          <a:xfrm>
            <a:off x="6903719" y="2843784"/>
            <a:ext cx="0" cy="393191"/>
          </a:xfrm>
          <a:prstGeom prst="line">
            <a:avLst/>
          </a:prstGeom>
          <a:ln w="1905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4818888" y="3483863"/>
            <a:ext cx="1856231" cy="0"/>
          </a:xfrm>
          <a:prstGeom prst="line">
            <a:avLst/>
          </a:prstGeom>
          <a:ln w="1905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2761488" y="3483863"/>
            <a:ext cx="1581912" cy="0"/>
          </a:xfrm>
          <a:prstGeom prst="line">
            <a:avLst/>
          </a:prstGeom>
          <a:ln w="1905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2025994" y="3621413"/>
            <a:ext cx="306018" cy="230533"/>
          </a:xfrm>
          <a:prstGeom prst="line">
            <a:avLst/>
          </a:prstGeom>
          <a:ln w="1905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968179" y="4181693"/>
            <a:ext cx="1035970" cy="1346761"/>
          </a:xfrm>
          <a:prstGeom prst="line">
            <a:avLst/>
          </a:prstGeom>
          <a:ln w="1905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3383280" y="5724144"/>
            <a:ext cx="1490472" cy="0"/>
          </a:xfrm>
          <a:prstGeom prst="line">
            <a:avLst/>
          </a:prstGeom>
          <a:ln w="1905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5349240" y="5724144"/>
            <a:ext cx="1307591" cy="0"/>
          </a:xfrm>
          <a:prstGeom prst="line">
            <a:avLst/>
          </a:prstGeom>
          <a:ln w="1905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7818119" y="1828800"/>
            <a:ext cx="3824935" cy="1310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5" name="Picture 54" descr="compass_o.png"/>
          <p:cNvPicPr>
            <a:picLocks noChangeAspect="1"/>
          </p:cNvPicPr>
          <p:nvPr/>
        </p:nvPicPr>
        <p:blipFill>
          <a:blip r:embed="rId2"/>
          <a:stretch>
            <a:fillRect/>
          </a:stretch>
        </p:blipFill>
        <p:spPr>
          <a:xfrm>
            <a:off x="8046719" y="2029968"/>
            <a:ext cx="365760" cy="365760"/>
          </a:xfrm>
          <a:prstGeom prst="rect">
            <a:avLst/>
          </a:prstGeom>
        </p:spPr>
      </p:pic>
      <p:sp>
        <p:nvSpPr>
          <p:cNvPr id="56" name="TextBox 55"/>
          <p:cNvSpPr txBox="1"/>
          <p:nvPr/>
        </p:nvSpPr>
        <p:spPr>
          <a:xfrm>
            <a:off x="8595359" y="1938528"/>
            <a:ext cx="2864815" cy="1082039"/>
          </a:xfrm>
          <a:prstGeom prst="rect">
            <a:avLst/>
          </a:prstGeom>
          <a:noFill/>
        </p:spPr>
        <p:txBody>
          <a:bodyPr wrap="square" lIns="0" rIns="0" tIns="0" bIns="0" anchor="ctr">
            <a:spAutoFit/>
          </a:bodyPr>
          <a:lstStyle/>
          <a:p>
            <a:pPr algn="l">
              <a:lnSpc>
                <a:spcPct val="105000"/>
              </a:lnSpc>
              <a:spcAft>
                <a:spcPts val="200"/>
              </a:spcAft>
            </a:pPr>
            <a:r>
              <a:rPr sz="1350" b="1" i="0">
                <a:solidFill>
                  <a:srgbClr val="1A1A1A"/>
                </a:solidFill>
                <a:latin typeface="Arial"/>
              </a:rPr>
              <a:t>¿En qué dirección?</a:t>
            </a:r>
          </a:p>
          <a:p>
            <a:pPr algn="l">
              <a:lnSpc>
                <a:spcPct val="105000"/>
              </a:lnSpc>
              <a:spcAft>
                <a:spcPts val="200"/>
              </a:spcAft>
            </a:pPr>
            <a:r>
              <a:rPr sz="1150" b="0" i="0">
                <a:solidFill>
                  <a:srgbClr val="6D6E71"/>
                </a:solidFill>
                <a:latin typeface="Arial"/>
              </a:rPr>
              <a:t>¿De norte a sur? ¿De izquierda a derecha?</a:t>
            </a:r>
          </a:p>
        </p:txBody>
      </p:sp>
      <p:sp>
        <p:nvSpPr>
          <p:cNvPr id="57" name="Rectangle 56"/>
          <p:cNvSpPr/>
          <p:nvPr/>
        </p:nvSpPr>
        <p:spPr>
          <a:xfrm>
            <a:off x="7818119" y="3276599"/>
            <a:ext cx="3824935" cy="1310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8" name="Picture 57" descr="target_o.png"/>
          <p:cNvPicPr>
            <a:picLocks noChangeAspect="1"/>
          </p:cNvPicPr>
          <p:nvPr/>
        </p:nvPicPr>
        <p:blipFill>
          <a:blip r:embed="rId3"/>
          <a:stretch>
            <a:fillRect/>
          </a:stretch>
        </p:blipFill>
        <p:spPr>
          <a:xfrm>
            <a:off x="8046719" y="3477768"/>
            <a:ext cx="365760" cy="365760"/>
          </a:xfrm>
          <a:prstGeom prst="rect">
            <a:avLst/>
          </a:prstGeom>
        </p:spPr>
      </p:pic>
      <p:sp>
        <p:nvSpPr>
          <p:cNvPr id="59" name="TextBox 58"/>
          <p:cNvSpPr txBox="1"/>
          <p:nvPr/>
        </p:nvSpPr>
        <p:spPr>
          <a:xfrm>
            <a:off x="8595359" y="3386328"/>
            <a:ext cx="2864815" cy="1082039"/>
          </a:xfrm>
          <a:prstGeom prst="rect">
            <a:avLst/>
          </a:prstGeom>
          <a:noFill/>
        </p:spPr>
        <p:txBody>
          <a:bodyPr wrap="square" lIns="0" rIns="0" tIns="0" bIns="0" anchor="ctr">
            <a:spAutoFit/>
          </a:bodyPr>
          <a:lstStyle/>
          <a:p>
            <a:pPr algn="l">
              <a:lnSpc>
                <a:spcPct val="105000"/>
              </a:lnSpc>
              <a:spcAft>
                <a:spcPts val="200"/>
              </a:spcAft>
            </a:pPr>
            <a:r>
              <a:rPr sz="1350" b="1" i="0">
                <a:solidFill>
                  <a:srgbClr val="1A1A1A"/>
                </a:solidFill>
                <a:latin typeface="Arial"/>
              </a:rPr>
              <a:t>¿Qué va primero?</a:t>
            </a:r>
          </a:p>
          <a:p>
            <a:pPr algn="l">
              <a:lnSpc>
                <a:spcPct val="105000"/>
              </a:lnSpc>
              <a:spcAft>
                <a:spcPts val="200"/>
              </a:spcAft>
            </a:pPr>
            <a:r>
              <a:rPr sz="1150" b="0" i="0">
                <a:solidFill>
                  <a:srgbClr val="6D6E71"/>
                </a:solidFill>
                <a:latin typeface="Arial"/>
              </a:rPr>
              <a:t>Prioridades y áreas críticas</a:t>
            </a:r>
          </a:p>
        </p:txBody>
      </p:sp>
      <p:sp>
        <p:nvSpPr>
          <p:cNvPr id="60" name="Rectangle 59"/>
          <p:cNvSpPr/>
          <p:nvPr/>
        </p:nvSpPr>
        <p:spPr>
          <a:xfrm>
            <a:off x="7818119" y="4724399"/>
            <a:ext cx="3824935" cy="1310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1" name="Picture 60" descr="crane_o.png"/>
          <p:cNvPicPr>
            <a:picLocks noChangeAspect="1"/>
          </p:cNvPicPr>
          <p:nvPr/>
        </p:nvPicPr>
        <p:blipFill>
          <a:blip r:embed="rId4"/>
          <a:stretch>
            <a:fillRect/>
          </a:stretch>
        </p:blipFill>
        <p:spPr>
          <a:xfrm>
            <a:off x="8046719" y="4925567"/>
            <a:ext cx="365760" cy="365760"/>
          </a:xfrm>
          <a:prstGeom prst="rect">
            <a:avLst/>
          </a:prstGeom>
        </p:spPr>
      </p:pic>
      <p:sp>
        <p:nvSpPr>
          <p:cNvPr id="62" name="TextBox 61"/>
          <p:cNvSpPr txBox="1"/>
          <p:nvPr/>
        </p:nvSpPr>
        <p:spPr>
          <a:xfrm>
            <a:off x="8595359" y="4834128"/>
            <a:ext cx="2864815" cy="1082039"/>
          </a:xfrm>
          <a:prstGeom prst="rect">
            <a:avLst/>
          </a:prstGeom>
          <a:noFill/>
        </p:spPr>
        <p:txBody>
          <a:bodyPr wrap="square" lIns="0" rIns="0" tIns="0" bIns="0" anchor="ctr">
            <a:spAutoFit/>
          </a:bodyPr>
          <a:lstStyle/>
          <a:p>
            <a:pPr algn="l">
              <a:lnSpc>
                <a:spcPct val="105000"/>
              </a:lnSpc>
              <a:spcAft>
                <a:spcPts val="200"/>
              </a:spcAft>
            </a:pPr>
            <a:r>
              <a:rPr sz="1350" b="1" i="0">
                <a:solidFill>
                  <a:srgbClr val="1A1A1A"/>
                </a:solidFill>
                <a:latin typeface="Arial"/>
              </a:rPr>
              <a:t>¿Con qué recursos?</a:t>
            </a:r>
          </a:p>
          <a:p>
            <a:pPr algn="l">
              <a:lnSpc>
                <a:spcPct val="105000"/>
              </a:lnSpc>
              <a:spcAft>
                <a:spcPts val="200"/>
              </a:spcAft>
            </a:pPr>
            <a:r>
              <a:rPr sz="1150" b="0" i="0">
                <a:solidFill>
                  <a:srgbClr val="6D6E71"/>
                </a:solidFill>
                <a:latin typeface="Arial"/>
              </a:rPr>
              <a:t>Accesos, grúas, acopio y módulos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4 · COMPONENTES DEL POC</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El POC tiene componentes definidos, no es un dibujo libre</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M4 · FASE 1: PLANIFICACIÓN PRELIMINAR</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040</a:t>
            </a:r>
          </a:p>
        </p:txBody>
      </p:sp>
      <p:sp>
        <p:nvSpPr>
          <p:cNvPr id="7" name="Rectangle 6"/>
          <p:cNvSpPr/>
          <p:nvPr/>
        </p:nvSpPr>
        <p:spPr>
          <a:xfrm>
            <a:off x="548640" y="1828800"/>
            <a:ext cx="2581579" cy="24688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map_o.png"/>
          <p:cNvPicPr>
            <a:picLocks noChangeAspect="1"/>
          </p:cNvPicPr>
          <p:nvPr/>
        </p:nvPicPr>
        <p:blipFill>
          <a:blip r:embed="rId2"/>
          <a:stretch>
            <a:fillRect/>
          </a:stretch>
        </p:blipFill>
        <p:spPr>
          <a:xfrm>
            <a:off x="822959" y="2084832"/>
            <a:ext cx="457200" cy="457200"/>
          </a:xfrm>
          <a:prstGeom prst="rect">
            <a:avLst/>
          </a:prstGeom>
        </p:spPr>
      </p:pic>
      <p:sp>
        <p:nvSpPr>
          <p:cNvPr id="9" name="TextBox 8"/>
          <p:cNvSpPr txBox="1"/>
          <p:nvPr/>
        </p:nvSpPr>
        <p:spPr>
          <a:xfrm>
            <a:off x="822959" y="2706624"/>
            <a:ext cx="2078659"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Plano marcado</a:t>
            </a:r>
          </a:p>
        </p:txBody>
      </p:sp>
      <p:sp>
        <p:nvSpPr>
          <p:cNvPr id="10" name="TextBox 9"/>
          <p:cNvSpPr txBox="1"/>
          <p:nvPr/>
        </p:nvSpPr>
        <p:spPr>
          <a:xfrm>
            <a:off x="822959" y="3328416"/>
            <a:ext cx="2078659" cy="832103"/>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CWA y secuencia sobre el plano de implantación</a:t>
            </a:r>
          </a:p>
        </p:txBody>
      </p:sp>
      <p:sp>
        <p:nvSpPr>
          <p:cNvPr id="11" name="Rectangle 10"/>
          <p:cNvSpPr/>
          <p:nvPr/>
        </p:nvSpPr>
        <p:spPr>
          <a:xfrm>
            <a:off x="3386251" y="1828800"/>
            <a:ext cx="2581579" cy="24688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itemap_o.png"/>
          <p:cNvPicPr>
            <a:picLocks noChangeAspect="1"/>
          </p:cNvPicPr>
          <p:nvPr/>
        </p:nvPicPr>
        <p:blipFill>
          <a:blip r:embed="rId3"/>
          <a:stretch>
            <a:fillRect/>
          </a:stretch>
        </p:blipFill>
        <p:spPr>
          <a:xfrm>
            <a:off x="3660571" y="2084832"/>
            <a:ext cx="457200" cy="457200"/>
          </a:xfrm>
          <a:prstGeom prst="rect">
            <a:avLst/>
          </a:prstGeom>
        </p:spPr>
      </p:pic>
      <p:sp>
        <p:nvSpPr>
          <p:cNvPr id="13" name="TextBox 12"/>
          <p:cNvSpPr txBox="1"/>
          <p:nvPr/>
        </p:nvSpPr>
        <p:spPr>
          <a:xfrm>
            <a:off x="3660571" y="2706624"/>
            <a:ext cx="2078659"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Matriz de CWP</a:t>
            </a:r>
          </a:p>
        </p:txBody>
      </p:sp>
      <p:sp>
        <p:nvSpPr>
          <p:cNvPr id="14" name="TextBox 13"/>
          <p:cNvSpPr txBox="1"/>
          <p:nvPr/>
        </p:nvSpPr>
        <p:spPr>
          <a:xfrm>
            <a:off x="3660571" y="3328416"/>
            <a:ext cx="2078659" cy="832103"/>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Disciplina × área, con horas por paquete</a:t>
            </a:r>
          </a:p>
        </p:txBody>
      </p:sp>
      <p:sp>
        <p:nvSpPr>
          <p:cNvPr id="15" name="Rectangle 14"/>
          <p:cNvSpPr/>
          <p:nvPr/>
        </p:nvSpPr>
        <p:spPr>
          <a:xfrm>
            <a:off x="6223863" y="1828800"/>
            <a:ext cx="2581579" cy="24688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_o.png"/>
          <p:cNvPicPr>
            <a:picLocks noChangeAspect="1"/>
          </p:cNvPicPr>
          <p:nvPr/>
        </p:nvPicPr>
        <p:blipFill>
          <a:blip r:embed="rId4"/>
          <a:stretch>
            <a:fillRect/>
          </a:stretch>
        </p:blipFill>
        <p:spPr>
          <a:xfrm>
            <a:off x="6498183" y="2084832"/>
            <a:ext cx="457200" cy="457200"/>
          </a:xfrm>
          <a:prstGeom prst="rect">
            <a:avLst/>
          </a:prstGeom>
        </p:spPr>
      </p:pic>
      <p:sp>
        <p:nvSpPr>
          <p:cNvPr id="17" name="TextBox 16"/>
          <p:cNvSpPr txBox="1"/>
          <p:nvPr/>
        </p:nvSpPr>
        <p:spPr>
          <a:xfrm>
            <a:off x="6498183" y="2706624"/>
            <a:ext cx="2078659"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Informe del POC</a:t>
            </a:r>
          </a:p>
        </p:txBody>
      </p:sp>
      <p:sp>
        <p:nvSpPr>
          <p:cNvPr id="18" name="TextBox 17"/>
          <p:cNvSpPr txBox="1"/>
          <p:nvPr/>
        </p:nvSpPr>
        <p:spPr>
          <a:xfrm>
            <a:off x="6498183" y="3328416"/>
            <a:ext cx="2078659" cy="832103"/>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Objetivos, alcance, prioridades, restricciones y compras críticas</a:t>
            </a:r>
          </a:p>
        </p:txBody>
      </p:sp>
      <p:sp>
        <p:nvSpPr>
          <p:cNvPr id="19" name="Rectangle 18"/>
          <p:cNvSpPr/>
          <p:nvPr/>
        </p:nvSpPr>
        <p:spPr>
          <a:xfrm>
            <a:off x="9061475" y="1828800"/>
            <a:ext cx="2581579" cy="24688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play_o.png"/>
          <p:cNvPicPr>
            <a:picLocks noChangeAspect="1"/>
          </p:cNvPicPr>
          <p:nvPr/>
        </p:nvPicPr>
        <p:blipFill>
          <a:blip r:embed="rId5"/>
          <a:stretch>
            <a:fillRect/>
          </a:stretch>
        </p:blipFill>
        <p:spPr>
          <a:xfrm>
            <a:off x="9335795" y="2084832"/>
            <a:ext cx="457200" cy="457200"/>
          </a:xfrm>
          <a:prstGeom prst="rect">
            <a:avLst/>
          </a:prstGeom>
        </p:spPr>
      </p:pic>
      <p:sp>
        <p:nvSpPr>
          <p:cNvPr id="21" name="TextBox 20"/>
          <p:cNvSpPr txBox="1"/>
          <p:nvPr/>
        </p:nvSpPr>
        <p:spPr>
          <a:xfrm>
            <a:off x="9335795" y="2706624"/>
            <a:ext cx="2078659"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Simulación</a:t>
            </a:r>
          </a:p>
        </p:txBody>
      </p:sp>
      <p:sp>
        <p:nvSpPr>
          <p:cNvPr id="22" name="TextBox 21"/>
          <p:cNvSpPr txBox="1"/>
          <p:nvPr/>
        </p:nvSpPr>
        <p:spPr>
          <a:xfrm>
            <a:off x="9335795" y="3328416"/>
            <a:ext cx="2078659" cy="832103"/>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Recorrido 4D para validar la secuencia con los actores</a:t>
            </a:r>
          </a:p>
        </p:txBody>
      </p:sp>
      <p:sp>
        <p:nvSpPr>
          <p:cNvPr id="23" name="Rectangle 22"/>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flag_o.png"/>
          <p:cNvPicPr>
            <a:picLocks noChangeAspect="1"/>
          </p:cNvPicPr>
          <p:nvPr/>
        </p:nvPicPr>
        <p:blipFill>
          <a:blip r:embed="rId6"/>
          <a:stretch>
            <a:fillRect/>
          </a:stretch>
        </p:blipFill>
        <p:spPr>
          <a:xfrm>
            <a:off x="822959" y="5660136"/>
            <a:ext cx="365760" cy="365760"/>
          </a:xfrm>
          <a:prstGeom prst="rect">
            <a:avLst/>
          </a:prstGeom>
        </p:spPr>
      </p:pic>
      <p:sp>
        <p:nvSpPr>
          <p:cNvPr id="25" name="TextBox 24"/>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Anexos típicos: ruta de carga pesada, plan de izajes, lista de equipos y plazos de compra.</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4 · ROLES DEL POC</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Construcción lidera el POC; Ingeniería y Compras lo validan</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M4 · FASE 1: PLANIFICACIÓN PRELIMINAR</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041</a:t>
            </a:r>
          </a:p>
        </p:txBody>
      </p:sp>
      <p:graphicFrame>
        <p:nvGraphicFramePr>
          <p:cNvPr id="7" name="Table 6"/>
          <p:cNvGraphicFramePr>
            <a:graphicFrameLocks noGrp="1"/>
          </p:cNvGraphicFramePr>
          <p:nvPr/>
        </p:nvGraphicFramePr>
        <p:xfrm>
          <a:off x="563727" y="1828800"/>
          <a:ext cx="11064240" cy="3291840"/>
        </p:xfrm>
        <a:graphic>
          <a:graphicData uri="http://schemas.openxmlformats.org/drawingml/2006/table">
            <a:tbl>
              <a:tblPr firstRow="0" bandRow="0">
                <a:tableStyleId>{5C22544A-7EE6-4342-B048-85BDC9FD1C3A}</a:tableStyleId>
              </a:tblPr>
              <a:tblGrid>
                <a:gridCol w="3291840"/>
                <a:gridCol w="7772400"/>
              </a:tblGrid>
              <a:tr h="457200">
                <a:tc>
                  <a:txBody>
                    <a:bodyPr wrap="square"/>
                    <a:lstStyle/>
                    <a:p>
                      <a:pPr algn="l"/>
                      <a:r>
                        <a:rPr sz="1000" b="1" spc="100">
                          <a:solidFill>
                            <a:srgbClr val="FFFFFF"/>
                          </a:solidFill>
                          <a:latin typeface="Arial"/>
                        </a:rPr>
                        <a:t>ROL</a:t>
                      </a:r>
                    </a:p>
                  </a:txBody>
                  <a:tcPr marL="137160" marR="91440" marT="27432" marB="27432" anchor="ctr">
                    <a:solidFill>
                      <a:srgbClr val="1A1A1A"/>
                    </a:solidFill>
                  </a:tcPr>
                </a:tc>
                <a:tc>
                  <a:txBody>
                    <a:bodyPr wrap="square"/>
                    <a:lstStyle/>
                    <a:p>
                      <a:pPr algn="l"/>
                      <a:r>
                        <a:rPr sz="1000" b="1" spc="100">
                          <a:solidFill>
                            <a:srgbClr val="FFFFFF"/>
                          </a:solidFill>
                          <a:latin typeface="Arial"/>
                        </a:rPr>
                        <a:t>PAPEL EN EL PATH OF CONSTRUCTION</a:t>
                      </a:r>
                    </a:p>
                  </a:txBody>
                  <a:tcPr marL="137160" marR="91440" marT="27432" marB="27432" anchor="ctr">
                    <a:solidFill>
                      <a:srgbClr val="1A1A1A"/>
                    </a:solidFill>
                  </a:tcPr>
                </a:tc>
              </a:tr>
              <a:tr h="566928">
                <a:tc>
                  <a:txBody>
                    <a:bodyPr wrap="square"/>
                    <a:lstStyle/>
                    <a:p>
                      <a:pPr algn="l"/>
                      <a:r>
                        <a:rPr sz="1350" b="1">
                          <a:solidFill>
                            <a:srgbClr val="1A1A1A"/>
                          </a:solidFill>
                          <a:latin typeface="Arial"/>
                        </a:rPr>
                        <a:t>Construction Manager</a:t>
                      </a:r>
                    </a:p>
                  </a:txBody>
                  <a:tcPr marL="137160" marR="91440" marT="27432" marB="27432" anchor="ctr">
                    <a:solidFill>
                      <a:srgbClr val="FFE3CF"/>
                    </a:solidFill>
                  </a:tcPr>
                </a:tc>
                <a:tc>
                  <a:txBody>
                    <a:bodyPr wrap="square"/>
                    <a:lstStyle/>
                    <a:p>
                      <a:pPr algn="l"/>
                      <a:r>
                        <a:rPr sz="1350" b="1">
                          <a:solidFill>
                            <a:srgbClr val="2E2E2E"/>
                          </a:solidFill>
                          <a:latin typeface="Arial"/>
                        </a:rPr>
                        <a:t>Dueño del POC: lidera su desarrollo y lo mantiene actualizado</a:t>
                      </a:r>
                    </a:p>
                  </a:txBody>
                  <a:tcPr marL="137160" marR="91440" marT="27432" marB="27432" anchor="ctr">
                    <a:solidFill>
                      <a:srgbClr val="FFE3CF"/>
                    </a:solidFill>
                  </a:tcPr>
                </a:tc>
              </a:tr>
              <a:tr h="566928">
                <a:tc>
                  <a:txBody>
                    <a:bodyPr wrap="square"/>
                    <a:lstStyle/>
                    <a:p>
                      <a:pPr algn="l"/>
                      <a:r>
                        <a:rPr sz="1350" b="1">
                          <a:solidFill>
                            <a:srgbClr val="1A1A1A"/>
                          </a:solidFill>
                          <a:latin typeface="Arial"/>
                        </a:rPr>
                        <a:t>Gerente del proyecto</a:t>
                      </a:r>
                    </a:p>
                  </a:txBody>
                  <a:tcPr marL="137160" marR="91440" marT="27432" marB="27432" anchor="ctr">
                    <a:solidFill>
                      <a:srgbClr val="F7F7F7"/>
                    </a:solidFill>
                  </a:tcPr>
                </a:tc>
                <a:tc>
                  <a:txBody>
                    <a:bodyPr wrap="square"/>
                    <a:lstStyle/>
                    <a:p>
                      <a:pPr algn="l"/>
                      <a:r>
                        <a:rPr sz="1350" b="0">
                          <a:solidFill>
                            <a:srgbClr val="2E2E2E"/>
                          </a:solidFill>
                          <a:latin typeface="Arial"/>
                        </a:rPr>
                        <a:t>Convoca el proceso y asegura que domine la lógica de construcción</a:t>
                      </a:r>
                    </a:p>
                  </a:txBody>
                  <a:tcPr marL="137160" marR="91440" marT="27432" marB="27432" anchor="ctr">
                    <a:solidFill>
                      <a:srgbClr val="F7F7F7"/>
                    </a:solidFill>
                  </a:tcPr>
                </a:tc>
              </a:tr>
              <a:tr h="566928">
                <a:tc>
                  <a:txBody>
                    <a:bodyPr wrap="square"/>
                    <a:lstStyle/>
                    <a:p>
                      <a:pPr algn="l"/>
                      <a:r>
                        <a:rPr sz="1350" b="1">
                          <a:solidFill>
                            <a:srgbClr val="1A1A1A"/>
                          </a:solidFill>
                          <a:latin typeface="Arial"/>
                        </a:rPr>
                        <a:t>Líder de Ingeniería</a:t>
                      </a:r>
                    </a:p>
                  </a:txBody>
                  <a:tcPr marL="137160" marR="91440" marT="27432" marB="27432" anchor="ctr">
                    <a:solidFill>
                      <a:srgbClr val="FFFFFF"/>
                    </a:solidFill>
                  </a:tcPr>
                </a:tc>
                <a:tc>
                  <a:txBody>
                    <a:bodyPr wrap="square"/>
                    <a:lstStyle/>
                    <a:p>
                      <a:pPr algn="l"/>
                      <a:r>
                        <a:rPr sz="1350" b="0">
                          <a:solidFill>
                            <a:srgbClr val="2E2E2E"/>
                          </a:solidFill>
                          <a:latin typeface="Arial"/>
                        </a:rPr>
                        <a:t>Expone límites técnicos como restricciones blandas o duras</a:t>
                      </a:r>
                    </a:p>
                  </a:txBody>
                  <a:tcPr marL="137160" marR="91440" marT="27432" marB="27432" anchor="ctr">
                    <a:solidFill>
                      <a:srgbClr val="FFFFFF"/>
                    </a:solidFill>
                  </a:tcPr>
                </a:tc>
              </a:tr>
              <a:tr h="566928">
                <a:tc>
                  <a:txBody>
                    <a:bodyPr wrap="square"/>
                    <a:lstStyle/>
                    <a:p>
                      <a:pPr algn="l"/>
                      <a:r>
                        <a:rPr sz="1350" b="1">
                          <a:solidFill>
                            <a:srgbClr val="1A1A1A"/>
                          </a:solidFill>
                          <a:latin typeface="Arial"/>
                        </a:rPr>
                        <a:t>Líder de Compras</a:t>
                      </a:r>
                    </a:p>
                  </a:txBody>
                  <a:tcPr marL="137160" marR="91440" marT="27432" marB="27432" anchor="ctr">
                    <a:solidFill>
                      <a:srgbClr val="F7F7F7"/>
                    </a:solidFill>
                  </a:tcPr>
                </a:tc>
                <a:tc>
                  <a:txBody>
                    <a:bodyPr wrap="square"/>
                    <a:lstStyle/>
                    <a:p>
                      <a:pPr algn="l"/>
                      <a:r>
                        <a:rPr sz="1350" b="0">
                          <a:solidFill>
                            <a:srgbClr val="2E2E2E"/>
                          </a:solidFill>
                          <a:latin typeface="Arial"/>
                        </a:rPr>
                        <a:t>Aporta plazos de equipos críticos y la estrategia de compras</a:t>
                      </a:r>
                    </a:p>
                  </a:txBody>
                  <a:tcPr marL="137160" marR="91440" marT="27432" marB="27432" anchor="ctr">
                    <a:solidFill>
                      <a:srgbClr val="F7F7F7"/>
                    </a:solidFill>
                  </a:tcPr>
                </a:tc>
              </a:tr>
              <a:tr h="566928">
                <a:tc>
                  <a:txBody>
                    <a:bodyPr wrap="square"/>
                    <a:lstStyle/>
                    <a:p>
                      <a:pPr algn="l"/>
                      <a:r>
                        <a:rPr sz="1350" b="1">
                          <a:solidFill>
                            <a:srgbClr val="1A1A1A"/>
                          </a:solidFill>
                          <a:latin typeface="Arial"/>
                        </a:rPr>
                        <a:t>Contratista de construcción</a:t>
                      </a:r>
                    </a:p>
                  </a:txBody>
                  <a:tcPr marL="137160" marR="91440" marT="27432" marB="27432" anchor="ctr">
                    <a:solidFill>
                      <a:srgbClr val="FFFFFF"/>
                    </a:solidFill>
                  </a:tcPr>
                </a:tc>
                <a:tc>
                  <a:txBody>
                    <a:bodyPr wrap="square"/>
                    <a:lstStyle/>
                    <a:p>
                      <a:pPr algn="l"/>
                      <a:r>
                        <a:rPr sz="1350" b="0">
                          <a:solidFill>
                            <a:srgbClr val="2E2E2E"/>
                          </a:solidFill>
                          <a:latin typeface="Arial"/>
                        </a:rPr>
                        <a:t>Participa en los talleres o revisa el POC durante la licitación</a:t>
                      </a:r>
                    </a:p>
                  </a:txBody>
                  <a:tcPr marL="137160" marR="91440" marT="27432" marB="27432" anchor="ctr">
                    <a:solidFill>
                      <a:srgbClr val="FFFFFF"/>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4 · TALLERES</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El POC se construye en sesiones de planificación interactiva</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M4 · FASE 1: PLANIFICACIÓN PRELIMINAR</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042</a:t>
            </a:r>
          </a:p>
        </p:txBody>
      </p:sp>
      <p:sp>
        <p:nvSpPr>
          <p:cNvPr id="7" name="Rectangle 6"/>
          <p:cNvSpPr/>
          <p:nvPr/>
        </p:nvSpPr>
        <p:spPr>
          <a:xfrm>
            <a:off x="548640" y="1874519"/>
            <a:ext cx="3515258"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1</a:t>
            </a:r>
          </a:p>
        </p:txBody>
      </p:sp>
      <p:pic>
        <p:nvPicPr>
          <p:cNvPr id="10" name="Picture 9" descr="helmet_o.png"/>
          <p:cNvPicPr>
            <a:picLocks noChangeAspect="1"/>
          </p:cNvPicPr>
          <p:nvPr/>
        </p:nvPicPr>
        <p:blipFill>
          <a:blip r:embed="rId2"/>
          <a:stretch>
            <a:fillRect/>
          </a:stretch>
        </p:blipFill>
        <p:spPr>
          <a:xfrm>
            <a:off x="3405530" y="2148839"/>
            <a:ext cx="420624" cy="420624"/>
          </a:xfrm>
          <a:prstGeom prst="rect">
            <a:avLst/>
          </a:prstGeom>
        </p:spPr>
      </p:pic>
      <p:sp>
        <p:nvSpPr>
          <p:cNvPr id="11" name="TextBox 10"/>
          <p:cNvSpPr txBox="1"/>
          <p:nvPr/>
        </p:nvSpPr>
        <p:spPr>
          <a:xfrm>
            <a:off x="777240" y="2807208"/>
            <a:ext cx="3103778"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POC sin restricciones</a:t>
            </a:r>
          </a:p>
        </p:txBody>
      </p:sp>
      <p:sp>
        <p:nvSpPr>
          <p:cNvPr id="12" name="TextBox 11"/>
          <p:cNvSpPr txBox="1"/>
          <p:nvPr/>
        </p:nvSpPr>
        <p:spPr>
          <a:xfrm>
            <a:off x="777240" y="3429000"/>
            <a:ext cx="3103778"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Solo Construcción: el plan ideal a partir del plano de implantación y el cronograma de nivel 1</a:t>
            </a:r>
          </a:p>
        </p:txBody>
      </p:sp>
      <p:cxnSp>
        <p:nvCxnSpPr>
          <p:cNvPr id="13" name="Connector 12"/>
          <p:cNvCxnSpPr/>
          <p:nvPr/>
        </p:nvCxnSpPr>
        <p:spPr>
          <a:xfrm>
            <a:off x="4100474" y="3291839"/>
            <a:ext cx="201168"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4338218" y="1874519"/>
            <a:ext cx="3515258"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4566818"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66818"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2</a:t>
            </a:r>
          </a:p>
        </p:txBody>
      </p:sp>
      <p:pic>
        <p:nvPicPr>
          <p:cNvPr id="17" name="Picture 16" descr="comments_o.png"/>
          <p:cNvPicPr>
            <a:picLocks noChangeAspect="1"/>
          </p:cNvPicPr>
          <p:nvPr/>
        </p:nvPicPr>
        <p:blipFill>
          <a:blip r:embed="rId3"/>
          <a:stretch>
            <a:fillRect/>
          </a:stretch>
        </p:blipFill>
        <p:spPr>
          <a:xfrm>
            <a:off x="7195108" y="2148839"/>
            <a:ext cx="420624" cy="420624"/>
          </a:xfrm>
          <a:prstGeom prst="rect">
            <a:avLst/>
          </a:prstGeom>
        </p:spPr>
      </p:pic>
      <p:sp>
        <p:nvSpPr>
          <p:cNvPr id="18" name="TextBox 17"/>
          <p:cNvSpPr txBox="1"/>
          <p:nvPr/>
        </p:nvSpPr>
        <p:spPr>
          <a:xfrm>
            <a:off x="4566818" y="2807208"/>
            <a:ext cx="3103778"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POC con restricciones</a:t>
            </a:r>
          </a:p>
        </p:txBody>
      </p:sp>
      <p:sp>
        <p:nvSpPr>
          <p:cNvPr id="19" name="TextBox 18"/>
          <p:cNvSpPr txBox="1"/>
          <p:nvPr/>
        </p:nvSpPr>
        <p:spPr>
          <a:xfrm>
            <a:off x="4566818" y="3429000"/>
            <a:ext cx="3103778"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Taller interactivo: Ingeniería y Compras presentan plazos y restricciones blandas y duras</a:t>
            </a:r>
          </a:p>
        </p:txBody>
      </p:sp>
      <p:cxnSp>
        <p:nvCxnSpPr>
          <p:cNvPr id="20" name="Connector 19"/>
          <p:cNvCxnSpPr/>
          <p:nvPr/>
        </p:nvCxnSpPr>
        <p:spPr>
          <a:xfrm>
            <a:off x="7890052" y="3291839"/>
            <a:ext cx="201168"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8127796" y="1874519"/>
            <a:ext cx="3515258"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8356396"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356396"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3</a:t>
            </a:r>
          </a:p>
        </p:txBody>
      </p:sp>
      <p:pic>
        <p:nvPicPr>
          <p:cNvPr id="24" name="Picture 23" descr="flag_o.png"/>
          <p:cNvPicPr>
            <a:picLocks noChangeAspect="1"/>
          </p:cNvPicPr>
          <p:nvPr/>
        </p:nvPicPr>
        <p:blipFill>
          <a:blip r:embed="rId4"/>
          <a:stretch>
            <a:fillRect/>
          </a:stretch>
        </p:blipFill>
        <p:spPr>
          <a:xfrm>
            <a:off x="10984687" y="2148839"/>
            <a:ext cx="420624" cy="420624"/>
          </a:xfrm>
          <a:prstGeom prst="rect">
            <a:avLst/>
          </a:prstGeom>
        </p:spPr>
      </p:pic>
      <p:sp>
        <p:nvSpPr>
          <p:cNvPr id="25" name="TextBox 24"/>
          <p:cNvSpPr txBox="1"/>
          <p:nvPr/>
        </p:nvSpPr>
        <p:spPr>
          <a:xfrm>
            <a:off x="8356396" y="2807208"/>
            <a:ext cx="3103778"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POC final</a:t>
            </a:r>
          </a:p>
        </p:txBody>
      </p:sp>
      <p:sp>
        <p:nvSpPr>
          <p:cNvPr id="26" name="TextBox 25"/>
          <p:cNvSpPr txBox="1"/>
          <p:nvPr/>
        </p:nvSpPr>
        <p:spPr>
          <a:xfrm>
            <a:off x="8356396" y="3429000"/>
            <a:ext cx="3103778"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Con datos de FEL 3 y todos los actores: base del cronograma EPC de nivel 3</a:t>
            </a:r>
          </a:p>
        </p:txBody>
      </p:sp>
      <p:sp>
        <p:nvSpPr>
          <p:cNvPr id="27" name="Rectangle 26"/>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lag_o.png"/>
          <p:cNvPicPr>
            <a:picLocks noChangeAspect="1"/>
          </p:cNvPicPr>
          <p:nvPr/>
        </p:nvPicPr>
        <p:blipFill>
          <a:blip r:embed="rId4"/>
          <a:stretch>
            <a:fillRect/>
          </a:stretch>
        </p:blipFill>
        <p:spPr>
          <a:xfrm>
            <a:off x="822959" y="5660136"/>
            <a:ext cx="365760" cy="365760"/>
          </a:xfrm>
          <a:prstGeom prst="rect">
            <a:avLst/>
          </a:prstGeom>
        </p:spPr>
      </p:pic>
      <p:sp>
        <p:nvSpPr>
          <p:cNvPr id="29" name="TextBox 28"/>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IPP: </a:t>
            </a:r>
            <a:r>
              <a:rPr sz="1400" b="0" i="0">
                <a:solidFill>
                  <a:srgbClr val="FFFFFF"/>
                </a:solidFill>
                <a:latin typeface="Arial"/>
              </a:rPr>
              <a:t>Interactive Planning Session. Todos los actores, en la misma sala, frente al plano.</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4 · PLAN DE LIBERACIÓN</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Del taller sale el plan de liberación de CWP y EWP</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M4 · FASE 1: PLANIFICACIÓN PRELIMINAR</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043</a:t>
            </a:r>
          </a:p>
        </p:txBody>
      </p:sp>
      <p:sp>
        <p:nvSpPr>
          <p:cNvPr id="7" name="TextBox 6"/>
          <p:cNvSpPr txBox="1"/>
          <p:nvPr/>
        </p:nvSpPr>
        <p:spPr>
          <a:xfrm>
            <a:off x="2011680" y="1828800"/>
            <a:ext cx="802614" cy="274320"/>
          </a:xfrm>
          <a:prstGeom prst="rect">
            <a:avLst/>
          </a:prstGeom>
          <a:noFill/>
        </p:spPr>
        <p:txBody>
          <a:bodyPr wrap="square" lIns="0" rIns="0" tIns="0" bIns="0" anchor="t">
            <a:spAutoFit/>
          </a:bodyPr>
          <a:lstStyle/>
          <a:p>
            <a:pPr algn="ctr"/>
            <a:r>
              <a:rPr sz="1000" b="0" i="0">
                <a:solidFill>
                  <a:srgbClr val="6D6E71"/>
                </a:solidFill>
                <a:latin typeface="Courier New"/>
              </a:rPr>
              <a:t>E</a:t>
            </a:r>
          </a:p>
        </p:txBody>
      </p:sp>
      <p:sp>
        <p:nvSpPr>
          <p:cNvPr id="8" name="TextBox 7"/>
          <p:cNvSpPr txBox="1"/>
          <p:nvPr/>
        </p:nvSpPr>
        <p:spPr>
          <a:xfrm>
            <a:off x="2814294" y="1828800"/>
            <a:ext cx="802614" cy="274320"/>
          </a:xfrm>
          <a:prstGeom prst="rect">
            <a:avLst/>
          </a:prstGeom>
          <a:noFill/>
        </p:spPr>
        <p:txBody>
          <a:bodyPr wrap="square" lIns="0" rIns="0" tIns="0" bIns="0" anchor="t">
            <a:spAutoFit/>
          </a:bodyPr>
          <a:lstStyle/>
          <a:p>
            <a:pPr algn="ctr"/>
            <a:r>
              <a:rPr sz="1000" b="0" i="0">
                <a:solidFill>
                  <a:srgbClr val="6D6E71"/>
                </a:solidFill>
                <a:latin typeface="Courier New"/>
              </a:rPr>
              <a:t>F</a:t>
            </a:r>
          </a:p>
        </p:txBody>
      </p:sp>
      <p:sp>
        <p:nvSpPr>
          <p:cNvPr id="9" name="TextBox 8"/>
          <p:cNvSpPr txBox="1"/>
          <p:nvPr/>
        </p:nvSpPr>
        <p:spPr>
          <a:xfrm>
            <a:off x="3616909" y="1828800"/>
            <a:ext cx="802614" cy="274320"/>
          </a:xfrm>
          <a:prstGeom prst="rect">
            <a:avLst/>
          </a:prstGeom>
          <a:noFill/>
        </p:spPr>
        <p:txBody>
          <a:bodyPr wrap="square" lIns="0" rIns="0" tIns="0" bIns="0" anchor="t">
            <a:spAutoFit/>
          </a:bodyPr>
          <a:lstStyle/>
          <a:p>
            <a:pPr algn="ctr"/>
            <a:r>
              <a:rPr sz="1000" b="0" i="0">
                <a:solidFill>
                  <a:srgbClr val="6D6E71"/>
                </a:solidFill>
                <a:latin typeface="Courier New"/>
              </a:rPr>
              <a:t>M</a:t>
            </a:r>
          </a:p>
        </p:txBody>
      </p:sp>
      <p:sp>
        <p:nvSpPr>
          <p:cNvPr id="10" name="TextBox 9"/>
          <p:cNvSpPr txBox="1"/>
          <p:nvPr/>
        </p:nvSpPr>
        <p:spPr>
          <a:xfrm>
            <a:off x="4419523" y="1828800"/>
            <a:ext cx="802614" cy="274320"/>
          </a:xfrm>
          <a:prstGeom prst="rect">
            <a:avLst/>
          </a:prstGeom>
          <a:noFill/>
        </p:spPr>
        <p:txBody>
          <a:bodyPr wrap="square" lIns="0" rIns="0" tIns="0" bIns="0" anchor="t">
            <a:spAutoFit/>
          </a:bodyPr>
          <a:lstStyle/>
          <a:p>
            <a:pPr algn="ctr"/>
            <a:r>
              <a:rPr sz="1000" b="0" i="0">
                <a:solidFill>
                  <a:srgbClr val="6D6E71"/>
                </a:solidFill>
                <a:latin typeface="Courier New"/>
              </a:rPr>
              <a:t>A</a:t>
            </a:r>
          </a:p>
        </p:txBody>
      </p:sp>
      <p:sp>
        <p:nvSpPr>
          <p:cNvPr id="11" name="TextBox 10"/>
          <p:cNvSpPr txBox="1"/>
          <p:nvPr/>
        </p:nvSpPr>
        <p:spPr>
          <a:xfrm>
            <a:off x="5222138" y="1828800"/>
            <a:ext cx="802614" cy="274320"/>
          </a:xfrm>
          <a:prstGeom prst="rect">
            <a:avLst/>
          </a:prstGeom>
          <a:noFill/>
        </p:spPr>
        <p:txBody>
          <a:bodyPr wrap="square" lIns="0" rIns="0" tIns="0" bIns="0" anchor="t">
            <a:spAutoFit/>
          </a:bodyPr>
          <a:lstStyle/>
          <a:p>
            <a:pPr algn="ctr"/>
            <a:r>
              <a:rPr sz="1000" b="0" i="0">
                <a:solidFill>
                  <a:srgbClr val="6D6E71"/>
                </a:solidFill>
                <a:latin typeface="Courier New"/>
              </a:rPr>
              <a:t>M</a:t>
            </a:r>
          </a:p>
        </p:txBody>
      </p:sp>
      <p:sp>
        <p:nvSpPr>
          <p:cNvPr id="12" name="TextBox 11"/>
          <p:cNvSpPr txBox="1"/>
          <p:nvPr/>
        </p:nvSpPr>
        <p:spPr>
          <a:xfrm>
            <a:off x="6024753" y="1828800"/>
            <a:ext cx="802614" cy="274320"/>
          </a:xfrm>
          <a:prstGeom prst="rect">
            <a:avLst/>
          </a:prstGeom>
          <a:noFill/>
        </p:spPr>
        <p:txBody>
          <a:bodyPr wrap="square" lIns="0" rIns="0" tIns="0" bIns="0" anchor="t">
            <a:spAutoFit/>
          </a:bodyPr>
          <a:lstStyle/>
          <a:p>
            <a:pPr algn="ctr"/>
            <a:r>
              <a:rPr sz="1000" b="0" i="0">
                <a:solidFill>
                  <a:srgbClr val="6D6E71"/>
                </a:solidFill>
                <a:latin typeface="Courier New"/>
              </a:rPr>
              <a:t>J</a:t>
            </a:r>
          </a:p>
        </p:txBody>
      </p:sp>
      <p:sp>
        <p:nvSpPr>
          <p:cNvPr id="13" name="TextBox 12"/>
          <p:cNvSpPr txBox="1"/>
          <p:nvPr/>
        </p:nvSpPr>
        <p:spPr>
          <a:xfrm>
            <a:off x="6827367" y="1828800"/>
            <a:ext cx="802614" cy="274320"/>
          </a:xfrm>
          <a:prstGeom prst="rect">
            <a:avLst/>
          </a:prstGeom>
          <a:noFill/>
        </p:spPr>
        <p:txBody>
          <a:bodyPr wrap="square" lIns="0" rIns="0" tIns="0" bIns="0" anchor="t">
            <a:spAutoFit/>
          </a:bodyPr>
          <a:lstStyle/>
          <a:p>
            <a:pPr algn="ctr"/>
            <a:r>
              <a:rPr sz="1000" b="0" i="0">
                <a:solidFill>
                  <a:srgbClr val="6D6E71"/>
                </a:solidFill>
                <a:latin typeface="Courier New"/>
              </a:rPr>
              <a:t>J</a:t>
            </a:r>
          </a:p>
        </p:txBody>
      </p:sp>
      <p:sp>
        <p:nvSpPr>
          <p:cNvPr id="14" name="TextBox 13"/>
          <p:cNvSpPr txBox="1"/>
          <p:nvPr/>
        </p:nvSpPr>
        <p:spPr>
          <a:xfrm>
            <a:off x="7629982" y="1828800"/>
            <a:ext cx="802614" cy="274320"/>
          </a:xfrm>
          <a:prstGeom prst="rect">
            <a:avLst/>
          </a:prstGeom>
          <a:noFill/>
        </p:spPr>
        <p:txBody>
          <a:bodyPr wrap="square" lIns="0" rIns="0" tIns="0" bIns="0" anchor="t">
            <a:spAutoFit/>
          </a:bodyPr>
          <a:lstStyle/>
          <a:p>
            <a:pPr algn="ctr"/>
            <a:r>
              <a:rPr sz="1000" b="0" i="0">
                <a:solidFill>
                  <a:srgbClr val="6D6E71"/>
                </a:solidFill>
                <a:latin typeface="Courier New"/>
              </a:rPr>
              <a:t>A</a:t>
            </a:r>
          </a:p>
        </p:txBody>
      </p:sp>
      <p:sp>
        <p:nvSpPr>
          <p:cNvPr id="15" name="TextBox 14"/>
          <p:cNvSpPr txBox="1"/>
          <p:nvPr/>
        </p:nvSpPr>
        <p:spPr>
          <a:xfrm>
            <a:off x="8432596" y="1828800"/>
            <a:ext cx="802614" cy="274320"/>
          </a:xfrm>
          <a:prstGeom prst="rect">
            <a:avLst/>
          </a:prstGeom>
          <a:noFill/>
        </p:spPr>
        <p:txBody>
          <a:bodyPr wrap="square" lIns="0" rIns="0" tIns="0" bIns="0" anchor="t">
            <a:spAutoFit/>
          </a:bodyPr>
          <a:lstStyle/>
          <a:p>
            <a:pPr algn="ctr"/>
            <a:r>
              <a:rPr sz="1000" b="0" i="0">
                <a:solidFill>
                  <a:srgbClr val="6D6E71"/>
                </a:solidFill>
                <a:latin typeface="Courier New"/>
              </a:rPr>
              <a:t>S</a:t>
            </a:r>
          </a:p>
        </p:txBody>
      </p:sp>
      <p:sp>
        <p:nvSpPr>
          <p:cNvPr id="16" name="TextBox 15"/>
          <p:cNvSpPr txBox="1"/>
          <p:nvPr/>
        </p:nvSpPr>
        <p:spPr>
          <a:xfrm>
            <a:off x="9235211" y="1828800"/>
            <a:ext cx="802614" cy="274320"/>
          </a:xfrm>
          <a:prstGeom prst="rect">
            <a:avLst/>
          </a:prstGeom>
          <a:noFill/>
        </p:spPr>
        <p:txBody>
          <a:bodyPr wrap="square" lIns="0" rIns="0" tIns="0" bIns="0" anchor="t">
            <a:spAutoFit/>
          </a:bodyPr>
          <a:lstStyle/>
          <a:p>
            <a:pPr algn="ctr"/>
            <a:r>
              <a:rPr sz="1000" b="0" i="0">
                <a:solidFill>
                  <a:srgbClr val="6D6E71"/>
                </a:solidFill>
                <a:latin typeface="Courier New"/>
              </a:rPr>
              <a:t>O</a:t>
            </a:r>
          </a:p>
        </p:txBody>
      </p:sp>
      <p:sp>
        <p:nvSpPr>
          <p:cNvPr id="17" name="TextBox 16"/>
          <p:cNvSpPr txBox="1"/>
          <p:nvPr/>
        </p:nvSpPr>
        <p:spPr>
          <a:xfrm>
            <a:off x="10037826" y="1828800"/>
            <a:ext cx="802614" cy="274320"/>
          </a:xfrm>
          <a:prstGeom prst="rect">
            <a:avLst/>
          </a:prstGeom>
          <a:noFill/>
        </p:spPr>
        <p:txBody>
          <a:bodyPr wrap="square" lIns="0" rIns="0" tIns="0" bIns="0" anchor="t">
            <a:spAutoFit/>
          </a:bodyPr>
          <a:lstStyle/>
          <a:p>
            <a:pPr algn="ctr"/>
            <a:r>
              <a:rPr sz="1000" b="0" i="0">
                <a:solidFill>
                  <a:srgbClr val="6D6E71"/>
                </a:solidFill>
                <a:latin typeface="Courier New"/>
              </a:rPr>
              <a:t>N</a:t>
            </a:r>
          </a:p>
        </p:txBody>
      </p:sp>
      <p:sp>
        <p:nvSpPr>
          <p:cNvPr id="18" name="TextBox 17"/>
          <p:cNvSpPr txBox="1"/>
          <p:nvPr/>
        </p:nvSpPr>
        <p:spPr>
          <a:xfrm>
            <a:off x="10840440" y="1828800"/>
            <a:ext cx="802614" cy="274320"/>
          </a:xfrm>
          <a:prstGeom prst="rect">
            <a:avLst/>
          </a:prstGeom>
          <a:noFill/>
        </p:spPr>
        <p:txBody>
          <a:bodyPr wrap="square" lIns="0" rIns="0" tIns="0" bIns="0" anchor="t">
            <a:spAutoFit/>
          </a:bodyPr>
          <a:lstStyle/>
          <a:p>
            <a:pPr algn="ctr"/>
            <a:r>
              <a:rPr sz="1000" b="0" i="0">
                <a:solidFill>
                  <a:srgbClr val="6D6E71"/>
                </a:solidFill>
                <a:latin typeface="Courier New"/>
              </a:rPr>
              <a:t>D</a:t>
            </a:r>
          </a:p>
        </p:txBody>
      </p:sp>
      <p:sp>
        <p:nvSpPr>
          <p:cNvPr id="19" name="Rectangle 18"/>
          <p:cNvSpPr/>
          <p:nvPr/>
        </p:nvSpPr>
        <p:spPr>
          <a:xfrm>
            <a:off x="548640" y="2194560"/>
            <a:ext cx="11094415"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85800" y="2194560"/>
            <a:ext cx="1280160" cy="365760"/>
          </a:xfrm>
          <a:prstGeom prst="rect">
            <a:avLst/>
          </a:prstGeom>
          <a:noFill/>
        </p:spPr>
        <p:txBody>
          <a:bodyPr wrap="square" lIns="0" rIns="0" tIns="0" bIns="0" anchor="ctr">
            <a:spAutoFit/>
          </a:bodyPr>
          <a:lstStyle/>
          <a:p>
            <a:pPr algn="l"/>
            <a:r>
              <a:rPr sz="1150" b="1" i="0">
                <a:solidFill>
                  <a:srgbClr val="1A1A1A"/>
                </a:solidFill>
                <a:latin typeface="Arial"/>
              </a:rPr>
              <a:t>Pilotes</a:t>
            </a:r>
          </a:p>
        </p:txBody>
      </p:sp>
      <p:sp>
        <p:nvSpPr>
          <p:cNvPr id="21" name="Rectangle 20"/>
          <p:cNvSpPr/>
          <p:nvPr/>
        </p:nvSpPr>
        <p:spPr>
          <a:xfrm>
            <a:off x="2029968" y="2258568"/>
            <a:ext cx="1568653" cy="237744"/>
          </a:xfrm>
          <a:prstGeom prst="rect">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2011680" y="2258568"/>
            <a:ext cx="1605229" cy="237744"/>
          </a:xfrm>
          <a:prstGeom prst="rect">
            <a:avLst/>
          </a:prstGeom>
          <a:noFill/>
        </p:spPr>
        <p:txBody>
          <a:bodyPr wrap="square" lIns="0" rIns="0" tIns="0" bIns="0" anchor="ctr">
            <a:spAutoFit/>
          </a:bodyPr>
          <a:lstStyle/>
          <a:p>
            <a:pPr algn="ctr"/>
            <a:r>
              <a:rPr sz="950" b="1" i="0">
                <a:solidFill>
                  <a:srgbClr val="FFFFFF"/>
                </a:solidFill>
                <a:latin typeface="Courier New"/>
              </a:rPr>
              <a:t>EWP</a:t>
            </a:r>
          </a:p>
        </p:txBody>
      </p:sp>
      <p:sp>
        <p:nvSpPr>
          <p:cNvPr id="23" name="Rectangle 22"/>
          <p:cNvSpPr/>
          <p:nvPr/>
        </p:nvSpPr>
        <p:spPr>
          <a:xfrm>
            <a:off x="3635197" y="2258568"/>
            <a:ext cx="1167345" cy="237744"/>
          </a:xfrm>
          <a:prstGeom prst="rect">
            <a:avLst/>
          </a:prstGeom>
          <a:solidFill>
            <a:srgbClr val="0078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3616909" y="2258568"/>
            <a:ext cx="1203921" cy="237744"/>
          </a:xfrm>
          <a:prstGeom prst="rect">
            <a:avLst/>
          </a:prstGeom>
          <a:noFill/>
        </p:spPr>
        <p:txBody>
          <a:bodyPr wrap="square" lIns="0" rIns="0" tIns="0" bIns="0" anchor="ctr">
            <a:spAutoFit/>
          </a:bodyPr>
          <a:lstStyle/>
          <a:p>
            <a:pPr algn="ctr"/>
            <a:r>
              <a:rPr sz="950" b="1" i="0">
                <a:solidFill>
                  <a:srgbClr val="FFFFFF"/>
                </a:solidFill>
                <a:latin typeface="Courier New"/>
              </a:rPr>
              <a:t>PWP</a:t>
            </a:r>
          </a:p>
        </p:txBody>
      </p:sp>
      <p:sp>
        <p:nvSpPr>
          <p:cNvPr id="25" name="Rectangle 24"/>
          <p:cNvSpPr/>
          <p:nvPr/>
        </p:nvSpPr>
        <p:spPr>
          <a:xfrm>
            <a:off x="4839119" y="2258568"/>
            <a:ext cx="1568653" cy="23774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820831" y="2258568"/>
            <a:ext cx="1605229" cy="237744"/>
          </a:xfrm>
          <a:prstGeom prst="rect">
            <a:avLst/>
          </a:prstGeom>
          <a:noFill/>
        </p:spPr>
        <p:txBody>
          <a:bodyPr wrap="square" lIns="0" rIns="0" tIns="0" bIns="0" anchor="ctr">
            <a:spAutoFit/>
          </a:bodyPr>
          <a:lstStyle/>
          <a:p>
            <a:pPr algn="ctr"/>
            <a:r>
              <a:rPr sz="950" b="1" i="0">
                <a:solidFill>
                  <a:srgbClr val="FFFFFF"/>
                </a:solidFill>
                <a:latin typeface="Courier New"/>
              </a:rPr>
              <a:t>CWP</a:t>
            </a:r>
          </a:p>
        </p:txBody>
      </p:sp>
      <p:sp>
        <p:nvSpPr>
          <p:cNvPr id="27" name="Rectangle 26"/>
          <p:cNvSpPr/>
          <p:nvPr/>
        </p:nvSpPr>
        <p:spPr>
          <a:xfrm>
            <a:off x="548640" y="2596896"/>
            <a:ext cx="11094415" cy="36576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85800" y="2596896"/>
            <a:ext cx="1280160" cy="365760"/>
          </a:xfrm>
          <a:prstGeom prst="rect">
            <a:avLst/>
          </a:prstGeom>
          <a:noFill/>
        </p:spPr>
        <p:txBody>
          <a:bodyPr wrap="square" lIns="0" rIns="0" tIns="0" bIns="0" anchor="ctr">
            <a:spAutoFit/>
          </a:bodyPr>
          <a:lstStyle/>
          <a:p>
            <a:pPr algn="l"/>
            <a:r>
              <a:rPr sz="1150" b="1" i="0">
                <a:solidFill>
                  <a:srgbClr val="1A1A1A"/>
                </a:solidFill>
                <a:latin typeface="Arial"/>
              </a:rPr>
              <a:t>Concreto</a:t>
            </a:r>
          </a:p>
        </p:txBody>
      </p:sp>
      <p:sp>
        <p:nvSpPr>
          <p:cNvPr id="29" name="Rectangle 28"/>
          <p:cNvSpPr/>
          <p:nvPr/>
        </p:nvSpPr>
        <p:spPr>
          <a:xfrm>
            <a:off x="2832582" y="2660903"/>
            <a:ext cx="1568653" cy="237744"/>
          </a:xfrm>
          <a:prstGeom prst="rect">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2814294" y="2660903"/>
            <a:ext cx="1605229" cy="237744"/>
          </a:xfrm>
          <a:prstGeom prst="rect">
            <a:avLst/>
          </a:prstGeom>
          <a:noFill/>
        </p:spPr>
        <p:txBody>
          <a:bodyPr wrap="square" lIns="0" rIns="0" tIns="0" bIns="0" anchor="ctr">
            <a:spAutoFit/>
          </a:bodyPr>
          <a:lstStyle/>
          <a:p>
            <a:pPr algn="ctr"/>
            <a:r>
              <a:rPr sz="950" b="1" i="0">
                <a:solidFill>
                  <a:srgbClr val="FFFFFF"/>
                </a:solidFill>
                <a:latin typeface="Courier New"/>
              </a:rPr>
              <a:t>EWP</a:t>
            </a:r>
          </a:p>
        </p:txBody>
      </p:sp>
      <p:sp>
        <p:nvSpPr>
          <p:cNvPr id="31" name="Rectangle 30"/>
          <p:cNvSpPr/>
          <p:nvPr/>
        </p:nvSpPr>
        <p:spPr>
          <a:xfrm>
            <a:off x="4437811" y="2660903"/>
            <a:ext cx="1167345" cy="237744"/>
          </a:xfrm>
          <a:prstGeom prst="rect">
            <a:avLst/>
          </a:prstGeom>
          <a:solidFill>
            <a:srgbClr val="0078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419523" y="2660903"/>
            <a:ext cx="1203921" cy="237744"/>
          </a:xfrm>
          <a:prstGeom prst="rect">
            <a:avLst/>
          </a:prstGeom>
          <a:noFill/>
        </p:spPr>
        <p:txBody>
          <a:bodyPr wrap="square" lIns="0" rIns="0" tIns="0" bIns="0" anchor="ctr">
            <a:spAutoFit/>
          </a:bodyPr>
          <a:lstStyle/>
          <a:p>
            <a:pPr algn="ctr"/>
            <a:r>
              <a:rPr sz="950" b="1" i="0">
                <a:solidFill>
                  <a:srgbClr val="FFFFFF"/>
                </a:solidFill>
                <a:latin typeface="Courier New"/>
              </a:rPr>
              <a:t>PWP</a:t>
            </a:r>
          </a:p>
        </p:txBody>
      </p:sp>
      <p:sp>
        <p:nvSpPr>
          <p:cNvPr id="33" name="Rectangle 32"/>
          <p:cNvSpPr/>
          <p:nvPr/>
        </p:nvSpPr>
        <p:spPr>
          <a:xfrm>
            <a:off x="5641733" y="2660903"/>
            <a:ext cx="1568653" cy="23774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623445" y="2660903"/>
            <a:ext cx="1605229" cy="237744"/>
          </a:xfrm>
          <a:prstGeom prst="rect">
            <a:avLst/>
          </a:prstGeom>
          <a:noFill/>
        </p:spPr>
        <p:txBody>
          <a:bodyPr wrap="square" lIns="0" rIns="0" tIns="0" bIns="0" anchor="ctr">
            <a:spAutoFit/>
          </a:bodyPr>
          <a:lstStyle/>
          <a:p>
            <a:pPr algn="ctr"/>
            <a:r>
              <a:rPr sz="950" b="1" i="0">
                <a:solidFill>
                  <a:srgbClr val="FFFFFF"/>
                </a:solidFill>
                <a:latin typeface="Courier New"/>
              </a:rPr>
              <a:t>CWP</a:t>
            </a:r>
          </a:p>
        </p:txBody>
      </p:sp>
      <p:sp>
        <p:nvSpPr>
          <p:cNvPr id="35" name="Rectangle 34"/>
          <p:cNvSpPr/>
          <p:nvPr/>
        </p:nvSpPr>
        <p:spPr>
          <a:xfrm>
            <a:off x="548640" y="2999232"/>
            <a:ext cx="11094415"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85800" y="2999232"/>
            <a:ext cx="1280160" cy="365760"/>
          </a:xfrm>
          <a:prstGeom prst="rect">
            <a:avLst/>
          </a:prstGeom>
          <a:noFill/>
        </p:spPr>
        <p:txBody>
          <a:bodyPr wrap="square" lIns="0" rIns="0" tIns="0" bIns="0" anchor="ctr">
            <a:spAutoFit/>
          </a:bodyPr>
          <a:lstStyle/>
          <a:p>
            <a:pPr algn="l"/>
            <a:r>
              <a:rPr sz="1150" b="1" i="0">
                <a:solidFill>
                  <a:srgbClr val="1A1A1A"/>
                </a:solidFill>
                <a:latin typeface="Arial"/>
              </a:rPr>
              <a:t>Acero</a:t>
            </a:r>
          </a:p>
        </p:txBody>
      </p:sp>
      <p:sp>
        <p:nvSpPr>
          <p:cNvPr id="37" name="Rectangle 36"/>
          <p:cNvSpPr/>
          <p:nvPr/>
        </p:nvSpPr>
        <p:spPr>
          <a:xfrm>
            <a:off x="3635197" y="3063239"/>
            <a:ext cx="1568653" cy="237744"/>
          </a:xfrm>
          <a:prstGeom prst="rect">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3616909" y="3063239"/>
            <a:ext cx="1605229" cy="237744"/>
          </a:xfrm>
          <a:prstGeom prst="rect">
            <a:avLst/>
          </a:prstGeom>
          <a:noFill/>
        </p:spPr>
        <p:txBody>
          <a:bodyPr wrap="square" lIns="0" rIns="0" tIns="0" bIns="0" anchor="ctr">
            <a:spAutoFit/>
          </a:bodyPr>
          <a:lstStyle/>
          <a:p>
            <a:pPr algn="ctr"/>
            <a:r>
              <a:rPr sz="950" b="1" i="0">
                <a:solidFill>
                  <a:srgbClr val="FFFFFF"/>
                </a:solidFill>
                <a:latin typeface="Courier New"/>
              </a:rPr>
              <a:t>EWP</a:t>
            </a:r>
          </a:p>
        </p:txBody>
      </p:sp>
      <p:sp>
        <p:nvSpPr>
          <p:cNvPr id="39" name="Rectangle 38"/>
          <p:cNvSpPr/>
          <p:nvPr/>
        </p:nvSpPr>
        <p:spPr>
          <a:xfrm>
            <a:off x="5240426" y="3063239"/>
            <a:ext cx="1167345" cy="237744"/>
          </a:xfrm>
          <a:prstGeom prst="rect">
            <a:avLst/>
          </a:prstGeom>
          <a:solidFill>
            <a:srgbClr val="0078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222138" y="3063239"/>
            <a:ext cx="1203921" cy="237744"/>
          </a:xfrm>
          <a:prstGeom prst="rect">
            <a:avLst/>
          </a:prstGeom>
          <a:noFill/>
        </p:spPr>
        <p:txBody>
          <a:bodyPr wrap="square" lIns="0" rIns="0" tIns="0" bIns="0" anchor="ctr">
            <a:spAutoFit/>
          </a:bodyPr>
          <a:lstStyle/>
          <a:p>
            <a:pPr algn="ctr"/>
            <a:r>
              <a:rPr sz="950" b="1" i="0">
                <a:solidFill>
                  <a:srgbClr val="FFFFFF"/>
                </a:solidFill>
                <a:latin typeface="Courier New"/>
              </a:rPr>
              <a:t>PWP</a:t>
            </a:r>
          </a:p>
        </p:txBody>
      </p:sp>
      <p:sp>
        <p:nvSpPr>
          <p:cNvPr id="41" name="Rectangle 40"/>
          <p:cNvSpPr/>
          <p:nvPr/>
        </p:nvSpPr>
        <p:spPr>
          <a:xfrm>
            <a:off x="6444348" y="3063239"/>
            <a:ext cx="1568653" cy="23774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426060" y="3063239"/>
            <a:ext cx="1605229" cy="237744"/>
          </a:xfrm>
          <a:prstGeom prst="rect">
            <a:avLst/>
          </a:prstGeom>
          <a:noFill/>
        </p:spPr>
        <p:txBody>
          <a:bodyPr wrap="square" lIns="0" rIns="0" tIns="0" bIns="0" anchor="ctr">
            <a:spAutoFit/>
          </a:bodyPr>
          <a:lstStyle/>
          <a:p>
            <a:pPr algn="ctr"/>
            <a:r>
              <a:rPr sz="950" b="1" i="0">
                <a:solidFill>
                  <a:srgbClr val="FFFFFF"/>
                </a:solidFill>
                <a:latin typeface="Courier New"/>
              </a:rPr>
              <a:t>CWP</a:t>
            </a:r>
          </a:p>
        </p:txBody>
      </p:sp>
      <p:sp>
        <p:nvSpPr>
          <p:cNvPr id="43" name="Rectangle 42"/>
          <p:cNvSpPr/>
          <p:nvPr/>
        </p:nvSpPr>
        <p:spPr>
          <a:xfrm>
            <a:off x="548640" y="3401568"/>
            <a:ext cx="11094415" cy="36576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85800" y="3401568"/>
            <a:ext cx="1280160" cy="365760"/>
          </a:xfrm>
          <a:prstGeom prst="rect">
            <a:avLst/>
          </a:prstGeom>
          <a:noFill/>
        </p:spPr>
        <p:txBody>
          <a:bodyPr wrap="square" lIns="0" rIns="0" tIns="0" bIns="0" anchor="ctr">
            <a:spAutoFit/>
          </a:bodyPr>
          <a:lstStyle/>
          <a:p>
            <a:pPr algn="l"/>
            <a:r>
              <a:rPr sz="1150" b="1" i="0">
                <a:solidFill>
                  <a:srgbClr val="1A1A1A"/>
                </a:solidFill>
                <a:latin typeface="Arial"/>
              </a:rPr>
              <a:t>Tuberías</a:t>
            </a:r>
          </a:p>
        </p:txBody>
      </p:sp>
      <p:sp>
        <p:nvSpPr>
          <p:cNvPr id="45" name="Rectangle 44"/>
          <p:cNvSpPr/>
          <p:nvPr/>
        </p:nvSpPr>
        <p:spPr>
          <a:xfrm>
            <a:off x="4437811" y="3465575"/>
            <a:ext cx="1568653" cy="237744"/>
          </a:xfrm>
          <a:prstGeom prst="rect">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4419523" y="3465575"/>
            <a:ext cx="1605229" cy="237744"/>
          </a:xfrm>
          <a:prstGeom prst="rect">
            <a:avLst/>
          </a:prstGeom>
          <a:noFill/>
        </p:spPr>
        <p:txBody>
          <a:bodyPr wrap="square" lIns="0" rIns="0" tIns="0" bIns="0" anchor="ctr">
            <a:spAutoFit/>
          </a:bodyPr>
          <a:lstStyle/>
          <a:p>
            <a:pPr algn="ctr"/>
            <a:r>
              <a:rPr sz="950" b="1" i="0">
                <a:solidFill>
                  <a:srgbClr val="FFFFFF"/>
                </a:solidFill>
                <a:latin typeface="Courier New"/>
              </a:rPr>
              <a:t>EWP</a:t>
            </a:r>
          </a:p>
        </p:txBody>
      </p:sp>
      <p:sp>
        <p:nvSpPr>
          <p:cNvPr id="47" name="Rectangle 46"/>
          <p:cNvSpPr/>
          <p:nvPr/>
        </p:nvSpPr>
        <p:spPr>
          <a:xfrm>
            <a:off x="6043041" y="3465575"/>
            <a:ext cx="1167345" cy="237744"/>
          </a:xfrm>
          <a:prstGeom prst="rect">
            <a:avLst/>
          </a:prstGeom>
          <a:solidFill>
            <a:srgbClr val="0078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024753" y="3465575"/>
            <a:ext cx="1203921" cy="237744"/>
          </a:xfrm>
          <a:prstGeom prst="rect">
            <a:avLst/>
          </a:prstGeom>
          <a:noFill/>
        </p:spPr>
        <p:txBody>
          <a:bodyPr wrap="square" lIns="0" rIns="0" tIns="0" bIns="0" anchor="ctr">
            <a:spAutoFit/>
          </a:bodyPr>
          <a:lstStyle/>
          <a:p>
            <a:pPr algn="ctr"/>
            <a:r>
              <a:rPr sz="950" b="1" i="0">
                <a:solidFill>
                  <a:srgbClr val="FFFFFF"/>
                </a:solidFill>
                <a:latin typeface="Courier New"/>
              </a:rPr>
              <a:t>PWP</a:t>
            </a:r>
          </a:p>
        </p:txBody>
      </p:sp>
      <p:sp>
        <p:nvSpPr>
          <p:cNvPr id="49" name="Rectangle 48"/>
          <p:cNvSpPr/>
          <p:nvPr/>
        </p:nvSpPr>
        <p:spPr>
          <a:xfrm>
            <a:off x="7246962" y="3465575"/>
            <a:ext cx="1568653" cy="23774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7228674" y="3465575"/>
            <a:ext cx="1605229" cy="237744"/>
          </a:xfrm>
          <a:prstGeom prst="rect">
            <a:avLst/>
          </a:prstGeom>
          <a:noFill/>
        </p:spPr>
        <p:txBody>
          <a:bodyPr wrap="square" lIns="0" rIns="0" tIns="0" bIns="0" anchor="ctr">
            <a:spAutoFit/>
          </a:bodyPr>
          <a:lstStyle/>
          <a:p>
            <a:pPr algn="ctr"/>
            <a:r>
              <a:rPr sz="950" b="1" i="0">
                <a:solidFill>
                  <a:srgbClr val="FFFFFF"/>
                </a:solidFill>
                <a:latin typeface="Courier New"/>
              </a:rPr>
              <a:t>CWP</a:t>
            </a:r>
          </a:p>
        </p:txBody>
      </p:sp>
      <p:sp>
        <p:nvSpPr>
          <p:cNvPr id="51" name="Rectangle 50"/>
          <p:cNvSpPr/>
          <p:nvPr/>
        </p:nvSpPr>
        <p:spPr>
          <a:xfrm>
            <a:off x="548640" y="3803904"/>
            <a:ext cx="11094415"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685800" y="3803904"/>
            <a:ext cx="1280160" cy="365760"/>
          </a:xfrm>
          <a:prstGeom prst="rect">
            <a:avLst/>
          </a:prstGeom>
          <a:noFill/>
        </p:spPr>
        <p:txBody>
          <a:bodyPr wrap="square" lIns="0" rIns="0" tIns="0" bIns="0" anchor="ctr">
            <a:spAutoFit/>
          </a:bodyPr>
          <a:lstStyle/>
          <a:p>
            <a:pPr algn="l"/>
            <a:r>
              <a:rPr sz="1150" b="1" i="0">
                <a:solidFill>
                  <a:srgbClr val="1A1A1A"/>
                </a:solidFill>
                <a:latin typeface="Arial"/>
              </a:rPr>
              <a:t>E &amp; I</a:t>
            </a:r>
          </a:p>
        </p:txBody>
      </p:sp>
      <p:sp>
        <p:nvSpPr>
          <p:cNvPr id="53" name="Rectangle 52"/>
          <p:cNvSpPr/>
          <p:nvPr/>
        </p:nvSpPr>
        <p:spPr>
          <a:xfrm>
            <a:off x="5240426" y="3867912"/>
            <a:ext cx="1568653" cy="237744"/>
          </a:xfrm>
          <a:prstGeom prst="rect">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5222138" y="3867912"/>
            <a:ext cx="1605229" cy="237744"/>
          </a:xfrm>
          <a:prstGeom prst="rect">
            <a:avLst/>
          </a:prstGeom>
          <a:noFill/>
        </p:spPr>
        <p:txBody>
          <a:bodyPr wrap="square" lIns="0" rIns="0" tIns="0" bIns="0" anchor="ctr">
            <a:spAutoFit/>
          </a:bodyPr>
          <a:lstStyle/>
          <a:p>
            <a:pPr algn="ctr"/>
            <a:r>
              <a:rPr sz="950" b="1" i="0">
                <a:solidFill>
                  <a:srgbClr val="FFFFFF"/>
                </a:solidFill>
                <a:latin typeface="Courier New"/>
              </a:rPr>
              <a:t>EWP</a:t>
            </a:r>
          </a:p>
        </p:txBody>
      </p:sp>
      <p:sp>
        <p:nvSpPr>
          <p:cNvPr id="55" name="Rectangle 54"/>
          <p:cNvSpPr/>
          <p:nvPr/>
        </p:nvSpPr>
        <p:spPr>
          <a:xfrm>
            <a:off x="6845655" y="3867912"/>
            <a:ext cx="1167345" cy="237744"/>
          </a:xfrm>
          <a:prstGeom prst="rect">
            <a:avLst/>
          </a:prstGeom>
          <a:solidFill>
            <a:srgbClr val="0078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6827367" y="3867912"/>
            <a:ext cx="1203921" cy="237744"/>
          </a:xfrm>
          <a:prstGeom prst="rect">
            <a:avLst/>
          </a:prstGeom>
          <a:noFill/>
        </p:spPr>
        <p:txBody>
          <a:bodyPr wrap="square" lIns="0" rIns="0" tIns="0" bIns="0" anchor="ctr">
            <a:spAutoFit/>
          </a:bodyPr>
          <a:lstStyle/>
          <a:p>
            <a:pPr algn="ctr"/>
            <a:r>
              <a:rPr sz="950" b="1" i="0">
                <a:solidFill>
                  <a:srgbClr val="FFFFFF"/>
                </a:solidFill>
                <a:latin typeface="Courier New"/>
              </a:rPr>
              <a:t>PWP</a:t>
            </a:r>
          </a:p>
        </p:txBody>
      </p:sp>
      <p:sp>
        <p:nvSpPr>
          <p:cNvPr id="57" name="Rectangle 56"/>
          <p:cNvSpPr/>
          <p:nvPr/>
        </p:nvSpPr>
        <p:spPr>
          <a:xfrm>
            <a:off x="8049577" y="3867912"/>
            <a:ext cx="1568653" cy="23774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8031289" y="3867912"/>
            <a:ext cx="1605229" cy="237744"/>
          </a:xfrm>
          <a:prstGeom prst="rect">
            <a:avLst/>
          </a:prstGeom>
          <a:noFill/>
        </p:spPr>
        <p:txBody>
          <a:bodyPr wrap="square" lIns="0" rIns="0" tIns="0" bIns="0" anchor="ctr">
            <a:spAutoFit/>
          </a:bodyPr>
          <a:lstStyle/>
          <a:p>
            <a:pPr algn="ctr"/>
            <a:r>
              <a:rPr sz="950" b="1" i="0">
                <a:solidFill>
                  <a:srgbClr val="FFFFFF"/>
                </a:solidFill>
                <a:latin typeface="Courier New"/>
              </a:rPr>
              <a:t>CWP</a:t>
            </a:r>
          </a:p>
        </p:txBody>
      </p:sp>
      <p:sp>
        <p:nvSpPr>
          <p:cNvPr id="59" name="Rectangle 58"/>
          <p:cNvSpPr/>
          <p:nvPr/>
        </p:nvSpPr>
        <p:spPr>
          <a:xfrm>
            <a:off x="548640" y="4206240"/>
            <a:ext cx="11094415" cy="36576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685800" y="4206240"/>
            <a:ext cx="1280160" cy="365760"/>
          </a:xfrm>
          <a:prstGeom prst="rect">
            <a:avLst/>
          </a:prstGeom>
          <a:noFill/>
        </p:spPr>
        <p:txBody>
          <a:bodyPr wrap="square" lIns="0" rIns="0" tIns="0" bIns="0" anchor="ctr">
            <a:spAutoFit/>
          </a:bodyPr>
          <a:lstStyle/>
          <a:p>
            <a:pPr algn="l"/>
            <a:r>
              <a:rPr sz="1150" b="1" i="0">
                <a:solidFill>
                  <a:srgbClr val="1A1A1A"/>
                </a:solidFill>
                <a:latin typeface="Arial"/>
              </a:rPr>
              <a:t>Traceado</a:t>
            </a:r>
          </a:p>
        </p:txBody>
      </p:sp>
      <p:sp>
        <p:nvSpPr>
          <p:cNvPr id="61" name="Rectangle 60"/>
          <p:cNvSpPr/>
          <p:nvPr/>
        </p:nvSpPr>
        <p:spPr>
          <a:xfrm>
            <a:off x="6043041" y="4270248"/>
            <a:ext cx="1568653" cy="237744"/>
          </a:xfrm>
          <a:prstGeom prst="rect">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6024753" y="4270248"/>
            <a:ext cx="1605229" cy="237744"/>
          </a:xfrm>
          <a:prstGeom prst="rect">
            <a:avLst/>
          </a:prstGeom>
          <a:noFill/>
        </p:spPr>
        <p:txBody>
          <a:bodyPr wrap="square" lIns="0" rIns="0" tIns="0" bIns="0" anchor="ctr">
            <a:spAutoFit/>
          </a:bodyPr>
          <a:lstStyle/>
          <a:p>
            <a:pPr algn="ctr"/>
            <a:r>
              <a:rPr sz="950" b="1" i="0">
                <a:solidFill>
                  <a:srgbClr val="FFFFFF"/>
                </a:solidFill>
                <a:latin typeface="Courier New"/>
              </a:rPr>
              <a:t>EWP</a:t>
            </a:r>
          </a:p>
        </p:txBody>
      </p:sp>
      <p:sp>
        <p:nvSpPr>
          <p:cNvPr id="63" name="Rectangle 62"/>
          <p:cNvSpPr/>
          <p:nvPr/>
        </p:nvSpPr>
        <p:spPr>
          <a:xfrm>
            <a:off x="7648270" y="4270248"/>
            <a:ext cx="1167345" cy="237744"/>
          </a:xfrm>
          <a:prstGeom prst="rect">
            <a:avLst/>
          </a:prstGeom>
          <a:solidFill>
            <a:srgbClr val="0078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7629982" y="4270248"/>
            <a:ext cx="1203921" cy="237744"/>
          </a:xfrm>
          <a:prstGeom prst="rect">
            <a:avLst/>
          </a:prstGeom>
          <a:noFill/>
        </p:spPr>
        <p:txBody>
          <a:bodyPr wrap="square" lIns="0" rIns="0" tIns="0" bIns="0" anchor="ctr">
            <a:spAutoFit/>
          </a:bodyPr>
          <a:lstStyle/>
          <a:p>
            <a:pPr algn="ctr"/>
            <a:r>
              <a:rPr sz="950" b="1" i="0">
                <a:solidFill>
                  <a:srgbClr val="FFFFFF"/>
                </a:solidFill>
                <a:latin typeface="Courier New"/>
              </a:rPr>
              <a:t>PWP</a:t>
            </a:r>
          </a:p>
        </p:txBody>
      </p:sp>
      <p:sp>
        <p:nvSpPr>
          <p:cNvPr id="65" name="Rectangle 64"/>
          <p:cNvSpPr/>
          <p:nvPr/>
        </p:nvSpPr>
        <p:spPr>
          <a:xfrm>
            <a:off x="8852192" y="4270248"/>
            <a:ext cx="1568653" cy="23774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8833904" y="4270248"/>
            <a:ext cx="1605229" cy="237744"/>
          </a:xfrm>
          <a:prstGeom prst="rect">
            <a:avLst/>
          </a:prstGeom>
          <a:noFill/>
        </p:spPr>
        <p:txBody>
          <a:bodyPr wrap="square" lIns="0" rIns="0" tIns="0" bIns="0" anchor="ctr">
            <a:spAutoFit/>
          </a:bodyPr>
          <a:lstStyle/>
          <a:p>
            <a:pPr algn="ctr"/>
            <a:r>
              <a:rPr sz="950" b="1" i="0">
                <a:solidFill>
                  <a:srgbClr val="FFFFFF"/>
                </a:solidFill>
                <a:latin typeface="Courier New"/>
              </a:rPr>
              <a:t>CWP</a:t>
            </a:r>
          </a:p>
        </p:txBody>
      </p:sp>
      <p:sp>
        <p:nvSpPr>
          <p:cNvPr id="67" name="Rectangle 66"/>
          <p:cNvSpPr/>
          <p:nvPr/>
        </p:nvSpPr>
        <p:spPr>
          <a:xfrm>
            <a:off x="548640" y="4608576"/>
            <a:ext cx="11094415"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685800" y="4608576"/>
            <a:ext cx="1280160" cy="365760"/>
          </a:xfrm>
          <a:prstGeom prst="rect">
            <a:avLst/>
          </a:prstGeom>
          <a:noFill/>
        </p:spPr>
        <p:txBody>
          <a:bodyPr wrap="square" lIns="0" rIns="0" tIns="0" bIns="0" anchor="ctr">
            <a:spAutoFit/>
          </a:bodyPr>
          <a:lstStyle/>
          <a:p>
            <a:pPr algn="l"/>
            <a:r>
              <a:rPr sz="1150" b="1" i="0">
                <a:solidFill>
                  <a:srgbClr val="1A1A1A"/>
                </a:solidFill>
                <a:latin typeface="Arial"/>
              </a:rPr>
              <a:t>Aislamiento</a:t>
            </a:r>
          </a:p>
        </p:txBody>
      </p:sp>
      <p:sp>
        <p:nvSpPr>
          <p:cNvPr id="69" name="Rectangle 68"/>
          <p:cNvSpPr/>
          <p:nvPr/>
        </p:nvSpPr>
        <p:spPr>
          <a:xfrm>
            <a:off x="6845655" y="4672584"/>
            <a:ext cx="1568653" cy="237744"/>
          </a:xfrm>
          <a:prstGeom prst="rect">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6827367" y="4672584"/>
            <a:ext cx="1605229" cy="237744"/>
          </a:xfrm>
          <a:prstGeom prst="rect">
            <a:avLst/>
          </a:prstGeom>
          <a:noFill/>
        </p:spPr>
        <p:txBody>
          <a:bodyPr wrap="square" lIns="0" rIns="0" tIns="0" bIns="0" anchor="ctr">
            <a:spAutoFit/>
          </a:bodyPr>
          <a:lstStyle/>
          <a:p>
            <a:pPr algn="ctr"/>
            <a:r>
              <a:rPr sz="950" b="1" i="0">
                <a:solidFill>
                  <a:srgbClr val="FFFFFF"/>
                </a:solidFill>
                <a:latin typeface="Courier New"/>
              </a:rPr>
              <a:t>EWP</a:t>
            </a:r>
          </a:p>
        </p:txBody>
      </p:sp>
      <p:sp>
        <p:nvSpPr>
          <p:cNvPr id="71" name="Rectangle 70"/>
          <p:cNvSpPr/>
          <p:nvPr/>
        </p:nvSpPr>
        <p:spPr>
          <a:xfrm>
            <a:off x="8450884" y="4672584"/>
            <a:ext cx="1167345" cy="237744"/>
          </a:xfrm>
          <a:prstGeom prst="rect">
            <a:avLst/>
          </a:prstGeom>
          <a:solidFill>
            <a:srgbClr val="0078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8432596" y="4672584"/>
            <a:ext cx="1203921" cy="237744"/>
          </a:xfrm>
          <a:prstGeom prst="rect">
            <a:avLst/>
          </a:prstGeom>
          <a:noFill/>
        </p:spPr>
        <p:txBody>
          <a:bodyPr wrap="square" lIns="0" rIns="0" tIns="0" bIns="0" anchor="ctr">
            <a:spAutoFit/>
          </a:bodyPr>
          <a:lstStyle/>
          <a:p>
            <a:pPr algn="ctr"/>
            <a:r>
              <a:rPr sz="950" b="1" i="0">
                <a:solidFill>
                  <a:srgbClr val="FFFFFF"/>
                </a:solidFill>
                <a:latin typeface="Courier New"/>
              </a:rPr>
              <a:t>PWP</a:t>
            </a:r>
          </a:p>
        </p:txBody>
      </p:sp>
      <p:sp>
        <p:nvSpPr>
          <p:cNvPr id="73" name="Rectangle 72"/>
          <p:cNvSpPr/>
          <p:nvPr/>
        </p:nvSpPr>
        <p:spPr>
          <a:xfrm>
            <a:off x="9654806" y="4672584"/>
            <a:ext cx="1568653" cy="237744"/>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9636518" y="4672584"/>
            <a:ext cx="1605229" cy="237744"/>
          </a:xfrm>
          <a:prstGeom prst="rect">
            <a:avLst/>
          </a:prstGeom>
          <a:noFill/>
        </p:spPr>
        <p:txBody>
          <a:bodyPr wrap="square" lIns="0" rIns="0" tIns="0" bIns="0" anchor="ctr">
            <a:spAutoFit/>
          </a:bodyPr>
          <a:lstStyle/>
          <a:p>
            <a:pPr algn="ctr"/>
            <a:r>
              <a:rPr sz="950" b="1" i="0">
                <a:solidFill>
                  <a:srgbClr val="FFFFFF"/>
                </a:solidFill>
                <a:latin typeface="Courier New"/>
              </a:rPr>
              <a:t>CWP</a:t>
            </a:r>
          </a:p>
        </p:txBody>
      </p:sp>
      <p:sp>
        <p:nvSpPr>
          <p:cNvPr id="75" name="Rectangle 74"/>
          <p:cNvSpPr/>
          <p:nvPr/>
        </p:nvSpPr>
        <p:spPr>
          <a:xfrm>
            <a:off x="548640" y="5157216"/>
            <a:ext cx="274320" cy="182880"/>
          </a:xfrm>
          <a:prstGeom prst="rect">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Box 75"/>
          <p:cNvSpPr txBox="1"/>
          <p:nvPr/>
        </p:nvSpPr>
        <p:spPr>
          <a:xfrm>
            <a:off x="914400" y="5102352"/>
            <a:ext cx="3291840" cy="292608"/>
          </a:xfrm>
          <a:prstGeom prst="rect">
            <a:avLst/>
          </a:prstGeom>
          <a:noFill/>
        </p:spPr>
        <p:txBody>
          <a:bodyPr wrap="square" lIns="0" rIns="0" tIns="0" bIns="0" anchor="ctr">
            <a:spAutoFit/>
          </a:bodyPr>
          <a:lstStyle/>
          <a:p>
            <a:pPr algn="l"/>
            <a:r>
              <a:rPr sz="1100" b="1" i="0">
                <a:solidFill>
                  <a:srgbClr val="1A1A1A"/>
                </a:solidFill>
                <a:latin typeface="Arial"/>
              </a:rPr>
              <a:t>EWP </a:t>
            </a:r>
            <a:r>
              <a:rPr sz="1100" b="0" i="0">
                <a:solidFill>
                  <a:srgbClr val="6D6E71"/>
                </a:solidFill>
                <a:latin typeface="Arial"/>
              </a:rPr>
              <a:t>Ingeniería: último plano IFC</a:t>
            </a:r>
          </a:p>
        </p:txBody>
      </p:sp>
      <p:sp>
        <p:nvSpPr>
          <p:cNvPr id="77" name="Rectangle 76"/>
          <p:cNvSpPr/>
          <p:nvPr/>
        </p:nvSpPr>
        <p:spPr>
          <a:xfrm>
            <a:off x="4206240" y="5157216"/>
            <a:ext cx="274320" cy="182880"/>
          </a:xfrm>
          <a:prstGeom prst="rect">
            <a:avLst/>
          </a:prstGeom>
          <a:solidFill>
            <a:srgbClr val="0078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4572000" y="5102352"/>
            <a:ext cx="3291840" cy="292608"/>
          </a:xfrm>
          <a:prstGeom prst="rect">
            <a:avLst/>
          </a:prstGeom>
          <a:noFill/>
        </p:spPr>
        <p:txBody>
          <a:bodyPr wrap="square" lIns="0" rIns="0" tIns="0" bIns="0" anchor="ctr">
            <a:spAutoFit/>
          </a:bodyPr>
          <a:lstStyle/>
          <a:p>
            <a:pPr algn="l"/>
            <a:r>
              <a:rPr sz="1100" b="1" i="0">
                <a:solidFill>
                  <a:srgbClr val="1A1A1A"/>
                </a:solidFill>
                <a:latin typeface="Arial"/>
              </a:rPr>
              <a:t>PWP </a:t>
            </a:r>
            <a:r>
              <a:rPr sz="1100" b="0" i="0">
                <a:solidFill>
                  <a:srgbClr val="6D6E71"/>
                </a:solidFill>
                <a:latin typeface="Arial"/>
              </a:rPr>
              <a:t>Compras: último componente en obra</a:t>
            </a:r>
          </a:p>
        </p:txBody>
      </p:sp>
      <p:sp>
        <p:nvSpPr>
          <p:cNvPr id="79" name="Rectangle 78"/>
          <p:cNvSpPr/>
          <p:nvPr/>
        </p:nvSpPr>
        <p:spPr>
          <a:xfrm>
            <a:off x="7863840" y="5157216"/>
            <a:ext cx="274320" cy="18288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Box 79"/>
          <p:cNvSpPr txBox="1"/>
          <p:nvPr/>
        </p:nvSpPr>
        <p:spPr>
          <a:xfrm>
            <a:off x="8229600" y="5102352"/>
            <a:ext cx="3291840" cy="292608"/>
          </a:xfrm>
          <a:prstGeom prst="rect">
            <a:avLst/>
          </a:prstGeom>
          <a:noFill/>
        </p:spPr>
        <p:txBody>
          <a:bodyPr wrap="square" lIns="0" rIns="0" tIns="0" bIns="0" anchor="ctr">
            <a:spAutoFit/>
          </a:bodyPr>
          <a:lstStyle/>
          <a:p>
            <a:pPr algn="l"/>
            <a:r>
              <a:rPr sz="1100" b="1" i="0">
                <a:solidFill>
                  <a:srgbClr val="1A1A1A"/>
                </a:solidFill>
                <a:latin typeface="Arial"/>
              </a:rPr>
              <a:t>CWP </a:t>
            </a:r>
            <a:r>
              <a:rPr sz="1100" b="0" i="0">
                <a:solidFill>
                  <a:srgbClr val="6D6E71"/>
                </a:solidFill>
                <a:latin typeface="Arial"/>
              </a:rPr>
              <a:t>Construcción del paquete</a:t>
            </a:r>
          </a:p>
        </p:txBody>
      </p:sp>
      <p:sp>
        <p:nvSpPr>
          <p:cNvPr id="81" name="Rectangle 80"/>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2" name="Picture 81" descr="flag_o.png"/>
          <p:cNvPicPr>
            <a:picLocks noChangeAspect="1"/>
          </p:cNvPicPr>
          <p:nvPr/>
        </p:nvPicPr>
        <p:blipFill>
          <a:blip r:embed="rId2"/>
          <a:stretch>
            <a:fillRect/>
          </a:stretch>
        </p:blipFill>
        <p:spPr>
          <a:xfrm>
            <a:off x="822959" y="5660136"/>
            <a:ext cx="365760" cy="365760"/>
          </a:xfrm>
          <a:prstGeom prst="rect">
            <a:avLst/>
          </a:prstGeom>
        </p:spPr>
      </p:pic>
      <p:sp>
        <p:nvSpPr>
          <p:cNvPr id="83" name="TextBox 82"/>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Ingeniería y Compras calculan hacia atrás desde la fecha de inicio de cada CWP.</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4 · CONGELAR EL POC</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El POC se define en FEL 2 y se congela en FEL 3</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M4 · FASE 1: PLANIFICACIÓN PRELIMINAR</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044</a:t>
            </a:r>
          </a:p>
        </p:txBody>
      </p:sp>
      <p:sp>
        <p:nvSpPr>
          <p:cNvPr id="7" name="Rectangle 6"/>
          <p:cNvSpPr/>
          <p:nvPr/>
        </p:nvSpPr>
        <p:spPr>
          <a:xfrm>
            <a:off x="548640" y="2761488"/>
            <a:ext cx="11094415" cy="54864"/>
          </a:xfrm>
          <a:prstGeom prst="rect">
            <a:avLst/>
          </a:prstGeom>
          <a:solidFill>
            <a:srgbClr val="BCB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79" y="1874519"/>
            <a:ext cx="2590723" cy="502920"/>
          </a:xfrm>
          <a:prstGeom prst="rect">
            <a:avLst/>
          </a:prstGeom>
          <a:noFill/>
        </p:spPr>
        <p:txBody>
          <a:bodyPr wrap="square" lIns="0" rIns="0" tIns="0" bIns="0" anchor="b">
            <a:spAutoFit/>
          </a:bodyPr>
          <a:lstStyle/>
          <a:p>
            <a:pPr algn="ctr"/>
            <a:r>
              <a:rPr sz="1300" b="1" i="0">
                <a:solidFill>
                  <a:srgbClr val="6D6E71"/>
                </a:solidFill>
                <a:latin typeface="Courier New"/>
              </a:rPr>
              <a:t>FEL 1</a:t>
            </a:r>
          </a:p>
        </p:txBody>
      </p:sp>
      <p:sp>
        <p:nvSpPr>
          <p:cNvPr id="9" name="Oval 8"/>
          <p:cNvSpPr/>
          <p:nvPr/>
        </p:nvSpPr>
        <p:spPr>
          <a:xfrm>
            <a:off x="1752561" y="2606039"/>
            <a:ext cx="365760" cy="365760"/>
          </a:xfrm>
          <a:prstGeom prst="ellipse">
            <a:avLst/>
          </a:prstGeom>
          <a:solidFill>
            <a:srgbClr val="6D6E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21791" y="3200400"/>
            <a:ext cx="2627299" cy="203911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04671" y="3383280"/>
            <a:ext cx="2261539"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Evaluar</a:t>
            </a:r>
          </a:p>
        </p:txBody>
      </p:sp>
      <p:sp>
        <p:nvSpPr>
          <p:cNvPr id="12" name="TextBox 11"/>
          <p:cNvSpPr txBox="1"/>
          <p:nvPr/>
        </p:nvSpPr>
        <p:spPr>
          <a:xfrm>
            <a:off x="804671" y="3977639"/>
            <a:ext cx="2261539" cy="1124712"/>
          </a:xfrm>
          <a:prstGeom prst="rect">
            <a:avLst/>
          </a:prstGeom>
          <a:noFill/>
        </p:spPr>
        <p:txBody>
          <a:bodyPr wrap="square" lIns="0" rIns="0" tIns="0" bIns="0" anchor="t">
            <a:spAutoFit/>
          </a:bodyPr>
          <a:lstStyle/>
          <a:p>
            <a:pPr algn="l">
              <a:lnSpc>
                <a:spcPct val="105000"/>
              </a:lnSpc>
            </a:pPr>
            <a:r>
              <a:rPr sz="1150" b="0" i="0">
                <a:solidFill>
                  <a:srgbClr val="6D6E71"/>
                </a:solidFill>
                <a:latin typeface="Arial"/>
              </a:rPr>
              <a:t>Sin requisitos AWP</a:t>
            </a:r>
          </a:p>
        </p:txBody>
      </p:sp>
      <p:sp>
        <p:nvSpPr>
          <p:cNvPr id="13" name="TextBox 12"/>
          <p:cNvSpPr txBox="1"/>
          <p:nvPr/>
        </p:nvSpPr>
        <p:spPr>
          <a:xfrm>
            <a:off x="3413683" y="1874519"/>
            <a:ext cx="2590723" cy="502920"/>
          </a:xfrm>
          <a:prstGeom prst="rect">
            <a:avLst/>
          </a:prstGeom>
          <a:noFill/>
        </p:spPr>
        <p:txBody>
          <a:bodyPr wrap="square" lIns="0" rIns="0" tIns="0" bIns="0" anchor="b">
            <a:spAutoFit/>
          </a:bodyPr>
          <a:lstStyle/>
          <a:p>
            <a:pPr algn="ctr"/>
            <a:r>
              <a:rPr sz="1300" b="1" i="0">
                <a:solidFill>
                  <a:srgbClr val="CC4400"/>
                </a:solidFill>
                <a:latin typeface="Courier New"/>
              </a:rPr>
              <a:t>FEL 2</a:t>
            </a:r>
          </a:p>
        </p:txBody>
      </p:sp>
      <p:sp>
        <p:nvSpPr>
          <p:cNvPr id="14" name="Oval 13"/>
          <p:cNvSpPr/>
          <p:nvPr/>
        </p:nvSpPr>
        <p:spPr>
          <a:xfrm>
            <a:off x="4526165" y="2606039"/>
            <a:ext cx="365760" cy="365760"/>
          </a:xfrm>
          <a:prstGeom prst="ellipse">
            <a:avLst/>
          </a:prstGeom>
          <a:solidFill>
            <a:srgbClr val="CC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3395395" y="3200400"/>
            <a:ext cx="2627299" cy="203911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78275" y="3383280"/>
            <a:ext cx="2261539"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Crear el POC</a:t>
            </a:r>
          </a:p>
        </p:txBody>
      </p:sp>
      <p:sp>
        <p:nvSpPr>
          <p:cNvPr id="17" name="TextBox 16"/>
          <p:cNvSpPr txBox="1"/>
          <p:nvPr/>
        </p:nvSpPr>
        <p:spPr>
          <a:xfrm>
            <a:off x="3578275" y="3977639"/>
            <a:ext cx="2261539" cy="1124712"/>
          </a:xfrm>
          <a:prstGeom prst="rect">
            <a:avLst/>
          </a:prstGeom>
          <a:noFill/>
        </p:spPr>
        <p:txBody>
          <a:bodyPr wrap="square" lIns="0" rIns="0" tIns="0" bIns="0" anchor="t">
            <a:spAutoFit/>
          </a:bodyPr>
          <a:lstStyle/>
          <a:p>
            <a:pPr algn="l">
              <a:lnSpc>
                <a:spcPct val="105000"/>
              </a:lnSpc>
            </a:pPr>
            <a:r>
              <a:rPr sz="1150" b="0" i="0">
                <a:solidFill>
                  <a:srgbClr val="6D6E71"/>
                </a:solidFill>
                <a:latin typeface="Arial"/>
              </a:rPr>
              <a:t>Primera secuencia de prioridades para evaluar los demás planes</a:t>
            </a:r>
          </a:p>
        </p:txBody>
      </p:sp>
      <p:sp>
        <p:nvSpPr>
          <p:cNvPr id="18" name="TextBox 17"/>
          <p:cNvSpPr txBox="1"/>
          <p:nvPr/>
        </p:nvSpPr>
        <p:spPr>
          <a:xfrm>
            <a:off x="6187287" y="1874519"/>
            <a:ext cx="2590723" cy="502920"/>
          </a:xfrm>
          <a:prstGeom prst="rect">
            <a:avLst/>
          </a:prstGeom>
          <a:noFill/>
        </p:spPr>
        <p:txBody>
          <a:bodyPr wrap="square" lIns="0" rIns="0" tIns="0" bIns="0" anchor="b">
            <a:spAutoFit/>
          </a:bodyPr>
          <a:lstStyle/>
          <a:p>
            <a:pPr algn="ctr"/>
            <a:r>
              <a:rPr sz="1300" b="1" i="0">
                <a:solidFill>
                  <a:srgbClr val="FF6600"/>
                </a:solidFill>
                <a:latin typeface="Courier New"/>
              </a:rPr>
              <a:t>FEL 3 · INICIO</a:t>
            </a:r>
          </a:p>
        </p:txBody>
      </p:sp>
      <p:sp>
        <p:nvSpPr>
          <p:cNvPr id="19" name="Oval 18"/>
          <p:cNvSpPr/>
          <p:nvPr/>
        </p:nvSpPr>
        <p:spPr>
          <a:xfrm>
            <a:off x="7299769" y="2606039"/>
            <a:ext cx="365760" cy="36576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168999" y="3200400"/>
            <a:ext cx="2627299" cy="203911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1879" y="3383280"/>
            <a:ext cx="2261539"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Actualizar</a:t>
            </a:r>
          </a:p>
        </p:txBody>
      </p:sp>
      <p:sp>
        <p:nvSpPr>
          <p:cNvPr id="22" name="TextBox 21"/>
          <p:cNvSpPr txBox="1"/>
          <p:nvPr/>
        </p:nvSpPr>
        <p:spPr>
          <a:xfrm>
            <a:off x="6351879" y="3977639"/>
            <a:ext cx="2261539" cy="1124712"/>
          </a:xfrm>
          <a:prstGeom prst="rect">
            <a:avLst/>
          </a:prstGeom>
          <a:noFill/>
        </p:spPr>
        <p:txBody>
          <a:bodyPr wrap="square" lIns="0" rIns="0" tIns="0" bIns="0" anchor="t">
            <a:spAutoFit/>
          </a:bodyPr>
          <a:lstStyle/>
          <a:p>
            <a:pPr algn="l">
              <a:lnSpc>
                <a:spcPct val="105000"/>
              </a:lnSpc>
            </a:pPr>
            <a:r>
              <a:rPr sz="1150" b="0" i="0">
                <a:solidFill>
                  <a:srgbClr val="6D6E71"/>
                </a:solidFill>
                <a:latin typeface="Arial"/>
              </a:rPr>
              <a:t>Se ajusta con restricciones y datos técnicos</a:t>
            </a:r>
          </a:p>
        </p:txBody>
      </p:sp>
      <p:sp>
        <p:nvSpPr>
          <p:cNvPr id="23" name="TextBox 22"/>
          <p:cNvSpPr txBox="1"/>
          <p:nvPr/>
        </p:nvSpPr>
        <p:spPr>
          <a:xfrm>
            <a:off x="8960891" y="1874519"/>
            <a:ext cx="2590723" cy="502920"/>
          </a:xfrm>
          <a:prstGeom prst="rect">
            <a:avLst/>
          </a:prstGeom>
          <a:noFill/>
        </p:spPr>
        <p:txBody>
          <a:bodyPr wrap="square" lIns="0" rIns="0" tIns="0" bIns="0" anchor="b">
            <a:spAutoFit/>
          </a:bodyPr>
          <a:lstStyle/>
          <a:p>
            <a:pPr algn="ctr"/>
            <a:r>
              <a:rPr sz="1300" b="1" i="0">
                <a:solidFill>
                  <a:srgbClr val="FF6600"/>
                </a:solidFill>
                <a:latin typeface="Courier New"/>
              </a:rPr>
              <a:t>FEL 3 · FIN</a:t>
            </a:r>
          </a:p>
        </p:txBody>
      </p:sp>
      <p:sp>
        <p:nvSpPr>
          <p:cNvPr id="24" name="Oval 23"/>
          <p:cNvSpPr/>
          <p:nvPr/>
        </p:nvSpPr>
        <p:spPr>
          <a:xfrm>
            <a:off x="10073373" y="2606039"/>
            <a:ext cx="365760" cy="36576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42603" y="3200400"/>
            <a:ext cx="2627299" cy="203911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125483" y="3383280"/>
            <a:ext cx="2261539"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Congelar y firmar</a:t>
            </a:r>
          </a:p>
        </p:txBody>
      </p:sp>
      <p:sp>
        <p:nvSpPr>
          <p:cNvPr id="27" name="TextBox 26"/>
          <p:cNvSpPr txBox="1"/>
          <p:nvPr/>
        </p:nvSpPr>
        <p:spPr>
          <a:xfrm>
            <a:off x="9125483" y="3977639"/>
            <a:ext cx="2261539" cy="1124712"/>
          </a:xfrm>
          <a:prstGeom prst="rect">
            <a:avLst/>
          </a:prstGeom>
          <a:noFill/>
        </p:spPr>
        <p:txBody>
          <a:bodyPr wrap="square" lIns="0" rIns="0" tIns="0" bIns="0" anchor="t">
            <a:spAutoFit/>
          </a:bodyPr>
          <a:lstStyle/>
          <a:p>
            <a:pPr algn="l">
              <a:lnSpc>
                <a:spcPct val="105000"/>
              </a:lnSpc>
            </a:pPr>
            <a:r>
              <a:rPr sz="1150" b="0" i="0">
                <a:solidFill>
                  <a:srgbClr val="6D6E71"/>
                </a:solidFill>
                <a:latin typeface="Arial"/>
              </a:rPr>
              <a:t>Entregable de la compuerta 3, antes de la ingeniería de detalle</a:t>
            </a:r>
          </a:p>
        </p:txBody>
      </p:sp>
      <p:sp>
        <p:nvSpPr>
          <p:cNvPr id="28" name="Rectangle 27"/>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flag_o.png"/>
          <p:cNvPicPr>
            <a:picLocks noChangeAspect="1"/>
          </p:cNvPicPr>
          <p:nvPr/>
        </p:nvPicPr>
        <p:blipFill>
          <a:blip r:embed="rId2"/>
          <a:stretch>
            <a:fillRect/>
          </a:stretch>
        </p:blipFill>
        <p:spPr>
          <a:xfrm>
            <a:off x="822959" y="5660136"/>
            <a:ext cx="365760" cy="365760"/>
          </a:xfrm>
          <a:prstGeom prst="rect">
            <a:avLst/>
          </a:prstGeom>
        </p:spPr>
      </p:pic>
      <p:sp>
        <p:nvSpPr>
          <p:cNvPr id="30" name="TextBox 29"/>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Congelar el POC a tiempo da a Ingeniería la mejor oportunidad de cumplir el plan.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4 · NIVELES DEL CRONOGRAMA</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El cronograma se escalona en 7 niveles, del año a la hora</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M4 · FASE 1: PLANIFICACIÓN PRELIMINAR</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045</a:t>
            </a:r>
          </a:p>
        </p:txBody>
      </p:sp>
      <p:graphicFrame>
        <p:nvGraphicFramePr>
          <p:cNvPr id="7" name="Table 6"/>
          <p:cNvGraphicFramePr>
            <a:graphicFrameLocks noGrp="1"/>
          </p:cNvGraphicFramePr>
          <p:nvPr/>
        </p:nvGraphicFramePr>
        <p:xfrm>
          <a:off x="883767" y="1828800"/>
          <a:ext cx="10424160" cy="3785616"/>
        </p:xfrm>
        <a:graphic>
          <a:graphicData uri="http://schemas.openxmlformats.org/drawingml/2006/table">
            <a:tbl>
              <a:tblPr firstRow="0" bandRow="0">
                <a:tableStyleId>{5C22544A-7EE6-4342-B048-85BDC9FD1C3A}</a:tableStyleId>
              </a:tblPr>
              <a:tblGrid>
                <a:gridCol w="1097280"/>
                <a:gridCol w="4754880"/>
                <a:gridCol w="2194560"/>
                <a:gridCol w="2377440"/>
              </a:tblGrid>
              <a:tr h="457200">
                <a:tc>
                  <a:txBody>
                    <a:bodyPr wrap="square"/>
                    <a:lstStyle/>
                    <a:p>
                      <a:pPr algn="l"/>
                      <a:r>
                        <a:rPr sz="1000" b="1" spc="100">
                          <a:solidFill>
                            <a:srgbClr val="FFFFFF"/>
                          </a:solidFill>
                          <a:latin typeface="Arial"/>
                        </a:rPr>
                        <a:t>NIVEL</a:t>
                      </a:r>
                    </a:p>
                  </a:txBody>
                  <a:tcPr marL="137160" marR="91440" marT="27432" marB="27432" anchor="ctr">
                    <a:solidFill>
                      <a:srgbClr val="1A1A1A"/>
                    </a:solidFill>
                  </a:tcPr>
                </a:tc>
                <a:tc>
                  <a:txBody>
                    <a:bodyPr wrap="square"/>
                    <a:lstStyle/>
                    <a:p>
                      <a:pPr algn="l"/>
                      <a:r>
                        <a:rPr sz="1000" b="1" spc="100">
                          <a:solidFill>
                            <a:srgbClr val="FFFFFF"/>
                          </a:solidFill>
                          <a:latin typeface="Arial"/>
                        </a:rPr>
                        <a:t>UNIDAD DE PLANIFICACIÓN</a:t>
                      </a:r>
                    </a:p>
                  </a:txBody>
                  <a:tcPr marL="137160" marR="91440" marT="27432" marB="27432" anchor="ctr">
                    <a:solidFill>
                      <a:srgbClr val="1A1A1A"/>
                    </a:solidFill>
                  </a:tcPr>
                </a:tc>
                <a:tc>
                  <a:txBody>
                    <a:bodyPr wrap="square"/>
                    <a:lstStyle/>
                    <a:p>
                      <a:pPr algn="l"/>
                      <a:r>
                        <a:rPr sz="1000" b="1" spc="100">
                          <a:solidFill>
                            <a:srgbClr val="FFFFFF"/>
                          </a:solidFill>
                          <a:latin typeface="Arial"/>
                        </a:rPr>
                        <a:t>HORIZONTE</a:t>
                      </a:r>
                    </a:p>
                  </a:txBody>
                  <a:tcPr marL="137160" marR="91440" marT="27432" marB="27432" anchor="ctr">
                    <a:solidFill>
                      <a:srgbClr val="1A1A1A"/>
                    </a:solidFill>
                  </a:tcPr>
                </a:tc>
                <a:tc>
                  <a:txBody>
                    <a:bodyPr wrap="square"/>
                    <a:lstStyle/>
                    <a:p>
                      <a:pPr algn="l"/>
                      <a:r>
                        <a:rPr sz="1000" b="1" spc="100">
                          <a:solidFill>
                            <a:srgbClr val="FFFFFF"/>
                          </a:solidFill>
                          <a:latin typeface="Arial"/>
                        </a:rPr>
                        <a:t>PAQUETE AWP</a:t>
                      </a:r>
                    </a:p>
                  </a:txBody>
                  <a:tcPr marL="137160" marR="91440" marT="27432" marB="27432" anchor="ctr">
                    <a:solidFill>
                      <a:srgbClr val="1A1A1A"/>
                    </a:solidFill>
                  </a:tcPr>
                </a:tc>
              </a:tr>
              <a:tr h="475488">
                <a:tc>
                  <a:txBody>
                    <a:bodyPr wrap="square"/>
                    <a:lstStyle/>
                    <a:p>
                      <a:pPr algn="l"/>
                      <a:r>
                        <a:rPr sz="1400" b="1">
                          <a:solidFill>
                            <a:srgbClr val="555555"/>
                          </a:solidFill>
                          <a:latin typeface="Courier New"/>
                        </a:rPr>
                        <a:t>1</a:t>
                      </a:r>
                    </a:p>
                  </a:txBody>
                  <a:tcPr marL="137160" marR="91440" marT="27432" marB="27432" anchor="ctr">
                    <a:solidFill>
                      <a:srgbClr val="FFFFFF"/>
                    </a:solidFill>
                  </a:tcPr>
                </a:tc>
                <a:tc>
                  <a:txBody>
                    <a:bodyPr wrap="square"/>
                    <a:lstStyle/>
                    <a:p>
                      <a:pPr algn="l"/>
                      <a:r>
                        <a:rPr sz="1400" b="0">
                          <a:solidFill>
                            <a:srgbClr val="2E2E2E"/>
                          </a:solidFill>
                          <a:latin typeface="Arial"/>
                        </a:rPr>
                        <a:t>Planta</a:t>
                      </a:r>
                    </a:p>
                  </a:txBody>
                  <a:tcPr marL="137160" marR="91440" marT="27432" marB="27432" anchor="ctr">
                    <a:solidFill>
                      <a:srgbClr val="FFFFFF"/>
                    </a:solidFill>
                  </a:tcPr>
                </a:tc>
                <a:tc>
                  <a:txBody>
                    <a:bodyPr wrap="square"/>
                    <a:lstStyle/>
                    <a:p>
                      <a:pPr algn="l"/>
                      <a:r>
                        <a:rPr sz="1400" b="0">
                          <a:solidFill>
                            <a:srgbClr val="2E2E2E"/>
                          </a:solidFill>
                          <a:latin typeface="Arial"/>
                        </a:rPr>
                        <a:t>Año</a:t>
                      </a:r>
                    </a:p>
                  </a:txBody>
                  <a:tcPr marL="137160" marR="91440" marT="27432" marB="27432" anchor="ctr">
                    <a:solidFill>
                      <a:srgbClr val="FFFFFF"/>
                    </a:solidFill>
                  </a:tcPr>
                </a:tc>
                <a:tc>
                  <a:txBody>
                    <a:bodyPr wrap="square"/>
                    <a:lstStyle/>
                    <a:p>
                      <a:pPr algn="l"/>
                      <a:r>
                        <a:rPr sz="1400" b="1">
                          <a:solidFill>
                            <a:srgbClr val="555555"/>
                          </a:solidFill>
                          <a:latin typeface="Courier New"/>
                        </a:rPr>
                        <a:t/>
                      </a:r>
                    </a:p>
                  </a:txBody>
                  <a:tcPr marL="137160" marR="91440" marT="27432" marB="27432" anchor="ctr">
                    <a:solidFill>
                      <a:srgbClr val="FFFFFF"/>
                    </a:solidFill>
                  </a:tcPr>
                </a:tc>
              </a:tr>
              <a:tr h="475488">
                <a:tc>
                  <a:txBody>
                    <a:bodyPr wrap="square"/>
                    <a:lstStyle/>
                    <a:p>
                      <a:pPr algn="l"/>
                      <a:r>
                        <a:rPr sz="1400" b="1">
                          <a:solidFill>
                            <a:srgbClr val="555555"/>
                          </a:solidFill>
                          <a:latin typeface="Courier New"/>
                        </a:rPr>
                        <a:t>2</a:t>
                      </a:r>
                    </a:p>
                  </a:txBody>
                  <a:tcPr marL="137160" marR="91440" marT="27432" marB="27432" anchor="ctr">
                    <a:solidFill>
                      <a:srgbClr val="F7F7F7"/>
                    </a:solidFill>
                  </a:tcPr>
                </a:tc>
                <a:tc>
                  <a:txBody>
                    <a:bodyPr wrap="square"/>
                    <a:lstStyle/>
                    <a:p>
                      <a:pPr algn="l"/>
                      <a:r>
                        <a:rPr sz="1400" b="0">
                          <a:solidFill>
                            <a:srgbClr val="2E2E2E"/>
                          </a:solidFill>
                          <a:latin typeface="Arial"/>
                        </a:rPr>
                        <a:t>Construction Work Area</a:t>
                      </a:r>
                    </a:p>
                  </a:txBody>
                  <a:tcPr marL="137160" marR="91440" marT="27432" marB="27432" anchor="ctr">
                    <a:solidFill>
                      <a:srgbClr val="F7F7F7"/>
                    </a:solidFill>
                  </a:tcPr>
                </a:tc>
                <a:tc>
                  <a:txBody>
                    <a:bodyPr wrap="square"/>
                    <a:lstStyle/>
                    <a:p>
                      <a:pPr algn="l"/>
                      <a:r>
                        <a:rPr sz="1400" b="0">
                          <a:solidFill>
                            <a:srgbClr val="2E2E2E"/>
                          </a:solidFill>
                          <a:latin typeface="Arial"/>
                        </a:rPr>
                        <a:t>6 meses</a:t>
                      </a:r>
                    </a:p>
                  </a:txBody>
                  <a:tcPr marL="137160" marR="91440" marT="27432" marB="27432" anchor="ctr">
                    <a:solidFill>
                      <a:srgbClr val="F7F7F7"/>
                    </a:solidFill>
                  </a:tcPr>
                </a:tc>
                <a:tc>
                  <a:txBody>
                    <a:bodyPr wrap="square"/>
                    <a:lstStyle/>
                    <a:p>
                      <a:pPr algn="l"/>
                      <a:r>
                        <a:rPr sz="1400" b="1">
                          <a:solidFill>
                            <a:srgbClr val="555555"/>
                          </a:solidFill>
                          <a:latin typeface="Courier New"/>
                        </a:rPr>
                        <a:t>CWA</a:t>
                      </a:r>
                    </a:p>
                  </a:txBody>
                  <a:tcPr marL="137160" marR="91440" marT="27432" marB="27432" anchor="ctr">
                    <a:solidFill>
                      <a:srgbClr val="F7F7F7"/>
                    </a:solidFill>
                  </a:tcPr>
                </a:tc>
              </a:tr>
              <a:tr h="475488">
                <a:tc>
                  <a:txBody>
                    <a:bodyPr wrap="square"/>
                    <a:lstStyle/>
                    <a:p>
                      <a:pPr algn="l"/>
                      <a:r>
                        <a:rPr sz="1400" b="1">
                          <a:solidFill>
                            <a:srgbClr val="FF6600"/>
                          </a:solidFill>
                          <a:latin typeface="Courier New"/>
                        </a:rPr>
                        <a:t>3</a:t>
                      </a:r>
                    </a:p>
                  </a:txBody>
                  <a:tcPr marL="137160" marR="91440" marT="27432" marB="27432" anchor="ctr">
                    <a:solidFill>
                      <a:srgbClr val="FFE3CF"/>
                    </a:solidFill>
                  </a:tcPr>
                </a:tc>
                <a:tc>
                  <a:txBody>
                    <a:bodyPr wrap="square"/>
                    <a:lstStyle/>
                    <a:p>
                      <a:pPr algn="l"/>
                      <a:r>
                        <a:rPr sz="1400" b="1">
                          <a:solidFill>
                            <a:srgbClr val="2E2E2E"/>
                          </a:solidFill>
                          <a:latin typeface="Arial"/>
                        </a:rPr>
                        <a:t>Construction Work Package</a:t>
                      </a:r>
                    </a:p>
                  </a:txBody>
                  <a:tcPr marL="137160" marR="91440" marT="27432" marB="27432" anchor="ctr">
                    <a:solidFill>
                      <a:srgbClr val="FFE3CF"/>
                    </a:solidFill>
                  </a:tcPr>
                </a:tc>
                <a:tc>
                  <a:txBody>
                    <a:bodyPr wrap="square"/>
                    <a:lstStyle/>
                    <a:p>
                      <a:pPr algn="l"/>
                      <a:r>
                        <a:rPr sz="1400" b="0">
                          <a:solidFill>
                            <a:srgbClr val="2E2E2E"/>
                          </a:solidFill>
                          <a:latin typeface="Arial"/>
                        </a:rPr>
                        <a:t>3 meses</a:t>
                      </a:r>
                    </a:p>
                  </a:txBody>
                  <a:tcPr marL="137160" marR="91440" marT="27432" marB="27432" anchor="ctr">
                    <a:solidFill>
                      <a:srgbClr val="FFE3CF"/>
                    </a:solidFill>
                  </a:tcPr>
                </a:tc>
                <a:tc>
                  <a:txBody>
                    <a:bodyPr wrap="square"/>
                    <a:lstStyle/>
                    <a:p>
                      <a:pPr algn="l"/>
                      <a:r>
                        <a:rPr sz="1400" b="1">
                          <a:solidFill>
                            <a:srgbClr val="FF6600"/>
                          </a:solidFill>
                          <a:latin typeface="Courier New"/>
                        </a:rPr>
                        <a:t>CWP</a:t>
                      </a:r>
                    </a:p>
                  </a:txBody>
                  <a:tcPr marL="137160" marR="91440" marT="27432" marB="27432" anchor="ctr">
                    <a:solidFill>
                      <a:srgbClr val="FFE3CF"/>
                    </a:solidFill>
                  </a:tcPr>
                </a:tc>
              </a:tr>
              <a:tr h="475488">
                <a:tc>
                  <a:txBody>
                    <a:bodyPr wrap="square"/>
                    <a:lstStyle/>
                    <a:p>
                      <a:pPr algn="l"/>
                      <a:r>
                        <a:rPr sz="1400" b="1">
                          <a:solidFill>
                            <a:srgbClr val="555555"/>
                          </a:solidFill>
                          <a:latin typeface="Courier New"/>
                        </a:rPr>
                        <a:t>4</a:t>
                      </a:r>
                    </a:p>
                  </a:txBody>
                  <a:tcPr marL="137160" marR="91440" marT="27432" marB="27432" anchor="ctr">
                    <a:solidFill>
                      <a:srgbClr val="F7F7F7"/>
                    </a:solidFill>
                  </a:tcPr>
                </a:tc>
                <a:tc>
                  <a:txBody>
                    <a:bodyPr wrap="square"/>
                    <a:lstStyle/>
                    <a:p>
                      <a:pPr algn="l"/>
                      <a:r>
                        <a:rPr sz="1400" b="0">
                          <a:solidFill>
                            <a:srgbClr val="2E2E2E"/>
                          </a:solidFill>
                          <a:latin typeface="Arial"/>
                        </a:rPr>
                        <a:t>Código de función</a:t>
                      </a:r>
                    </a:p>
                  </a:txBody>
                  <a:tcPr marL="137160" marR="91440" marT="27432" marB="27432" anchor="ctr">
                    <a:solidFill>
                      <a:srgbClr val="F7F7F7"/>
                    </a:solidFill>
                  </a:tcPr>
                </a:tc>
                <a:tc>
                  <a:txBody>
                    <a:bodyPr wrap="square"/>
                    <a:lstStyle/>
                    <a:p>
                      <a:pPr algn="l"/>
                      <a:r>
                        <a:rPr sz="1400" b="0">
                          <a:solidFill>
                            <a:srgbClr val="2E2E2E"/>
                          </a:solidFill>
                          <a:latin typeface="Arial"/>
                        </a:rPr>
                        <a:t>Mes</a:t>
                      </a:r>
                    </a:p>
                  </a:txBody>
                  <a:tcPr marL="137160" marR="91440" marT="27432" marB="27432" anchor="ctr">
                    <a:solidFill>
                      <a:srgbClr val="F7F7F7"/>
                    </a:solidFill>
                  </a:tcPr>
                </a:tc>
                <a:tc>
                  <a:txBody>
                    <a:bodyPr wrap="square"/>
                    <a:lstStyle/>
                    <a:p>
                      <a:pPr algn="l"/>
                      <a:r>
                        <a:rPr sz="1400" b="1">
                          <a:solidFill>
                            <a:srgbClr val="555555"/>
                          </a:solidFill>
                          <a:latin typeface="Courier New"/>
                        </a:rPr>
                        <a:t/>
                      </a:r>
                    </a:p>
                  </a:txBody>
                  <a:tcPr marL="137160" marR="91440" marT="27432" marB="27432" anchor="ctr">
                    <a:solidFill>
                      <a:srgbClr val="F7F7F7"/>
                    </a:solidFill>
                  </a:tcPr>
                </a:tc>
              </a:tr>
              <a:tr h="475488">
                <a:tc>
                  <a:txBody>
                    <a:bodyPr wrap="square"/>
                    <a:lstStyle/>
                    <a:p>
                      <a:pPr algn="l"/>
                      <a:r>
                        <a:rPr sz="1400" b="1">
                          <a:solidFill>
                            <a:srgbClr val="FF6600"/>
                          </a:solidFill>
                          <a:latin typeface="Courier New"/>
                        </a:rPr>
                        <a:t>5</a:t>
                      </a:r>
                    </a:p>
                  </a:txBody>
                  <a:tcPr marL="137160" marR="91440" marT="27432" marB="27432" anchor="ctr">
                    <a:solidFill>
                      <a:srgbClr val="FFE3CF"/>
                    </a:solidFill>
                  </a:tcPr>
                </a:tc>
                <a:tc>
                  <a:txBody>
                    <a:bodyPr wrap="square"/>
                    <a:lstStyle/>
                    <a:p>
                      <a:pPr algn="l"/>
                      <a:r>
                        <a:rPr sz="1400" b="1">
                          <a:solidFill>
                            <a:srgbClr val="2E2E2E"/>
                          </a:solidFill>
                          <a:latin typeface="Arial"/>
                        </a:rPr>
                        <a:t>Installation Work Package</a:t>
                      </a:r>
                    </a:p>
                  </a:txBody>
                  <a:tcPr marL="137160" marR="91440" marT="27432" marB="27432" anchor="ctr">
                    <a:solidFill>
                      <a:srgbClr val="FFE3CF"/>
                    </a:solidFill>
                  </a:tcPr>
                </a:tc>
                <a:tc>
                  <a:txBody>
                    <a:bodyPr wrap="square"/>
                    <a:lstStyle/>
                    <a:p>
                      <a:pPr algn="l"/>
                      <a:r>
                        <a:rPr sz="1400" b="0">
                          <a:solidFill>
                            <a:srgbClr val="2E2E2E"/>
                          </a:solidFill>
                          <a:latin typeface="Arial"/>
                        </a:rPr>
                        <a:t>Semana</a:t>
                      </a:r>
                    </a:p>
                  </a:txBody>
                  <a:tcPr marL="137160" marR="91440" marT="27432" marB="27432" anchor="ctr">
                    <a:solidFill>
                      <a:srgbClr val="FFE3CF"/>
                    </a:solidFill>
                  </a:tcPr>
                </a:tc>
                <a:tc>
                  <a:txBody>
                    <a:bodyPr wrap="square"/>
                    <a:lstStyle/>
                    <a:p>
                      <a:pPr algn="l"/>
                      <a:r>
                        <a:rPr sz="1400" b="1">
                          <a:solidFill>
                            <a:srgbClr val="FF6600"/>
                          </a:solidFill>
                          <a:latin typeface="Courier New"/>
                        </a:rPr>
                        <a:t>IWP</a:t>
                      </a:r>
                    </a:p>
                  </a:txBody>
                  <a:tcPr marL="137160" marR="91440" marT="27432" marB="27432" anchor="ctr">
                    <a:solidFill>
                      <a:srgbClr val="FFE3CF"/>
                    </a:solidFill>
                  </a:tcPr>
                </a:tc>
              </a:tr>
              <a:tr h="475488">
                <a:tc>
                  <a:txBody>
                    <a:bodyPr wrap="square"/>
                    <a:lstStyle/>
                    <a:p>
                      <a:pPr algn="l"/>
                      <a:r>
                        <a:rPr sz="1400" b="1">
                          <a:solidFill>
                            <a:srgbClr val="555555"/>
                          </a:solidFill>
                          <a:latin typeface="Courier New"/>
                        </a:rPr>
                        <a:t>6</a:t>
                      </a:r>
                    </a:p>
                  </a:txBody>
                  <a:tcPr marL="137160" marR="91440" marT="27432" marB="27432" anchor="ctr">
                    <a:solidFill>
                      <a:srgbClr val="F7F7F7"/>
                    </a:solidFill>
                  </a:tcPr>
                </a:tc>
                <a:tc>
                  <a:txBody>
                    <a:bodyPr wrap="square"/>
                    <a:lstStyle/>
                    <a:p>
                      <a:pPr algn="l"/>
                      <a:r>
                        <a:rPr sz="1400" b="0">
                          <a:solidFill>
                            <a:srgbClr val="2E2E2E"/>
                          </a:solidFill>
                          <a:latin typeface="Arial"/>
                        </a:rPr>
                        <a:t>Plan diario del capataz</a:t>
                      </a:r>
                    </a:p>
                  </a:txBody>
                  <a:tcPr marL="137160" marR="91440" marT="27432" marB="27432" anchor="ctr">
                    <a:solidFill>
                      <a:srgbClr val="F7F7F7"/>
                    </a:solidFill>
                  </a:tcPr>
                </a:tc>
                <a:tc>
                  <a:txBody>
                    <a:bodyPr wrap="square"/>
                    <a:lstStyle/>
                    <a:p>
                      <a:pPr algn="l"/>
                      <a:r>
                        <a:rPr sz="1400" b="0">
                          <a:solidFill>
                            <a:srgbClr val="2E2E2E"/>
                          </a:solidFill>
                          <a:latin typeface="Arial"/>
                        </a:rPr>
                        <a:t>Día</a:t>
                      </a:r>
                    </a:p>
                  </a:txBody>
                  <a:tcPr marL="137160" marR="91440" marT="27432" marB="27432" anchor="ctr">
                    <a:solidFill>
                      <a:srgbClr val="F7F7F7"/>
                    </a:solidFill>
                  </a:tcPr>
                </a:tc>
                <a:tc>
                  <a:txBody>
                    <a:bodyPr wrap="square"/>
                    <a:lstStyle/>
                    <a:p>
                      <a:pPr algn="l"/>
                      <a:r>
                        <a:rPr sz="1400" b="1">
                          <a:solidFill>
                            <a:srgbClr val="555555"/>
                          </a:solidFill>
                          <a:latin typeface="Courier New"/>
                        </a:rPr>
                        <a:t/>
                      </a:r>
                    </a:p>
                  </a:txBody>
                  <a:tcPr marL="137160" marR="91440" marT="27432" marB="27432" anchor="ctr">
                    <a:solidFill>
                      <a:srgbClr val="F7F7F7"/>
                    </a:solidFill>
                  </a:tcPr>
                </a:tc>
              </a:tr>
              <a:tr h="475488">
                <a:tc>
                  <a:txBody>
                    <a:bodyPr wrap="square"/>
                    <a:lstStyle/>
                    <a:p>
                      <a:pPr algn="l"/>
                      <a:r>
                        <a:rPr sz="1400" b="1">
                          <a:solidFill>
                            <a:srgbClr val="555555"/>
                          </a:solidFill>
                          <a:latin typeface="Courier New"/>
                        </a:rPr>
                        <a:t>7</a:t>
                      </a:r>
                    </a:p>
                  </a:txBody>
                  <a:tcPr marL="137160" marR="91440" marT="27432" marB="27432" anchor="ctr">
                    <a:solidFill>
                      <a:srgbClr val="FFFFFF"/>
                    </a:solidFill>
                  </a:tcPr>
                </a:tc>
                <a:tc>
                  <a:txBody>
                    <a:bodyPr wrap="square"/>
                    <a:lstStyle/>
                    <a:p>
                      <a:pPr algn="l"/>
                      <a:r>
                        <a:rPr sz="1400" b="0">
                          <a:solidFill>
                            <a:srgbClr val="2E2E2E"/>
                          </a:solidFill>
                          <a:latin typeface="Arial"/>
                        </a:rPr>
                        <a:t>Tarea</a:t>
                      </a:r>
                    </a:p>
                  </a:txBody>
                  <a:tcPr marL="137160" marR="91440" marT="27432" marB="27432" anchor="ctr">
                    <a:solidFill>
                      <a:srgbClr val="FFFFFF"/>
                    </a:solidFill>
                  </a:tcPr>
                </a:tc>
                <a:tc>
                  <a:txBody>
                    <a:bodyPr wrap="square"/>
                    <a:lstStyle/>
                    <a:p>
                      <a:pPr algn="l"/>
                      <a:r>
                        <a:rPr sz="1400" b="0">
                          <a:solidFill>
                            <a:srgbClr val="2E2E2E"/>
                          </a:solidFill>
                          <a:latin typeface="Arial"/>
                        </a:rPr>
                        <a:t>Hora</a:t>
                      </a:r>
                    </a:p>
                  </a:txBody>
                  <a:tcPr marL="137160" marR="91440" marT="27432" marB="27432" anchor="ctr">
                    <a:solidFill>
                      <a:srgbClr val="FFFFFF"/>
                    </a:solidFill>
                  </a:tcPr>
                </a:tc>
                <a:tc>
                  <a:txBody>
                    <a:bodyPr wrap="square"/>
                    <a:lstStyle/>
                    <a:p>
                      <a:pPr algn="l"/>
                      <a:r>
                        <a:rPr sz="1400" b="1">
                          <a:solidFill>
                            <a:srgbClr val="555555"/>
                          </a:solidFill>
                          <a:latin typeface="Courier New"/>
                        </a:rPr>
                        <a:t/>
                      </a:r>
                    </a:p>
                  </a:txBody>
                  <a:tcPr marL="137160" marR="91440" marT="27432" marB="27432" anchor="ctr">
                    <a:solidFill>
                      <a:srgbClr val="FFFFFF"/>
                    </a:solidFill>
                  </a:tcPr>
                </a:tc>
              </a:tr>
            </a:tbl>
          </a:graphicData>
        </a:graphic>
      </p:graphicFrame>
      <p:pic>
        <p:nvPicPr>
          <p:cNvPr id="8" name="Picture 7" descr="layers_o.png"/>
          <p:cNvPicPr>
            <a:picLocks noChangeAspect="1"/>
          </p:cNvPicPr>
          <p:nvPr/>
        </p:nvPicPr>
        <p:blipFill>
          <a:blip r:embed="rId2"/>
          <a:stretch>
            <a:fillRect/>
          </a:stretch>
        </p:blipFill>
        <p:spPr>
          <a:xfrm>
            <a:off x="883767" y="5852160"/>
            <a:ext cx="292608" cy="292608"/>
          </a:xfrm>
          <a:prstGeom prst="rect">
            <a:avLst/>
          </a:prstGeom>
        </p:spPr>
      </p:pic>
      <p:sp>
        <p:nvSpPr>
          <p:cNvPr id="9" name="TextBox 8"/>
          <p:cNvSpPr txBox="1"/>
          <p:nvPr/>
        </p:nvSpPr>
        <p:spPr>
          <a:xfrm>
            <a:off x="1340967" y="5815584"/>
            <a:ext cx="9966960" cy="384048"/>
          </a:xfrm>
          <a:prstGeom prst="rect">
            <a:avLst/>
          </a:prstGeom>
          <a:noFill/>
        </p:spPr>
        <p:txBody>
          <a:bodyPr wrap="square" lIns="0" rIns="0" tIns="0" bIns="0" anchor="ctr">
            <a:spAutoFit/>
          </a:bodyPr>
          <a:lstStyle/>
          <a:p>
            <a:pPr algn="l"/>
            <a:r>
              <a:rPr sz="1200" b="1" i="0">
                <a:solidFill>
                  <a:srgbClr val="1A1A1A"/>
                </a:solidFill>
                <a:latin typeface="Arial"/>
              </a:rPr>
              <a:t>El CWP se divide en IWP: </a:t>
            </a:r>
            <a:r>
              <a:rPr sz="1200" b="0" i="0">
                <a:solidFill>
                  <a:srgbClr val="2E2E2E"/>
                </a:solidFill>
                <a:latin typeface="Arial"/>
              </a:rPr>
              <a:t>el planificador entrega esa secuencia al programador como cronograma de nivel 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4 · ENTREGABLES</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Entregables de la Fase 1: la lista de verificación</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M4 · FASE 1: PLANIFICACIÓN PRELIMINAR</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046</a:t>
            </a:r>
          </a:p>
        </p:txBody>
      </p:sp>
      <p:sp>
        <p:nvSpPr>
          <p:cNvPr id="7" name="Rectangle 6"/>
          <p:cNvSpPr/>
          <p:nvPr/>
        </p:nvSpPr>
        <p:spPr>
          <a:xfrm>
            <a:off x="548640" y="1828800"/>
            <a:ext cx="3017520" cy="43434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lipcheck_o.png"/>
          <p:cNvPicPr>
            <a:picLocks noChangeAspect="1"/>
          </p:cNvPicPr>
          <p:nvPr/>
        </p:nvPicPr>
        <p:blipFill>
          <a:blip r:embed="rId2"/>
          <a:stretch>
            <a:fillRect/>
          </a:stretch>
        </p:blipFill>
        <p:spPr>
          <a:xfrm>
            <a:off x="868680" y="2194560"/>
            <a:ext cx="548640" cy="548640"/>
          </a:xfrm>
          <a:prstGeom prst="rect">
            <a:avLst/>
          </a:prstGeom>
        </p:spPr>
      </p:pic>
      <p:sp>
        <p:nvSpPr>
          <p:cNvPr id="9" name="TextBox 8"/>
          <p:cNvSpPr txBox="1"/>
          <p:nvPr/>
        </p:nvSpPr>
        <p:spPr>
          <a:xfrm>
            <a:off x="868680" y="2971800"/>
            <a:ext cx="2468879" cy="274320"/>
          </a:xfrm>
          <a:prstGeom prst="rect">
            <a:avLst/>
          </a:prstGeom>
          <a:noFill/>
        </p:spPr>
        <p:txBody>
          <a:bodyPr wrap="square" lIns="0" rIns="0" tIns="0" bIns="0" anchor="t">
            <a:spAutoFit/>
          </a:bodyPr>
          <a:lstStyle/>
          <a:p>
            <a:pPr algn="l"/>
            <a:r>
              <a:rPr sz="1100" b="1" i="0" spc="200">
                <a:solidFill>
                  <a:srgbClr val="FF6600"/>
                </a:solidFill>
                <a:latin typeface="Arial"/>
              </a:rPr>
              <a:t>ENTREGABLES</a:t>
            </a:r>
          </a:p>
        </p:txBody>
      </p:sp>
      <p:sp>
        <p:nvSpPr>
          <p:cNvPr id="10" name="TextBox 9"/>
          <p:cNvSpPr txBox="1"/>
          <p:nvPr/>
        </p:nvSpPr>
        <p:spPr>
          <a:xfrm>
            <a:off x="868680" y="3291840"/>
            <a:ext cx="2468879" cy="1188720"/>
          </a:xfrm>
          <a:prstGeom prst="rect">
            <a:avLst/>
          </a:prstGeom>
          <a:noFill/>
        </p:spPr>
        <p:txBody>
          <a:bodyPr wrap="square" lIns="0" rIns="0" tIns="0" bIns="0" anchor="t">
            <a:spAutoFit/>
          </a:bodyPr>
          <a:lstStyle/>
          <a:p>
            <a:pPr algn="l">
              <a:lnSpc>
                <a:spcPct val="95000"/>
              </a:lnSpc>
            </a:pPr>
            <a:r>
              <a:rPr sz="2200" b="1" i="0">
                <a:solidFill>
                  <a:srgbClr val="FFFFFF"/>
                </a:solidFill>
                <a:latin typeface="Arial"/>
              </a:rPr>
              <a:t>Fase 1 · Planificación preliminar (FEL 2)</a:t>
            </a:r>
          </a:p>
        </p:txBody>
      </p:sp>
      <p:sp>
        <p:nvSpPr>
          <p:cNvPr id="11" name="TextBox 10"/>
          <p:cNvSpPr txBox="1"/>
          <p:nvPr/>
        </p:nvSpPr>
        <p:spPr>
          <a:xfrm>
            <a:off x="868680" y="4754880"/>
            <a:ext cx="2468879" cy="1188720"/>
          </a:xfrm>
          <a:prstGeom prst="rect">
            <a:avLst/>
          </a:prstGeom>
          <a:noFill/>
        </p:spPr>
        <p:txBody>
          <a:bodyPr wrap="square" lIns="0" rIns="0" tIns="0" bIns="0" anchor="b">
            <a:spAutoFit/>
          </a:bodyPr>
          <a:lstStyle/>
          <a:p>
            <a:pPr algn="l">
              <a:lnSpc>
                <a:spcPct val="110000"/>
              </a:lnSpc>
            </a:pPr>
            <a:r>
              <a:rPr sz="1200" b="0" i="0">
                <a:solidFill>
                  <a:srgbClr val="BCBEC0"/>
                </a:solidFill>
                <a:latin typeface="Arial"/>
              </a:rPr>
              <a:t>Todo entra en la revisión de la compuerta 2 y se completa durante FEL 3.</a:t>
            </a:r>
          </a:p>
        </p:txBody>
      </p:sp>
      <p:sp>
        <p:nvSpPr>
          <p:cNvPr id="12" name="Rectangle 11"/>
          <p:cNvSpPr/>
          <p:nvPr/>
        </p:nvSpPr>
        <p:spPr>
          <a:xfrm>
            <a:off x="3886200" y="1865376"/>
            <a:ext cx="7756855" cy="547333"/>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check_o.png"/>
          <p:cNvPicPr>
            <a:picLocks noChangeAspect="1"/>
          </p:cNvPicPr>
          <p:nvPr/>
        </p:nvPicPr>
        <p:blipFill>
          <a:blip r:embed="rId3"/>
          <a:stretch>
            <a:fillRect/>
          </a:stretch>
        </p:blipFill>
        <p:spPr>
          <a:xfrm>
            <a:off x="4087368" y="1983594"/>
            <a:ext cx="310896" cy="310896"/>
          </a:xfrm>
          <a:prstGeom prst="rect">
            <a:avLst/>
          </a:prstGeom>
        </p:spPr>
      </p:pic>
      <p:sp>
        <p:nvSpPr>
          <p:cNvPr id="14" name="TextBox 13"/>
          <p:cNvSpPr txBox="1"/>
          <p:nvPr/>
        </p:nvSpPr>
        <p:spPr>
          <a:xfrm>
            <a:off x="4572000" y="1865376"/>
            <a:ext cx="6888175" cy="547333"/>
          </a:xfrm>
          <a:prstGeom prst="rect">
            <a:avLst/>
          </a:prstGeom>
          <a:noFill/>
        </p:spPr>
        <p:txBody>
          <a:bodyPr wrap="square" lIns="0" rIns="0" tIns="0" bIns="0" anchor="ctr">
            <a:spAutoFit/>
          </a:bodyPr>
          <a:lstStyle/>
          <a:p>
            <a:pPr algn="l"/>
            <a:r>
              <a:rPr sz="1350" b="1" i="0">
                <a:solidFill>
                  <a:srgbClr val="1A1A1A"/>
                </a:solidFill>
                <a:latin typeface="Arial"/>
              </a:rPr>
              <a:t>Plan AWP del proyecto</a:t>
            </a:r>
            <a:r>
              <a:rPr sz="1200" b="0" i="0">
                <a:solidFill>
                  <a:srgbClr val="6D6E71"/>
                </a:solidFill>
                <a:latin typeface="Arial"/>
              </a:rPr>
              <a:t>  ·  objetivos, alcance y responsables</a:t>
            </a:r>
          </a:p>
        </p:txBody>
      </p:sp>
      <p:sp>
        <p:nvSpPr>
          <p:cNvPr id="15" name="Rectangle 14"/>
          <p:cNvSpPr/>
          <p:nvPr/>
        </p:nvSpPr>
        <p:spPr>
          <a:xfrm>
            <a:off x="3886200" y="2485861"/>
            <a:ext cx="7756855" cy="547333"/>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_o.png"/>
          <p:cNvPicPr>
            <a:picLocks noChangeAspect="1"/>
          </p:cNvPicPr>
          <p:nvPr/>
        </p:nvPicPr>
        <p:blipFill>
          <a:blip r:embed="rId3"/>
          <a:stretch>
            <a:fillRect/>
          </a:stretch>
        </p:blipFill>
        <p:spPr>
          <a:xfrm>
            <a:off x="4087368" y="2604080"/>
            <a:ext cx="310896" cy="310896"/>
          </a:xfrm>
          <a:prstGeom prst="rect">
            <a:avLst/>
          </a:prstGeom>
        </p:spPr>
      </p:pic>
      <p:sp>
        <p:nvSpPr>
          <p:cNvPr id="17" name="TextBox 16"/>
          <p:cNvSpPr txBox="1"/>
          <p:nvPr/>
        </p:nvSpPr>
        <p:spPr>
          <a:xfrm>
            <a:off x="4572000" y="2485861"/>
            <a:ext cx="6888175" cy="547333"/>
          </a:xfrm>
          <a:prstGeom prst="rect">
            <a:avLst/>
          </a:prstGeom>
          <a:noFill/>
        </p:spPr>
        <p:txBody>
          <a:bodyPr wrap="square" lIns="0" rIns="0" tIns="0" bIns="0" anchor="ctr">
            <a:spAutoFit/>
          </a:bodyPr>
          <a:lstStyle/>
          <a:p>
            <a:pPr algn="l"/>
            <a:r>
              <a:rPr sz="1350" b="1" i="0">
                <a:solidFill>
                  <a:srgbClr val="1A1A1A"/>
                </a:solidFill>
                <a:latin typeface="Arial"/>
              </a:rPr>
              <a:t>Plano con las CWA</a:t>
            </a:r>
            <a:r>
              <a:rPr sz="1200" b="0" i="0">
                <a:solidFill>
                  <a:srgbClr val="6D6E71"/>
                </a:solidFill>
                <a:latin typeface="Arial"/>
              </a:rPr>
              <a:t>  ·  emitido a todos los actores</a:t>
            </a:r>
          </a:p>
        </p:txBody>
      </p:sp>
      <p:sp>
        <p:nvSpPr>
          <p:cNvPr id="18" name="Rectangle 17"/>
          <p:cNvSpPr/>
          <p:nvPr/>
        </p:nvSpPr>
        <p:spPr>
          <a:xfrm>
            <a:off x="3886200" y="3106347"/>
            <a:ext cx="7756855" cy="547333"/>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check_o.png"/>
          <p:cNvPicPr>
            <a:picLocks noChangeAspect="1"/>
          </p:cNvPicPr>
          <p:nvPr/>
        </p:nvPicPr>
        <p:blipFill>
          <a:blip r:embed="rId3"/>
          <a:stretch>
            <a:fillRect/>
          </a:stretch>
        </p:blipFill>
        <p:spPr>
          <a:xfrm>
            <a:off x="4087368" y="3224566"/>
            <a:ext cx="310896" cy="310896"/>
          </a:xfrm>
          <a:prstGeom prst="rect">
            <a:avLst/>
          </a:prstGeom>
        </p:spPr>
      </p:pic>
      <p:sp>
        <p:nvSpPr>
          <p:cNvPr id="20" name="TextBox 19"/>
          <p:cNvSpPr txBox="1"/>
          <p:nvPr/>
        </p:nvSpPr>
        <p:spPr>
          <a:xfrm>
            <a:off x="4572000" y="3106347"/>
            <a:ext cx="6888175" cy="547333"/>
          </a:xfrm>
          <a:prstGeom prst="rect">
            <a:avLst/>
          </a:prstGeom>
          <a:noFill/>
        </p:spPr>
        <p:txBody>
          <a:bodyPr wrap="square" lIns="0" rIns="0" tIns="0" bIns="0" anchor="ctr">
            <a:spAutoFit/>
          </a:bodyPr>
          <a:lstStyle/>
          <a:p>
            <a:pPr algn="l"/>
            <a:r>
              <a:rPr sz="1350" b="1" i="0">
                <a:solidFill>
                  <a:srgbClr val="1A1A1A"/>
                </a:solidFill>
                <a:latin typeface="Arial"/>
              </a:rPr>
              <a:t>Path of Construction</a:t>
            </a:r>
            <a:r>
              <a:rPr sz="1200" b="0" i="0">
                <a:solidFill>
                  <a:srgbClr val="6D6E71"/>
                </a:solidFill>
                <a:latin typeface="Arial"/>
              </a:rPr>
              <a:t>  ·  informe, plano marcado y simulación</a:t>
            </a:r>
          </a:p>
        </p:txBody>
      </p:sp>
      <p:sp>
        <p:nvSpPr>
          <p:cNvPr id="21" name="Rectangle 20"/>
          <p:cNvSpPr/>
          <p:nvPr/>
        </p:nvSpPr>
        <p:spPr>
          <a:xfrm>
            <a:off x="3886200" y="3726833"/>
            <a:ext cx="7756855" cy="547333"/>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heck_o.png"/>
          <p:cNvPicPr>
            <a:picLocks noChangeAspect="1"/>
          </p:cNvPicPr>
          <p:nvPr/>
        </p:nvPicPr>
        <p:blipFill>
          <a:blip r:embed="rId3"/>
          <a:stretch>
            <a:fillRect/>
          </a:stretch>
        </p:blipFill>
        <p:spPr>
          <a:xfrm>
            <a:off x="4087368" y="3845052"/>
            <a:ext cx="310896" cy="310896"/>
          </a:xfrm>
          <a:prstGeom prst="rect">
            <a:avLst/>
          </a:prstGeom>
        </p:spPr>
      </p:pic>
      <p:sp>
        <p:nvSpPr>
          <p:cNvPr id="23" name="TextBox 22"/>
          <p:cNvSpPr txBox="1"/>
          <p:nvPr/>
        </p:nvSpPr>
        <p:spPr>
          <a:xfrm>
            <a:off x="4572000" y="3726833"/>
            <a:ext cx="6888175" cy="547333"/>
          </a:xfrm>
          <a:prstGeom prst="rect">
            <a:avLst/>
          </a:prstGeom>
          <a:noFill/>
        </p:spPr>
        <p:txBody>
          <a:bodyPr wrap="square" lIns="0" rIns="0" tIns="0" bIns="0" anchor="ctr">
            <a:spAutoFit/>
          </a:bodyPr>
          <a:lstStyle/>
          <a:p>
            <a:pPr algn="l"/>
            <a:r>
              <a:rPr sz="1350" b="1" i="0">
                <a:solidFill>
                  <a:srgbClr val="1A1A1A"/>
                </a:solidFill>
                <a:latin typeface="Arial"/>
              </a:rPr>
              <a:t>Matriz EWP/CWP</a:t>
            </a:r>
            <a:r>
              <a:rPr sz="1200" b="0" i="0">
                <a:solidFill>
                  <a:srgbClr val="6D6E71"/>
                </a:solidFill>
                <a:latin typeface="Arial"/>
              </a:rPr>
              <a:t>  ·  disciplina × área</a:t>
            </a:r>
          </a:p>
        </p:txBody>
      </p:sp>
      <p:sp>
        <p:nvSpPr>
          <p:cNvPr id="24" name="Rectangle 23"/>
          <p:cNvSpPr/>
          <p:nvPr/>
        </p:nvSpPr>
        <p:spPr>
          <a:xfrm>
            <a:off x="3886200" y="4347318"/>
            <a:ext cx="7756855" cy="547333"/>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check_o.png"/>
          <p:cNvPicPr>
            <a:picLocks noChangeAspect="1"/>
          </p:cNvPicPr>
          <p:nvPr/>
        </p:nvPicPr>
        <p:blipFill>
          <a:blip r:embed="rId3"/>
          <a:stretch>
            <a:fillRect/>
          </a:stretch>
        </p:blipFill>
        <p:spPr>
          <a:xfrm>
            <a:off x="4087368" y="4465537"/>
            <a:ext cx="310896" cy="310896"/>
          </a:xfrm>
          <a:prstGeom prst="rect">
            <a:avLst/>
          </a:prstGeom>
        </p:spPr>
      </p:pic>
      <p:sp>
        <p:nvSpPr>
          <p:cNvPr id="26" name="TextBox 25"/>
          <p:cNvSpPr txBox="1"/>
          <p:nvPr/>
        </p:nvSpPr>
        <p:spPr>
          <a:xfrm>
            <a:off x="4572000" y="4347318"/>
            <a:ext cx="6888175" cy="547333"/>
          </a:xfrm>
          <a:prstGeom prst="rect">
            <a:avLst/>
          </a:prstGeom>
          <a:noFill/>
        </p:spPr>
        <p:txBody>
          <a:bodyPr wrap="square" lIns="0" rIns="0" tIns="0" bIns="0" anchor="ctr">
            <a:spAutoFit/>
          </a:bodyPr>
          <a:lstStyle/>
          <a:p>
            <a:pPr algn="l"/>
            <a:r>
              <a:rPr sz="1350" b="1" i="0">
                <a:solidFill>
                  <a:srgbClr val="1A1A1A"/>
                </a:solidFill>
                <a:latin typeface="Arial"/>
              </a:rPr>
              <a:t>Plan de liberación preliminar</a:t>
            </a:r>
            <a:r>
              <a:rPr sz="1200" b="0" i="0">
                <a:solidFill>
                  <a:srgbClr val="6D6E71"/>
                </a:solidFill>
                <a:latin typeface="Arial"/>
              </a:rPr>
              <a:t>  ·  CWP, EWP y PWP</a:t>
            </a:r>
          </a:p>
        </p:txBody>
      </p:sp>
      <p:sp>
        <p:nvSpPr>
          <p:cNvPr id="27" name="Rectangle 26"/>
          <p:cNvSpPr/>
          <p:nvPr/>
        </p:nvSpPr>
        <p:spPr>
          <a:xfrm>
            <a:off x="3886200" y="4967804"/>
            <a:ext cx="7756855" cy="547333"/>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_o.png"/>
          <p:cNvPicPr>
            <a:picLocks noChangeAspect="1"/>
          </p:cNvPicPr>
          <p:nvPr/>
        </p:nvPicPr>
        <p:blipFill>
          <a:blip r:embed="rId3"/>
          <a:stretch>
            <a:fillRect/>
          </a:stretch>
        </p:blipFill>
        <p:spPr>
          <a:xfrm>
            <a:off x="4087368" y="5086023"/>
            <a:ext cx="310896" cy="310896"/>
          </a:xfrm>
          <a:prstGeom prst="rect">
            <a:avLst/>
          </a:prstGeom>
        </p:spPr>
      </p:pic>
      <p:sp>
        <p:nvSpPr>
          <p:cNvPr id="29" name="TextBox 28"/>
          <p:cNvSpPr txBox="1"/>
          <p:nvPr/>
        </p:nvSpPr>
        <p:spPr>
          <a:xfrm>
            <a:off x="4572000" y="4967804"/>
            <a:ext cx="6888175" cy="547333"/>
          </a:xfrm>
          <a:prstGeom prst="rect">
            <a:avLst/>
          </a:prstGeom>
          <a:noFill/>
        </p:spPr>
        <p:txBody>
          <a:bodyPr wrap="square" lIns="0" rIns="0" tIns="0" bIns="0" anchor="ctr">
            <a:spAutoFit/>
          </a:bodyPr>
          <a:lstStyle/>
          <a:p>
            <a:pPr algn="l"/>
            <a:r>
              <a:rPr sz="1350" b="1" i="0">
                <a:solidFill>
                  <a:srgbClr val="1A1A1A"/>
                </a:solidFill>
                <a:latin typeface="Arial"/>
              </a:rPr>
              <a:t>Procedimientos AWP, IM y WFP</a:t>
            </a:r>
            <a:r>
              <a:rPr sz="1200" b="0" i="0">
                <a:solidFill>
                  <a:srgbClr val="6D6E71"/>
                </a:solidFill>
                <a:latin typeface="Arial"/>
              </a:rPr>
              <a:t>  ·  aprobados</a:t>
            </a:r>
          </a:p>
        </p:txBody>
      </p:sp>
      <p:sp>
        <p:nvSpPr>
          <p:cNvPr id="30" name="Rectangle 29"/>
          <p:cNvSpPr/>
          <p:nvPr/>
        </p:nvSpPr>
        <p:spPr>
          <a:xfrm>
            <a:off x="3886200" y="5588290"/>
            <a:ext cx="7756855" cy="547333"/>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check_o.png"/>
          <p:cNvPicPr>
            <a:picLocks noChangeAspect="1"/>
          </p:cNvPicPr>
          <p:nvPr/>
        </p:nvPicPr>
        <p:blipFill>
          <a:blip r:embed="rId3"/>
          <a:stretch>
            <a:fillRect/>
          </a:stretch>
        </p:blipFill>
        <p:spPr>
          <a:xfrm>
            <a:off x="4087368" y="5706509"/>
            <a:ext cx="310896" cy="310896"/>
          </a:xfrm>
          <a:prstGeom prst="rect">
            <a:avLst/>
          </a:prstGeom>
        </p:spPr>
      </p:pic>
      <p:sp>
        <p:nvSpPr>
          <p:cNvPr id="32" name="TextBox 31"/>
          <p:cNvSpPr txBox="1"/>
          <p:nvPr/>
        </p:nvSpPr>
        <p:spPr>
          <a:xfrm>
            <a:off x="4572000" y="5588290"/>
            <a:ext cx="6888175" cy="547333"/>
          </a:xfrm>
          <a:prstGeom prst="rect">
            <a:avLst/>
          </a:prstGeom>
          <a:noFill/>
        </p:spPr>
        <p:txBody>
          <a:bodyPr wrap="square" lIns="0" rIns="0" tIns="0" bIns="0" anchor="ctr">
            <a:spAutoFit/>
          </a:bodyPr>
          <a:lstStyle/>
          <a:p>
            <a:pPr algn="l"/>
            <a:r>
              <a:rPr sz="1350" b="1" i="0">
                <a:solidFill>
                  <a:srgbClr val="1A1A1A"/>
                </a:solidFill>
                <a:latin typeface="Arial"/>
              </a:rPr>
              <a:t>Estrategia de contratación</a:t>
            </a:r>
            <a:r>
              <a:rPr sz="1200" b="0" i="0">
                <a:solidFill>
                  <a:srgbClr val="6D6E71"/>
                </a:solidFill>
                <a:latin typeface="Arial"/>
              </a:rPr>
              <a:t>  ·  con cláusulas AWP</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097280"/>
            <a:ext cx="3657600" cy="2194560"/>
          </a:xfrm>
          <a:prstGeom prst="rect">
            <a:avLst/>
          </a:prstGeom>
          <a:noFill/>
        </p:spPr>
        <p:txBody>
          <a:bodyPr wrap="square" lIns="0" rIns="0" tIns="0" bIns="0" anchor="t">
            <a:spAutoFit/>
          </a:bodyPr>
          <a:lstStyle/>
          <a:p>
            <a:pPr algn="l"/>
            <a:r>
              <a:rPr sz="15000" b="1" i="0">
                <a:solidFill>
                  <a:srgbClr val="FF6600"/>
                </a:solidFill>
                <a:latin typeface="Arial"/>
              </a:rPr>
              <a:t>05</a:t>
            </a:r>
          </a:p>
        </p:txBody>
      </p:sp>
      <p:sp>
        <p:nvSpPr>
          <p:cNvPr id="4" name="TextBox 3"/>
          <p:cNvSpPr txBox="1"/>
          <p:nvPr/>
        </p:nvSpPr>
        <p:spPr>
          <a:xfrm>
            <a:off x="4160520" y="1481328"/>
            <a:ext cx="7498079" cy="274320"/>
          </a:xfrm>
          <a:prstGeom prst="rect">
            <a:avLst/>
          </a:prstGeom>
          <a:noFill/>
        </p:spPr>
        <p:txBody>
          <a:bodyPr wrap="square" lIns="0" rIns="0" tIns="0" bIns="0" anchor="t">
            <a:spAutoFit/>
          </a:bodyPr>
          <a:lstStyle/>
          <a:p>
            <a:pPr algn="l"/>
            <a:r>
              <a:rPr sz="1200" b="1" i="0" spc="300">
                <a:solidFill>
                  <a:srgbClr val="FF6600"/>
                </a:solidFill>
                <a:latin typeface="Arial"/>
              </a:rPr>
              <a:t>MÓDULO 5 · FASE 2: INGENIERÍA Y COMPRAS</a:t>
            </a:r>
          </a:p>
        </p:txBody>
      </p:sp>
      <p:sp>
        <p:nvSpPr>
          <p:cNvPr id="5" name="Título"/>
          <p:cNvSpPr txBox="1"/>
          <p:nvPr/>
        </p:nvSpPr>
        <p:spPr>
          <a:xfrm>
            <a:off x="4160520" y="1874519"/>
            <a:ext cx="7452360" cy="1508760"/>
          </a:xfrm>
          <a:prstGeom prst="rect">
            <a:avLst/>
          </a:prstGeom>
          <a:noFill/>
        </p:spPr>
        <p:txBody>
          <a:bodyPr wrap="square" lIns="0" rIns="0" tIns="0" bIns="0" anchor="t">
            <a:spAutoFit/>
          </a:bodyPr>
          <a:lstStyle/>
          <a:p>
            <a:pPr algn="l">
              <a:lnSpc>
                <a:spcPct val="95000"/>
              </a:lnSpc>
            </a:pPr>
            <a:r>
              <a:rPr sz="3600" b="1" i="0">
                <a:solidFill>
                  <a:srgbClr val="FFFFFF"/>
                </a:solidFill>
                <a:latin typeface="Arial"/>
              </a:rPr>
              <a:t>La ingeniería se entrega en el orden en que se construye</a:t>
            </a:r>
          </a:p>
        </p:txBody>
      </p:sp>
      <p:sp>
        <p:nvSpPr>
          <p:cNvPr id="6" name="TextBox 5"/>
          <p:cNvSpPr txBox="1"/>
          <p:nvPr/>
        </p:nvSpPr>
        <p:spPr>
          <a:xfrm>
            <a:off x="4160520" y="3474720"/>
            <a:ext cx="7406640" cy="685800"/>
          </a:xfrm>
          <a:prstGeom prst="rect">
            <a:avLst/>
          </a:prstGeom>
          <a:noFill/>
        </p:spPr>
        <p:txBody>
          <a:bodyPr wrap="square" lIns="0" rIns="0" tIns="0" bIns="0" anchor="t">
            <a:spAutoFit/>
          </a:bodyPr>
          <a:lstStyle/>
          <a:p>
            <a:pPr algn="l">
              <a:lnSpc>
                <a:spcPct val="110000"/>
              </a:lnSpc>
            </a:pPr>
            <a:r>
              <a:rPr sz="1500" b="0" i="0">
                <a:solidFill>
                  <a:srgbClr val="BCBEC0"/>
                </a:solidFill>
                <a:latin typeface="Arial"/>
              </a:rPr>
              <a:t>Path of Engineering, paquetes de ingeniería y de compras, planes de liberación y preparación de los CWP.</a:t>
            </a:r>
          </a:p>
        </p:txBody>
      </p:sp>
      <p:sp>
        <p:nvSpPr>
          <p:cNvPr id="7" name="Rectangle 6"/>
          <p:cNvSpPr/>
          <p:nvPr/>
        </p:nvSpPr>
        <p:spPr>
          <a:xfrm>
            <a:off x="548640" y="4892040"/>
            <a:ext cx="2606040" cy="86868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5047488"/>
            <a:ext cx="2240280" cy="228600"/>
          </a:xfrm>
          <a:prstGeom prst="rect">
            <a:avLst/>
          </a:prstGeom>
          <a:noFill/>
        </p:spPr>
        <p:txBody>
          <a:bodyPr wrap="square" lIns="0" rIns="0" tIns="0" bIns="0" anchor="t">
            <a:spAutoFit/>
          </a:bodyPr>
          <a:lstStyle/>
          <a:p>
            <a:pPr algn="l"/>
            <a:r>
              <a:rPr sz="1000" b="1" i="0" spc="200">
                <a:solidFill>
                  <a:srgbClr val="FF6600"/>
                </a:solidFill>
                <a:latin typeface="Arial"/>
              </a:rPr>
              <a:t>FASE 1</a:t>
            </a:r>
          </a:p>
        </p:txBody>
      </p:sp>
      <p:sp>
        <p:nvSpPr>
          <p:cNvPr id="9" name="TextBox 8"/>
          <p:cNvSpPr txBox="1"/>
          <p:nvPr/>
        </p:nvSpPr>
        <p:spPr>
          <a:xfrm>
            <a:off x="777240" y="5321807"/>
            <a:ext cx="2240280" cy="274320"/>
          </a:xfrm>
          <a:prstGeom prst="rect">
            <a:avLst/>
          </a:prstGeom>
          <a:noFill/>
        </p:spPr>
        <p:txBody>
          <a:bodyPr wrap="square" lIns="0" rIns="0" tIns="0" bIns="0" anchor="t">
            <a:spAutoFit/>
          </a:bodyPr>
          <a:lstStyle/>
          <a:p>
            <a:pPr algn="l"/>
            <a:r>
              <a:rPr sz="1200" b="0" i="0">
                <a:solidFill>
                  <a:srgbClr val="BCBEC0"/>
                </a:solidFill>
                <a:latin typeface="Arial"/>
              </a:rPr>
              <a:t>Planificación · FEL 2</a:t>
            </a:r>
          </a:p>
        </p:txBody>
      </p:sp>
      <p:sp>
        <p:nvSpPr>
          <p:cNvPr id="10" name="Rectangle 9"/>
          <p:cNvSpPr/>
          <p:nvPr/>
        </p:nvSpPr>
        <p:spPr>
          <a:xfrm>
            <a:off x="3374136" y="4892040"/>
            <a:ext cx="2606040" cy="86868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602736" y="5047488"/>
            <a:ext cx="2240280" cy="228600"/>
          </a:xfrm>
          <a:prstGeom prst="rect">
            <a:avLst/>
          </a:prstGeom>
          <a:noFill/>
        </p:spPr>
        <p:txBody>
          <a:bodyPr wrap="square" lIns="0" rIns="0" tIns="0" bIns="0" anchor="t">
            <a:spAutoFit/>
          </a:bodyPr>
          <a:lstStyle/>
          <a:p>
            <a:pPr algn="l"/>
            <a:r>
              <a:rPr sz="1000" b="1" i="0" spc="200">
                <a:solidFill>
                  <a:srgbClr val="FFFFFF"/>
                </a:solidFill>
                <a:latin typeface="Arial"/>
              </a:rPr>
              <a:t>FASE 2</a:t>
            </a:r>
          </a:p>
        </p:txBody>
      </p:sp>
      <p:sp>
        <p:nvSpPr>
          <p:cNvPr id="12" name="TextBox 11"/>
          <p:cNvSpPr txBox="1"/>
          <p:nvPr/>
        </p:nvSpPr>
        <p:spPr>
          <a:xfrm>
            <a:off x="3602736" y="5321807"/>
            <a:ext cx="2240280" cy="274320"/>
          </a:xfrm>
          <a:prstGeom prst="rect">
            <a:avLst/>
          </a:prstGeom>
          <a:noFill/>
        </p:spPr>
        <p:txBody>
          <a:bodyPr wrap="square" lIns="0" rIns="0" tIns="0" bIns="0" anchor="t">
            <a:spAutoFit/>
          </a:bodyPr>
          <a:lstStyle/>
          <a:p>
            <a:pPr algn="l"/>
            <a:r>
              <a:rPr sz="1200" b="1" i="0">
                <a:solidFill>
                  <a:srgbClr val="FFFFFF"/>
                </a:solidFill>
                <a:latin typeface="Arial"/>
              </a:rPr>
              <a:t>Ingeniería y compras · FEL 3</a:t>
            </a:r>
          </a:p>
        </p:txBody>
      </p:sp>
      <p:sp>
        <p:nvSpPr>
          <p:cNvPr id="13" name="Rectangle 12"/>
          <p:cNvSpPr/>
          <p:nvPr/>
        </p:nvSpPr>
        <p:spPr>
          <a:xfrm>
            <a:off x="6199631" y="4892040"/>
            <a:ext cx="2606040" cy="86868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28231" y="5047488"/>
            <a:ext cx="2240280" cy="228600"/>
          </a:xfrm>
          <a:prstGeom prst="rect">
            <a:avLst/>
          </a:prstGeom>
          <a:noFill/>
        </p:spPr>
        <p:txBody>
          <a:bodyPr wrap="square" lIns="0" rIns="0" tIns="0" bIns="0" anchor="t">
            <a:spAutoFit/>
          </a:bodyPr>
          <a:lstStyle/>
          <a:p>
            <a:pPr algn="l"/>
            <a:r>
              <a:rPr sz="1000" b="1" i="0" spc="200">
                <a:solidFill>
                  <a:srgbClr val="FF6600"/>
                </a:solidFill>
                <a:latin typeface="Arial"/>
              </a:rPr>
              <a:t>FASE 3</a:t>
            </a:r>
          </a:p>
        </p:txBody>
      </p:sp>
      <p:sp>
        <p:nvSpPr>
          <p:cNvPr id="15" name="TextBox 14"/>
          <p:cNvSpPr txBox="1"/>
          <p:nvPr/>
        </p:nvSpPr>
        <p:spPr>
          <a:xfrm>
            <a:off x="6428231" y="5321807"/>
            <a:ext cx="2240280" cy="274320"/>
          </a:xfrm>
          <a:prstGeom prst="rect">
            <a:avLst/>
          </a:prstGeom>
          <a:noFill/>
        </p:spPr>
        <p:txBody>
          <a:bodyPr wrap="square" lIns="0" rIns="0" tIns="0" bIns="0" anchor="t">
            <a:spAutoFit/>
          </a:bodyPr>
          <a:lstStyle/>
          <a:p>
            <a:pPr algn="l"/>
            <a:r>
              <a:rPr sz="1200" b="0" i="0">
                <a:solidFill>
                  <a:srgbClr val="BCBEC0"/>
                </a:solidFill>
                <a:latin typeface="Arial"/>
              </a:rPr>
              <a:t>Construcción</a:t>
            </a:r>
          </a:p>
        </p:txBody>
      </p:sp>
      <p:sp>
        <p:nvSpPr>
          <p:cNvPr id="16" name="Rectangle 15"/>
          <p:cNvSpPr/>
          <p:nvPr/>
        </p:nvSpPr>
        <p:spPr>
          <a:xfrm>
            <a:off x="9025128" y="4892040"/>
            <a:ext cx="2606040" cy="86868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253728" y="5047488"/>
            <a:ext cx="2240280" cy="228600"/>
          </a:xfrm>
          <a:prstGeom prst="rect">
            <a:avLst/>
          </a:prstGeom>
          <a:noFill/>
        </p:spPr>
        <p:txBody>
          <a:bodyPr wrap="square" lIns="0" rIns="0" tIns="0" bIns="0" anchor="t">
            <a:spAutoFit/>
          </a:bodyPr>
          <a:lstStyle/>
          <a:p>
            <a:pPr algn="l"/>
            <a:r>
              <a:rPr sz="1000" b="1" i="0" spc="200">
                <a:solidFill>
                  <a:srgbClr val="FF6600"/>
                </a:solidFill>
                <a:latin typeface="Arial"/>
              </a:rPr>
              <a:t>FASE 4</a:t>
            </a:r>
          </a:p>
        </p:txBody>
      </p:sp>
      <p:sp>
        <p:nvSpPr>
          <p:cNvPr id="18" name="TextBox 17"/>
          <p:cNvSpPr txBox="1"/>
          <p:nvPr/>
        </p:nvSpPr>
        <p:spPr>
          <a:xfrm>
            <a:off x="9253728" y="5321807"/>
            <a:ext cx="2240280" cy="274320"/>
          </a:xfrm>
          <a:prstGeom prst="rect">
            <a:avLst/>
          </a:prstGeom>
          <a:noFill/>
        </p:spPr>
        <p:txBody>
          <a:bodyPr wrap="square" lIns="0" rIns="0" tIns="0" bIns="0" anchor="t">
            <a:spAutoFit/>
          </a:bodyPr>
          <a:lstStyle/>
          <a:p>
            <a:pPr algn="l"/>
            <a:r>
              <a:rPr sz="1200" b="0" i="0">
                <a:solidFill>
                  <a:srgbClr val="BCBEC0"/>
                </a:solidFill>
                <a:latin typeface="Arial"/>
              </a:rPr>
              <a:t>Puesta en marcha</a:t>
            </a:r>
          </a:p>
        </p:txBody>
      </p:sp>
      <p:sp>
        <p:nvSpPr>
          <p:cNvPr id="19" name="TextBox 18"/>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8A8B8E"/>
                </a:solidFill>
                <a:latin typeface="Arial"/>
              </a:rPr>
              <a:t>IMPLEMENTACIÓN DE AWP  ·  M5 · FASE 2: INGENIERÍA DE DETALLE Y COMPRAS</a:t>
            </a:r>
          </a:p>
        </p:txBody>
      </p:sp>
      <p:sp>
        <p:nvSpPr>
          <p:cNvPr id="20" name="TextBox 19"/>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8A8B8E"/>
                </a:solidFill>
                <a:latin typeface="Courier New"/>
              </a:rPr>
              <a:t>047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5 · INGENIERÍA</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FFFFFF"/>
                </a:solidFill>
                <a:latin typeface="Arial"/>
              </a:rPr>
              <a:t>AWP no agrega trabajo a Ingeniería: cambia el orden</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8A8B8E"/>
                </a:solidFill>
                <a:latin typeface="Arial"/>
              </a:rPr>
              <a:t>IMPLEMENTACIÓN DE AWP  ·  M5 · FASE 2: INGENIERÍA DE DETALLE Y COMPRAS</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8A8B8E"/>
                </a:solidFill>
                <a:latin typeface="Courier New"/>
              </a:rPr>
              <a:t>048</a:t>
            </a:r>
          </a:p>
        </p:txBody>
      </p:sp>
      <p:pic>
        <p:nvPicPr>
          <p:cNvPr id="7" name="Picture 6" descr="quote_o.png"/>
          <p:cNvPicPr>
            <a:picLocks noChangeAspect="1"/>
          </p:cNvPicPr>
          <p:nvPr/>
        </p:nvPicPr>
        <p:blipFill>
          <a:blip r:embed="rId2"/>
          <a:stretch>
            <a:fillRect/>
          </a:stretch>
        </p:blipFill>
        <p:spPr>
          <a:xfrm>
            <a:off x="548640" y="1920240"/>
            <a:ext cx="548640" cy="548640"/>
          </a:xfrm>
          <a:prstGeom prst="rect">
            <a:avLst/>
          </a:prstGeom>
        </p:spPr>
      </p:pic>
      <p:sp>
        <p:nvSpPr>
          <p:cNvPr id="8" name="TextBox 7"/>
          <p:cNvSpPr txBox="1"/>
          <p:nvPr/>
        </p:nvSpPr>
        <p:spPr>
          <a:xfrm>
            <a:off x="1417319" y="1828800"/>
            <a:ext cx="10225735" cy="1737360"/>
          </a:xfrm>
          <a:prstGeom prst="rect">
            <a:avLst/>
          </a:prstGeom>
          <a:noFill/>
        </p:spPr>
        <p:txBody>
          <a:bodyPr wrap="square" lIns="0" rIns="0" tIns="0" bIns="0" anchor="ctr">
            <a:spAutoFit/>
          </a:bodyPr>
          <a:lstStyle/>
          <a:p>
            <a:pPr algn="l">
              <a:lnSpc>
                <a:spcPct val="110000"/>
              </a:lnSpc>
            </a:pPr>
            <a:r>
              <a:rPr sz="2400" b="0" i="1">
                <a:solidFill>
                  <a:srgbClr val="FFFFFF"/>
                </a:solidFill>
                <a:latin typeface="Arial"/>
              </a:rPr>
              <a:t>“La intención no es crear trabajo extra para Ingeniería ni cambiar su forma de trabajar, sino darle prioridades para que avance en las áreas correctas.”</a:t>
            </a:r>
          </a:p>
        </p:txBody>
      </p:sp>
      <p:sp>
        <p:nvSpPr>
          <p:cNvPr id="9" name="TextBox 8"/>
          <p:cNvSpPr txBox="1"/>
          <p:nvPr/>
        </p:nvSpPr>
        <p:spPr>
          <a:xfrm>
            <a:off x="1417319" y="3657600"/>
            <a:ext cx="10225735" cy="274320"/>
          </a:xfrm>
          <a:prstGeom prst="rect">
            <a:avLst/>
          </a:prstGeom>
          <a:noFill/>
        </p:spPr>
        <p:txBody>
          <a:bodyPr wrap="square" lIns="0" rIns="0" tIns="0" bIns="0" anchor="t">
            <a:spAutoFit/>
          </a:bodyPr>
          <a:lstStyle/>
          <a:p>
            <a:pPr algn="l"/>
            <a:r>
              <a:rPr sz="1100" b="1" i="0" spc="100">
                <a:solidFill>
                  <a:srgbClr val="FF9955"/>
                </a:solidFill>
                <a:latin typeface="Arial"/>
              </a:rPr>
              <a:t>CURSO AWP 2023 · LECCIÓN 3 (ADAPTACIÓN)</a:t>
            </a:r>
          </a:p>
        </p:txBody>
      </p:sp>
      <p:sp>
        <p:nvSpPr>
          <p:cNvPr id="10" name="Rectangle 9"/>
          <p:cNvSpPr/>
          <p:nvPr/>
        </p:nvSpPr>
        <p:spPr>
          <a:xfrm>
            <a:off x="548640" y="4160520"/>
            <a:ext cx="3527450" cy="201168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ruler_o.png"/>
          <p:cNvPicPr>
            <a:picLocks noChangeAspect="1"/>
          </p:cNvPicPr>
          <p:nvPr/>
        </p:nvPicPr>
        <p:blipFill>
          <a:blip r:embed="rId3"/>
          <a:stretch>
            <a:fillRect/>
          </a:stretch>
        </p:blipFill>
        <p:spPr>
          <a:xfrm>
            <a:off x="822959" y="4974336"/>
            <a:ext cx="384048" cy="384048"/>
          </a:xfrm>
          <a:prstGeom prst="rect">
            <a:avLst/>
          </a:prstGeom>
        </p:spPr>
      </p:pic>
      <p:sp>
        <p:nvSpPr>
          <p:cNvPr id="12" name="TextBox 11"/>
          <p:cNvSpPr txBox="1"/>
          <p:nvPr/>
        </p:nvSpPr>
        <p:spPr>
          <a:xfrm>
            <a:off x="1417319" y="4251959"/>
            <a:ext cx="2475890" cy="1828800"/>
          </a:xfrm>
          <a:prstGeom prst="rect">
            <a:avLst/>
          </a:prstGeom>
          <a:noFill/>
        </p:spPr>
        <p:txBody>
          <a:bodyPr wrap="square" lIns="0" rIns="0" tIns="0" bIns="0" anchor="ctr">
            <a:spAutoFit/>
          </a:bodyPr>
          <a:lstStyle/>
          <a:p>
            <a:pPr algn="l">
              <a:lnSpc>
                <a:spcPct val="105000"/>
              </a:lnSpc>
            </a:pPr>
            <a:r>
              <a:rPr sz="1300" b="0" i="0">
                <a:solidFill>
                  <a:srgbClr val="FFFFFF"/>
                </a:solidFill>
                <a:latin typeface="Arial"/>
              </a:rPr>
              <a:t>AWP no debería aumentar el alcance ni las horas de Ingeniería</a:t>
            </a:r>
          </a:p>
        </p:txBody>
      </p:sp>
      <p:sp>
        <p:nvSpPr>
          <p:cNvPr id="13" name="Rectangle 12"/>
          <p:cNvSpPr/>
          <p:nvPr/>
        </p:nvSpPr>
        <p:spPr>
          <a:xfrm>
            <a:off x="4332122" y="4160520"/>
            <a:ext cx="3527450" cy="201168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ycle_o.png"/>
          <p:cNvPicPr>
            <a:picLocks noChangeAspect="1"/>
          </p:cNvPicPr>
          <p:nvPr/>
        </p:nvPicPr>
        <p:blipFill>
          <a:blip r:embed="rId4"/>
          <a:stretch>
            <a:fillRect/>
          </a:stretch>
        </p:blipFill>
        <p:spPr>
          <a:xfrm>
            <a:off x="4606442" y="4974336"/>
            <a:ext cx="384048" cy="384048"/>
          </a:xfrm>
          <a:prstGeom prst="rect">
            <a:avLst/>
          </a:prstGeom>
        </p:spPr>
      </p:pic>
      <p:sp>
        <p:nvSpPr>
          <p:cNvPr id="15" name="TextBox 14"/>
          <p:cNvSpPr txBox="1"/>
          <p:nvPr/>
        </p:nvSpPr>
        <p:spPr>
          <a:xfrm>
            <a:off x="5200802" y="4251959"/>
            <a:ext cx="2475890" cy="1828800"/>
          </a:xfrm>
          <a:prstGeom prst="rect">
            <a:avLst/>
          </a:prstGeom>
          <a:noFill/>
        </p:spPr>
        <p:txBody>
          <a:bodyPr wrap="square" lIns="0" rIns="0" tIns="0" bIns="0" anchor="ctr">
            <a:spAutoFit/>
          </a:bodyPr>
          <a:lstStyle/>
          <a:p>
            <a:pPr algn="l">
              <a:lnSpc>
                <a:spcPct val="105000"/>
              </a:lnSpc>
            </a:pPr>
            <a:r>
              <a:rPr sz="1300" b="0" i="0">
                <a:solidFill>
                  <a:srgbClr val="FFFFFF"/>
                </a:solidFill>
                <a:latin typeface="Arial"/>
              </a:rPr>
              <a:t>Se puede seguir diseñando por sistemas: cambia cómo se entregan los paquetes</a:t>
            </a:r>
          </a:p>
        </p:txBody>
      </p:sp>
      <p:sp>
        <p:nvSpPr>
          <p:cNvPr id="16" name="Rectangle 15"/>
          <p:cNvSpPr/>
          <p:nvPr/>
        </p:nvSpPr>
        <p:spPr>
          <a:xfrm>
            <a:off x="8115604" y="4160520"/>
            <a:ext cx="3527450" cy="201168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handshake_o.png"/>
          <p:cNvPicPr>
            <a:picLocks noChangeAspect="1"/>
          </p:cNvPicPr>
          <p:nvPr/>
        </p:nvPicPr>
        <p:blipFill>
          <a:blip r:embed="rId5"/>
          <a:stretch>
            <a:fillRect/>
          </a:stretch>
        </p:blipFill>
        <p:spPr>
          <a:xfrm>
            <a:off x="8389924" y="4974336"/>
            <a:ext cx="384048" cy="384048"/>
          </a:xfrm>
          <a:prstGeom prst="rect">
            <a:avLst/>
          </a:prstGeom>
        </p:spPr>
      </p:pic>
      <p:sp>
        <p:nvSpPr>
          <p:cNvPr id="18" name="TextBox 17"/>
          <p:cNvSpPr txBox="1"/>
          <p:nvPr/>
        </p:nvSpPr>
        <p:spPr>
          <a:xfrm>
            <a:off x="8984284" y="4251959"/>
            <a:ext cx="2475890" cy="1828800"/>
          </a:xfrm>
          <a:prstGeom prst="rect">
            <a:avLst/>
          </a:prstGeom>
          <a:noFill/>
        </p:spPr>
        <p:txBody>
          <a:bodyPr wrap="square" lIns="0" rIns="0" tIns="0" bIns="0" anchor="ctr">
            <a:spAutoFit/>
          </a:bodyPr>
          <a:lstStyle/>
          <a:p>
            <a:pPr algn="l">
              <a:lnSpc>
                <a:spcPct val="105000"/>
              </a:lnSpc>
            </a:pPr>
            <a:r>
              <a:rPr sz="1300" b="0" i="0">
                <a:solidFill>
                  <a:srgbClr val="FFFFFF"/>
                </a:solidFill>
                <a:latin typeface="Arial"/>
              </a:rPr>
              <a:t>Exige el compromiso del liderazgo de Ingeniería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5 · PATH OF ENGINEERING</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Tradicional: se diseña lo disponible. AWP: se diseña lo que se construirá primero</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M5 · FASE 2: INGENIERÍA DE DETALLE Y COMPRAS</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049</a:t>
            </a:r>
          </a:p>
        </p:txBody>
      </p:sp>
      <p:sp>
        <p:nvSpPr>
          <p:cNvPr id="7" name="Rectangle 6"/>
          <p:cNvSpPr/>
          <p:nvPr/>
        </p:nvSpPr>
        <p:spPr>
          <a:xfrm>
            <a:off x="548640" y="1828800"/>
            <a:ext cx="5396331" cy="434340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48640" y="1828800"/>
            <a:ext cx="5396331" cy="502920"/>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1828800"/>
            <a:ext cx="4847691" cy="502920"/>
          </a:xfrm>
          <a:prstGeom prst="rect">
            <a:avLst/>
          </a:prstGeom>
          <a:noFill/>
        </p:spPr>
        <p:txBody>
          <a:bodyPr wrap="square" lIns="0" rIns="0" tIns="0" bIns="0" anchor="ctr">
            <a:spAutoFit/>
          </a:bodyPr>
          <a:lstStyle/>
          <a:p>
            <a:pPr algn="l"/>
            <a:r>
              <a:rPr sz="1200" b="1" i="0" spc="200">
                <a:solidFill>
                  <a:srgbClr val="FFFFFF"/>
                </a:solidFill>
                <a:latin typeface="Arial"/>
              </a:rPr>
              <a:t>ENFOQUE TRADICIONAL</a:t>
            </a:r>
          </a:p>
        </p:txBody>
      </p:sp>
      <p:sp>
        <p:nvSpPr>
          <p:cNvPr id="10" name="Oval 9"/>
          <p:cNvSpPr/>
          <p:nvPr/>
        </p:nvSpPr>
        <p:spPr>
          <a:xfrm>
            <a:off x="822959" y="2560320"/>
            <a:ext cx="384048" cy="384048"/>
          </a:xfrm>
          <a:prstGeom prst="ellipse">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59" y="2560320"/>
            <a:ext cx="384048" cy="384048"/>
          </a:xfrm>
          <a:prstGeom prst="rect">
            <a:avLst/>
          </a:prstGeom>
          <a:noFill/>
        </p:spPr>
        <p:txBody>
          <a:bodyPr wrap="square" lIns="0" rIns="0" tIns="0" bIns="0" anchor="ctr">
            <a:spAutoFit/>
          </a:bodyPr>
          <a:lstStyle/>
          <a:p>
            <a:pPr algn="ctr"/>
            <a:r>
              <a:rPr sz="1300" b="1" i="0">
                <a:solidFill>
                  <a:srgbClr val="FFFFFF"/>
                </a:solidFill>
                <a:latin typeface="Arial"/>
              </a:rPr>
              <a:t>1</a:t>
            </a:r>
          </a:p>
        </p:txBody>
      </p:sp>
      <p:sp>
        <p:nvSpPr>
          <p:cNvPr id="12" name="TextBox 11"/>
          <p:cNvSpPr txBox="1"/>
          <p:nvPr/>
        </p:nvSpPr>
        <p:spPr>
          <a:xfrm>
            <a:off x="1417319" y="2542032"/>
            <a:ext cx="4253331" cy="274320"/>
          </a:xfrm>
          <a:prstGeom prst="rect">
            <a:avLst/>
          </a:prstGeom>
          <a:noFill/>
        </p:spPr>
        <p:txBody>
          <a:bodyPr wrap="square" lIns="0" rIns="0" tIns="0" bIns="0" anchor="t">
            <a:spAutoFit/>
          </a:bodyPr>
          <a:lstStyle/>
          <a:p>
            <a:pPr algn="l"/>
            <a:r>
              <a:rPr sz="1400" b="1" i="0">
                <a:solidFill>
                  <a:srgbClr val="1A1A1A"/>
                </a:solidFill>
                <a:latin typeface="Arial"/>
              </a:rPr>
              <a:t>Secuencia de ingeniería</a:t>
            </a:r>
          </a:p>
        </p:txBody>
      </p:sp>
      <p:sp>
        <p:nvSpPr>
          <p:cNvPr id="13" name="TextBox 12"/>
          <p:cNvSpPr txBox="1"/>
          <p:nvPr/>
        </p:nvSpPr>
        <p:spPr>
          <a:xfrm>
            <a:off x="1417319" y="2834639"/>
            <a:ext cx="4253331" cy="548640"/>
          </a:xfrm>
          <a:prstGeom prst="rect">
            <a:avLst/>
          </a:prstGeom>
          <a:noFill/>
        </p:spPr>
        <p:txBody>
          <a:bodyPr wrap="square" lIns="0" rIns="0" tIns="0" bIns="0" anchor="t">
            <a:spAutoFit/>
          </a:bodyPr>
          <a:lstStyle/>
          <a:p>
            <a:pPr algn="l"/>
            <a:r>
              <a:rPr sz="1150" b="0" i="0">
                <a:solidFill>
                  <a:srgbClr val="6D6E71"/>
                </a:solidFill>
                <a:latin typeface="Arial"/>
              </a:rPr>
              <a:t>Ingeniería avanza según su propia lógica</a:t>
            </a:r>
          </a:p>
        </p:txBody>
      </p:sp>
      <p:cxnSp>
        <p:nvCxnSpPr>
          <p:cNvPr id="14" name="Connector 13"/>
          <p:cNvCxnSpPr/>
          <p:nvPr/>
        </p:nvCxnSpPr>
        <p:spPr>
          <a:xfrm>
            <a:off x="1014983" y="2990087"/>
            <a:ext cx="0" cy="374905"/>
          </a:xfrm>
          <a:prstGeom prst="line">
            <a:avLst/>
          </a:prstGeom>
          <a:ln w="1905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822959" y="3429000"/>
            <a:ext cx="384048" cy="384048"/>
          </a:xfrm>
          <a:prstGeom prst="ellipse">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22959" y="3429000"/>
            <a:ext cx="384048" cy="384048"/>
          </a:xfrm>
          <a:prstGeom prst="rect">
            <a:avLst/>
          </a:prstGeom>
          <a:noFill/>
        </p:spPr>
        <p:txBody>
          <a:bodyPr wrap="square" lIns="0" rIns="0" tIns="0" bIns="0" anchor="ctr">
            <a:spAutoFit/>
          </a:bodyPr>
          <a:lstStyle/>
          <a:p>
            <a:pPr algn="ctr"/>
            <a:r>
              <a:rPr sz="1300" b="1" i="0">
                <a:solidFill>
                  <a:srgbClr val="FFFFFF"/>
                </a:solidFill>
                <a:latin typeface="Arial"/>
              </a:rPr>
              <a:t>2</a:t>
            </a:r>
          </a:p>
        </p:txBody>
      </p:sp>
      <p:sp>
        <p:nvSpPr>
          <p:cNvPr id="17" name="TextBox 16"/>
          <p:cNvSpPr txBox="1"/>
          <p:nvPr/>
        </p:nvSpPr>
        <p:spPr>
          <a:xfrm>
            <a:off x="1417319" y="3410712"/>
            <a:ext cx="4253331" cy="274320"/>
          </a:xfrm>
          <a:prstGeom prst="rect">
            <a:avLst/>
          </a:prstGeom>
          <a:noFill/>
        </p:spPr>
        <p:txBody>
          <a:bodyPr wrap="square" lIns="0" rIns="0" tIns="0" bIns="0" anchor="t">
            <a:spAutoFit/>
          </a:bodyPr>
          <a:lstStyle/>
          <a:p>
            <a:pPr algn="l"/>
            <a:r>
              <a:rPr sz="1400" b="1" i="0">
                <a:solidFill>
                  <a:srgbClr val="1A1A1A"/>
                </a:solidFill>
                <a:latin typeface="Arial"/>
              </a:rPr>
              <a:t>Liberación a construcción</a:t>
            </a:r>
          </a:p>
        </p:txBody>
      </p:sp>
      <p:sp>
        <p:nvSpPr>
          <p:cNvPr id="18" name="TextBox 17"/>
          <p:cNvSpPr txBox="1"/>
          <p:nvPr/>
        </p:nvSpPr>
        <p:spPr>
          <a:xfrm>
            <a:off x="1417319" y="3703320"/>
            <a:ext cx="4253331" cy="548640"/>
          </a:xfrm>
          <a:prstGeom prst="rect">
            <a:avLst/>
          </a:prstGeom>
          <a:noFill/>
        </p:spPr>
        <p:txBody>
          <a:bodyPr wrap="square" lIns="0" rIns="0" tIns="0" bIns="0" anchor="t">
            <a:spAutoFit/>
          </a:bodyPr>
          <a:lstStyle/>
          <a:p>
            <a:pPr algn="l"/>
            <a:r>
              <a:rPr sz="1150" b="0" i="0">
                <a:solidFill>
                  <a:srgbClr val="6D6E71"/>
                </a:solidFill>
                <a:latin typeface="Arial"/>
              </a:rPr>
              <a:t>Se emiten planos a medida que se terminan</a:t>
            </a:r>
          </a:p>
        </p:txBody>
      </p:sp>
      <p:cxnSp>
        <p:nvCxnSpPr>
          <p:cNvPr id="19" name="Connector 18"/>
          <p:cNvCxnSpPr/>
          <p:nvPr/>
        </p:nvCxnSpPr>
        <p:spPr>
          <a:xfrm>
            <a:off x="1014983" y="3858768"/>
            <a:ext cx="0" cy="374904"/>
          </a:xfrm>
          <a:prstGeom prst="line">
            <a:avLst/>
          </a:prstGeom>
          <a:ln w="1905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822959" y="4297680"/>
            <a:ext cx="384048" cy="384048"/>
          </a:xfrm>
          <a:prstGeom prst="ellipse">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22959" y="4297680"/>
            <a:ext cx="384048" cy="384048"/>
          </a:xfrm>
          <a:prstGeom prst="rect">
            <a:avLst/>
          </a:prstGeom>
          <a:noFill/>
        </p:spPr>
        <p:txBody>
          <a:bodyPr wrap="square" lIns="0" rIns="0" tIns="0" bIns="0" anchor="ctr">
            <a:spAutoFit/>
          </a:bodyPr>
          <a:lstStyle/>
          <a:p>
            <a:pPr algn="ctr"/>
            <a:r>
              <a:rPr sz="1300" b="1" i="0">
                <a:solidFill>
                  <a:srgbClr val="FFFFFF"/>
                </a:solidFill>
                <a:latin typeface="Arial"/>
              </a:rPr>
              <a:t>3</a:t>
            </a:r>
          </a:p>
        </p:txBody>
      </p:sp>
      <p:sp>
        <p:nvSpPr>
          <p:cNvPr id="22" name="TextBox 21"/>
          <p:cNvSpPr txBox="1"/>
          <p:nvPr/>
        </p:nvSpPr>
        <p:spPr>
          <a:xfrm>
            <a:off x="1417319" y="4279392"/>
            <a:ext cx="4253331" cy="274320"/>
          </a:xfrm>
          <a:prstGeom prst="rect">
            <a:avLst/>
          </a:prstGeom>
          <a:noFill/>
        </p:spPr>
        <p:txBody>
          <a:bodyPr wrap="square" lIns="0" rIns="0" tIns="0" bIns="0" anchor="t">
            <a:spAutoFit/>
          </a:bodyPr>
          <a:lstStyle/>
          <a:p>
            <a:pPr algn="l"/>
            <a:r>
              <a:rPr sz="1400" b="1" i="0">
                <a:solidFill>
                  <a:srgbClr val="1A1A1A"/>
                </a:solidFill>
                <a:latin typeface="Arial"/>
              </a:rPr>
              <a:t>Se ejecuta el alcance disponible</a:t>
            </a:r>
          </a:p>
        </p:txBody>
      </p:sp>
      <p:sp>
        <p:nvSpPr>
          <p:cNvPr id="23" name="TextBox 22"/>
          <p:cNvSpPr txBox="1"/>
          <p:nvPr/>
        </p:nvSpPr>
        <p:spPr>
          <a:xfrm>
            <a:off x="1417319" y="4572000"/>
            <a:ext cx="4253331" cy="548640"/>
          </a:xfrm>
          <a:prstGeom prst="rect">
            <a:avLst/>
          </a:prstGeom>
          <a:noFill/>
        </p:spPr>
        <p:txBody>
          <a:bodyPr wrap="square" lIns="0" rIns="0" tIns="0" bIns="0" anchor="t">
            <a:spAutoFit/>
          </a:bodyPr>
          <a:lstStyle/>
          <a:p>
            <a:pPr algn="l"/>
            <a:r>
              <a:rPr sz="1150" b="0" i="0">
                <a:solidFill>
                  <a:srgbClr val="6D6E71"/>
                </a:solidFill>
                <a:latin typeface="Arial"/>
              </a:rPr>
              <a:t>El campo trabaja donde hay información</a:t>
            </a:r>
          </a:p>
        </p:txBody>
      </p:sp>
      <p:sp>
        <p:nvSpPr>
          <p:cNvPr id="24" name="Rectangle 23"/>
          <p:cNvSpPr/>
          <p:nvPr/>
        </p:nvSpPr>
        <p:spPr>
          <a:xfrm>
            <a:off x="822959" y="5303520"/>
            <a:ext cx="4847691" cy="640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xmark_g.png"/>
          <p:cNvPicPr>
            <a:picLocks noChangeAspect="1"/>
          </p:cNvPicPr>
          <p:nvPr/>
        </p:nvPicPr>
        <p:blipFill>
          <a:blip r:embed="rId2"/>
          <a:stretch>
            <a:fillRect/>
          </a:stretch>
        </p:blipFill>
        <p:spPr>
          <a:xfrm>
            <a:off x="1005840" y="5440680"/>
            <a:ext cx="365760" cy="365760"/>
          </a:xfrm>
          <a:prstGeom prst="rect">
            <a:avLst/>
          </a:prstGeom>
        </p:spPr>
      </p:pic>
      <p:sp>
        <p:nvSpPr>
          <p:cNvPr id="26" name="TextBox 25"/>
          <p:cNvSpPr txBox="1"/>
          <p:nvPr/>
        </p:nvSpPr>
        <p:spPr>
          <a:xfrm>
            <a:off x="1554480" y="5303520"/>
            <a:ext cx="4024731" cy="640080"/>
          </a:xfrm>
          <a:prstGeom prst="rect">
            <a:avLst/>
          </a:prstGeom>
          <a:noFill/>
        </p:spPr>
        <p:txBody>
          <a:bodyPr wrap="square" lIns="0" rIns="0" tIns="0" bIns="0" anchor="ctr">
            <a:spAutoFit/>
          </a:bodyPr>
          <a:lstStyle/>
          <a:p>
            <a:pPr algn="l"/>
            <a:r>
              <a:rPr sz="1350" b="1" i="0">
                <a:solidFill>
                  <a:srgbClr val="1A1A1A"/>
                </a:solidFill>
                <a:latin typeface="Arial"/>
              </a:rPr>
              <a:t>Frentes incompletos, esperas y retrabajo</a:t>
            </a:r>
          </a:p>
        </p:txBody>
      </p:sp>
      <p:sp>
        <p:nvSpPr>
          <p:cNvPr id="27" name="Rectangle 26"/>
          <p:cNvSpPr/>
          <p:nvPr/>
        </p:nvSpPr>
        <p:spPr>
          <a:xfrm>
            <a:off x="6246723" y="1828800"/>
            <a:ext cx="5396331" cy="434340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246723" y="1828800"/>
            <a:ext cx="5396331" cy="50292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21043" y="1828800"/>
            <a:ext cx="4847691" cy="502920"/>
          </a:xfrm>
          <a:prstGeom prst="rect">
            <a:avLst/>
          </a:prstGeom>
          <a:noFill/>
        </p:spPr>
        <p:txBody>
          <a:bodyPr wrap="square" lIns="0" rIns="0" tIns="0" bIns="0" anchor="ctr">
            <a:spAutoFit/>
          </a:bodyPr>
          <a:lstStyle/>
          <a:p>
            <a:pPr algn="l"/>
            <a:r>
              <a:rPr sz="1200" b="1" i="0" spc="200">
                <a:solidFill>
                  <a:srgbClr val="FFFFFF"/>
                </a:solidFill>
                <a:latin typeface="Arial"/>
              </a:rPr>
              <a:t>ENFOQUE AWP</a:t>
            </a:r>
          </a:p>
        </p:txBody>
      </p:sp>
      <p:sp>
        <p:nvSpPr>
          <p:cNvPr id="30" name="Oval 29"/>
          <p:cNvSpPr/>
          <p:nvPr/>
        </p:nvSpPr>
        <p:spPr>
          <a:xfrm>
            <a:off x="6521043" y="2560320"/>
            <a:ext cx="384048" cy="38404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521043" y="2560320"/>
            <a:ext cx="384048" cy="384048"/>
          </a:xfrm>
          <a:prstGeom prst="rect">
            <a:avLst/>
          </a:prstGeom>
          <a:noFill/>
        </p:spPr>
        <p:txBody>
          <a:bodyPr wrap="square" lIns="0" rIns="0" tIns="0" bIns="0" anchor="ctr">
            <a:spAutoFit/>
          </a:bodyPr>
          <a:lstStyle/>
          <a:p>
            <a:pPr algn="ctr"/>
            <a:r>
              <a:rPr sz="1300" b="1" i="0">
                <a:solidFill>
                  <a:srgbClr val="FFFFFF"/>
                </a:solidFill>
                <a:latin typeface="Arial"/>
              </a:rPr>
              <a:t>1</a:t>
            </a:r>
          </a:p>
        </p:txBody>
      </p:sp>
      <p:sp>
        <p:nvSpPr>
          <p:cNvPr id="32" name="TextBox 31"/>
          <p:cNvSpPr txBox="1"/>
          <p:nvPr/>
        </p:nvSpPr>
        <p:spPr>
          <a:xfrm>
            <a:off x="7115403" y="2542032"/>
            <a:ext cx="4253331" cy="274320"/>
          </a:xfrm>
          <a:prstGeom prst="rect">
            <a:avLst/>
          </a:prstGeom>
          <a:noFill/>
        </p:spPr>
        <p:txBody>
          <a:bodyPr wrap="square" lIns="0" rIns="0" tIns="0" bIns="0" anchor="t">
            <a:spAutoFit/>
          </a:bodyPr>
          <a:lstStyle/>
          <a:p>
            <a:pPr algn="l"/>
            <a:r>
              <a:rPr sz="1400" b="1" i="0">
                <a:solidFill>
                  <a:srgbClr val="1A1A1A"/>
                </a:solidFill>
                <a:latin typeface="Arial"/>
              </a:rPr>
              <a:t>Secuencia de construcción</a:t>
            </a:r>
          </a:p>
        </p:txBody>
      </p:sp>
      <p:sp>
        <p:nvSpPr>
          <p:cNvPr id="33" name="TextBox 32"/>
          <p:cNvSpPr txBox="1"/>
          <p:nvPr/>
        </p:nvSpPr>
        <p:spPr>
          <a:xfrm>
            <a:off x="7115403" y="2834639"/>
            <a:ext cx="4253331" cy="548640"/>
          </a:xfrm>
          <a:prstGeom prst="rect">
            <a:avLst/>
          </a:prstGeom>
          <a:noFill/>
        </p:spPr>
        <p:txBody>
          <a:bodyPr wrap="square" lIns="0" rIns="0" tIns="0" bIns="0" anchor="t">
            <a:spAutoFit/>
          </a:bodyPr>
          <a:lstStyle/>
          <a:p>
            <a:pPr algn="l"/>
            <a:r>
              <a:rPr sz="1150" b="0" i="0">
                <a:solidFill>
                  <a:srgbClr val="6D6E71"/>
                </a:solidFill>
                <a:latin typeface="Arial"/>
              </a:rPr>
              <a:t>El Path of Construction (POC) fija el orden</a:t>
            </a:r>
          </a:p>
        </p:txBody>
      </p:sp>
      <p:cxnSp>
        <p:nvCxnSpPr>
          <p:cNvPr id="34" name="Connector 33"/>
          <p:cNvCxnSpPr/>
          <p:nvPr/>
        </p:nvCxnSpPr>
        <p:spPr>
          <a:xfrm>
            <a:off x="6713067" y="2990087"/>
            <a:ext cx="0" cy="374905"/>
          </a:xfrm>
          <a:prstGeom prst="line">
            <a:avLst/>
          </a:prstGeom>
          <a:ln w="1905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6521043" y="3429000"/>
            <a:ext cx="384048" cy="38404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521043" y="3429000"/>
            <a:ext cx="384048" cy="384048"/>
          </a:xfrm>
          <a:prstGeom prst="rect">
            <a:avLst/>
          </a:prstGeom>
          <a:noFill/>
        </p:spPr>
        <p:txBody>
          <a:bodyPr wrap="square" lIns="0" rIns="0" tIns="0" bIns="0" anchor="ctr">
            <a:spAutoFit/>
          </a:bodyPr>
          <a:lstStyle/>
          <a:p>
            <a:pPr algn="ctr"/>
            <a:r>
              <a:rPr sz="1300" b="1" i="0">
                <a:solidFill>
                  <a:srgbClr val="FFFFFF"/>
                </a:solidFill>
                <a:latin typeface="Arial"/>
              </a:rPr>
              <a:t>2</a:t>
            </a:r>
          </a:p>
        </p:txBody>
      </p:sp>
      <p:sp>
        <p:nvSpPr>
          <p:cNvPr id="37" name="TextBox 36"/>
          <p:cNvSpPr txBox="1"/>
          <p:nvPr/>
        </p:nvSpPr>
        <p:spPr>
          <a:xfrm>
            <a:off x="7115403" y="3410712"/>
            <a:ext cx="4253331" cy="274320"/>
          </a:xfrm>
          <a:prstGeom prst="rect">
            <a:avLst/>
          </a:prstGeom>
          <a:noFill/>
        </p:spPr>
        <p:txBody>
          <a:bodyPr wrap="square" lIns="0" rIns="0" tIns="0" bIns="0" anchor="t">
            <a:spAutoFit/>
          </a:bodyPr>
          <a:lstStyle/>
          <a:p>
            <a:pPr algn="l"/>
            <a:r>
              <a:rPr sz="1400" b="1" i="0">
                <a:solidFill>
                  <a:srgbClr val="1A1A1A"/>
                </a:solidFill>
                <a:latin typeface="Arial"/>
              </a:rPr>
              <a:t>Secuencia de ingeniería</a:t>
            </a:r>
          </a:p>
        </p:txBody>
      </p:sp>
      <p:sp>
        <p:nvSpPr>
          <p:cNvPr id="38" name="TextBox 37"/>
          <p:cNvSpPr txBox="1"/>
          <p:nvPr/>
        </p:nvSpPr>
        <p:spPr>
          <a:xfrm>
            <a:off x="7115403" y="3703320"/>
            <a:ext cx="4253331" cy="548640"/>
          </a:xfrm>
          <a:prstGeom prst="rect">
            <a:avLst/>
          </a:prstGeom>
          <a:noFill/>
        </p:spPr>
        <p:txBody>
          <a:bodyPr wrap="square" lIns="0" rIns="0" tIns="0" bIns="0" anchor="t">
            <a:spAutoFit/>
          </a:bodyPr>
          <a:lstStyle/>
          <a:p>
            <a:pPr algn="l"/>
            <a:r>
              <a:rPr sz="1150" b="0" i="0">
                <a:solidFill>
                  <a:srgbClr val="6D6E71"/>
                </a:solidFill>
                <a:latin typeface="Arial"/>
              </a:rPr>
              <a:t>Los EWP se entregan en el orden del POC</a:t>
            </a:r>
          </a:p>
        </p:txBody>
      </p:sp>
      <p:cxnSp>
        <p:nvCxnSpPr>
          <p:cNvPr id="39" name="Connector 38"/>
          <p:cNvCxnSpPr/>
          <p:nvPr/>
        </p:nvCxnSpPr>
        <p:spPr>
          <a:xfrm>
            <a:off x="6713067" y="3858768"/>
            <a:ext cx="0" cy="374904"/>
          </a:xfrm>
          <a:prstGeom prst="line">
            <a:avLst/>
          </a:prstGeom>
          <a:ln w="1905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6521043" y="4297680"/>
            <a:ext cx="384048" cy="38404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521043" y="4297680"/>
            <a:ext cx="384048" cy="384048"/>
          </a:xfrm>
          <a:prstGeom prst="rect">
            <a:avLst/>
          </a:prstGeom>
          <a:noFill/>
        </p:spPr>
        <p:txBody>
          <a:bodyPr wrap="square" lIns="0" rIns="0" tIns="0" bIns="0" anchor="ctr">
            <a:spAutoFit/>
          </a:bodyPr>
          <a:lstStyle/>
          <a:p>
            <a:pPr algn="ctr"/>
            <a:r>
              <a:rPr sz="1300" b="1" i="0">
                <a:solidFill>
                  <a:srgbClr val="FFFFFF"/>
                </a:solidFill>
                <a:latin typeface="Arial"/>
              </a:rPr>
              <a:t>3</a:t>
            </a:r>
          </a:p>
        </p:txBody>
      </p:sp>
      <p:sp>
        <p:nvSpPr>
          <p:cNvPr id="42" name="TextBox 41"/>
          <p:cNvSpPr txBox="1"/>
          <p:nvPr/>
        </p:nvSpPr>
        <p:spPr>
          <a:xfrm>
            <a:off x="7115403" y="4279392"/>
            <a:ext cx="4253331" cy="274320"/>
          </a:xfrm>
          <a:prstGeom prst="rect">
            <a:avLst/>
          </a:prstGeom>
          <a:noFill/>
        </p:spPr>
        <p:txBody>
          <a:bodyPr wrap="square" lIns="0" rIns="0" tIns="0" bIns="0" anchor="t">
            <a:spAutoFit/>
          </a:bodyPr>
          <a:lstStyle/>
          <a:p>
            <a:pPr algn="l"/>
            <a:r>
              <a:rPr sz="1400" b="1" i="0">
                <a:solidFill>
                  <a:srgbClr val="1A1A1A"/>
                </a:solidFill>
                <a:latin typeface="Arial"/>
              </a:rPr>
              <a:t>Se ejecuta según el plan acordado</a:t>
            </a:r>
          </a:p>
        </p:txBody>
      </p:sp>
      <p:sp>
        <p:nvSpPr>
          <p:cNvPr id="43" name="TextBox 42"/>
          <p:cNvSpPr txBox="1"/>
          <p:nvPr/>
        </p:nvSpPr>
        <p:spPr>
          <a:xfrm>
            <a:off x="7115403" y="4572000"/>
            <a:ext cx="4253331" cy="548640"/>
          </a:xfrm>
          <a:prstGeom prst="rect">
            <a:avLst/>
          </a:prstGeom>
          <a:noFill/>
        </p:spPr>
        <p:txBody>
          <a:bodyPr wrap="square" lIns="0" rIns="0" tIns="0" bIns="0" anchor="t">
            <a:spAutoFit/>
          </a:bodyPr>
          <a:lstStyle/>
          <a:p>
            <a:pPr algn="l"/>
            <a:r>
              <a:rPr sz="1150" b="0" i="0">
                <a:solidFill>
                  <a:srgbClr val="6D6E71"/>
                </a:solidFill>
                <a:latin typeface="Arial"/>
              </a:rPr>
              <a:t>Cada CWP llega completo a campo</a:t>
            </a:r>
          </a:p>
        </p:txBody>
      </p:sp>
      <p:sp>
        <p:nvSpPr>
          <p:cNvPr id="44" name="Rectangle 43"/>
          <p:cNvSpPr/>
          <p:nvPr/>
        </p:nvSpPr>
        <p:spPr>
          <a:xfrm>
            <a:off x="6521043" y="5303520"/>
            <a:ext cx="4847691" cy="640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5" name="Picture 44" descr="check_o.png"/>
          <p:cNvPicPr>
            <a:picLocks noChangeAspect="1"/>
          </p:cNvPicPr>
          <p:nvPr/>
        </p:nvPicPr>
        <p:blipFill>
          <a:blip r:embed="rId3"/>
          <a:stretch>
            <a:fillRect/>
          </a:stretch>
        </p:blipFill>
        <p:spPr>
          <a:xfrm>
            <a:off x="6703923" y="5440680"/>
            <a:ext cx="365760" cy="365760"/>
          </a:xfrm>
          <a:prstGeom prst="rect">
            <a:avLst/>
          </a:prstGeom>
        </p:spPr>
      </p:pic>
      <p:sp>
        <p:nvSpPr>
          <p:cNvPr id="46" name="TextBox 45"/>
          <p:cNvSpPr txBox="1"/>
          <p:nvPr/>
        </p:nvSpPr>
        <p:spPr>
          <a:xfrm>
            <a:off x="7252563" y="5303520"/>
            <a:ext cx="4024731" cy="640080"/>
          </a:xfrm>
          <a:prstGeom prst="rect">
            <a:avLst/>
          </a:prstGeom>
          <a:noFill/>
        </p:spPr>
        <p:txBody>
          <a:bodyPr wrap="square" lIns="0" rIns="0" tIns="0" bIns="0" anchor="ctr">
            <a:spAutoFit/>
          </a:bodyPr>
          <a:lstStyle/>
          <a:p>
            <a:pPr algn="l"/>
            <a:r>
              <a:rPr sz="1350" b="1" i="0">
                <a:solidFill>
                  <a:srgbClr val="1A1A1A"/>
                </a:solidFill>
                <a:latin typeface="Arial"/>
              </a:rPr>
              <a:t>Paquetes completos, en orden y a tiempo</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5 · CONTROL DE LA INGENIERÍA</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Gestionar la ingeniería por CWA da alertas tempranas</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M5 · FASE 2: INGENIERÍA DE DETALLE Y COMPRAS</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050</a:t>
            </a:r>
          </a:p>
        </p:txBody>
      </p:sp>
      <p:sp>
        <p:nvSpPr>
          <p:cNvPr id="7" name="Oval 6"/>
          <p:cNvSpPr/>
          <p:nvPr/>
        </p:nvSpPr>
        <p:spPr>
          <a:xfrm>
            <a:off x="1409661" y="2514600"/>
            <a:ext cx="1051560" cy="105156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map_w.png"/>
          <p:cNvPicPr>
            <a:picLocks noChangeAspect="1"/>
          </p:cNvPicPr>
          <p:nvPr/>
        </p:nvPicPr>
        <p:blipFill>
          <a:blip r:embed="rId2"/>
          <a:stretch>
            <a:fillRect/>
          </a:stretch>
        </p:blipFill>
        <p:spPr>
          <a:xfrm>
            <a:off x="1662036" y="2766974"/>
            <a:ext cx="546811" cy="546811"/>
          </a:xfrm>
          <a:prstGeom prst="rect">
            <a:avLst/>
          </a:prstGeom>
        </p:spPr>
      </p:pic>
      <p:sp>
        <p:nvSpPr>
          <p:cNvPr id="9" name="TextBox 8"/>
          <p:cNvSpPr txBox="1"/>
          <p:nvPr/>
        </p:nvSpPr>
        <p:spPr>
          <a:xfrm>
            <a:off x="640079" y="3749039"/>
            <a:ext cx="2590723" cy="566928"/>
          </a:xfrm>
          <a:prstGeom prst="rect">
            <a:avLst/>
          </a:prstGeom>
          <a:noFill/>
        </p:spPr>
        <p:txBody>
          <a:bodyPr wrap="square" lIns="0" rIns="0" tIns="0" bIns="0" anchor="t">
            <a:spAutoFit/>
          </a:bodyPr>
          <a:lstStyle/>
          <a:p>
            <a:pPr algn="ctr">
              <a:lnSpc>
                <a:spcPct val="95000"/>
              </a:lnSpc>
            </a:pPr>
            <a:r>
              <a:rPr sz="1400" b="1" i="0">
                <a:solidFill>
                  <a:srgbClr val="1A1A1A"/>
                </a:solidFill>
                <a:latin typeface="Arial"/>
              </a:rPr>
              <a:t>CWA como miniproyecto</a:t>
            </a:r>
          </a:p>
        </p:txBody>
      </p:sp>
      <p:sp>
        <p:nvSpPr>
          <p:cNvPr id="10" name="TextBox 9"/>
          <p:cNvSpPr txBox="1"/>
          <p:nvPr/>
        </p:nvSpPr>
        <p:spPr>
          <a:xfrm>
            <a:off x="658367" y="4343400"/>
            <a:ext cx="2554147" cy="1143000"/>
          </a:xfrm>
          <a:prstGeom prst="rect">
            <a:avLst/>
          </a:prstGeom>
          <a:noFill/>
        </p:spPr>
        <p:txBody>
          <a:bodyPr wrap="square" lIns="0" rIns="0" tIns="0" bIns="0" anchor="t">
            <a:spAutoFit/>
          </a:bodyPr>
          <a:lstStyle/>
          <a:p>
            <a:pPr algn="ctr">
              <a:lnSpc>
                <a:spcPct val="105000"/>
              </a:lnSpc>
            </a:pPr>
            <a:r>
              <a:rPr sz="1150" b="0" i="0">
                <a:solidFill>
                  <a:srgbClr val="6D6E71"/>
                </a:solidFill>
                <a:latin typeface="Arial"/>
              </a:rPr>
              <a:t>Cada área con su alcance, horas y fechas</a:t>
            </a:r>
          </a:p>
        </p:txBody>
      </p:sp>
      <p:cxnSp>
        <p:nvCxnSpPr>
          <p:cNvPr id="11" name="Connector 10"/>
          <p:cNvCxnSpPr/>
          <p:nvPr/>
        </p:nvCxnSpPr>
        <p:spPr>
          <a:xfrm>
            <a:off x="2552661" y="3040380"/>
            <a:ext cx="1539164" cy="0"/>
          </a:xfrm>
          <a:prstGeom prst="line">
            <a:avLst/>
          </a:prstGeom>
          <a:ln w="22225">
            <a:solidFill>
              <a:srgbClr val="6D6E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4183265" y="2514600"/>
            <a:ext cx="1051560" cy="105156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file_w.png"/>
          <p:cNvPicPr>
            <a:picLocks noChangeAspect="1"/>
          </p:cNvPicPr>
          <p:nvPr/>
        </p:nvPicPr>
        <p:blipFill>
          <a:blip r:embed="rId3"/>
          <a:stretch>
            <a:fillRect/>
          </a:stretch>
        </p:blipFill>
        <p:spPr>
          <a:xfrm>
            <a:off x="4435640" y="2766974"/>
            <a:ext cx="546811" cy="546811"/>
          </a:xfrm>
          <a:prstGeom prst="rect">
            <a:avLst/>
          </a:prstGeom>
        </p:spPr>
      </p:pic>
      <p:sp>
        <p:nvSpPr>
          <p:cNvPr id="14" name="TextBox 13"/>
          <p:cNvSpPr txBox="1"/>
          <p:nvPr/>
        </p:nvSpPr>
        <p:spPr>
          <a:xfrm>
            <a:off x="3413683" y="3749039"/>
            <a:ext cx="2590723" cy="566928"/>
          </a:xfrm>
          <a:prstGeom prst="rect">
            <a:avLst/>
          </a:prstGeom>
          <a:noFill/>
        </p:spPr>
        <p:txBody>
          <a:bodyPr wrap="square" lIns="0" rIns="0" tIns="0" bIns="0" anchor="t">
            <a:spAutoFit/>
          </a:bodyPr>
          <a:lstStyle/>
          <a:p>
            <a:pPr algn="ctr">
              <a:lnSpc>
                <a:spcPct val="95000"/>
              </a:lnSpc>
            </a:pPr>
            <a:r>
              <a:rPr sz="1400" b="1" i="0">
                <a:solidFill>
                  <a:srgbClr val="1A1A1A"/>
                </a:solidFill>
                <a:latin typeface="Arial"/>
              </a:rPr>
              <a:t>Entregables discretos</a:t>
            </a:r>
          </a:p>
        </p:txBody>
      </p:sp>
      <p:sp>
        <p:nvSpPr>
          <p:cNvPr id="15" name="TextBox 14"/>
          <p:cNvSpPr txBox="1"/>
          <p:nvPr/>
        </p:nvSpPr>
        <p:spPr>
          <a:xfrm>
            <a:off x="3431971" y="4343400"/>
            <a:ext cx="2554147" cy="1143000"/>
          </a:xfrm>
          <a:prstGeom prst="rect">
            <a:avLst/>
          </a:prstGeom>
          <a:noFill/>
        </p:spPr>
        <p:txBody>
          <a:bodyPr wrap="square" lIns="0" rIns="0" tIns="0" bIns="0" anchor="t">
            <a:spAutoFit/>
          </a:bodyPr>
          <a:lstStyle/>
          <a:p>
            <a:pPr algn="ctr">
              <a:lnSpc>
                <a:spcPct val="105000"/>
              </a:lnSpc>
            </a:pPr>
            <a:r>
              <a:rPr sz="1150" b="0" i="0">
                <a:solidFill>
                  <a:srgbClr val="6D6E71"/>
                </a:solidFill>
                <a:latin typeface="Arial"/>
              </a:rPr>
              <a:t>EWP pequeños y completos</a:t>
            </a:r>
          </a:p>
        </p:txBody>
      </p:sp>
      <p:cxnSp>
        <p:nvCxnSpPr>
          <p:cNvPr id="16" name="Connector 15"/>
          <p:cNvCxnSpPr/>
          <p:nvPr/>
        </p:nvCxnSpPr>
        <p:spPr>
          <a:xfrm>
            <a:off x="5326265" y="3040380"/>
            <a:ext cx="1539164" cy="0"/>
          </a:xfrm>
          <a:prstGeom prst="line">
            <a:avLst/>
          </a:prstGeom>
          <a:ln w="22225">
            <a:solidFill>
              <a:srgbClr val="6D6E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6956869" y="2514600"/>
            <a:ext cx="1051560" cy="105156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art_w.png"/>
          <p:cNvPicPr>
            <a:picLocks noChangeAspect="1"/>
          </p:cNvPicPr>
          <p:nvPr/>
        </p:nvPicPr>
        <p:blipFill>
          <a:blip r:embed="rId4"/>
          <a:stretch>
            <a:fillRect/>
          </a:stretch>
        </p:blipFill>
        <p:spPr>
          <a:xfrm>
            <a:off x="7209243" y="2766974"/>
            <a:ext cx="546811" cy="546811"/>
          </a:xfrm>
          <a:prstGeom prst="rect">
            <a:avLst/>
          </a:prstGeom>
        </p:spPr>
      </p:pic>
      <p:sp>
        <p:nvSpPr>
          <p:cNvPr id="19" name="TextBox 18"/>
          <p:cNvSpPr txBox="1"/>
          <p:nvPr/>
        </p:nvSpPr>
        <p:spPr>
          <a:xfrm>
            <a:off x="6187287" y="3749039"/>
            <a:ext cx="2590723" cy="566928"/>
          </a:xfrm>
          <a:prstGeom prst="rect">
            <a:avLst/>
          </a:prstGeom>
          <a:noFill/>
        </p:spPr>
        <p:txBody>
          <a:bodyPr wrap="square" lIns="0" rIns="0" tIns="0" bIns="0" anchor="t">
            <a:spAutoFit/>
          </a:bodyPr>
          <a:lstStyle/>
          <a:p>
            <a:pPr algn="ctr">
              <a:lnSpc>
                <a:spcPct val="95000"/>
              </a:lnSpc>
            </a:pPr>
            <a:r>
              <a:rPr sz="1400" b="1" i="0">
                <a:solidFill>
                  <a:srgbClr val="1A1A1A"/>
                </a:solidFill>
                <a:latin typeface="Arial"/>
              </a:rPr>
              <a:t>Seguimiento fino</a:t>
            </a:r>
          </a:p>
        </p:txBody>
      </p:sp>
      <p:sp>
        <p:nvSpPr>
          <p:cNvPr id="20" name="TextBox 19"/>
          <p:cNvSpPr txBox="1"/>
          <p:nvPr/>
        </p:nvSpPr>
        <p:spPr>
          <a:xfrm>
            <a:off x="6205575" y="4343400"/>
            <a:ext cx="2554147" cy="1143000"/>
          </a:xfrm>
          <a:prstGeom prst="rect">
            <a:avLst/>
          </a:prstGeom>
          <a:noFill/>
        </p:spPr>
        <p:txBody>
          <a:bodyPr wrap="square" lIns="0" rIns="0" tIns="0" bIns="0" anchor="t">
            <a:spAutoFit/>
          </a:bodyPr>
          <a:lstStyle/>
          <a:p>
            <a:pPr algn="ctr">
              <a:lnSpc>
                <a:spcPct val="105000"/>
              </a:lnSpc>
            </a:pPr>
            <a:r>
              <a:rPr sz="1150" b="0" i="0">
                <a:solidFill>
                  <a:srgbClr val="6D6E71"/>
                </a:solidFill>
                <a:latin typeface="Arial"/>
              </a:rPr>
              <a:t>Avance por paquete, no por disciplina global</a:t>
            </a:r>
          </a:p>
        </p:txBody>
      </p:sp>
      <p:cxnSp>
        <p:nvCxnSpPr>
          <p:cNvPr id="21" name="Connector 20"/>
          <p:cNvCxnSpPr/>
          <p:nvPr/>
        </p:nvCxnSpPr>
        <p:spPr>
          <a:xfrm>
            <a:off x="8099869" y="3040380"/>
            <a:ext cx="1539164" cy="0"/>
          </a:xfrm>
          <a:prstGeom prst="line">
            <a:avLst/>
          </a:prstGeom>
          <a:ln w="22225">
            <a:solidFill>
              <a:srgbClr val="6D6E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9730473" y="2514600"/>
            <a:ext cx="1051560" cy="105156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warning_w.png"/>
          <p:cNvPicPr>
            <a:picLocks noChangeAspect="1"/>
          </p:cNvPicPr>
          <p:nvPr/>
        </p:nvPicPr>
        <p:blipFill>
          <a:blip r:embed="rId5"/>
          <a:stretch>
            <a:fillRect/>
          </a:stretch>
        </p:blipFill>
        <p:spPr>
          <a:xfrm>
            <a:off x="9982847" y="2766974"/>
            <a:ext cx="546811" cy="546811"/>
          </a:xfrm>
          <a:prstGeom prst="rect">
            <a:avLst/>
          </a:prstGeom>
        </p:spPr>
      </p:pic>
      <p:sp>
        <p:nvSpPr>
          <p:cNvPr id="24" name="TextBox 23"/>
          <p:cNvSpPr txBox="1"/>
          <p:nvPr/>
        </p:nvSpPr>
        <p:spPr>
          <a:xfrm>
            <a:off x="8960891" y="3749039"/>
            <a:ext cx="2590723" cy="566928"/>
          </a:xfrm>
          <a:prstGeom prst="rect">
            <a:avLst/>
          </a:prstGeom>
          <a:noFill/>
        </p:spPr>
        <p:txBody>
          <a:bodyPr wrap="square" lIns="0" rIns="0" tIns="0" bIns="0" anchor="t">
            <a:spAutoFit/>
          </a:bodyPr>
          <a:lstStyle/>
          <a:p>
            <a:pPr algn="ctr">
              <a:lnSpc>
                <a:spcPct val="95000"/>
              </a:lnSpc>
            </a:pPr>
            <a:r>
              <a:rPr sz="1400" b="1" i="0">
                <a:solidFill>
                  <a:srgbClr val="1A1A1A"/>
                </a:solidFill>
                <a:latin typeface="Arial"/>
              </a:rPr>
              <a:t>Alerta temprana</a:t>
            </a:r>
          </a:p>
        </p:txBody>
      </p:sp>
      <p:sp>
        <p:nvSpPr>
          <p:cNvPr id="25" name="TextBox 24"/>
          <p:cNvSpPr txBox="1"/>
          <p:nvPr/>
        </p:nvSpPr>
        <p:spPr>
          <a:xfrm>
            <a:off x="8979179" y="4343400"/>
            <a:ext cx="2554147" cy="1143000"/>
          </a:xfrm>
          <a:prstGeom prst="rect">
            <a:avLst/>
          </a:prstGeom>
          <a:noFill/>
        </p:spPr>
        <p:txBody>
          <a:bodyPr wrap="square" lIns="0" rIns="0" tIns="0" bIns="0" anchor="t">
            <a:spAutoFit/>
          </a:bodyPr>
          <a:lstStyle/>
          <a:p>
            <a:pPr algn="ctr">
              <a:lnSpc>
                <a:spcPct val="105000"/>
              </a:lnSpc>
            </a:pPr>
            <a:r>
              <a:rPr sz="1150" b="0" i="0">
                <a:solidFill>
                  <a:srgbClr val="6D6E71"/>
                </a:solidFill>
                <a:latin typeface="Arial"/>
              </a:rPr>
              <a:t>Los desvíos se ven semanas antes</a:t>
            </a:r>
          </a:p>
        </p:txBody>
      </p:sp>
      <p:sp>
        <p:nvSpPr>
          <p:cNvPr id="26" name="Rectangle 25"/>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flag_o.png"/>
          <p:cNvPicPr>
            <a:picLocks noChangeAspect="1"/>
          </p:cNvPicPr>
          <p:nvPr/>
        </p:nvPicPr>
        <p:blipFill>
          <a:blip r:embed="rId6"/>
          <a:stretch>
            <a:fillRect/>
          </a:stretch>
        </p:blipFill>
        <p:spPr>
          <a:xfrm>
            <a:off x="822959" y="5660136"/>
            <a:ext cx="365760" cy="365760"/>
          </a:xfrm>
          <a:prstGeom prst="rect">
            <a:avLst/>
          </a:prstGeom>
        </p:spPr>
      </p:pic>
      <p:sp>
        <p:nvSpPr>
          <p:cNvPr id="28" name="TextBox 27"/>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Una ingeniería medida por CWA muestra qué área se atrasa, no solo cuánto se atrasa.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5 · FLUJO DEL EWP</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El EWP tiene un flujo propio, de la definición a la liberación</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M5 · FASE 2: INGENIERÍA DE DETALLE Y COMPRAS</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051</a:t>
            </a:r>
          </a:p>
        </p:txBody>
      </p:sp>
      <p:sp>
        <p:nvSpPr>
          <p:cNvPr id="7" name="Rectangle 6"/>
          <p:cNvSpPr/>
          <p:nvPr/>
        </p:nvSpPr>
        <p:spPr>
          <a:xfrm>
            <a:off x="548640" y="1874519"/>
            <a:ext cx="2028687"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1</a:t>
            </a:r>
          </a:p>
        </p:txBody>
      </p:sp>
      <p:pic>
        <p:nvPicPr>
          <p:cNvPr id="10" name="Picture 9" descr="sitemap_o.png"/>
          <p:cNvPicPr>
            <a:picLocks noChangeAspect="1"/>
          </p:cNvPicPr>
          <p:nvPr/>
        </p:nvPicPr>
        <p:blipFill>
          <a:blip r:embed="rId2"/>
          <a:stretch>
            <a:fillRect/>
          </a:stretch>
        </p:blipFill>
        <p:spPr>
          <a:xfrm>
            <a:off x="1918959" y="2148839"/>
            <a:ext cx="420624" cy="420624"/>
          </a:xfrm>
          <a:prstGeom prst="rect">
            <a:avLst/>
          </a:prstGeom>
        </p:spPr>
      </p:pic>
      <p:sp>
        <p:nvSpPr>
          <p:cNvPr id="11" name="TextBox 10"/>
          <p:cNvSpPr txBox="1"/>
          <p:nvPr/>
        </p:nvSpPr>
        <p:spPr>
          <a:xfrm>
            <a:off x="777240" y="2807208"/>
            <a:ext cx="1617207"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Definir el marco</a:t>
            </a:r>
          </a:p>
        </p:txBody>
      </p:sp>
      <p:sp>
        <p:nvSpPr>
          <p:cNvPr id="12" name="TextBox 11"/>
          <p:cNvSpPr txBox="1"/>
          <p:nvPr/>
        </p:nvSpPr>
        <p:spPr>
          <a:xfrm>
            <a:off x="777240" y="3429000"/>
            <a:ext cx="1617207"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CWA, WBS y matriz de EWP</a:t>
            </a:r>
          </a:p>
        </p:txBody>
      </p:sp>
      <p:cxnSp>
        <p:nvCxnSpPr>
          <p:cNvPr id="13" name="Connector 12"/>
          <p:cNvCxnSpPr/>
          <p:nvPr/>
        </p:nvCxnSpPr>
        <p:spPr>
          <a:xfrm>
            <a:off x="2613903" y="3291839"/>
            <a:ext cx="164592"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2815071" y="1874519"/>
            <a:ext cx="2028687"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3043671"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043671"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2</a:t>
            </a:r>
          </a:p>
        </p:txBody>
      </p:sp>
      <p:pic>
        <p:nvPicPr>
          <p:cNvPr id="17" name="Picture 16" descr="teach_o.png"/>
          <p:cNvPicPr>
            <a:picLocks noChangeAspect="1"/>
          </p:cNvPicPr>
          <p:nvPr/>
        </p:nvPicPr>
        <p:blipFill>
          <a:blip r:embed="rId3"/>
          <a:stretch>
            <a:fillRect/>
          </a:stretch>
        </p:blipFill>
        <p:spPr>
          <a:xfrm>
            <a:off x="4185391" y="2148839"/>
            <a:ext cx="420624" cy="420624"/>
          </a:xfrm>
          <a:prstGeom prst="rect">
            <a:avLst/>
          </a:prstGeom>
        </p:spPr>
      </p:pic>
      <p:sp>
        <p:nvSpPr>
          <p:cNvPr id="18" name="TextBox 17"/>
          <p:cNvSpPr txBox="1"/>
          <p:nvPr/>
        </p:nvSpPr>
        <p:spPr>
          <a:xfrm>
            <a:off x="3043671" y="2807208"/>
            <a:ext cx="1617207"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Desplegar al equipo</a:t>
            </a:r>
          </a:p>
        </p:txBody>
      </p:sp>
      <p:sp>
        <p:nvSpPr>
          <p:cNvPr id="19" name="TextBox 18"/>
          <p:cNvSpPr txBox="1"/>
          <p:nvPr/>
        </p:nvSpPr>
        <p:spPr>
          <a:xfrm>
            <a:off x="3043671" y="3429000"/>
            <a:ext cx="1617207"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Capacitar y asignar documentos a cada EWP</a:t>
            </a:r>
          </a:p>
        </p:txBody>
      </p:sp>
      <p:cxnSp>
        <p:nvCxnSpPr>
          <p:cNvPr id="20" name="Connector 19"/>
          <p:cNvCxnSpPr/>
          <p:nvPr/>
        </p:nvCxnSpPr>
        <p:spPr>
          <a:xfrm>
            <a:off x="4880335" y="3291839"/>
            <a:ext cx="164592"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081503" y="1874519"/>
            <a:ext cx="2028687"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5310103"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310103"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3</a:t>
            </a:r>
          </a:p>
        </p:txBody>
      </p:sp>
      <p:pic>
        <p:nvPicPr>
          <p:cNvPr id="24" name="Picture 23" descr="ruler_o.png"/>
          <p:cNvPicPr>
            <a:picLocks noChangeAspect="1"/>
          </p:cNvPicPr>
          <p:nvPr/>
        </p:nvPicPr>
        <p:blipFill>
          <a:blip r:embed="rId4"/>
          <a:stretch>
            <a:fillRect/>
          </a:stretch>
        </p:blipFill>
        <p:spPr>
          <a:xfrm>
            <a:off x="6451823" y="2148839"/>
            <a:ext cx="420624" cy="420624"/>
          </a:xfrm>
          <a:prstGeom prst="rect">
            <a:avLst/>
          </a:prstGeom>
        </p:spPr>
      </p:pic>
      <p:sp>
        <p:nvSpPr>
          <p:cNvPr id="25" name="TextBox 24"/>
          <p:cNvSpPr txBox="1"/>
          <p:nvPr/>
        </p:nvSpPr>
        <p:spPr>
          <a:xfrm>
            <a:off x="5310103" y="2807208"/>
            <a:ext cx="1617207"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Diseñar y revisar</a:t>
            </a:r>
          </a:p>
        </p:txBody>
      </p:sp>
      <p:sp>
        <p:nvSpPr>
          <p:cNvPr id="26" name="TextBox 25"/>
          <p:cNvSpPr txBox="1"/>
          <p:nvPr/>
        </p:nvSpPr>
        <p:spPr>
          <a:xfrm>
            <a:off x="5310103" y="3429000"/>
            <a:ext cx="1617207"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Revisión interna de Ingeniería</a:t>
            </a:r>
          </a:p>
        </p:txBody>
      </p:sp>
      <p:cxnSp>
        <p:nvCxnSpPr>
          <p:cNvPr id="27" name="Connector 26"/>
          <p:cNvCxnSpPr/>
          <p:nvPr/>
        </p:nvCxnSpPr>
        <p:spPr>
          <a:xfrm>
            <a:off x="7146767" y="3291839"/>
            <a:ext cx="164592"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347935" y="1874519"/>
            <a:ext cx="2028687"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7576535"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576535"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4</a:t>
            </a:r>
          </a:p>
        </p:txBody>
      </p:sp>
      <p:pic>
        <p:nvPicPr>
          <p:cNvPr id="31" name="Picture 30" descr="eye_o.png"/>
          <p:cNvPicPr>
            <a:picLocks noChangeAspect="1"/>
          </p:cNvPicPr>
          <p:nvPr/>
        </p:nvPicPr>
        <p:blipFill>
          <a:blip r:embed="rId5"/>
          <a:stretch>
            <a:fillRect/>
          </a:stretch>
        </p:blipFill>
        <p:spPr>
          <a:xfrm>
            <a:off x="8718255" y="2148839"/>
            <a:ext cx="420624" cy="420624"/>
          </a:xfrm>
          <a:prstGeom prst="rect">
            <a:avLst/>
          </a:prstGeom>
        </p:spPr>
      </p:pic>
      <p:sp>
        <p:nvSpPr>
          <p:cNvPr id="32" name="TextBox 31"/>
          <p:cNvSpPr txBox="1"/>
          <p:nvPr/>
        </p:nvSpPr>
        <p:spPr>
          <a:xfrm>
            <a:off x="7576535" y="2807208"/>
            <a:ext cx="1617207"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Revisión externa</a:t>
            </a:r>
          </a:p>
        </p:txBody>
      </p:sp>
      <p:sp>
        <p:nvSpPr>
          <p:cNvPr id="33" name="TextBox 32"/>
          <p:cNvSpPr txBox="1"/>
          <p:nvPr/>
        </p:nvSpPr>
        <p:spPr>
          <a:xfrm>
            <a:off x="7576535" y="3429000"/>
            <a:ext cx="1617207"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Propietario y contratista revisan a tiempo</a:t>
            </a:r>
          </a:p>
        </p:txBody>
      </p:sp>
      <p:cxnSp>
        <p:nvCxnSpPr>
          <p:cNvPr id="34" name="Connector 33"/>
          <p:cNvCxnSpPr/>
          <p:nvPr/>
        </p:nvCxnSpPr>
        <p:spPr>
          <a:xfrm>
            <a:off x="9413199" y="3291839"/>
            <a:ext cx="164592"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9614367" y="1874519"/>
            <a:ext cx="2028687"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9842967"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842967"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5</a:t>
            </a:r>
          </a:p>
        </p:txBody>
      </p:sp>
      <p:pic>
        <p:nvPicPr>
          <p:cNvPr id="38" name="Picture 37" descr="flag_o.png"/>
          <p:cNvPicPr>
            <a:picLocks noChangeAspect="1"/>
          </p:cNvPicPr>
          <p:nvPr/>
        </p:nvPicPr>
        <p:blipFill>
          <a:blip r:embed="rId6"/>
          <a:stretch>
            <a:fillRect/>
          </a:stretch>
        </p:blipFill>
        <p:spPr>
          <a:xfrm>
            <a:off x="10984687" y="2148839"/>
            <a:ext cx="420624" cy="420624"/>
          </a:xfrm>
          <a:prstGeom prst="rect">
            <a:avLst/>
          </a:prstGeom>
        </p:spPr>
      </p:pic>
      <p:sp>
        <p:nvSpPr>
          <p:cNvPr id="39" name="TextBox 38"/>
          <p:cNvSpPr txBox="1"/>
          <p:nvPr/>
        </p:nvSpPr>
        <p:spPr>
          <a:xfrm>
            <a:off x="9842967" y="2807208"/>
            <a:ext cx="1617207"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Liberar el EWP</a:t>
            </a:r>
          </a:p>
        </p:txBody>
      </p:sp>
      <p:sp>
        <p:nvSpPr>
          <p:cNvPr id="40" name="TextBox 39"/>
          <p:cNvSpPr txBox="1"/>
          <p:nvPr/>
        </p:nvSpPr>
        <p:spPr>
          <a:xfrm>
            <a:off x="9842967" y="3429000"/>
            <a:ext cx="1617207"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Hito de interfaz que inicia el CWP</a:t>
            </a:r>
          </a:p>
        </p:txBody>
      </p:sp>
      <p:sp>
        <p:nvSpPr>
          <p:cNvPr id="41" name="Rectangle 40"/>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flag_o.png"/>
          <p:cNvPicPr>
            <a:picLocks noChangeAspect="1"/>
          </p:cNvPicPr>
          <p:nvPr/>
        </p:nvPicPr>
        <p:blipFill>
          <a:blip r:embed="rId6"/>
          <a:stretch>
            <a:fillRect/>
          </a:stretch>
        </p:blipFill>
        <p:spPr>
          <a:xfrm>
            <a:off x="822959" y="5660136"/>
            <a:ext cx="365760" cy="365760"/>
          </a:xfrm>
          <a:prstGeom prst="rect">
            <a:avLst/>
          </a:prstGeom>
        </p:spPr>
      </p:pic>
      <p:sp>
        <p:nvSpPr>
          <p:cNvPr id="43" name="TextBox 42"/>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Cada EWP se sigue en un plan de liberación con fechas planificadas y reales.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5 · REGLAS DE CRÉDITO</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Mida el avance de Ingeniería con reglas de crédito por EWP</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M5 · FASE 2: INGENIERÍA DE DETALLE Y COMPRAS</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052</a:t>
            </a:r>
          </a:p>
        </p:txBody>
      </p:sp>
      <p:graphicFrame>
        <p:nvGraphicFramePr>
          <p:cNvPr id="7" name="Table 6"/>
          <p:cNvGraphicFramePr>
            <a:graphicFrameLocks noGrp="1"/>
          </p:cNvGraphicFramePr>
          <p:nvPr/>
        </p:nvGraphicFramePr>
        <p:xfrm>
          <a:off x="563727" y="1828800"/>
          <a:ext cx="11064240" cy="3703320"/>
        </p:xfrm>
        <a:graphic>
          <a:graphicData uri="http://schemas.openxmlformats.org/drawingml/2006/table">
            <a:tbl>
              <a:tblPr firstRow="0" bandRow="0">
                <a:tableStyleId>{5C22544A-7EE6-4342-B048-85BDC9FD1C3A}</a:tableStyleId>
              </a:tblPr>
              <a:tblGrid>
                <a:gridCol w="6492240"/>
                <a:gridCol w="2286000"/>
                <a:gridCol w="2286000"/>
              </a:tblGrid>
              <a:tr h="457200">
                <a:tc>
                  <a:txBody>
                    <a:bodyPr wrap="square"/>
                    <a:lstStyle/>
                    <a:p>
                      <a:pPr algn="l"/>
                      <a:r>
                        <a:rPr sz="1000" b="1" spc="100">
                          <a:solidFill>
                            <a:srgbClr val="FFFFFF"/>
                          </a:solidFill>
                          <a:latin typeface="Arial"/>
                        </a:rPr>
                        <a:t>ETAPA DEL EWP</a:t>
                      </a:r>
                    </a:p>
                  </a:txBody>
                  <a:tcPr marL="137160" marR="91440" marT="27432" marB="27432" anchor="ctr">
                    <a:solidFill>
                      <a:srgbClr val="1A1A1A"/>
                    </a:solidFill>
                  </a:tcPr>
                </a:tc>
                <a:tc>
                  <a:txBody>
                    <a:bodyPr wrap="square"/>
                    <a:lstStyle/>
                    <a:p>
                      <a:pPr algn="l"/>
                      <a:r>
                        <a:rPr sz="1000" b="1" spc="100">
                          <a:solidFill>
                            <a:srgbClr val="FFFFFF"/>
                          </a:solidFill>
                          <a:latin typeface="Arial"/>
                        </a:rPr>
                        <a:t>PESO</a:t>
                      </a:r>
                    </a:p>
                  </a:txBody>
                  <a:tcPr marL="137160" marR="91440" marT="27432" marB="27432" anchor="ctr">
                    <a:solidFill>
                      <a:srgbClr val="1A1A1A"/>
                    </a:solidFill>
                  </a:tcPr>
                </a:tc>
                <a:tc>
                  <a:txBody>
                    <a:bodyPr wrap="square"/>
                    <a:lstStyle/>
                    <a:p>
                      <a:pPr algn="l"/>
                      <a:r>
                        <a:rPr sz="1000" b="1" spc="100">
                          <a:solidFill>
                            <a:srgbClr val="FFFFFF"/>
                          </a:solidFill>
                          <a:latin typeface="Arial"/>
                        </a:rPr>
                        <a:t>ACUMULADO</a:t>
                      </a:r>
                    </a:p>
                  </a:txBody>
                  <a:tcPr marL="137160" marR="91440" marT="27432" marB="27432" anchor="ctr">
                    <a:solidFill>
                      <a:srgbClr val="1A1A1A"/>
                    </a:solidFill>
                  </a:tcPr>
                </a:tc>
              </a:tr>
              <a:tr h="541020">
                <a:tc>
                  <a:txBody>
                    <a:bodyPr wrap="square"/>
                    <a:lstStyle/>
                    <a:p>
                      <a:pPr algn="l"/>
                      <a:r>
                        <a:rPr sz="1400" b="1">
                          <a:solidFill>
                            <a:srgbClr val="1A1A1A"/>
                          </a:solidFill>
                          <a:latin typeface="Arial"/>
                        </a:rPr>
                        <a:t>Inicio del diseño</a:t>
                      </a:r>
                    </a:p>
                  </a:txBody>
                  <a:tcPr marL="137160" marR="91440" marT="27432" marB="27432" anchor="ctr">
                    <a:solidFill>
                      <a:srgbClr val="FFFFFF"/>
                    </a:solidFill>
                  </a:tcPr>
                </a:tc>
                <a:tc>
                  <a:txBody>
                    <a:bodyPr wrap="square"/>
                    <a:lstStyle/>
                    <a:p>
                      <a:pPr algn="l"/>
                      <a:r>
                        <a:rPr sz="1400" b="1">
                          <a:solidFill>
                            <a:srgbClr val="555555"/>
                          </a:solidFill>
                          <a:latin typeface="Courier New"/>
                        </a:rPr>
                        <a:t>5 %</a:t>
                      </a:r>
                    </a:p>
                  </a:txBody>
                  <a:tcPr marL="137160" marR="91440" marT="27432" marB="27432" anchor="ctr">
                    <a:solidFill>
                      <a:srgbClr val="FFFFFF"/>
                    </a:solidFill>
                  </a:tcPr>
                </a:tc>
                <a:tc>
                  <a:txBody>
                    <a:bodyPr wrap="square"/>
                    <a:lstStyle/>
                    <a:p>
                      <a:pPr algn="l"/>
                      <a:r>
                        <a:rPr sz="1400" b="1">
                          <a:solidFill>
                            <a:srgbClr val="555555"/>
                          </a:solidFill>
                          <a:latin typeface="Courier New"/>
                        </a:rPr>
                        <a:t>5 %</a:t>
                      </a:r>
                    </a:p>
                  </a:txBody>
                  <a:tcPr marL="137160" marR="91440" marT="27432" marB="27432" anchor="ctr">
                    <a:solidFill>
                      <a:srgbClr val="FFFFFF"/>
                    </a:solidFill>
                  </a:tcPr>
                </a:tc>
              </a:tr>
              <a:tr h="541020">
                <a:tc>
                  <a:txBody>
                    <a:bodyPr wrap="square"/>
                    <a:lstStyle/>
                    <a:p>
                      <a:pPr algn="l"/>
                      <a:r>
                        <a:rPr sz="1400" b="1">
                          <a:solidFill>
                            <a:srgbClr val="1A1A1A"/>
                          </a:solidFill>
                          <a:latin typeface="Arial"/>
                        </a:rPr>
                        <a:t>Revisión interna de Ingeniería</a:t>
                      </a:r>
                    </a:p>
                  </a:txBody>
                  <a:tcPr marL="137160" marR="91440" marT="27432" marB="27432" anchor="ctr">
                    <a:solidFill>
                      <a:srgbClr val="F7F7F7"/>
                    </a:solidFill>
                  </a:tcPr>
                </a:tc>
                <a:tc>
                  <a:txBody>
                    <a:bodyPr wrap="square"/>
                    <a:lstStyle/>
                    <a:p>
                      <a:pPr algn="l"/>
                      <a:r>
                        <a:rPr sz="1400" b="1">
                          <a:solidFill>
                            <a:srgbClr val="555555"/>
                          </a:solidFill>
                          <a:latin typeface="Courier New"/>
                        </a:rPr>
                        <a:t>20 %</a:t>
                      </a:r>
                    </a:p>
                  </a:txBody>
                  <a:tcPr marL="137160" marR="91440" marT="27432" marB="27432" anchor="ctr">
                    <a:solidFill>
                      <a:srgbClr val="F7F7F7"/>
                    </a:solidFill>
                  </a:tcPr>
                </a:tc>
                <a:tc>
                  <a:txBody>
                    <a:bodyPr wrap="square"/>
                    <a:lstStyle/>
                    <a:p>
                      <a:pPr algn="l"/>
                      <a:r>
                        <a:rPr sz="1400" b="1">
                          <a:solidFill>
                            <a:srgbClr val="555555"/>
                          </a:solidFill>
                          <a:latin typeface="Courier New"/>
                        </a:rPr>
                        <a:t>25 %</a:t>
                      </a:r>
                    </a:p>
                  </a:txBody>
                  <a:tcPr marL="137160" marR="91440" marT="27432" marB="27432" anchor="ctr">
                    <a:solidFill>
                      <a:srgbClr val="F7F7F7"/>
                    </a:solidFill>
                  </a:tcPr>
                </a:tc>
              </a:tr>
              <a:tr h="541020">
                <a:tc>
                  <a:txBody>
                    <a:bodyPr wrap="square"/>
                    <a:lstStyle/>
                    <a:p>
                      <a:pPr algn="l"/>
                      <a:r>
                        <a:rPr sz="1400" b="1">
                          <a:solidFill>
                            <a:srgbClr val="1A1A1A"/>
                          </a:solidFill>
                          <a:latin typeface="Arial"/>
                        </a:rPr>
                        <a:t>Emitido para revisión (IFR)</a:t>
                      </a:r>
                    </a:p>
                  </a:txBody>
                  <a:tcPr marL="137160" marR="91440" marT="27432" marB="27432" anchor="ctr">
                    <a:solidFill>
                      <a:srgbClr val="FFFFFF"/>
                    </a:solidFill>
                  </a:tcPr>
                </a:tc>
                <a:tc>
                  <a:txBody>
                    <a:bodyPr wrap="square"/>
                    <a:lstStyle/>
                    <a:p>
                      <a:pPr algn="l"/>
                      <a:r>
                        <a:rPr sz="1400" b="1">
                          <a:solidFill>
                            <a:srgbClr val="555555"/>
                          </a:solidFill>
                          <a:latin typeface="Courier New"/>
                        </a:rPr>
                        <a:t>10 %</a:t>
                      </a:r>
                    </a:p>
                  </a:txBody>
                  <a:tcPr marL="137160" marR="91440" marT="27432" marB="27432" anchor="ctr">
                    <a:solidFill>
                      <a:srgbClr val="FFFFFF"/>
                    </a:solidFill>
                  </a:tcPr>
                </a:tc>
                <a:tc>
                  <a:txBody>
                    <a:bodyPr wrap="square"/>
                    <a:lstStyle/>
                    <a:p>
                      <a:pPr algn="l"/>
                      <a:r>
                        <a:rPr sz="1400" b="1">
                          <a:solidFill>
                            <a:srgbClr val="555555"/>
                          </a:solidFill>
                          <a:latin typeface="Courier New"/>
                        </a:rPr>
                        <a:t>35 %</a:t>
                      </a:r>
                    </a:p>
                  </a:txBody>
                  <a:tcPr marL="137160" marR="91440" marT="27432" marB="27432" anchor="ctr">
                    <a:solidFill>
                      <a:srgbClr val="FFFFFF"/>
                    </a:solidFill>
                  </a:tcPr>
                </a:tc>
              </a:tr>
              <a:tr h="541020">
                <a:tc>
                  <a:txBody>
                    <a:bodyPr wrap="square"/>
                    <a:lstStyle/>
                    <a:p>
                      <a:pPr algn="l"/>
                      <a:r>
                        <a:rPr sz="1400" b="1">
                          <a:solidFill>
                            <a:srgbClr val="1A1A1A"/>
                          </a:solidFill>
                          <a:latin typeface="Arial"/>
                        </a:rPr>
                        <a:t>Revisión y comentarios del cliente</a:t>
                      </a:r>
                    </a:p>
                  </a:txBody>
                  <a:tcPr marL="137160" marR="91440" marT="27432" marB="27432" anchor="ctr">
                    <a:solidFill>
                      <a:srgbClr val="F7F7F7"/>
                    </a:solidFill>
                  </a:tcPr>
                </a:tc>
                <a:tc>
                  <a:txBody>
                    <a:bodyPr wrap="square"/>
                    <a:lstStyle/>
                    <a:p>
                      <a:pPr algn="l"/>
                      <a:r>
                        <a:rPr sz="1400" b="1">
                          <a:solidFill>
                            <a:srgbClr val="555555"/>
                          </a:solidFill>
                          <a:latin typeface="Courier New"/>
                        </a:rPr>
                        <a:t>5 %</a:t>
                      </a:r>
                    </a:p>
                  </a:txBody>
                  <a:tcPr marL="137160" marR="91440" marT="27432" marB="27432" anchor="ctr">
                    <a:solidFill>
                      <a:srgbClr val="F7F7F7"/>
                    </a:solidFill>
                  </a:tcPr>
                </a:tc>
                <a:tc>
                  <a:txBody>
                    <a:bodyPr wrap="square"/>
                    <a:lstStyle/>
                    <a:p>
                      <a:pPr algn="l"/>
                      <a:r>
                        <a:rPr sz="1400" b="1">
                          <a:solidFill>
                            <a:srgbClr val="555555"/>
                          </a:solidFill>
                          <a:latin typeface="Courier New"/>
                        </a:rPr>
                        <a:t>40 %</a:t>
                      </a:r>
                    </a:p>
                  </a:txBody>
                  <a:tcPr marL="137160" marR="91440" marT="27432" marB="27432" anchor="ctr">
                    <a:solidFill>
                      <a:srgbClr val="F7F7F7"/>
                    </a:solidFill>
                  </a:tcPr>
                </a:tc>
              </a:tr>
              <a:tr h="541020">
                <a:tc>
                  <a:txBody>
                    <a:bodyPr wrap="square"/>
                    <a:lstStyle/>
                    <a:p>
                      <a:pPr algn="l"/>
                      <a:r>
                        <a:rPr sz="1400" b="1">
                          <a:solidFill>
                            <a:srgbClr val="1A1A1A"/>
                          </a:solidFill>
                          <a:latin typeface="Arial"/>
                        </a:rPr>
                        <a:t>Emitido para construcción (IFC), sin retenciones</a:t>
                      </a:r>
                    </a:p>
                  </a:txBody>
                  <a:tcPr marL="137160" marR="91440" marT="27432" marB="27432" anchor="ctr">
                    <a:solidFill>
                      <a:srgbClr val="FFE3CF"/>
                    </a:solidFill>
                  </a:tcPr>
                </a:tc>
                <a:tc>
                  <a:txBody>
                    <a:bodyPr wrap="square"/>
                    <a:lstStyle/>
                    <a:p>
                      <a:pPr algn="l"/>
                      <a:r>
                        <a:rPr sz="1400" b="1">
                          <a:solidFill>
                            <a:srgbClr val="FF6600"/>
                          </a:solidFill>
                          <a:latin typeface="Courier New"/>
                        </a:rPr>
                        <a:t>50 %</a:t>
                      </a:r>
                    </a:p>
                  </a:txBody>
                  <a:tcPr marL="137160" marR="91440" marT="27432" marB="27432" anchor="ctr">
                    <a:solidFill>
                      <a:srgbClr val="FFE3CF"/>
                    </a:solidFill>
                  </a:tcPr>
                </a:tc>
                <a:tc>
                  <a:txBody>
                    <a:bodyPr wrap="square"/>
                    <a:lstStyle/>
                    <a:p>
                      <a:pPr algn="l"/>
                      <a:r>
                        <a:rPr sz="1400" b="1">
                          <a:solidFill>
                            <a:srgbClr val="FF6600"/>
                          </a:solidFill>
                          <a:latin typeface="Courier New"/>
                        </a:rPr>
                        <a:t>90 %</a:t>
                      </a:r>
                    </a:p>
                  </a:txBody>
                  <a:tcPr marL="137160" marR="91440" marT="27432" marB="27432" anchor="ctr">
                    <a:solidFill>
                      <a:srgbClr val="FFE3CF"/>
                    </a:solidFill>
                  </a:tcPr>
                </a:tc>
              </a:tr>
              <a:tr h="541020">
                <a:tc>
                  <a:txBody>
                    <a:bodyPr wrap="square"/>
                    <a:lstStyle/>
                    <a:p>
                      <a:pPr algn="l"/>
                      <a:r>
                        <a:rPr sz="1400" b="1">
                          <a:solidFill>
                            <a:srgbClr val="1A1A1A"/>
                          </a:solidFill>
                          <a:latin typeface="Arial"/>
                        </a:rPr>
                        <a:t>Revisión y aprobación de Construcción</a:t>
                      </a:r>
                    </a:p>
                  </a:txBody>
                  <a:tcPr marL="137160" marR="91440" marT="27432" marB="27432" anchor="ctr">
                    <a:solidFill>
                      <a:srgbClr val="F7F7F7"/>
                    </a:solidFill>
                  </a:tcPr>
                </a:tc>
                <a:tc>
                  <a:txBody>
                    <a:bodyPr wrap="square"/>
                    <a:lstStyle/>
                    <a:p>
                      <a:pPr algn="l"/>
                      <a:r>
                        <a:rPr sz="1400" b="1">
                          <a:solidFill>
                            <a:srgbClr val="555555"/>
                          </a:solidFill>
                          <a:latin typeface="Courier New"/>
                        </a:rPr>
                        <a:t>10 %</a:t>
                      </a:r>
                    </a:p>
                  </a:txBody>
                  <a:tcPr marL="137160" marR="91440" marT="27432" marB="27432" anchor="ctr">
                    <a:solidFill>
                      <a:srgbClr val="F7F7F7"/>
                    </a:solidFill>
                  </a:tcPr>
                </a:tc>
                <a:tc>
                  <a:txBody>
                    <a:bodyPr wrap="square"/>
                    <a:lstStyle/>
                    <a:p>
                      <a:pPr algn="l"/>
                      <a:r>
                        <a:rPr sz="1400" b="1">
                          <a:solidFill>
                            <a:srgbClr val="555555"/>
                          </a:solidFill>
                          <a:latin typeface="Courier New"/>
                        </a:rPr>
                        <a:t>100 %</a:t>
                      </a:r>
                    </a:p>
                  </a:txBody>
                  <a:tcPr marL="137160" marR="91440" marT="27432" marB="27432" anchor="ctr">
                    <a:solidFill>
                      <a:srgbClr val="F7F7F7"/>
                    </a:solidFill>
                  </a:tcPr>
                </a:tc>
              </a:tr>
            </a:tbl>
          </a:graphicData>
        </a:graphic>
      </p:graphicFrame>
      <p:pic>
        <p:nvPicPr>
          <p:cNvPr id="8" name="Picture 7" descr="chart_o.png"/>
          <p:cNvPicPr>
            <a:picLocks noChangeAspect="1"/>
          </p:cNvPicPr>
          <p:nvPr/>
        </p:nvPicPr>
        <p:blipFill>
          <a:blip r:embed="rId2"/>
          <a:stretch>
            <a:fillRect/>
          </a:stretch>
        </p:blipFill>
        <p:spPr>
          <a:xfrm>
            <a:off x="563727" y="5769864"/>
            <a:ext cx="292608" cy="292608"/>
          </a:xfrm>
          <a:prstGeom prst="rect">
            <a:avLst/>
          </a:prstGeom>
        </p:spPr>
      </p:pic>
      <p:sp>
        <p:nvSpPr>
          <p:cNvPr id="9" name="TextBox 8"/>
          <p:cNvSpPr txBox="1"/>
          <p:nvPr/>
        </p:nvSpPr>
        <p:spPr>
          <a:xfrm>
            <a:off x="1020927" y="5733288"/>
            <a:ext cx="10607040" cy="384048"/>
          </a:xfrm>
          <a:prstGeom prst="rect">
            <a:avLst/>
          </a:prstGeom>
          <a:noFill/>
        </p:spPr>
        <p:txBody>
          <a:bodyPr wrap="square" lIns="0" rIns="0" tIns="0" bIns="0" anchor="ctr">
            <a:spAutoFit/>
          </a:bodyPr>
          <a:lstStyle/>
          <a:p>
            <a:pPr algn="l"/>
            <a:r>
              <a:rPr sz="1200" b="0" i="0">
                <a:solidFill>
                  <a:srgbClr val="2E2E2E"/>
                </a:solidFill>
                <a:latin typeface="Arial"/>
              </a:rPr>
              <a:t>Avance por reglas de crédito × horas asignadas a cada EWP = valor ganado real de Ingeniería.</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5 · QUIÉN PREPARA LOS EWP</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El contratista de Ingeniería prepara los EWP; Construcción los revisa</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M5 · FASE 2: INGENIERÍA DE DETALLE Y COMPRAS</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053</a:t>
            </a:r>
          </a:p>
        </p:txBody>
      </p:sp>
      <p:sp>
        <p:nvSpPr>
          <p:cNvPr id="7" name="Oval 6"/>
          <p:cNvSpPr/>
          <p:nvPr/>
        </p:nvSpPr>
        <p:spPr>
          <a:xfrm>
            <a:off x="1409661" y="2514600"/>
            <a:ext cx="1051560" cy="1051560"/>
          </a:xfrm>
          <a:prstGeom prst="ellipse">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usertie_w.png"/>
          <p:cNvPicPr>
            <a:picLocks noChangeAspect="1"/>
          </p:cNvPicPr>
          <p:nvPr/>
        </p:nvPicPr>
        <p:blipFill>
          <a:blip r:embed="rId2"/>
          <a:stretch>
            <a:fillRect/>
          </a:stretch>
        </p:blipFill>
        <p:spPr>
          <a:xfrm>
            <a:off x="1662036" y="2766974"/>
            <a:ext cx="546811" cy="546811"/>
          </a:xfrm>
          <a:prstGeom prst="rect">
            <a:avLst/>
          </a:prstGeom>
        </p:spPr>
      </p:pic>
      <p:sp>
        <p:nvSpPr>
          <p:cNvPr id="9" name="TextBox 8"/>
          <p:cNvSpPr txBox="1"/>
          <p:nvPr/>
        </p:nvSpPr>
        <p:spPr>
          <a:xfrm>
            <a:off x="640079" y="3749039"/>
            <a:ext cx="2590723" cy="566928"/>
          </a:xfrm>
          <a:prstGeom prst="rect">
            <a:avLst/>
          </a:prstGeom>
          <a:noFill/>
        </p:spPr>
        <p:txBody>
          <a:bodyPr wrap="square" lIns="0" rIns="0" tIns="0" bIns="0" anchor="t">
            <a:spAutoFit/>
          </a:bodyPr>
          <a:lstStyle/>
          <a:p>
            <a:pPr algn="ctr">
              <a:lnSpc>
                <a:spcPct val="95000"/>
              </a:lnSpc>
            </a:pPr>
            <a:r>
              <a:rPr sz="1400" b="1" i="0">
                <a:solidFill>
                  <a:srgbClr val="1A1A1A"/>
                </a:solidFill>
                <a:latin typeface="Arial"/>
              </a:rPr>
              <a:t>Gerente de Ingeniería</a:t>
            </a:r>
          </a:p>
        </p:txBody>
      </p:sp>
      <p:sp>
        <p:nvSpPr>
          <p:cNvPr id="10" name="TextBox 9"/>
          <p:cNvSpPr txBox="1"/>
          <p:nvPr/>
        </p:nvSpPr>
        <p:spPr>
          <a:xfrm>
            <a:off x="658367" y="4343400"/>
            <a:ext cx="2554147" cy="1143000"/>
          </a:xfrm>
          <a:prstGeom prst="rect">
            <a:avLst/>
          </a:prstGeom>
          <a:noFill/>
        </p:spPr>
        <p:txBody>
          <a:bodyPr wrap="square" lIns="0" rIns="0" tIns="0" bIns="0" anchor="t">
            <a:spAutoFit/>
          </a:bodyPr>
          <a:lstStyle/>
          <a:p>
            <a:pPr algn="ctr">
              <a:lnSpc>
                <a:spcPct val="105000"/>
              </a:lnSpc>
            </a:pPr>
            <a:r>
              <a:rPr sz="1150" b="0" i="0">
                <a:solidFill>
                  <a:srgbClr val="6D6E71"/>
                </a:solidFill>
                <a:latin typeface="Arial"/>
              </a:rPr>
              <a:t>Responsable de crear los EWP</a:t>
            </a:r>
          </a:p>
        </p:txBody>
      </p:sp>
      <p:cxnSp>
        <p:nvCxnSpPr>
          <p:cNvPr id="11" name="Connector 10"/>
          <p:cNvCxnSpPr/>
          <p:nvPr/>
        </p:nvCxnSpPr>
        <p:spPr>
          <a:xfrm>
            <a:off x="2552661" y="3040380"/>
            <a:ext cx="1539164" cy="0"/>
          </a:xfrm>
          <a:prstGeom prst="line">
            <a:avLst/>
          </a:prstGeom>
          <a:ln w="22225">
            <a:solidFill>
              <a:srgbClr val="6D6E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4183265" y="2514600"/>
            <a:ext cx="1051560" cy="1051560"/>
          </a:xfrm>
          <a:prstGeom prst="ellipse">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ruler_w.png"/>
          <p:cNvPicPr>
            <a:picLocks noChangeAspect="1"/>
          </p:cNvPicPr>
          <p:nvPr/>
        </p:nvPicPr>
        <p:blipFill>
          <a:blip r:embed="rId3"/>
          <a:stretch>
            <a:fillRect/>
          </a:stretch>
        </p:blipFill>
        <p:spPr>
          <a:xfrm>
            <a:off x="4435640" y="2766974"/>
            <a:ext cx="546811" cy="546811"/>
          </a:xfrm>
          <a:prstGeom prst="rect">
            <a:avLst/>
          </a:prstGeom>
        </p:spPr>
      </p:pic>
      <p:sp>
        <p:nvSpPr>
          <p:cNvPr id="14" name="TextBox 13"/>
          <p:cNvSpPr txBox="1"/>
          <p:nvPr/>
        </p:nvSpPr>
        <p:spPr>
          <a:xfrm>
            <a:off x="3413683" y="3749039"/>
            <a:ext cx="2590723" cy="566928"/>
          </a:xfrm>
          <a:prstGeom prst="rect">
            <a:avLst/>
          </a:prstGeom>
          <a:noFill/>
        </p:spPr>
        <p:txBody>
          <a:bodyPr wrap="square" lIns="0" rIns="0" tIns="0" bIns="0" anchor="t">
            <a:spAutoFit/>
          </a:bodyPr>
          <a:lstStyle/>
          <a:p>
            <a:pPr algn="ctr">
              <a:lnSpc>
                <a:spcPct val="95000"/>
              </a:lnSpc>
            </a:pPr>
            <a:r>
              <a:rPr sz="1400" b="1" i="0">
                <a:solidFill>
                  <a:srgbClr val="1A1A1A"/>
                </a:solidFill>
                <a:latin typeface="Arial"/>
              </a:rPr>
              <a:t>Equipo de Ingeniería</a:t>
            </a:r>
          </a:p>
        </p:txBody>
      </p:sp>
      <p:sp>
        <p:nvSpPr>
          <p:cNvPr id="15" name="TextBox 14"/>
          <p:cNvSpPr txBox="1"/>
          <p:nvPr/>
        </p:nvSpPr>
        <p:spPr>
          <a:xfrm>
            <a:off x="3431971" y="4343400"/>
            <a:ext cx="2554147" cy="1143000"/>
          </a:xfrm>
          <a:prstGeom prst="rect">
            <a:avLst/>
          </a:prstGeom>
          <a:noFill/>
        </p:spPr>
        <p:txBody>
          <a:bodyPr wrap="square" lIns="0" rIns="0" tIns="0" bIns="0" anchor="t">
            <a:spAutoFit/>
          </a:bodyPr>
          <a:lstStyle/>
          <a:p>
            <a:pPr algn="ctr">
              <a:lnSpc>
                <a:spcPct val="105000"/>
              </a:lnSpc>
            </a:pPr>
            <a:r>
              <a:rPr sz="1150" b="0" i="0">
                <a:solidFill>
                  <a:srgbClr val="6D6E71"/>
                </a:solidFill>
                <a:latin typeface="Arial"/>
              </a:rPr>
              <a:t>Diseña y arma cada paquete</a:t>
            </a:r>
          </a:p>
        </p:txBody>
      </p:sp>
      <p:cxnSp>
        <p:nvCxnSpPr>
          <p:cNvPr id="16" name="Connector 15"/>
          <p:cNvCxnSpPr/>
          <p:nvPr/>
        </p:nvCxnSpPr>
        <p:spPr>
          <a:xfrm>
            <a:off x="5326265" y="3040380"/>
            <a:ext cx="1539164" cy="0"/>
          </a:xfrm>
          <a:prstGeom prst="line">
            <a:avLst/>
          </a:prstGeom>
          <a:ln w="22225">
            <a:solidFill>
              <a:srgbClr val="6D6E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6956869" y="2514600"/>
            <a:ext cx="1051560" cy="1051560"/>
          </a:xfrm>
          <a:prstGeom prst="ellipse">
            <a:avLst/>
          </a:prstGeom>
          <a:solidFill>
            <a:srgbClr val="CC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eye_w.png"/>
          <p:cNvPicPr>
            <a:picLocks noChangeAspect="1"/>
          </p:cNvPicPr>
          <p:nvPr/>
        </p:nvPicPr>
        <p:blipFill>
          <a:blip r:embed="rId4"/>
          <a:stretch>
            <a:fillRect/>
          </a:stretch>
        </p:blipFill>
        <p:spPr>
          <a:xfrm>
            <a:off x="7209243" y="2766974"/>
            <a:ext cx="546811" cy="546811"/>
          </a:xfrm>
          <a:prstGeom prst="rect">
            <a:avLst/>
          </a:prstGeom>
        </p:spPr>
      </p:pic>
      <p:sp>
        <p:nvSpPr>
          <p:cNvPr id="19" name="TextBox 18"/>
          <p:cNvSpPr txBox="1"/>
          <p:nvPr/>
        </p:nvSpPr>
        <p:spPr>
          <a:xfrm>
            <a:off x="6187287" y="3749039"/>
            <a:ext cx="2590723" cy="566928"/>
          </a:xfrm>
          <a:prstGeom prst="rect">
            <a:avLst/>
          </a:prstGeom>
          <a:noFill/>
        </p:spPr>
        <p:txBody>
          <a:bodyPr wrap="square" lIns="0" rIns="0" tIns="0" bIns="0" anchor="t">
            <a:spAutoFit/>
          </a:bodyPr>
          <a:lstStyle/>
          <a:p>
            <a:pPr algn="ctr">
              <a:lnSpc>
                <a:spcPct val="95000"/>
              </a:lnSpc>
            </a:pPr>
            <a:r>
              <a:rPr sz="1400" b="1" i="0">
                <a:solidFill>
                  <a:srgbClr val="1A1A1A"/>
                </a:solidFill>
                <a:latin typeface="Arial"/>
              </a:rPr>
              <a:t>Propietario y contratista</a:t>
            </a:r>
          </a:p>
        </p:txBody>
      </p:sp>
      <p:sp>
        <p:nvSpPr>
          <p:cNvPr id="20" name="TextBox 19"/>
          <p:cNvSpPr txBox="1"/>
          <p:nvPr/>
        </p:nvSpPr>
        <p:spPr>
          <a:xfrm>
            <a:off x="6205575" y="4343400"/>
            <a:ext cx="2554147" cy="1143000"/>
          </a:xfrm>
          <a:prstGeom prst="rect">
            <a:avLst/>
          </a:prstGeom>
          <a:noFill/>
        </p:spPr>
        <p:txBody>
          <a:bodyPr wrap="square" lIns="0" rIns="0" tIns="0" bIns="0" anchor="t">
            <a:spAutoFit/>
          </a:bodyPr>
          <a:lstStyle/>
          <a:p>
            <a:pPr algn="ctr">
              <a:lnSpc>
                <a:spcPct val="105000"/>
              </a:lnSpc>
            </a:pPr>
            <a:r>
              <a:rPr sz="1150" b="0" i="0">
                <a:solidFill>
                  <a:srgbClr val="6D6E71"/>
                </a:solidFill>
                <a:latin typeface="Arial"/>
              </a:rPr>
              <a:t>Revisan antes de liberar</a:t>
            </a:r>
          </a:p>
        </p:txBody>
      </p:sp>
      <p:cxnSp>
        <p:nvCxnSpPr>
          <p:cNvPr id="21" name="Connector 20"/>
          <p:cNvCxnSpPr/>
          <p:nvPr/>
        </p:nvCxnSpPr>
        <p:spPr>
          <a:xfrm>
            <a:off x="8099869" y="3040380"/>
            <a:ext cx="1539164" cy="0"/>
          </a:xfrm>
          <a:prstGeom prst="line">
            <a:avLst/>
          </a:prstGeom>
          <a:ln w="22225">
            <a:solidFill>
              <a:srgbClr val="6D6E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9730473" y="2514600"/>
            <a:ext cx="1051560" cy="105156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flag_w.png"/>
          <p:cNvPicPr>
            <a:picLocks noChangeAspect="1"/>
          </p:cNvPicPr>
          <p:nvPr/>
        </p:nvPicPr>
        <p:blipFill>
          <a:blip r:embed="rId5"/>
          <a:stretch>
            <a:fillRect/>
          </a:stretch>
        </p:blipFill>
        <p:spPr>
          <a:xfrm>
            <a:off x="9982847" y="2766974"/>
            <a:ext cx="546811" cy="546811"/>
          </a:xfrm>
          <a:prstGeom prst="rect">
            <a:avLst/>
          </a:prstGeom>
        </p:spPr>
      </p:pic>
      <p:sp>
        <p:nvSpPr>
          <p:cNvPr id="24" name="TextBox 23"/>
          <p:cNvSpPr txBox="1"/>
          <p:nvPr/>
        </p:nvSpPr>
        <p:spPr>
          <a:xfrm>
            <a:off x="8960891" y="3749039"/>
            <a:ext cx="2590723" cy="566928"/>
          </a:xfrm>
          <a:prstGeom prst="rect">
            <a:avLst/>
          </a:prstGeom>
          <a:noFill/>
        </p:spPr>
        <p:txBody>
          <a:bodyPr wrap="square" lIns="0" rIns="0" tIns="0" bIns="0" anchor="t">
            <a:spAutoFit/>
          </a:bodyPr>
          <a:lstStyle/>
          <a:p>
            <a:pPr algn="ctr">
              <a:lnSpc>
                <a:spcPct val="95000"/>
              </a:lnSpc>
            </a:pPr>
            <a:r>
              <a:rPr sz="1400" b="1" i="0">
                <a:solidFill>
                  <a:srgbClr val="1A1A1A"/>
                </a:solidFill>
                <a:latin typeface="Arial"/>
              </a:rPr>
              <a:t>Liberación del EWP</a:t>
            </a:r>
          </a:p>
        </p:txBody>
      </p:sp>
      <p:sp>
        <p:nvSpPr>
          <p:cNvPr id="25" name="TextBox 24"/>
          <p:cNvSpPr txBox="1"/>
          <p:nvPr/>
        </p:nvSpPr>
        <p:spPr>
          <a:xfrm>
            <a:off x="8979179" y="4343400"/>
            <a:ext cx="2554147" cy="1143000"/>
          </a:xfrm>
          <a:prstGeom prst="rect">
            <a:avLst/>
          </a:prstGeom>
          <a:noFill/>
        </p:spPr>
        <p:txBody>
          <a:bodyPr wrap="square" lIns="0" rIns="0" tIns="0" bIns="0" anchor="t">
            <a:spAutoFit/>
          </a:bodyPr>
          <a:lstStyle/>
          <a:p>
            <a:pPr algn="ctr">
              <a:lnSpc>
                <a:spcPct val="105000"/>
              </a:lnSpc>
            </a:pPr>
            <a:r>
              <a:rPr sz="1150" b="0" i="0">
                <a:solidFill>
                  <a:srgbClr val="6D6E71"/>
                </a:solidFill>
                <a:latin typeface="Arial"/>
              </a:rPr>
              <a:t>Hito del cronograma que inicia el CWP</a:t>
            </a:r>
          </a:p>
        </p:txBody>
      </p:sp>
      <p:sp>
        <p:nvSpPr>
          <p:cNvPr id="26" name="Rectangle 25"/>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flag_o.png"/>
          <p:cNvPicPr>
            <a:picLocks noChangeAspect="1"/>
          </p:cNvPicPr>
          <p:nvPr/>
        </p:nvPicPr>
        <p:blipFill>
          <a:blip r:embed="rId6"/>
          <a:stretch>
            <a:fillRect/>
          </a:stretch>
        </p:blipFill>
        <p:spPr>
          <a:xfrm>
            <a:off x="822959" y="5660136"/>
            <a:ext cx="365760" cy="365760"/>
          </a:xfrm>
          <a:prstGeom prst="rect">
            <a:avLst/>
          </a:prstGeom>
        </p:spPr>
      </p:pic>
      <p:sp>
        <p:nvSpPr>
          <p:cNvPr id="28" name="TextBox 27"/>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En ejecución, los EWP los produce el contratista de Ingeniería, sea cual sea el tipo de contrato.</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5 · COMPRAS</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Compras se secuencia por CWP, no por fecha de requisición</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M5 · FASE 2: INGENIERÍA DE DETALLE Y COMPRAS</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054</a:t>
            </a:r>
          </a:p>
        </p:txBody>
      </p:sp>
      <p:sp>
        <p:nvSpPr>
          <p:cNvPr id="7" name="Rectangle 6"/>
          <p:cNvSpPr/>
          <p:nvPr/>
        </p:nvSpPr>
        <p:spPr>
          <a:xfrm>
            <a:off x="548640" y="1828800"/>
            <a:ext cx="5396331" cy="434340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48640" y="1828800"/>
            <a:ext cx="5396331" cy="502920"/>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1828800"/>
            <a:ext cx="4847691" cy="502920"/>
          </a:xfrm>
          <a:prstGeom prst="rect">
            <a:avLst/>
          </a:prstGeom>
          <a:noFill/>
        </p:spPr>
        <p:txBody>
          <a:bodyPr wrap="square" lIns="0" rIns="0" tIns="0" bIns="0" anchor="ctr">
            <a:spAutoFit/>
          </a:bodyPr>
          <a:lstStyle/>
          <a:p>
            <a:pPr algn="l"/>
            <a:r>
              <a:rPr sz="1200" b="1" i="0" spc="200">
                <a:solidFill>
                  <a:srgbClr val="FFFFFF"/>
                </a:solidFill>
                <a:latin typeface="Arial"/>
              </a:rPr>
              <a:t>COMPRAS TRADICIONAL</a:t>
            </a:r>
          </a:p>
        </p:txBody>
      </p:sp>
      <p:sp>
        <p:nvSpPr>
          <p:cNvPr id="10" name="Oval 9"/>
          <p:cNvSpPr/>
          <p:nvPr/>
        </p:nvSpPr>
        <p:spPr>
          <a:xfrm>
            <a:off x="932688" y="2670048"/>
            <a:ext cx="155448" cy="155448"/>
          </a:xfrm>
          <a:prstGeom prst="ellipse">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17319" y="2542032"/>
            <a:ext cx="4253331" cy="274320"/>
          </a:xfrm>
          <a:prstGeom prst="rect">
            <a:avLst/>
          </a:prstGeom>
          <a:noFill/>
        </p:spPr>
        <p:txBody>
          <a:bodyPr wrap="square" lIns="0" rIns="0" tIns="0" bIns="0" anchor="t">
            <a:spAutoFit/>
          </a:bodyPr>
          <a:lstStyle/>
          <a:p>
            <a:pPr algn="l"/>
            <a:r>
              <a:rPr sz="1400" b="1" i="0">
                <a:solidFill>
                  <a:srgbClr val="1A1A1A"/>
                </a:solidFill>
                <a:latin typeface="Arial"/>
              </a:rPr>
              <a:t>Pedidos por conveniencia</a:t>
            </a:r>
          </a:p>
        </p:txBody>
      </p:sp>
      <p:sp>
        <p:nvSpPr>
          <p:cNvPr id="12" name="TextBox 11"/>
          <p:cNvSpPr txBox="1"/>
          <p:nvPr/>
        </p:nvSpPr>
        <p:spPr>
          <a:xfrm>
            <a:off x="1417319" y="2834639"/>
            <a:ext cx="4253331" cy="548640"/>
          </a:xfrm>
          <a:prstGeom prst="rect">
            <a:avLst/>
          </a:prstGeom>
          <a:noFill/>
        </p:spPr>
        <p:txBody>
          <a:bodyPr wrap="square" lIns="0" rIns="0" tIns="0" bIns="0" anchor="t">
            <a:spAutoFit/>
          </a:bodyPr>
          <a:lstStyle/>
          <a:p>
            <a:pPr algn="l"/>
            <a:r>
              <a:rPr sz="1150" b="0" i="0">
                <a:solidFill>
                  <a:srgbClr val="6D6E71"/>
                </a:solidFill>
                <a:latin typeface="Arial"/>
              </a:rPr>
              <a:t>Se agrupan para obtener mejor precio</a:t>
            </a:r>
          </a:p>
        </p:txBody>
      </p:sp>
      <p:sp>
        <p:nvSpPr>
          <p:cNvPr id="13" name="Oval 12"/>
          <p:cNvSpPr/>
          <p:nvPr/>
        </p:nvSpPr>
        <p:spPr>
          <a:xfrm>
            <a:off x="932688" y="3538728"/>
            <a:ext cx="155448" cy="155448"/>
          </a:xfrm>
          <a:prstGeom prst="ellipse">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417319" y="3410712"/>
            <a:ext cx="4253331" cy="274320"/>
          </a:xfrm>
          <a:prstGeom prst="rect">
            <a:avLst/>
          </a:prstGeom>
          <a:noFill/>
        </p:spPr>
        <p:txBody>
          <a:bodyPr wrap="square" lIns="0" rIns="0" tIns="0" bIns="0" anchor="t">
            <a:spAutoFit/>
          </a:bodyPr>
          <a:lstStyle/>
          <a:p>
            <a:pPr algn="l"/>
            <a:r>
              <a:rPr sz="1400" b="1" i="0">
                <a:solidFill>
                  <a:srgbClr val="1A1A1A"/>
                </a:solidFill>
                <a:latin typeface="Arial"/>
              </a:rPr>
              <a:t>Llegada según el proveedor</a:t>
            </a:r>
          </a:p>
        </p:txBody>
      </p:sp>
      <p:sp>
        <p:nvSpPr>
          <p:cNvPr id="15" name="TextBox 14"/>
          <p:cNvSpPr txBox="1"/>
          <p:nvPr/>
        </p:nvSpPr>
        <p:spPr>
          <a:xfrm>
            <a:off x="1417319" y="3703320"/>
            <a:ext cx="4253331" cy="548640"/>
          </a:xfrm>
          <a:prstGeom prst="rect">
            <a:avLst/>
          </a:prstGeom>
          <a:noFill/>
        </p:spPr>
        <p:txBody>
          <a:bodyPr wrap="square" lIns="0" rIns="0" tIns="0" bIns="0" anchor="t">
            <a:spAutoFit/>
          </a:bodyPr>
          <a:lstStyle/>
          <a:p>
            <a:pPr algn="l"/>
            <a:r>
              <a:rPr sz="1150" b="0" i="0">
                <a:solidFill>
                  <a:srgbClr val="6D6E71"/>
                </a:solidFill>
                <a:latin typeface="Arial"/>
              </a:rPr>
              <a:t>Sin vínculo con el frente que la necesita</a:t>
            </a:r>
          </a:p>
        </p:txBody>
      </p:sp>
      <p:sp>
        <p:nvSpPr>
          <p:cNvPr id="16" name="Oval 15"/>
          <p:cNvSpPr/>
          <p:nvPr/>
        </p:nvSpPr>
        <p:spPr>
          <a:xfrm>
            <a:off x="932688" y="4407408"/>
            <a:ext cx="155448" cy="155448"/>
          </a:xfrm>
          <a:prstGeom prst="ellipse">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417319" y="4279392"/>
            <a:ext cx="4253331" cy="274320"/>
          </a:xfrm>
          <a:prstGeom prst="rect">
            <a:avLst/>
          </a:prstGeom>
          <a:noFill/>
        </p:spPr>
        <p:txBody>
          <a:bodyPr wrap="square" lIns="0" rIns="0" tIns="0" bIns="0" anchor="t">
            <a:spAutoFit/>
          </a:bodyPr>
          <a:lstStyle/>
          <a:p>
            <a:pPr algn="l"/>
            <a:r>
              <a:rPr sz="1400" b="1" i="0">
                <a:solidFill>
                  <a:srgbClr val="1A1A1A"/>
                </a:solidFill>
                <a:latin typeface="Arial"/>
              </a:rPr>
              <a:t>Granel sin trazabilidad</a:t>
            </a:r>
          </a:p>
        </p:txBody>
      </p:sp>
      <p:sp>
        <p:nvSpPr>
          <p:cNvPr id="18" name="TextBox 17"/>
          <p:cNvSpPr txBox="1"/>
          <p:nvPr/>
        </p:nvSpPr>
        <p:spPr>
          <a:xfrm>
            <a:off x="1417319" y="4572000"/>
            <a:ext cx="4253331" cy="548640"/>
          </a:xfrm>
          <a:prstGeom prst="rect">
            <a:avLst/>
          </a:prstGeom>
          <a:noFill/>
        </p:spPr>
        <p:txBody>
          <a:bodyPr wrap="square" lIns="0" rIns="0" tIns="0" bIns="0" anchor="t">
            <a:spAutoFit/>
          </a:bodyPr>
          <a:lstStyle/>
          <a:p>
            <a:pPr algn="l"/>
            <a:r>
              <a:rPr sz="1150" b="0" i="0">
                <a:solidFill>
                  <a:srgbClr val="6D6E71"/>
                </a:solidFill>
                <a:latin typeface="Arial"/>
              </a:rPr>
              <a:t>No se sabe qué EWP cubre cada pedido</a:t>
            </a:r>
          </a:p>
        </p:txBody>
      </p:sp>
      <p:sp>
        <p:nvSpPr>
          <p:cNvPr id="19" name="Rectangle 18"/>
          <p:cNvSpPr/>
          <p:nvPr/>
        </p:nvSpPr>
        <p:spPr>
          <a:xfrm>
            <a:off x="822959" y="5303520"/>
            <a:ext cx="4847691" cy="640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xmark_g.png"/>
          <p:cNvPicPr>
            <a:picLocks noChangeAspect="1"/>
          </p:cNvPicPr>
          <p:nvPr/>
        </p:nvPicPr>
        <p:blipFill>
          <a:blip r:embed="rId2"/>
          <a:stretch>
            <a:fillRect/>
          </a:stretch>
        </p:blipFill>
        <p:spPr>
          <a:xfrm>
            <a:off x="1005840" y="5440680"/>
            <a:ext cx="365760" cy="365760"/>
          </a:xfrm>
          <a:prstGeom prst="rect">
            <a:avLst/>
          </a:prstGeom>
        </p:spPr>
      </p:pic>
      <p:sp>
        <p:nvSpPr>
          <p:cNvPr id="21" name="TextBox 20"/>
          <p:cNvSpPr txBox="1"/>
          <p:nvPr/>
        </p:nvSpPr>
        <p:spPr>
          <a:xfrm>
            <a:off x="1554480" y="5303520"/>
            <a:ext cx="4024731" cy="640080"/>
          </a:xfrm>
          <a:prstGeom prst="rect">
            <a:avLst/>
          </a:prstGeom>
          <a:noFill/>
        </p:spPr>
        <p:txBody>
          <a:bodyPr wrap="square" lIns="0" rIns="0" tIns="0" bIns="0" anchor="ctr">
            <a:spAutoFit/>
          </a:bodyPr>
          <a:lstStyle/>
          <a:p>
            <a:pPr algn="l"/>
            <a:r>
              <a:rPr sz="1350" b="1" i="0">
                <a:solidFill>
                  <a:srgbClr val="1A1A1A"/>
                </a:solidFill>
                <a:latin typeface="Arial"/>
              </a:rPr>
              <a:t>Material en obra, pero no el que se necesita</a:t>
            </a:r>
          </a:p>
        </p:txBody>
      </p:sp>
      <p:sp>
        <p:nvSpPr>
          <p:cNvPr id="22" name="Rectangle 21"/>
          <p:cNvSpPr/>
          <p:nvPr/>
        </p:nvSpPr>
        <p:spPr>
          <a:xfrm>
            <a:off x="6246723" y="1828800"/>
            <a:ext cx="5396331" cy="434340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246723" y="1828800"/>
            <a:ext cx="5396331" cy="50292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521043" y="1828800"/>
            <a:ext cx="4847691" cy="502920"/>
          </a:xfrm>
          <a:prstGeom prst="rect">
            <a:avLst/>
          </a:prstGeom>
          <a:noFill/>
        </p:spPr>
        <p:txBody>
          <a:bodyPr wrap="square" lIns="0" rIns="0" tIns="0" bIns="0" anchor="ctr">
            <a:spAutoFit/>
          </a:bodyPr>
          <a:lstStyle/>
          <a:p>
            <a:pPr algn="l"/>
            <a:r>
              <a:rPr sz="1200" b="1" i="0" spc="200">
                <a:solidFill>
                  <a:srgbClr val="FFFFFF"/>
                </a:solidFill>
                <a:latin typeface="Arial"/>
              </a:rPr>
              <a:t>COMPRAS CON AWP</a:t>
            </a:r>
          </a:p>
        </p:txBody>
      </p:sp>
      <p:sp>
        <p:nvSpPr>
          <p:cNvPr id="25" name="Oval 24"/>
          <p:cNvSpPr/>
          <p:nvPr/>
        </p:nvSpPr>
        <p:spPr>
          <a:xfrm>
            <a:off x="6630771" y="2670048"/>
            <a:ext cx="155448" cy="15544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115403" y="2542032"/>
            <a:ext cx="4253331" cy="274320"/>
          </a:xfrm>
          <a:prstGeom prst="rect">
            <a:avLst/>
          </a:prstGeom>
          <a:noFill/>
        </p:spPr>
        <p:txBody>
          <a:bodyPr wrap="square" lIns="0" rIns="0" tIns="0" bIns="0" anchor="t">
            <a:spAutoFit/>
          </a:bodyPr>
          <a:lstStyle/>
          <a:p>
            <a:pPr algn="l"/>
            <a:r>
              <a:rPr sz="1400" b="1" i="0">
                <a:solidFill>
                  <a:srgbClr val="1A1A1A"/>
                </a:solidFill>
                <a:latin typeface="Arial"/>
              </a:rPr>
              <a:t>Matriz de responsabilidad (MRM)</a:t>
            </a:r>
          </a:p>
        </p:txBody>
      </p:sp>
      <p:sp>
        <p:nvSpPr>
          <p:cNvPr id="27" name="TextBox 26"/>
          <p:cNvSpPr txBox="1"/>
          <p:nvPr/>
        </p:nvSpPr>
        <p:spPr>
          <a:xfrm>
            <a:off x="7115403" y="2834639"/>
            <a:ext cx="4253331" cy="548640"/>
          </a:xfrm>
          <a:prstGeom prst="rect">
            <a:avLst/>
          </a:prstGeom>
          <a:noFill/>
        </p:spPr>
        <p:txBody>
          <a:bodyPr wrap="square" lIns="0" rIns="0" tIns="0" bIns="0" anchor="t">
            <a:spAutoFit/>
          </a:bodyPr>
          <a:lstStyle/>
          <a:p>
            <a:pPr algn="l"/>
            <a:r>
              <a:rPr sz="1150" b="0" i="0">
                <a:solidFill>
                  <a:srgbClr val="6D6E71"/>
                </a:solidFill>
                <a:latin typeface="Arial"/>
              </a:rPr>
              <a:t>Quién suministra qué, desde el inicio</a:t>
            </a:r>
          </a:p>
        </p:txBody>
      </p:sp>
      <p:sp>
        <p:nvSpPr>
          <p:cNvPr id="28" name="Oval 27"/>
          <p:cNvSpPr/>
          <p:nvPr/>
        </p:nvSpPr>
        <p:spPr>
          <a:xfrm>
            <a:off x="6630771" y="3538728"/>
            <a:ext cx="155448" cy="15544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115403" y="3410712"/>
            <a:ext cx="4253331" cy="274320"/>
          </a:xfrm>
          <a:prstGeom prst="rect">
            <a:avLst/>
          </a:prstGeom>
          <a:noFill/>
        </p:spPr>
        <p:txBody>
          <a:bodyPr wrap="square" lIns="0" rIns="0" tIns="0" bIns="0" anchor="t">
            <a:spAutoFit/>
          </a:bodyPr>
          <a:lstStyle/>
          <a:p>
            <a:pPr algn="l"/>
            <a:r>
              <a:rPr sz="1400" b="1" i="0">
                <a:solidFill>
                  <a:srgbClr val="1A1A1A"/>
                </a:solidFill>
                <a:latin typeface="Arial"/>
              </a:rPr>
              <a:t>Fecha requerida en obra por EWP</a:t>
            </a:r>
          </a:p>
        </p:txBody>
      </p:sp>
      <p:sp>
        <p:nvSpPr>
          <p:cNvPr id="30" name="TextBox 29"/>
          <p:cNvSpPr txBox="1"/>
          <p:nvPr/>
        </p:nvSpPr>
        <p:spPr>
          <a:xfrm>
            <a:off x="7115403" y="3703320"/>
            <a:ext cx="4253331" cy="548640"/>
          </a:xfrm>
          <a:prstGeom prst="rect">
            <a:avLst/>
          </a:prstGeom>
          <a:noFill/>
        </p:spPr>
        <p:txBody>
          <a:bodyPr wrap="square" lIns="0" rIns="0" tIns="0" bIns="0" anchor="t">
            <a:spAutoFit/>
          </a:bodyPr>
          <a:lstStyle/>
          <a:p>
            <a:pPr algn="l"/>
            <a:r>
              <a:rPr sz="1150" b="0" i="0">
                <a:solidFill>
                  <a:srgbClr val="6D6E71"/>
                </a:solidFill>
                <a:latin typeface="Arial"/>
              </a:rPr>
              <a:t>La primera entrega llega cuando la pide el CWP</a:t>
            </a:r>
          </a:p>
        </p:txBody>
      </p:sp>
      <p:sp>
        <p:nvSpPr>
          <p:cNvPr id="31" name="Oval 30"/>
          <p:cNvSpPr/>
          <p:nvPr/>
        </p:nvSpPr>
        <p:spPr>
          <a:xfrm>
            <a:off x="6630771" y="4407408"/>
            <a:ext cx="155448" cy="15544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115403" y="4279392"/>
            <a:ext cx="4253331" cy="274320"/>
          </a:xfrm>
          <a:prstGeom prst="rect">
            <a:avLst/>
          </a:prstGeom>
          <a:noFill/>
        </p:spPr>
        <p:txBody>
          <a:bodyPr wrap="square" lIns="0" rIns="0" tIns="0" bIns="0" anchor="t">
            <a:spAutoFit/>
          </a:bodyPr>
          <a:lstStyle/>
          <a:p>
            <a:pPr algn="l"/>
            <a:r>
              <a:rPr sz="1400" b="1" i="0">
                <a:solidFill>
                  <a:srgbClr val="1A1A1A"/>
                </a:solidFill>
                <a:latin typeface="Arial"/>
              </a:rPr>
              <a:t>Trazabilidad completa</a:t>
            </a:r>
          </a:p>
        </p:txBody>
      </p:sp>
      <p:sp>
        <p:nvSpPr>
          <p:cNvPr id="33" name="TextBox 32"/>
          <p:cNvSpPr txBox="1"/>
          <p:nvPr/>
        </p:nvSpPr>
        <p:spPr>
          <a:xfrm>
            <a:off x="7115403" y="4572000"/>
            <a:ext cx="4253331" cy="548640"/>
          </a:xfrm>
          <a:prstGeom prst="rect">
            <a:avLst/>
          </a:prstGeom>
          <a:noFill/>
        </p:spPr>
        <p:txBody>
          <a:bodyPr wrap="square" lIns="0" rIns="0" tIns="0" bIns="0" anchor="t">
            <a:spAutoFit/>
          </a:bodyPr>
          <a:lstStyle/>
          <a:p>
            <a:pPr algn="l"/>
            <a:r>
              <a:rPr sz="1150" b="0" i="0">
                <a:solidFill>
                  <a:srgbClr val="6D6E71"/>
                </a:solidFill>
                <a:latin typeface="Arial"/>
              </a:rPr>
              <a:t>Recepción → pedido → requisición → MTO → EWP</a:t>
            </a:r>
          </a:p>
        </p:txBody>
      </p:sp>
      <p:sp>
        <p:nvSpPr>
          <p:cNvPr id="34" name="Rectangle 33"/>
          <p:cNvSpPr/>
          <p:nvPr/>
        </p:nvSpPr>
        <p:spPr>
          <a:xfrm>
            <a:off x="6521043" y="5303520"/>
            <a:ext cx="4847691" cy="640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check_o.png"/>
          <p:cNvPicPr>
            <a:picLocks noChangeAspect="1"/>
          </p:cNvPicPr>
          <p:nvPr/>
        </p:nvPicPr>
        <p:blipFill>
          <a:blip r:embed="rId3"/>
          <a:stretch>
            <a:fillRect/>
          </a:stretch>
        </p:blipFill>
        <p:spPr>
          <a:xfrm>
            <a:off x="6703923" y="5440680"/>
            <a:ext cx="365760" cy="365760"/>
          </a:xfrm>
          <a:prstGeom prst="rect">
            <a:avLst/>
          </a:prstGeom>
        </p:spPr>
      </p:pic>
      <p:sp>
        <p:nvSpPr>
          <p:cNvPr id="36" name="TextBox 35"/>
          <p:cNvSpPr txBox="1"/>
          <p:nvPr/>
        </p:nvSpPr>
        <p:spPr>
          <a:xfrm>
            <a:off x="7252563" y="5303520"/>
            <a:ext cx="4024731" cy="640080"/>
          </a:xfrm>
          <a:prstGeom prst="rect">
            <a:avLst/>
          </a:prstGeom>
          <a:noFill/>
        </p:spPr>
        <p:txBody>
          <a:bodyPr wrap="square" lIns="0" rIns="0" tIns="0" bIns="0" anchor="ctr">
            <a:spAutoFit/>
          </a:bodyPr>
          <a:lstStyle/>
          <a:p>
            <a:pPr algn="l"/>
            <a:r>
              <a:rPr sz="1350" b="1" i="0">
                <a:solidFill>
                  <a:srgbClr val="1A1A1A"/>
                </a:solidFill>
                <a:latin typeface="Arial"/>
              </a:rPr>
              <a:t>El material llega en el orden del POC</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5 · PROCUREMENT WORK NUMBER</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El Procurement Work Number conecta cada compra con su CWP</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M5 · FASE 2: INGENIERÍA DE DETALLE Y COMPRAS</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055</a:t>
            </a:r>
          </a:p>
        </p:txBody>
      </p:sp>
      <p:sp>
        <p:nvSpPr>
          <p:cNvPr id="7" name="TextBox 6"/>
          <p:cNvSpPr txBox="1"/>
          <p:nvPr/>
        </p:nvSpPr>
        <p:spPr>
          <a:xfrm>
            <a:off x="548640" y="1828800"/>
            <a:ext cx="11094415" cy="320040"/>
          </a:xfrm>
          <a:prstGeom prst="rect">
            <a:avLst/>
          </a:prstGeom>
          <a:noFill/>
        </p:spPr>
        <p:txBody>
          <a:bodyPr wrap="square" lIns="0" rIns="0" tIns="0" bIns="0" anchor="t">
            <a:spAutoFit/>
          </a:bodyPr>
          <a:lstStyle/>
          <a:p>
            <a:pPr algn="l"/>
            <a:r>
              <a:rPr sz="1300" b="0" i="0">
                <a:solidFill>
                  <a:srgbClr val="6D6E71"/>
                </a:solidFill>
                <a:latin typeface="Arial"/>
              </a:rPr>
              <a:t>Cada eslabón lleva el código del EWP/CWP: ese código es el Procurement Work Number.</a:t>
            </a:r>
          </a:p>
        </p:txBody>
      </p:sp>
      <p:sp>
        <p:nvSpPr>
          <p:cNvPr id="8" name="Oval 7"/>
          <p:cNvSpPr/>
          <p:nvPr/>
        </p:nvSpPr>
        <p:spPr>
          <a:xfrm>
            <a:off x="1132301" y="2514600"/>
            <a:ext cx="1051560" cy="105156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ruler_w.png"/>
          <p:cNvPicPr>
            <a:picLocks noChangeAspect="1"/>
          </p:cNvPicPr>
          <p:nvPr/>
        </p:nvPicPr>
        <p:blipFill>
          <a:blip r:embed="rId2"/>
          <a:stretch>
            <a:fillRect/>
          </a:stretch>
        </p:blipFill>
        <p:spPr>
          <a:xfrm>
            <a:off x="1384675" y="2766974"/>
            <a:ext cx="546811" cy="546811"/>
          </a:xfrm>
          <a:prstGeom prst="rect">
            <a:avLst/>
          </a:prstGeom>
        </p:spPr>
      </p:pic>
      <p:sp>
        <p:nvSpPr>
          <p:cNvPr id="10" name="TextBox 9"/>
          <p:cNvSpPr txBox="1"/>
          <p:nvPr/>
        </p:nvSpPr>
        <p:spPr>
          <a:xfrm>
            <a:off x="640079" y="3749039"/>
            <a:ext cx="2036003" cy="566928"/>
          </a:xfrm>
          <a:prstGeom prst="rect">
            <a:avLst/>
          </a:prstGeom>
          <a:noFill/>
        </p:spPr>
        <p:txBody>
          <a:bodyPr wrap="square" lIns="0" rIns="0" tIns="0" bIns="0" anchor="t">
            <a:spAutoFit/>
          </a:bodyPr>
          <a:lstStyle/>
          <a:p>
            <a:pPr algn="ctr">
              <a:lnSpc>
                <a:spcPct val="95000"/>
              </a:lnSpc>
            </a:pPr>
            <a:r>
              <a:rPr sz="1400" b="1" i="0">
                <a:solidFill>
                  <a:srgbClr val="1A1A1A"/>
                </a:solidFill>
                <a:latin typeface="Arial"/>
              </a:rPr>
              <a:t>EWP</a:t>
            </a:r>
          </a:p>
        </p:txBody>
      </p:sp>
      <p:sp>
        <p:nvSpPr>
          <p:cNvPr id="11" name="TextBox 10"/>
          <p:cNvSpPr txBox="1"/>
          <p:nvPr/>
        </p:nvSpPr>
        <p:spPr>
          <a:xfrm>
            <a:off x="658367" y="4343400"/>
            <a:ext cx="1999427" cy="1143000"/>
          </a:xfrm>
          <a:prstGeom prst="rect">
            <a:avLst/>
          </a:prstGeom>
          <a:noFill/>
        </p:spPr>
        <p:txBody>
          <a:bodyPr wrap="square" lIns="0" rIns="0" tIns="0" bIns="0" anchor="t">
            <a:spAutoFit/>
          </a:bodyPr>
          <a:lstStyle/>
          <a:p>
            <a:pPr algn="ctr">
              <a:lnSpc>
                <a:spcPct val="105000"/>
              </a:lnSpc>
            </a:pPr>
            <a:r>
              <a:rPr sz="1150" b="0" i="0">
                <a:solidFill>
                  <a:srgbClr val="6D6E71"/>
                </a:solidFill>
                <a:latin typeface="Arial"/>
              </a:rPr>
              <a:t>Define el alcance y los materiales</a:t>
            </a:r>
          </a:p>
        </p:txBody>
      </p:sp>
      <p:cxnSp>
        <p:nvCxnSpPr>
          <p:cNvPr id="12" name="Connector 11"/>
          <p:cNvCxnSpPr/>
          <p:nvPr/>
        </p:nvCxnSpPr>
        <p:spPr>
          <a:xfrm>
            <a:off x="2275301" y="3040380"/>
            <a:ext cx="984443" cy="0"/>
          </a:xfrm>
          <a:prstGeom prst="line">
            <a:avLst/>
          </a:prstGeom>
          <a:ln w="22225">
            <a:solidFill>
              <a:srgbClr val="6D6E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351184" y="2514600"/>
            <a:ext cx="1051560" cy="105156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listcheck_w.png"/>
          <p:cNvPicPr>
            <a:picLocks noChangeAspect="1"/>
          </p:cNvPicPr>
          <p:nvPr/>
        </p:nvPicPr>
        <p:blipFill>
          <a:blip r:embed="rId3"/>
          <a:stretch>
            <a:fillRect/>
          </a:stretch>
        </p:blipFill>
        <p:spPr>
          <a:xfrm>
            <a:off x="3603558" y="2766974"/>
            <a:ext cx="546811" cy="546811"/>
          </a:xfrm>
          <a:prstGeom prst="rect">
            <a:avLst/>
          </a:prstGeom>
        </p:spPr>
      </p:pic>
      <p:sp>
        <p:nvSpPr>
          <p:cNvPr id="15" name="TextBox 14"/>
          <p:cNvSpPr txBox="1"/>
          <p:nvPr/>
        </p:nvSpPr>
        <p:spPr>
          <a:xfrm>
            <a:off x="2858963" y="3749039"/>
            <a:ext cx="2036003" cy="566928"/>
          </a:xfrm>
          <a:prstGeom prst="rect">
            <a:avLst/>
          </a:prstGeom>
          <a:noFill/>
        </p:spPr>
        <p:txBody>
          <a:bodyPr wrap="square" lIns="0" rIns="0" tIns="0" bIns="0" anchor="t">
            <a:spAutoFit/>
          </a:bodyPr>
          <a:lstStyle/>
          <a:p>
            <a:pPr algn="ctr">
              <a:lnSpc>
                <a:spcPct val="95000"/>
              </a:lnSpc>
            </a:pPr>
            <a:r>
              <a:rPr sz="1400" b="1" i="0">
                <a:solidFill>
                  <a:srgbClr val="1A1A1A"/>
                </a:solidFill>
                <a:latin typeface="Arial"/>
              </a:rPr>
              <a:t>MTO</a:t>
            </a:r>
          </a:p>
        </p:txBody>
      </p:sp>
      <p:sp>
        <p:nvSpPr>
          <p:cNvPr id="16" name="TextBox 15"/>
          <p:cNvSpPr txBox="1"/>
          <p:nvPr/>
        </p:nvSpPr>
        <p:spPr>
          <a:xfrm>
            <a:off x="2877251" y="4343400"/>
            <a:ext cx="1999427" cy="1143000"/>
          </a:xfrm>
          <a:prstGeom prst="rect">
            <a:avLst/>
          </a:prstGeom>
          <a:noFill/>
        </p:spPr>
        <p:txBody>
          <a:bodyPr wrap="square" lIns="0" rIns="0" tIns="0" bIns="0" anchor="t">
            <a:spAutoFit/>
          </a:bodyPr>
          <a:lstStyle/>
          <a:p>
            <a:pPr algn="ctr">
              <a:lnSpc>
                <a:spcPct val="105000"/>
              </a:lnSpc>
            </a:pPr>
            <a:r>
              <a:rPr sz="1150" b="0" i="0">
                <a:solidFill>
                  <a:srgbClr val="6D6E71"/>
                </a:solidFill>
                <a:latin typeface="Arial"/>
              </a:rPr>
              <a:t>Lista cuantificada de materiales</a:t>
            </a:r>
          </a:p>
        </p:txBody>
      </p:sp>
      <p:cxnSp>
        <p:nvCxnSpPr>
          <p:cNvPr id="17" name="Connector 16"/>
          <p:cNvCxnSpPr/>
          <p:nvPr/>
        </p:nvCxnSpPr>
        <p:spPr>
          <a:xfrm>
            <a:off x="4494184" y="3040380"/>
            <a:ext cx="984443" cy="0"/>
          </a:xfrm>
          <a:prstGeom prst="line">
            <a:avLst/>
          </a:prstGeom>
          <a:ln w="22225">
            <a:solidFill>
              <a:srgbClr val="6D6E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5570067" y="2514600"/>
            <a:ext cx="1051560" cy="105156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contract_w.png"/>
          <p:cNvPicPr>
            <a:picLocks noChangeAspect="1"/>
          </p:cNvPicPr>
          <p:nvPr/>
        </p:nvPicPr>
        <p:blipFill>
          <a:blip r:embed="rId4"/>
          <a:stretch>
            <a:fillRect/>
          </a:stretch>
        </p:blipFill>
        <p:spPr>
          <a:xfrm>
            <a:off x="5822442" y="2766974"/>
            <a:ext cx="546811" cy="546811"/>
          </a:xfrm>
          <a:prstGeom prst="rect">
            <a:avLst/>
          </a:prstGeom>
        </p:spPr>
      </p:pic>
      <p:sp>
        <p:nvSpPr>
          <p:cNvPr id="20" name="TextBox 19"/>
          <p:cNvSpPr txBox="1"/>
          <p:nvPr/>
        </p:nvSpPr>
        <p:spPr>
          <a:xfrm>
            <a:off x="5077846" y="3749039"/>
            <a:ext cx="2036003" cy="566928"/>
          </a:xfrm>
          <a:prstGeom prst="rect">
            <a:avLst/>
          </a:prstGeom>
          <a:noFill/>
        </p:spPr>
        <p:txBody>
          <a:bodyPr wrap="square" lIns="0" rIns="0" tIns="0" bIns="0" anchor="t">
            <a:spAutoFit/>
          </a:bodyPr>
          <a:lstStyle/>
          <a:p>
            <a:pPr algn="ctr">
              <a:lnSpc>
                <a:spcPct val="95000"/>
              </a:lnSpc>
            </a:pPr>
            <a:r>
              <a:rPr sz="1400" b="1" i="0">
                <a:solidFill>
                  <a:srgbClr val="1A1A1A"/>
                </a:solidFill>
                <a:latin typeface="Arial"/>
              </a:rPr>
              <a:t>Pedido (PO)</a:t>
            </a:r>
          </a:p>
        </p:txBody>
      </p:sp>
      <p:sp>
        <p:nvSpPr>
          <p:cNvPr id="21" name="TextBox 20"/>
          <p:cNvSpPr txBox="1"/>
          <p:nvPr/>
        </p:nvSpPr>
        <p:spPr>
          <a:xfrm>
            <a:off x="5096134" y="4343400"/>
            <a:ext cx="1999427" cy="1143000"/>
          </a:xfrm>
          <a:prstGeom prst="rect">
            <a:avLst/>
          </a:prstGeom>
          <a:noFill/>
        </p:spPr>
        <p:txBody>
          <a:bodyPr wrap="square" lIns="0" rIns="0" tIns="0" bIns="0" anchor="t">
            <a:spAutoFit/>
          </a:bodyPr>
          <a:lstStyle/>
          <a:p>
            <a:pPr algn="ctr">
              <a:lnSpc>
                <a:spcPct val="105000"/>
              </a:lnSpc>
            </a:pPr>
            <a:r>
              <a:rPr sz="1150" b="0" i="0">
                <a:solidFill>
                  <a:srgbClr val="6D6E71"/>
                </a:solidFill>
                <a:latin typeface="Arial"/>
              </a:rPr>
              <a:t>Orden de compra al proveedor</a:t>
            </a:r>
          </a:p>
        </p:txBody>
      </p:sp>
      <p:cxnSp>
        <p:nvCxnSpPr>
          <p:cNvPr id="22" name="Connector 21"/>
          <p:cNvCxnSpPr/>
          <p:nvPr/>
        </p:nvCxnSpPr>
        <p:spPr>
          <a:xfrm>
            <a:off x="6713067" y="3040380"/>
            <a:ext cx="984443" cy="0"/>
          </a:xfrm>
          <a:prstGeom prst="line">
            <a:avLst/>
          </a:prstGeom>
          <a:ln w="22225">
            <a:solidFill>
              <a:srgbClr val="6D6E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7788950" y="2514600"/>
            <a:ext cx="1051560" cy="105156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ship_w.png"/>
          <p:cNvPicPr>
            <a:picLocks noChangeAspect="1"/>
          </p:cNvPicPr>
          <p:nvPr/>
        </p:nvPicPr>
        <p:blipFill>
          <a:blip r:embed="rId5"/>
          <a:stretch>
            <a:fillRect/>
          </a:stretch>
        </p:blipFill>
        <p:spPr>
          <a:xfrm>
            <a:off x="8041325" y="2766974"/>
            <a:ext cx="546811" cy="546811"/>
          </a:xfrm>
          <a:prstGeom prst="rect">
            <a:avLst/>
          </a:prstGeom>
        </p:spPr>
      </p:pic>
      <p:sp>
        <p:nvSpPr>
          <p:cNvPr id="25" name="TextBox 24"/>
          <p:cNvSpPr txBox="1"/>
          <p:nvPr/>
        </p:nvSpPr>
        <p:spPr>
          <a:xfrm>
            <a:off x="7296729" y="3749039"/>
            <a:ext cx="2036003" cy="566928"/>
          </a:xfrm>
          <a:prstGeom prst="rect">
            <a:avLst/>
          </a:prstGeom>
          <a:noFill/>
        </p:spPr>
        <p:txBody>
          <a:bodyPr wrap="square" lIns="0" rIns="0" tIns="0" bIns="0" anchor="t">
            <a:spAutoFit/>
          </a:bodyPr>
          <a:lstStyle/>
          <a:p>
            <a:pPr algn="ctr">
              <a:lnSpc>
                <a:spcPct val="95000"/>
              </a:lnSpc>
            </a:pPr>
            <a:r>
              <a:rPr sz="1400" b="1" i="0">
                <a:solidFill>
                  <a:srgbClr val="1A1A1A"/>
                </a:solidFill>
                <a:latin typeface="Arial"/>
              </a:rPr>
              <a:t>Envío</a:t>
            </a:r>
          </a:p>
        </p:txBody>
      </p:sp>
      <p:sp>
        <p:nvSpPr>
          <p:cNvPr id="26" name="TextBox 25"/>
          <p:cNvSpPr txBox="1"/>
          <p:nvPr/>
        </p:nvSpPr>
        <p:spPr>
          <a:xfrm>
            <a:off x="7315017" y="4343400"/>
            <a:ext cx="1999427" cy="1143000"/>
          </a:xfrm>
          <a:prstGeom prst="rect">
            <a:avLst/>
          </a:prstGeom>
          <a:noFill/>
        </p:spPr>
        <p:txBody>
          <a:bodyPr wrap="square" lIns="0" rIns="0" tIns="0" bIns="0" anchor="t">
            <a:spAutoFit/>
          </a:bodyPr>
          <a:lstStyle/>
          <a:p>
            <a:pPr algn="ctr">
              <a:lnSpc>
                <a:spcPct val="105000"/>
              </a:lnSpc>
            </a:pPr>
            <a:r>
              <a:rPr sz="1150" b="0" i="0">
                <a:solidFill>
                  <a:srgbClr val="6D6E71"/>
                </a:solidFill>
                <a:latin typeface="Arial"/>
              </a:rPr>
              <a:t>Documento de despacho</a:t>
            </a:r>
          </a:p>
        </p:txBody>
      </p:sp>
      <p:cxnSp>
        <p:nvCxnSpPr>
          <p:cNvPr id="27" name="Connector 26"/>
          <p:cNvCxnSpPr/>
          <p:nvPr/>
        </p:nvCxnSpPr>
        <p:spPr>
          <a:xfrm>
            <a:off x="8931950" y="3040380"/>
            <a:ext cx="984443" cy="0"/>
          </a:xfrm>
          <a:prstGeom prst="line">
            <a:avLst/>
          </a:prstGeom>
          <a:ln w="22225">
            <a:solidFill>
              <a:srgbClr val="6D6E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10007833" y="2514600"/>
            <a:ext cx="1051560" cy="105156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warehouse_w.png"/>
          <p:cNvPicPr>
            <a:picLocks noChangeAspect="1"/>
          </p:cNvPicPr>
          <p:nvPr/>
        </p:nvPicPr>
        <p:blipFill>
          <a:blip r:embed="rId6"/>
          <a:stretch>
            <a:fillRect/>
          </a:stretch>
        </p:blipFill>
        <p:spPr>
          <a:xfrm>
            <a:off x="10260208" y="2766974"/>
            <a:ext cx="546811" cy="546811"/>
          </a:xfrm>
          <a:prstGeom prst="rect">
            <a:avLst/>
          </a:prstGeom>
        </p:spPr>
      </p:pic>
      <p:sp>
        <p:nvSpPr>
          <p:cNvPr id="30" name="TextBox 29"/>
          <p:cNvSpPr txBox="1"/>
          <p:nvPr/>
        </p:nvSpPr>
        <p:spPr>
          <a:xfrm>
            <a:off x="9515612" y="3749039"/>
            <a:ext cx="2036003" cy="566928"/>
          </a:xfrm>
          <a:prstGeom prst="rect">
            <a:avLst/>
          </a:prstGeom>
          <a:noFill/>
        </p:spPr>
        <p:txBody>
          <a:bodyPr wrap="square" lIns="0" rIns="0" tIns="0" bIns="0" anchor="t">
            <a:spAutoFit/>
          </a:bodyPr>
          <a:lstStyle/>
          <a:p>
            <a:pPr algn="ctr">
              <a:lnSpc>
                <a:spcPct val="95000"/>
              </a:lnSpc>
            </a:pPr>
            <a:r>
              <a:rPr sz="1400" b="1" i="0">
                <a:solidFill>
                  <a:srgbClr val="1A1A1A"/>
                </a:solidFill>
                <a:latin typeface="Arial"/>
              </a:rPr>
              <a:t>Recepción (MRR)</a:t>
            </a:r>
          </a:p>
        </p:txBody>
      </p:sp>
      <p:sp>
        <p:nvSpPr>
          <p:cNvPr id="31" name="TextBox 30"/>
          <p:cNvSpPr txBox="1"/>
          <p:nvPr/>
        </p:nvSpPr>
        <p:spPr>
          <a:xfrm>
            <a:off x="9533900" y="4343400"/>
            <a:ext cx="1999427" cy="1143000"/>
          </a:xfrm>
          <a:prstGeom prst="rect">
            <a:avLst/>
          </a:prstGeom>
          <a:noFill/>
        </p:spPr>
        <p:txBody>
          <a:bodyPr wrap="square" lIns="0" rIns="0" tIns="0" bIns="0" anchor="t">
            <a:spAutoFit/>
          </a:bodyPr>
          <a:lstStyle/>
          <a:p>
            <a:pPr algn="ctr">
              <a:lnSpc>
                <a:spcPct val="105000"/>
              </a:lnSpc>
            </a:pPr>
            <a:r>
              <a:rPr sz="1150" b="0" i="0">
                <a:solidFill>
                  <a:srgbClr val="6D6E71"/>
                </a:solidFill>
                <a:latin typeface="Arial"/>
              </a:rPr>
              <a:t>Informe de material recibido</a:t>
            </a:r>
          </a:p>
        </p:txBody>
      </p:sp>
      <p:sp>
        <p:nvSpPr>
          <p:cNvPr id="32" name="Rectangle 31"/>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flag_o.png"/>
          <p:cNvPicPr>
            <a:picLocks noChangeAspect="1"/>
          </p:cNvPicPr>
          <p:nvPr/>
        </p:nvPicPr>
        <p:blipFill>
          <a:blip r:embed="rId7"/>
          <a:stretch>
            <a:fillRect/>
          </a:stretch>
        </p:blipFill>
        <p:spPr>
          <a:xfrm>
            <a:off x="822959" y="5660136"/>
            <a:ext cx="365760" cy="365760"/>
          </a:xfrm>
          <a:prstGeom prst="rect">
            <a:avLst/>
          </a:prstGeom>
        </p:spPr>
      </p:pic>
      <p:sp>
        <p:nvSpPr>
          <p:cNvPr id="34" name="TextBox 33"/>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Ítems con tag y fabricados se rastrean uno a uno; el granel se agrega y necesita el código para repartirse.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5 · FLUJO DEL CWP</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El CWP se arma cuando se libera su EWP</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M5 · FASE 2: INGENIERÍA DE DETALLE Y COMPRAS</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056</a:t>
            </a:r>
          </a:p>
        </p:txBody>
      </p:sp>
      <p:sp>
        <p:nvSpPr>
          <p:cNvPr id="7" name="Rectangle 6"/>
          <p:cNvSpPr/>
          <p:nvPr/>
        </p:nvSpPr>
        <p:spPr>
          <a:xfrm>
            <a:off x="548640" y="1874519"/>
            <a:ext cx="2028687"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1</a:t>
            </a:r>
          </a:p>
        </p:txBody>
      </p:sp>
      <p:pic>
        <p:nvPicPr>
          <p:cNvPr id="10" name="Picture 9" descr="flag_o.png"/>
          <p:cNvPicPr>
            <a:picLocks noChangeAspect="1"/>
          </p:cNvPicPr>
          <p:nvPr/>
        </p:nvPicPr>
        <p:blipFill>
          <a:blip r:embed="rId2"/>
          <a:stretch>
            <a:fillRect/>
          </a:stretch>
        </p:blipFill>
        <p:spPr>
          <a:xfrm>
            <a:off x="1918959" y="2148839"/>
            <a:ext cx="420624" cy="420624"/>
          </a:xfrm>
          <a:prstGeom prst="rect">
            <a:avLst/>
          </a:prstGeom>
        </p:spPr>
      </p:pic>
      <p:sp>
        <p:nvSpPr>
          <p:cNvPr id="11" name="TextBox 10"/>
          <p:cNvSpPr txBox="1"/>
          <p:nvPr/>
        </p:nvSpPr>
        <p:spPr>
          <a:xfrm>
            <a:off x="777240" y="2807208"/>
            <a:ext cx="1617207"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EWP liberado</a:t>
            </a:r>
          </a:p>
        </p:txBody>
      </p:sp>
      <p:sp>
        <p:nvSpPr>
          <p:cNvPr id="12" name="TextBox 11"/>
          <p:cNvSpPr txBox="1"/>
          <p:nvPr/>
        </p:nvSpPr>
        <p:spPr>
          <a:xfrm>
            <a:off x="777240" y="3429000"/>
            <a:ext cx="1617207"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Hito de interfaz en el cronograma</a:t>
            </a:r>
          </a:p>
        </p:txBody>
      </p:sp>
      <p:cxnSp>
        <p:nvCxnSpPr>
          <p:cNvPr id="13" name="Connector 12"/>
          <p:cNvCxnSpPr/>
          <p:nvPr/>
        </p:nvCxnSpPr>
        <p:spPr>
          <a:xfrm>
            <a:off x="2613903" y="3291839"/>
            <a:ext cx="164592"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2815071" y="1874519"/>
            <a:ext cx="2028687"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3043671"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043671"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2</a:t>
            </a:r>
          </a:p>
        </p:txBody>
      </p:sp>
      <p:pic>
        <p:nvPicPr>
          <p:cNvPr id="17" name="Picture 16" descr="search_o.png"/>
          <p:cNvPicPr>
            <a:picLocks noChangeAspect="1"/>
          </p:cNvPicPr>
          <p:nvPr/>
        </p:nvPicPr>
        <p:blipFill>
          <a:blip r:embed="rId3"/>
          <a:stretch>
            <a:fillRect/>
          </a:stretch>
        </p:blipFill>
        <p:spPr>
          <a:xfrm>
            <a:off x="4185391" y="2148839"/>
            <a:ext cx="420624" cy="420624"/>
          </a:xfrm>
          <a:prstGeom prst="rect">
            <a:avLst/>
          </a:prstGeom>
        </p:spPr>
      </p:pic>
      <p:sp>
        <p:nvSpPr>
          <p:cNvPr id="18" name="TextBox 17"/>
          <p:cNvSpPr txBox="1"/>
          <p:nvPr/>
        </p:nvSpPr>
        <p:spPr>
          <a:xfrm>
            <a:off x="3043671" y="2807208"/>
            <a:ext cx="1617207"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Revisión del EWP</a:t>
            </a:r>
          </a:p>
        </p:txBody>
      </p:sp>
      <p:sp>
        <p:nvSpPr>
          <p:cNvPr id="19" name="TextBox 18"/>
          <p:cNvSpPr txBox="1"/>
          <p:nvPr/>
        </p:nvSpPr>
        <p:spPr>
          <a:xfrm>
            <a:off x="3043671" y="3429000"/>
            <a:ext cx="1617207"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Construcción verifica errores y faltantes</a:t>
            </a:r>
          </a:p>
        </p:txBody>
      </p:sp>
      <p:cxnSp>
        <p:nvCxnSpPr>
          <p:cNvPr id="20" name="Connector 19"/>
          <p:cNvCxnSpPr/>
          <p:nvPr/>
        </p:nvCxnSpPr>
        <p:spPr>
          <a:xfrm>
            <a:off x="4880335" y="3291839"/>
            <a:ext cx="164592"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081503" y="1874519"/>
            <a:ext cx="2028687"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5310103"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310103"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3</a:t>
            </a:r>
          </a:p>
        </p:txBody>
      </p:sp>
      <p:pic>
        <p:nvPicPr>
          <p:cNvPr id="24" name="Picture 23" descr="file_o.png"/>
          <p:cNvPicPr>
            <a:picLocks noChangeAspect="1"/>
          </p:cNvPicPr>
          <p:nvPr/>
        </p:nvPicPr>
        <p:blipFill>
          <a:blip r:embed="rId4"/>
          <a:stretch>
            <a:fillRect/>
          </a:stretch>
        </p:blipFill>
        <p:spPr>
          <a:xfrm>
            <a:off x="6451823" y="2148839"/>
            <a:ext cx="420624" cy="420624"/>
          </a:xfrm>
          <a:prstGeom prst="rect">
            <a:avLst/>
          </a:prstGeom>
        </p:spPr>
      </p:pic>
      <p:sp>
        <p:nvSpPr>
          <p:cNvPr id="25" name="TextBox 24"/>
          <p:cNvSpPr txBox="1"/>
          <p:nvPr/>
        </p:nvSpPr>
        <p:spPr>
          <a:xfrm>
            <a:off x="5310103" y="2807208"/>
            <a:ext cx="1617207"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Redacción del CWP</a:t>
            </a:r>
          </a:p>
        </p:txBody>
      </p:sp>
      <p:sp>
        <p:nvSpPr>
          <p:cNvPr id="26" name="TextBox 25"/>
          <p:cNvSpPr txBox="1"/>
          <p:nvPr/>
        </p:nvSpPr>
        <p:spPr>
          <a:xfrm>
            <a:off x="5310103" y="3429000"/>
            <a:ext cx="1617207"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Alcance, límites, seguridad, calidad y ejecución</a:t>
            </a:r>
          </a:p>
        </p:txBody>
      </p:sp>
      <p:cxnSp>
        <p:nvCxnSpPr>
          <p:cNvPr id="27" name="Connector 26"/>
          <p:cNvCxnSpPr/>
          <p:nvPr/>
        </p:nvCxnSpPr>
        <p:spPr>
          <a:xfrm>
            <a:off x="7146767" y="3291839"/>
            <a:ext cx="164592"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347935" y="1874519"/>
            <a:ext cx="2028687"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7576535"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576535"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4</a:t>
            </a:r>
          </a:p>
        </p:txBody>
      </p:sp>
      <p:pic>
        <p:nvPicPr>
          <p:cNvPr id="31" name="Picture 30" descr="eye_o.png"/>
          <p:cNvPicPr>
            <a:picLocks noChangeAspect="1"/>
          </p:cNvPicPr>
          <p:nvPr/>
        </p:nvPicPr>
        <p:blipFill>
          <a:blip r:embed="rId5"/>
          <a:stretch>
            <a:fillRect/>
          </a:stretch>
        </p:blipFill>
        <p:spPr>
          <a:xfrm>
            <a:off x="8718255" y="2148839"/>
            <a:ext cx="420624" cy="420624"/>
          </a:xfrm>
          <a:prstGeom prst="rect">
            <a:avLst/>
          </a:prstGeom>
        </p:spPr>
      </p:pic>
      <p:sp>
        <p:nvSpPr>
          <p:cNvPr id="32" name="TextBox 31"/>
          <p:cNvSpPr txBox="1"/>
          <p:nvPr/>
        </p:nvSpPr>
        <p:spPr>
          <a:xfrm>
            <a:off x="7576535" y="2807208"/>
            <a:ext cx="1617207"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Revisión del propietario</a:t>
            </a:r>
          </a:p>
        </p:txBody>
      </p:sp>
      <p:sp>
        <p:nvSpPr>
          <p:cNvPr id="33" name="TextBox 32"/>
          <p:cNvSpPr txBox="1"/>
          <p:nvPr/>
        </p:nvSpPr>
        <p:spPr>
          <a:xfrm>
            <a:off x="7576535" y="3429000"/>
            <a:ext cx="1617207"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A tiempo para mantener el plan</a:t>
            </a:r>
          </a:p>
        </p:txBody>
      </p:sp>
      <p:cxnSp>
        <p:nvCxnSpPr>
          <p:cNvPr id="34" name="Connector 33"/>
          <p:cNvCxnSpPr/>
          <p:nvPr/>
        </p:nvCxnSpPr>
        <p:spPr>
          <a:xfrm>
            <a:off x="9413199" y="3291839"/>
            <a:ext cx="164592"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9614367" y="1874519"/>
            <a:ext cx="2028687"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9842967"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842967"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5</a:t>
            </a:r>
          </a:p>
        </p:txBody>
      </p:sp>
      <p:pic>
        <p:nvPicPr>
          <p:cNvPr id="38" name="Picture 37" descr="contract_o.png"/>
          <p:cNvPicPr>
            <a:picLocks noChangeAspect="1"/>
          </p:cNvPicPr>
          <p:nvPr/>
        </p:nvPicPr>
        <p:blipFill>
          <a:blip r:embed="rId6"/>
          <a:stretch>
            <a:fillRect/>
          </a:stretch>
        </p:blipFill>
        <p:spPr>
          <a:xfrm>
            <a:off x="10984687" y="2148839"/>
            <a:ext cx="420624" cy="420624"/>
          </a:xfrm>
          <a:prstGeom prst="rect">
            <a:avLst/>
          </a:prstGeom>
        </p:spPr>
      </p:pic>
      <p:sp>
        <p:nvSpPr>
          <p:cNvPr id="39" name="TextBox 38"/>
          <p:cNvSpPr txBox="1"/>
          <p:nvPr/>
        </p:nvSpPr>
        <p:spPr>
          <a:xfrm>
            <a:off x="9842967" y="2807208"/>
            <a:ext cx="1617207"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Liberación del CWP</a:t>
            </a:r>
          </a:p>
        </p:txBody>
      </p:sp>
      <p:sp>
        <p:nvSpPr>
          <p:cNvPr id="40" name="TextBox 39"/>
          <p:cNvSpPr txBox="1"/>
          <p:nvPr/>
        </p:nvSpPr>
        <p:spPr>
          <a:xfrm>
            <a:off x="9842967" y="3429000"/>
            <a:ext cx="1617207"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Base del alcance para los contratistas</a:t>
            </a:r>
          </a:p>
        </p:txBody>
      </p:sp>
      <p:sp>
        <p:nvSpPr>
          <p:cNvPr id="41" name="Rectangle 40"/>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flag_o.png"/>
          <p:cNvPicPr>
            <a:picLocks noChangeAspect="1"/>
          </p:cNvPicPr>
          <p:nvPr/>
        </p:nvPicPr>
        <p:blipFill>
          <a:blip r:embed="rId2"/>
          <a:stretch>
            <a:fillRect/>
          </a:stretch>
        </p:blipFill>
        <p:spPr>
          <a:xfrm>
            <a:off x="822959" y="5660136"/>
            <a:ext cx="365760" cy="365760"/>
          </a:xfrm>
          <a:prstGeom prst="rect">
            <a:avLst/>
          </a:prstGeom>
        </p:spPr>
      </p:pic>
      <p:sp>
        <p:nvSpPr>
          <p:cNvPr id="43" name="TextBox 42"/>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Controle el avance del CWP con reglas de crédito y un plan de liberación que parte de la fecha del EWP.</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5 · QUIÉN PREPARA LOS CWP</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Construcción define los CWP; quién los redacta depende del contrato</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M5 · FASE 2: INGENIERÍA DE DETALLE Y COMPRAS</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057</a:t>
            </a:r>
          </a:p>
        </p:txBody>
      </p:sp>
      <p:sp>
        <p:nvSpPr>
          <p:cNvPr id="7" name="Rectangle 6"/>
          <p:cNvSpPr/>
          <p:nvPr/>
        </p:nvSpPr>
        <p:spPr>
          <a:xfrm>
            <a:off x="548640" y="1828800"/>
            <a:ext cx="5387187" cy="114300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2080260"/>
            <a:ext cx="640080" cy="64008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sitemap_w.png"/>
          <p:cNvPicPr>
            <a:picLocks noChangeAspect="1"/>
          </p:cNvPicPr>
          <p:nvPr/>
        </p:nvPicPr>
        <p:blipFill>
          <a:blip r:embed="rId2"/>
          <a:stretch>
            <a:fillRect/>
          </a:stretch>
        </p:blipFill>
        <p:spPr>
          <a:xfrm>
            <a:off x="930859" y="2233879"/>
            <a:ext cx="332841" cy="332841"/>
          </a:xfrm>
          <a:prstGeom prst="rect">
            <a:avLst/>
          </a:prstGeom>
        </p:spPr>
      </p:pic>
      <p:sp>
        <p:nvSpPr>
          <p:cNvPr id="10" name="TextBox 9"/>
          <p:cNvSpPr txBox="1"/>
          <p:nvPr/>
        </p:nvSpPr>
        <p:spPr>
          <a:xfrm>
            <a:off x="1645919" y="1956816"/>
            <a:ext cx="4061307" cy="886968"/>
          </a:xfrm>
          <a:prstGeom prst="rect">
            <a:avLst/>
          </a:prstGeom>
          <a:noFill/>
        </p:spPr>
        <p:txBody>
          <a:bodyPr wrap="square" lIns="0" rIns="0" tIns="0" bIns="0" anchor="ctr">
            <a:spAutoFit/>
          </a:bodyPr>
          <a:lstStyle/>
          <a:p>
            <a:pPr algn="l">
              <a:lnSpc>
                <a:spcPct val="105000"/>
              </a:lnSpc>
              <a:spcAft>
                <a:spcPts val="300"/>
              </a:spcAft>
            </a:pPr>
            <a:r>
              <a:rPr sz="1400" b="1" i="0">
                <a:solidFill>
                  <a:srgbClr val="1A1A1A"/>
                </a:solidFill>
                <a:latin typeface="Arial"/>
              </a:rPr>
              <a:t>EPC / EPCM</a:t>
            </a:r>
          </a:p>
          <a:p>
            <a:pPr algn="l">
              <a:lnSpc>
                <a:spcPct val="105000"/>
              </a:lnSpc>
              <a:spcAft>
                <a:spcPts val="300"/>
              </a:spcAft>
            </a:pPr>
            <a:r>
              <a:rPr sz="1200" b="0" i="0">
                <a:solidFill>
                  <a:srgbClr val="6D6E71"/>
                </a:solidFill>
                <a:latin typeface="Arial"/>
              </a:rPr>
              <a:t>Estructura las CWA y los CWP y coordina los entregables (Omega 365)</a:t>
            </a:r>
          </a:p>
        </p:txBody>
      </p:sp>
      <p:sp>
        <p:nvSpPr>
          <p:cNvPr id="11" name="Rectangle 10"/>
          <p:cNvSpPr/>
          <p:nvPr/>
        </p:nvSpPr>
        <p:spPr>
          <a:xfrm>
            <a:off x="6255867" y="1828800"/>
            <a:ext cx="5387187" cy="114300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6484467" y="2080260"/>
            <a:ext cx="640080" cy="64008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helmet_w.png"/>
          <p:cNvPicPr>
            <a:picLocks noChangeAspect="1"/>
          </p:cNvPicPr>
          <p:nvPr/>
        </p:nvPicPr>
        <p:blipFill>
          <a:blip r:embed="rId3"/>
          <a:stretch>
            <a:fillRect/>
          </a:stretch>
        </p:blipFill>
        <p:spPr>
          <a:xfrm>
            <a:off x="6638086" y="2233879"/>
            <a:ext cx="332841" cy="332841"/>
          </a:xfrm>
          <a:prstGeom prst="rect">
            <a:avLst/>
          </a:prstGeom>
        </p:spPr>
      </p:pic>
      <p:sp>
        <p:nvSpPr>
          <p:cNvPr id="14" name="TextBox 13"/>
          <p:cNvSpPr txBox="1"/>
          <p:nvPr/>
        </p:nvSpPr>
        <p:spPr>
          <a:xfrm>
            <a:off x="7353147" y="1956816"/>
            <a:ext cx="4061307" cy="886968"/>
          </a:xfrm>
          <a:prstGeom prst="rect">
            <a:avLst/>
          </a:prstGeom>
          <a:noFill/>
        </p:spPr>
        <p:txBody>
          <a:bodyPr wrap="square" lIns="0" rIns="0" tIns="0" bIns="0" anchor="ctr">
            <a:spAutoFit/>
          </a:bodyPr>
          <a:lstStyle/>
          <a:p>
            <a:pPr algn="l">
              <a:lnSpc>
                <a:spcPct val="105000"/>
              </a:lnSpc>
              <a:spcAft>
                <a:spcPts val="300"/>
              </a:spcAft>
            </a:pPr>
            <a:r>
              <a:rPr sz="1400" b="1" i="0">
                <a:solidFill>
                  <a:srgbClr val="1A1A1A"/>
                </a:solidFill>
                <a:latin typeface="Arial"/>
              </a:rPr>
              <a:t>Gerencia de construcción</a:t>
            </a:r>
          </a:p>
          <a:p>
            <a:pPr algn="l">
              <a:lnSpc>
                <a:spcPct val="105000"/>
              </a:lnSpc>
              <a:spcAft>
                <a:spcPts val="300"/>
              </a:spcAft>
            </a:pPr>
            <a:r>
              <a:rPr sz="1200" b="0" i="0">
                <a:solidFill>
                  <a:srgbClr val="6D6E71"/>
                </a:solidFill>
                <a:latin typeface="Arial"/>
              </a:rPr>
              <a:t>Define tamaño, contenido y secuencia de los CWP (Insight)</a:t>
            </a:r>
          </a:p>
        </p:txBody>
      </p:sp>
      <p:sp>
        <p:nvSpPr>
          <p:cNvPr id="15" name="Rectangle 14"/>
          <p:cNvSpPr/>
          <p:nvPr/>
        </p:nvSpPr>
        <p:spPr>
          <a:xfrm>
            <a:off x="548640" y="3172968"/>
            <a:ext cx="5387187" cy="114300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777240" y="3424427"/>
            <a:ext cx="640080" cy="64008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usercheck_w.png"/>
          <p:cNvPicPr>
            <a:picLocks noChangeAspect="1"/>
          </p:cNvPicPr>
          <p:nvPr/>
        </p:nvPicPr>
        <p:blipFill>
          <a:blip r:embed="rId4"/>
          <a:stretch>
            <a:fillRect/>
          </a:stretch>
        </p:blipFill>
        <p:spPr>
          <a:xfrm>
            <a:off x="930859" y="3578047"/>
            <a:ext cx="332841" cy="332841"/>
          </a:xfrm>
          <a:prstGeom prst="rect">
            <a:avLst/>
          </a:prstGeom>
        </p:spPr>
      </p:pic>
      <p:sp>
        <p:nvSpPr>
          <p:cNvPr id="18" name="TextBox 17"/>
          <p:cNvSpPr txBox="1"/>
          <p:nvPr/>
        </p:nvSpPr>
        <p:spPr>
          <a:xfrm>
            <a:off x="1645919" y="3300984"/>
            <a:ext cx="4061307" cy="886968"/>
          </a:xfrm>
          <a:prstGeom prst="rect">
            <a:avLst/>
          </a:prstGeom>
          <a:noFill/>
        </p:spPr>
        <p:txBody>
          <a:bodyPr wrap="square" lIns="0" rIns="0" tIns="0" bIns="0" anchor="ctr">
            <a:spAutoFit/>
          </a:bodyPr>
          <a:lstStyle/>
          <a:p>
            <a:pPr algn="l">
              <a:lnSpc>
                <a:spcPct val="105000"/>
              </a:lnSpc>
              <a:spcAft>
                <a:spcPts val="300"/>
              </a:spcAft>
            </a:pPr>
            <a:r>
              <a:rPr sz="1400" b="1" i="0">
                <a:solidFill>
                  <a:srgbClr val="1A1A1A"/>
                </a:solidFill>
                <a:latin typeface="Arial"/>
              </a:rPr>
              <a:t>WFP Coordinator</a:t>
            </a:r>
          </a:p>
          <a:p>
            <a:pPr algn="l">
              <a:lnSpc>
                <a:spcPct val="105000"/>
              </a:lnSpc>
              <a:spcAft>
                <a:spcPts val="300"/>
              </a:spcAft>
            </a:pPr>
            <a:r>
              <a:rPr sz="1200" b="0" i="0">
                <a:solidFill>
                  <a:srgbClr val="6D6E71"/>
                </a:solidFill>
                <a:latin typeface="Arial"/>
              </a:rPr>
              <a:t>Crea y gestiona los CWP y entrega la información a los planificadores</a:t>
            </a:r>
          </a:p>
        </p:txBody>
      </p:sp>
      <p:sp>
        <p:nvSpPr>
          <p:cNvPr id="19" name="Rectangle 18"/>
          <p:cNvSpPr/>
          <p:nvPr/>
        </p:nvSpPr>
        <p:spPr>
          <a:xfrm>
            <a:off x="6255867" y="3172968"/>
            <a:ext cx="5387187" cy="114300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6484467" y="3424427"/>
            <a:ext cx="640080" cy="64008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ruler_w.png"/>
          <p:cNvPicPr>
            <a:picLocks noChangeAspect="1"/>
          </p:cNvPicPr>
          <p:nvPr/>
        </p:nvPicPr>
        <p:blipFill>
          <a:blip r:embed="rId5"/>
          <a:stretch>
            <a:fillRect/>
          </a:stretch>
        </p:blipFill>
        <p:spPr>
          <a:xfrm>
            <a:off x="6638086" y="3578047"/>
            <a:ext cx="332841" cy="332841"/>
          </a:xfrm>
          <a:prstGeom prst="rect">
            <a:avLst/>
          </a:prstGeom>
        </p:spPr>
      </p:pic>
      <p:sp>
        <p:nvSpPr>
          <p:cNvPr id="22" name="TextBox 21"/>
          <p:cNvSpPr txBox="1"/>
          <p:nvPr/>
        </p:nvSpPr>
        <p:spPr>
          <a:xfrm>
            <a:off x="7353147" y="3300984"/>
            <a:ext cx="4061307" cy="886968"/>
          </a:xfrm>
          <a:prstGeom prst="rect">
            <a:avLst/>
          </a:prstGeom>
          <a:noFill/>
        </p:spPr>
        <p:txBody>
          <a:bodyPr wrap="square" lIns="0" rIns="0" tIns="0" bIns="0" anchor="ctr">
            <a:spAutoFit/>
          </a:bodyPr>
          <a:lstStyle/>
          <a:p>
            <a:pPr algn="l">
              <a:lnSpc>
                <a:spcPct val="105000"/>
              </a:lnSpc>
              <a:spcAft>
                <a:spcPts val="300"/>
              </a:spcAft>
            </a:pPr>
            <a:r>
              <a:rPr sz="1400" b="1" i="0">
                <a:solidFill>
                  <a:srgbClr val="1A1A1A"/>
                </a:solidFill>
                <a:latin typeface="Arial"/>
              </a:rPr>
              <a:t>Proyectos pequeños</a:t>
            </a:r>
          </a:p>
          <a:p>
            <a:pPr algn="l">
              <a:lnSpc>
                <a:spcPct val="105000"/>
              </a:lnSpc>
              <a:spcAft>
                <a:spcPts val="300"/>
              </a:spcAft>
            </a:pPr>
            <a:r>
              <a:rPr sz="1200" b="0" i="0">
                <a:solidFill>
                  <a:srgbClr val="6D6E71"/>
                </a:solidFill>
                <a:latin typeface="Arial"/>
              </a:rPr>
              <a:t>El contratista de Ingeniería puede preparar también el CWP</a:t>
            </a:r>
          </a:p>
        </p:txBody>
      </p:sp>
      <p:sp>
        <p:nvSpPr>
          <p:cNvPr id="23" name="Rectangle 22"/>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flag_o.png"/>
          <p:cNvPicPr>
            <a:picLocks noChangeAspect="1"/>
          </p:cNvPicPr>
          <p:nvPr/>
        </p:nvPicPr>
        <p:blipFill>
          <a:blip r:embed="rId6"/>
          <a:stretch>
            <a:fillRect/>
          </a:stretch>
        </p:blipFill>
        <p:spPr>
          <a:xfrm>
            <a:off x="822959" y="5660136"/>
            <a:ext cx="365760" cy="365760"/>
          </a:xfrm>
          <a:prstGeom prst="rect">
            <a:avLst/>
          </a:prstGeom>
        </p:spPr>
      </p:pic>
      <p:sp>
        <p:nvSpPr>
          <p:cNvPr id="25" name="TextBox 24"/>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Defina el responsable en el procedimiento AWP antes de licitar.</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5 · ENTREGABLES</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Entregables de la Fase 2: la lista de verificación</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M5 · FASE 2: INGENIERÍA DE DETALLE Y COMPRAS</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058</a:t>
            </a:r>
          </a:p>
        </p:txBody>
      </p:sp>
      <p:sp>
        <p:nvSpPr>
          <p:cNvPr id="7" name="Rectangle 6"/>
          <p:cNvSpPr/>
          <p:nvPr/>
        </p:nvSpPr>
        <p:spPr>
          <a:xfrm>
            <a:off x="548640" y="1828800"/>
            <a:ext cx="3017520" cy="43434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lipcheck_o.png"/>
          <p:cNvPicPr>
            <a:picLocks noChangeAspect="1"/>
          </p:cNvPicPr>
          <p:nvPr/>
        </p:nvPicPr>
        <p:blipFill>
          <a:blip r:embed="rId2"/>
          <a:stretch>
            <a:fillRect/>
          </a:stretch>
        </p:blipFill>
        <p:spPr>
          <a:xfrm>
            <a:off x="868680" y="2194560"/>
            <a:ext cx="548640" cy="548640"/>
          </a:xfrm>
          <a:prstGeom prst="rect">
            <a:avLst/>
          </a:prstGeom>
        </p:spPr>
      </p:pic>
      <p:sp>
        <p:nvSpPr>
          <p:cNvPr id="9" name="TextBox 8"/>
          <p:cNvSpPr txBox="1"/>
          <p:nvPr/>
        </p:nvSpPr>
        <p:spPr>
          <a:xfrm>
            <a:off x="868680" y="2971800"/>
            <a:ext cx="2468879" cy="274320"/>
          </a:xfrm>
          <a:prstGeom prst="rect">
            <a:avLst/>
          </a:prstGeom>
          <a:noFill/>
        </p:spPr>
        <p:txBody>
          <a:bodyPr wrap="square" lIns="0" rIns="0" tIns="0" bIns="0" anchor="t">
            <a:spAutoFit/>
          </a:bodyPr>
          <a:lstStyle/>
          <a:p>
            <a:pPr algn="l"/>
            <a:r>
              <a:rPr sz="1100" b="1" i="0" spc="200">
                <a:solidFill>
                  <a:srgbClr val="FF6600"/>
                </a:solidFill>
                <a:latin typeface="Arial"/>
              </a:rPr>
              <a:t>ENTREGABLES</a:t>
            </a:r>
          </a:p>
        </p:txBody>
      </p:sp>
      <p:sp>
        <p:nvSpPr>
          <p:cNvPr id="10" name="TextBox 9"/>
          <p:cNvSpPr txBox="1"/>
          <p:nvPr/>
        </p:nvSpPr>
        <p:spPr>
          <a:xfrm>
            <a:off x="868680" y="3291840"/>
            <a:ext cx="2468879" cy="1188720"/>
          </a:xfrm>
          <a:prstGeom prst="rect">
            <a:avLst/>
          </a:prstGeom>
          <a:noFill/>
        </p:spPr>
        <p:txBody>
          <a:bodyPr wrap="square" lIns="0" rIns="0" tIns="0" bIns="0" anchor="t">
            <a:spAutoFit/>
          </a:bodyPr>
          <a:lstStyle/>
          <a:p>
            <a:pPr algn="l">
              <a:lnSpc>
                <a:spcPct val="95000"/>
              </a:lnSpc>
            </a:pPr>
            <a:r>
              <a:rPr sz="2200" b="1" i="0">
                <a:solidFill>
                  <a:srgbClr val="FFFFFF"/>
                </a:solidFill>
                <a:latin typeface="Arial"/>
              </a:rPr>
              <a:t>Fase 2 · Ingeniería y compras (FEL 3 y ejecución)</a:t>
            </a:r>
          </a:p>
        </p:txBody>
      </p:sp>
      <p:sp>
        <p:nvSpPr>
          <p:cNvPr id="11" name="TextBox 10"/>
          <p:cNvSpPr txBox="1"/>
          <p:nvPr/>
        </p:nvSpPr>
        <p:spPr>
          <a:xfrm>
            <a:off x="868680" y="4754880"/>
            <a:ext cx="2468879" cy="1188720"/>
          </a:xfrm>
          <a:prstGeom prst="rect">
            <a:avLst/>
          </a:prstGeom>
          <a:noFill/>
        </p:spPr>
        <p:txBody>
          <a:bodyPr wrap="square" lIns="0" rIns="0" tIns="0" bIns="0" anchor="b">
            <a:spAutoFit/>
          </a:bodyPr>
          <a:lstStyle/>
          <a:p>
            <a:pPr algn="l">
              <a:lnSpc>
                <a:spcPct val="110000"/>
              </a:lnSpc>
            </a:pPr>
            <a:r>
              <a:rPr sz="1200" b="0" i="0">
                <a:solidFill>
                  <a:srgbClr val="BCBEC0"/>
                </a:solidFill>
                <a:latin typeface="Arial"/>
              </a:rPr>
              <a:t>En ejecución, los EWP son el entregable final de Ingeniería y los CWP, el de Construcción.</a:t>
            </a:r>
          </a:p>
        </p:txBody>
      </p:sp>
      <p:sp>
        <p:nvSpPr>
          <p:cNvPr id="12" name="Rectangle 11"/>
          <p:cNvSpPr/>
          <p:nvPr/>
        </p:nvSpPr>
        <p:spPr>
          <a:xfrm>
            <a:off x="3886200" y="1865376"/>
            <a:ext cx="7756855" cy="547333"/>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check_o.png"/>
          <p:cNvPicPr>
            <a:picLocks noChangeAspect="1"/>
          </p:cNvPicPr>
          <p:nvPr/>
        </p:nvPicPr>
        <p:blipFill>
          <a:blip r:embed="rId3"/>
          <a:stretch>
            <a:fillRect/>
          </a:stretch>
        </p:blipFill>
        <p:spPr>
          <a:xfrm>
            <a:off x="4087368" y="1983594"/>
            <a:ext cx="310896" cy="310896"/>
          </a:xfrm>
          <a:prstGeom prst="rect">
            <a:avLst/>
          </a:prstGeom>
        </p:spPr>
      </p:pic>
      <p:sp>
        <p:nvSpPr>
          <p:cNvPr id="14" name="TextBox 13"/>
          <p:cNvSpPr txBox="1"/>
          <p:nvPr/>
        </p:nvSpPr>
        <p:spPr>
          <a:xfrm>
            <a:off x="4572000" y="1865376"/>
            <a:ext cx="6888175" cy="547333"/>
          </a:xfrm>
          <a:prstGeom prst="rect">
            <a:avLst/>
          </a:prstGeom>
          <a:noFill/>
        </p:spPr>
        <p:txBody>
          <a:bodyPr wrap="square" lIns="0" rIns="0" tIns="0" bIns="0" anchor="ctr">
            <a:spAutoFit/>
          </a:bodyPr>
          <a:lstStyle/>
          <a:p>
            <a:pPr algn="l"/>
            <a:r>
              <a:rPr sz="1350" b="1" i="0">
                <a:solidFill>
                  <a:srgbClr val="1A1A1A"/>
                </a:solidFill>
                <a:latin typeface="Arial"/>
              </a:rPr>
              <a:t>EWP emitidos en secuencia</a:t>
            </a:r>
            <a:r>
              <a:rPr sz="1200" b="0" i="0">
                <a:solidFill>
                  <a:srgbClr val="6D6E71"/>
                </a:solidFill>
                <a:latin typeface="Arial"/>
              </a:rPr>
              <a:t>  ·  según el plan de liberación</a:t>
            </a:r>
          </a:p>
        </p:txBody>
      </p:sp>
      <p:sp>
        <p:nvSpPr>
          <p:cNvPr id="15" name="Rectangle 14"/>
          <p:cNvSpPr/>
          <p:nvPr/>
        </p:nvSpPr>
        <p:spPr>
          <a:xfrm>
            <a:off x="3886200" y="2485861"/>
            <a:ext cx="7756855" cy="547333"/>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_o.png"/>
          <p:cNvPicPr>
            <a:picLocks noChangeAspect="1"/>
          </p:cNvPicPr>
          <p:nvPr/>
        </p:nvPicPr>
        <p:blipFill>
          <a:blip r:embed="rId3"/>
          <a:stretch>
            <a:fillRect/>
          </a:stretch>
        </p:blipFill>
        <p:spPr>
          <a:xfrm>
            <a:off x="4087368" y="2604080"/>
            <a:ext cx="310896" cy="310896"/>
          </a:xfrm>
          <a:prstGeom prst="rect">
            <a:avLst/>
          </a:prstGeom>
        </p:spPr>
      </p:pic>
      <p:sp>
        <p:nvSpPr>
          <p:cNvPr id="17" name="TextBox 16"/>
          <p:cNvSpPr txBox="1"/>
          <p:nvPr/>
        </p:nvSpPr>
        <p:spPr>
          <a:xfrm>
            <a:off x="4572000" y="2485861"/>
            <a:ext cx="6888175" cy="547333"/>
          </a:xfrm>
          <a:prstGeom prst="rect">
            <a:avLst/>
          </a:prstGeom>
          <a:noFill/>
        </p:spPr>
        <p:txBody>
          <a:bodyPr wrap="square" lIns="0" rIns="0" tIns="0" bIns="0" anchor="ctr">
            <a:spAutoFit/>
          </a:bodyPr>
          <a:lstStyle/>
          <a:p>
            <a:pPr algn="l"/>
            <a:r>
              <a:rPr sz="1350" b="1" i="0">
                <a:solidFill>
                  <a:srgbClr val="1A1A1A"/>
                </a:solidFill>
                <a:latin typeface="Arial"/>
              </a:rPr>
              <a:t>PWP y matriz de responsabilidad</a:t>
            </a:r>
            <a:r>
              <a:rPr sz="1200" b="0" i="0">
                <a:solidFill>
                  <a:srgbClr val="6D6E71"/>
                </a:solidFill>
                <a:latin typeface="Arial"/>
              </a:rPr>
              <a:t>  ·  MRM y fechas requeridas en obra</a:t>
            </a:r>
          </a:p>
        </p:txBody>
      </p:sp>
      <p:sp>
        <p:nvSpPr>
          <p:cNvPr id="18" name="Rectangle 17"/>
          <p:cNvSpPr/>
          <p:nvPr/>
        </p:nvSpPr>
        <p:spPr>
          <a:xfrm>
            <a:off x="3886200" y="3106347"/>
            <a:ext cx="7756855" cy="547333"/>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check_o.png"/>
          <p:cNvPicPr>
            <a:picLocks noChangeAspect="1"/>
          </p:cNvPicPr>
          <p:nvPr/>
        </p:nvPicPr>
        <p:blipFill>
          <a:blip r:embed="rId3"/>
          <a:stretch>
            <a:fillRect/>
          </a:stretch>
        </p:blipFill>
        <p:spPr>
          <a:xfrm>
            <a:off x="4087368" y="3224566"/>
            <a:ext cx="310896" cy="310896"/>
          </a:xfrm>
          <a:prstGeom prst="rect">
            <a:avLst/>
          </a:prstGeom>
        </p:spPr>
      </p:pic>
      <p:sp>
        <p:nvSpPr>
          <p:cNvPr id="20" name="TextBox 19"/>
          <p:cNvSpPr txBox="1"/>
          <p:nvPr/>
        </p:nvSpPr>
        <p:spPr>
          <a:xfrm>
            <a:off x="4572000" y="3106347"/>
            <a:ext cx="6888175" cy="547333"/>
          </a:xfrm>
          <a:prstGeom prst="rect">
            <a:avLst/>
          </a:prstGeom>
          <a:noFill/>
        </p:spPr>
        <p:txBody>
          <a:bodyPr wrap="square" lIns="0" rIns="0" tIns="0" bIns="0" anchor="ctr">
            <a:spAutoFit/>
          </a:bodyPr>
          <a:lstStyle/>
          <a:p>
            <a:pPr algn="l"/>
            <a:r>
              <a:rPr sz="1350" b="1" i="0">
                <a:solidFill>
                  <a:srgbClr val="1A1A1A"/>
                </a:solidFill>
                <a:latin typeface="Arial"/>
              </a:rPr>
              <a:t>CWP liberados</a:t>
            </a:r>
            <a:r>
              <a:rPr sz="1200" b="0" i="0">
                <a:solidFill>
                  <a:srgbClr val="6D6E71"/>
                </a:solidFill>
                <a:latin typeface="Arial"/>
              </a:rPr>
              <a:t>  ·  con alcance, límites y requisitos</a:t>
            </a:r>
          </a:p>
        </p:txBody>
      </p:sp>
      <p:sp>
        <p:nvSpPr>
          <p:cNvPr id="21" name="Rectangle 20"/>
          <p:cNvSpPr/>
          <p:nvPr/>
        </p:nvSpPr>
        <p:spPr>
          <a:xfrm>
            <a:off x="3886200" y="3726833"/>
            <a:ext cx="7756855" cy="547333"/>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heck_o.png"/>
          <p:cNvPicPr>
            <a:picLocks noChangeAspect="1"/>
          </p:cNvPicPr>
          <p:nvPr/>
        </p:nvPicPr>
        <p:blipFill>
          <a:blip r:embed="rId3"/>
          <a:stretch>
            <a:fillRect/>
          </a:stretch>
        </p:blipFill>
        <p:spPr>
          <a:xfrm>
            <a:off x="4087368" y="3845052"/>
            <a:ext cx="310896" cy="310896"/>
          </a:xfrm>
          <a:prstGeom prst="rect">
            <a:avLst/>
          </a:prstGeom>
        </p:spPr>
      </p:pic>
      <p:sp>
        <p:nvSpPr>
          <p:cNvPr id="23" name="TextBox 22"/>
          <p:cNvSpPr txBox="1"/>
          <p:nvPr/>
        </p:nvSpPr>
        <p:spPr>
          <a:xfrm>
            <a:off x="4572000" y="3726833"/>
            <a:ext cx="6888175" cy="547333"/>
          </a:xfrm>
          <a:prstGeom prst="rect">
            <a:avLst/>
          </a:prstGeom>
          <a:noFill/>
        </p:spPr>
        <p:txBody>
          <a:bodyPr wrap="square" lIns="0" rIns="0" tIns="0" bIns="0" anchor="ctr">
            <a:spAutoFit/>
          </a:bodyPr>
          <a:lstStyle/>
          <a:p>
            <a:pPr algn="l"/>
            <a:r>
              <a:rPr sz="1350" b="1" i="0">
                <a:solidFill>
                  <a:srgbClr val="1A1A1A"/>
                </a:solidFill>
                <a:latin typeface="Arial"/>
              </a:rPr>
              <a:t>Modelo 3D con atributos</a:t>
            </a:r>
            <a:r>
              <a:rPr sz="1200" b="0" i="0">
                <a:solidFill>
                  <a:srgbClr val="6D6E71"/>
                </a:solidFill>
                <a:latin typeface="Arial"/>
              </a:rPr>
              <a:t>  ·  organizado por CWA, EWP y CWP</a:t>
            </a:r>
          </a:p>
        </p:txBody>
      </p:sp>
      <p:sp>
        <p:nvSpPr>
          <p:cNvPr id="24" name="Rectangle 23"/>
          <p:cNvSpPr/>
          <p:nvPr/>
        </p:nvSpPr>
        <p:spPr>
          <a:xfrm>
            <a:off x="3886200" y="4347318"/>
            <a:ext cx="7756855" cy="547333"/>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check_o.png"/>
          <p:cNvPicPr>
            <a:picLocks noChangeAspect="1"/>
          </p:cNvPicPr>
          <p:nvPr/>
        </p:nvPicPr>
        <p:blipFill>
          <a:blip r:embed="rId3"/>
          <a:stretch>
            <a:fillRect/>
          </a:stretch>
        </p:blipFill>
        <p:spPr>
          <a:xfrm>
            <a:off x="4087368" y="4465537"/>
            <a:ext cx="310896" cy="310896"/>
          </a:xfrm>
          <a:prstGeom prst="rect">
            <a:avLst/>
          </a:prstGeom>
        </p:spPr>
      </p:pic>
      <p:sp>
        <p:nvSpPr>
          <p:cNvPr id="26" name="TextBox 25"/>
          <p:cNvSpPr txBox="1"/>
          <p:nvPr/>
        </p:nvSpPr>
        <p:spPr>
          <a:xfrm>
            <a:off x="4572000" y="4347318"/>
            <a:ext cx="6888175" cy="547333"/>
          </a:xfrm>
          <a:prstGeom prst="rect">
            <a:avLst/>
          </a:prstGeom>
          <a:noFill/>
        </p:spPr>
        <p:txBody>
          <a:bodyPr wrap="square" lIns="0" rIns="0" tIns="0" bIns="0" anchor="ctr">
            <a:spAutoFit/>
          </a:bodyPr>
          <a:lstStyle/>
          <a:p>
            <a:pPr algn="l"/>
            <a:r>
              <a:rPr sz="1350" b="1" i="0">
                <a:solidFill>
                  <a:srgbClr val="1A1A1A"/>
                </a:solidFill>
                <a:latin typeface="Arial"/>
              </a:rPr>
              <a:t>Estimado por CWA, disciplina y secuencia</a:t>
            </a:r>
            <a:r>
              <a:rPr sz="1200" b="0" i="0">
                <a:solidFill>
                  <a:srgbClr val="6D6E71"/>
                </a:solidFill>
                <a:latin typeface="Arial"/>
              </a:rPr>
              <a:t/>
            </a:r>
          </a:p>
        </p:txBody>
      </p:sp>
      <p:sp>
        <p:nvSpPr>
          <p:cNvPr id="27" name="Rectangle 26"/>
          <p:cNvSpPr/>
          <p:nvPr/>
        </p:nvSpPr>
        <p:spPr>
          <a:xfrm>
            <a:off x="3886200" y="4967804"/>
            <a:ext cx="7756855" cy="547333"/>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_o.png"/>
          <p:cNvPicPr>
            <a:picLocks noChangeAspect="1"/>
          </p:cNvPicPr>
          <p:nvPr/>
        </p:nvPicPr>
        <p:blipFill>
          <a:blip r:embed="rId3"/>
          <a:stretch>
            <a:fillRect/>
          </a:stretch>
        </p:blipFill>
        <p:spPr>
          <a:xfrm>
            <a:off x="4087368" y="5086023"/>
            <a:ext cx="310896" cy="310896"/>
          </a:xfrm>
          <a:prstGeom prst="rect">
            <a:avLst/>
          </a:prstGeom>
        </p:spPr>
      </p:pic>
      <p:sp>
        <p:nvSpPr>
          <p:cNvPr id="29" name="TextBox 28"/>
          <p:cNvSpPr txBox="1"/>
          <p:nvPr/>
        </p:nvSpPr>
        <p:spPr>
          <a:xfrm>
            <a:off x="4572000" y="4967804"/>
            <a:ext cx="6888175" cy="547333"/>
          </a:xfrm>
          <a:prstGeom prst="rect">
            <a:avLst/>
          </a:prstGeom>
          <a:noFill/>
        </p:spPr>
        <p:txBody>
          <a:bodyPr wrap="square" lIns="0" rIns="0" tIns="0" bIns="0" anchor="ctr">
            <a:spAutoFit/>
          </a:bodyPr>
          <a:lstStyle/>
          <a:p>
            <a:pPr algn="l"/>
            <a:r>
              <a:rPr sz="1350" b="1" i="0">
                <a:solidFill>
                  <a:srgbClr val="1A1A1A"/>
                </a:solidFill>
                <a:latin typeface="Arial"/>
              </a:rPr>
              <a:t>Cronograma de nivel 3</a:t>
            </a:r>
            <a:r>
              <a:rPr sz="1200" b="0" i="0">
                <a:solidFill>
                  <a:srgbClr val="6D6E71"/>
                </a:solidFill>
                <a:latin typeface="Arial"/>
              </a:rPr>
              <a:t>  ·  con hitos de interfaz EWP → CWP</a:t>
            </a:r>
          </a:p>
        </p:txBody>
      </p:sp>
      <p:sp>
        <p:nvSpPr>
          <p:cNvPr id="30" name="Rectangle 29"/>
          <p:cNvSpPr/>
          <p:nvPr/>
        </p:nvSpPr>
        <p:spPr>
          <a:xfrm>
            <a:off x="3886200" y="5588290"/>
            <a:ext cx="7756855" cy="547333"/>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check_o.png"/>
          <p:cNvPicPr>
            <a:picLocks noChangeAspect="1"/>
          </p:cNvPicPr>
          <p:nvPr/>
        </p:nvPicPr>
        <p:blipFill>
          <a:blip r:embed="rId3"/>
          <a:stretch>
            <a:fillRect/>
          </a:stretch>
        </p:blipFill>
        <p:spPr>
          <a:xfrm>
            <a:off x="4087368" y="5706509"/>
            <a:ext cx="310896" cy="310896"/>
          </a:xfrm>
          <a:prstGeom prst="rect">
            <a:avLst/>
          </a:prstGeom>
        </p:spPr>
      </p:pic>
      <p:sp>
        <p:nvSpPr>
          <p:cNvPr id="32" name="TextBox 31"/>
          <p:cNvSpPr txBox="1"/>
          <p:nvPr/>
        </p:nvSpPr>
        <p:spPr>
          <a:xfrm>
            <a:off x="4572000" y="5588290"/>
            <a:ext cx="6888175" cy="547333"/>
          </a:xfrm>
          <a:prstGeom prst="rect">
            <a:avLst/>
          </a:prstGeom>
          <a:noFill/>
        </p:spPr>
        <p:txBody>
          <a:bodyPr wrap="square" lIns="0" rIns="0" tIns="0" bIns="0" anchor="ctr">
            <a:spAutoFit/>
          </a:bodyPr>
          <a:lstStyle/>
          <a:p>
            <a:pPr algn="l"/>
            <a:r>
              <a:rPr sz="1350" b="1" i="0">
                <a:solidFill>
                  <a:srgbClr val="1A1A1A"/>
                </a:solidFill>
                <a:latin typeface="Arial"/>
              </a:rPr>
              <a:t>Planes de liberación al día</a:t>
            </a:r>
            <a:r>
              <a:rPr sz="1200" b="0" i="0">
                <a:solidFill>
                  <a:srgbClr val="6D6E71"/>
                </a:solidFill>
                <a:latin typeface="Arial"/>
              </a:rPr>
              <a:t>  ·  planificado frente a real</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097280"/>
            <a:ext cx="3657600" cy="2194560"/>
          </a:xfrm>
          <a:prstGeom prst="rect">
            <a:avLst/>
          </a:prstGeom>
          <a:noFill/>
        </p:spPr>
        <p:txBody>
          <a:bodyPr wrap="square" lIns="0" rIns="0" tIns="0" bIns="0" anchor="t">
            <a:spAutoFit/>
          </a:bodyPr>
          <a:lstStyle/>
          <a:p>
            <a:pPr algn="l"/>
            <a:r>
              <a:rPr sz="15000" b="1" i="0">
                <a:solidFill>
                  <a:srgbClr val="FF6600"/>
                </a:solidFill>
                <a:latin typeface="Arial"/>
              </a:rPr>
              <a:t>06</a:t>
            </a:r>
          </a:p>
        </p:txBody>
      </p:sp>
      <p:sp>
        <p:nvSpPr>
          <p:cNvPr id="4" name="TextBox 3"/>
          <p:cNvSpPr txBox="1"/>
          <p:nvPr/>
        </p:nvSpPr>
        <p:spPr>
          <a:xfrm>
            <a:off x="4160520" y="1481328"/>
            <a:ext cx="7498079" cy="274320"/>
          </a:xfrm>
          <a:prstGeom prst="rect">
            <a:avLst/>
          </a:prstGeom>
          <a:noFill/>
        </p:spPr>
        <p:txBody>
          <a:bodyPr wrap="square" lIns="0" rIns="0" tIns="0" bIns="0" anchor="t">
            <a:spAutoFit/>
          </a:bodyPr>
          <a:lstStyle/>
          <a:p>
            <a:pPr algn="l"/>
            <a:r>
              <a:rPr sz="1200" b="1" i="0" spc="300">
                <a:solidFill>
                  <a:srgbClr val="FF6600"/>
                </a:solidFill>
                <a:latin typeface="Arial"/>
              </a:rPr>
              <a:t>MÓDULO 6 · FASE 3: CONSTRUCCIÓN</a:t>
            </a:r>
          </a:p>
        </p:txBody>
      </p:sp>
      <p:sp>
        <p:nvSpPr>
          <p:cNvPr id="5" name="Título"/>
          <p:cNvSpPr txBox="1"/>
          <p:nvPr/>
        </p:nvSpPr>
        <p:spPr>
          <a:xfrm>
            <a:off x="4160520" y="1874519"/>
            <a:ext cx="7452360" cy="1508760"/>
          </a:xfrm>
          <a:prstGeom prst="rect">
            <a:avLst/>
          </a:prstGeom>
          <a:noFill/>
        </p:spPr>
        <p:txBody>
          <a:bodyPr wrap="square" lIns="0" rIns="0" tIns="0" bIns="0" anchor="t">
            <a:spAutoFit/>
          </a:bodyPr>
          <a:lstStyle/>
          <a:p>
            <a:pPr algn="l">
              <a:lnSpc>
                <a:spcPct val="95000"/>
              </a:lnSpc>
            </a:pPr>
            <a:r>
              <a:rPr sz="3600" b="1" i="0">
                <a:solidFill>
                  <a:srgbClr val="FFFFFF"/>
                </a:solidFill>
                <a:latin typeface="Arial"/>
              </a:rPr>
              <a:t>En campo, cada capataz recibe un paquete listo para ejecutar</a:t>
            </a:r>
          </a:p>
        </p:txBody>
      </p:sp>
      <p:sp>
        <p:nvSpPr>
          <p:cNvPr id="6" name="TextBox 5"/>
          <p:cNvSpPr txBox="1"/>
          <p:nvPr/>
        </p:nvSpPr>
        <p:spPr>
          <a:xfrm>
            <a:off x="4160520" y="3474720"/>
            <a:ext cx="7406640" cy="685800"/>
          </a:xfrm>
          <a:prstGeom prst="rect">
            <a:avLst/>
          </a:prstGeom>
          <a:noFill/>
        </p:spPr>
        <p:txBody>
          <a:bodyPr wrap="square" lIns="0" rIns="0" tIns="0" bIns="0" anchor="t">
            <a:spAutoFit/>
          </a:bodyPr>
          <a:lstStyle/>
          <a:p>
            <a:pPr algn="l">
              <a:lnSpc>
                <a:spcPct val="110000"/>
              </a:lnSpc>
            </a:pPr>
            <a:r>
              <a:rPr sz="1500" b="0" i="0">
                <a:solidFill>
                  <a:srgbClr val="BCBEC0"/>
                </a:solidFill>
                <a:latin typeface="Arial"/>
              </a:rPr>
              <a:t>Workface Planning (WFP), gestión de restricciones, backlog y seguimiento diario del avance.</a:t>
            </a:r>
          </a:p>
        </p:txBody>
      </p:sp>
      <p:sp>
        <p:nvSpPr>
          <p:cNvPr id="7" name="Rectangle 6"/>
          <p:cNvSpPr/>
          <p:nvPr/>
        </p:nvSpPr>
        <p:spPr>
          <a:xfrm>
            <a:off x="548640" y="4892040"/>
            <a:ext cx="2606040" cy="86868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5047488"/>
            <a:ext cx="2240280" cy="228600"/>
          </a:xfrm>
          <a:prstGeom prst="rect">
            <a:avLst/>
          </a:prstGeom>
          <a:noFill/>
        </p:spPr>
        <p:txBody>
          <a:bodyPr wrap="square" lIns="0" rIns="0" tIns="0" bIns="0" anchor="t">
            <a:spAutoFit/>
          </a:bodyPr>
          <a:lstStyle/>
          <a:p>
            <a:pPr algn="l"/>
            <a:r>
              <a:rPr sz="1000" b="1" i="0" spc="200">
                <a:solidFill>
                  <a:srgbClr val="FF6600"/>
                </a:solidFill>
                <a:latin typeface="Arial"/>
              </a:rPr>
              <a:t>FASE 1</a:t>
            </a:r>
          </a:p>
        </p:txBody>
      </p:sp>
      <p:sp>
        <p:nvSpPr>
          <p:cNvPr id="9" name="TextBox 8"/>
          <p:cNvSpPr txBox="1"/>
          <p:nvPr/>
        </p:nvSpPr>
        <p:spPr>
          <a:xfrm>
            <a:off x="777240" y="5321807"/>
            <a:ext cx="2240280" cy="274320"/>
          </a:xfrm>
          <a:prstGeom prst="rect">
            <a:avLst/>
          </a:prstGeom>
          <a:noFill/>
        </p:spPr>
        <p:txBody>
          <a:bodyPr wrap="square" lIns="0" rIns="0" tIns="0" bIns="0" anchor="t">
            <a:spAutoFit/>
          </a:bodyPr>
          <a:lstStyle/>
          <a:p>
            <a:pPr algn="l"/>
            <a:r>
              <a:rPr sz="1200" b="0" i="0">
                <a:solidFill>
                  <a:srgbClr val="BCBEC0"/>
                </a:solidFill>
                <a:latin typeface="Arial"/>
              </a:rPr>
              <a:t>Planificación · FEL 2</a:t>
            </a:r>
          </a:p>
        </p:txBody>
      </p:sp>
      <p:sp>
        <p:nvSpPr>
          <p:cNvPr id="10" name="Rectangle 9"/>
          <p:cNvSpPr/>
          <p:nvPr/>
        </p:nvSpPr>
        <p:spPr>
          <a:xfrm>
            <a:off x="3374136" y="4892040"/>
            <a:ext cx="2606040" cy="86868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602736" y="5047488"/>
            <a:ext cx="2240280" cy="228600"/>
          </a:xfrm>
          <a:prstGeom prst="rect">
            <a:avLst/>
          </a:prstGeom>
          <a:noFill/>
        </p:spPr>
        <p:txBody>
          <a:bodyPr wrap="square" lIns="0" rIns="0" tIns="0" bIns="0" anchor="t">
            <a:spAutoFit/>
          </a:bodyPr>
          <a:lstStyle/>
          <a:p>
            <a:pPr algn="l"/>
            <a:r>
              <a:rPr sz="1000" b="1" i="0" spc="200">
                <a:solidFill>
                  <a:srgbClr val="FF6600"/>
                </a:solidFill>
                <a:latin typeface="Arial"/>
              </a:rPr>
              <a:t>FASE 2</a:t>
            </a:r>
          </a:p>
        </p:txBody>
      </p:sp>
      <p:sp>
        <p:nvSpPr>
          <p:cNvPr id="12" name="TextBox 11"/>
          <p:cNvSpPr txBox="1"/>
          <p:nvPr/>
        </p:nvSpPr>
        <p:spPr>
          <a:xfrm>
            <a:off x="3602736" y="5321807"/>
            <a:ext cx="2240280" cy="274320"/>
          </a:xfrm>
          <a:prstGeom prst="rect">
            <a:avLst/>
          </a:prstGeom>
          <a:noFill/>
        </p:spPr>
        <p:txBody>
          <a:bodyPr wrap="square" lIns="0" rIns="0" tIns="0" bIns="0" anchor="t">
            <a:spAutoFit/>
          </a:bodyPr>
          <a:lstStyle/>
          <a:p>
            <a:pPr algn="l"/>
            <a:r>
              <a:rPr sz="1200" b="0" i="0">
                <a:solidFill>
                  <a:srgbClr val="BCBEC0"/>
                </a:solidFill>
                <a:latin typeface="Arial"/>
              </a:rPr>
              <a:t>Ingeniería y compras · FEL 3</a:t>
            </a:r>
          </a:p>
        </p:txBody>
      </p:sp>
      <p:sp>
        <p:nvSpPr>
          <p:cNvPr id="13" name="Rectangle 12"/>
          <p:cNvSpPr/>
          <p:nvPr/>
        </p:nvSpPr>
        <p:spPr>
          <a:xfrm>
            <a:off x="6199631" y="4892040"/>
            <a:ext cx="2606040" cy="86868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28231" y="5047488"/>
            <a:ext cx="2240280" cy="228600"/>
          </a:xfrm>
          <a:prstGeom prst="rect">
            <a:avLst/>
          </a:prstGeom>
          <a:noFill/>
        </p:spPr>
        <p:txBody>
          <a:bodyPr wrap="square" lIns="0" rIns="0" tIns="0" bIns="0" anchor="t">
            <a:spAutoFit/>
          </a:bodyPr>
          <a:lstStyle/>
          <a:p>
            <a:pPr algn="l"/>
            <a:r>
              <a:rPr sz="1000" b="1" i="0" spc="200">
                <a:solidFill>
                  <a:srgbClr val="FFFFFF"/>
                </a:solidFill>
                <a:latin typeface="Arial"/>
              </a:rPr>
              <a:t>FASE 3</a:t>
            </a:r>
          </a:p>
        </p:txBody>
      </p:sp>
      <p:sp>
        <p:nvSpPr>
          <p:cNvPr id="15" name="TextBox 14"/>
          <p:cNvSpPr txBox="1"/>
          <p:nvPr/>
        </p:nvSpPr>
        <p:spPr>
          <a:xfrm>
            <a:off x="6428231" y="5321807"/>
            <a:ext cx="2240280" cy="274320"/>
          </a:xfrm>
          <a:prstGeom prst="rect">
            <a:avLst/>
          </a:prstGeom>
          <a:noFill/>
        </p:spPr>
        <p:txBody>
          <a:bodyPr wrap="square" lIns="0" rIns="0" tIns="0" bIns="0" anchor="t">
            <a:spAutoFit/>
          </a:bodyPr>
          <a:lstStyle/>
          <a:p>
            <a:pPr algn="l"/>
            <a:r>
              <a:rPr sz="1200" b="1" i="0">
                <a:solidFill>
                  <a:srgbClr val="FFFFFF"/>
                </a:solidFill>
                <a:latin typeface="Arial"/>
              </a:rPr>
              <a:t>Construcción</a:t>
            </a:r>
          </a:p>
        </p:txBody>
      </p:sp>
      <p:sp>
        <p:nvSpPr>
          <p:cNvPr id="16" name="Rectangle 15"/>
          <p:cNvSpPr/>
          <p:nvPr/>
        </p:nvSpPr>
        <p:spPr>
          <a:xfrm>
            <a:off x="9025128" y="4892040"/>
            <a:ext cx="2606040" cy="86868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253728" y="5047488"/>
            <a:ext cx="2240280" cy="228600"/>
          </a:xfrm>
          <a:prstGeom prst="rect">
            <a:avLst/>
          </a:prstGeom>
          <a:noFill/>
        </p:spPr>
        <p:txBody>
          <a:bodyPr wrap="square" lIns="0" rIns="0" tIns="0" bIns="0" anchor="t">
            <a:spAutoFit/>
          </a:bodyPr>
          <a:lstStyle/>
          <a:p>
            <a:pPr algn="l"/>
            <a:r>
              <a:rPr sz="1000" b="1" i="0" spc="200">
                <a:solidFill>
                  <a:srgbClr val="FF6600"/>
                </a:solidFill>
                <a:latin typeface="Arial"/>
              </a:rPr>
              <a:t>FASE 4</a:t>
            </a:r>
          </a:p>
        </p:txBody>
      </p:sp>
      <p:sp>
        <p:nvSpPr>
          <p:cNvPr id="18" name="TextBox 17"/>
          <p:cNvSpPr txBox="1"/>
          <p:nvPr/>
        </p:nvSpPr>
        <p:spPr>
          <a:xfrm>
            <a:off x="9253728" y="5321807"/>
            <a:ext cx="2240280" cy="274320"/>
          </a:xfrm>
          <a:prstGeom prst="rect">
            <a:avLst/>
          </a:prstGeom>
          <a:noFill/>
        </p:spPr>
        <p:txBody>
          <a:bodyPr wrap="square" lIns="0" rIns="0" tIns="0" bIns="0" anchor="t">
            <a:spAutoFit/>
          </a:bodyPr>
          <a:lstStyle/>
          <a:p>
            <a:pPr algn="l"/>
            <a:r>
              <a:rPr sz="1200" b="0" i="0">
                <a:solidFill>
                  <a:srgbClr val="BCBEC0"/>
                </a:solidFill>
                <a:latin typeface="Arial"/>
              </a:rPr>
              <a:t>Puesta en marcha</a:t>
            </a:r>
          </a:p>
        </p:txBody>
      </p:sp>
      <p:sp>
        <p:nvSpPr>
          <p:cNvPr id="19" name="TextBox 18"/>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8A8B8E"/>
                </a:solidFill>
                <a:latin typeface="Arial"/>
              </a:rPr>
              <a:t>IMPLEMENTACIÓN DE AWP  ·  M6 · CONSTRUCCIÓN Y WORKFACE PLANNING</a:t>
            </a:r>
          </a:p>
        </p:txBody>
      </p:sp>
      <p:sp>
        <p:nvSpPr>
          <p:cNvPr id="20" name="TextBox 19"/>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8A8B8E"/>
                </a:solidFill>
                <a:latin typeface="Courier New"/>
              </a:rPr>
              <a:t>059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6 · LA META</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FFFFFF"/>
                </a:solidFill>
                <a:latin typeface="Arial"/>
              </a:rPr>
              <a:t>La meta: cada lunes, un IWP listo para cada capataz</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8A8B8E"/>
                </a:solidFill>
                <a:latin typeface="Arial"/>
              </a:rPr>
              <a:t>IMPLEMENTACIÓN DE AWP  ·  M6 · CONSTRUCCIÓN Y WORKFACE PLANNING</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8A8B8E"/>
                </a:solidFill>
                <a:latin typeface="Courier New"/>
              </a:rPr>
              <a:t>060</a:t>
            </a:r>
          </a:p>
        </p:txBody>
      </p:sp>
      <p:pic>
        <p:nvPicPr>
          <p:cNvPr id="7" name="Picture 6" descr="quote_o.png"/>
          <p:cNvPicPr>
            <a:picLocks noChangeAspect="1"/>
          </p:cNvPicPr>
          <p:nvPr/>
        </p:nvPicPr>
        <p:blipFill>
          <a:blip r:embed="rId2"/>
          <a:stretch>
            <a:fillRect/>
          </a:stretch>
        </p:blipFill>
        <p:spPr>
          <a:xfrm>
            <a:off x="548640" y="1920240"/>
            <a:ext cx="548640" cy="548640"/>
          </a:xfrm>
          <a:prstGeom prst="rect">
            <a:avLst/>
          </a:prstGeom>
        </p:spPr>
      </p:pic>
      <p:sp>
        <p:nvSpPr>
          <p:cNvPr id="8" name="TextBox 7"/>
          <p:cNvSpPr txBox="1"/>
          <p:nvPr/>
        </p:nvSpPr>
        <p:spPr>
          <a:xfrm>
            <a:off x="1417319" y="1828800"/>
            <a:ext cx="10225735" cy="1737360"/>
          </a:xfrm>
          <a:prstGeom prst="rect">
            <a:avLst/>
          </a:prstGeom>
          <a:noFill/>
        </p:spPr>
        <p:txBody>
          <a:bodyPr wrap="square" lIns="0" rIns="0" tIns="0" bIns="0" anchor="ctr">
            <a:spAutoFit/>
          </a:bodyPr>
          <a:lstStyle/>
          <a:p>
            <a:pPr algn="l">
              <a:lnSpc>
                <a:spcPct val="110000"/>
              </a:lnSpc>
            </a:pPr>
            <a:r>
              <a:rPr sz="2400" b="0" i="1">
                <a:solidFill>
                  <a:srgbClr val="FFFFFF"/>
                </a:solidFill>
                <a:latin typeface="Arial"/>
              </a:rPr>
              <a:t>“Dar a cada capataz, al inicio de cada semana, un IWP listo para ejecutar: alcance identificado, materiales y herramientas disponibles, trabajos previos terminados y andamio listo.”</a:t>
            </a:r>
          </a:p>
        </p:txBody>
      </p:sp>
      <p:sp>
        <p:nvSpPr>
          <p:cNvPr id="9" name="TextBox 8"/>
          <p:cNvSpPr txBox="1"/>
          <p:nvPr/>
        </p:nvSpPr>
        <p:spPr>
          <a:xfrm>
            <a:off x="1417319" y="3657600"/>
            <a:ext cx="10225735" cy="274320"/>
          </a:xfrm>
          <a:prstGeom prst="rect">
            <a:avLst/>
          </a:prstGeom>
          <a:noFill/>
        </p:spPr>
        <p:txBody>
          <a:bodyPr wrap="square" lIns="0" rIns="0" tIns="0" bIns="0" anchor="t">
            <a:spAutoFit/>
          </a:bodyPr>
          <a:lstStyle/>
          <a:p>
            <a:pPr algn="l"/>
            <a:r>
              <a:rPr sz="1100" b="1" i="0" spc="100">
                <a:solidFill>
                  <a:srgbClr val="FF9955"/>
                </a:solidFill>
                <a:latin typeface="Arial"/>
              </a:rPr>
              <a:t>QUICK START GUIDE · INSIGHT-AWP (TRADUCCIÓN)</a:t>
            </a:r>
          </a:p>
        </p:txBody>
      </p:sp>
      <p:sp>
        <p:nvSpPr>
          <p:cNvPr id="10" name="Rectangle 9"/>
          <p:cNvSpPr/>
          <p:nvPr/>
        </p:nvSpPr>
        <p:spPr>
          <a:xfrm>
            <a:off x="548640" y="4160520"/>
            <a:ext cx="3527450" cy="201168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lip_o.png"/>
          <p:cNvPicPr>
            <a:picLocks noChangeAspect="1"/>
          </p:cNvPicPr>
          <p:nvPr/>
        </p:nvPicPr>
        <p:blipFill>
          <a:blip r:embed="rId3"/>
          <a:stretch>
            <a:fillRect/>
          </a:stretch>
        </p:blipFill>
        <p:spPr>
          <a:xfrm>
            <a:off x="822959" y="4974336"/>
            <a:ext cx="384048" cy="384048"/>
          </a:xfrm>
          <a:prstGeom prst="rect">
            <a:avLst/>
          </a:prstGeom>
        </p:spPr>
      </p:pic>
      <p:sp>
        <p:nvSpPr>
          <p:cNvPr id="12" name="TextBox 11"/>
          <p:cNvSpPr txBox="1"/>
          <p:nvPr/>
        </p:nvSpPr>
        <p:spPr>
          <a:xfrm>
            <a:off x="1417319" y="4251959"/>
            <a:ext cx="2475890" cy="1828800"/>
          </a:xfrm>
          <a:prstGeom prst="rect">
            <a:avLst/>
          </a:prstGeom>
          <a:noFill/>
        </p:spPr>
        <p:txBody>
          <a:bodyPr wrap="square" lIns="0" rIns="0" tIns="0" bIns="0" anchor="ctr">
            <a:spAutoFit/>
          </a:bodyPr>
          <a:lstStyle/>
          <a:p>
            <a:pPr algn="l">
              <a:lnSpc>
                <a:spcPct val="105000"/>
              </a:lnSpc>
            </a:pPr>
            <a:r>
              <a:rPr sz="1300" b="0" i="0">
                <a:solidFill>
                  <a:srgbClr val="FFFFFF"/>
                </a:solidFill>
                <a:latin typeface="Arial"/>
              </a:rPr>
              <a:t>Alcance identificado y planos vigentes</a:t>
            </a:r>
          </a:p>
        </p:txBody>
      </p:sp>
      <p:sp>
        <p:nvSpPr>
          <p:cNvPr id="13" name="Rectangle 12"/>
          <p:cNvSpPr/>
          <p:nvPr/>
        </p:nvSpPr>
        <p:spPr>
          <a:xfrm>
            <a:off x="4332122" y="4160520"/>
            <a:ext cx="3527450" cy="201168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boxes_o.png"/>
          <p:cNvPicPr>
            <a:picLocks noChangeAspect="1"/>
          </p:cNvPicPr>
          <p:nvPr/>
        </p:nvPicPr>
        <p:blipFill>
          <a:blip r:embed="rId4"/>
          <a:stretch>
            <a:fillRect/>
          </a:stretch>
        </p:blipFill>
        <p:spPr>
          <a:xfrm>
            <a:off x="4606442" y="4974336"/>
            <a:ext cx="384048" cy="384048"/>
          </a:xfrm>
          <a:prstGeom prst="rect">
            <a:avLst/>
          </a:prstGeom>
        </p:spPr>
      </p:pic>
      <p:sp>
        <p:nvSpPr>
          <p:cNvPr id="15" name="TextBox 14"/>
          <p:cNvSpPr txBox="1"/>
          <p:nvPr/>
        </p:nvSpPr>
        <p:spPr>
          <a:xfrm>
            <a:off x="5200802" y="4251959"/>
            <a:ext cx="2475890" cy="1828800"/>
          </a:xfrm>
          <a:prstGeom prst="rect">
            <a:avLst/>
          </a:prstGeom>
          <a:noFill/>
        </p:spPr>
        <p:txBody>
          <a:bodyPr wrap="square" lIns="0" rIns="0" tIns="0" bIns="0" anchor="ctr">
            <a:spAutoFit/>
          </a:bodyPr>
          <a:lstStyle/>
          <a:p>
            <a:pPr algn="l">
              <a:lnSpc>
                <a:spcPct val="105000"/>
              </a:lnSpc>
            </a:pPr>
            <a:r>
              <a:rPr sz="1300" b="0" i="0">
                <a:solidFill>
                  <a:srgbClr val="FFFFFF"/>
                </a:solidFill>
                <a:latin typeface="Arial"/>
              </a:rPr>
              <a:t>Materiales y herramientas disponibles</a:t>
            </a:r>
          </a:p>
        </p:txBody>
      </p:sp>
      <p:sp>
        <p:nvSpPr>
          <p:cNvPr id="16" name="Rectangle 15"/>
          <p:cNvSpPr/>
          <p:nvPr/>
        </p:nvSpPr>
        <p:spPr>
          <a:xfrm>
            <a:off x="8115604" y="4160520"/>
            <a:ext cx="3527450" cy="201168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stairs_o.png"/>
          <p:cNvPicPr>
            <a:picLocks noChangeAspect="1"/>
          </p:cNvPicPr>
          <p:nvPr/>
        </p:nvPicPr>
        <p:blipFill>
          <a:blip r:embed="rId5"/>
          <a:stretch>
            <a:fillRect/>
          </a:stretch>
        </p:blipFill>
        <p:spPr>
          <a:xfrm>
            <a:off x="8389924" y="4974336"/>
            <a:ext cx="384048" cy="384048"/>
          </a:xfrm>
          <a:prstGeom prst="rect">
            <a:avLst/>
          </a:prstGeom>
        </p:spPr>
      </p:pic>
      <p:sp>
        <p:nvSpPr>
          <p:cNvPr id="18" name="TextBox 17"/>
          <p:cNvSpPr txBox="1"/>
          <p:nvPr/>
        </p:nvSpPr>
        <p:spPr>
          <a:xfrm>
            <a:off x="8984284" y="4251959"/>
            <a:ext cx="2475890" cy="1828800"/>
          </a:xfrm>
          <a:prstGeom prst="rect">
            <a:avLst/>
          </a:prstGeom>
          <a:noFill/>
        </p:spPr>
        <p:txBody>
          <a:bodyPr wrap="square" lIns="0" rIns="0" tIns="0" bIns="0" anchor="ctr">
            <a:spAutoFit/>
          </a:bodyPr>
          <a:lstStyle/>
          <a:p>
            <a:pPr algn="l">
              <a:lnSpc>
                <a:spcPct val="105000"/>
              </a:lnSpc>
            </a:pPr>
            <a:r>
              <a:rPr sz="1300" b="0" i="0">
                <a:solidFill>
                  <a:srgbClr val="FFFFFF"/>
                </a:solidFill>
                <a:latin typeface="Arial"/>
              </a:rPr>
              <a:t>Trabajo previo terminado y andamio listo</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6 · WORKFACE PLANNING</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WFP es definir, crear, ejecutar y seguir los IWP</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M6 · CONSTRUCCIÓN Y WORKFACE PLANNING</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061</a:t>
            </a:r>
          </a:p>
        </p:txBody>
      </p:sp>
      <p:sp>
        <p:nvSpPr>
          <p:cNvPr id="7" name="Oval 6"/>
          <p:cNvSpPr/>
          <p:nvPr/>
        </p:nvSpPr>
        <p:spPr>
          <a:xfrm>
            <a:off x="3337559" y="3428999"/>
            <a:ext cx="1737360" cy="1097280"/>
          </a:xfrm>
          <a:prstGeom prst="ellipse">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383279" y="3520439"/>
            <a:ext cx="1645920" cy="914400"/>
          </a:xfrm>
          <a:prstGeom prst="rect">
            <a:avLst/>
          </a:prstGeom>
          <a:noFill/>
        </p:spPr>
        <p:txBody>
          <a:bodyPr wrap="square" lIns="0" rIns="0" tIns="0" bIns="0" anchor="ctr">
            <a:spAutoFit/>
          </a:bodyPr>
          <a:lstStyle/>
          <a:p>
            <a:pPr algn="ctr"/>
            <a:r>
              <a:rPr sz="1300" b="1" i="0">
                <a:solidFill>
                  <a:srgbClr val="FFFFFF"/>
                </a:solidFill>
                <a:latin typeface="Arial"/>
              </a:rPr>
              <a:t>Workface Planning</a:t>
            </a:r>
          </a:p>
        </p:txBody>
      </p:sp>
      <p:cxnSp>
        <p:nvCxnSpPr>
          <p:cNvPr id="9" name="Connector 8"/>
          <p:cNvCxnSpPr/>
          <p:nvPr/>
        </p:nvCxnSpPr>
        <p:spPr>
          <a:xfrm>
            <a:off x="4545594" y="2748609"/>
            <a:ext cx="753480" cy="824118"/>
          </a:xfrm>
          <a:prstGeom prst="line">
            <a:avLst/>
          </a:prstGeom>
          <a:ln w="22225">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4576445" y="4348809"/>
            <a:ext cx="753480" cy="824118"/>
          </a:xfrm>
          <a:prstGeom prst="line">
            <a:avLst/>
          </a:prstGeom>
          <a:ln w="22225">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3113405" y="4382552"/>
            <a:ext cx="753480" cy="824118"/>
          </a:xfrm>
          <a:prstGeom prst="line">
            <a:avLst/>
          </a:prstGeom>
          <a:ln w="22225">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082554" y="2782352"/>
            <a:ext cx="753480" cy="824118"/>
          </a:xfrm>
          <a:prstGeom prst="line">
            <a:avLst/>
          </a:prstGeom>
          <a:ln w="22225">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840479" y="2011679"/>
            <a:ext cx="731520" cy="73152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search_w.png"/>
          <p:cNvPicPr>
            <a:picLocks noChangeAspect="1"/>
          </p:cNvPicPr>
          <p:nvPr/>
        </p:nvPicPr>
        <p:blipFill>
          <a:blip r:embed="rId2"/>
          <a:stretch>
            <a:fillRect/>
          </a:stretch>
        </p:blipFill>
        <p:spPr>
          <a:xfrm>
            <a:off x="4016044" y="2187244"/>
            <a:ext cx="380390" cy="380390"/>
          </a:xfrm>
          <a:prstGeom prst="rect">
            <a:avLst/>
          </a:prstGeom>
        </p:spPr>
      </p:pic>
      <p:sp>
        <p:nvSpPr>
          <p:cNvPr id="15" name="TextBox 14"/>
          <p:cNvSpPr txBox="1"/>
          <p:nvPr/>
        </p:nvSpPr>
        <p:spPr>
          <a:xfrm>
            <a:off x="4663440" y="1993391"/>
            <a:ext cx="1737360" cy="822960"/>
          </a:xfrm>
          <a:prstGeom prst="rect">
            <a:avLst/>
          </a:prstGeom>
          <a:noFill/>
        </p:spPr>
        <p:txBody>
          <a:bodyPr wrap="square" lIns="0" rIns="0" tIns="0" bIns="0" anchor="ctr">
            <a:spAutoFit/>
          </a:bodyPr>
          <a:lstStyle/>
          <a:p>
            <a:pPr algn="l">
              <a:lnSpc>
                <a:spcPct val="100000"/>
              </a:lnSpc>
            </a:pPr>
            <a:r>
              <a:rPr sz="1300" b="1" i="0">
                <a:solidFill>
                  <a:srgbClr val="1A1A1A"/>
                </a:solidFill>
                <a:latin typeface="Arial"/>
              </a:rPr>
              <a:t>Definir</a:t>
            </a:r>
          </a:p>
          <a:p>
            <a:pPr algn="l">
              <a:lnSpc>
                <a:spcPct val="100000"/>
              </a:lnSpc>
            </a:pPr>
            <a:r>
              <a:rPr sz="1100" b="0" i="0">
                <a:solidFill>
                  <a:srgbClr val="6D6E71"/>
                </a:solidFill>
                <a:latin typeface="Arial"/>
              </a:rPr>
              <a:t>Revisar el CWP y la secuencia</a:t>
            </a:r>
          </a:p>
        </p:txBody>
      </p:sp>
      <p:sp>
        <p:nvSpPr>
          <p:cNvPr id="16" name="Oval 15"/>
          <p:cNvSpPr/>
          <p:nvPr/>
        </p:nvSpPr>
        <p:spPr>
          <a:xfrm>
            <a:off x="5303519" y="3611879"/>
            <a:ext cx="731520" cy="73152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clip_w.png"/>
          <p:cNvPicPr>
            <a:picLocks noChangeAspect="1"/>
          </p:cNvPicPr>
          <p:nvPr/>
        </p:nvPicPr>
        <p:blipFill>
          <a:blip r:embed="rId3"/>
          <a:stretch>
            <a:fillRect/>
          </a:stretch>
        </p:blipFill>
        <p:spPr>
          <a:xfrm>
            <a:off x="5479084" y="3787444"/>
            <a:ext cx="380390" cy="380390"/>
          </a:xfrm>
          <a:prstGeom prst="rect">
            <a:avLst/>
          </a:prstGeom>
        </p:spPr>
      </p:pic>
      <p:sp>
        <p:nvSpPr>
          <p:cNvPr id="18" name="TextBox 17"/>
          <p:cNvSpPr txBox="1"/>
          <p:nvPr/>
        </p:nvSpPr>
        <p:spPr>
          <a:xfrm>
            <a:off x="6126479" y="3593591"/>
            <a:ext cx="1737360" cy="822960"/>
          </a:xfrm>
          <a:prstGeom prst="rect">
            <a:avLst/>
          </a:prstGeom>
          <a:noFill/>
        </p:spPr>
        <p:txBody>
          <a:bodyPr wrap="square" lIns="0" rIns="0" tIns="0" bIns="0" anchor="ctr">
            <a:spAutoFit/>
          </a:bodyPr>
          <a:lstStyle/>
          <a:p>
            <a:pPr algn="l">
              <a:lnSpc>
                <a:spcPct val="100000"/>
              </a:lnSpc>
            </a:pPr>
            <a:r>
              <a:rPr sz="1300" b="1" i="0">
                <a:solidFill>
                  <a:srgbClr val="1A1A1A"/>
                </a:solidFill>
                <a:latin typeface="Arial"/>
              </a:rPr>
              <a:t>Crear</a:t>
            </a:r>
          </a:p>
          <a:p>
            <a:pPr algn="l">
              <a:lnSpc>
                <a:spcPct val="100000"/>
              </a:lnSpc>
            </a:pPr>
            <a:r>
              <a:rPr sz="1100" b="0" i="0">
                <a:solidFill>
                  <a:srgbClr val="6D6E71"/>
                </a:solidFill>
                <a:latin typeface="Arial"/>
              </a:rPr>
              <a:t>Armar el IWP y liberar restricciones</a:t>
            </a:r>
          </a:p>
        </p:txBody>
      </p:sp>
      <p:sp>
        <p:nvSpPr>
          <p:cNvPr id="19" name="Oval 18"/>
          <p:cNvSpPr/>
          <p:nvPr/>
        </p:nvSpPr>
        <p:spPr>
          <a:xfrm>
            <a:off x="3840479" y="5212079"/>
            <a:ext cx="731520" cy="73152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helmet_w.png"/>
          <p:cNvPicPr>
            <a:picLocks noChangeAspect="1"/>
          </p:cNvPicPr>
          <p:nvPr/>
        </p:nvPicPr>
        <p:blipFill>
          <a:blip r:embed="rId4"/>
          <a:stretch>
            <a:fillRect/>
          </a:stretch>
        </p:blipFill>
        <p:spPr>
          <a:xfrm>
            <a:off x="4016044" y="5387644"/>
            <a:ext cx="380390" cy="380390"/>
          </a:xfrm>
          <a:prstGeom prst="rect">
            <a:avLst/>
          </a:prstGeom>
        </p:spPr>
      </p:pic>
      <p:sp>
        <p:nvSpPr>
          <p:cNvPr id="21" name="TextBox 20"/>
          <p:cNvSpPr txBox="1"/>
          <p:nvPr/>
        </p:nvSpPr>
        <p:spPr>
          <a:xfrm>
            <a:off x="4663440" y="5193792"/>
            <a:ext cx="1737360" cy="822960"/>
          </a:xfrm>
          <a:prstGeom prst="rect">
            <a:avLst/>
          </a:prstGeom>
          <a:noFill/>
        </p:spPr>
        <p:txBody>
          <a:bodyPr wrap="square" lIns="0" rIns="0" tIns="0" bIns="0" anchor="ctr">
            <a:spAutoFit/>
          </a:bodyPr>
          <a:lstStyle/>
          <a:p>
            <a:pPr algn="l">
              <a:lnSpc>
                <a:spcPct val="100000"/>
              </a:lnSpc>
            </a:pPr>
            <a:r>
              <a:rPr sz="1300" b="1" i="0">
                <a:solidFill>
                  <a:srgbClr val="1A1A1A"/>
                </a:solidFill>
                <a:latin typeface="Arial"/>
              </a:rPr>
              <a:t>Ejecutar</a:t>
            </a:r>
          </a:p>
          <a:p>
            <a:pPr algn="l">
              <a:lnSpc>
                <a:spcPct val="100000"/>
              </a:lnSpc>
            </a:pPr>
            <a:r>
              <a:rPr sz="1100" b="0" i="0">
                <a:solidFill>
                  <a:srgbClr val="6D6E71"/>
                </a:solidFill>
                <a:latin typeface="Arial"/>
              </a:rPr>
              <a:t>Entregar el IWP al capataz</a:t>
            </a:r>
          </a:p>
        </p:txBody>
      </p:sp>
      <p:sp>
        <p:nvSpPr>
          <p:cNvPr id="22" name="Oval 21"/>
          <p:cNvSpPr/>
          <p:nvPr/>
        </p:nvSpPr>
        <p:spPr>
          <a:xfrm>
            <a:off x="2377439" y="3611879"/>
            <a:ext cx="731520" cy="73152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chart_w.png"/>
          <p:cNvPicPr>
            <a:picLocks noChangeAspect="1"/>
          </p:cNvPicPr>
          <p:nvPr/>
        </p:nvPicPr>
        <p:blipFill>
          <a:blip r:embed="rId5"/>
          <a:stretch>
            <a:fillRect/>
          </a:stretch>
        </p:blipFill>
        <p:spPr>
          <a:xfrm>
            <a:off x="2553004" y="3787444"/>
            <a:ext cx="380390" cy="380390"/>
          </a:xfrm>
          <a:prstGeom prst="rect">
            <a:avLst/>
          </a:prstGeom>
        </p:spPr>
      </p:pic>
      <p:sp>
        <p:nvSpPr>
          <p:cNvPr id="24" name="TextBox 23"/>
          <p:cNvSpPr txBox="1"/>
          <p:nvPr/>
        </p:nvSpPr>
        <p:spPr>
          <a:xfrm>
            <a:off x="548639" y="3593591"/>
            <a:ext cx="1737360" cy="822960"/>
          </a:xfrm>
          <a:prstGeom prst="rect">
            <a:avLst/>
          </a:prstGeom>
          <a:noFill/>
        </p:spPr>
        <p:txBody>
          <a:bodyPr wrap="square" lIns="0" rIns="0" tIns="0" bIns="0" anchor="ctr">
            <a:spAutoFit/>
          </a:bodyPr>
          <a:lstStyle/>
          <a:p>
            <a:pPr algn="r">
              <a:lnSpc>
                <a:spcPct val="100000"/>
              </a:lnSpc>
            </a:pPr>
            <a:r>
              <a:rPr sz="1300" b="1" i="0">
                <a:solidFill>
                  <a:srgbClr val="1A1A1A"/>
                </a:solidFill>
                <a:latin typeface="Arial"/>
              </a:rPr>
              <a:t>Seguir</a:t>
            </a:r>
          </a:p>
          <a:p>
            <a:pPr algn="r">
              <a:lnSpc>
                <a:spcPct val="100000"/>
              </a:lnSpc>
            </a:pPr>
            <a:r>
              <a:rPr sz="1100" b="0" i="0">
                <a:solidFill>
                  <a:srgbClr val="6D6E71"/>
                </a:solidFill>
                <a:latin typeface="Arial"/>
              </a:rPr>
              <a:t>Registrar avance y desempeño</a:t>
            </a:r>
          </a:p>
        </p:txBody>
      </p:sp>
      <p:sp>
        <p:nvSpPr>
          <p:cNvPr id="25" name="Rectangle 24"/>
          <p:cNvSpPr/>
          <p:nvPr/>
        </p:nvSpPr>
        <p:spPr>
          <a:xfrm>
            <a:off x="8138160" y="1828800"/>
            <a:ext cx="3504895" cy="43434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80" y="2103120"/>
            <a:ext cx="2956255" cy="3794760"/>
          </a:xfrm>
          <a:prstGeom prst="rect">
            <a:avLst/>
          </a:prstGeom>
          <a:noFill/>
        </p:spPr>
        <p:txBody>
          <a:bodyPr wrap="square" lIns="0" rIns="0" tIns="0" bIns="0" anchor="t">
            <a:spAutoFit/>
          </a:bodyPr>
          <a:lstStyle/>
          <a:p>
            <a:pPr algn="l">
              <a:lnSpc>
                <a:spcPct val="115000"/>
              </a:lnSpc>
              <a:spcAft>
                <a:spcPts val="800"/>
              </a:spcAft>
            </a:pPr>
            <a:r>
              <a:rPr sz="1300" b="0" i="0">
                <a:solidFill>
                  <a:srgbClr val="FFFFFF"/>
                </a:solidFill>
                <a:latin typeface="Arial"/>
              </a:rPr>
              <a:t>El Workface Planner no solo crea IWP:</a:t>
            </a:r>
          </a:p>
          <a:p>
            <a:pPr algn="l">
              <a:lnSpc>
                <a:spcPct val="115000"/>
              </a:lnSpc>
              <a:spcAft>
                <a:spcPts val="800"/>
              </a:spcAft>
            </a:pPr>
            <a:r>
              <a:rPr sz="1300" b="0" i="0">
                <a:solidFill>
                  <a:srgbClr val="FFFFFF"/>
                </a:solidFill>
                <a:latin typeface="Arial"/>
              </a:rPr>
              <a:t>• Verifica el alcance del CWP</a:t>
            </a:r>
          </a:p>
          <a:p>
            <a:pPr algn="l">
              <a:lnSpc>
                <a:spcPct val="115000"/>
              </a:lnSpc>
              <a:spcAft>
                <a:spcPts val="800"/>
              </a:spcAft>
            </a:pPr>
            <a:r>
              <a:rPr sz="1300" b="0" i="0">
                <a:solidFill>
                  <a:srgbClr val="FFFFFF"/>
                </a:solidFill>
                <a:latin typeface="Arial"/>
              </a:rPr>
              <a:t>• Gestiona restricciones y backlog</a:t>
            </a:r>
          </a:p>
          <a:p>
            <a:pPr algn="l">
              <a:lnSpc>
                <a:spcPct val="115000"/>
              </a:lnSpc>
              <a:spcAft>
                <a:spcPts val="800"/>
              </a:spcAft>
            </a:pPr>
            <a:r>
              <a:rPr sz="1300" b="0" i="0">
                <a:solidFill>
                  <a:srgbClr val="FFFFFF"/>
                </a:solidFill>
                <a:latin typeface="Arial"/>
              </a:rPr>
              <a:t>• Registra avance y desempeño</a:t>
            </a:r>
          </a:p>
          <a:p>
            <a:pPr algn="l">
              <a:lnSpc>
                <a:spcPct val="115000"/>
              </a:lnSpc>
              <a:spcAft>
                <a:spcPts val="800"/>
              </a:spcAft>
            </a:pPr>
            <a:r>
              <a:rPr sz="1300" b="0" i="0">
                <a:solidFill>
                  <a:srgbClr val="FFFFFF"/>
                </a:solidFill>
                <a:latin typeface="Arial"/>
              </a:rPr>
              <a:t>• Arma paquetes para la entrega por sistemas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6 · CONTENIDO DEL IWP</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El IWP contiene todo lo que el capataz necesita</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M6 · CONSTRUCCIÓN Y WORKFACE PLANNING</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062</a:t>
            </a:r>
          </a:p>
        </p:txBody>
      </p:sp>
      <p:sp>
        <p:nvSpPr>
          <p:cNvPr id="7" name="Rectangle 6"/>
          <p:cNvSpPr/>
          <p:nvPr/>
        </p:nvSpPr>
        <p:spPr>
          <a:xfrm>
            <a:off x="548640" y="1828800"/>
            <a:ext cx="2581579" cy="2043684"/>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_o.png"/>
          <p:cNvPicPr>
            <a:picLocks noChangeAspect="1"/>
          </p:cNvPicPr>
          <p:nvPr/>
        </p:nvPicPr>
        <p:blipFill>
          <a:blip r:embed="rId2"/>
          <a:stretch>
            <a:fillRect/>
          </a:stretch>
        </p:blipFill>
        <p:spPr>
          <a:xfrm>
            <a:off x="822959" y="2084832"/>
            <a:ext cx="457200" cy="457200"/>
          </a:xfrm>
          <a:prstGeom prst="rect">
            <a:avLst/>
          </a:prstGeom>
        </p:spPr>
      </p:pic>
      <p:sp>
        <p:nvSpPr>
          <p:cNvPr id="9" name="TextBox 8"/>
          <p:cNvSpPr txBox="1"/>
          <p:nvPr/>
        </p:nvSpPr>
        <p:spPr>
          <a:xfrm>
            <a:off x="822959" y="2706624"/>
            <a:ext cx="2078659"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Portada</a:t>
            </a:r>
          </a:p>
        </p:txBody>
      </p:sp>
      <p:sp>
        <p:nvSpPr>
          <p:cNvPr id="10" name="TextBox 9"/>
          <p:cNvSpPr txBox="1"/>
          <p:nvPr/>
        </p:nvSpPr>
        <p:spPr>
          <a:xfrm>
            <a:off x="822959" y="3328416"/>
            <a:ext cx="2078659" cy="406907"/>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Nombre, valor planificado y vista del alcance</a:t>
            </a:r>
          </a:p>
        </p:txBody>
      </p:sp>
      <p:sp>
        <p:nvSpPr>
          <p:cNvPr id="11" name="Rectangle 10"/>
          <p:cNvSpPr/>
          <p:nvPr/>
        </p:nvSpPr>
        <p:spPr>
          <a:xfrm>
            <a:off x="3386251" y="1828800"/>
            <a:ext cx="2581579" cy="2043684"/>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warning_o.png"/>
          <p:cNvPicPr>
            <a:picLocks noChangeAspect="1"/>
          </p:cNvPicPr>
          <p:nvPr/>
        </p:nvPicPr>
        <p:blipFill>
          <a:blip r:embed="rId3"/>
          <a:stretch>
            <a:fillRect/>
          </a:stretch>
        </p:blipFill>
        <p:spPr>
          <a:xfrm>
            <a:off x="3660571" y="2084832"/>
            <a:ext cx="457200" cy="457200"/>
          </a:xfrm>
          <a:prstGeom prst="rect">
            <a:avLst/>
          </a:prstGeom>
        </p:spPr>
      </p:pic>
      <p:sp>
        <p:nvSpPr>
          <p:cNvPr id="13" name="TextBox 12"/>
          <p:cNvSpPr txBox="1"/>
          <p:nvPr/>
        </p:nvSpPr>
        <p:spPr>
          <a:xfrm>
            <a:off x="3660571" y="2706624"/>
            <a:ext cx="2078659"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Emergencias</a:t>
            </a:r>
          </a:p>
        </p:txBody>
      </p:sp>
      <p:sp>
        <p:nvSpPr>
          <p:cNvPr id="14" name="TextBox 13"/>
          <p:cNvSpPr txBox="1"/>
          <p:nvPr/>
        </p:nvSpPr>
        <p:spPr>
          <a:xfrm>
            <a:off x="3660571" y="3328416"/>
            <a:ext cx="2078659" cy="406907"/>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Nombres y teléfonos de contacto</a:t>
            </a:r>
          </a:p>
        </p:txBody>
      </p:sp>
      <p:sp>
        <p:nvSpPr>
          <p:cNvPr id="15" name="Rectangle 14"/>
          <p:cNvSpPr/>
          <p:nvPr/>
        </p:nvSpPr>
        <p:spPr>
          <a:xfrm>
            <a:off x="6223863" y="1828800"/>
            <a:ext cx="2581579" cy="2043684"/>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nlock_o.png"/>
          <p:cNvPicPr>
            <a:picLocks noChangeAspect="1"/>
          </p:cNvPicPr>
          <p:nvPr/>
        </p:nvPicPr>
        <p:blipFill>
          <a:blip r:embed="rId4"/>
          <a:stretch>
            <a:fillRect/>
          </a:stretch>
        </p:blipFill>
        <p:spPr>
          <a:xfrm>
            <a:off x="6498183" y="2084832"/>
            <a:ext cx="457200" cy="457200"/>
          </a:xfrm>
          <a:prstGeom prst="rect">
            <a:avLst/>
          </a:prstGeom>
        </p:spPr>
      </p:pic>
      <p:sp>
        <p:nvSpPr>
          <p:cNvPr id="17" name="TextBox 16"/>
          <p:cNvSpPr txBox="1"/>
          <p:nvPr/>
        </p:nvSpPr>
        <p:spPr>
          <a:xfrm>
            <a:off x="6498183" y="2706624"/>
            <a:ext cx="2078659"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Restricciones</a:t>
            </a:r>
          </a:p>
        </p:txBody>
      </p:sp>
      <p:sp>
        <p:nvSpPr>
          <p:cNvPr id="18" name="TextBox 17"/>
          <p:cNvSpPr txBox="1"/>
          <p:nvPr/>
        </p:nvSpPr>
        <p:spPr>
          <a:xfrm>
            <a:off x="6498183" y="3328416"/>
            <a:ext cx="2078659" cy="406907"/>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Lista con firmas de liberación</a:t>
            </a:r>
          </a:p>
        </p:txBody>
      </p:sp>
      <p:sp>
        <p:nvSpPr>
          <p:cNvPr id="19" name="Rectangle 18"/>
          <p:cNvSpPr/>
          <p:nvPr/>
        </p:nvSpPr>
        <p:spPr>
          <a:xfrm>
            <a:off x="9061475" y="1828800"/>
            <a:ext cx="2581579" cy="2043684"/>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stcheck_o.png"/>
          <p:cNvPicPr>
            <a:picLocks noChangeAspect="1"/>
          </p:cNvPicPr>
          <p:nvPr/>
        </p:nvPicPr>
        <p:blipFill>
          <a:blip r:embed="rId5"/>
          <a:stretch>
            <a:fillRect/>
          </a:stretch>
        </p:blipFill>
        <p:spPr>
          <a:xfrm>
            <a:off x="9335795" y="2084832"/>
            <a:ext cx="457200" cy="457200"/>
          </a:xfrm>
          <a:prstGeom prst="rect">
            <a:avLst/>
          </a:prstGeom>
        </p:spPr>
      </p:pic>
      <p:sp>
        <p:nvSpPr>
          <p:cNvPr id="21" name="TextBox 20"/>
          <p:cNvSpPr txBox="1"/>
          <p:nvPr/>
        </p:nvSpPr>
        <p:spPr>
          <a:xfrm>
            <a:off x="9335795" y="2706624"/>
            <a:ext cx="2078659"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Alcance</a:t>
            </a:r>
          </a:p>
        </p:txBody>
      </p:sp>
      <p:sp>
        <p:nvSpPr>
          <p:cNvPr id="22" name="TextBox 21"/>
          <p:cNvSpPr txBox="1"/>
          <p:nvPr/>
        </p:nvSpPr>
        <p:spPr>
          <a:xfrm>
            <a:off x="9335795" y="3328416"/>
            <a:ext cx="2078659" cy="406907"/>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Secuencia básica del trabajo</a:t>
            </a:r>
          </a:p>
        </p:txBody>
      </p:sp>
      <p:sp>
        <p:nvSpPr>
          <p:cNvPr id="23" name="Rectangle 22"/>
          <p:cNvSpPr/>
          <p:nvPr/>
        </p:nvSpPr>
        <p:spPr>
          <a:xfrm>
            <a:off x="548640" y="4128515"/>
            <a:ext cx="2581579" cy="2043684"/>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shield_o.png"/>
          <p:cNvPicPr>
            <a:picLocks noChangeAspect="1"/>
          </p:cNvPicPr>
          <p:nvPr/>
        </p:nvPicPr>
        <p:blipFill>
          <a:blip r:embed="rId6"/>
          <a:stretch>
            <a:fillRect/>
          </a:stretch>
        </p:blipFill>
        <p:spPr>
          <a:xfrm>
            <a:off x="822959" y="4384548"/>
            <a:ext cx="457200" cy="457200"/>
          </a:xfrm>
          <a:prstGeom prst="rect">
            <a:avLst/>
          </a:prstGeom>
        </p:spPr>
      </p:pic>
      <p:sp>
        <p:nvSpPr>
          <p:cNvPr id="25" name="TextBox 24"/>
          <p:cNvSpPr txBox="1"/>
          <p:nvPr/>
        </p:nvSpPr>
        <p:spPr>
          <a:xfrm>
            <a:off x="822959" y="5006340"/>
            <a:ext cx="2078659"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Seguridad</a:t>
            </a:r>
          </a:p>
        </p:txBody>
      </p:sp>
      <p:sp>
        <p:nvSpPr>
          <p:cNvPr id="26" name="TextBox 25"/>
          <p:cNvSpPr txBox="1"/>
          <p:nvPr/>
        </p:nvSpPr>
        <p:spPr>
          <a:xfrm>
            <a:off x="822959" y="5628131"/>
            <a:ext cx="2078659" cy="406908"/>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Extracto del análisis de riesgos (JHA)</a:t>
            </a:r>
          </a:p>
        </p:txBody>
      </p:sp>
      <p:sp>
        <p:nvSpPr>
          <p:cNvPr id="27" name="Rectangle 26"/>
          <p:cNvSpPr/>
          <p:nvPr/>
        </p:nvSpPr>
        <p:spPr>
          <a:xfrm>
            <a:off x="3386251" y="4128515"/>
            <a:ext cx="2581579" cy="2043684"/>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lipcheck_o.png"/>
          <p:cNvPicPr>
            <a:picLocks noChangeAspect="1"/>
          </p:cNvPicPr>
          <p:nvPr/>
        </p:nvPicPr>
        <p:blipFill>
          <a:blip r:embed="rId7"/>
          <a:stretch>
            <a:fillRect/>
          </a:stretch>
        </p:blipFill>
        <p:spPr>
          <a:xfrm>
            <a:off x="3660571" y="4384548"/>
            <a:ext cx="457200" cy="457200"/>
          </a:xfrm>
          <a:prstGeom prst="rect">
            <a:avLst/>
          </a:prstGeom>
        </p:spPr>
      </p:pic>
      <p:sp>
        <p:nvSpPr>
          <p:cNvPr id="29" name="TextBox 28"/>
          <p:cNvSpPr txBox="1"/>
          <p:nvPr/>
        </p:nvSpPr>
        <p:spPr>
          <a:xfrm>
            <a:off x="3660571" y="5006340"/>
            <a:ext cx="2078659"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Calidad</a:t>
            </a:r>
          </a:p>
        </p:txBody>
      </p:sp>
      <p:sp>
        <p:nvSpPr>
          <p:cNvPr id="30" name="TextBox 29"/>
          <p:cNvSpPr txBox="1"/>
          <p:nvPr/>
        </p:nvSpPr>
        <p:spPr>
          <a:xfrm>
            <a:off x="3660571" y="5628131"/>
            <a:ext cx="2078659" cy="406908"/>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Extracto del plan de inspección (ITP)</a:t>
            </a:r>
          </a:p>
        </p:txBody>
      </p:sp>
      <p:sp>
        <p:nvSpPr>
          <p:cNvPr id="31" name="Rectangle 30"/>
          <p:cNvSpPr/>
          <p:nvPr/>
        </p:nvSpPr>
        <p:spPr>
          <a:xfrm>
            <a:off x="6223863" y="4128515"/>
            <a:ext cx="2581579" cy="2043684"/>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ruler_o.png"/>
          <p:cNvPicPr>
            <a:picLocks noChangeAspect="1"/>
          </p:cNvPicPr>
          <p:nvPr/>
        </p:nvPicPr>
        <p:blipFill>
          <a:blip r:embed="rId8"/>
          <a:stretch>
            <a:fillRect/>
          </a:stretch>
        </p:blipFill>
        <p:spPr>
          <a:xfrm>
            <a:off x="6498183" y="4384548"/>
            <a:ext cx="457200" cy="457200"/>
          </a:xfrm>
          <a:prstGeom prst="rect">
            <a:avLst/>
          </a:prstGeom>
        </p:spPr>
      </p:pic>
      <p:sp>
        <p:nvSpPr>
          <p:cNvPr id="33" name="TextBox 32"/>
          <p:cNvSpPr txBox="1"/>
          <p:nvPr/>
        </p:nvSpPr>
        <p:spPr>
          <a:xfrm>
            <a:off x="6498183" y="5006340"/>
            <a:ext cx="2078659"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Documentos</a:t>
            </a:r>
          </a:p>
        </p:txBody>
      </p:sp>
      <p:sp>
        <p:nvSpPr>
          <p:cNvPr id="34" name="TextBox 33"/>
          <p:cNvSpPr txBox="1"/>
          <p:nvPr/>
        </p:nvSpPr>
        <p:spPr>
          <a:xfrm>
            <a:off x="6498183" y="5628131"/>
            <a:ext cx="2078659" cy="406908"/>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Solo los planos que la cuadrilla necesita</a:t>
            </a:r>
          </a:p>
        </p:txBody>
      </p:sp>
      <p:sp>
        <p:nvSpPr>
          <p:cNvPr id="35" name="Rectangle 34"/>
          <p:cNvSpPr/>
          <p:nvPr/>
        </p:nvSpPr>
        <p:spPr>
          <a:xfrm>
            <a:off x="9061475" y="4128515"/>
            <a:ext cx="2581579" cy="2043684"/>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Picture 35" descr="boxes_o.png"/>
          <p:cNvPicPr>
            <a:picLocks noChangeAspect="1"/>
          </p:cNvPicPr>
          <p:nvPr/>
        </p:nvPicPr>
        <p:blipFill>
          <a:blip r:embed="rId9"/>
          <a:stretch>
            <a:fillRect/>
          </a:stretch>
        </p:blipFill>
        <p:spPr>
          <a:xfrm>
            <a:off x="9335795" y="4384548"/>
            <a:ext cx="457200" cy="457200"/>
          </a:xfrm>
          <a:prstGeom prst="rect">
            <a:avLst/>
          </a:prstGeom>
        </p:spPr>
      </p:pic>
      <p:sp>
        <p:nvSpPr>
          <p:cNvPr id="37" name="TextBox 36"/>
          <p:cNvSpPr txBox="1"/>
          <p:nvPr/>
        </p:nvSpPr>
        <p:spPr>
          <a:xfrm>
            <a:off x="9335795" y="5006340"/>
            <a:ext cx="2078659"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Materiales y equipos</a:t>
            </a:r>
          </a:p>
        </p:txBody>
      </p:sp>
      <p:sp>
        <p:nvSpPr>
          <p:cNvPr id="38" name="TextBox 37"/>
          <p:cNvSpPr txBox="1"/>
          <p:nvPr/>
        </p:nvSpPr>
        <p:spPr>
          <a:xfrm>
            <a:off x="9335795" y="5628131"/>
            <a:ext cx="2078659" cy="406908"/>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Lista verificada contra el almacén</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6 · DEL CWP AL IWP</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Del CWP al IWP en cuatro pasos, 90 días antes</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M6 · CONSTRUCCIÓN Y WORKFACE PLANNING</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063</a:t>
            </a:r>
          </a:p>
        </p:txBody>
      </p:sp>
      <p:sp>
        <p:nvSpPr>
          <p:cNvPr id="7" name="Rectangle 6"/>
          <p:cNvSpPr/>
          <p:nvPr/>
        </p:nvSpPr>
        <p:spPr>
          <a:xfrm>
            <a:off x="548640" y="1874519"/>
            <a:ext cx="2567863"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1</a:t>
            </a:r>
          </a:p>
        </p:txBody>
      </p:sp>
      <p:pic>
        <p:nvPicPr>
          <p:cNvPr id="10" name="Picture 9" descr="calendar_o.png"/>
          <p:cNvPicPr>
            <a:picLocks noChangeAspect="1"/>
          </p:cNvPicPr>
          <p:nvPr/>
        </p:nvPicPr>
        <p:blipFill>
          <a:blip r:embed="rId2"/>
          <a:stretch>
            <a:fillRect/>
          </a:stretch>
        </p:blipFill>
        <p:spPr>
          <a:xfrm>
            <a:off x="2458135" y="2148839"/>
            <a:ext cx="420624" cy="420624"/>
          </a:xfrm>
          <a:prstGeom prst="rect">
            <a:avLst/>
          </a:prstGeom>
        </p:spPr>
      </p:pic>
      <p:sp>
        <p:nvSpPr>
          <p:cNvPr id="11" name="TextBox 10"/>
          <p:cNvSpPr txBox="1"/>
          <p:nvPr/>
        </p:nvSpPr>
        <p:spPr>
          <a:xfrm>
            <a:off x="777240"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Elegir el CWP</a:t>
            </a:r>
          </a:p>
        </p:txBody>
      </p:sp>
      <p:sp>
        <p:nvSpPr>
          <p:cNvPr id="12" name="TextBox 11"/>
          <p:cNvSpPr txBox="1"/>
          <p:nvPr/>
        </p:nvSpPr>
        <p:spPr>
          <a:xfrm>
            <a:off x="777240" y="3429000"/>
            <a:ext cx="2156383"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Uno que se ejecutará dentro de unos 90 días</a:t>
            </a:r>
          </a:p>
        </p:txBody>
      </p:sp>
      <p:cxnSp>
        <p:nvCxnSpPr>
          <p:cNvPr id="13" name="Connector 12"/>
          <p:cNvCxnSpPr/>
          <p:nvPr/>
        </p:nvCxnSpPr>
        <p:spPr>
          <a:xfrm>
            <a:off x="3153079" y="3291839"/>
            <a:ext cx="201168"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3390823" y="1874519"/>
            <a:ext cx="2567863"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3619423"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619423"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2</a:t>
            </a:r>
          </a:p>
        </p:txBody>
      </p:sp>
      <p:pic>
        <p:nvPicPr>
          <p:cNvPr id="17" name="Picture 16" descr="comments_o.png"/>
          <p:cNvPicPr>
            <a:picLocks noChangeAspect="1"/>
          </p:cNvPicPr>
          <p:nvPr/>
        </p:nvPicPr>
        <p:blipFill>
          <a:blip r:embed="rId3"/>
          <a:stretch>
            <a:fillRect/>
          </a:stretch>
        </p:blipFill>
        <p:spPr>
          <a:xfrm>
            <a:off x="5300319" y="2148839"/>
            <a:ext cx="420624" cy="420624"/>
          </a:xfrm>
          <a:prstGeom prst="rect">
            <a:avLst/>
          </a:prstGeom>
        </p:spPr>
      </p:pic>
      <p:sp>
        <p:nvSpPr>
          <p:cNvPr id="18" name="TextBox 17"/>
          <p:cNvSpPr txBox="1"/>
          <p:nvPr/>
        </p:nvSpPr>
        <p:spPr>
          <a:xfrm>
            <a:off x="3619423"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Acordar la secuencia</a:t>
            </a:r>
          </a:p>
        </p:txBody>
      </p:sp>
      <p:sp>
        <p:nvSpPr>
          <p:cNvPr id="19" name="TextBox 18"/>
          <p:cNvSpPr txBox="1"/>
          <p:nvPr/>
        </p:nvSpPr>
        <p:spPr>
          <a:xfrm>
            <a:off x="3619423" y="3429000"/>
            <a:ext cx="2156383"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El superintendente explica cómo dividir y ordenar el trabajo</a:t>
            </a:r>
          </a:p>
        </p:txBody>
      </p:sp>
      <p:cxnSp>
        <p:nvCxnSpPr>
          <p:cNvPr id="20" name="Connector 19"/>
          <p:cNvCxnSpPr/>
          <p:nvPr/>
        </p:nvCxnSpPr>
        <p:spPr>
          <a:xfrm>
            <a:off x="5995263" y="3291839"/>
            <a:ext cx="201168"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233007" y="1874519"/>
            <a:ext cx="2567863"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6461607"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461607"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3</a:t>
            </a:r>
          </a:p>
        </p:txBody>
      </p:sp>
      <p:pic>
        <p:nvPicPr>
          <p:cNvPr id="24" name="Picture 23" descr="cube_o.png"/>
          <p:cNvPicPr>
            <a:picLocks noChangeAspect="1"/>
          </p:cNvPicPr>
          <p:nvPr/>
        </p:nvPicPr>
        <p:blipFill>
          <a:blip r:embed="rId4"/>
          <a:stretch>
            <a:fillRect/>
          </a:stretch>
        </p:blipFill>
        <p:spPr>
          <a:xfrm>
            <a:off x="8142503" y="2148839"/>
            <a:ext cx="420624" cy="420624"/>
          </a:xfrm>
          <a:prstGeom prst="rect">
            <a:avLst/>
          </a:prstGeom>
        </p:spPr>
      </p:pic>
      <p:sp>
        <p:nvSpPr>
          <p:cNvPr id="25" name="TextBox 24"/>
          <p:cNvSpPr txBox="1"/>
          <p:nvPr/>
        </p:nvSpPr>
        <p:spPr>
          <a:xfrm>
            <a:off x="6461607"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Armar los IWP en 3D</a:t>
            </a:r>
          </a:p>
        </p:txBody>
      </p:sp>
      <p:sp>
        <p:nvSpPr>
          <p:cNvPr id="26" name="TextBox 25"/>
          <p:cNvSpPr txBox="1"/>
          <p:nvPr/>
        </p:nvSpPr>
        <p:spPr>
          <a:xfrm>
            <a:off x="6461607" y="3429000"/>
            <a:ext cx="2156383"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El planificador los define y redacta el alcance de cada uno</a:t>
            </a:r>
          </a:p>
        </p:txBody>
      </p:sp>
      <p:cxnSp>
        <p:nvCxnSpPr>
          <p:cNvPr id="27" name="Connector 26"/>
          <p:cNvCxnSpPr/>
          <p:nvPr/>
        </p:nvCxnSpPr>
        <p:spPr>
          <a:xfrm>
            <a:off x="8837447" y="3291839"/>
            <a:ext cx="201168"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9075191" y="1874519"/>
            <a:ext cx="2567863"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9303791"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303791"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4</a:t>
            </a:r>
          </a:p>
        </p:txBody>
      </p:sp>
      <p:pic>
        <p:nvPicPr>
          <p:cNvPr id="31" name="Picture 30" descr="usercheck_o.png"/>
          <p:cNvPicPr>
            <a:picLocks noChangeAspect="1"/>
          </p:cNvPicPr>
          <p:nvPr/>
        </p:nvPicPr>
        <p:blipFill>
          <a:blip r:embed="rId5"/>
          <a:stretch>
            <a:fillRect/>
          </a:stretch>
        </p:blipFill>
        <p:spPr>
          <a:xfrm>
            <a:off x="10984687" y="2148839"/>
            <a:ext cx="420624" cy="420624"/>
          </a:xfrm>
          <a:prstGeom prst="rect">
            <a:avLst/>
          </a:prstGeom>
        </p:spPr>
      </p:pic>
      <p:sp>
        <p:nvSpPr>
          <p:cNvPr id="32" name="TextBox 31"/>
          <p:cNvSpPr txBox="1"/>
          <p:nvPr/>
        </p:nvSpPr>
        <p:spPr>
          <a:xfrm>
            <a:off x="9303791"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Aprobar y completar</a:t>
            </a:r>
          </a:p>
        </p:txBody>
      </p:sp>
      <p:sp>
        <p:nvSpPr>
          <p:cNvPr id="33" name="TextBox 32"/>
          <p:cNvSpPr txBox="1"/>
          <p:nvPr/>
        </p:nvSpPr>
        <p:spPr>
          <a:xfrm>
            <a:off x="9303791" y="3429000"/>
            <a:ext cx="2156383"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El superintendente aprueba; el planificador llena cada sección</a:t>
            </a:r>
          </a:p>
        </p:txBody>
      </p:sp>
      <p:sp>
        <p:nvSpPr>
          <p:cNvPr id="34" name="Rectangle 33"/>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flag_o.png"/>
          <p:cNvPicPr>
            <a:picLocks noChangeAspect="1"/>
          </p:cNvPicPr>
          <p:nvPr/>
        </p:nvPicPr>
        <p:blipFill>
          <a:blip r:embed="rId6"/>
          <a:stretch>
            <a:fillRect/>
          </a:stretch>
        </p:blipFill>
        <p:spPr>
          <a:xfrm>
            <a:off x="822959" y="5660136"/>
            <a:ext cx="365760" cy="365760"/>
          </a:xfrm>
          <a:prstGeom prst="rect">
            <a:avLst/>
          </a:prstGeom>
        </p:spPr>
      </p:pic>
      <p:sp>
        <p:nvSpPr>
          <p:cNvPr id="36" name="TextBox 35"/>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No espere trabajar un CWP al día siguiente de recibirlo: convertirlo en IWP toma tiempo.</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6 · TAMAÑO DEL IWP</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Empiece con IWP de unas 500 horas y ajuste</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M6 · CONSTRUCCIÓN Y WORKFACE PLANNING</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064</a:t>
            </a:r>
          </a:p>
        </p:txBody>
      </p:sp>
      <p:pic>
        <p:nvPicPr>
          <p:cNvPr id="7" name="Picture 6" descr="clip_o.png"/>
          <p:cNvPicPr>
            <a:picLocks noChangeAspect="1"/>
          </p:cNvPicPr>
          <p:nvPr/>
        </p:nvPicPr>
        <p:blipFill>
          <a:blip r:embed="rId2"/>
          <a:stretch>
            <a:fillRect/>
          </a:stretch>
        </p:blipFill>
        <p:spPr>
          <a:xfrm>
            <a:off x="548640" y="1965960"/>
            <a:ext cx="548640" cy="548640"/>
          </a:xfrm>
          <a:prstGeom prst="rect">
            <a:avLst/>
          </a:prstGeom>
        </p:spPr>
      </p:pic>
      <p:sp>
        <p:nvSpPr>
          <p:cNvPr id="8" name="TextBox 7"/>
          <p:cNvSpPr txBox="1"/>
          <p:nvPr/>
        </p:nvSpPr>
        <p:spPr>
          <a:xfrm>
            <a:off x="548640" y="2514600"/>
            <a:ext cx="6035040" cy="1737360"/>
          </a:xfrm>
          <a:prstGeom prst="rect">
            <a:avLst/>
          </a:prstGeom>
          <a:noFill/>
        </p:spPr>
        <p:txBody>
          <a:bodyPr wrap="square" lIns="0" rIns="0" tIns="0" bIns="0" anchor="ctr">
            <a:spAutoFit/>
          </a:bodyPr>
          <a:lstStyle/>
          <a:p>
            <a:pPr algn="l"/>
            <a:r>
              <a:rPr sz="12000" b="1" i="0">
                <a:solidFill>
                  <a:srgbClr val="FF6600"/>
                </a:solidFill>
                <a:latin typeface="Arial"/>
              </a:rPr>
              <a:t>500 h</a:t>
            </a:r>
          </a:p>
        </p:txBody>
      </p:sp>
      <p:sp>
        <p:nvSpPr>
          <p:cNvPr id="9" name="TextBox 8"/>
          <p:cNvSpPr txBox="1"/>
          <p:nvPr/>
        </p:nvSpPr>
        <p:spPr>
          <a:xfrm>
            <a:off x="548640" y="4389120"/>
            <a:ext cx="5760720" cy="411480"/>
          </a:xfrm>
          <a:prstGeom prst="rect">
            <a:avLst/>
          </a:prstGeom>
          <a:noFill/>
        </p:spPr>
        <p:txBody>
          <a:bodyPr wrap="square" lIns="0" rIns="0" tIns="0" bIns="0" anchor="t">
            <a:spAutoFit/>
          </a:bodyPr>
          <a:lstStyle/>
          <a:p>
            <a:pPr algn="l"/>
            <a:r>
              <a:rPr sz="2000" b="1" i="0">
                <a:solidFill>
                  <a:srgbClr val="1A1A1A"/>
                </a:solidFill>
                <a:latin typeface="Arial"/>
              </a:rPr>
              <a:t>tamaño inicial de un IWP</a:t>
            </a:r>
          </a:p>
        </p:txBody>
      </p:sp>
      <p:sp>
        <p:nvSpPr>
          <p:cNvPr id="10" name="TextBox 9"/>
          <p:cNvSpPr txBox="1"/>
          <p:nvPr/>
        </p:nvSpPr>
        <p:spPr>
          <a:xfrm>
            <a:off x="548640" y="4892040"/>
            <a:ext cx="5669279" cy="1188720"/>
          </a:xfrm>
          <a:prstGeom prst="rect">
            <a:avLst/>
          </a:prstGeom>
          <a:noFill/>
        </p:spPr>
        <p:txBody>
          <a:bodyPr wrap="square" lIns="0" rIns="0" tIns="0" bIns="0" anchor="t">
            <a:spAutoFit/>
          </a:bodyPr>
          <a:lstStyle/>
          <a:p>
            <a:pPr algn="l">
              <a:lnSpc>
                <a:spcPct val="110000"/>
              </a:lnSpc>
            </a:pPr>
            <a:r>
              <a:rPr sz="1400" b="0" i="0">
                <a:solidFill>
                  <a:srgbClr val="6D6E71"/>
                </a:solidFill>
                <a:latin typeface="Arial"/>
              </a:rPr>
              <a:t>Empiece con una rotación (~500 h) y ajuste. Paquetes más pequeños son más fáciles de seguir.</a:t>
            </a:r>
          </a:p>
        </p:txBody>
      </p:sp>
      <p:sp>
        <p:nvSpPr>
          <p:cNvPr id="11" name="Rectangle 10"/>
          <p:cNvSpPr/>
          <p:nvPr/>
        </p:nvSpPr>
        <p:spPr>
          <a:xfrm>
            <a:off x="6949440" y="1828800"/>
            <a:ext cx="4693615" cy="12954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69479" y="2011680"/>
            <a:ext cx="2011680" cy="929640"/>
          </a:xfrm>
          <a:prstGeom prst="rect">
            <a:avLst/>
          </a:prstGeom>
          <a:noFill/>
        </p:spPr>
        <p:txBody>
          <a:bodyPr wrap="square" lIns="0" rIns="0" tIns="0" bIns="0" anchor="ctr">
            <a:spAutoFit/>
          </a:bodyPr>
          <a:lstStyle/>
          <a:p>
            <a:pPr algn="l"/>
            <a:r>
              <a:rPr sz="2400" b="1" i="0">
                <a:solidFill>
                  <a:srgbClr val="FF9955"/>
                </a:solidFill>
                <a:latin typeface="Arial"/>
              </a:rPr>
              <a:t>500–1 000</a:t>
            </a:r>
          </a:p>
        </p:txBody>
      </p:sp>
      <p:sp>
        <p:nvSpPr>
          <p:cNvPr id="13" name="TextBox 12"/>
          <p:cNvSpPr txBox="1"/>
          <p:nvPr/>
        </p:nvSpPr>
        <p:spPr>
          <a:xfrm>
            <a:off x="9326880" y="1965960"/>
            <a:ext cx="2087575" cy="1021080"/>
          </a:xfrm>
          <a:prstGeom prst="rect">
            <a:avLst/>
          </a:prstGeom>
          <a:noFill/>
        </p:spPr>
        <p:txBody>
          <a:bodyPr wrap="square" lIns="0" rIns="0" tIns="0" bIns="0" anchor="ctr">
            <a:spAutoFit/>
          </a:bodyPr>
          <a:lstStyle/>
          <a:p>
            <a:pPr algn="l">
              <a:lnSpc>
                <a:spcPct val="105000"/>
              </a:lnSpc>
            </a:pPr>
            <a:r>
              <a:rPr sz="1250" b="0" i="0">
                <a:solidFill>
                  <a:srgbClr val="FFFFFF"/>
                </a:solidFill>
                <a:latin typeface="Arial"/>
              </a:rPr>
              <a:t>horas, según el curso 2023 y el tamaño de la cuadrilla</a:t>
            </a:r>
          </a:p>
        </p:txBody>
      </p:sp>
      <p:sp>
        <p:nvSpPr>
          <p:cNvPr id="14" name="Rectangle 13"/>
          <p:cNvSpPr/>
          <p:nvPr/>
        </p:nvSpPr>
        <p:spPr>
          <a:xfrm>
            <a:off x="6949440" y="3352800"/>
            <a:ext cx="4693615" cy="12954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269479" y="3535680"/>
            <a:ext cx="2011680" cy="929640"/>
          </a:xfrm>
          <a:prstGeom prst="rect">
            <a:avLst/>
          </a:prstGeom>
          <a:noFill/>
        </p:spPr>
        <p:txBody>
          <a:bodyPr wrap="square" lIns="0" rIns="0" tIns="0" bIns="0" anchor="ctr">
            <a:spAutoFit/>
          </a:bodyPr>
          <a:lstStyle/>
          <a:p>
            <a:pPr algn="l"/>
            <a:r>
              <a:rPr sz="3000" b="1" i="0">
                <a:solidFill>
                  <a:srgbClr val="FF9955"/>
                </a:solidFill>
                <a:latin typeface="Arial"/>
              </a:rPr>
              <a:t>1 : 10</a:t>
            </a:r>
          </a:p>
        </p:txBody>
      </p:sp>
      <p:sp>
        <p:nvSpPr>
          <p:cNvPr id="16" name="TextBox 15"/>
          <p:cNvSpPr txBox="1"/>
          <p:nvPr/>
        </p:nvSpPr>
        <p:spPr>
          <a:xfrm>
            <a:off x="9326880" y="3489960"/>
            <a:ext cx="2087575" cy="1021080"/>
          </a:xfrm>
          <a:prstGeom prst="rect">
            <a:avLst/>
          </a:prstGeom>
          <a:noFill/>
        </p:spPr>
        <p:txBody>
          <a:bodyPr wrap="square" lIns="0" rIns="0" tIns="0" bIns="0" anchor="ctr">
            <a:spAutoFit/>
          </a:bodyPr>
          <a:lstStyle/>
          <a:p>
            <a:pPr algn="l">
              <a:lnSpc>
                <a:spcPct val="105000"/>
              </a:lnSpc>
            </a:pPr>
            <a:r>
              <a:rPr sz="1250" b="0" i="0">
                <a:solidFill>
                  <a:srgbClr val="FFFFFF"/>
                </a:solidFill>
                <a:latin typeface="Arial"/>
              </a:rPr>
              <a:t>un capataz por unos 10 trabajadores</a:t>
            </a:r>
          </a:p>
        </p:txBody>
      </p:sp>
      <p:sp>
        <p:nvSpPr>
          <p:cNvPr id="17" name="Rectangle 16"/>
          <p:cNvSpPr/>
          <p:nvPr/>
        </p:nvSpPr>
        <p:spPr>
          <a:xfrm>
            <a:off x="6949440" y="4876800"/>
            <a:ext cx="4693615" cy="12954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269479" y="5059680"/>
            <a:ext cx="2011680" cy="929640"/>
          </a:xfrm>
          <a:prstGeom prst="rect">
            <a:avLst/>
          </a:prstGeom>
          <a:noFill/>
        </p:spPr>
        <p:txBody>
          <a:bodyPr wrap="square" lIns="0" rIns="0" tIns="0" bIns="0" anchor="ctr">
            <a:spAutoFit/>
          </a:bodyPr>
          <a:lstStyle/>
          <a:p>
            <a:pPr algn="l"/>
            <a:r>
              <a:rPr sz="3000" b="1" i="0">
                <a:solidFill>
                  <a:srgbClr val="FF9955"/>
                </a:solidFill>
                <a:latin typeface="Arial"/>
              </a:rPr>
              <a:t>7 días</a:t>
            </a:r>
          </a:p>
        </p:txBody>
      </p:sp>
      <p:sp>
        <p:nvSpPr>
          <p:cNvPr id="19" name="TextBox 18"/>
          <p:cNvSpPr txBox="1"/>
          <p:nvPr/>
        </p:nvSpPr>
        <p:spPr>
          <a:xfrm>
            <a:off x="9326880" y="5013960"/>
            <a:ext cx="2087575" cy="1021080"/>
          </a:xfrm>
          <a:prstGeom prst="rect">
            <a:avLst/>
          </a:prstGeom>
          <a:noFill/>
        </p:spPr>
        <p:txBody>
          <a:bodyPr wrap="square" lIns="0" rIns="0" tIns="0" bIns="0" anchor="ctr">
            <a:spAutoFit/>
          </a:bodyPr>
          <a:lstStyle/>
          <a:p>
            <a:pPr algn="l">
              <a:lnSpc>
                <a:spcPct val="105000"/>
              </a:lnSpc>
            </a:pPr>
            <a:r>
              <a:rPr sz="1250" b="0" i="0">
                <a:solidFill>
                  <a:srgbClr val="FFFFFF"/>
                </a:solidFill>
                <a:latin typeface="Arial"/>
              </a:rPr>
              <a:t>ventana de ejecución de un IWP</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6 · RESTRICCIONES</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FFFFFF"/>
                </a:solidFill>
                <a:latin typeface="Arial"/>
              </a:rPr>
              <a:t>La regla de oro: ningún IWP va a campo con restricciones</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8A8B8E"/>
                </a:solidFill>
                <a:latin typeface="Arial"/>
              </a:rPr>
              <a:t>IMPLEMENTACIÓN DE AWP  ·  M6 · CONSTRUCCIÓN Y WORKFACE PLANNING</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8A8B8E"/>
                </a:solidFill>
                <a:latin typeface="Courier New"/>
              </a:rPr>
              <a:t>065</a:t>
            </a:r>
          </a:p>
        </p:txBody>
      </p:sp>
      <p:pic>
        <p:nvPicPr>
          <p:cNvPr id="7" name="Picture 6" descr="quote_o.png"/>
          <p:cNvPicPr>
            <a:picLocks noChangeAspect="1"/>
          </p:cNvPicPr>
          <p:nvPr/>
        </p:nvPicPr>
        <p:blipFill>
          <a:blip r:embed="rId2"/>
          <a:stretch>
            <a:fillRect/>
          </a:stretch>
        </p:blipFill>
        <p:spPr>
          <a:xfrm>
            <a:off x="548640" y="1920240"/>
            <a:ext cx="548640" cy="548640"/>
          </a:xfrm>
          <a:prstGeom prst="rect">
            <a:avLst/>
          </a:prstGeom>
        </p:spPr>
      </p:pic>
      <p:sp>
        <p:nvSpPr>
          <p:cNvPr id="8" name="TextBox 7"/>
          <p:cNvSpPr txBox="1"/>
          <p:nvPr/>
        </p:nvSpPr>
        <p:spPr>
          <a:xfrm>
            <a:off x="1417319" y="1828800"/>
            <a:ext cx="10225735" cy="1737360"/>
          </a:xfrm>
          <a:prstGeom prst="rect">
            <a:avLst/>
          </a:prstGeom>
          <a:noFill/>
        </p:spPr>
        <p:txBody>
          <a:bodyPr wrap="square" lIns="0" rIns="0" tIns="0" bIns="0" anchor="ctr">
            <a:spAutoFit/>
          </a:bodyPr>
          <a:lstStyle/>
          <a:p>
            <a:pPr algn="l">
              <a:lnSpc>
                <a:spcPct val="110000"/>
              </a:lnSpc>
            </a:pPr>
            <a:r>
              <a:rPr sz="2400" b="0" i="1">
                <a:solidFill>
                  <a:srgbClr val="FFFFFF"/>
                </a:solidFill>
                <a:latin typeface="Arial"/>
              </a:rPr>
              <a:t>“Los IWP no se liberan a campo hasta que estén libres de restricciones y listos para ejecutar.”</a:t>
            </a:r>
          </a:p>
        </p:txBody>
      </p:sp>
      <p:sp>
        <p:nvSpPr>
          <p:cNvPr id="9" name="TextBox 8"/>
          <p:cNvSpPr txBox="1"/>
          <p:nvPr/>
        </p:nvSpPr>
        <p:spPr>
          <a:xfrm>
            <a:off x="1417319" y="3657600"/>
            <a:ext cx="10225735" cy="274320"/>
          </a:xfrm>
          <a:prstGeom prst="rect">
            <a:avLst/>
          </a:prstGeom>
          <a:noFill/>
        </p:spPr>
        <p:txBody>
          <a:bodyPr wrap="square" lIns="0" rIns="0" tIns="0" bIns="0" anchor="t">
            <a:spAutoFit/>
          </a:bodyPr>
          <a:lstStyle/>
          <a:p>
            <a:pPr algn="l"/>
            <a:r>
              <a:rPr sz="1100" b="1" i="0" spc="100">
                <a:solidFill>
                  <a:srgbClr val="FF9955"/>
                </a:solidFill>
                <a:latin typeface="Arial"/>
              </a:rPr>
              <a:t>QUICK START GUIDE · LA REGLA DE ORO</a:t>
            </a:r>
          </a:p>
        </p:txBody>
      </p:sp>
      <p:sp>
        <p:nvSpPr>
          <p:cNvPr id="10" name="Rectangle 9"/>
          <p:cNvSpPr/>
          <p:nvPr/>
        </p:nvSpPr>
        <p:spPr>
          <a:xfrm>
            <a:off x="548640" y="4160520"/>
            <a:ext cx="3527450" cy="201168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warning_o.png"/>
          <p:cNvPicPr>
            <a:picLocks noChangeAspect="1"/>
          </p:cNvPicPr>
          <p:nvPr/>
        </p:nvPicPr>
        <p:blipFill>
          <a:blip r:embed="rId3"/>
          <a:stretch>
            <a:fillRect/>
          </a:stretch>
        </p:blipFill>
        <p:spPr>
          <a:xfrm>
            <a:off x="822959" y="4974336"/>
            <a:ext cx="384048" cy="384048"/>
          </a:xfrm>
          <a:prstGeom prst="rect">
            <a:avLst/>
          </a:prstGeom>
        </p:spPr>
      </p:pic>
      <p:sp>
        <p:nvSpPr>
          <p:cNvPr id="12" name="TextBox 11"/>
          <p:cNvSpPr txBox="1"/>
          <p:nvPr/>
        </p:nvSpPr>
        <p:spPr>
          <a:xfrm>
            <a:off x="1417319" y="4251959"/>
            <a:ext cx="2475890" cy="1828800"/>
          </a:xfrm>
          <a:prstGeom prst="rect">
            <a:avLst/>
          </a:prstGeom>
          <a:noFill/>
        </p:spPr>
        <p:txBody>
          <a:bodyPr wrap="square" lIns="0" rIns="0" tIns="0" bIns="0" anchor="ctr">
            <a:spAutoFit/>
          </a:bodyPr>
          <a:lstStyle/>
          <a:p>
            <a:pPr algn="l">
              <a:lnSpc>
                <a:spcPct val="105000"/>
              </a:lnSpc>
            </a:pPr>
            <a:r>
              <a:rPr sz="1300" b="0" i="0">
                <a:solidFill>
                  <a:srgbClr val="FFFFFF"/>
                </a:solidFill>
                <a:latin typeface="Arial"/>
              </a:rPr>
              <a:t>Críticas: documentos, materiales y andamios</a:t>
            </a:r>
          </a:p>
        </p:txBody>
      </p:sp>
      <p:sp>
        <p:nvSpPr>
          <p:cNvPr id="13" name="Rectangle 12"/>
          <p:cNvSpPr/>
          <p:nvPr/>
        </p:nvSpPr>
        <p:spPr>
          <a:xfrm>
            <a:off x="4332122" y="4160520"/>
            <a:ext cx="3527450" cy="201168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gears_o.png"/>
          <p:cNvPicPr>
            <a:picLocks noChangeAspect="1"/>
          </p:cNvPicPr>
          <p:nvPr/>
        </p:nvPicPr>
        <p:blipFill>
          <a:blip r:embed="rId4"/>
          <a:stretch>
            <a:fillRect/>
          </a:stretch>
        </p:blipFill>
        <p:spPr>
          <a:xfrm>
            <a:off x="4606442" y="4974336"/>
            <a:ext cx="384048" cy="384048"/>
          </a:xfrm>
          <a:prstGeom prst="rect">
            <a:avLst/>
          </a:prstGeom>
        </p:spPr>
      </p:pic>
      <p:sp>
        <p:nvSpPr>
          <p:cNvPr id="15" name="TextBox 14"/>
          <p:cNvSpPr txBox="1"/>
          <p:nvPr/>
        </p:nvSpPr>
        <p:spPr>
          <a:xfrm>
            <a:off x="5200802" y="4251959"/>
            <a:ext cx="2475890" cy="1828800"/>
          </a:xfrm>
          <a:prstGeom prst="rect">
            <a:avLst/>
          </a:prstGeom>
          <a:noFill/>
        </p:spPr>
        <p:txBody>
          <a:bodyPr wrap="square" lIns="0" rIns="0" tIns="0" bIns="0" anchor="ctr">
            <a:spAutoFit/>
          </a:bodyPr>
          <a:lstStyle/>
          <a:p>
            <a:pPr algn="l">
              <a:lnSpc>
                <a:spcPct val="105000"/>
              </a:lnSpc>
            </a:pPr>
            <a:r>
              <a:rPr sz="1300" b="0" i="0">
                <a:solidFill>
                  <a:srgbClr val="FFFFFF"/>
                </a:solidFill>
                <a:latin typeface="Arial"/>
              </a:rPr>
              <a:t>Secundarias: equipos, controles, seguridad, calidad y personal</a:t>
            </a:r>
          </a:p>
        </p:txBody>
      </p:sp>
      <p:sp>
        <p:nvSpPr>
          <p:cNvPr id="16" name="Rectangle 15"/>
          <p:cNvSpPr/>
          <p:nvPr/>
        </p:nvSpPr>
        <p:spPr>
          <a:xfrm>
            <a:off x="8115604" y="4160520"/>
            <a:ext cx="3527450" cy="201168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clipcheck_o.png"/>
          <p:cNvPicPr>
            <a:picLocks noChangeAspect="1"/>
          </p:cNvPicPr>
          <p:nvPr/>
        </p:nvPicPr>
        <p:blipFill>
          <a:blip r:embed="rId5"/>
          <a:stretch>
            <a:fillRect/>
          </a:stretch>
        </p:blipFill>
        <p:spPr>
          <a:xfrm>
            <a:off x="8389924" y="4974336"/>
            <a:ext cx="384048" cy="384048"/>
          </a:xfrm>
          <a:prstGeom prst="rect">
            <a:avLst/>
          </a:prstGeom>
        </p:spPr>
      </p:pic>
      <p:sp>
        <p:nvSpPr>
          <p:cNvPr id="18" name="TextBox 17"/>
          <p:cNvSpPr txBox="1"/>
          <p:nvPr/>
        </p:nvSpPr>
        <p:spPr>
          <a:xfrm>
            <a:off x="8984284" y="4251959"/>
            <a:ext cx="2475890" cy="1828800"/>
          </a:xfrm>
          <a:prstGeom prst="rect">
            <a:avLst/>
          </a:prstGeom>
          <a:noFill/>
        </p:spPr>
        <p:txBody>
          <a:bodyPr wrap="square" lIns="0" rIns="0" tIns="0" bIns="0" anchor="ctr">
            <a:spAutoFit/>
          </a:bodyPr>
          <a:lstStyle/>
          <a:p>
            <a:pPr algn="l">
              <a:lnSpc>
                <a:spcPct val="105000"/>
              </a:lnSpc>
            </a:pPr>
            <a:r>
              <a:rPr sz="1300" b="0" i="0">
                <a:solidFill>
                  <a:srgbClr val="FFFFFF"/>
                </a:solidFill>
                <a:latin typeface="Arial"/>
              </a:rPr>
              <a:t>Se liberan con firmas en la página de restricciones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6 · CALENDARIO DE RESTRICCIONES</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Las restricciones se liberan en cuatro pasos, con semanas de anticipación</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M6 · CONSTRUCCIÓN Y WORKFACE PLANNING</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066</a:t>
            </a:r>
          </a:p>
        </p:txBody>
      </p:sp>
      <p:sp>
        <p:nvSpPr>
          <p:cNvPr id="7" name="Rectangle 6"/>
          <p:cNvSpPr/>
          <p:nvPr/>
        </p:nvSpPr>
        <p:spPr>
          <a:xfrm>
            <a:off x="548640" y="1874519"/>
            <a:ext cx="2567863" cy="31546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1</a:t>
            </a:r>
          </a:p>
        </p:txBody>
      </p:sp>
      <p:pic>
        <p:nvPicPr>
          <p:cNvPr id="10" name="Picture 9" descr="clip_o.png"/>
          <p:cNvPicPr>
            <a:picLocks noChangeAspect="1"/>
          </p:cNvPicPr>
          <p:nvPr/>
        </p:nvPicPr>
        <p:blipFill>
          <a:blip r:embed="rId2"/>
          <a:stretch>
            <a:fillRect/>
          </a:stretch>
        </p:blipFill>
        <p:spPr>
          <a:xfrm>
            <a:off x="2458135" y="2148839"/>
            <a:ext cx="420624" cy="420624"/>
          </a:xfrm>
          <a:prstGeom prst="rect">
            <a:avLst/>
          </a:prstGeom>
        </p:spPr>
      </p:pic>
      <p:sp>
        <p:nvSpPr>
          <p:cNvPr id="11" name="TextBox 10"/>
          <p:cNvSpPr txBox="1"/>
          <p:nvPr/>
        </p:nvSpPr>
        <p:spPr>
          <a:xfrm>
            <a:off x="777240"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IWP iniciado</a:t>
            </a:r>
          </a:p>
        </p:txBody>
      </p:sp>
      <p:sp>
        <p:nvSpPr>
          <p:cNvPr id="12" name="TextBox 11"/>
          <p:cNvSpPr txBox="1"/>
          <p:nvPr/>
        </p:nvSpPr>
        <p:spPr>
          <a:xfrm>
            <a:off x="777240" y="3429000"/>
            <a:ext cx="2156383" cy="73152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El planificador crea el paquete a partir del CWP</a:t>
            </a:r>
          </a:p>
        </p:txBody>
      </p:sp>
      <p:cxnSp>
        <p:nvCxnSpPr>
          <p:cNvPr id="13" name="Connector 12"/>
          <p:cNvCxnSpPr/>
          <p:nvPr/>
        </p:nvCxnSpPr>
        <p:spPr>
          <a:xfrm>
            <a:off x="777240" y="4160520"/>
            <a:ext cx="2110663" cy="0"/>
          </a:xfrm>
          <a:prstGeom prst="line">
            <a:avLst/>
          </a:prstGeom>
          <a:ln w="12700">
            <a:solidFill>
              <a:srgbClr val="BCBEC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77240" y="4270248"/>
            <a:ext cx="1379143" cy="274320"/>
          </a:xfrm>
          <a:prstGeom prst="rect">
            <a:avLst/>
          </a:prstGeom>
          <a:noFill/>
        </p:spPr>
        <p:txBody>
          <a:bodyPr wrap="square" lIns="0" rIns="0" tIns="0" bIns="0" anchor="ctr">
            <a:spAutoFit/>
          </a:bodyPr>
          <a:lstStyle/>
          <a:p>
            <a:pPr algn="l"/>
            <a:r>
              <a:rPr sz="1000" b="0" i="0">
                <a:solidFill>
                  <a:srgbClr val="6D6E71"/>
                </a:solidFill>
                <a:latin typeface="Arial"/>
              </a:rPr>
              <a:t>Pequeño / parada</a:t>
            </a:r>
          </a:p>
        </p:txBody>
      </p:sp>
      <p:sp>
        <p:nvSpPr>
          <p:cNvPr id="15" name="TextBox 14"/>
          <p:cNvSpPr txBox="1"/>
          <p:nvPr/>
        </p:nvSpPr>
        <p:spPr>
          <a:xfrm>
            <a:off x="1927783" y="4270248"/>
            <a:ext cx="960120" cy="274320"/>
          </a:xfrm>
          <a:prstGeom prst="rect">
            <a:avLst/>
          </a:prstGeom>
          <a:noFill/>
        </p:spPr>
        <p:txBody>
          <a:bodyPr wrap="square" lIns="0" rIns="0" tIns="0" bIns="0" anchor="ctr">
            <a:spAutoFit/>
          </a:bodyPr>
          <a:lstStyle/>
          <a:p>
            <a:pPr algn="r"/>
            <a:r>
              <a:rPr sz="1200" b="1" i="0">
                <a:solidFill>
                  <a:srgbClr val="FF6600"/>
                </a:solidFill>
                <a:latin typeface="Courier New"/>
              </a:rPr>
              <a:t>−6 sem</a:t>
            </a:r>
          </a:p>
        </p:txBody>
      </p:sp>
      <p:sp>
        <p:nvSpPr>
          <p:cNvPr id="16" name="TextBox 15"/>
          <p:cNvSpPr txBox="1"/>
          <p:nvPr/>
        </p:nvSpPr>
        <p:spPr>
          <a:xfrm>
            <a:off x="777240" y="4599432"/>
            <a:ext cx="1379143" cy="274320"/>
          </a:xfrm>
          <a:prstGeom prst="rect">
            <a:avLst/>
          </a:prstGeom>
          <a:noFill/>
        </p:spPr>
        <p:txBody>
          <a:bodyPr wrap="square" lIns="0" rIns="0" tIns="0" bIns="0" anchor="ctr">
            <a:spAutoFit/>
          </a:bodyPr>
          <a:lstStyle/>
          <a:p>
            <a:pPr algn="l"/>
            <a:r>
              <a:rPr sz="1000" b="0" i="0">
                <a:solidFill>
                  <a:srgbClr val="6D6E71"/>
                </a:solidFill>
                <a:latin typeface="Arial"/>
              </a:rPr>
              <a:t>Megaproyecto</a:t>
            </a:r>
          </a:p>
        </p:txBody>
      </p:sp>
      <p:sp>
        <p:nvSpPr>
          <p:cNvPr id="17" name="TextBox 16"/>
          <p:cNvSpPr txBox="1"/>
          <p:nvPr/>
        </p:nvSpPr>
        <p:spPr>
          <a:xfrm>
            <a:off x="1927783" y="4599432"/>
            <a:ext cx="960120" cy="274320"/>
          </a:xfrm>
          <a:prstGeom prst="rect">
            <a:avLst/>
          </a:prstGeom>
          <a:noFill/>
        </p:spPr>
        <p:txBody>
          <a:bodyPr wrap="square" lIns="0" rIns="0" tIns="0" bIns="0" anchor="ctr">
            <a:spAutoFit/>
          </a:bodyPr>
          <a:lstStyle/>
          <a:p>
            <a:pPr algn="r"/>
            <a:r>
              <a:rPr sz="1200" b="1" i="0">
                <a:solidFill>
                  <a:srgbClr val="003087"/>
                </a:solidFill>
                <a:latin typeface="Courier New"/>
              </a:rPr>
              <a:t>−12 sem</a:t>
            </a:r>
          </a:p>
        </p:txBody>
      </p:sp>
      <p:cxnSp>
        <p:nvCxnSpPr>
          <p:cNvPr id="18" name="Connector 17"/>
          <p:cNvCxnSpPr/>
          <p:nvPr/>
        </p:nvCxnSpPr>
        <p:spPr>
          <a:xfrm>
            <a:off x="3153079" y="3451860"/>
            <a:ext cx="201168"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3390823" y="1874519"/>
            <a:ext cx="2567863" cy="31546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3619423"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3619423"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2</a:t>
            </a:r>
          </a:p>
        </p:txBody>
      </p:sp>
      <p:pic>
        <p:nvPicPr>
          <p:cNvPr id="22" name="Picture 21" descr="search_o.png"/>
          <p:cNvPicPr>
            <a:picLocks noChangeAspect="1"/>
          </p:cNvPicPr>
          <p:nvPr/>
        </p:nvPicPr>
        <p:blipFill>
          <a:blip r:embed="rId3"/>
          <a:stretch>
            <a:fillRect/>
          </a:stretch>
        </p:blipFill>
        <p:spPr>
          <a:xfrm>
            <a:off x="5300319" y="2148839"/>
            <a:ext cx="420624" cy="420624"/>
          </a:xfrm>
          <a:prstGeom prst="rect">
            <a:avLst/>
          </a:prstGeom>
        </p:spPr>
      </p:pic>
      <p:sp>
        <p:nvSpPr>
          <p:cNvPr id="23" name="TextBox 22"/>
          <p:cNvSpPr txBox="1"/>
          <p:nvPr/>
        </p:nvSpPr>
        <p:spPr>
          <a:xfrm>
            <a:off x="3619423"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Restricciones identificadas</a:t>
            </a:r>
          </a:p>
        </p:txBody>
      </p:sp>
      <p:sp>
        <p:nvSpPr>
          <p:cNvPr id="24" name="TextBox 23"/>
          <p:cNvSpPr txBox="1"/>
          <p:nvPr/>
        </p:nvSpPr>
        <p:spPr>
          <a:xfrm>
            <a:off x="3619423" y="3429000"/>
            <a:ext cx="2156383" cy="73152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Documentos, materiales, andamios, equipos, permisos</a:t>
            </a:r>
          </a:p>
        </p:txBody>
      </p:sp>
      <p:cxnSp>
        <p:nvCxnSpPr>
          <p:cNvPr id="25" name="Connector 24"/>
          <p:cNvCxnSpPr/>
          <p:nvPr/>
        </p:nvCxnSpPr>
        <p:spPr>
          <a:xfrm>
            <a:off x="3619423" y="4160520"/>
            <a:ext cx="2110664" cy="0"/>
          </a:xfrm>
          <a:prstGeom prst="line">
            <a:avLst/>
          </a:prstGeom>
          <a:ln w="12700">
            <a:solidFill>
              <a:srgbClr val="BCBEC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619423" y="4270248"/>
            <a:ext cx="1379143" cy="274320"/>
          </a:xfrm>
          <a:prstGeom prst="rect">
            <a:avLst/>
          </a:prstGeom>
          <a:noFill/>
        </p:spPr>
        <p:txBody>
          <a:bodyPr wrap="square" lIns="0" rIns="0" tIns="0" bIns="0" anchor="ctr">
            <a:spAutoFit/>
          </a:bodyPr>
          <a:lstStyle/>
          <a:p>
            <a:pPr algn="l"/>
            <a:r>
              <a:rPr sz="1000" b="0" i="0">
                <a:solidFill>
                  <a:srgbClr val="6D6E71"/>
                </a:solidFill>
                <a:latin typeface="Arial"/>
              </a:rPr>
              <a:t>Pequeño / parada</a:t>
            </a:r>
          </a:p>
        </p:txBody>
      </p:sp>
      <p:sp>
        <p:nvSpPr>
          <p:cNvPr id="27" name="TextBox 26"/>
          <p:cNvSpPr txBox="1"/>
          <p:nvPr/>
        </p:nvSpPr>
        <p:spPr>
          <a:xfrm>
            <a:off x="4769967" y="4270248"/>
            <a:ext cx="960120" cy="274320"/>
          </a:xfrm>
          <a:prstGeom prst="rect">
            <a:avLst/>
          </a:prstGeom>
          <a:noFill/>
        </p:spPr>
        <p:txBody>
          <a:bodyPr wrap="square" lIns="0" rIns="0" tIns="0" bIns="0" anchor="ctr">
            <a:spAutoFit/>
          </a:bodyPr>
          <a:lstStyle/>
          <a:p>
            <a:pPr algn="r"/>
            <a:r>
              <a:rPr sz="1200" b="1" i="0">
                <a:solidFill>
                  <a:srgbClr val="FF6600"/>
                </a:solidFill>
                <a:latin typeface="Courier New"/>
              </a:rPr>
              <a:t>−4 sem</a:t>
            </a:r>
          </a:p>
        </p:txBody>
      </p:sp>
      <p:sp>
        <p:nvSpPr>
          <p:cNvPr id="28" name="TextBox 27"/>
          <p:cNvSpPr txBox="1"/>
          <p:nvPr/>
        </p:nvSpPr>
        <p:spPr>
          <a:xfrm>
            <a:off x="3619423" y="4599432"/>
            <a:ext cx="1379143" cy="274320"/>
          </a:xfrm>
          <a:prstGeom prst="rect">
            <a:avLst/>
          </a:prstGeom>
          <a:noFill/>
        </p:spPr>
        <p:txBody>
          <a:bodyPr wrap="square" lIns="0" rIns="0" tIns="0" bIns="0" anchor="ctr">
            <a:spAutoFit/>
          </a:bodyPr>
          <a:lstStyle/>
          <a:p>
            <a:pPr algn="l"/>
            <a:r>
              <a:rPr sz="1000" b="0" i="0">
                <a:solidFill>
                  <a:srgbClr val="6D6E71"/>
                </a:solidFill>
                <a:latin typeface="Arial"/>
              </a:rPr>
              <a:t>Megaproyecto</a:t>
            </a:r>
          </a:p>
        </p:txBody>
      </p:sp>
      <p:sp>
        <p:nvSpPr>
          <p:cNvPr id="29" name="TextBox 28"/>
          <p:cNvSpPr txBox="1"/>
          <p:nvPr/>
        </p:nvSpPr>
        <p:spPr>
          <a:xfrm>
            <a:off x="4769967" y="4599432"/>
            <a:ext cx="960120" cy="274320"/>
          </a:xfrm>
          <a:prstGeom prst="rect">
            <a:avLst/>
          </a:prstGeom>
          <a:noFill/>
        </p:spPr>
        <p:txBody>
          <a:bodyPr wrap="square" lIns="0" rIns="0" tIns="0" bIns="0" anchor="ctr">
            <a:spAutoFit/>
          </a:bodyPr>
          <a:lstStyle/>
          <a:p>
            <a:pPr algn="r"/>
            <a:r>
              <a:rPr sz="1200" b="1" i="0">
                <a:solidFill>
                  <a:srgbClr val="003087"/>
                </a:solidFill>
                <a:latin typeface="Courier New"/>
              </a:rPr>
              <a:t>−10 sem</a:t>
            </a:r>
          </a:p>
        </p:txBody>
      </p:sp>
      <p:cxnSp>
        <p:nvCxnSpPr>
          <p:cNvPr id="30" name="Connector 29"/>
          <p:cNvCxnSpPr/>
          <p:nvPr/>
        </p:nvCxnSpPr>
        <p:spPr>
          <a:xfrm>
            <a:off x="5995263" y="3451860"/>
            <a:ext cx="201168"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6233007" y="1874519"/>
            <a:ext cx="2567863" cy="31546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6461607"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61607"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3</a:t>
            </a:r>
          </a:p>
        </p:txBody>
      </p:sp>
      <p:pic>
        <p:nvPicPr>
          <p:cNvPr id="34" name="Picture 33" descr="usercheck_o.png"/>
          <p:cNvPicPr>
            <a:picLocks noChangeAspect="1"/>
          </p:cNvPicPr>
          <p:nvPr/>
        </p:nvPicPr>
        <p:blipFill>
          <a:blip r:embed="rId4"/>
          <a:stretch>
            <a:fillRect/>
          </a:stretch>
        </p:blipFill>
        <p:spPr>
          <a:xfrm>
            <a:off x="8142503" y="2148839"/>
            <a:ext cx="420624" cy="420624"/>
          </a:xfrm>
          <a:prstGeom prst="rect">
            <a:avLst/>
          </a:prstGeom>
        </p:spPr>
      </p:pic>
      <p:sp>
        <p:nvSpPr>
          <p:cNvPr id="35" name="TextBox 34"/>
          <p:cNvSpPr txBox="1"/>
          <p:nvPr/>
        </p:nvSpPr>
        <p:spPr>
          <a:xfrm>
            <a:off x="6461607"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Restricciones asignadas</a:t>
            </a:r>
          </a:p>
        </p:txBody>
      </p:sp>
      <p:sp>
        <p:nvSpPr>
          <p:cNvPr id="36" name="TextBox 35"/>
          <p:cNvSpPr txBox="1"/>
          <p:nvPr/>
        </p:nvSpPr>
        <p:spPr>
          <a:xfrm>
            <a:off x="6461607" y="3429000"/>
            <a:ext cx="2156383" cy="73152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Cada una con dueño, fecha y prioridad</a:t>
            </a:r>
          </a:p>
        </p:txBody>
      </p:sp>
      <p:cxnSp>
        <p:nvCxnSpPr>
          <p:cNvPr id="37" name="Connector 36"/>
          <p:cNvCxnSpPr/>
          <p:nvPr/>
        </p:nvCxnSpPr>
        <p:spPr>
          <a:xfrm>
            <a:off x="6461607" y="4160520"/>
            <a:ext cx="2110664" cy="0"/>
          </a:xfrm>
          <a:prstGeom prst="line">
            <a:avLst/>
          </a:prstGeom>
          <a:ln w="12700">
            <a:solidFill>
              <a:srgbClr val="BCBEC0"/>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461607" y="4270248"/>
            <a:ext cx="1379143" cy="274320"/>
          </a:xfrm>
          <a:prstGeom prst="rect">
            <a:avLst/>
          </a:prstGeom>
          <a:noFill/>
        </p:spPr>
        <p:txBody>
          <a:bodyPr wrap="square" lIns="0" rIns="0" tIns="0" bIns="0" anchor="ctr">
            <a:spAutoFit/>
          </a:bodyPr>
          <a:lstStyle/>
          <a:p>
            <a:pPr algn="l"/>
            <a:r>
              <a:rPr sz="1000" b="0" i="0">
                <a:solidFill>
                  <a:srgbClr val="6D6E71"/>
                </a:solidFill>
                <a:latin typeface="Arial"/>
              </a:rPr>
              <a:t>Pequeño / parada</a:t>
            </a:r>
          </a:p>
        </p:txBody>
      </p:sp>
      <p:sp>
        <p:nvSpPr>
          <p:cNvPr id="39" name="TextBox 38"/>
          <p:cNvSpPr txBox="1"/>
          <p:nvPr/>
        </p:nvSpPr>
        <p:spPr>
          <a:xfrm>
            <a:off x="7612151" y="4270248"/>
            <a:ext cx="960120" cy="274320"/>
          </a:xfrm>
          <a:prstGeom prst="rect">
            <a:avLst/>
          </a:prstGeom>
          <a:noFill/>
        </p:spPr>
        <p:txBody>
          <a:bodyPr wrap="square" lIns="0" rIns="0" tIns="0" bIns="0" anchor="ctr">
            <a:spAutoFit/>
          </a:bodyPr>
          <a:lstStyle/>
          <a:p>
            <a:pPr algn="r"/>
            <a:r>
              <a:rPr sz="1200" b="1" i="0">
                <a:solidFill>
                  <a:srgbClr val="FF6600"/>
                </a:solidFill>
                <a:latin typeface="Courier New"/>
              </a:rPr>
              <a:t>−3 sem</a:t>
            </a:r>
          </a:p>
        </p:txBody>
      </p:sp>
      <p:sp>
        <p:nvSpPr>
          <p:cNvPr id="40" name="TextBox 39"/>
          <p:cNvSpPr txBox="1"/>
          <p:nvPr/>
        </p:nvSpPr>
        <p:spPr>
          <a:xfrm>
            <a:off x="6461607" y="4599432"/>
            <a:ext cx="1379143" cy="274320"/>
          </a:xfrm>
          <a:prstGeom prst="rect">
            <a:avLst/>
          </a:prstGeom>
          <a:noFill/>
        </p:spPr>
        <p:txBody>
          <a:bodyPr wrap="square" lIns="0" rIns="0" tIns="0" bIns="0" anchor="ctr">
            <a:spAutoFit/>
          </a:bodyPr>
          <a:lstStyle/>
          <a:p>
            <a:pPr algn="l"/>
            <a:r>
              <a:rPr sz="1000" b="0" i="0">
                <a:solidFill>
                  <a:srgbClr val="6D6E71"/>
                </a:solidFill>
                <a:latin typeface="Arial"/>
              </a:rPr>
              <a:t>Megaproyecto</a:t>
            </a:r>
          </a:p>
        </p:txBody>
      </p:sp>
      <p:sp>
        <p:nvSpPr>
          <p:cNvPr id="41" name="TextBox 40"/>
          <p:cNvSpPr txBox="1"/>
          <p:nvPr/>
        </p:nvSpPr>
        <p:spPr>
          <a:xfrm>
            <a:off x="7612151" y="4599432"/>
            <a:ext cx="960120" cy="274320"/>
          </a:xfrm>
          <a:prstGeom prst="rect">
            <a:avLst/>
          </a:prstGeom>
          <a:noFill/>
        </p:spPr>
        <p:txBody>
          <a:bodyPr wrap="square" lIns="0" rIns="0" tIns="0" bIns="0" anchor="ctr">
            <a:spAutoFit/>
          </a:bodyPr>
          <a:lstStyle/>
          <a:p>
            <a:pPr algn="r"/>
            <a:r>
              <a:rPr sz="1200" b="1" i="0">
                <a:solidFill>
                  <a:srgbClr val="003087"/>
                </a:solidFill>
                <a:latin typeface="Courier New"/>
              </a:rPr>
              <a:t>−8 sem</a:t>
            </a:r>
          </a:p>
        </p:txBody>
      </p:sp>
      <p:cxnSp>
        <p:nvCxnSpPr>
          <p:cNvPr id="42" name="Connector 41"/>
          <p:cNvCxnSpPr/>
          <p:nvPr/>
        </p:nvCxnSpPr>
        <p:spPr>
          <a:xfrm>
            <a:off x="8837447" y="3451860"/>
            <a:ext cx="201168"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9075191" y="1874519"/>
            <a:ext cx="2567863" cy="31546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9303791"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303791"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4</a:t>
            </a:r>
          </a:p>
        </p:txBody>
      </p:sp>
      <p:pic>
        <p:nvPicPr>
          <p:cNvPr id="46" name="Picture 45" descr="unlock_o.png"/>
          <p:cNvPicPr>
            <a:picLocks noChangeAspect="1"/>
          </p:cNvPicPr>
          <p:nvPr/>
        </p:nvPicPr>
        <p:blipFill>
          <a:blip r:embed="rId5"/>
          <a:stretch>
            <a:fillRect/>
          </a:stretch>
        </p:blipFill>
        <p:spPr>
          <a:xfrm>
            <a:off x="10984687" y="2148839"/>
            <a:ext cx="420624" cy="420624"/>
          </a:xfrm>
          <a:prstGeom prst="rect">
            <a:avLst/>
          </a:prstGeom>
        </p:spPr>
      </p:pic>
      <p:sp>
        <p:nvSpPr>
          <p:cNvPr id="47" name="TextBox 46"/>
          <p:cNvSpPr txBox="1"/>
          <p:nvPr/>
        </p:nvSpPr>
        <p:spPr>
          <a:xfrm>
            <a:off x="9303791"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Restricciones liberadas</a:t>
            </a:r>
          </a:p>
        </p:txBody>
      </p:sp>
      <p:sp>
        <p:nvSpPr>
          <p:cNvPr id="48" name="TextBox 47"/>
          <p:cNvSpPr txBox="1"/>
          <p:nvPr/>
        </p:nvSpPr>
        <p:spPr>
          <a:xfrm>
            <a:off x="9303791" y="3429000"/>
            <a:ext cx="2156383" cy="73152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El IWP pasa al backlog, listo para campo</a:t>
            </a:r>
          </a:p>
        </p:txBody>
      </p:sp>
      <p:cxnSp>
        <p:nvCxnSpPr>
          <p:cNvPr id="49" name="Connector 48"/>
          <p:cNvCxnSpPr/>
          <p:nvPr/>
        </p:nvCxnSpPr>
        <p:spPr>
          <a:xfrm>
            <a:off x="9303791" y="4160520"/>
            <a:ext cx="2110664" cy="0"/>
          </a:xfrm>
          <a:prstGeom prst="line">
            <a:avLst/>
          </a:prstGeom>
          <a:ln w="12700">
            <a:solidFill>
              <a:srgbClr val="BCBEC0"/>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9303791" y="4270248"/>
            <a:ext cx="1379143" cy="274320"/>
          </a:xfrm>
          <a:prstGeom prst="rect">
            <a:avLst/>
          </a:prstGeom>
          <a:noFill/>
        </p:spPr>
        <p:txBody>
          <a:bodyPr wrap="square" lIns="0" rIns="0" tIns="0" bIns="0" anchor="ctr">
            <a:spAutoFit/>
          </a:bodyPr>
          <a:lstStyle/>
          <a:p>
            <a:pPr algn="l"/>
            <a:r>
              <a:rPr sz="1000" b="0" i="0">
                <a:solidFill>
                  <a:srgbClr val="6D6E71"/>
                </a:solidFill>
                <a:latin typeface="Arial"/>
              </a:rPr>
              <a:t>Pequeño / parada</a:t>
            </a:r>
          </a:p>
        </p:txBody>
      </p:sp>
      <p:sp>
        <p:nvSpPr>
          <p:cNvPr id="51" name="TextBox 50"/>
          <p:cNvSpPr txBox="1"/>
          <p:nvPr/>
        </p:nvSpPr>
        <p:spPr>
          <a:xfrm>
            <a:off x="10454335" y="4270248"/>
            <a:ext cx="960120" cy="274320"/>
          </a:xfrm>
          <a:prstGeom prst="rect">
            <a:avLst/>
          </a:prstGeom>
          <a:noFill/>
        </p:spPr>
        <p:txBody>
          <a:bodyPr wrap="square" lIns="0" rIns="0" tIns="0" bIns="0" anchor="ctr">
            <a:spAutoFit/>
          </a:bodyPr>
          <a:lstStyle/>
          <a:p>
            <a:pPr algn="r"/>
            <a:r>
              <a:rPr sz="1200" b="1" i="0">
                <a:solidFill>
                  <a:srgbClr val="FF6600"/>
                </a:solidFill>
                <a:latin typeface="Courier New"/>
              </a:rPr>
              <a:t>−2 sem</a:t>
            </a:r>
          </a:p>
        </p:txBody>
      </p:sp>
      <p:sp>
        <p:nvSpPr>
          <p:cNvPr id="52" name="TextBox 51"/>
          <p:cNvSpPr txBox="1"/>
          <p:nvPr/>
        </p:nvSpPr>
        <p:spPr>
          <a:xfrm>
            <a:off x="9303791" y="4599432"/>
            <a:ext cx="1379143" cy="274320"/>
          </a:xfrm>
          <a:prstGeom prst="rect">
            <a:avLst/>
          </a:prstGeom>
          <a:noFill/>
        </p:spPr>
        <p:txBody>
          <a:bodyPr wrap="square" lIns="0" rIns="0" tIns="0" bIns="0" anchor="ctr">
            <a:spAutoFit/>
          </a:bodyPr>
          <a:lstStyle/>
          <a:p>
            <a:pPr algn="l"/>
            <a:r>
              <a:rPr sz="1000" b="0" i="0">
                <a:solidFill>
                  <a:srgbClr val="6D6E71"/>
                </a:solidFill>
                <a:latin typeface="Arial"/>
              </a:rPr>
              <a:t>Megaproyecto</a:t>
            </a:r>
          </a:p>
        </p:txBody>
      </p:sp>
      <p:sp>
        <p:nvSpPr>
          <p:cNvPr id="53" name="TextBox 52"/>
          <p:cNvSpPr txBox="1"/>
          <p:nvPr/>
        </p:nvSpPr>
        <p:spPr>
          <a:xfrm>
            <a:off x="10454335" y="4599432"/>
            <a:ext cx="960120" cy="274320"/>
          </a:xfrm>
          <a:prstGeom prst="rect">
            <a:avLst/>
          </a:prstGeom>
          <a:noFill/>
        </p:spPr>
        <p:txBody>
          <a:bodyPr wrap="square" lIns="0" rIns="0" tIns="0" bIns="0" anchor="ctr">
            <a:spAutoFit/>
          </a:bodyPr>
          <a:lstStyle/>
          <a:p>
            <a:pPr algn="r"/>
            <a:r>
              <a:rPr sz="1200" b="1" i="0">
                <a:solidFill>
                  <a:srgbClr val="003087"/>
                </a:solidFill>
                <a:latin typeface="Courier New"/>
              </a:rPr>
              <a:t>−4 sem</a:t>
            </a:r>
          </a:p>
        </p:txBody>
      </p:sp>
      <p:sp>
        <p:nvSpPr>
          <p:cNvPr id="54" name="Rectangle 53"/>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5" name="Picture 54" descr="flag_o.png"/>
          <p:cNvPicPr>
            <a:picLocks noChangeAspect="1"/>
          </p:cNvPicPr>
          <p:nvPr/>
        </p:nvPicPr>
        <p:blipFill>
          <a:blip r:embed="rId6"/>
          <a:stretch>
            <a:fillRect/>
          </a:stretch>
        </p:blipFill>
        <p:spPr>
          <a:xfrm>
            <a:off x="822959" y="5660136"/>
            <a:ext cx="365760" cy="365760"/>
          </a:xfrm>
          <a:prstGeom prst="rect">
            <a:avLst/>
          </a:prstGeom>
        </p:spPr>
      </p:pic>
      <p:sp>
        <p:nvSpPr>
          <p:cNvPr id="56" name="TextBox 55"/>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Regla de oro: </a:t>
            </a:r>
            <a:r>
              <a:rPr sz="1400" b="0" i="0">
                <a:solidFill>
                  <a:srgbClr val="FFFFFF"/>
                </a:solidFill>
                <a:latin typeface="Arial"/>
              </a:rPr>
              <a:t>ningún IWP va a campo mientras tenga una restricción abierta.</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6 · GESTIÓN DE RESTRICCIONES</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Cada restricción tiene dueño, fecha y prioridad</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M6 · CONSTRUCCIÓN Y WORKFACE PLANNING</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067</a:t>
            </a:r>
          </a:p>
        </p:txBody>
      </p:sp>
      <p:sp>
        <p:nvSpPr>
          <p:cNvPr id="7" name="Rectangle 6"/>
          <p:cNvSpPr/>
          <p:nvPr/>
        </p:nvSpPr>
        <p:spPr>
          <a:xfrm>
            <a:off x="548640" y="1828800"/>
            <a:ext cx="3527450" cy="15773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istcheck_o.png"/>
          <p:cNvPicPr>
            <a:picLocks noChangeAspect="1"/>
          </p:cNvPicPr>
          <p:nvPr/>
        </p:nvPicPr>
        <p:blipFill>
          <a:blip r:embed="rId2"/>
          <a:stretch>
            <a:fillRect/>
          </a:stretch>
        </p:blipFill>
        <p:spPr>
          <a:xfrm>
            <a:off x="822959" y="2057400"/>
            <a:ext cx="384048" cy="384048"/>
          </a:xfrm>
          <a:prstGeom prst="rect">
            <a:avLst/>
          </a:prstGeom>
        </p:spPr>
      </p:pic>
      <p:sp>
        <p:nvSpPr>
          <p:cNvPr id="9" name="TextBox 8"/>
          <p:cNvSpPr txBox="1"/>
          <p:nvPr/>
        </p:nvSpPr>
        <p:spPr>
          <a:xfrm>
            <a:off x="1371600" y="2011680"/>
            <a:ext cx="2475890" cy="475488"/>
          </a:xfrm>
          <a:prstGeom prst="rect">
            <a:avLst/>
          </a:prstGeom>
          <a:noFill/>
        </p:spPr>
        <p:txBody>
          <a:bodyPr wrap="square" lIns="0" rIns="0" tIns="0" bIns="0" anchor="ctr">
            <a:spAutoFit/>
          </a:bodyPr>
          <a:lstStyle/>
          <a:p>
            <a:pPr algn="l">
              <a:lnSpc>
                <a:spcPct val="95000"/>
              </a:lnSpc>
            </a:pPr>
            <a:r>
              <a:rPr sz="1500" b="1" i="0">
                <a:solidFill>
                  <a:srgbClr val="1A1A1A"/>
                </a:solidFill>
                <a:latin typeface="Arial"/>
              </a:rPr>
              <a:t>Lista única</a:t>
            </a:r>
          </a:p>
        </p:txBody>
      </p:sp>
      <p:sp>
        <p:nvSpPr>
          <p:cNvPr id="10" name="TextBox 9"/>
          <p:cNvSpPr txBox="1"/>
          <p:nvPr/>
        </p:nvSpPr>
        <p:spPr>
          <a:xfrm>
            <a:off x="822959" y="2606040"/>
            <a:ext cx="3024530" cy="70866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Todas las restricciones abiertas en un solo registro</a:t>
            </a:r>
          </a:p>
        </p:txBody>
      </p:sp>
      <p:sp>
        <p:nvSpPr>
          <p:cNvPr id="11" name="Rectangle 10"/>
          <p:cNvSpPr/>
          <p:nvPr/>
        </p:nvSpPr>
        <p:spPr>
          <a:xfrm>
            <a:off x="4332122" y="1828800"/>
            <a:ext cx="3527450" cy="15773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usercheck_o.png"/>
          <p:cNvPicPr>
            <a:picLocks noChangeAspect="1"/>
          </p:cNvPicPr>
          <p:nvPr/>
        </p:nvPicPr>
        <p:blipFill>
          <a:blip r:embed="rId3"/>
          <a:stretch>
            <a:fillRect/>
          </a:stretch>
        </p:blipFill>
        <p:spPr>
          <a:xfrm>
            <a:off x="4606442" y="2057400"/>
            <a:ext cx="384048" cy="384048"/>
          </a:xfrm>
          <a:prstGeom prst="rect">
            <a:avLst/>
          </a:prstGeom>
        </p:spPr>
      </p:pic>
      <p:sp>
        <p:nvSpPr>
          <p:cNvPr id="13" name="TextBox 12"/>
          <p:cNvSpPr txBox="1"/>
          <p:nvPr/>
        </p:nvSpPr>
        <p:spPr>
          <a:xfrm>
            <a:off x="5155082" y="2011680"/>
            <a:ext cx="2475890" cy="475488"/>
          </a:xfrm>
          <a:prstGeom prst="rect">
            <a:avLst/>
          </a:prstGeom>
          <a:noFill/>
        </p:spPr>
        <p:txBody>
          <a:bodyPr wrap="square" lIns="0" rIns="0" tIns="0" bIns="0" anchor="ctr">
            <a:spAutoFit/>
          </a:bodyPr>
          <a:lstStyle/>
          <a:p>
            <a:pPr algn="l">
              <a:lnSpc>
                <a:spcPct val="95000"/>
              </a:lnSpc>
            </a:pPr>
            <a:r>
              <a:rPr sz="1500" b="1" i="0">
                <a:solidFill>
                  <a:srgbClr val="1A1A1A"/>
                </a:solidFill>
                <a:latin typeface="Arial"/>
              </a:rPr>
              <a:t>Dueño, fecha y prioridad</a:t>
            </a:r>
          </a:p>
        </p:txBody>
      </p:sp>
      <p:sp>
        <p:nvSpPr>
          <p:cNvPr id="14" name="TextBox 13"/>
          <p:cNvSpPr txBox="1"/>
          <p:nvPr/>
        </p:nvSpPr>
        <p:spPr>
          <a:xfrm>
            <a:off x="4606442" y="2606040"/>
            <a:ext cx="3024530" cy="70866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Para cada restricción abierta</a:t>
            </a:r>
          </a:p>
        </p:txBody>
      </p:sp>
      <p:sp>
        <p:nvSpPr>
          <p:cNvPr id="15" name="Rectangle 14"/>
          <p:cNvSpPr/>
          <p:nvPr/>
        </p:nvSpPr>
        <p:spPr>
          <a:xfrm>
            <a:off x="8115604" y="1828800"/>
            <a:ext cx="3527450" cy="15773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lipcheck_o.png"/>
          <p:cNvPicPr>
            <a:picLocks noChangeAspect="1"/>
          </p:cNvPicPr>
          <p:nvPr/>
        </p:nvPicPr>
        <p:blipFill>
          <a:blip r:embed="rId4"/>
          <a:stretch>
            <a:fillRect/>
          </a:stretch>
        </p:blipFill>
        <p:spPr>
          <a:xfrm>
            <a:off x="8389924" y="2057400"/>
            <a:ext cx="384048" cy="384048"/>
          </a:xfrm>
          <a:prstGeom prst="rect">
            <a:avLst/>
          </a:prstGeom>
        </p:spPr>
      </p:pic>
      <p:sp>
        <p:nvSpPr>
          <p:cNvPr id="17" name="TextBox 16"/>
          <p:cNvSpPr txBox="1"/>
          <p:nvPr/>
        </p:nvSpPr>
        <p:spPr>
          <a:xfrm>
            <a:off x="8938564" y="2011680"/>
            <a:ext cx="2475890" cy="475488"/>
          </a:xfrm>
          <a:prstGeom prst="rect">
            <a:avLst/>
          </a:prstGeom>
          <a:noFill/>
        </p:spPr>
        <p:txBody>
          <a:bodyPr wrap="square" lIns="0" rIns="0" tIns="0" bIns="0" anchor="ctr">
            <a:spAutoFit/>
          </a:bodyPr>
          <a:lstStyle/>
          <a:p>
            <a:pPr algn="l">
              <a:lnSpc>
                <a:spcPct val="95000"/>
              </a:lnSpc>
            </a:pPr>
            <a:r>
              <a:rPr sz="1500" b="1" i="0">
                <a:solidFill>
                  <a:srgbClr val="1A1A1A"/>
                </a:solidFill>
                <a:latin typeface="Arial"/>
              </a:rPr>
              <a:t>Flujo de aprobación</a:t>
            </a:r>
          </a:p>
        </p:txBody>
      </p:sp>
      <p:sp>
        <p:nvSpPr>
          <p:cNvPr id="18" name="TextBox 17"/>
          <p:cNvSpPr txBox="1"/>
          <p:nvPr/>
        </p:nvSpPr>
        <p:spPr>
          <a:xfrm>
            <a:off x="8389924" y="2606040"/>
            <a:ext cx="3024530" cy="70866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Cierre formal según el tipo de paquete</a:t>
            </a:r>
          </a:p>
        </p:txBody>
      </p:sp>
      <p:sp>
        <p:nvSpPr>
          <p:cNvPr id="19" name="Rectangle 18"/>
          <p:cNvSpPr/>
          <p:nvPr/>
        </p:nvSpPr>
        <p:spPr>
          <a:xfrm>
            <a:off x="548640" y="3662172"/>
            <a:ext cx="3527450" cy="15773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omments_o.png"/>
          <p:cNvPicPr>
            <a:picLocks noChangeAspect="1"/>
          </p:cNvPicPr>
          <p:nvPr/>
        </p:nvPicPr>
        <p:blipFill>
          <a:blip r:embed="rId5"/>
          <a:stretch>
            <a:fillRect/>
          </a:stretch>
        </p:blipFill>
        <p:spPr>
          <a:xfrm>
            <a:off x="822959" y="3890772"/>
            <a:ext cx="384048" cy="384048"/>
          </a:xfrm>
          <a:prstGeom prst="rect">
            <a:avLst/>
          </a:prstGeom>
        </p:spPr>
      </p:pic>
      <p:sp>
        <p:nvSpPr>
          <p:cNvPr id="21" name="TextBox 20"/>
          <p:cNvSpPr txBox="1"/>
          <p:nvPr/>
        </p:nvSpPr>
        <p:spPr>
          <a:xfrm>
            <a:off x="1371600" y="3845052"/>
            <a:ext cx="2475890" cy="475488"/>
          </a:xfrm>
          <a:prstGeom prst="rect">
            <a:avLst/>
          </a:prstGeom>
          <a:noFill/>
        </p:spPr>
        <p:txBody>
          <a:bodyPr wrap="square" lIns="0" rIns="0" tIns="0" bIns="0" anchor="ctr">
            <a:spAutoFit/>
          </a:bodyPr>
          <a:lstStyle/>
          <a:p>
            <a:pPr algn="l">
              <a:lnSpc>
                <a:spcPct val="95000"/>
              </a:lnSpc>
            </a:pPr>
            <a:r>
              <a:rPr sz="1500" b="1" i="0">
                <a:solidFill>
                  <a:srgbClr val="1A1A1A"/>
                </a:solidFill>
                <a:latin typeface="Arial"/>
              </a:rPr>
              <a:t>Reunión estándar</a:t>
            </a:r>
          </a:p>
        </p:txBody>
      </p:sp>
      <p:sp>
        <p:nvSpPr>
          <p:cNvPr id="22" name="TextBox 21"/>
          <p:cNvSpPr txBox="1"/>
          <p:nvPr/>
        </p:nvSpPr>
        <p:spPr>
          <a:xfrm>
            <a:off x="822959" y="4439412"/>
            <a:ext cx="3024530" cy="70866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Herramientas comunes para revisarlas</a:t>
            </a:r>
          </a:p>
        </p:txBody>
      </p:sp>
      <p:sp>
        <p:nvSpPr>
          <p:cNvPr id="23" name="Rectangle 22"/>
          <p:cNvSpPr/>
          <p:nvPr/>
        </p:nvSpPr>
        <p:spPr>
          <a:xfrm>
            <a:off x="4332122" y="3662172"/>
            <a:ext cx="3527450" cy="15773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signs_o.png"/>
          <p:cNvPicPr>
            <a:picLocks noChangeAspect="1"/>
          </p:cNvPicPr>
          <p:nvPr/>
        </p:nvPicPr>
        <p:blipFill>
          <a:blip r:embed="rId6"/>
          <a:stretch>
            <a:fillRect/>
          </a:stretch>
        </p:blipFill>
        <p:spPr>
          <a:xfrm>
            <a:off x="4606442" y="3890772"/>
            <a:ext cx="384048" cy="384048"/>
          </a:xfrm>
          <a:prstGeom prst="rect">
            <a:avLst/>
          </a:prstGeom>
        </p:spPr>
      </p:pic>
      <p:sp>
        <p:nvSpPr>
          <p:cNvPr id="25" name="TextBox 24"/>
          <p:cNvSpPr txBox="1"/>
          <p:nvPr/>
        </p:nvSpPr>
        <p:spPr>
          <a:xfrm>
            <a:off x="5155082" y="3845052"/>
            <a:ext cx="2475890" cy="475488"/>
          </a:xfrm>
          <a:prstGeom prst="rect">
            <a:avLst/>
          </a:prstGeom>
          <a:noFill/>
        </p:spPr>
        <p:txBody>
          <a:bodyPr wrap="square" lIns="0" rIns="0" tIns="0" bIns="0" anchor="ctr">
            <a:spAutoFit/>
          </a:bodyPr>
          <a:lstStyle/>
          <a:p>
            <a:pPr algn="l">
              <a:lnSpc>
                <a:spcPct val="95000"/>
              </a:lnSpc>
            </a:pPr>
            <a:r>
              <a:rPr sz="1500" b="1" i="0">
                <a:solidFill>
                  <a:srgbClr val="1A1A1A"/>
                </a:solidFill>
                <a:latin typeface="Arial"/>
              </a:rPr>
              <a:t>Árbol de decisión</a:t>
            </a:r>
          </a:p>
        </p:txBody>
      </p:sp>
      <p:sp>
        <p:nvSpPr>
          <p:cNvPr id="26" name="TextBox 25"/>
          <p:cNvSpPr txBox="1"/>
          <p:nvPr/>
        </p:nvSpPr>
        <p:spPr>
          <a:xfrm>
            <a:off x="4606442" y="4439412"/>
            <a:ext cx="3024530" cy="70866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Qué hacer con paquetes que siguen abiertos</a:t>
            </a:r>
          </a:p>
        </p:txBody>
      </p:sp>
      <p:sp>
        <p:nvSpPr>
          <p:cNvPr id="27" name="Rectangle 26"/>
          <p:cNvSpPr/>
          <p:nvPr/>
        </p:nvSpPr>
        <p:spPr>
          <a:xfrm>
            <a:off x="8115604" y="3662172"/>
            <a:ext cx="3527450" cy="15773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art_o.png"/>
          <p:cNvPicPr>
            <a:picLocks noChangeAspect="1"/>
          </p:cNvPicPr>
          <p:nvPr/>
        </p:nvPicPr>
        <p:blipFill>
          <a:blip r:embed="rId7"/>
          <a:stretch>
            <a:fillRect/>
          </a:stretch>
        </p:blipFill>
        <p:spPr>
          <a:xfrm>
            <a:off x="8389924" y="3890772"/>
            <a:ext cx="384048" cy="384048"/>
          </a:xfrm>
          <a:prstGeom prst="rect">
            <a:avLst/>
          </a:prstGeom>
        </p:spPr>
      </p:pic>
      <p:sp>
        <p:nvSpPr>
          <p:cNvPr id="29" name="TextBox 28"/>
          <p:cNvSpPr txBox="1"/>
          <p:nvPr/>
        </p:nvSpPr>
        <p:spPr>
          <a:xfrm>
            <a:off x="8938564" y="3845052"/>
            <a:ext cx="2475890" cy="475488"/>
          </a:xfrm>
          <a:prstGeom prst="rect">
            <a:avLst/>
          </a:prstGeom>
          <a:noFill/>
        </p:spPr>
        <p:txBody>
          <a:bodyPr wrap="square" lIns="0" rIns="0" tIns="0" bIns="0" anchor="ctr">
            <a:spAutoFit/>
          </a:bodyPr>
          <a:lstStyle/>
          <a:p>
            <a:pPr algn="l">
              <a:lnSpc>
                <a:spcPct val="95000"/>
              </a:lnSpc>
            </a:pPr>
            <a:r>
              <a:rPr sz="1500" b="1" i="0">
                <a:solidFill>
                  <a:srgbClr val="1A1A1A"/>
                </a:solidFill>
                <a:latin typeface="Arial"/>
              </a:rPr>
              <a:t>Reporte de estado</a:t>
            </a:r>
          </a:p>
        </p:txBody>
      </p:sp>
      <p:sp>
        <p:nvSpPr>
          <p:cNvPr id="30" name="TextBox 29"/>
          <p:cNvSpPr txBox="1"/>
          <p:nvPr/>
        </p:nvSpPr>
        <p:spPr>
          <a:xfrm>
            <a:off x="8389924" y="4439412"/>
            <a:ext cx="3024530" cy="70866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Visibilidad para toda la gerencia</a:t>
            </a:r>
          </a:p>
        </p:txBody>
      </p:sp>
      <p:sp>
        <p:nvSpPr>
          <p:cNvPr id="31" name="Rectangle 30"/>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flag_o.png"/>
          <p:cNvPicPr>
            <a:picLocks noChangeAspect="1"/>
          </p:cNvPicPr>
          <p:nvPr/>
        </p:nvPicPr>
        <p:blipFill>
          <a:blip r:embed="rId8"/>
          <a:stretch>
            <a:fillRect/>
          </a:stretch>
        </p:blipFill>
        <p:spPr>
          <a:xfrm>
            <a:off x="822959" y="5660136"/>
            <a:ext cx="365760" cy="365760"/>
          </a:xfrm>
          <a:prstGeom prst="rect">
            <a:avLst/>
          </a:prstGeom>
        </p:spPr>
      </p:pic>
      <p:sp>
        <p:nvSpPr>
          <p:cNvPr id="33" name="TextBox 32"/>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Los dueños de restricciones informan su avance; el Construction Manager vigila su impacto.</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6 · BACKLOG</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Mantenga un backlog de IWP libres de restricciones</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M6 · CONSTRUCCIÓN Y WORKFACE PLANNING</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068</a:t>
            </a:r>
          </a:p>
        </p:txBody>
      </p:sp>
      <p:sp>
        <p:nvSpPr>
          <p:cNvPr id="7" name="Rectangle 6"/>
          <p:cNvSpPr/>
          <p:nvPr/>
        </p:nvSpPr>
        <p:spPr>
          <a:xfrm>
            <a:off x="548639" y="1828800"/>
            <a:ext cx="7498079" cy="594360"/>
          </a:xfrm>
          <a:prstGeom prst="rect">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39" y="1828800"/>
            <a:ext cx="7040879" cy="594360"/>
          </a:xfrm>
          <a:prstGeom prst="rect">
            <a:avLst/>
          </a:prstGeom>
          <a:noFill/>
        </p:spPr>
        <p:txBody>
          <a:bodyPr wrap="square" lIns="0" rIns="0" tIns="0" bIns="0" anchor="ctr">
            <a:spAutoFit/>
          </a:bodyPr>
          <a:lstStyle/>
          <a:p>
            <a:pPr algn="ctr"/>
            <a:r>
              <a:rPr sz="1400" b="1" i="0">
                <a:solidFill>
                  <a:srgbClr val="FFFFFF"/>
                </a:solidFill>
                <a:latin typeface="Arial"/>
              </a:rPr>
              <a:t>Ventana de 90 días</a:t>
            </a:r>
          </a:p>
        </p:txBody>
      </p:sp>
      <p:sp>
        <p:nvSpPr>
          <p:cNvPr id="9" name="TextBox 8"/>
          <p:cNvSpPr txBox="1"/>
          <p:nvPr/>
        </p:nvSpPr>
        <p:spPr>
          <a:xfrm>
            <a:off x="8366759" y="1828800"/>
            <a:ext cx="1097280" cy="594360"/>
          </a:xfrm>
          <a:prstGeom prst="rect">
            <a:avLst/>
          </a:prstGeom>
          <a:noFill/>
        </p:spPr>
        <p:txBody>
          <a:bodyPr wrap="square" lIns="0" rIns="0" tIns="0" bIns="0" anchor="ctr">
            <a:spAutoFit/>
          </a:bodyPr>
          <a:lstStyle/>
          <a:p>
            <a:pPr algn="l"/>
            <a:r>
              <a:rPr sz="1300" b="1" i="0">
                <a:solidFill>
                  <a:srgbClr val="003087"/>
                </a:solidFill>
                <a:latin typeface="Courier New"/>
              </a:rPr>
              <a:t>−12 sem</a:t>
            </a:r>
          </a:p>
        </p:txBody>
      </p:sp>
      <p:sp>
        <p:nvSpPr>
          <p:cNvPr id="10" name="TextBox 9"/>
          <p:cNvSpPr txBox="1"/>
          <p:nvPr/>
        </p:nvSpPr>
        <p:spPr>
          <a:xfrm>
            <a:off x="9509759" y="1828800"/>
            <a:ext cx="2133295" cy="594360"/>
          </a:xfrm>
          <a:prstGeom prst="rect">
            <a:avLst/>
          </a:prstGeom>
          <a:noFill/>
        </p:spPr>
        <p:txBody>
          <a:bodyPr wrap="square" lIns="0" rIns="0" tIns="0" bIns="0" anchor="ctr">
            <a:spAutoFit/>
          </a:bodyPr>
          <a:lstStyle/>
          <a:p>
            <a:pPr algn="l">
              <a:lnSpc>
                <a:spcPct val="105000"/>
              </a:lnSpc>
            </a:pPr>
            <a:r>
              <a:rPr sz="1150" b="0" i="0">
                <a:solidFill>
                  <a:srgbClr val="6D6E71"/>
                </a:solidFill>
                <a:latin typeface="Arial"/>
              </a:rPr>
              <a:t>IWP creado en 3D e incluido en el cronograma de nivel 5</a:t>
            </a:r>
          </a:p>
        </p:txBody>
      </p:sp>
      <p:sp>
        <p:nvSpPr>
          <p:cNvPr id="11" name="Rectangle 10"/>
          <p:cNvSpPr/>
          <p:nvPr/>
        </p:nvSpPr>
        <p:spPr>
          <a:xfrm>
            <a:off x="1005839" y="2532888"/>
            <a:ext cx="6583679" cy="594360"/>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34439" y="2532888"/>
            <a:ext cx="6126479" cy="594360"/>
          </a:xfrm>
          <a:prstGeom prst="rect">
            <a:avLst/>
          </a:prstGeom>
          <a:noFill/>
        </p:spPr>
        <p:txBody>
          <a:bodyPr wrap="square" lIns="0" rIns="0" tIns="0" bIns="0" anchor="ctr">
            <a:spAutoFit/>
          </a:bodyPr>
          <a:lstStyle/>
          <a:p>
            <a:pPr algn="ctr"/>
            <a:r>
              <a:rPr sz="1400" b="1" i="0">
                <a:solidFill>
                  <a:srgbClr val="FFFFFF"/>
                </a:solidFill>
                <a:latin typeface="Arial"/>
              </a:rPr>
              <a:t>Armado del IWP</a:t>
            </a:r>
          </a:p>
        </p:txBody>
      </p:sp>
      <p:sp>
        <p:nvSpPr>
          <p:cNvPr id="13" name="TextBox 12"/>
          <p:cNvSpPr txBox="1"/>
          <p:nvPr/>
        </p:nvSpPr>
        <p:spPr>
          <a:xfrm>
            <a:off x="8366759" y="2532888"/>
            <a:ext cx="1097280" cy="594360"/>
          </a:xfrm>
          <a:prstGeom prst="rect">
            <a:avLst/>
          </a:prstGeom>
          <a:noFill/>
        </p:spPr>
        <p:txBody>
          <a:bodyPr wrap="square" lIns="0" rIns="0" tIns="0" bIns="0" anchor="ctr">
            <a:spAutoFit/>
          </a:bodyPr>
          <a:lstStyle/>
          <a:p>
            <a:pPr algn="l"/>
            <a:r>
              <a:rPr sz="1300" b="1" i="0">
                <a:solidFill>
                  <a:srgbClr val="005A9C"/>
                </a:solidFill>
                <a:latin typeface="Courier New"/>
              </a:rPr>
              <a:t>−4 sem</a:t>
            </a:r>
          </a:p>
        </p:txBody>
      </p:sp>
      <p:sp>
        <p:nvSpPr>
          <p:cNvPr id="14" name="TextBox 13"/>
          <p:cNvSpPr txBox="1"/>
          <p:nvPr/>
        </p:nvSpPr>
        <p:spPr>
          <a:xfrm>
            <a:off x="9509759" y="2532888"/>
            <a:ext cx="2133295" cy="594360"/>
          </a:xfrm>
          <a:prstGeom prst="rect">
            <a:avLst/>
          </a:prstGeom>
          <a:noFill/>
        </p:spPr>
        <p:txBody>
          <a:bodyPr wrap="square" lIns="0" rIns="0" tIns="0" bIns="0" anchor="ctr">
            <a:spAutoFit/>
          </a:bodyPr>
          <a:lstStyle/>
          <a:p>
            <a:pPr algn="l">
              <a:lnSpc>
                <a:spcPct val="105000"/>
              </a:lnSpc>
            </a:pPr>
            <a:r>
              <a:rPr sz="1150" b="0" i="0">
                <a:solidFill>
                  <a:srgbClr val="6D6E71"/>
                </a:solidFill>
                <a:latin typeface="Arial"/>
              </a:rPr>
              <a:t>Documentos IFC y materiales confirmados</a:t>
            </a:r>
          </a:p>
        </p:txBody>
      </p:sp>
      <p:sp>
        <p:nvSpPr>
          <p:cNvPr id="15" name="Rectangle 14"/>
          <p:cNvSpPr/>
          <p:nvPr/>
        </p:nvSpPr>
        <p:spPr>
          <a:xfrm>
            <a:off x="1463039" y="3236976"/>
            <a:ext cx="5669279" cy="594360"/>
          </a:xfrm>
          <a:prstGeom prst="rect">
            <a:avLst/>
          </a:prstGeom>
          <a:solidFill>
            <a:srgbClr val="0078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691639" y="3236976"/>
            <a:ext cx="5212079" cy="594360"/>
          </a:xfrm>
          <a:prstGeom prst="rect">
            <a:avLst/>
          </a:prstGeom>
          <a:noFill/>
        </p:spPr>
        <p:txBody>
          <a:bodyPr wrap="square" lIns="0" rIns="0" tIns="0" bIns="0" anchor="ctr">
            <a:spAutoFit/>
          </a:bodyPr>
          <a:lstStyle/>
          <a:p>
            <a:pPr algn="ctr"/>
            <a:r>
              <a:rPr sz="1400" b="1" i="0">
                <a:solidFill>
                  <a:srgbClr val="FFFFFF"/>
                </a:solidFill>
                <a:latin typeface="Arial"/>
              </a:rPr>
              <a:t>Backlog</a:t>
            </a:r>
          </a:p>
        </p:txBody>
      </p:sp>
      <p:sp>
        <p:nvSpPr>
          <p:cNvPr id="17" name="TextBox 16"/>
          <p:cNvSpPr txBox="1"/>
          <p:nvPr/>
        </p:nvSpPr>
        <p:spPr>
          <a:xfrm>
            <a:off x="8366759" y="3236976"/>
            <a:ext cx="1097280" cy="594360"/>
          </a:xfrm>
          <a:prstGeom prst="rect">
            <a:avLst/>
          </a:prstGeom>
          <a:noFill/>
        </p:spPr>
        <p:txBody>
          <a:bodyPr wrap="square" lIns="0" rIns="0" tIns="0" bIns="0" anchor="ctr">
            <a:spAutoFit/>
          </a:bodyPr>
          <a:lstStyle/>
          <a:p>
            <a:pPr algn="l"/>
            <a:r>
              <a:rPr sz="1300" b="1" i="0">
                <a:solidFill>
                  <a:srgbClr val="0078C1"/>
                </a:solidFill>
                <a:latin typeface="Courier New"/>
              </a:rPr>
              <a:t>−3 sem</a:t>
            </a:r>
          </a:p>
        </p:txBody>
      </p:sp>
      <p:sp>
        <p:nvSpPr>
          <p:cNvPr id="18" name="TextBox 17"/>
          <p:cNvSpPr txBox="1"/>
          <p:nvPr/>
        </p:nvSpPr>
        <p:spPr>
          <a:xfrm>
            <a:off x="9509759" y="3236976"/>
            <a:ext cx="2133295" cy="594360"/>
          </a:xfrm>
          <a:prstGeom prst="rect">
            <a:avLst/>
          </a:prstGeom>
          <a:noFill/>
        </p:spPr>
        <p:txBody>
          <a:bodyPr wrap="square" lIns="0" rIns="0" tIns="0" bIns="0" anchor="ctr">
            <a:spAutoFit/>
          </a:bodyPr>
          <a:lstStyle/>
          <a:p>
            <a:pPr algn="l">
              <a:lnSpc>
                <a:spcPct val="105000"/>
              </a:lnSpc>
            </a:pPr>
            <a:r>
              <a:rPr sz="1150" b="0" i="0">
                <a:solidFill>
                  <a:srgbClr val="6D6E71"/>
                </a:solidFill>
                <a:latin typeface="Arial"/>
              </a:rPr>
              <a:t>IWP libre de restricciones, listo para elegir</a:t>
            </a:r>
          </a:p>
        </p:txBody>
      </p:sp>
      <p:sp>
        <p:nvSpPr>
          <p:cNvPr id="19" name="Rectangle 18"/>
          <p:cNvSpPr/>
          <p:nvPr/>
        </p:nvSpPr>
        <p:spPr>
          <a:xfrm>
            <a:off x="1920239" y="3941064"/>
            <a:ext cx="4754880" cy="594360"/>
          </a:xfrm>
          <a:prstGeom prst="rect">
            <a:avLst/>
          </a:prstGeom>
          <a:solidFill>
            <a:srgbClr val="CC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2148839" y="3941064"/>
            <a:ext cx="4297680" cy="594360"/>
          </a:xfrm>
          <a:prstGeom prst="rect">
            <a:avLst/>
          </a:prstGeom>
          <a:noFill/>
        </p:spPr>
        <p:txBody>
          <a:bodyPr wrap="square" lIns="0" rIns="0" tIns="0" bIns="0" anchor="ctr">
            <a:spAutoFit/>
          </a:bodyPr>
          <a:lstStyle/>
          <a:p>
            <a:pPr algn="ctr"/>
            <a:r>
              <a:rPr sz="1400" b="1" i="0">
                <a:solidFill>
                  <a:srgbClr val="FFFFFF"/>
                </a:solidFill>
                <a:latin typeface="Arial"/>
              </a:rPr>
              <a:t>Look-ahead de 3 semanas</a:t>
            </a:r>
          </a:p>
        </p:txBody>
      </p:sp>
      <p:sp>
        <p:nvSpPr>
          <p:cNvPr id="21" name="TextBox 20"/>
          <p:cNvSpPr txBox="1"/>
          <p:nvPr/>
        </p:nvSpPr>
        <p:spPr>
          <a:xfrm>
            <a:off x="8366759" y="3941064"/>
            <a:ext cx="1097280" cy="594360"/>
          </a:xfrm>
          <a:prstGeom prst="rect">
            <a:avLst/>
          </a:prstGeom>
          <a:noFill/>
        </p:spPr>
        <p:txBody>
          <a:bodyPr wrap="square" lIns="0" rIns="0" tIns="0" bIns="0" anchor="ctr">
            <a:spAutoFit/>
          </a:bodyPr>
          <a:lstStyle/>
          <a:p>
            <a:pPr algn="l"/>
            <a:r>
              <a:rPr sz="1300" b="1" i="0">
                <a:solidFill>
                  <a:srgbClr val="CC4400"/>
                </a:solidFill>
                <a:latin typeface="Courier New"/>
              </a:rPr>
              <a:t>−2 sem</a:t>
            </a:r>
          </a:p>
        </p:txBody>
      </p:sp>
      <p:sp>
        <p:nvSpPr>
          <p:cNvPr id="22" name="TextBox 21"/>
          <p:cNvSpPr txBox="1"/>
          <p:nvPr/>
        </p:nvSpPr>
        <p:spPr>
          <a:xfrm>
            <a:off x="9509759" y="3941064"/>
            <a:ext cx="2133295" cy="594360"/>
          </a:xfrm>
          <a:prstGeom prst="rect">
            <a:avLst/>
          </a:prstGeom>
          <a:noFill/>
        </p:spPr>
        <p:txBody>
          <a:bodyPr wrap="square" lIns="0" rIns="0" tIns="0" bIns="0" anchor="ctr">
            <a:spAutoFit/>
          </a:bodyPr>
          <a:lstStyle/>
          <a:p>
            <a:pPr algn="l">
              <a:lnSpc>
                <a:spcPct val="105000"/>
              </a:lnSpc>
            </a:pPr>
            <a:r>
              <a:rPr sz="1150" b="0" i="0">
                <a:solidFill>
                  <a:srgbClr val="6D6E71"/>
                </a:solidFill>
                <a:latin typeface="Arial"/>
              </a:rPr>
              <a:t>Material separado; andamio y grúas pedidos</a:t>
            </a:r>
          </a:p>
        </p:txBody>
      </p:sp>
      <p:sp>
        <p:nvSpPr>
          <p:cNvPr id="23" name="Rectangle 22"/>
          <p:cNvSpPr/>
          <p:nvPr/>
        </p:nvSpPr>
        <p:spPr>
          <a:xfrm>
            <a:off x="2377439" y="4645152"/>
            <a:ext cx="3840480" cy="59436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2606039" y="4645152"/>
            <a:ext cx="3383280" cy="594360"/>
          </a:xfrm>
          <a:prstGeom prst="rect">
            <a:avLst/>
          </a:prstGeom>
          <a:noFill/>
        </p:spPr>
        <p:txBody>
          <a:bodyPr wrap="square" lIns="0" rIns="0" tIns="0" bIns="0" anchor="ctr">
            <a:spAutoFit/>
          </a:bodyPr>
          <a:lstStyle/>
          <a:p>
            <a:pPr algn="ctr"/>
            <a:r>
              <a:rPr sz="1400" b="1" i="0">
                <a:solidFill>
                  <a:srgbClr val="FFFFFF"/>
                </a:solidFill>
                <a:latin typeface="Arial"/>
              </a:rPr>
              <a:t>Campo</a:t>
            </a:r>
          </a:p>
        </p:txBody>
      </p:sp>
      <p:sp>
        <p:nvSpPr>
          <p:cNvPr id="25" name="TextBox 24"/>
          <p:cNvSpPr txBox="1"/>
          <p:nvPr/>
        </p:nvSpPr>
        <p:spPr>
          <a:xfrm>
            <a:off x="8366759" y="4645152"/>
            <a:ext cx="1097280" cy="594360"/>
          </a:xfrm>
          <a:prstGeom prst="rect">
            <a:avLst/>
          </a:prstGeom>
          <a:noFill/>
        </p:spPr>
        <p:txBody>
          <a:bodyPr wrap="square" lIns="0" rIns="0" tIns="0" bIns="0" anchor="ctr">
            <a:spAutoFit/>
          </a:bodyPr>
          <a:lstStyle/>
          <a:p>
            <a:pPr algn="l"/>
            <a:r>
              <a:rPr sz="1300" b="1" i="0">
                <a:solidFill>
                  <a:srgbClr val="FF6600"/>
                </a:solidFill>
                <a:latin typeface="Courier New"/>
              </a:rPr>
              <a:t>0</a:t>
            </a:r>
          </a:p>
        </p:txBody>
      </p:sp>
      <p:sp>
        <p:nvSpPr>
          <p:cNvPr id="26" name="TextBox 25"/>
          <p:cNvSpPr txBox="1"/>
          <p:nvPr/>
        </p:nvSpPr>
        <p:spPr>
          <a:xfrm>
            <a:off x="9509759" y="4645152"/>
            <a:ext cx="2133295" cy="594360"/>
          </a:xfrm>
          <a:prstGeom prst="rect">
            <a:avLst/>
          </a:prstGeom>
          <a:noFill/>
        </p:spPr>
        <p:txBody>
          <a:bodyPr wrap="square" lIns="0" rIns="0" tIns="0" bIns="0" anchor="ctr">
            <a:spAutoFit/>
          </a:bodyPr>
          <a:lstStyle/>
          <a:p>
            <a:pPr algn="l">
              <a:lnSpc>
                <a:spcPct val="105000"/>
              </a:lnSpc>
            </a:pPr>
            <a:r>
              <a:rPr sz="1150" b="0" i="0">
                <a:solidFill>
                  <a:srgbClr val="6D6E71"/>
                </a:solidFill>
                <a:latin typeface="Arial"/>
              </a:rPr>
              <a:t>Emitido al capataz y ejecutado</a:t>
            </a:r>
          </a:p>
        </p:txBody>
      </p:sp>
      <p:sp>
        <p:nvSpPr>
          <p:cNvPr id="27" name="Rectangle 26"/>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lag_o.png"/>
          <p:cNvPicPr>
            <a:picLocks noChangeAspect="1"/>
          </p:cNvPicPr>
          <p:nvPr/>
        </p:nvPicPr>
        <p:blipFill>
          <a:blip r:embed="rId2"/>
          <a:stretch>
            <a:fillRect/>
          </a:stretch>
        </p:blipFill>
        <p:spPr>
          <a:xfrm>
            <a:off x="822959" y="5660136"/>
            <a:ext cx="365760" cy="365760"/>
          </a:xfrm>
          <a:prstGeom prst="rect">
            <a:avLst/>
          </a:prstGeom>
        </p:spPr>
      </p:pic>
      <p:sp>
        <p:nvSpPr>
          <p:cNvPr id="29" name="TextBox 28"/>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Meta: de 2 a 4 semanas de trabajo libre de restricciones por disciplina.</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6 · LOOK-AHEAD</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El look-ahead de tres semanas se alimenta solo del backlog</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M6 · CONSTRUCCIÓN Y WORKFACE PLANNING</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069</a:t>
            </a:r>
          </a:p>
        </p:txBody>
      </p:sp>
      <p:sp>
        <p:nvSpPr>
          <p:cNvPr id="7" name="Rectangle 6"/>
          <p:cNvSpPr/>
          <p:nvPr/>
        </p:nvSpPr>
        <p:spPr>
          <a:xfrm>
            <a:off x="2240279" y="1828800"/>
            <a:ext cx="2270683" cy="411480"/>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194560" y="1828800"/>
            <a:ext cx="2362123" cy="411480"/>
          </a:xfrm>
          <a:prstGeom prst="rect">
            <a:avLst/>
          </a:prstGeom>
          <a:noFill/>
        </p:spPr>
        <p:txBody>
          <a:bodyPr wrap="square" lIns="0" rIns="0" tIns="0" bIns="0" anchor="ctr">
            <a:spAutoFit/>
          </a:bodyPr>
          <a:lstStyle/>
          <a:p>
            <a:pPr algn="ctr"/>
            <a:r>
              <a:rPr sz="1050" b="1" i="0" spc="100">
                <a:solidFill>
                  <a:srgbClr val="FFFFFF"/>
                </a:solidFill>
                <a:latin typeface="Arial"/>
              </a:rPr>
              <a:t>SEMANA PASADA</a:t>
            </a:r>
          </a:p>
        </p:txBody>
      </p:sp>
      <p:sp>
        <p:nvSpPr>
          <p:cNvPr id="9" name="Rectangle 8"/>
          <p:cNvSpPr/>
          <p:nvPr/>
        </p:nvSpPr>
        <p:spPr>
          <a:xfrm>
            <a:off x="4602403" y="1828800"/>
            <a:ext cx="2270683" cy="4114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56683" y="1828800"/>
            <a:ext cx="2362123" cy="411480"/>
          </a:xfrm>
          <a:prstGeom prst="rect">
            <a:avLst/>
          </a:prstGeom>
          <a:noFill/>
        </p:spPr>
        <p:txBody>
          <a:bodyPr wrap="square" lIns="0" rIns="0" tIns="0" bIns="0" anchor="ctr">
            <a:spAutoFit/>
          </a:bodyPr>
          <a:lstStyle/>
          <a:p>
            <a:pPr algn="ctr"/>
            <a:r>
              <a:rPr sz="1050" b="1" i="0" spc="100">
                <a:solidFill>
                  <a:srgbClr val="FFFFFF"/>
                </a:solidFill>
                <a:latin typeface="Arial"/>
              </a:rPr>
              <a:t>SEMANA 1</a:t>
            </a:r>
          </a:p>
        </p:txBody>
      </p:sp>
      <p:sp>
        <p:nvSpPr>
          <p:cNvPr id="11" name="Rectangle 10"/>
          <p:cNvSpPr/>
          <p:nvPr/>
        </p:nvSpPr>
        <p:spPr>
          <a:xfrm>
            <a:off x="6964527" y="1828800"/>
            <a:ext cx="2270683" cy="4114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918807" y="1828800"/>
            <a:ext cx="2362123" cy="411480"/>
          </a:xfrm>
          <a:prstGeom prst="rect">
            <a:avLst/>
          </a:prstGeom>
          <a:noFill/>
        </p:spPr>
        <p:txBody>
          <a:bodyPr wrap="square" lIns="0" rIns="0" tIns="0" bIns="0" anchor="ctr">
            <a:spAutoFit/>
          </a:bodyPr>
          <a:lstStyle/>
          <a:p>
            <a:pPr algn="ctr"/>
            <a:r>
              <a:rPr sz="1050" b="1" i="0" spc="100">
                <a:solidFill>
                  <a:srgbClr val="FFFFFF"/>
                </a:solidFill>
                <a:latin typeface="Arial"/>
              </a:rPr>
              <a:t>SEMANA 2</a:t>
            </a:r>
          </a:p>
        </p:txBody>
      </p:sp>
      <p:sp>
        <p:nvSpPr>
          <p:cNvPr id="13" name="Rectangle 12"/>
          <p:cNvSpPr/>
          <p:nvPr/>
        </p:nvSpPr>
        <p:spPr>
          <a:xfrm>
            <a:off x="9326651" y="1828800"/>
            <a:ext cx="2270683" cy="41148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280931" y="1828800"/>
            <a:ext cx="2362123" cy="411480"/>
          </a:xfrm>
          <a:prstGeom prst="rect">
            <a:avLst/>
          </a:prstGeom>
          <a:noFill/>
        </p:spPr>
        <p:txBody>
          <a:bodyPr wrap="square" lIns="0" rIns="0" tIns="0" bIns="0" anchor="ctr">
            <a:spAutoFit/>
          </a:bodyPr>
          <a:lstStyle/>
          <a:p>
            <a:pPr algn="ctr"/>
            <a:r>
              <a:rPr sz="1050" b="1" i="0" spc="100">
                <a:solidFill>
                  <a:srgbClr val="FFFFFF"/>
                </a:solidFill>
                <a:latin typeface="Arial"/>
              </a:rPr>
              <a:t>SEMANA 3</a:t>
            </a:r>
          </a:p>
        </p:txBody>
      </p:sp>
      <p:sp>
        <p:nvSpPr>
          <p:cNvPr id="15" name="TextBox 14"/>
          <p:cNvSpPr txBox="1"/>
          <p:nvPr/>
        </p:nvSpPr>
        <p:spPr>
          <a:xfrm>
            <a:off x="548640" y="2377440"/>
            <a:ext cx="1554480" cy="566928"/>
          </a:xfrm>
          <a:prstGeom prst="rect">
            <a:avLst/>
          </a:prstGeom>
          <a:noFill/>
        </p:spPr>
        <p:txBody>
          <a:bodyPr wrap="square" lIns="0" rIns="0" tIns="0" bIns="0" anchor="ctr">
            <a:spAutoFit/>
          </a:bodyPr>
          <a:lstStyle/>
          <a:p>
            <a:pPr algn="l"/>
            <a:r>
              <a:rPr sz="1300" b="1" i="0">
                <a:solidFill>
                  <a:srgbClr val="1A1A1A"/>
                </a:solidFill>
                <a:latin typeface="Arial"/>
              </a:rPr>
              <a:t>Tuberías</a:t>
            </a:r>
          </a:p>
        </p:txBody>
      </p:sp>
      <p:sp>
        <p:nvSpPr>
          <p:cNvPr id="16" name="Rectangle 15"/>
          <p:cNvSpPr/>
          <p:nvPr/>
        </p:nvSpPr>
        <p:spPr>
          <a:xfrm>
            <a:off x="2240279" y="2377440"/>
            <a:ext cx="2270683" cy="566928"/>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194560" y="2377440"/>
            <a:ext cx="2362123" cy="566928"/>
          </a:xfrm>
          <a:prstGeom prst="rect">
            <a:avLst/>
          </a:prstGeom>
          <a:noFill/>
        </p:spPr>
        <p:txBody>
          <a:bodyPr wrap="square" lIns="0" rIns="0" tIns="0" bIns="0" anchor="ctr">
            <a:spAutoFit/>
          </a:bodyPr>
          <a:lstStyle/>
          <a:p>
            <a:pPr algn="ctr"/>
            <a:r>
              <a:rPr sz="1400" b="1" i="0">
                <a:solidFill>
                  <a:srgbClr val="6D6E71"/>
                </a:solidFill>
                <a:latin typeface="Courier New"/>
              </a:rPr>
              <a:t>IWP-09</a:t>
            </a:r>
          </a:p>
        </p:txBody>
      </p:sp>
      <p:sp>
        <p:nvSpPr>
          <p:cNvPr id="18" name="Rectangle 17"/>
          <p:cNvSpPr/>
          <p:nvPr/>
        </p:nvSpPr>
        <p:spPr>
          <a:xfrm>
            <a:off x="4602403" y="2377440"/>
            <a:ext cx="2270683" cy="56692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556683" y="2377440"/>
            <a:ext cx="2362123" cy="566928"/>
          </a:xfrm>
          <a:prstGeom prst="rect">
            <a:avLst/>
          </a:prstGeom>
          <a:noFill/>
        </p:spPr>
        <p:txBody>
          <a:bodyPr wrap="square" lIns="0" rIns="0" tIns="0" bIns="0" anchor="ctr">
            <a:spAutoFit/>
          </a:bodyPr>
          <a:lstStyle/>
          <a:p>
            <a:pPr algn="ctr"/>
            <a:r>
              <a:rPr sz="1400" b="1" i="0">
                <a:solidFill>
                  <a:srgbClr val="FFFFFF"/>
                </a:solidFill>
                <a:latin typeface="Courier New"/>
              </a:rPr>
              <a:t>IWP-11</a:t>
            </a:r>
          </a:p>
        </p:txBody>
      </p:sp>
      <p:sp>
        <p:nvSpPr>
          <p:cNvPr id="20" name="Rectangle 19"/>
          <p:cNvSpPr/>
          <p:nvPr/>
        </p:nvSpPr>
        <p:spPr>
          <a:xfrm>
            <a:off x="6964527" y="2377440"/>
            <a:ext cx="2270683" cy="566928"/>
          </a:xfrm>
          <a:prstGeom prst="rect">
            <a:avLst/>
          </a:prstGeom>
          <a:solidFill>
            <a:srgbClr val="FFE3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918807" y="2377440"/>
            <a:ext cx="2362123" cy="566928"/>
          </a:xfrm>
          <a:prstGeom prst="rect">
            <a:avLst/>
          </a:prstGeom>
          <a:noFill/>
        </p:spPr>
        <p:txBody>
          <a:bodyPr wrap="square" lIns="0" rIns="0" tIns="0" bIns="0" anchor="ctr">
            <a:spAutoFit/>
          </a:bodyPr>
          <a:lstStyle/>
          <a:p>
            <a:pPr algn="ctr"/>
            <a:r>
              <a:rPr sz="1400" b="1" i="0">
                <a:solidFill>
                  <a:srgbClr val="CC4400"/>
                </a:solidFill>
                <a:latin typeface="Courier New"/>
              </a:rPr>
              <a:t>IWP-12</a:t>
            </a:r>
          </a:p>
        </p:txBody>
      </p:sp>
      <p:sp>
        <p:nvSpPr>
          <p:cNvPr id="22" name="Rectangle 21"/>
          <p:cNvSpPr/>
          <p:nvPr/>
        </p:nvSpPr>
        <p:spPr>
          <a:xfrm>
            <a:off x="9326651" y="2377440"/>
            <a:ext cx="2270683" cy="566928"/>
          </a:xfrm>
          <a:prstGeom prst="rect">
            <a:avLst/>
          </a:prstGeom>
          <a:solidFill>
            <a:srgbClr val="FFE3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280931" y="2377440"/>
            <a:ext cx="2362123" cy="566928"/>
          </a:xfrm>
          <a:prstGeom prst="rect">
            <a:avLst/>
          </a:prstGeom>
          <a:noFill/>
        </p:spPr>
        <p:txBody>
          <a:bodyPr wrap="square" lIns="0" rIns="0" tIns="0" bIns="0" anchor="ctr">
            <a:spAutoFit/>
          </a:bodyPr>
          <a:lstStyle/>
          <a:p>
            <a:pPr algn="ctr"/>
            <a:r>
              <a:rPr sz="1400" b="1" i="0">
                <a:solidFill>
                  <a:srgbClr val="CC4400"/>
                </a:solidFill>
                <a:latin typeface="Courier New"/>
              </a:rPr>
              <a:t>IWP-14</a:t>
            </a:r>
          </a:p>
        </p:txBody>
      </p:sp>
      <p:sp>
        <p:nvSpPr>
          <p:cNvPr id="24" name="TextBox 23"/>
          <p:cNvSpPr txBox="1"/>
          <p:nvPr/>
        </p:nvSpPr>
        <p:spPr>
          <a:xfrm>
            <a:off x="548640" y="3035808"/>
            <a:ext cx="1554480" cy="566928"/>
          </a:xfrm>
          <a:prstGeom prst="rect">
            <a:avLst/>
          </a:prstGeom>
          <a:noFill/>
        </p:spPr>
        <p:txBody>
          <a:bodyPr wrap="square" lIns="0" rIns="0" tIns="0" bIns="0" anchor="ctr">
            <a:spAutoFit/>
          </a:bodyPr>
          <a:lstStyle/>
          <a:p>
            <a:pPr algn="l"/>
            <a:r>
              <a:rPr sz="1300" b="1" i="0">
                <a:solidFill>
                  <a:srgbClr val="1A1A1A"/>
                </a:solidFill>
                <a:latin typeface="Arial"/>
              </a:rPr>
              <a:t>Acero</a:t>
            </a:r>
          </a:p>
        </p:txBody>
      </p:sp>
      <p:sp>
        <p:nvSpPr>
          <p:cNvPr id="25" name="Rectangle 24"/>
          <p:cNvSpPr/>
          <p:nvPr/>
        </p:nvSpPr>
        <p:spPr>
          <a:xfrm>
            <a:off x="2240279" y="3035808"/>
            <a:ext cx="2270683" cy="566928"/>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2194560" y="3035808"/>
            <a:ext cx="2362123" cy="566928"/>
          </a:xfrm>
          <a:prstGeom prst="rect">
            <a:avLst/>
          </a:prstGeom>
          <a:noFill/>
        </p:spPr>
        <p:txBody>
          <a:bodyPr wrap="square" lIns="0" rIns="0" tIns="0" bIns="0" anchor="ctr">
            <a:spAutoFit/>
          </a:bodyPr>
          <a:lstStyle/>
          <a:p>
            <a:pPr algn="ctr"/>
            <a:r>
              <a:rPr sz="1400" b="1" i="0">
                <a:solidFill>
                  <a:srgbClr val="6D6E71"/>
                </a:solidFill>
                <a:latin typeface="Courier New"/>
              </a:rPr>
              <a:t>IWP-05</a:t>
            </a:r>
          </a:p>
        </p:txBody>
      </p:sp>
      <p:sp>
        <p:nvSpPr>
          <p:cNvPr id="27" name="Rectangle 26"/>
          <p:cNvSpPr/>
          <p:nvPr/>
        </p:nvSpPr>
        <p:spPr>
          <a:xfrm>
            <a:off x="4602403" y="3035808"/>
            <a:ext cx="2270683" cy="56692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556683" y="3035808"/>
            <a:ext cx="2362123" cy="566928"/>
          </a:xfrm>
          <a:prstGeom prst="rect">
            <a:avLst/>
          </a:prstGeom>
          <a:noFill/>
        </p:spPr>
        <p:txBody>
          <a:bodyPr wrap="square" lIns="0" rIns="0" tIns="0" bIns="0" anchor="ctr">
            <a:spAutoFit/>
          </a:bodyPr>
          <a:lstStyle/>
          <a:p>
            <a:pPr algn="ctr"/>
            <a:r>
              <a:rPr sz="1400" b="1" i="0">
                <a:solidFill>
                  <a:srgbClr val="FFFFFF"/>
                </a:solidFill>
                <a:latin typeface="Courier New"/>
              </a:rPr>
              <a:t>IWP-07</a:t>
            </a:r>
          </a:p>
        </p:txBody>
      </p:sp>
      <p:sp>
        <p:nvSpPr>
          <p:cNvPr id="29" name="Rectangle 28"/>
          <p:cNvSpPr/>
          <p:nvPr/>
        </p:nvSpPr>
        <p:spPr>
          <a:xfrm>
            <a:off x="6964527" y="3035808"/>
            <a:ext cx="2270683" cy="566928"/>
          </a:xfrm>
          <a:prstGeom prst="rect">
            <a:avLst/>
          </a:prstGeom>
          <a:solidFill>
            <a:srgbClr val="FFE3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918807" y="3035808"/>
            <a:ext cx="2362123" cy="566928"/>
          </a:xfrm>
          <a:prstGeom prst="rect">
            <a:avLst/>
          </a:prstGeom>
          <a:noFill/>
        </p:spPr>
        <p:txBody>
          <a:bodyPr wrap="square" lIns="0" rIns="0" tIns="0" bIns="0" anchor="ctr">
            <a:spAutoFit/>
          </a:bodyPr>
          <a:lstStyle/>
          <a:p>
            <a:pPr algn="ctr"/>
            <a:r>
              <a:rPr sz="1400" b="1" i="0">
                <a:solidFill>
                  <a:srgbClr val="CC4400"/>
                </a:solidFill>
                <a:latin typeface="Courier New"/>
              </a:rPr>
              <a:t>IWP-08</a:t>
            </a:r>
          </a:p>
        </p:txBody>
      </p:sp>
      <p:sp>
        <p:nvSpPr>
          <p:cNvPr id="31" name="Rectangle 30"/>
          <p:cNvSpPr/>
          <p:nvPr/>
        </p:nvSpPr>
        <p:spPr>
          <a:xfrm>
            <a:off x="9326651" y="3035808"/>
            <a:ext cx="2270683" cy="566928"/>
          </a:xfrm>
          <a:prstGeom prst="rect">
            <a:avLst/>
          </a:prstGeom>
          <a:solidFill>
            <a:srgbClr val="FFE3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280931" y="3035808"/>
            <a:ext cx="2362123" cy="566928"/>
          </a:xfrm>
          <a:prstGeom prst="rect">
            <a:avLst/>
          </a:prstGeom>
          <a:noFill/>
        </p:spPr>
        <p:txBody>
          <a:bodyPr wrap="square" lIns="0" rIns="0" tIns="0" bIns="0" anchor="ctr">
            <a:spAutoFit/>
          </a:bodyPr>
          <a:lstStyle/>
          <a:p>
            <a:pPr algn="ctr"/>
            <a:r>
              <a:rPr sz="1400" b="1" i="0">
                <a:solidFill>
                  <a:srgbClr val="CC4400"/>
                </a:solidFill>
                <a:latin typeface="Courier New"/>
              </a:rPr>
              <a:t>IWP-10</a:t>
            </a:r>
          </a:p>
        </p:txBody>
      </p:sp>
      <p:sp>
        <p:nvSpPr>
          <p:cNvPr id="33" name="TextBox 32"/>
          <p:cNvSpPr txBox="1"/>
          <p:nvPr/>
        </p:nvSpPr>
        <p:spPr>
          <a:xfrm>
            <a:off x="548640" y="3694176"/>
            <a:ext cx="1554480" cy="566928"/>
          </a:xfrm>
          <a:prstGeom prst="rect">
            <a:avLst/>
          </a:prstGeom>
          <a:noFill/>
        </p:spPr>
        <p:txBody>
          <a:bodyPr wrap="square" lIns="0" rIns="0" tIns="0" bIns="0" anchor="ctr">
            <a:spAutoFit/>
          </a:bodyPr>
          <a:lstStyle/>
          <a:p>
            <a:pPr algn="l"/>
            <a:r>
              <a:rPr sz="1300" b="1" i="0">
                <a:solidFill>
                  <a:srgbClr val="1A1A1A"/>
                </a:solidFill>
                <a:latin typeface="Arial"/>
              </a:rPr>
              <a:t>Eléctrico</a:t>
            </a:r>
          </a:p>
        </p:txBody>
      </p:sp>
      <p:sp>
        <p:nvSpPr>
          <p:cNvPr id="34" name="Rectangle 33"/>
          <p:cNvSpPr/>
          <p:nvPr/>
        </p:nvSpPr>
        <p:spPr>
          <a:xfrm>
            <a:off x="2240279" y="3694176"/>
            <a:ext cx="2270683" cy="566928"/>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2194560" y="3694176"/>
            <a:ext cx="2362123" cy="566928"/>
          </a:xfrm>
          <a:prstGeom prst="rect">
            <a:avLst/>
          </a:prstGeom>
          <a:noFill/>
        </p:spPr>
        <p:txBody>
          <a:bodyPr wrap="square" lIns="0" rIns="0" tIns="0" bIns="0" anchor="ctr">
            <a:spAutoFit/>
          </a:bodyPr>
          <a:lstStyle/>
          <a:p>
            <a:pPr algn="ctr"/>
            <a:r>
              <a:rPr sz="1400" b="1" i="0">
                <a:solidFill>
                  <a:srgbClr val="6D6E71"/>
                </a:solidFill>
                <a:latin typeface="Courier New"/>
              </a:rPr>
              <a:t>IWP-13</a:t>
            </a:r>
          </a:p>
        </p:txBody>
      </p:sp>
      <p:sp>
        <p:nvSpPr>
          <p:cNvPr id="36" name="Rectangle 35"/>
          <p:cNvSpPr/>
          <p:nvPr/>
        </p:nvSpPr>
        <p:spPr>
          <a:xfrm>
            <a:off x="4602403" y="3694176"/>
            <a:ext cx="2270683" cy="56692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4556683" y="3694176"/>
            <a:ext cx="2362123" cy="566928"/>
          </a:xfrm>
          <a:prstGeom prst="rect">
            <a:avLst/>
          </a:prstGeom>
          <a:noFill/>
        </p:spPr>
        <p:txBody>
          <a:bodyPr wrap="square" lIns="0" rIns="0" tIns="0" bIns="0" anchor="ctr">
            <a:spAutoFit/>
          </a:bodyPr>
          <a:lstStyle/>
          <a:p>
            <a:pPr algn="ctr"/>
            <a:r>
              <a:rPr sz="1400" b="1" i="0">
                <a:solidFill>
                  <a:srgbClr val="FFFFFF"/>
                </a:solidFill>
                <a:latin typeface="Courier New"/>
              </a:rPr>
              <a:t>IWP-15</a:t>
            </a:r>
          </a:p>
        </p:txBody>
      </p:sp>
      <p:sp>
        <p:nvSpPr>
          <p:cNvPr id="38" name="Rectangle 37"/>
          <p:cNvSpPr/>
          <p:nvPr/>
        </p:nvSpPr>
        <p:spPr>
          <a:xfrm>
            <a:off x="6964527" y="3694176"/>
            <a:ext cx="2270683" cy="566928"/>
          </a:xfrm>
          <a:prstGeom prst="rect">
            <a:avLst/>
          </a:prstGeom>
          <a:solidFill>
            <a:srgbClr val="FFE3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918807" y="3694176"/>
            <a:ext cx="2362123" cy="566928"/>
          </a:xfrm>
          <a:prstGeom prst="rect">
            <a:avLst/>
          </a:prstGeom>
          <a:noFill/>
        </p:spPr>
        <p:txBody>
          <a:bodyPr wrap="square" lIns="0" rIns="0" tIns="0" bIns="0" anchor="ctr">
            <a:spAutoFit/>
          </a:bodyPr>
          <a:lstStyle/>
          <a:p>
            <a:pPr algn="ctr"/>
            <a:r>
              <a:rPr sz="1400" b="1" i="0">
                <a:solidFill>
                  <a:srgbClr val="CC4400"/>
                </a:solidFill>
                <a:latin typeface="Courier New"/>
              </a:rPr>
              <a:t>IWP-19</a:t>
            </a:r>
          </a:p>
        </p:txBody>
      </p:sp>
      <p:sp>
        <p:nvSpPr>
          <p:cNvPr id="40" name="Rectangle 39"/>
          <p:cNvSpPr/>
          <p:nvPr/>
        </p:nvSpPr>
        <p:spPr>
          <a:xfrm>
            <a:off x="9326651" y="3694176"/>
            <a:ext cx="2270683" cy="566928"/>
          </a:xfrm>
          <a:prstGeom prst="rect">
            <a:avLst/>
          </a:prstGeom>
          <a:solidFill>
            <a:srgbClr val="FFE3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9280931" y="3694176"/>
            <a:ext cx="2362123" cy="566928"/>
          </a:xfrm>
          <a:prstGeom prst="rect">
            <a:avLst/>
          </a:prstGeom>
          <a:noFill/>
        </p:spPr>
        <p:txBody>
          <a:bodyPr wrap="square" lIns="0" rIns="0" tIns="0" bIns="0" anchor="ctr">
            <a:spAutoFit/>
          </a:bodyPr>
          <a:lstStyle/>
          <a:p>
            <a:pPr algn="ctr"/>
            <a:r>
              <a:rPr sz="1400" b="1" i="0">
                <a:solidFill>
                  <a:srgbClr val="CC4400"/>
                </a:solidFill>
                <a:latin typeface="Courier New"/>
              </a:rPr>
              <a:t>IWP-20</a:t>
            </a:r>
          </a:p>
        </p:txBody>
      </p:sp>
      <p:sp>
        <p:nvSpPr>
          <p:cNvPr id="42" name="TextBox 41"/>
          <p:cNvSpPr txBox="1"/>
          <p:nvPr/>
        </p:nvSpPr>
        <p:spPr>
          <a:xfrm>
            <a:off x="548640" y="4352544"/>
            <a:ext cx="1554480" cy="566928"/>
          </a:xfrm>
          <a:prstGeom prst="rect">
            <a:avLst/>
          </a:prstGeom>
          <a:noFill/>
        </p:spPr>
        <p:txBody>
          <a:bodyPr wrap="square" lIns="0" rIns="0" tIns="0" bIns="0" anchor="ctr">
            <a:spAutoFit/>
          </a:bodyPr>
          <a:lstStyle/>
          <a:p>
            <a:pPr algn="l"/>
            <a:r>
              <a:rPr sz="1300" b="1" i="0">
                <a:solidFill>
                  <a:srgbClr val="1A1A1A"/>
                </a:solidFill>
                <a:latin typeface="Arial"/>
              </a:rPr>
              <a:t>Concreto</a:t>
            </a:r>
          </a:p>
        </p:txBody>
      </p:sp>
      <p:sp>
        <p:nvSpPr>
          <p:cNvPr id="43" name="Rectangle 42"/>
          <p:cNvSpPr/>
          <p:nvPr/>
        </p:nvSpPr>
        <p:spPr>
          <a:xfrm>
            <a:off x="2240279" y="4352544"/>
            <a:ext cx="2270683" cy="566928"/>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2194560" y="4352544"/>
            <a:ext cx="2362123" cy="566928"/>
          </a:xfrm>
          <a:prstGeom prst="rect">
            <a:avLst/>
          </a:prstGeom>
          <a:noFill/>
        </p:spPr>
        <p:txBody>
          <a:bodyPr wrap="square" lIns="0" rIns="0" tIns="0" bIns="0" anchor="ctr">
            <a:spAutoFit/>
          </a:bodyPr>
          <a:lstStyle/>
          <a:p>
            <a:pPr algn="ctr"/>
            <a:r>
              <a:rPr sz="1400" b="1" i="0">
                <a:solidFill>
                  <a:srgbClr val="6D6E71"/>
                </a:solidFill>
                <a:latin typeface="Courier New"/>
              </a:rPr>
              <a:t>IWP-21</a:t>
            </a:r>
          </a:p>
        </p:txBody>
      </p:sp>
      <p:sp>
        <p:nvSpPr>
          <p:cNvPr id="45" name="Rectangle 44"/>
          <p:cNvSpPr/>
          <p:nvPr/>
        </p:nvSpPr>
        <p:spPr>
          <a:xfrm>
            <a:off x="4602403" y="4352544"/>
            <a:ext cx="2270683" cy="566928"/>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4556683" y="4352544"/>
            <a:ext cx="2362123" cy="566928"/>
          </a:xfrm>
          <a:prstGeom prst="rect">
            <a:avLst/>
          </a:prstGeom>
          <a:noFill/>
        </p:spPr>
        <p:txBody>
          <a:bodyPr wrap="square" lIns="0" rIns="0" tIns="0" bIns="0" anchor="ctr">
            <a:spAutoFit/>
          </a:bodyPr>
          <a:lstStyle/>
          <a:p>
            <a:pPr algn="ctr"/>
            <a:r>
              <a:rPr sz="1400" b="1" i="0">
                <a:solidFill>
                  <a:srgbClr val="FFFFFF"/>
                </a:solidFill>
                <a:latin typeface="Courier New"/>
              </a:rPr>
              <a:t>IWP-22</a:t>
            </a:r>
          </a:p>
        </p:txBody>
      </p:sp>
      <p:sp>
        <p:nvSpPr>
          <p:cNvPr id="47" name="Rectangle 46"/>
          <p:cNvSpPr/>
          <p:nvPr/>
        </p:nvSpPr>
        <p:spPr>
          <a:xfrm>
            <a:off x="6964527" y="4352544"/>
            <a:ext cx="2270683" cy="566928"/>
          </a:xfrm>
          <a:prstGeom prst="rect">
            <a:avLst/>
          </a:prstGeom>
          <a:solidFill>
            <a:srgbClr val="FFE3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918807" y="4352544"/>
            <a:ext cx="2362123" cy="566928"/>
          </a:xfrm>
          <a:prstGeom prst="rect">
            <a:avLst/>
          </a:prstGeom>
          <a:noFill/>
        </p:spPr>
        <p:txBody>
          <a:bodyPr wrap="square" lIns="0" rIns="0" tIns="0" bIns="0" anchor="ctr">
            <a:spAutoFit/>
          </a:bodyPr>
          <a:lstStyle/>
          <a:p>
            <a:pPr algn="ctr"/>
            <a:r>
              <a:rPr sz="1400" b="1" i="0">
                <a:solidFill>
                  <a:srgbClr val="CC4400"/>
                </a:solidFill>
                <a:latin typeface="Courier New"/>
              </a:rPr>
              <a:t>IWP-24</a:t>
            </a:r>
          </a:p>
        </p:txBody>
      </p:sp>
      <p:sp>
        <p:nvSpPr>
          <p:cNvPr id="49" name="Rectangle 48"/>
          <p:cNvSpPr/>
          <p:nvPr/>
        </p:nvSpPr>
        <p:spPr>
          <a:xfrm>
            <a:off x="9326651" y="4352544"/>
            <a:ext cx="2270683" cy="566928"/>
          </a:xfrm>
          <a:prstGeom prst="rect">
            <a:avLst/>
          </a:prstGeom>
          <a:noFill/>
          <a:ln w="9525">
            <a:solidFill>
              <a:srgbClr val="BCBEC0"/>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9280931" y="4352544"/>
            <a:ext cx="2362123" cy="566928"/>
          </a:xfrm>
          <a:prstGeom prst="rect">
            <a:avLst/>
          </a:prstGeom>
          <a:noFill/>
        </p:spPr>
        <p:txBody>
          <a:bodyPr wrap="square" lIns="0" rIns="0" tIns="0" bIns="0" anchor="ctr">
            <a:spAutoFit/>
          </a:bodyPr>
          <a:lstStyle/>
          <a:p>
            <a:pPr algn="ctr"/>
            <a:r>
              <a:rPr sz="1050" b="0" i="0">
                <a:solidFill>
                  <a:srgbClr val="6D6E71"/>
                </a:solidFill>
                <a:latin typeface="Arial"/>
              </a:rPr>
              <a:t>Sin IWP libre: alerta</a:t>
            </a:r>
          </a:p>
        </p:txBody>
      </p:sp>
      <p:sp>
        <p:nvSpPr>
          <p:cNvPr id="51" name="Rectangle 50"/>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2" name="Picture 51" descr="flag_o.png"/>
          <p:cNvPicPr>
            <a:picLocks noChangeAspect="1"/>
          </p:cNvPicPr>
          <p:nvPr/>
        </p:nvPicPr>
        <p:blipFill>
          <a:blip r:embed="rId2"/>
          <a:stretch>
            <a:fillRect/>
          </a:stretch>
        </p:blipFill>
        <p:spPr>
          <a:xfrm>
            <a:off x="822959" y="5660136"/>
            <a:ext cx="365760" cy="365760"/>
          </a:xfrm>
          <a:prstGeom prst="rect">
            <a:avLst/>
          </a:prstGeom>
        </p:spPr>
      </p:pic>
      <p:sp>
        <p:nvSpPr>
          <p:cNvPr id="53" name="TextBox 52"/>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Cada semana el superintendente toma IWP libres del backlog y los carga como actividades de nivel 5.</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6 · PACK TRACK</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Pack Track: una sola hoja muestra el estado de todos los IWP</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M6 · CONSTRUCCIÓN Y WORKFACE PLANNING</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070</a:t>
            </a:r>
          </a:p>
        </p:txBody>
      </p:sp>
      <p:graphicFrame>
        <p:nvGraphicFramePr>
          <p:cNvPr id="7" name="Table 6"/>
          <p:cNvGraphicFramePr>
            <a:graphicFrameLocks noGrp="1"/>
          </p:cNvGraphicFramePr>
          <p:nvPr/>
        </p:nvGraphicFramePr>
        <p:xfrm>
          <a:off x="563727" y="1828800"/>
          <a:ext cx="11064240" cy="3703320"/>
        </p:xfrm>
        <a:graphic>
          <a:graphicData uri="http://schemas.openxmlformats.org/drawingml/2006/table">
            <a:tbl>
              <a:tblPr firstRow="0" bandRow="0">
                <a:tableStyleId>{5C22544A-7EE6-4342-B048-85BDC9FD1C3A}</a:tableStyleId>
              </a:tblPr>
              <a:tblGrid>
                <a:gridCol w="3017520"/>
                <a:gridCol w="1737360"/>
                <a:gridCol w="6309360"/>
              </a:tblGrid>
              <a:tr h="457200">
                <a:tc>
                  <a:txBody>
                    <a:bodyPr wrap="square"/>
                    <a:lstStyle/>
                    <a:p>
                      <a:pPr algn="l"/>
                      <a:r>
                        <a:rPr sz="1000" b="1" spc="100">
                          <a:solidFill>
                            <a:srgbClr val="FFFFFF"/>
                          </a:solidFill>
                          <a:latin typeface="Arial"/>
                        </a:rPr>
                        <a:t>ETAPA</a:t>
                      </a:r>
                    </a:p>
                  </a:txBody>
                  <a:tcPr marL="137160" marR="91440" marT="27432" marB="27432" anchor="ctr">
                    <a:solidFill>
                      <a:srgbClr val="1A1A1A"/>
                    </a:solidFill>
                  </a:tcPr>
                </a:tc>
                <a:tc>
                  <a:txBody>
                    <a:bodyPr wrap="square"/>
                    <a:lstStyle/>
                    <a:p>
                      <a:pPr algn="l"/>
                      <a:r>
                        <a:rPr sz="1000" b="1" spc="100">
                          <a:solidFill>
                            <a:srgbClr val="FFFFFF"/>
                          </a:solidFill>
                          <a:latin typeface="Arial"/>
                        </a:rPr>
                        <a:t>SEMANAS ANTES</a:t>
                      </a:r>
                    </a:p>
                  </a:txBody>
                  <a:tcPr marL="137160" marR="91440" marT="27432" marB="27432" anchor="ctr">
                    <a:solidFill>
                      <a:srgbClr val="1A1A1A"/>
                    </a:solidFill>
                  </a:tcPr>
                </a:tc>
                <a:tc>
                  <a:txBody>
                    <a:bodyPr wrap="square"/>
                    <a:lstStyle/>
                    <a:p>
                      <a:pPr algn="l"/>
                      <a:r>
                        <a:rPr sz="1000" b="1" spc="100">
                          <a:solidFill>
                            <a:srgbClr val="FFFFFF"/>
                          </a:solidFill>
                          <a:latin typeface="Arial"/>
                        </a:rPr>
                        <a:t>HITOS QUE SE MARCAN</a:t>
                      </a:r>
                    </a:p>
                  </a:txBody>
                  <a:tcPr marL="137160" marR="91440" marT="27432" marB="27432" anchor="ctr">
                    <a:solidFill>
                      <a:srgbClr val="1A1A1A"/>
                    </a:solidFill>
                  </a:tcPr>
                </a:tc>
              </a:tr>
              <a:tr h="541020">
                <a:tc>
                  <a:txBody>
                    <a:bodyPr wrap="square"/>
                    <a:lstStyle/>
                    <a:p>
                      <a:pPr algn="l"/>
                      <a:r>
                        <a:rPr sz="1250" b="1">
                          <a:solidFill>
                            <a:srgbClr val="1A1A1A"/>
                          </a:solidFill>
                          <a:latin typeface="Arial"/>
                        </a:rPr>
                        <a:t>Ventana de 90 días</a:t>
                      </a:r>
                    </a:p>
                  </a:txBody>
                  <a:tcPr marL="137160" marR="91440" marT="27432" marB="27432" anchor="ctr">
                    <a:solidFill>
                      <a:srgbClr val="FFFFFF"/>
                    </a:solidFill>
                  </a:tcPr>
                </a:tc>
                <a:tc>
                  <a:txBody>
                    <a:bodyPr wrap="square"/>
                    <a:lstStyle/>
                    <a:p>
                      <a:pPr algn="ctr"/>
                      <a:r>
                        <a:rPr sz="1250" b="1">
                          <a:solidFill>
                            <a:srgbClr val="555555"/>
                          </a:solidFill>
                          <a:latin typeface="Courier New"/>
                        </a:rPr>
                        <a:t>12</a:t>
                      </a:r>
                    </a:p>
                  </a:txBody>
                  <a:tcPr marL="137160" marR="91440" marT="27432" marB="27432" anchor="ctr">
                    <a:solidFill>
                      <a:srgbClr val="FFFFFF"/>
                    </a:solidFill>
                  </a:tcPr>
                </a:tc>
                <a:tc>
                  <a:txBody>
                    <a:bodyPr wrap="square"/>
                    <a:lstStyle/>
                    <a:p>
                      <a:pPr algn="l"/>
                      <a:r>
                        <a:rPr sz="1250" b="0">
                          <a:solidFill>
                            <a:srgbClr val="2E2E2E"/>
                          </a:solidFill>
                          <a:latin typeface="Arial"/>
                        </a:rPr>
                        <a:t>Alcance definido · IWP creado en 3D · incluido en nivel 5</a:t>
                      </a:r>
                    </a:p>
                  </a:txBody>
                  <a:tcPr marL="137160" marR="91440" marT="27432" marB="27432" anchor="ctr">
                    <a:solidFill>
                      <a:srgbClr val="FFFFFF"/>
                    </a:solidFill>
                  </a:tcPr>
                </a:tc>
              </a:tr>
              <a:tr h="541020">
                <a:tc>
                  <a:txBody>
                    <a:bodyPr wrap="square"/>
                    <a:lstStyle/>
                    <a:p>
                      <a:pPr algn="l"/>
                      <a:r>
                        <a:rPr sz="1250" b="1">
                          <a:solidFill>
                            <a:srgbClr val="1A1A1A"/>
                          </a:solidFill>
                          <a:latin typeface="Arial"/>
                        </a:rPr>
                        <a:t>Armado del IWP</a:t>
                      </a:r>
                    </a:p>
                  </a:txBody>
                  <a:tcPr marL="137160" marR="91440" marT="27432" marB="27432" anchor="ctr">
                    <a:solidFill>
                      <a:srgbClr val="F7F7F7"/>
                    </a:solidFill>
                  </a:tcPr>
                </a:tc>
                <a:tc>
                  <a:txBody>
                    <a:bodyPr wrap="square"/>
                    <a:lstStyle/>
                    <a:p>
                      <a:pPr algn="ctr"/>
                      <a:r>
                        <a:rPr sz="1250" b="1">
                          <a:solidFill>
                            <a:srgbClr val="555555"/>
                          </a:solidFill>
                          <a:latin typeface="Courier New"/>
                        </a:rPr>
                        <a:t>4</a:t>
                      </a:r>
                    </a:p>
                  </a:txBody>
                  <a:tcPr marL="137160" marR="91440" marT="27432" marB="27432" anchor="ctr">
                    <a:solidFill>
                      <a:srgbClr val="F7F7F7"/>
                    </a:solidFill>
                  </a:tcPr>
                </a:tc>
                <a:tc>
                  <a:txBody>
                    <a:bodyPr wrap="square"/>
                    <a:lstStyle/>
                    <a:p>
                      <a:pPr algn="l"/>
                      <a:r>
                        <a:rPr sz="1250" b="0">
                          <a:solidFill>
                            <a:srgbClr val="2E2E2E"/>
                          </a:solidFill>
                          <a:latin typeface="Arial"/>
                        </a:rPr>
                        <a:t>Documentos IFC · materiales disponibles · revisión técnica (RFI)</a:t>
                      </a:r>
                    </a:p>
                  </a:txBody>
                  <a:tcPr marL="137160" marR="91440" marT="27432" marB="27432" anchor="ctr">
                    <a:solidFill>
                      <a:srgbClr val="F7F7F7"/>
                    </a:solidFill>
                  </a:tcPr>
                </a:tc>
              </a:tr>
              <a:tr h="541020">
                <a:tc>
                  <a:txBody>
                    <a:bodyPr wrap="square"/>
                    <a:lstStyle/>
                    <a:p>
                      <a:pPr algn="l"/>
                      <a:r>
                        <a:rPr sz="1250" b="1">
                          <a:solidFill>
                            <a:srgbClr val="1A1A1A"/>
                          </a:solidFill>
                          <a:latin typeface="Arial"/>
                        </a:rPr>
                        <a:t>Backlog</a:t>
                      </a:r>
                    </a:p>
                  </a:txBody>
                  <a:tcPr marL="137160" marR="91440" marT="27432" marB="27432" anchor="ctr">
                    <a:solidFill>
                      <a:srgbClr val="FFE3CF"/>
                    </a:solidFill>
                  </a:tcPr>
                </a:tc>
                <a:tc>
                  <a:txBody>
                    <a:bodyPr wrap="square"/>
                    <a:lstStyle/>
                    <a:p>
                      <a:pPr algn="ctr"/>
                      <a:r>
                        <a:rPr sz="1250" b="1">
                          <a:solidFill>
                            <a:srgbClr val="FF6600"/>
                          </a:solidFill>
                          <a:latin typeface="Courier New"/>
                        </a:rPr>
                        <a:t>3</a:t>
                      </a:r>
                    </a:p>
                  </a:txBody>
                  <a:tcPr marL="137160" marR="91440" marT="27432" marB="27432" anchor="ctr">
                    <a:solidFill>
                      <a:srgbClr val="FFE3CF"/>
                    </a:solidFill>
                  </a:tcPr>
                </a:tc>
                <a:tc>
                  <a:txBody>
                    <a:bodyPr wrap="square"/>
                    <a:lstStyle/>
                    <a:p>
                      <a:pPr algn="l"/>
                      <a:r>
                        <a:rPr sz="1250" b="0">
                          <a:solidFill>
                            <a:srgbClr val="2E2E2E"/>
                          </a:solidFill>
                          <a:latin typeface="Arial"/>
                        </a:rPr>
                        <a:t>Ingreso al backlog · ingreso al look-ahead</a:t>
                      </a:r>
                    </a:p>
                  </a:txBody>
                  <a:tcPr marL="137160" marR="91440" marT="27432" marB="27432" anchor="ctr">
                    <a:solidFill>
                      <a:srgbClr val="FFE3CF"/>
                    </a:solidFill>
                  </a:tcPr>
                </a:tc>
              </a:tr>
              <a:tr h="541020">
                <a:tc>
                  <a:txBody>
                    <a:bodyPr wrap="square"/>
                    <a:lstStyle/>
                    <a:p>
                      <a:pPr algn="l"/>
                      <a:r>
                        <a:rPr sz="1250" b="1">
                          <a:solidFill>
                            <a:srgbClr val="1A1A1A"/>
                          </a:solidFill>
                          <a:latin typeface="Arial"/>
                        </a:rPr>
                        <a:t>Look-ahead de 3 semanas</a:t>
                      </a:r>
                    </a:p>
                  </a:txBody>
                  <a:tcPr marL="137160" marR="91440" marT="27432" marB="27432" anchor="ctr">
                    <a:solidFill>
                      <a:srgbClr val="F7F7F7"/>
                    </a:solidFill>
                  </a:tcPr>
                </a:tc>
                <a:tc>
                  <a:txBody>
                    <a:bodyPr wrap="square"/>
                    <a:lstStyle/>
                    <a:p>
                      <a:pPr algn="ctr"/>
                      <a:r>
                        <a:rPr sz="1250" b="1">
                          <a:solidFill>
                            <a:srgbClr val="555555"/>
                          </a:solidFill>
                          <a:latin typeface="Courier New"/>
                        </a:rPr>
                        <a:t>2</a:t>
                      </a:r>
                    </a:p>
                  </a:txBody>
                  <a:tcPr marL="137160" marR="91440" marT="27432" marB="27432" anchor="ctr">
                    <a:solidFill>
                      <a:srgbClr val="F7F7F7"/>
                    </a:solidFill>
                  </a:tcPr>
                </a:tc>
                <a:tc>
                  <a:txBody>
                    <a:bodyPr wrap="square"/>
                    <a:lstStyle/>
                    <a:p>
                      <a:pPr algn="l"/>
                      <a:r>
                        <a:rPr sz="1250" b="0">
                          <a:solidFill>
                            <a:srgbClr val="2E2E2E"/>
                          </a:solidFill>
                          <a:latin typeface="Arial"/>
                        </a:rPr>
                        <a:t>Material separado y etiquetado · andamio y grúas pedidos</a:t>
                      </a:r>
                    </a:p>
                  </a:txBody>
                  <a:tcPr marL="137160" marR="91440" marT="27432" marB="27432" anchor="ctr">
                    <a:solidFill>
                      <a:srgbClr val="F7F7F7"/>
                    </a:solidFill>
                  </a:tcPr>
                </a:tc>
              </a:tr>
              <a:tr h="541020">
                <a:tc>
                  <a:txBody>
                    <a:bodyPr wrap="square"/>
                    <a:lstStyle/>
                    <a:p>
                      <a:pPr algn="l"/>
                      <a:r>
                        <a:rPr sz="1250" b="1">
                          <a:solidFill>
                            <a:srgbClr val="1A1A1A"/>
                          </a:solidFill>
                          <a:latin typeface="Arial"/>
                        </a:rPr>
                        <a:t>Look-ahead de 3 semanas</a:t>
                      </a:r>
                    </a:p>
                  </a:txBody>
                  <a:tcPr marL="137160" marR="91440" marT="27432" marB="27432" anchor="ctr">
                    <a:solidFill>
                      <a:srgbClr val="FFFFFF"/>
                    </a:solidFill>
                  </a:tcPr>
                </a:tc>
                <a:tc>
                  <a:txBody>
                    <a:bodyPr wrap="square"/>
                    <a:lstStyle/>
                    <a:p>
                      <a:pPr algn="ctr"/>
                      <a:r>
                        <a:rPr sz="1250" b="1">
                          <a:solidFill>
                            <a:srgbClr val="555555"/>
                          </a:solidFill>
                          <a:latin typeface="Courier New"/>
                        </a:rPr>
                        <a:t>1</a:t>
                      </a:r>
                    </a:p>
                  </a:txBody>
                  <a:tcPr marL="137160" marR="91440" marT="27432" marB="27432" anchor="ctr">
                    <a:solidFill>
                      <a:srgbClr val="FFFFFF"/>
                    </a:solidFill>
                  </a:tcPr>
                </a:tc>
                <a:tc>
                  <a:txBody>
                    <a:bodyPr wrap="square"/>
                    <a:lstStyle/>
                    <a:p>
                      <a:pPr algn="l"/>
                      <a:r>
                        <a:rPr sz="1250" b="0">
                          <a:solidFill>
                            <a:srgbClr val="2E2E2E"/>
                          </a:solidFill>
                          <a:latin typeface="Arial"/>
                        </a:rPr>
                        <a:t>Copia impresa · firmas de seguridad y calidad · recursos confirmados</a:t>
                      </a:r>
                    </a:p>
                  </a:txBody>
                  <a:tcPr marL="137160" marR="91440" marT="27432" marB="27432" anchor="ctr">
                    <a:solidFill>
                      <a:srgbClr val="FFFFFF"/>
                    </a:solidFill>
                  </a:tcPr>
                </a:tc>
              </a:tr>
              <a:tr h="541020">
                <a:tc>
                  <a:txBody>
                    <a:bodyPr wrap="square"/>
                    <a:lstStyle/>
                    <a:p>
                      <a:pPr algn="l"/>
                      <a:r>
                        <a:rPr sz="1250" b="1">
                          <a:solidFill>
                            <a:srgbClr val="1A1A1A"/>
                          </a:solidFill>
                          <a:latin typeface="Arial"/>
                        </a:rPr>
                        <a:t>Ejecución</a:t>
                      </a:r>
                    </a:p>
                  </a:txBody>
                  <a:tcPr marL="137160" marR="91440" marT="27432" marB="27432" anchor="ctr">
                    <a:solidFill>
                      <a:srgbClr val="F7F7F7"/>
                    </a:solidFill>
                  </a:tcPr>
                </a:tc>
                <a:tc>
                  <a:txBody>
                    <a:bodyPr wrap="square"/>
                    <a:lstStyle/>
                    <a:p>
                      <a:pPr algn="ctr"/>
                      <a:r>
                        <a:rPr sz="1250" b="1">
                          <a:solidFill>
                            <a:srgbClr val="555555"/>
                          </a:solidFill>
                          <a:latin typeface="Courier New"/>
                        </a:rPr>
                        <a:t>0</a:t>
                      </a:r>
                    </a:p>
                  </a:txBody>
                  <a:tcPr marL="137160" marR="91440" marT="27432" marB="27432" anchor="ctr">
                    <a:solidFill>
                      <a:srgbClr val="F7F7F7"/>
                    </a:solidFill>
                  </a:tcPr>
                </a:tc>
                <a:tc>
                  <a:txBody>
                    <a:bodyPr wrap="square"/>
                    <a:lstStyle/>
                    <a:p>
                      <a:pPr algn="l"/>
                      <a:r>
                        <a:rPr sz="1250" b="0">
                          <a:solidFill>
                            <a:srgbClr val="2E2E2E"/>
                          </a:solidFill>
                          <a:latin typeface="Arial"/>
                        </a:rPr>
                        <a:t>Emitido a campo · trabajo completo</a:t>
                      </a:r>
                    </a:p>
                  </a:txBody>
                  <a:tcPr marL="137160" marR="91440" marT="27432" marB="27432" anchor="ctr">
                    <a:solidFill>
                      <a:srgbClr val="F7F7F7"/>
                    </a:solidFill>
                  </a:tcPr>
                </a:tc>
              </a:tr>
            </a:tbl>
          </a:graphicData>
        </a:graphic>
      </p:graphicFrame>
      <p:pic>
        <p:nvPicPr>
          <p:cNvPr id="8" name="Picture 7" descr="layers_o.png"/>
          <p:cNvPicPr>
            <a:picLocks noChangeAspect="1"/>
          </p:cNvPicPr>
          <p:nvPr/>
        </p:nvPicPr>
        <p:blipFill>
          <a:blip r:embed="rId2"/>
          <a:stretch>
            <a:fillRect/>
          </a:stretch>
        </p:blipFill>
        <p:spPr>
          <a:xfrm>
            <a:off x="563727" y="5769864"/>
            <a:ext cx="292608" cy="292608"/>
          </a:xfrm>
          <a:prstGeom prst="rect">
            <a:avLst/>
          </a:prstGeom>
        </p:spPr>
      </p:pic>
      <p:sp>
        <p:nvSpPr>
          <p:cNvPr id="9" name="TextBox 8"/>
          <p:cNvSpPr txBox="1"/>
          <p:nvPr/>
        </p:nvSpPr>
        <p:spPr>
          <a:xfrm>
            <a:off x="1020927" y="5733288"/>
            <a:ext cx="10607040" cy="384048"/>
          </a:xfrm>
          <a:prstGeom prst="rect">
            <a:avLst/>
          </a:prstGeom>
          <a:noFill/>
        </p:spPr>
        <p:txBody>
          <a:bodyPr wrap="square" lIns="0" rIns="0" tIns="0" bIns="0" anchor="ctr">
            <a:spAutoFit/>
          </a:bodyPr>
          <a:lstStyle/>
          <a:p>
            <a:pPr algn="l"/>
            <a:r>
              <a:rPr sz="1200" b="0" i="0">
                <a:solidFill>
                  <a:srgbClr val="2E2E2E"/>
                </a:solidFill>
                <a:latin typeface="Arial"/>
              </a:rPr>
              <a:t>El WFP Coordinator arma cada semana un tablero desde el Pack Track para el informe de gestión.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6 · FECHA LÍMITE</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Cada IWP tiene fecha de caducidad</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M6 · CONSTRUCCIÓN Y WORKFACE PLANNING</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071</a:t>
            </a:r>
          </a:p>
        </p:txBody>
      </p:sp>
      <p:sp>
        <p:nvSpPr>
          <p:cNvPr id="7" name="Rectangle 6"/>
          <p:cNvSpPr/>
          <p:nvPr/>
        </p:nvSpPr>
        <p:spPr>
          <a:xfrm>
            <a:off x="548640" y="1874519"/>
            <a:ext cx="2567863"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1</a:t>
            </a:r>
          </a:p>
        </p:txBody>
      </p:sp>
      <p:pic>
        <p:nvPicPr>
          <p:cNvPr id="10" name="Picture 9" descr="calendar_o.png"/>
          <p:cNvPicPr>
            <a:picLocks noChangeAspect="1"/>
          </p:cNvPicPr>
          <p:nvPr/>
        </p:nvPicPr>
        <p:blipFill>
          <a:blip r:embed="rId2"/>
          <a:stretch>
            <a:fillRect/>
          </a:stretch>
        </p:blipFill>
        <p:spPr>
          <a:xfrm>
            <a:off x="2458135" y="2148839"/>
            <a:ext cx="420624" cy="420624"/>
          </a:xfrm>
          <a:prstGeom prst="rect">
            <a:avLst/>
          </a:prstGeom>
        </p:spPr>
      </p:pic>
      <p:sp>
        <p:nvSpPr>
          <p:cNvPr id="11" name="TextBox 10"/>
          <p:cNvSpPr txBox="1"/>
          <p:nvPr/>
        </p:nvSpPr>
        <p:spPr>
          <a:xfrm>
            <a:off x="777240"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Fecha límite de uso</a:t>
            </a:r>
          </a:p>
        </p:txBody>
      </p:sp>
      <p:sp>
        <p:nvSpPr>
          <p:cNvPr id="12" name="TextBox 11"/>
          <p:cNvSpPr txBox="1"/>
          <p:nvPr/>
        </p:nvSpPr>
        <p:spPr>
          <a:xfrm>
            <a:off x="777240" y="3429000"/>
            <a:ext cx="2156383"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La ventana en la que debe completarse</a:t>
            </a:r>
          </a:p>
        </p:txBody>
      </p:sp>
      <p:cxnSp>
        <p:nvCxnSpPr>
          <p:cNvPr id="13" name="Connector 12"/>
          <p:cNvCxnSpPr/>
          <p:nvPr/>
        </p:nvCxnSpPr>
        <p:spPr>
          <a:xfrm>
            <a:off x="3153079" y="3291839"/>
            <a:ext cx="201168"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3390823" y="1874519"/>
            <a:ext cx="2567863"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3619423"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619423"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2</a:t>
            </a:r>
          </a:p>
        </p:txBody>
      </p:sp>
      <p:pic>
        <p:nvPicPr>
          <p:cNvPr id="17" name="Picture 16" descr="clock_o.png"/>
          <p:cNvPicPr>
            <a:picLocks noChangeAspect="1"/>
          </p:cNvPicPr>
          <p:nvPr/>
        </p:nvPicPr>
        <p:blipFill>
          <a:blip r:embed="rId3"/>
          <a:stretch>
            <a:fillRect/>
          </a:stretch>
        </p:blipFill>
        <p:spPr>
          <a:xfrm>
            <a:off x="5300319" y="2148839"/>
            <a:ext cx="420624" cy="420624"/>
          </a:xfrm>
          <a:prstGeom prst="rect">
            <a:avLst/>
          </a:prstGeom>
        </p:spPr>
      </p:pic>
      <p:sp>
        <p:nvSpPr>
          <p:cNvPr id="18" name="TextBox 17"/>
          <p:cNvSpPr txBox="1"/>
          <p:nvPr/>
        </p:nvSpPr>
        <p:spPr>
          <a:xfrm>
            <a:off x="3619423"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Prórroga corta</a:t>
            </a:r>
          </a:p>
        </p:txBody>
      </p:sp>
      <p:sp>
        <p:nvSpPr>
          <p:cNvPr id="19" name="TextBox 18"/>
          <p:cNvSpPr txBox="1"/>
          <p:nvPr/>
        </p:nvSpPr>
        <p:spPr>
          <a:xfrm>
            <a:off x="3619423" y="3429000"/>
            <a:ext cx="2156383"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Uno o dos días si falta poco</a:t>
            </a:r>
          </a:p>
        </p:txBody>
      </p:sp>
      <p:cxnSp>
        <p:nvCxnSpPr>
          <p:cNvPr id="20" name="Connector 19"/>
          <p:cNvCxnSpPr/>
          <p:nvPr/>
        </p:nvCxnSpPr>
        <p:spPr>
          <a:xfrm>
            <a:off x="5995263" y="3291839"/>
            <a:ext cx="201168"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233007" y="1874519"/>
            <a:ext cx="2567863"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6461607"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461607"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3</a:t>
            </a:r>
          </a:p>
        </p:txBody>
      </p:sp>
      <p:pic>
        <p:nvPicPr>
          <p:cNvPr id="24" name="Picture 23" descr="cycle_o.png"/>
          <p:cNvPicPr>
            <a:picLocks noChangeAspect="1"/>
          </p:cNvPicPr>
          <p:nvPr/>
        </p:nvPicPr>
        <p:blipFill>
          <a:blip r:embed="rId4"/>
          <a:stretch>
            <a:fillRect/>
          </a:stretch>
        </p:blipFill>
        <p:spPr>
          <a:xfrm>
            <a:off x="8142503" y="2148839"/>
            <a:ext cx="420624" cy="420624"/>
          </a:xfrm>
          <a:prstGeom prst="rect">
            <a:avLst/>
          </a:prstGeom>
        </p:spPr>
      </p:pic>
      <p:sp>
        <p:nvSpPr>
          <p:cNvPr id="25" name="TextBox 24"/>
          <p:cNvSpPr txBox="1"/>
          <p:nvPr/>
        </p:nvSpPr>
        <p:spPr>
          <a:xfrm>
            <a:off x="6461607"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Devolución</a:t>
            </a:r>
          </a:p>
        </p:txBody>
      </p:sp>
      <p:sp>
        <p:nvSpPr>
          <p:cNvPr id="26" name="TextBox 25"/>
          <p:cNvSpPr txBox="1"/>
          <p:nvPr/>
        </p:nvSpPr>
        <p:spPr>
          <a:xfrm>
            <a:off x="6461607" y="3429000"/>
            <a:ext cx="2156383"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Si no se termina, vuelve al capataz general y al planificador</a:t>
            </a:r>
          </a:p>
        </p:txBody>
      </p:sp>
      <p:cxnSp>
        <p:nvCxnSpPr>
          <p:cNvPr id="27" name="Connector 26"/>
          <p:cNvCxnSpPr/>
          <p:nvPr/>
        </p:nvCxnSpPr>
        <p:spPr>
          <a:xfrm>
            <a:off x="8837447" y="3291839"/>
            <a:ext cx="201168"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9075191" y="1874519"/>
            <a:ext cx="2567863"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9303791"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303791"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4</a:t>
            </a:r>
          </a:p>
        </p:txBody>
      </p:sp>
      <p:pic>
        <p:nvPicPr>
          <p:cNvPr id="31" name="Picture 30" descr="clip_o.png"/>
          <p:cNvPicPr>
            <a:picLocks noChangeAspect="1"/>
          </p:cNvPicPr>
          <p:nvPr/>
        </p:nvPicPr>
        <p:blipFill>
          <a:blip r:embed="rId5"/>
          <a:stretch>
            <a:fillRect/>
          </a:stretch>
        </p:blipFill>
        <p:spPr>
          <a:xfrm>
            <a:off x="10984687" y="2148839"/>
            <a:ext cx="420624" cy="420624"/>
          </a:xfrm>
          <a:prstGeom prst="rect">
            <a:avLst/>
          </a:prstGeom>
        </p:spPr>
      </p:pic>
      <p:sp>
        <p:nvSpPr>
          <p:cNvPr id="32" name="TextBox 31"/>
          <p:cNvSpPr txBox="1"/>
          <p:nvPr/>
        </p:nvSpPr>
        <p:spPr>
          <a:xfrm>
            <a:off x="9303791"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Reorganización</a:t>
            </a:r>
          </a:p>
        </p:txBody>
      </p:sp>
      <p:sp>
        <p:nvSpPr>
          <p:cNvPr id="33" name="TextBox 32"/>
          <p:cNvSpPr txBox="1"/>
          <p:nvPr/>
        </p:nvSpPr>
        <p:spPr>
          <a:xfrm>
            <a:off x="9303791" y="3429000"/>
            <a:ext cx="2156383"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El alcance pendiente pasa a un nuevo IWP</a:t>
            </a:r>
          </a:p>
        </p:txBody>
      </p:sp>
      <p:sp>
        <p:nvSpPr>
          <p:cNvPr id="34" name="Rectangle 33"/>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flag_o.png"/>
          <p:cNvPicPr>
            <a:picLocks noChangeAspect="1"/>
          </p:cNvPicPr>
          <p:nvPr/>
        </p:nvPicPr>
        <p:blipFill>
          <a:blip r:embed="rId6"/>
          <a:stretch>
            <a:fillRect/>
          </a:stretch>
        </p:blipFill>
        <p:spPr>
          <a:xfrm>
            <a:off x="822959" y="5660136"/>
            <a:ext cx="365760" cy="365760"/>
          </a:xfrm>
          <a:prstGeom prst="rect">
            <a:avLst/>
          </a:prstGeom>
        </p:spPr>
      </p:pic>
      <p:sp>
        <p:nvSpPr>
          <p:cNvPr id="36" name="TextBox 35"/>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La fecha límite le dice al capataz que su trabajo sostiene el cronograma.</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6 · AVANCE</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El capataz registra el avance a diario en el IWP</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M6 · CONSTRUCCIÓN Y WORKFACE PLANNING</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072</a:t>
            </a:r>
          </a:p>
        </p:txBody>
      </p:sp>
      <p:sp>
        <p:nvSpPr>
          <p:cNvPr id="7" name="Oval 6"/>
          <p:cNvSpPr/>
          <p:nvPr/>
        </p:nvSpPr>
        <p:spPr>
          <a:xfrm>
            <a:off x="1409661" y="2514600"/>
            <a:ext cx="1051560" cy="105156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helmet_w.png"/>
          <p:cNvPicPr>
            <a:picLocks noChangeAspect="1"/>
          </p:cNvPicPr>
          <p:nvPr/>
        </p:nvPicPr>
        <p:blipFill>
          <a:blip r:embed="rId2"/>
          <a:stretch>
            <a:fillRect/>
          </a:stretch>
        </p:blipFill>
        <p:spPr>
          <a:xfrm>
            <a:off x="1662036" y="2766974"/>
            <a:ext cx="546811" cy="546811"/>
          </a:xfrm>
          <a:prstGeom prst="rect">
            <a:avLst/>
          </a:prstGeom>
        </p:spPr>
      </p:pic>
      <p:sp>
        <p:nvSpPr>
          <p:cNvPr id="9" name="TextBox 8"/>
          <p:cNvSpPr txBox="1"/>
          <p:nvPr/>
        </p:nvSpPr>
        <p:spPr>
          <a:xfrm>
            <a:off x="640079" y="3749039"/>
            <a:ext cx="2590723" cy="566928"/>
          </a:xfrm>
          <a:prstGeom prst="rect">
            <a:avLst/>
          </a:prstGeom>
          <a:noFill/>
        </p:spPr>
        <p:txBody>
          <a:bodyPr wrap="square" lIns="0" rIns="0" tIns="0" bIns="0" anchor="t">
            <a:spAutoFit/>
          </a:bodyPr>
          <a:lstStyle/>
          <a:p>
            <a:pPr algn="ctr">
              <a:lnSpc>
                <a:spcPct val="95000"/>
              </a:lnSpc>
            </a:pPr>
            <a:r>
              <a:rPr sz="1400" b="1" i="0">
                <a:solidFill>
                  <a:srgbClr val="1A1A1A"/>
                </a:solidFill>
                <a:latin typeface="Arial"/>
              </a:rPr>
              <a:t>Capataz</a:t>
            </a:r>
          </a:p>
        </p:txBody>
      </p:sp>
      <p:sp>
        <p:nvSpPr>
          <p:cNvPr id="10" name="TextBox 9"/>
          <p:cNvSpPr txBox="1"/>
          <p:nvPr/>
        </p:nvSpPr>
        <p:spPr>
          <a:xfrm>
            <a:off x="658367" y="4343400"/>
            <a:ext cx="2554147" cy="1143000"/>
          </a:xfrm>
          <a:prstGeom prst="rect">
            <a:avLst/>
          </a:prstGeom>
          <a:noFill/>
        </p:spPr>
        <p:txBody>
          <a:bodyPr wrap="square" lIns="0" rIns="0" tIns="0" bIns="0" anchor="t">
            <a:spAutoFit/>
          </a:bodyPr>
          <a:lstStyle/>
          <a:p>
            <a:pPr algn="ctr">
              <a:lnSpc>
                <a:spcPct val="105000"/>
              </a:lnSpc>
            </a:pPr>
            <a:r>
              <a:rPr sz="1150" b="0" i="0">
                <a:solidFill>
                  <a:srgbClr val="6D6E71"/>
                </a:solidFill>
                <a:latin typeface="Arial"/>
              </a:rPr>
              <a:t>Anota el avance físico por componente</a:t>
            </a:r>
          </a:p>
        </p:txBody>
      </p:sp>
      <p:cxnSp>
        <p:nvCxnSpPr>
          <p:cNvPr id="11" name="Connector 10"/>
          <p:cNvCxnSpPr/>
          <p:nvPr/>
        </p:nvCxnSpPr>
        <p:spPr>
          <a:xfrm>
            <a:off x="2552661" y="3040380"/>
            <a:ext cx="1539164" cy="0"/>
          </a:xfrm>
          <a:prstGeom prst="line">
            <a:avLst/>
          </a:prstGeom>
          <a:ln w="22225">
            <a:solidFill>
              <a:srgbClr val="6D6E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4183265" y="2514600"/>
            <a:ext cx="1051560" cy="105156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usertie_w.png"/>
          <p:cNvPicPr>
            <a:picLocks noChangeAspect="1"/>
          </p:cNvPicPr>
          <p:nvPr/>
        </p:nvPicPr>
        <p:blipFill>
          <a:blip r:embed="rId3"/>
          <a:stretch>
            <a:fillRect/>
          </a:stretch>
        </p:blipFill>
        <p:spPr>
          <a:xfrm>
            <a:off x="4435640" y="2766974"/>
            <a:ext cx="546811" cy="546811"/>
          </a:xfrm>
          <a:prstGeom prst="rect">
            <a:avLst/>
          </a:prstGeom>
        </p:spPr>
      </p:pic>
      <p:sp>
        <p:nvSpPr>
          <p:cNvPr id="14" name="TextBox 13"/>
          <p:cNvSpPr txBox="1"/>
          <p:nvPr/>
        </p:nvSpPr>
        <p:spPr>
          <a:xfrm>
            <a:off x="3413683" y="3749039"/>
            <a:ext cx="2590723" cy="566928"/>
          </a:xfrm>
          <a:prstGeom prst="rect">
            <a:avLst/>
          </a:prstGeom>
          <a:noFill/>
        </p:spPr>
        <p:txBody>
          <a:bodyPr wrap="square" lIns="0" rIns="0" tIns="0" bIns="0" anchor="t">
            <a:spAutoFit/>
          </a:bodyPr>
          <a:lstStyle/>
          <a:p>
            <a:pPr algn="ctr">
              <a:lnSpc>
                <a:spcPct val="95000"/>
              </a:lnSpc>
            </a:pPr>
            <a:r>
              <a:rPr sz="1400" b="1" i="0">
                <a:solidFill>
                  <a:srgbClr val="1A1A1A"/>
                </a:solidFill>
                <a:latin typeface="Arial"/>
              </a:rPr>
              <a:t>Workface Planner</a:t>
            </a:r>
          </a:p>
        </p:txBody>
      </p:sp>
      <p:sp>
        <p:nvSpPr>
          <p:cNvPr id="15" name="TextBox 14"/>
          <p:cNvSpPr txBox="1"/>
          <p:nvPr/>
        </p:nvSpPr>
        <p:spPr>
          <a:xfrm>
            <a:off x="3431971" y="4343400"/>
            <a:ext cx="2554147" cy="1143000"/>
          </a:xfrm>
          <a:prstGeom prst="rect">
            <a:avLst/>
          </a:prstGeom>
          <a:noFill/>
        </p:spPr>
        <p:txBody>
          <a:bodyPr wrap="square" lIns="0" rIns="0" tIns="0" bIns="0" anchor="t">
            <a:spAutoFit/>
          </a:bodyPr>
          <a:lstStyle/>
          <a:p>
            <a:pPr algn="ctr">
              <a:lnSpc>
                <a:spcPct val="105000"/>
              </a:lnSpc>
            </a:pPr>
            <a:r>
              <a:rPr sz="1150" b="0" i="0">
                <a:solidFill>
                  <a:srgbClr val="6D6E71"/>
                </a:solidFill>
                <a:latin typeface="Arial"/>
              </a:rPr>
              <a:t>Lo carga en el software WFP</a:t>
            </a:r>
          </a:p>
        </p:txBody>
      </p:sp>
      <p:cxnSp>
        <p:nvCxnSpPr>
          <p:cNvPr id="16" name="Connector 15"/>
          <p:cNvCxnSpPr/>
          <p:nvPr/>
        </p:nvCxnSpPr>
        <p:spPr>
          <a:xfrm>
            <a:off x="5326265" y="3040380"/>
            <a:ext cx="1539164" cy="0"/>
          </a:xfrm>
          <a:prstGeom prst="line">
            <a:avLst/>
          </a:prstGeom>
          <a:ln w="22225">
            <a:solidFill>
              <a:srgbClr val="6D6E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6956869" y="2514600"/>
            <a:ext cx="1051560" cy="105156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alculator_w.png"/>
          <p:cNvPicPr>
            <a:picLocks noChangeAspect="1"/>
          </p:cNvPicPr>
          <p:nvPr/>
        </p:nvPicPr>
        <p:blipFill>
          <a:blip r:embed="rId4"/>
          <a:stretch>
            <a:fillRect/>
          </a:stretch>
        </p:blipFill>
        <p:spPr>
          <a:xfrm>
            <a:off x="7209243" y="2766974"/>
            <a:ext cx="546811" cy="546811"/>
          </a:xfrm>
          <a:prstGeom prst="rect">
            <a:avLst/>
          </a:prstGeom>
        </p:spPr>
      </p:pic>
      <p:sp>
        <p:nvSpPr>
          <p:cNvPr id="19" name="TextBox 18"/>
          <p:cNvSpPr txBox="1"/>
          <p:nvPr/>
        </p:nvSpPr>
        <p:spPr>
          <a:xfrm>
            <a:off x="6187287" y="3749039"/>
            <a:ext cx="2590723" cy="566928"/>
          </a:xfrm>
          <a:prstGeom prst="rect">
            <a:avLst/>
          </a:prstGeom>
          <a:noFill/>
        </p:spPr>
        <p:txBody>
          <a:bodyPr wrap="square" lIns="0" rIns="0" tIns="0" bIns="0" anchor="t">
            <a:spAutoFit/>
          </a:bodyPr>
          <a:lstStyle/>
          <a:p>
            <a:pPr algn="ctr">
              <a:lnSpc>
                <a:spcPct val="95000"/>
              </a:lnSpc>
            </a:pPr>
            <a:r>
              <a:rPr sz="1400" b="1" i="0">
                <a:solidFill>
                  <a:srgbClr val="1A1A1A"/>
                </a:solidFill>
                <a:latin typeface="Arial"/>
              </a:rPr>
              <a:t>Controles</a:t>
            </a:r>
          </a:p>
        </p:txBody>
      </p:sp>
      <p:sp>
        <p:nvSpPr>
          <p:cNvPr id="20" name="TextBox 19"/>
          <p:cNvSpPr txBox="1"/>
          <p:nvPr/>
        </p:nvSpPr>
        <p:spPr>
          <a:xfrm>
            <a:off x="6205575" y="4343400"/>
            <a:ext cx="2554147" cy="1143000"/>
          </a:xfrm>
          <a:prstGeom prst="rect">
            <a:avLst/>
          </a:prstGeom>
          <a:noFill/>
        </p:spPr>
        <p:txBody>
          <a:bodyPr wrap="square" lIns="0" rIns="0" tIns="0" bIns="0" anchor="t">
            <a:spAutoFit/>
          </a:bodyPr>
          <a:lstStyle/>
          <a:p>
            <a:pPr algn="ctr">
              <a:lnSpc>
                <a:spcPct val="105000"/>
              </a:lnSpc>
            </a:pPr>
            <a:r>
              <a:rPr sz="1150" b="0" i="0">
                <a:solidFill>
                  <a:srgbClr val="6D6E71"/>
                </a:solidFill>
                <a:latin typeface="Arial"/>
              </a:rPr>
              <a:t>Valor ganado frente a valor planificado</a:t>
            </a:r>
          </a:p>
        </p:txBody>
      </p:sp>
      <p:cxnSp>
        <p:nvCxnSpPr>
          <p:cNvPr id="21" name="Connector 20"/>
          <p:cNvCxnSpPr/>
          <p:nvPr/>
        </p:nvCxnSpPr>
        <p:spPr>
          <a:xfrm>
            <a:off x="8099869" y="3040380"/>
            <a:ext cx="1539164" cy="0"/>
          </a:xfrm>
          <a:prstGeom prst="line">
            <a:avLst/>
          </a:prstGeom>
          <a:ln w="22225">
            <a:solidFill>
              <a:srgbClr val="6D6E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9730473" y="2514600"/>
            <a:ext cx="1051560" cy="105156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chart_w.png"/>
          <p:cNvPicPr>
            <a:picLocks noChangeAspect="1"/>
          </p:cNvPicPr>
          <p:nvPr/>
        </p:nvPicPr>
        <p:blipFill>
          <a:blip r:embed="rId5"/>
          <a:stretch>
            <a:fillRect/>
          </a:stretch>
        </p:blipFill>
        <p:spPr>
          <a:xfrm>
            <a:off x="9982847" y="2766974"/>
            <a:ext cx="546811" cy="546811"/>
          </a:xfrm>
          <a:prstGeom prst="rect">
            <a:avLst/>
          </a:prstGeom>
        </p:spPr>
      </p:pic>
      <p:sp>
        <p:nvSpPr>
          <p:cNvPr id="24" name="TextBox 23"/>
          <p:cNvSpPr txBox="1"/>
          <p:nvPr/>
        </p:nvSpPr>
        <p:spPr>
          <a:xfrm>
            <a:off x="8960891" y="3749039"/>
            <a:ext cx="2590723" cy="566928"/>
          </a:xfrm>
          <a:prstGeom prst="rect">
            <a:avLst/>
          </a:prstGeom>
          <a:noFill/>
        </p:spPr>
        <p:txBody>
          <a:bodyPr wrap="square" lIns="0" rIns="0" tIns="0" bIns="0" anchor="t">
            <a:spAutoFit/>
          </a:bodyPr>
          <a:lstStyle/>
          <a:p>
            <a:pPr algn="ctr">
              <a:lnSpc>
                <a:spcPct val="95000"/>
              </a:lnSpc>
            </a:pPr>
            <a:r>
              <a:rPr sz="1400" b="1" i="0">
                <a:solidFill>
                  <a:srgbClr val="1A1A1A"/>
                </a:solidFill>
                <a:latin typeface="Arial"/>
              </a:rPr>
              <a:t>Gerencia</a:t>
            </a:r>
          </a:p>
        </p:txBody>
      </p:sp>
      <p:sp>
        <p:nvSpPr>
          <p:cNvPr id="25" name="TextBox 24"/>
          <p:cNvSpPr txBox="1"/>
          <p:nvPr/>
        </p:nvSpPr>
        <p:spPr>
          <a:xfrm>
            <a:off x="8979179" y="4343400"/>
            <a:ext cx="2554147" cy="1143000"/>
          </a:xfrm>
          <a:prstGeom prst="rect">
            <a:avLst/>
          </a:prstGeom>
          <a:noFill/>
        </p:spPr>
        <p:txBody>
          <a:bodyPr wrap="square" lIns="0" rIns="0" tIns="0" bIns="0" anchor="t">
            <a:spAutoFit/>
          </a:bodyPr>
          <a:lstStyle/>
          <a:p>
            <a:pPr algn="ctr">
              <a:lnSpc>
                <a:spcPct val="105000"/>
              </a:lnSpc>
            </a:pPr>
            <a:r>
              <a:rPr sz="1150" b="0" i="0">
                <a:solidFill>
                  <a:srgbClr val="6D6E71"/>
                </a:solidFill>
                <a:latin typeface="Arial"/>
              </a:rPr>
              <a:t>Una sola versión de la verdad</a:t>
            </a:r>
          </a:p>
        </p:txBody>
      </p:sp>
      <p:sp>
        <p:nvSpPr>
          <p:cNvPr id="26" name="Rectangle 25"/>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flag_o.png"/>
          <p:cNvPicPr>
            <a:picLocks noChangeAspect="1"/>
          </p:cNvPicPr>
          <p:nvPr/>
        </p:nvPicPr>
        <p:blipFill>
          <a:blip r:embed="rId6"/>
          <a:stretch>
            <a:fillRect/>
          </a:stretch>
        </p:blipFill>
        <p:spPr>
          <a:xfrm>
            <a:off x="822959" y="5660136"/>
            <a:ext cx="365760" cy="365760"/>
          </a:xfrm>
          <a:prstGeom prst="rect">
            <a:avLst/>
          </a:prstGeom>
        </p:spPr>
      </p:pic>
      <p:sp>
        <p:nvSpPr>
          <p:cNvPr id="28" name="TextBox 27"/>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Las hojas de tiempo usan el número de IWP como código de costo.</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6 · CÓDIGOS DE DEMORA</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Los códigos de demora explican cada hora perdida</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M6 · CONSTRUCCIÓN Y WORKFACE PLANNING</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073</a:t>
            </a:r>
          </a:p>
        </p:txBody>
      </p:sp>
      <p:graphicFrame>
        <p:nvGraphicFramePr>
          <p:cNvPr id="7" name="Table 6"/>
          <p:cNvGraphicFramePr>
            <a:graphicFrameLocks noGrp="1"/>
          </p:cNvGraphicFramePr>
          <p:nvPr/>
        </p:nvGraphicFramePr>
        <p:xfrm>
          <a:off x="563727" y="1828800"/>
          <a:ext cx="11064240" cy="3657600"/>
        </p:xfrm>
        <a:graphic>
          <a:graphicData uri="http://schemas.openxmlformats.org/drawingml/2006/table">
            <a:tbl>
              <a:tblPr firstRow="0" bandRow="0">
                <a:tableStyleId>{5C22544A-7EE6-4342-B048-85BDC9FD1C3A}</a:tableStyleId>
              </a:tblPr>
              <a:tblGrid>
                <a:gridCol w="1463040"/>
                <a:gridCol w="6035040"/>
                <a:gridCol w="3566160"/>
              </a:tblGrid>
              <a:tr h="457200">
                <a:tc>
                  <a:txBody>
                    <a:bodyPr wrap="square"/>
                    <a:lstStyle/>
                    <a:p>
                      <a:pPr algn="l"/>
                      <a:r>
                        <a:rPr sz="1000" b="1" spc="100">
                          <a:solidFill>
                            <a:srgbClr val="FFFFFF"/>
                          </a:solidFill>
                          <a:latin typeface="Arial"/>
                        </a:rPr>
                        <a:t>CÓDIGO</a:t>
                      </a:r>
                    </a:p>
                  </a:txBody>
                  <a:tcPr marL="137160" marR="91440" marT="27432" marB="27432" anchor="ctr">
                    <a:solidFill>
                      <a:srgbClr val="1A1A1A"/>
                    </a:solidFill>
                  </a:tcPr>
                </a:tc>
                <a:tc>
                  <a:txBody>
                    <a:bodyPr wrap="square"/>
                    <a:lstStyle/>
                    <a:p>
                      <a:pPr algn="l"/>
                      <a:r>
                        <a:rPr sz="1000" b="1" spc="100">
                          <a:solidFill>
                            <a:srgbClr val="FFFFFF"/>
                          </a:solidFill>
                          <a:latin typeface="Arial"/>
                        </a:rPr>
                        <a:t>CAUSA DE LA DEMORA</a:t>
                      </a:r>
                    </a:p>
                  </a:txBody>
                  <a:tcPr marL="137160" marR="91440" marT="27432" marB="27432" anchor="ctr">
                    <a:solidFill>
                      <a:srgbClr val="1A1A1A"/>
                    </a:solidFill>
                  </a:tcPr>
                </a:tc>
                <a:tc>
                  <a:txBody>
                    <a:bodyPr wrap="square"/>
                    <a:lstStyle/>
                    <a:p>
                      <a:pPr algn="l"/>
                      <a:r>
                        <a:rPr sz="1000" b="1" spc="100">
                          <a:solidFill>
                            <a:srgbClr val="FFFFFF"/>
                          </a:solidFill>
                          <a:latin typeface="Arial"/>
                        </a:rPr>
                        <a:t>HABILITADOR AUSENTE</a:t>
                      </a:r>
                    </a:p>
                  </a:txBody>
                  <a:tcPr marL="137160" marR="91440" marT="27432" marB="27432" anchor="ctr">
                    <a:solidFill>
                      <a:srgbClr val="1A1A1A"/>
                    </a:solidFill>
                  </a:tcPr>
                </a:tc>
              </a:tr>
              <a:tr h="457200">
                <a:tc>
                  <a:txBody>
                    <a:bodyPr wrap="square"/>
                    <a:lstStyle/>
                    <a:p>
                      <a:pPr algn="l"/>
                      <a:r>
                        <a:rPr sz="1350" b="1">
                          <a:solidFill>
                            <a:srgbClr val="555555"/>
                          </a:solidFill>
                          <a:latin typeface="Courier New"/>
                        </a:rPr>
                        <a:t>D01</a:t>
                      </a:r>
                    </a:p>
                  </a:txBody>
                  <a:tcPr marL="137160" marR="91440" marT="27432" marB="27432" anchor="ctr">
                    <a:solidFill>
                      <a:srgbClr val="FFFFFF"/>
                    </a:solidFill>
                  </a:tcPr>
                </a:tc>
                <a:tc>
                  <a:txBody>
                    <a:bodyPr wrap="square"/>
                    <a:lstStyle/>
                    <a:p>
                      <a:pPr algn="l"/>
                      <a:r>
                        <a:rPr sz="1350" b="0">
                          <a:solidFill>
                            <a:srgbClr val="2E2E2E"/>
                          </a:solidFill>
                          <a:latin typeface="Arial"/>
                        </a:rPr>
                        <a:t>Esperando planos o información</a:t>
                      </a:r>
                    </a:p>
                  </a:txBody>
                  <a:tcPr marL="137160" marR="91440" marT="27432" marB="27432" anchor="ctr">
                    <a:solidFill>
                      <a:srgbClr val="FFFFFF"/>
                    </a:solidFill>
                  </a:tcPr>
                </a:tc>
                <a:tc>
                  <a:txBody>
                    <a:bodyPr wrap="square"/>
                    <a:lstStyle/>
                    <a:p>
                      <a:pPr algn="l"/>
                      <a:r>
                        <a:rPr sz="1350" b="0">
                          <a:solidFill>
                            <a:srgbClr val="2E2E2E"/>
                          </a:solidFill>
                          <a:latin typeface="Arial"/>
                        </a:rPr>
                        <a:t>Información</a:t>
                      </a:r>
                    </a:p>
                  </a:txBody>
                  <a:tcPr marL="137160" marR="91440" marT="27432" marB="27432" anchor="ctr">
                    <a:solidFill>
                      <a:srgbClr val="FFFFFF"/>
                    </a:solidFill>
                  </a:tcPr>
                </a:tc>
              </a:tr>
              <a:tr h="457200">
                <a:tc>
                  <a:txBody>
                    <a:bodyPr wrap="square"/>
                    <a:lstStyle/>
                    <a:p>
                      <a:pPr algn="l"/>
                      <a:r>
                        <a:rPr sz="1350" b="1">
                          <a:solidFill>
                            <a:srgbClr val="555555"/>
                          </a:solidFill>
                          <a:latin typeface="Courier New"/>
                        </a:rPr>
                        <a:t>D02</a:t>
                      </a:r>
                    </a:p>
                  </a:txBody>
                  <a:tcPr marL="137160" marR="91440" marT="27432" marB="27432" anchor="ctr">
                    <a:solidFill>
                      <a:srgbClr val="F7F7F7"/>
                    </a:solidFill>
                  </a:tcPr>
                </a:tc>
                <a:tc>
                  <a:txBody>
                    <a:bodyPr wrap="square"/>
                    <a:lstStyle/>
                    <a:p>
                      <a:pPr algn="l"/>
                      <a:r>
                        <a:rPr sz="1350" b="0">
                          <a:solidFill>
                            <a:srgbClr val="2E2E2E"/>
                          </a:solidFill>
                          <a:latin typeface="Arial"/>
                        </a:rPr>
                        <a:t>Falta de material en el frente</a:t>
                      </a:r>
                    </a:p>
                  </a:txBody>
                  <a:tcPr marL="137160" marR="91440" marT="27432" marB="27432" anchor="ctr">
                    <a:solidFill>
                      <a:srgbClr val="F7F7F7"/>
                    </a:solidFill>
                  </a:tcPr>
                </a:tc>
                <a:tc>
                  <a:txBody>
                    <a:bodyPr wrap="square"/>
                    <a:lstStyle/>
                    <a:p>
                      <a:pPr algn="l"/>
                      <a:r>
                        <a:rPr sz="1350" b="0">
                          <a:solidFill>
                            <a:srgbClr val="2E2E2E"/>
                          </a:solidFill>
                          <a:latin typeface="Arial"/>
                        </a:rPr>
                        <a:t>Materiales</a:t>
                      </a:r>
                    </a:p>
                  </a:txBody>
                  <a:tcPr marL="137160" marR="91440" marT="27432" marB="27432" anchor="ctr">
                    <a:solidFill>
                      <a:srgbClr val="F7F7F7"/>
                    </a:solidFill>
                  </a:tcPr>
                </a:tc>
              </a:tr>
              <a:tr h="457200">
                <a:tc>
                  <a:txBody>
                    <a:bodyPr wrap="square"/>
                    <a:lstStyle/>
                    <a:p>
                      <a:pPr algn="l"/>
                      <a:r>
                        <a:rPr sz="1350" b="1">
                          <a:solidFill>
                            <a:srgbClr val="555555"/>
                          </a:solidFill>
                          <a:latin typeface="Courier New"/>
                        </a:rPr>
                        <a:t>D03</a:t>
                      </a:r>
                    </a:p>
                  </a:txBody>
                  <a:tcPr marL="137160" marR="91440" marT="27432" marB="27432" anchor="ctr">
                    <a:solidFill>
                      <a:srgbClr val="FFFFFF"/>
                    </a:solidFill>
                  </a:tcPr>
                </a:tc>
                <a:tc>
                  <a:txBody>
                    <a:bodyPr wrap="square"/>
                    <a:lstStyle/>
                    <a:p>
                      <a:pPr algn="l"/>
                      <a:r>
                        <a:rPr sz="1350" b="0">
                          <a:solidFill>
                            <a:srgbClr val="2E2E2E"/>
                          </a:solidFill>
                          <a:latin typeface="Arial"/>
                        </a:rPr>
                        <a:t>Andamio o acceso no disponible</a:t>
                      </a:r>
                    </a:p>
                  </a:txBody>
                  <a:tcPr marL="137160" marR="91440" marT="27432" marB="27432" anchor="ctr">
                    <a:solidFill>
                      <a:srgbClr val="FFFFFF"/>
                    </a:solidFill>
                  </a:tcPr>
                </a:tc>
                <a:tc>
                  <a:txBody>
                    <a:bodyPr wrap="square"/>
                    <a:lstStyle/>
                    <a:p>
                      <a:pPr algn="l"/>
                      <a:r>
                        <a:rPr sz="1350" b="0">
                          <a:solidFill>
                            <a:srgbClr val="2E2E2E"/>
                          </a:solidFill>
                          <a:latin typeface="Arial"/>
                        </a:rPr>
                        <a:t>Acceso</a:t>
                      </a:r>
                    </a:p>
                  </a:txBody>
                  <a:tcPr marL="137160" marR="91440" marT="27432" marB="27432" anchor="ctr">
                    <a:solidFill>
                      <a:srgbClr val="FFFFFF"/>
                    </a:solidFill>
                  </a:tcPr>
                </a:tc>
              </a:tr>
              <a:tr h="457200">
                <a:tc>
                  <a:txBody>
                    <a:bodyPr wrap="square"/>
                    <a:lstStyle/>
                    <a:p>
                      <a:pPr algn="l"/>
                      <a:r>
                        <a:rPr sz="1350" b="1">
                          <a:solidFill>
                            <a:srgbClr val="555555"/>
                          </a:solidFill>
                          <a:latin typeface="Courier New"/>
                        </a:rPr>
                        <a:t>D04</a:t>
                      </a:r>
                    </a:p>
                  </a:txBody>
                  <a:tcPr marL="137160" marR="91440" marT="27432" marB="27432" anchor="ctr">
                    <a:solidFill>
                      <a:srgbClr val="F7F7F7"/>
                    </a:solidFill>
                  </a:tcPr>
                </a:tc>
                <a:tc>
                  <a:txBody>
                    <a:bodyPr wrap="square"/>
                    <a:lstStyle/>
                    <a:p>
                      <a:pPr algn="l"/>
                      <a:r>
                        <a:rPr sz="1350" b="0">
                          <a:solidFill>
                            <a:srgbClr val="2E2E2E"/>
                          </a:solidFill>
                          <a:latin typeface="Arial"/>
                        </a:rPr>
                        <a:t>Equipo o herramienta no disponible</a:t>
                      </a:r>
                    </a:p>
                  </a:txBody>
                  <a:tcPr marL="137160" marR="91440" marT="27432" marB="27432" anchor="ctr">
                    <a:solidFill>
                      <a:srgbClr val="F7F7F7"/>
                    </a:solidFill>
                  </a:tcPr>
                </a:tc>
                <a:tc>
                  <a:txBody>
                    <a:bodyPr wrap="square"/>
                    <a:lstStyle/>
                    <a:p>
                      <a:pPr algn="l"/>
                      <a:r>
                        <a:rPr sz="1350" b="0">
                          <a:solidFill>
                            <a:srgbClr val="2E2E2E"/>
                          </a:solidFill>
                          <a:latin typeface="Arial"/>
                        </a:rPr>
                        <a:t>Herramientas</a:t>
                      </a:r>
                    </a:p>
                  </a:txBody>
                  <a:tcPr marL="137160" marR="91440" marT="27432" marB="27432" anchor="ctr">
                    <a:solidFill>
                      <a:srgbClr val="F7F7F7"/>
                    </a:solidFill>
                  </a:tcPr>
                </a:tc>
              </a:tr>
              <a:tr h="457200">
                <a:tc>
                  <a:txBody>
                    <a:bodyPr wrap="square"/>
                    <a:lstStyle/>
                    <a:p>
                      <a:pPr algn="l"/>
                      <a:r>
                        <a:rPr sz="1350" b="1">
                          <a:solidFill>
                            <a:srgbClr val="555555"/>
                          </a:solidFill>
                          <a:latin typeface="Courier New"/>
                        </a:rPr>
                        <a:t>D05</a:t>
                      </a:r>
                    </a:p>
                  </a:txBody>
                  <a:tcPr marL="137160" marR="91440" marT="27432" marB="27432" anchor="ctr">
                    <a:solidFill>
                      <a:srgbClr val="FFFFFF"/>
                    </a:solidFill>
                  </a:tcPr>
                </a:tc>
                <a:tc>
                  <a:txBody>
                    <a:bodyPr wrap="square"/>
                    <a:lstStyle/>
                    <a:p>
                      <a:pPr algn="l"/>
                      <a:r>
                        <a:rPr sz="1350" b="0">
                          <a:solidFill>
                            <a:srgbClr val="2E2E2E"/>
                          </a:solidFill>
                          <a:latin typeface="Arial"/>
                        </a:rPr>
                        <a:t>Permiso de trabajo pendiente</a:t>
                      </a:r>
                    </a:p>
                  </a:txBody>
                  <a:tcPr marL="137160" marR="91440" marT="27432" marB="27432" anchor="ctr">
                    <a:solidFill>
                      <a:srgbClr val="FFFFFF"/>
                    </a:solidFill>
                  </a:tcPr>
                </a:tc>
                <a:tc>
                  <a:txBody>
                    <a:bodyPr wrap="square"/>
                    <a:lstStyle/>
                    <a:p>
                      <a:pPr algn="l"/>
                      <a:r>
                        <a:rPr sz="1350" b="0">
                          <a:solidFill>
                            <a:srgbClr val="2E2E2E"/>
                          </a:solidFill>
                          <a:latin typeface="Arial"/>
                        </a:rPr>
                        <a:t>Acceso</a:t>
                      </a:r>
                    </a:p>
                  </a:txBody>
                  <a:tcPr marL="137160" marR="91440" marT="27432" marB="27432" anchor="ctr">
                    <a:solidFill>
                      <a:srgbClr val="FFFFFF"/>
                    </a:solidFill>
                  </a:tcPr>
                </a:tc>
              </a:tr>
              <a:tr h="457200">
                <a:tc>
                  <a:txBody>
                    <a:bodyPr wrap="square"/>
                    <a:lstStyle/>
                    <a:p>
                      <a:pPr algn="l"/>
                      <a:r>
                        <a:rPr sz="1350" b="1">
                          <a:solidFill>
                            <a:srgbClr val="555555"/>
                          </a:solidFill>
                          <a:latin typeface="Courier New"/>
                        </a:rPr>
                        <a:t>D06</a:t>
                      </a:r>
                    </a:p>
                  </a:txBody>
                  <a:tcPr marL="137160" marR="91440" marT="27432" marB="27432" anchor="ctr">
                    <a:solidFill>
                      <a:srgbClr val="F7F7F7"/>
                    </a:solidFill>
                  </a:tcPr>
                </a:tc>
                <a:tc>
                  <a:txBody>
                    <a:bodyPr wrap="square"/>
                    <a:lstStyle/>
                    <a:p>
                      <a:pPr algn="l"/>
                      <a:r>
                        <a:rPr sz="1350" b="0">
                          <a:solidFill>
                            <a:srgbClr val="2E2E2E"/>
                          </a:solidFill>
                          <a:latin typeface="Arial"/>
                        </a:rPr>
                        <a:t>Trabajo previo de otra cuadrilla incompleto</a:t>
                      </a:r>
                    </a:p>
                  </a:txBody>
                  <a:tcPr marL="137160" marR="91440" marT="27432" marB="27432" anchor="ctr">
                    <a:solidFill>
                      <a:srgbClr val="F7F7F7"/>
                    </a:solidFill>
                  </a:tcPr>
                </a:tc>
                <a:tc>
                  <a:txBody>
                    <a:bodyPr wrap="square"/>
                    <a:lstStyle/>
                    <a:p>
                      <a:pPr algn="l"/>
                      <a:r>
                        <a:rPr sz="1350" b="0">
                          <a:solidFill>
                            <a:srgbClr val="2E2E2E"/>
                          </a:solidFill>
                          <a:latin typeface="Arial"/>
                        </a:rPr>
                        <a:t>Acceso</a:t>
                      </a:r>
                    </a:p>
                  </a:txBody>
                  <a:tcPr marL="137160" marR="91440" marT="27432" marB="27432" anchor="ctr">
                    <a:solidFill>
                      <a:srgbClr val="F7F7F7"/>
                    </a:solidFill>
                  </a:tcPr>
                </a:tc>
              </a:tr>
              <a:tr h="457200">
                <a:tc>
                  <a:txBody>
                    <a:bodyPr wrap="square"/>
                    <a:lstStyle/>
                    <a:p>
                      <a:pPr algn="l"/>
                      <a:r>
                        <a:rPr sz="1350" b="1">
                          <a:solidFill>
                            <a:srgbClr val="555555"/>
                          </a:solidFill>
                          <a:latin typeface="Courier New"/>
                        </a:rPr>
                        <a:t>D07</a:t>
                      </a:r>
                    </a:p>
                  </a:txBody>
                  <a:tcPr marL="137160" marR="91440" marT="27432" marB="27432" anchor="ctr">
                    <a:solidFill>
                      <a:srgbClr val="FFFFFF"/>
                    </a:solidFill>
                  </a:tcPr>
                </a:tc>
                <a:tc>
                  <a:txBody>
                    <a:bodyPr wrap="square"/>
                    <a:lstStyle/>
                    <a:p>
                      <a:pPr algn="l"/>
                      <a:r>
                        <a:rPr sz="1350" b="0">
                          <a:solidFill>
                            <a:srgbClr val="2E2E2E"/>
                          </a:solidFill>
                          <a:latin typeface="Arial"/>
                        </a:rPr>
                        <a:t>Clima u otras causas externas</a:t>
                      </a:r>
                    </a:p>
                  </a:txBody>
                  <a:tcPr marL="137160" marR="91440" marT="27432" marB="27432" anchor="ctr">
                    <a:solidFill>
                      <a:srgbClr val="FFFFFF"/>
                    </a:solidFill>
                  </a:tcPr>
                </a:tc>
                <a:tc>
                  <a:txBody>
                    <a:bodyPr wrap="square"/>
                    <a:lstStyle/>
                    <a:p>
                      <a:pPr algn="l"/>
                      <a:r>
                        <a:rPr sz="1350" b="0">
                          <a:solidFill>
                            <a:srgbClr val="2E2E2E"/>
                          </a:solidFill>
                          <a:latin typeface="Arial"/>
                        </a:rPr>
                        <a:t>—</a:t>
                      </a:r>
                    </a:p>
                  </a:txBody>
                  <a:tcPr marL="137160" marR="91440" marT="27432" marB="27432" anchor="ctr">
                    <a:solidFill>
                      <a:srgbClr val="FFFFFF"/>
                    </a:solidFill>
                  </a:tcPr>
                </a:tc>
              </a:tr>
            </a:tbl>
          </a:graphicData>
        </a:graphic>
      </p:graphicFrame>
      <p:pic>
        <p:nvPicPr>
          <p:cNvPr id="8" name="Picture 7" descr="warning_o.png"/>
          <p:cNvPicPr>
            <a:picLocks noChangeAspect="1"/>
          </p:cNvPicPr>
          <p:nvPr/>
        </p:nvPicPr>
        <p:blipFill>
          <a:blip r:embed="rId2"/>
          <a:stretch>
            <a:fillRect/>
          </a:stretch>
        </p:blipFill>
        <p:spPr>
          <a:xfrm>
            <a:off x="563727" y="5724144"/>
            <a:ext cx="292608" cy="292608"/>
          </a:xfrm>
          <a:prstGeom prst="rect">
            <a:avLst/>
          </a:prstGeom>
        </p:spPr>
      </p:pic>
      <p:sp>
        <p:nvSpPr>
          <p:cNvPr id="9" name="TextBox 8"/>
          <p:cNvSpPr txBox="1"/>
          <p:nvPr/>
        </p:nvSpPr>
        <p:spPr>
          <a:xfrm>
            <a:off x="1020927" y="5687568"/>
            <a:ext cx="10607040" cy="384048"/>
          </a:xfrm>
          <a:prstGeom prst="rect">
            <a:avLst/>
          </a:prstGeom>
          <a:noFill/>
        </p:spPr>
        <p:txBody>
          <a:bodyPr wrap="square" lIns="0" rIns="0" tIns="0" bIns="0" anchor="ctr">
            <a:spAutoFit/>
          </a:bodyPr>
          <a:lstStyle/>
          <a:p>
            <a:pPr algn="l"/>
            <a:r>
              <a:rPr sz="1200" b="0" i="0">
                <a:solidFill>
                  <a:srgbClr val="2E2E2E"/>
                </a:solidFill>
                <a:latin typeface="Arial"/>
              </a:rPr>
              <a:t>Ejemplo ilustrativo: la tabla original no se conservó. Registre horas enteras de cuadrilla por causa.</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6 · ENTREGABLES</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Entregables de la Fase 3: la lista de verificación</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M6 · CONSTRUCCIÓN Y WORKFACE PLANNING</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074</a:t>
            </a:r>
          </a:p>
        </p:txBody>
      </p:sp>
      <p:sp>
        <p:nvSpPr>
          <p:cNvPr id="7" name="Rectangle 6"/>
          <p:cNvSpPr/>
          <p:nvPr/>
        </p:nvSpPr>
        <p:spPr>
          <a:xfrm>
            <a:off x="548640" y="1828800"/>
            <a:ext cx="3017520" cy="43434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lipcheck_o.png"/>
          <p:cNvPicPr>
            <a:picLocks noChangeAspect="1"/>
          </p:cNvPicPr>
          <p:nvPr/>
        </p:nvPicPr>
        <p:blipFill>
          <a:blip r:embed="rId2"/>
          <a:stretch>
            <a:fillRect/>
          </a:stretch>
        </p:blipFill>
        <p:spPr>
          <a:xfrm>
            <a:off x="868680" y="2194560"/>
            <a:ext cx="548640" cy="548640"/>
          </a:xfrm>
          <a:prstGeom prst="rect">
            <a:avLst/>
          </a:prstGeom>
        </p:spPr>
      </p:pic>
      <p:sp>
        <p:nvSpPr>
          <p:cNvPr id="9" name="TextBox 8"/>
          <p:cNvSpPr txBox="1"/>
          <p:nvPr/>
        </p:nvSpPr>
        <p:spPr>
          <a:xfrm>
            <a:off x="868680" y="2971800"/>
            <a:ext cx="2468879" cy="274320"/>
          </a:xfrm>
          <a:prstGeom prst="rect">
            <a:avLst/>
          </a:prstGeom>
          <a:noFill/>
        </p:spPr>
        <p:txBody>
          <a:bodyPr wrap="square" lIns="0" rIns="0" tIns="0" bIns="0" anchor="t">
            <a:spAutoFit/>
          </a:bodyPr>
          <a:lstStyle/>
          <a:p>
            <a:pPr algn="l"/>
            <a:r>
              <a:rPr sz="1100" b="1" i="0" spc="200">
                <a:solidFill>
                  <a:srgbClr val="FF6600"/>
                </a:solidFill>
                <a:latin typeface="Arial"/>
              </a:rPr>
              <a:t>ENTREGABLES</a:t>
            </a:r>
          </a:p>
        </p:txBody>
      </p:sp>
      <p:sp>
        <p:nvSpPr>
          <p:cNvPr id="10" name="TextBox 9"/>
          <p:cNvSpPr txBox="1"/>
          <p:nvPr/>
        </p:nvSpPr>
        <p:spPr>
          <a:xfrm>
            <a:off x="868680" y="3291840"/>
            <a:ext cx="2468879" cy="1188720"/>
          </a:xfrm>
          <a:prstGeom prst="rect">
            <a:avLst/>
          </a:prstGeom>
          <a:noFill/>
        </p:spPr>
        <p:txBody>
          <a:bodyPr wrap="square" lIns="0" rIns="0" tIns="0" bIns="0" anchor="t">
            <a:spAutoFit/>
          </a:bodyPr>
          <a:lstStyle/>
          <a:p>
            <a:pPr algn="l">
              <a:lnSpc>
                <a:spcPct val="95000"/>
              </a:lnSpc>
            </a:pPr>
            <a:r>
              <a:rPr sz="2200" b="1" i="0">
                <a:solidFill>
                  <a:srgbClr val="FFFFFF"/>
                </a:solidFill>
                <a:latin typeface="Arial"/>
              </a:rPr>
              <a:t>Fase 3 · Construcción y Workface Planning</a:t>
            </a:r>
          </a:p>
        </p:txBody>
      </p:sp>
      <p:sp>
        <p:nvSpPr>
          <p:cNvPr id="11" name="TextBox 10"/>
          <p:cNvSpPr txBox="1"/>
          <p:nvPr/>
        </p:nvSpPr>
        <p:spPr>
          <a:xfrm>
            <a:off x="868680" y="4754880"/>
            <a:ext cx="2468879" cy="1188720"/>
          </a:xfrm>
          <a:prstGeom prst="rect">
            <a:avLst/>
          </a:prstGeom>
          <a:noFill/>
        </p:spPr>
        <p:txBody>
          <a:bodyPr wrap="square" lIns="0" rIns="0" tIns="0" bIns="0" anchor="b">
            <a:spAutoFit/>
          </a:bodyPr>
          <a:lstStyle/>
          <a:p>
            <a:pPr algn="l">
              <a:lnSpc>
                <a:spcPct val="110000"/>
              </a:lnSpc>
            </a:pPr>
            <a:r>
              <a:rPr sz="1200" b="0" i="0">
                <a:solidFill>
                  <a:srgbClr val="BCBEC0"/>
                </a:solidFill>
                <a:latin typeface="Arial"/>
              </a:rPr>
              <a:t>Al terminar, el capataz general devuelve el IWP con los registros de calidad al planificador.</a:t>
            </a:r>
          </a:p>
        </p:txBody>
      </p:sp>
      <p:sp>
        <p:nvSpPr>
          <p:cNvPr id="12" name="Rectangle 11"/>
          <p:cNvSpPr/>
          <p:nvPr/>
        </p:nvSpPr>
        <p:spPr>
          <a:xfrm>
            <a:off x="3886200" y="1865376"/>
            <a:ext cx="7756855" cy="547333"/>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check_o.png"/>
          <p:cNvPicPr>
            <a:picLocks noChangeAspect="1"/>
          </p:cNvPicPr>
          <p:nvPr/>
        </p:nvPicPr>
        <p:blipFill>
          <a:blip r:embed="rId3"/>
          <a:stretch>
            <a:fillRect/>
          </a:stretch>
        </p:blipFill>
        <p:spPr>
          <a:xfrm>
            <a:off x="4087368" y="1983594"/>
            <a:ext cx="310896" cy="310896"/>
          </a:xfrm>
          <a:prstGeom prst="rect">
            <a:avLst/>
          </a:prstGeom>
        </p:spPr>
      </p:pic>
      <p:sp>
        <p:nvSpPr>
          <p:cNvPr id="14" name="TextBox 13"/>
          <p:cNvSpPr txBox="1"/>
          <p:nvPr/>
        </p:nvSpPr>
        <p:spPr>
          <a:xfrm>
            <a:off x="4572000" y="1865376"/>
            <a:ext cx="6888175" cy="547333"/>
          </a:xfrm>
          <a:prstGeom prst="rect">
            <a:avLst/>
          </a:prstGeom>
          <a:noFill/>
        </p:spPr>
        <p:txBody>
          <a:bodyPr wrap="square" lIns="0" rIns="0" tIns="0" bIns="0" anchor="ctr">
            <a:spAutoFit/>
          </a:bodyPr>
          <a:lstStyle/>
          <a:p>
            <a:pPr algn="l"/>
            <a:r>
              <a:rPr sz="1350" b="1" i="0">
                <a:solidFill>
                  <a:srgbClr val="1A1A1A"/>
                </a:solidFill>
                <a:latin typeface="Arial"/>
              </a:rPr>
              <a:t>IWP liberados sin restricciones</a:t>
            </a:r>
            <a:r>
              <a:rPr sz="1200" b="0" i="0">
                <a:solidFill>
                  <a:srgbClr val="6D6E71"/>
                </a:solidFill>
                <a:latin typeface="Arial"/>
              </a:rPr>
              <a:t>  ·  con firmas completas</a:t>
            </a:r>
          </a:p>
        </p:txBody>
      </p:sp>
      <p:sp>
        <p:nvSpPr>
          <p:cNvPr id="15" name="Rectangle 14"/>
          <p:cNvSpPr/>
          <p:nvPr/>
        </p:nvSpPr>
        <p:spPr>
          <a:xfrm>
            <a:off x="3886200" y="2485861"/>
            <a:ext cx="7756855" cy="547333"/>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_o.png"/>
          <p:cNvPicPr>
            <a:picLocks noChangeAspect="1"/>
          </p:cNvPicPr>
          <p:nvPr/>
        </p:nvPicPr>
        <p:blipFill>
          <a:blip r:embed="rId3"/>
          <a:stretch>
            <a:fillRect/>
          </a:stretch>
        </p:blipFill>
        <p:spPr>
          <a:xfrm>
            <a:off x="4087368" y="2604080"/>
            <a:ext cx="310896" cy="310896"/>
          </a:xfrm>
          <a:prstGeom prst="rect">
            <a:avLst/>
          </a:prstGeom>
        </p:spPr>
      </p:pic>
      <p:sp>
        <p:nvSpPr>
          <p:cNvPr id="17" name="TextBox 16"/>
          <p:cNvSpPr txBox="1"/>
          <p:nvPr/>
        </p:nvSpPr>
        <p:spPr>
          <a:xfrm>
            <a:off x="4572000" y="2485861"/>
            <a:ext cx="6888175" cy="547333"/>
          </a:xfrm>
          <a:prstGeom prst="rect">
            <a:avLst/>
          </a:prstGeom>
          <a:noFill/>
        </p:spPr>
        <p:txBody>
          <a:bodyPr wrap="square" lIns="0" rIns="0" tIns="0" bIns="0" anchor="ctr">
            <a:spAutoFit/>
          </a:bodyPr>
          <a:lstStyle/>
          <a:p>
            <a:pPr algn="l"/>
            <a:r>
              <a:rPr sz="1350" b="1" i="0">
                <a:solidFill>
                  <a:srgbClr val="1A1A1A"/>
                </a:solidFill>
                <a:latin typeface="Arial"/>
              </a:rPr>
              <a:t>Pack Track semanal</a:t>
            </a:r>
            <a:r>
              <a:rPr sz="1200" b="0" i="0">
                <a:solidFill>
                  <a:srgbClr val="6D6E71"/>
                </a:solidFill>
                <a:latin typeface="Arial"/>
              </a:rPr>
              <a:t>  ·  estado de cada IWP</a:t>
            </a:r>
          </a:p>
        </p:txBody>
      </p:sp>
      <p:sp>
        <p:nvSpPr>
          <p:cNvPr id="18" name="Rectangle 17"/>
          <p:cNvSpPr/>
          <p:nvPr/>
        </p:nvSpPr>
        <p:spPr>
          <a:xfrm>
            <a:off x="3886200" y="3106347"/>
            <a:ext cx="7756855" cy="547333"/>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check_o.png"/>
          <p:cNvPicPr>
            <a:picLocks noChangeAspect="1"/>
          </p:cNvPicPr>
          <p:nvPr/>
        </p:nvPicPr>
        <p:blipFill>
          <a:blip r:embed="rId3"/>
          <a:stretch>
            <a:fillRect/>
          </a:stretch>
        </p:blipFill>
        <p:spPr>
          <a:xfrm>
            <a:off x="4087368" y="3224566"/>
            <a:ext cx="310896" cy="310896"/>
          </a:xfrm>
          <a:prstGeom prst="rect">
            <a:avLst/>
          </a:prstGeom>
        </p:spPr>
      </p:pic>
      <p:sp>
        <p:nvSpPr>
          <p:cNvPr id="20" name="TextBox 19"/>
          <p:cNvSpPr txBox="1"/>
          <p:nvPr/>
        </p:nvSpPr>
        <p:spPr>
          <a:xfrm>
            <a:off x="4572000" y="3106347"/>
            <a:ext cx="6888175" cy="547333"/>
          </a:xfrm>
          <a:prstGeom prst="rect">
            <a:avLst/>
          </a:prstGeom>
          <a:noFill/>
        </p:spPr>
        <p:txBody>
          <a:bodyPr wrap="square" lIns="0" rIns="0" tIns="0" bIns="0" anchor="ctr">
            <a:spAutoFit/>
          </a:bodyPr>
          <a:lstStyle/>
          <a:p>
            <a:pPr algn="l"/>
            <a:r>
              <a:rPr sz="1350" b="1" i="0">
                <a:solidFill>
                  <a:srgbClr val="1A1A1A"/>
                </a:solidFill>
                <a:latin typeface="Arial"/>
              </a:rPr>
              <a:t>Backlog de 2 a 4 semanas</a:t>
            </a:r>
            <a:r>
              <a:rPr sz="1200" b="0" i="0">
                <a:solidFill>
                  <a:srgbClr val="6D6E71"/>
                </a:solidFill>
                <a:latin typeface="Arial"/>
              </a:rPr>
              <a:t>  ·  por disciplina</a:t>
            </a:r>
          </a:p>
        </p:txBody>
      </p:sp>
      <p:sp>
        <p:nvSpPr>
          <p:cNvPr id="21" name="Rectangle 20"/>
          <p:cNvSpPr/>
          <p:nvPr/>
        </p:nvSpPr>
        <p:spPr>
          <a:xfrm>
            <a:off x="3886200" y="3726833"/>
            <a:ext cx="7756855" cy="547333"/>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heck_o.png"/>
          <p:cNvPicPr>
            <a:picLocks noChangeAspect="1"/>
          </p:cNvPicPr>
          <p:nvPr/>
        </p:nvPicPr>
        <p:blipFill>
          <a:blip r:embed="rId3"/>
          <a:stretch>
            <a:fillRect/>
          </a:stretch>
        </p:blipFill>
        <p:spPr>
          <a:xfrm>
            <a:off x="4087368" y="3845052"/>
            <a:ext cx="310896" cy="310896"/>
          </a:xfrm>
          <a:prstGeom prst="rect">
            <a:avLst/>
          </a:prstGeom>
        </p:spPr>
      </p:pic>
      <p:sp>
        <p:nvSpPr>
          <p:cNvPr id="23" name="TextBox 22"/>
          <p:cNvSpPr txBox="1"/>
          <p:nvPr/>
        </p:nvSpPr>
        <p:spPr>
          <a:xfrm>
            <a:off x="4572000" y="3726833"/>
            <a:ext cx="6888175" cy="547333"/>
          </a:xfrm>
          <a:prstGeom prst="rect">
            <a:avLst/>
          </a:prstGeom>
          <a:noFill/>
        </p:spPr>
        <p:txBody>
          <a:bodyPr wrap="square" lIns="0" rIns="0" tIns="0" bIns="0" anchor="ctr">
            <a:spAutoFit/>
          </a:bodyPr>
          <a:lstStyle/>
          <a:p>
            <a:pPr algn="l"/>
            <a:r>
              <a:rPr sz="1350" b="1" i="0">
                <a:solidFill>
                  <a:srgbClr val="1A1A1A"/>
                </a:solidFill>
                <a:latin typeface="Arial"/>
              </a:rPr>
              <a:t>Look-ahead de 3 semanas</a:t>
            </a:r>
            <a:r>
              <a:rPr sz="1200" b="0" i="0">
                <a:solidFill>
                  <a:srgbClr val="6D6E71"/>
                </a:solidFill>
                <a:latin typeface="Arial"/>
              </a:rPr>
              <a:t>  ·  por número de IWP</a:t>
            </a:r>
          </a:p>
        </p:txBody>
      </p:sp>
      <p:sp>
        <p:nvSpPr>
          <p:cNvPr id="24" name="Rectangle 23"/>
          <p:cNvSpPr/>
          <p:nvPr/>
        </p:nvSpPr>
        <p:spPr>
          <a:xfrm>
            <a:off x="3886200" y="4347318"/>
            <a:ext cx="7756855" cy="547333"/>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check_o.png"/>
          <p:cNvPicPr>
            <a:picLocks noChangeAspect="1"/>
          </p:cNvPicPr>
          <p:nvPr/>
        </p:nvPicPr>
        <p:blipFill>
          <a:blip r:embed="rId3"/>
          <a:stretch>
            <a:fillRect/>
          </a:stretch>
        </p:blipFill>
        <p:spPr>
          <a:xfrm>
            <a:off x="4087368" y="4465537"/>
            <a:ext cx="310896" cy="310896"/>
          </a:xfrm>
          <a:prstGeom prst="rect">
            <a:avLst/>
          </a:prstGeom>
        </p:spPr>
      </p:pic>
      <p:sp>
        <p:nvSpPr>
          <p:cNvPr id="26" name="TextBox 25"/>
          <p:cNvSpPr txBox="1"/>
          <p:nvPr/>
        </p:nvSpPr>
        <p:spPr>
          <a:xfrm>
            <a:off x="4572000" y="4347318"/>
            <a:ext cx="6888175" cy="547333"/>
          </a:xfrm>
          <a:prstGeom prst="rect">
            <a:avLst/>
          </a:prstGeom>
          <a:noFill/>
        </p:spPr>
        <p:txBody>
          <a:bodyPr wrap="square" lIns="0" rIns="0" tIns="0" bIns="0" anchor="ctr">
            <a:spAutoFit/>
          </a:bodyPr>
          <a:lstStyle/>
          <a:p>
            <a:pPr algn="l"/>
            <a:r>
              <a:rPr sz="1350" b="1" i="0">
                <a:solidFill>
                  <a:srgbClr val="1A1A1A"/>
                </a:solidFill>
                <a:latin typeface="Arial"/>
              </a:rPr>
              <a:t>Plan diario del capataz</a:t>
            </a:r>
            <a:r>
              <a:rPr sz="1200" b="0" i="0">
                <a:solidFill>
                  <a:srgbClr val="6D6E71"/>
                </a:solidFill>
                <a:latin typeface="Arial"/>
              </a:rPr>
              <a:t>  ·  reunión de 15 minutos</a:t>
            </a:r>
          </a:p>
        </p:txBody>
      </p:sp>
      <p:sp>
        <p:nvSpPr>
          <p:cNvPr id="27" name="Rectangle 26"/>
          <p:cNvSpPr/>
          <p:nvPr/>
        </p:nvSpPr>
        <p:spPr>
          <a:xfrm>
            <a:off x="3886200" y="4967804"/>
            <a:ext cx="7756855" cy="547333"/>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_o.png"/>
          <p:cNvPicPr>
            <a:picLocks noChangeAspect="1"/>
          </p:cNvPicPr>
          <p:nvPr/>
        </p:nvPicPr>
        <p:blipFill>
          <a:blip r:embed="rId3"/>
          <a:stretch>
            <a:fillRect/>
          </a:stretch>
        </p:blipFill>
        <p:spPr>
          <a:xfrm>
            <a:off x="4087368" y="5086023"/>
            <a:ext cx="310896" cy="310896"/>
          </a:xfrm>
          <a:prstGeom prst="rect">
            <a:avLst/>
          </a:prstGeom>
        </p:spPr>
      </p:pic>
      <p:sp>
        <p:nvSpPr>
          <p:cNvPr id="29" name="TextBox 28"/>
          <p:cNvSpPr txBox="1"/>
          <p:nvPr/>
        </p:nvSpPr>
        <p:spPr>
          <a:xfrm>
            <a:off x="4572000" y="4967804"/>
            <a:ext cx="6888175" cy="547333"/>
          </a:xfrm>
          <a:prstGeom prst="rect">
            <a:avLst/>
          </a:prstGeom>
          <a:noFill/>
        </p:spPr>
        <p:txBody>
          <a:bodyPr wrap="square" lIns="0" rIns="0" tIns="0" bIns="0" anchor="ctr">
            <a:spAutoFit/>
          </a:bodyPr>
          <a:lstStyle/>
          <a:p>
            <a:pPr algn="l"/>
            <a:r>
              <a:rPr sz="1350" b="1" i="0">
                <a:solidFill>
                  <a:srgbClr val="1A1A1A"/>
                </a:solidFill>
                <a:latin typeface="Arial"/>
              </a:rPr>
              <a:t>Avance diario por IWP</a:t>
            </a:r>
            <a:r>
              <a:rPr sz="1200" b="0" i="0">
                <a:solidFill>
                  <a:srgbClr val="6D6E71"/>
                </a:solidFill>
                <a:latin typeface="Arial"/>
              </a:rPr>
              <a:t>  ·  valor ganado</a:t>
            </a:r>
          </a:p>
        </p:txBody>
      </p:sp>
      <p:sp>
        <p:nvSpPr>
          <p:cNvPr id="30" name="Rectangle 29"/>
          <p:cNvSpPr/>
          <p:nvPr/>
        </p:nvSpPr>
        <p:spPr>
          <a:xfrm>
            <a:off x="3886200" y="5588290"/>
            <a:ext cx="7756855" cy="547333"/>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check_o.png"/>
          <p:cNvPicPr>
            <a:picLocks noChangeAspect="1"/>
          </p:cNvPicPr>
          <p:nvPr/>
        </p:nvPicPr>
        <p:blipFill>
          <a:blip r:embed="rId3"/>
          <a:stretch>
            <a:fillRect/>
          </a:stretch>
        </p:blipFill>
        <p:spPr>
          <a:xfrm>
            <a:off x="4087368" y="5706509"/>
            <a:ext cx="310896" cy="310896"/>
          </a:xfrm>
          <a:prstGeom prst="rect">
            <a:avLst/>
          </a:prstGeom>
        </p:spPr>
      </p:pic>
      <p:sp>
        <p:nvSpPr>
          <p:cNvPr id="32" name="TextBox 31"/>
          <p:cNvSpPr txBox="1"/>
          <p:nvPr/>
        </p:nvSpPr>
        <p:spPr>
          <a:xfrm>
            <a:off x="4572000" y="5588290"/>
            <a:ext cx="6888175" cy="547333"/>
          </a:xfrm>
          <a:prstGeom prst="rect">
            <a:avLst/>
          </a:prstGeom>
          <a:noFill/>
        </p:spPr>
        <p:txBody>
          <a:bodyPr wrap="square" lIns="0" rIns="0" tIns="0" bIns="0" anchor="ctr">
            <a:spAutoFit/>
          </a:bodyPr>
          <a:lstStyle/>
          <a:p>
            <a:pPr algn="l"/>
            <a:r>
              <a:rPr sz="1350" b="1" i="0">
                <a:solidFill>
                  <a:srgbClr val="1A1A1A"/>
                </a:solidFill>
                <a:latin typeface="Arial"/>
              </a:rPr>
              <a:t>Registro de restricciones y demoras</a:t>
            </a:r>
            <a:r>
              <a:rPr sz="1200" b="0" i="0">
                <a:solidFill>
                  <a:srgbClr val="6D6E71"/>
                </a:solidFill>
                <a:latin typeface="Arial"/>
              </a:rPr>
              <a:t>  ·  con sus causas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097280"/>
            <a:ext cx="3657600" cy="2194560"/>
          </a:xfrm>
          <a:prstGeom prst="rect">
            <a:avLst/>
          </a:prstGeom>
          <a:noFill/>
        </p:spPr>
        <p:txBody>
          <a:bodyPr wrap="square" lIns="0" rIns="0" tIns="0" bIns="0" anchor="t">
            <a:spAutoFit/>
          </a:bodyPr>
          <a:lstStyle/>
          <a:p>
            <a:pPr algn="l"/>
            <a:r>
              <a:rPr sz="15000" b="1" i="0">
                <a:solidFill>
                  <a:srgbClr val="FF6600"/>
                </a:solidFill>
                <a:latin typeface="Arial"/>
              </a:rPr>
              <a:t>07</a:t>
            </a:r>
          </a:p>
        </p:txBody>
      </p:sp>
      <p:sp>
        <p:nvSpPr>
          <p:cNvPr id="4" name="TextBox 3"/>
          <p:cNvSpPr txBox="1"/>
          <p:nvPr/>
        </p:nvSpPr>
        <p:spPr>
          <a:xfrm>
            <a:off x="4160520" y="1481328"/>
            <a:ext cx="7498079" cy="274320"/>
          </a:xfrm>
          <a:prstGeom prst="rect">
            <a:avLst/>
          </a:prstGeom>
          <a:noFill/>
        </p:spPr>
        <p:txBody>
          <a:bodyPr wrap="square" lIns="0" rIns="0" tIns="0" bIns="0" anchor="t">
            <a:spAutoFit/>
          </a:bodyPr>
          <a:lstStyle/>
          <a:p>
            <a:pPr algn="l"/>
            <a:r>
              <a:rPr sz="1200" b="1" i="0" spc="300">
                <a:solidFill>
                  <a:srgbClr val="FF6600"/>
                </a:solidFill>
                <a:latin typeface="Arial"/>
              </a:rPr>
              <a:t>MÓDULO 7 · FASE 4: PUESTA EN MARCHA</a:t>
            </a:r>
          </a:p>
        </p:txBody>
      </p:sp>
      <p:sp>
        <p:nvSpPr>
          <p:cNvPr id="5" name="Título"/>
          <p:cNvSpPr txBox="1"/>
          <p:nvPr/>
        </p:nvSpPr>
        <p:spPr>
          <a:xfrm>
            <a:off x="4160520" y="1874519"/>
            <a:ext cx="7452360" cy="1508760"/>
          </a:xfrm>
          <a:prstGeom prst="rect">
            <a:avLst/>
          </a:prstGeom>
          <a:noFill/>
        </p:spPr>
        <p:txBody>
          <a:bodyPr wrap="square" lIns="0" rIns="0" tIns="0" bIns="0" anchor="t">
            <a:spAutoFit/>
          </a:bodyPr>
          <a:lstStyle/>
          <a:p>
            <a:pPr algn="l">
              <a:lnSpc>
                <a:spcPct val="95000"/>
              </a:lnSpc>
            </a:pPr>
            <a:r>
              <a:rPr sz="3600" b="1" i="0">
                <a:solidFill>
                  <a:srgbClr val="FFFFFF"/>
                </a:solidFill>
                <a:latin typeface="Arial"/>
              </a:rPr>
              <a:t>Al final se entrega por sistemas, no por áreas</a:t>
            </a:r>
          </a:p>
        </p:txBody>
      </p:sp>
      <p:sp>
        <p:nvSpPr>
          <p:cNvPr id="6" name="TextBox 5"/>
          <p:cNvSpPr txBox="1"/>
          <p:nvPr/>
        </p:nvSpPr>
        <p:spPr>
          <a:xfrm>
            <a:off x="4160520" y="3474720"/>
            <a:ext cx="7406640" cy="685800"/>
          </a:xfrm>
          <a:prstGeom prst="rect">
            <a:avLst/>
          </a:prstGeom>
          <a:noFill/>
        </p:spPr>
        <p:txBody>
          <a:bodyPr wrap="square" lIns="0" rIns="0" tIns="0" bIns="0" anchor="t">
            <a:spAutoFit/>
          </a:bodyPr>
          <a:lstStyle/>
          <a:p>
            <a:pPr algn="l">
              <a:lnSpc>
                <a:spcPct val="110000"/>
              </a:lnSpc>
            </a:pPr>
            <a:r>
              <a:rPr sz="1500" b="0" i="0">
                <a:solidFill>
                  <a:srgbClr val="BCBEC0"/>
                </a:solidFill>
                <a:latin typeface="Arial"/>
              </a:rPr>
              <a:t>System Work Packages, Turnover Packages y certificados de listo para comisionar y para operar.</a:t>
            </a:r>
          </a:p>
        </p:txBody>
      </p:sp>
      <p:sp>
        <p:nvSpPr>
          <p:cNvPr id="7" name="Rectangle 6"/>
          <p:cNvSpPr/>
          <p:nvPr/>
        </p:nvSpPr>
        <p:spPr>
          <a:xfrm>
            <a:off x="548640" y="4892040"/>
            <a:ext cx="2606040" cy="86868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5047488"/>
            <a:ext cx="2240280" cy="228600"/>
          </a:xfrm>
          <a:prstGeom prst="rect">
            <a:avLst/>
          </a:prstGeom>
          <a:noFill/>
        </p:spPr>
        <p:txBody>
          <a:bodyPr wrap="square" lIns="0" rIns="0" tIns="0" bIns="0" anchor="t">
            <a:spAutoFit/>
          </a:bodyPr>
          <a:lstStyle/>
          <a:p>
            <a:pPr algn="l"/>
            <a:r>
              <a:rPr sz="1000" b="1" i="0" spc="200">
                <a:solidFill>
                  <a:srgbClr val="FF6600"/>
                </a:solidFill>
                <a:latin typeface="Arial"/>
              </a:rPr>
              <a:t>FASE 1</a:t>
            </a:r>
          </a:p>
        </p:txBody>
      </p:sp>
      <p:sp>
        <p:nvSpPr>
          <p:cNvPr id="9" name="TextBox 8"/>
          <p:cNvSpPr txBox="1"/>
          <p:nvPr/>
        </p:nvSpPr>
        <p:spPr>
          <a:xfrm>
            <a:off x="777240" y="5321807"/>
            <a:ext cx="2240280" cy="274320"/>
          </a:xfrm>
          <a:prstGeom prst="rect">
            <a:avLst/>
          </a:prstGeom>
          <a:noFill/>
        </p:spPr>
        <p:txBody>
          <a:bodyPr wrap="square" lIns="0" rIns="0" tIns="0" bIns="0" anchor="t">
            <a:spAutoFit/>
          </a:bodyPr>
          <a:lstStyle/>
          <a:p>
            <a:pPr algn="l"/>
            <a:r>
              <a:rPr sz="1200" b="0" i="0">
                <a:solidFill>
                  <a:srgbClr val="BCBEC0"/>
                </a:solidFill>
                <a:latin typeface="Arial"/>
              </a:rPr>
              <a:t>Planificación · FEL 2</a:t>
            </a:r>
          </a:p>
        </p:txBody>
      </p:sp>
      <p:sp>
        <p:nvSpPr>
          <p:cNvPr id="10" name="Rectangle 9"/>
          <p:cNvSpPr/>
          <p:nvPr/>
        </p:nvSpPr>
        <p:spPr>
          <a:xfrm>
            <a:off x="3374136" y="4892040"/>
            <a:ext cx="2606040" cy="86868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602736" y="5047488"/>
            <a:ext cx="2240280" cy="228600"/>
          </a:xfrm>
          <a:prstGeom prst="rect">
            <a:avLst/>
          </a:prstGeom>
          <a:noFill/>
        </p:spPr>
        <p:txBody>
          <a:bodyPr wrap="square" lIns="0" rIns="0" tIns="0" bIns="0" anchor="t">
            <a:spAutoFit/>
          </a:bodyPr>
          <a:lstStyle/>
          <a:p>
            <a:pPr algn="l"/>
            <a:r>
              <a:rPr sz="1000" b="1" i="0" spc="200">
                <a:solidFill>
                  <a:srgbClr val="FF6600"/>
                </a:solidFill>
                <a:latin typeface="Arial"/>
              </a:rPr>
              <a:t>FASE 2</a:t>
            </a:r>
          </a:p>
        </p:txBody>
      </p:sp>
      <p:sp>
        <p:nvSpPr>
          <p:cNvPr id="12" name="TextBox 11"/>
          <p:cNvSpPr txBox="1"/>
          <p:nvPr/>
        </p:nvSpPr>
        <p:spPr>
          <a:xfrm>
            <a:off x="3602736" y="5321807"/>
            <a:ext cx="2240280" cy="274320"/>
          </a:xfrm>
          <a:prstGeom prst="rect">
            <a:avLst/>
          </a:prstGeom>
          <a:noFill/>
        </p:spPr>
        <p:txBody>
          <a:bodyPr wrap="square" lIns="0" rIns="0" tIns="0" bIns="0" anchor="t">
            <a:spAutoFit/>
          </a:bodyPr>
          <a:lstStyle/>
          <a:p>
            <a:pPr algn="l"/>
            <a:r>
              <a:rPr sz="1200" b="0" i="0">
                <a:solidFill>
                  <a:srgbClr val="BCBEC0"/>
                </a:solidFill>
                <a:latin typeface="Arial"/>
              </a:rPr>
              <a:t>Ingeniería y compras · FEL 3</a:t>
            </a:r>
          </a:p>
        </p:txBody>
      </p:sp>
      <p:sp>
        <p:nvSpPr>
          <p:cNvPr id="13" name="Rectangle 12"/>
          <p:cNvSpPr/>
          <p:nvPr/>
        </p:nvSpPr>
        <p:spPr>
          <a:xfrm>
            <a:off x="6199631" y="4892040"/>
            <a:ext cx="2606040" cy="86868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28231" y="5047488"/>
            <a:ext cx="2240280" cy="228600"/>
          </a:xfrm>
          <a:prstGeom prst="rect">
            <a:avLst/>
          </a:prstGeom>
          <a:noFill/>
        </p:spPr>
        <p:txBody>
          <a:bodyPr wrap="square" lIns="0" rIns="0" tIns="0" bIns="0" anchor="t">
            <a:spAutoFit/>
          </a:bodyPr>
          <a:lstStyle/>
          <a:p>
            <a:pPr algn="l"/>
            <a:r>
              <a:rPr sz="1000" b="1" i="0" spc="200">
                <a:solidFill>
                  <a:srgbClr val="FF6600"/>
                </a:solidFill>
                <a:latin typeface="Arial"/>
              </a:rPr>
              <a:t>FASE 3</a:t>
            </a:r>
          </a:p>
        </p:txBody>
      </p:sp>
      <p:sp>
        <p:nvSpPr>
          <p:cNvPr id="15" name="TextBox 14"/>
          <p:cNvSpPr txBox="1"/>
          <p:nvPr/>
        </p:nvSpPr>
        <p:spPr>
          <a:xfrm>
            <a:off x="6428231" y="5321807"/>
            <a:ext cx="2240280" cy="274320"/>
          </a:xfrm>
          <a:prstGeom prst="rect">
            <a:avLst/>
          </a:prstGeom>
          <a:noFill/>
        </p:spPr>
        <p:txBody>
          <a:bodyPr wrap="square" lIns="0" rIns="0" tIns="0" bIns="0" anchor="t">
            <a:spAutoFit/>
          </a:bodyPr>
          <a:lstStyle/>
          <a:p>
            <a:pPr algn="l"/>
            <a:r>
              <a:rPr sz="1200" b="0" i="0">
                <a:solidFill>
                  <a:srgbClr val="BCBEC0"/>
                </a:solidFill>
                <a:latin typeface="Arial"/>
              </a:rPr>
              <a:t>Construcción</a:t>
            </a:r>
          </a:p>
        </p:txBody>
      </p:sp>
      <p:sp>
        <p:nvSpPr>
          <p:cNvPr id="16" name="Rectangle 15"/>
          <p:cNvSpPr/>
          <p:nvPr/>
        </p:nvSpPr>
        <p:spPr>
          <a:xfrm>
            <a:off x="9025128" y="4892040"/>
            <a:ext cx="2606040" cy="86868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253728" y="5047488"/>
            <a:ext cx="2240280" cy="228600"/>
          </a:xfrm>
          <a:prstGeom prst="rect">
            <a:avLst/>
          </a:prstGeom>
          <a:noFill/>
        </p:spPr>
        <p:txBody>
          <a:bodyPr wrap="square" lIns="0" rIns="0" tIns="0" bIns="0" anchor="t">
            <a:spAutoFit/>
          </a:bodyPr>
          <a:lstStyle/>
          <a:p>
            <a:pPr algn="l"/>
            <a:r>
              <a:rPr sz="1000" b="1" i="0" spc="200">
                <a:solidFill>
                  <a:srgbClr val="FFFFFF"/>
                </a:solidFill>
                <a:latin typeface="Arial"/>
              </a:rPr>
              <a:t>FASE 4</a:t>
            </a:r>
          </a:p>
        </p:txBody>
      </p:sp>
      <p:sp>
        <p:nvSpPr>
          <p:cNvPr id="18" name="TextBox 17"/>
          <p:cNvSpPr txBox="1"/>
          <p:nvPr/>
        </p:nvSpPr>
        <p:spPr>
          <a:xfrm>
            <a:off x="9253728" y="5321807"/>
            <a:ext cx="2240280" cy="274320"/>
          </a:xfrm>
          <a:prstGeom prst="rect">
            <a:avLst/>
          </a:prstGeom>
          <a:noFill/>
        </p:spPr>
        <p:txBody>
          <a:bodyPr wrap="square" lIns="0" rIns="0" tIns="0" bIns="0" anchor="t">
            <a:spAutoFit/>
          </a:bodyPr>
          <a:lstStyle/>
          <a:p>
            <a:pPr algn="l"/>
            <a:r>
              <a:rPr sz="1200" b="1" i="0">
                <a:solidFill>
                  <a:srgbClr val="FFFFFF"/>
                </a:solidFill>
                <a:latin typeface="Arial"/>
              </a:rPr>
              <a:t>Puesta en marcha</a:t>
            </a:r>
          </a:p>
        </p:txBody>
      </p:sp>
      <p:sp>
        <p:nvSpPr>
          <p:cNvPr id="19" name="TextBox 18"/>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8A8B8E"/>
                </a:solidFill>
                <a:latin typeface="Arial"/>
              </a:rPr>
              <a:t>IMPLEMENTACIÓN DE AWP  ·  M7 · FASE 4: PUESTA EN MARCHA Y ENTREGA</a:t>
            </a:r>
          </a:p>
        </p:txBody>
      </p:sp>
      <p:sp>
        <p:nvSpPr>
          <p:cNvPr id="20" name="TextBox 19"/>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8A8B8E"/>
                </a:solidFill>
                <a:latin typeface="Courier New"/>
              </a:rPr>
              <a:t>075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7 · DE ÁREAS A SISTEMAS</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La puesta en marcha exige cambiar del CWP al SWP</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M7 · FASE 4: PUESTA EN MARCHA Y ENTREGA</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076</a:t>
            </a:r>
          </a:p>
        </p:txBody>
      </p:sp>
      <p:sp>
        <p:nvSpPr>
          <p:cNvPr id="7" name="Rectangle 6"/>
          <p:cNvSpPr/>
          <p:nvPr/>
        </p:nvSpPr>
        <p:spPr>
          <a:xfrm>
            <a:off x="548640" y="1828800"/>
            <a:ext cx="4754880" cy="502920"/>
          </a:xfrm>
          <a:prstGeom prst="rect">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map_w.png"/>
          <p:cNvPicPr>
            <a:picLocks noChangeAspect="1"/>
          </p:cNvPicPr>
          <p:nvPr/>
        </p:nvPicPr>
        <p:blipFill>
          <a:blip r:embed="rId2"/>
          <a:stretch>
            <a:fillRect/>
          </a:stretch>
        </p:blipFill>
        <p:spPr>
          <a:xfrm>
            <a:off x="749808" y="1920240"/>
            <a:ext cx="320040" cy="320040"/>
          </a:xfrm>
          <a:prstGeom prst="rect">
            <a:avLst/>
          </a:prstGeom>
        </p:spPr>
      </p:pic>
      <p:sp>
        <p:nvSpPr>
          <p:cNvPr id="9" name="TextBox 8"/>
          <p:cNvSpPr txBox="1"/>
          <p:nvPr/>
        </p:nvSpPr>
        <p:spPr>
          <a:xfrm>
            <a:off x="1234440" y="1828800"/>
            <a:ext cx="3931920" cy="502920"/>
          </a:xfrm>
          <a:prstGeom prst="rect">
            <a:avLst/>
          </a:prstGeom>
          <a:noFill/>
        </p:spPr>
        <p:txBody>
          <a:bodyPr wrap="square" lIns="0" rIns="0" tIns="0" bIns="0" anchor="ctr">
            <a:spAutoFit/>
          </a:bodyPr>
          <a:lstStyle/>
          <a:p>
            <a:pPr algn="l"/>
            <a:r>
              <a:rPr sz="1200" b="1" i="0" spc="200">
                <a:solidFill>
                  <a:srgbClr val="FFFFFF"/>
                </a:solidFill>
                <a:latin typeface="Arial"/>
              </a:rPr>
              <a:t>HASTA ~70 % DE AVANCE</a:t>
            </a:r>
          </a:p>
        </p:txBody>
      </p:sp>
      <p:sp>
        <p:nvSpPr>
          <p:cNvPr id="10" name="Rectangle 9"/>
          <p:cNvSpPr/>
          <p:nvPr/>
        </p:nvSpPr>
        <p:spPr>
          <a:xfrm>
            <a:off x="6888175" y="1828800"/>
            <a:ext cx="4754880" cy="50292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industry_w.png"/>
          <p:cNvPicPr>
            <a:picLocks noChangeAspect="1"/>
          </p:cNvPicPr>
          <p:nvPr/>
        </p:nvPicPr>
        <p:blipFill>
          <a:blip r:embed="rId3"/>
          <a:stretch>
            <a:fillRect/>
          </a:stretch>
        </p:blipFill>
        <p:spPr>
          <a:xfrm>
            <a:off x="7089343" y="1920240"/>
            <a:ext cx="320040" cy="320040"/>
          </a:xfrm>
          <a:prstGeom prst="rect">
            <a:avLst/>
          </a:prstGeom>
        </p:spPr>
      </p:pic>
      <p:sp>
        <p:nvSpPr>
          <p:cNvPr id="12" name="TextBox 11"/>
          <p:cNvSpPr txBox="1"/>
          <p:nvPr/>
        </p:nvSpPr>
        <p:spPr>
          <a:xfrm>
            <a:off x="7573975" y="1828800"/>
            <a:ext cx="3931920" cy="502920"/>
          </a:xfrm>
          <a:prstGeom prst="rect">
            <a:avLst/>
          </a:prstGeom>
          <a:noFill/>
        </p:spPr>
        <p:txBody>
          <a:bodyPr wrap="square" lIns="0" rIns="0" tIns="0" bIns="0" anchor="ctr">
            <a:spAutoFit/>
          </a:bodyPr>
          <a:lstStyle/>
          <a:p>
            <a:pPr algn="l"/>
            <a:r>
              <a:rPr sz="1200" b="1" i="0" spc="200">
                <a:solidFill>
                  <a:srgbClr val="FFFFFF"/>
                </a:solidFill>
                <a:latin typeface="Arial"/>
              </a:rPr>
              <a:t>DESDE ~70 % DE AVANCE</a:t>
            </a:r>
          </a:p>
        </p:txBody>
      </p:sp>
      <p:sp>
        <p:nvSpPr>
          <p:cNvPr id="13" name="Rectangle 12"/>
          <p:cNvSpPr/>
          <p:nvPr/>
        </p:nvSpPr>
        <p:spPr>
          <a:xfrm>
            <a:off x="548640" y="2468880"/>
            <a:ext cx="4754880" cy="56464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77240" y="2468880"/>
            <a:ext cx="4343400" cy="564642"/>
          </a:xfrm>
          <a:prstGeom prst="rect">
            <a:avLst/>
          </a:prstGeom>
          <a:noFill/>
        </p:spPr>
        <p:txBody>
          <a:bodyPr wrap="square" lIns="0" rIns="0" tIns="0" bIns="0" anchor="ctr">
            <a:spAutoFit/>
          </a:bodyPr>
          <a:lstStyle/>
          <a:p>
            <a:pPr algn="l"/>
            <a:r>
              <a:rPr sz="1300" b="0" i="0">
                <a:solidFill>
                  <a:srgbClr val="1A1A1A"/>
                </a:solidFill>
                <a:latin typeface="Arial"/>
              </a:rPr>
              <a:t>Se mide el avance por área y disciplina</a:t>
            </a:r>
          </a:p>
        </p:txBody>
      </p:sp>
      <p:sp>
        <p:nvSpPr>
          <p:cNvPr id="15" name="Rectangle 14"/>
          <p:cNvSpPr/>
          <p:nvPr/>
        </p:nvSpPr>
        <p:spPr>
          <a:xfrm>
            <a:off x="6888175" y="2468880"/>
            <a:ext cx="4754880" cy="56464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116775" y="2468880"/>
            <a:ext cx="4343400" cy="564642"/>
          </a:xfrm>
          <a:prstGeom prst="rect">
            <a:avLst/>
          </a:prstGeom>
          <a:noFill/>
        </p:spPr>
        <p:txBody>
          <a:bodyPr wrap="square" lIns="0" rIns="0" tIns="0" bIns="0" anchor="ctr">
            <a:spAutoFit/>
          </a:bodyPr>
          <a:lstStyle/>
          <a:p>
            <a:pPr algn="l"/>
            <a:r>
              <a:rPr sz="1300" b="0" i="0">
                <a:solidFill>
                  <a:srgbClr val="1A1A1A"/>
                </a:solidFill>
                <a:latin typeface="Arial"/>
              </a:rPr>
              <a:t>Se mide la preparación por sistema</a:t>
            </a:r>
          </a:p>
        </p:txBody>
      </p:sp>
      <p:cxnSp>
        <p:nvCxnSpPr>
          <p:cNvPr id="17" name="Connector 16"/>
          <p:cNvCxnSpPr/>
          <p:nvPr/>
        </p:nvCxnSpPr>
        <p:spPr>
          <a:xfrm>
            <a:off x="5440680" y="2751201"/>
            <a:ext cx="1310335"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48640" y="3161538"/>
            <a:ext cx="4754880" cy="56464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77240" y="3161538"/>
            <a:ext cx="4343400" cy="564642"/>
          </a:xfrm>
          <a:prstGeom prst="rect">
            <a:avLst/>
          </a:prstGeom>
          <a:noFill/>
        </p:spPr>
        <p:txBody>
          <a:bodyPr wrap="square" lIns="0" rIns="0" tIns="0" bIns="0" anchor="ctr">
            <a:spAutoFit/>
          </a:bodyPr>
          <a:lstStyle/>
          <a:p>
            <a:pPr algn="l"/>
            <a:r>
              <a:rPr sz="1300" b="0" i="0">
                <a:solidFill>
                  <a:srgbClr val="1A1A1A"/>
                </a:solidFill>
                <a:latin typeface="Arial"/>
              </a:rPr>
              <a:t>CWP e IWP ordenan el trabajo</a:t>
            </a:r>
          </a:p>
        </p:txBody>
      </p:sp>
      <p:sp>
        <p:nvSpPr>
          <p:cNvPr id="20" name="Rectangle 19"/>
          <p:cNvSpPr/>
          <p:nvPr/>
        </p:nvSpPr>
        <p:spPr>
          <a:xfrm>
            <a:off x="6888175" y="3161538"/>
            <a:ext cx="4754880" cy="56464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116775" y="3161538"/>
            <a:ext cx="4343400" cy="564642"/>
          </a:xfrm>
          <a:prstGeom prst="rect">
            <a:avLst/>
          </a:prstGeom>
          <a:noFill/>
        </p:spPr>
        <p:txBody>
          <a:bodyPr wrap="square" lIns="0" rIns="0" tIns="0" bIns="0" anchor="ctr">
            <a:spAutoFit/>
          </a:bodyPr>
          <a:lstStyle/>
          <a:p>
            <a:pPr algn="l"/>
            <a:r>
              <a:rPr sz="1300" b="0" i="0">
                <a:solidFill>
                  <a:srgbClr val="1A1A1A"/>
                </a:solidFill>
                <a:latin typeface="Arial"/>
              </a:rPr>
              <a:t>El SWP agrupa partes de CWP e IWP por sistema</a:t>
            </a:r>
          </a:p>
        </p:txBody>
      </p:sp>
      <p:cxnSp>
        <p:nvCxnSpPr>
          <p:cNvPr id="22" name="Connector 21"/>
          <p:cNvCxnSpPr/>
          <p:nvPr/>
        </p:nvCxnSpPr>
        <p:spPr>
          <a:xfrm>
            <a:off x="5440680" y="3443859"/>
            <a:ext cx="1310335"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48640" y="3854196"/>
            <a:ext cx="4754880" cy="56464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77240" y="3854196"/>
            <a:ext cx="4343400" cy="564642"/>
          </a:xfrm>
          <a:prstGeom prst="rect">
            <a:avLst/>
          </a:prstGeom>
          <a:noFill/>
        </p:spPr>
        <p:txBody>
          <a:bodyPr wrap="square" lIns="0" rIns="0" tIns="0" bIns="0" anchor="ctr">
            <a:spAutoFit/>
          </a:bodyPr>
          <a:lstStyle/>
          <a:p>
            <a:pPr algn="l"/>
            <a:r>
              <a:rPr sz="1300" b="0" i="0">
                <a:solidFill>
                  <a:srgbClr val="1A1A1A"/>
                </a:solidFill>
                <a:latin typeface="Arial"/>
              </a:rPr>
              <a:t>El POC fija el orden de las áreas</a:t>
            </a:r>
          </a:p>
        </p:txBody>
      </p:sp>
      <p:sp>
        <p:nvSpPr>
          <p:cNvPr id="25" name="Rectangle 24"/>
          <p:cNvSpPr/>
          <p:nvPr/>
        </p:nvSpPr>
        <p:spPr>
          <a:xfrm>
            <a:off x="6888175" y="3854196"/>
            <a:ext cx="4754880" cy="56464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116775" y="3854196"/>
            <a:ext cx="4343400" cy="564642"/>
          </a:xfrm>
          <a:prstGeom prst="rect">
            <a:avLst/>
          </a:prstGeom>
          <a:noFill/>
        </p:spPr>
        <p:txBody>
          <a:bodyPr wrap="square" lIns="0" rIns="0" tIns="0" bIns="0" anchor="ctr">
            <a:spAutoFit/>
          </a:bodyPr>
          <a:lstStyle/>
          <a:p>
            <a:pPr algn="l"/>
            <a:r>
              <a:rPr sz="1300" b="0" i="0">
                <a:solidFill>
                  <a:srgbClr val="1A1A1A"/>
                </a:solidFill>
                <a:latin typeface="Arial"/>
              </a:rPr>
              <a:t>El POC fija también el orden de los sistemas</a:t>
            </a:r>
          </a:p>
        </p:txBody>
      </p:sp>
      <p:cxnSp>
        <p:nvCxnSpPr>
          <p:cNvPr id="27" name="Connector 26"/>
          <p:cNvCxnSpPr/>
          <p:nvPr/>
        </p:nvCxnSpPr>
        <p:spPr>
          <a:xfrm>
            <a:off x="5440680" y="4136517"/>
            <a:ext cx="1310335"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548640" y="4546854"/>
            <a:ext cx="4754880" cy="56464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77240" y="4546854"/>
            <a:ext cx="4343400" cy="564642"/>
          </a:xfrm>
          <a:prstGeom prst="rect">
            <a:avLst/>
          </a:prstGeom>
          <a:noFill/>
        </p:spPr>
        <p:txBody>
          <a:bodyPr wrap="square" lIns="0" rIns="0" tIns="0" bIns="0" anchor="ctr">
            <a:spAutoFit/>
          </a:bodyPr>
          <a:lstStyle/>
          <a:p>
            <a:pPr algn="l"/>
            <a:r>
              <a:rPr sz="1300" b="0" i="0">
                <a:solidFill>
                  <a:srgbClr val="1A1A1A"/>
                </a:solidFill>
                <a:latin typeface="Arial"/>
              </a:rPr>
              <a:t>Meta: productividad en campo</a:t>
            </a:r>
          </a:p>
        </p:txBody>
      </p:sp>
      <p:sp>
        <p:nvSpPr>
          <p:cNvPr id="30" name="Rectangle 29"/>
          <p:cNvSpPr/>
          <p:nvPr/>
        </p:nvSpPr>
        <p:spPr>
          <a:xfrm>
            <a:off x="6888175" y="4546854"/>
            <a:ext cx="4754880" cy="56464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116775" y="4546854"/>
            <a:ext cx="4343400" cy="564642"/>
          </a:xfrm>
          <a:prstGeom prst="rect">
            <a:avLst/>
          </a:prstGeom>
          <a:noFill/>
        </p:spPr>
        <p:txBody>
          <a:bodyPr wrap="square" lIns="0" rIns="0" tIns="0" bIns="0" anchor="ctr">
            <a:spAutoFit/>
          </a:bodyPr>
          <a:lstStyle/>
          <a:p>
            <a:pPr algn="l"/>
            <a:r>
              <a:rPr sz="1300" b="0" i="0">
                <a:solidFill>
                  <a:srgbClr val="1A1A1A"/>
                </a:solidFill>
                <a:latin typeface="Arial"/>
              </a:rPr>
              <a:t>Meta: completamiento y arranque</a:t>
            </a:r>
          </a:p>
        </p:txBody>
      </p:sp>
      <p:cxnSp>
        <p:nvCxnSpPr>
          <p:cNvPr id="32" name="Connector 31"/>
          <p:cNvCxnSpPr/>
          <p:nvPr/>
        </p:nvCxnSpPr>
        <p:spPr>
          <a:xfrm>
            <a:off x="5440680" y="4829175"/>
            <a:ext cx="1310335"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flag_o.png"/>
          <p:cNvPicPr>
            <a:picLocks noChangeAspect="1"/>
          </p:cNvPicPr>
          <p:nvPr/>
        </p:nvPicPr>
        <p:blipFill>
          <a:blip r:embed="rId4"/>
          <a:stretch>
            <a:fillRect/>
          </a:stretch>
        </p:blipFill>
        <p:spPr>
          <a:xfrm>
            <a:off x="822959" y="5660136"/>
            <a:ext cx="365760" cy="365760"/>
          </a:xfrm>
          <a:prstGeom prst="rect">
            <a:avLst/>
          </a:prstGeom>
        </p:spPr>
      </p:pic>
      <p:sp>
        <p:nvSpPr>
          <p:cNvPr id="35" name="TextBox 34"/>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Adelante la vista por sistemas para detectar faltantes antes del arranque.</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7 · SISTEMAS EN EL POC</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El Path of Construction debe mirar la secuencia de sistemas</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M7 · FASE 4: PUESTA EN MARCHA Y ENTREGA</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077</a:t>
            </a:r>
          </a:p>
        </p:txBody>
      </p:sp>
      <p:sp>
        <p:nvSpPr>
          <p:cNvPr id="7" name="Oval 6"/>
          <p:cNvSpPr/>
          <p:nvPr/>
        </p:nvSpPr>
        <p:spPr>
          <a:xfrm>
            <a:off x="1132301" y="2514600"/>
            <a:ext cx="1051560" cy="1051560"/>
          </a:xfrm>
          <a:prstGeom prst="ellipse">
            <a:avLst/>
          </a:prstGeom>
          <a:solidFill>
            <a:srgbClr val="CC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industry_w.png"/>
          <p:cNvPicPr>
            <a:picLocks noChangeAspect="1"/>
          </p:cNvPicPr>
          <p:nvPr/>
        </p:nvPicPr>
        <p:blipFill>
          <a:blip r:embed="rId2"/>
          <a:stretch>
            <a:fillRect/>
          </a:stretch>
        </p:blipFill>
        <p:spPr>
          <a:xfrm>
            <a:off x="1384675" y="2766974"/>
            <a:ext cx="546811" cy="546811"/>
          </a:xfrm>
          <a:prstGeom prst="rect">
            <a:avLst/>
          </a:prstGeom>
        </p:spPr>
      </p:pic>
      <p:sp>
        <p:nvSpPr>
          <p:cNvPr id="9" name="TextBox 8"/>
          <p:cNvSpPr txBox="1"/>
          <p:nvPr/>
        </p:nvSpPr>
        <p:spPr>
          <a:xfrm>
            <a:off x="640079" y="3749039"/>
            <a:ext cx="2036003" cy="566928"/>
          </a:xfrm>
          <a:prstGeom prst="rect">
            <a:avLst/>
          </a:prstGeom>
          <a:noFill/>
        </p:spPr>
        <p:txBody>
          <a:bodyPr wrap="square" lIns="0" rIns="0" tIns="0" bIns="0" anchor="t">
            <a:spAutoFit/>
          </a:bodyPr>
          <a:lstStyle/>
          <a:p>
            <a:pPr algn="ctr">
              <a:lnSpc>
                <a:spcPct val="95000"/>
              </a:lnSpc>
            </a:pPr>
            <a:r>
              <a:rPr sz="1400" b="1" i="0">
                <a:solidFill>
                  <a:srgbClr val="1A1A1A"/>
                </a:solidFill>
                <a:latin typeface="Arial"/>
              </a:rPr>
              <a:t>Operaciones</a:t>
            </a:r>
          </a:p>
        </p:txBody>
      </p:sp>
      <p:sp>
        <p:nvSpPr>
          <p:cNvPr id="10" name="TextBox 9"/>
          <p:cNvSpPr txBox="1"/>
          <p:nvPr/>
        </p:nvSpPr>
        <p:spPr>
          <a:xfrm>
            <a:off x="658367" y="4343400"/>
            <a:ext cx="1999427" cy="1143000"/>
          </a:xfrm>
          <a:prstGeom prst="rect">
            <a:avLst/>
          </a:prstGeom>
          <a:noFill/>
        </p:spPr>
        <p:txBody>
          <a:bodyPr wrap="square" lIns="0" rIns="0" tIns="0" bIns="0" anchor="t">
            <a:spAutoFit/>
          </a:bodyPr>
          <a:lstStyle/>
          <a:p>
            <a:pPr algn="ctr">
              <a:lnSpc>
                <a:spcPct val="105000"/>
              </a:lnSpc>
            </a:pPr>
            <a:r>
              <a:rPr sz="1150" b="0" i="0">
                <a:solidFill>
                  <a:srgbClr val="6D6E71"/>
                </a:solidFill>
                <a:latin typeface="Arial"/>
              </a:rPr>
              <a:t>Define las prioridades de arranque</a:t>
            </a:r>
          </a:p>
        </p:txBody>
      </p:sp>
      <p:cxnSp>
        <p:nvCxnSpPr>
          <p:cNvPr id="11" name="Connector 10"/>
          <p:cNvCxnSpPr/>
          <p:nvPr/>
        </p:nvCxnSpPr>
        <p:spPr>
          <a:xfrm>
            <a:off x="2275301" y="3040380"/>
            <a:ext cx="984443" cy="0"/>
          </a:xfrm>
          <a:prstGeom prst="line">
            <a:avLst/>
          </a:prstGeom>
          <a:ln w="22225">
            <a:solidFill>
              <a:srgbClr val="6D6E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3351184" y="2514600"/>
            <a:ext cx="1051560" cy="105156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route_w.png"/>
          <p:cNvPicPr>
            <a:picLocks noChangeAspect="1"/>
          </p:cNvPicPr>
          <p:nvPr/>
        </p:nvPicPr>
        <p:blipFill>
          <a:blip r:embed="rId3"/>
          <a:stretch>
            <a:fillRect/>
          </a:stretch>
        </p:blipFill>
        <p:spPr>
          <a:xfrm>
            <a:off x="3603558" y="2766974"/>
            <a:ext cx="546811" cy="546811"/>
          </a:xfrm>
          <a:prstGeom prst="rect">
            <a:avLst/>
          </a:prstGeom>
        </p:spPr>
      </p:pic>
      <p:sp>
        <p:nvSpPr>
          <p:cNvPr id="14" name="TextBox 13"/>
          <p:cNvSpPr txBox="1"/>
          <p:nvPr/>
        </p:nvSpPr>
        <p:spPr>
          <a:xfrm>
            <a:off x="2858963" y="3749039"/>
            <a:ext cx="2036003" cy="566928"/>
          </a:xfrm>
          <a:prstGeom prst="rect">
            <a:avLst/>
          </a:prstGeom>
          <a:noFill/>
        </p:spPr>
        <p:txBody>
          <a:bodyPr wrap="square" lIns="0" rIns="0" tIns="0" bIns="0" anchor="t">
            <a:spAutoFit/>
          </a:bodyPr>
          <a:lstStyle/>
          <a:p>
            <a:pPr algn="ctr">
              <a:lnSpc>
                <a:spcPct val="95000"/>
              </a:lnSpc>
            </a:pPr>
            <a:r>
              <a:rPr sz="1400" b="1" i="0">
                <a:solidFill>
                  <a:srgbClr val="1A1A1A"/>
                </a:solidFill>
                <a:latin typeface="Arial"/>
              </a:rPr>
              <a:t>POC</a:t>
            </a:r>
          </a:p>
        </p:txBody>
      </p:sp>
      <p:sp>
        <p:nvSpPr>
          <p:cNvPr id="15" name="TextBox 14"/>
          <p:cNvSpPr txBox="1"/>
          <p:nvPr/>
        </p:nvSpPr>
        <p:spPr>
          <a:xfrm>
            <a:off x="2877251" y="4343400"/>
            <a:ext cx="1999427" cy="1143000"/>
          </a:xfrm>
          <a:prstGeom prst="rect">
            <a:avLst/>
          </a:prstGeom>
          <a:noFill/>
        </p:spPr>
        <p:txBody>
          <a:bodyPr wrap="square" lIns="0" rIns="0" tIns="0" bIns="0" anchor="t">
            <a:spAutoFit/>
          </a:bodyPr>
          <a:lstStyle/>
          <a:p>
            <a:pPr algn="ctr">
              <a:lnSpc>
                <a:spcPct val="105000"/>
              </a:lnSpc>
            </a:pPr>
            <a:r>
              <a:rPr sz="1150" b="0" i="0">
                <a:solidFill>
                  <a:srgbClr val="6D6E71"/>
                </a:solidFill>
                <a:latin typeface="Arial"/>
              </a:rPr>
              <a:t>Ordena las áreas pensando en los sistemas</a:t>
            </a:r>
          </a:p>
        </p:txBody>
      </p:sp>
      <p:cxnSp>
        <p:nvCxnSpPr>
          <p:cNvPr id="16" name="Connector 15"/>
          <p:cNvCxnSpPr/>
          <p:nvPr/>
        </p:nvCxnSpPr>
        <p:spPr>
          <a:xfrm>
            <a:off x="4494184" y="3040380"/>
            <a:ext cx="984443" cy="0"/>
          </a:xfrm>
          <a:prstGeom prst="line">
            <a:avLst/>
          </a:prstGeom>
          <a:ln w="22225">
            <a:solidFill>
              <a:srgbClr val="6D6E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5570067" y="2514600"/>
            <a:ext cx="1051560" cy="105156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lip_w.png"/>
          <p:cNvPicPr>
            <a:picLocks noChangeAspect="1"/>
          </p:cNvPicPr>
          <p:nvPr/>
        </p:nvPicPr>
        <p:blipFill>
          <a:blip r:embed="rId4"/>
          <a:stretch>
            <a:fillRect/>
          </a:stretch>
        </p:blipFill>
        <p:spPr>
          <a:xfrm>
            <a:off x="5822442" y="2766974"/>
            <a:ext cx="546811" cy="546811"/>
          </a:xfrm>
          <a:prstGeom prst="rect">
            <a:avLst/>
          </a:prstGeom>
        </p:spPr>
      </p:pic>
      <p:sp>
        <p:nvSpPr>
          <p:cNvPr id="19" name="TextBox 18"/>
          <p:cNvSpPr txBox="1"/>
          <p:nvPr/>
        </p:nvSpPr>
        <p:spPr>
          <a:xfrm>
            <a:off x="5077846" y="3749039"/>
            <a:ext cx="2036003" cy="566928"/>
          </a:xfrm>
          <a:prstGeom prst="rect">
            <a:avLst/>
          </a:prstGeom>
          <a:noFill/>
        </p:spPr>
        <p:txBody>
          <a:bodyPr wrap="square" lIns="0" rIns="0" tIns="0" bIns="0" anchor="t">
            <a:spAutoFit/>
          </a:bodyPr>
          <a:lstStyle/>
          <a:p>
            <a:pPr algn="ctr">
              <a:lnSpc>
                <a:spcPct val="95000"/>
              </a:lnSpc>
            </a:pPr>
            <a:r>
              <a:rPr sz="1400" b="1" i="0">
                <a:solidFill>
                  <a:srgbClr val="1A1A1A"/>
                </a:solidFill>
                <a:latin typeface="Arial"/>
              </a:rPr>
              <a:t>IWP</a:t>
            </a:r>
          </a:p>
        </p:txBody>
      </p:sp>
      <p:sp>
        <p:nvSpPr>
          <p:cNvPr id="20" name="TextBox 19"/>
          <p:cNvSpPr txBox="1"/>
          <p:nvPr/>
        </p:nvSpPr>
        <p:spPr>
          <a:xfrm>
            <a:off x="5096134" y="4343400"/>
            <a:ext cx="1999427" cy="1143000"/>
          </a:xfrm>
          <a:prstGeom prst="rect">
            <a:avLst/>
          </a:prstGeom>
          <a:noFill/>
        </p:spPr>
        <p:txBody>
          <a:bodyPr wrap="square" lIns="0" rIns="0" tIns="0" bIns="0" anchor="t">
            <a:spAutoFit/>
          </a:bodyPr>
          <a:lstStyle/>
          <a:p>
            <a:pPr algn="ctr">
              <a:lnSpc>
                <a:spcPct val="105000"/>
              </a:lnSpc>
            </a:pPr>
            <a:r>
              <a:rPr sz="1150" b="0" i="0">
                <a:solidFill>
                  <a:srgbClr val="6D6E71"/>
                </a:solidFill>
                <a:latin typeface="Arial"/>
              </a:rPr>
              <a:t>Se completan en ese orden</a:t>
            </a:r>
          </a:p>
        </p:txBody>
      </p:sp>
      <p:cxnSp>
        <p:nvCxnSpPr>
          <p:cNvPr id="21" name="Connector 20"/>
          <p:cNvCxnSpPr/>
          <p:nvPr/>
        </p:nvCxnSpPr>
        <p:spPr>
          <a:xfrm>
            <a:off x="6713067" y="3040380"/>
            <a:ext cx="984443" cy="0"/>
          </a:xfrm>
          <a:prstGeom prst="line">
            <a:avLst/>
          </a:prstGeom>
          <a:ln w="22225">
            <a:solidFill>
              <a:srgbClr val="6D6E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7788950" y="2514600"/>
            <a:ext cx="1051560" cy="1051560"/>
          </a:xfrm>
          <a:prstGeom prst="ellipse">
            <a:avLst/>
          </a:prstGeom>
          <a:solidFill>
            <a:srgbClr val="0078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layers_w.png"/>
          <p:cNvPicPr>
            <a:picLocks noChangeAspect="1"/>
          </p:cNvPicPr>
          <p:nvPr/>
        </p:nvPicPr>
        <p:blipFill>
          <a:blip r:embed="rId5"/>
          <a:stretch>
            <a:fillRect/>
          </a:stretch>
        </p:blipFill>
        <p:spPr>
          <a:xfrm>
            <a:off x="8041325" y="2766974"/>
            <a:ext cx="546811" cy="546811"/>
          </a:xfrm>
          <a:prstGeom prst="rect">
            <a:avLst/>
          </a:prstGeom>
        </p:spPr>
      </p:pic>
      <p:sp>
        <p:nvSpPr>
          <p:cNvPr id="24" name="TextBox 23"/>
          <p:cNvSpPr txBox="1"/>
          <p:nvPr/>
        </p:nvSpPr>
        <p:spPr>
          <a:xfrm>
            <a:off x="7296729" y="3749039"/>
            <a:ext cx="2036003" cy="566928"/>
          </a:xfrm>
          <a:prstGeom prst="rect">
            <a:avLst/>
          </a:prstGeom>
          <a:noFill/>
        </p:spPr>
        <p:txBody>
          <a:bodyPr wrap="square" lIns="0" rIns="0" tIns="0" bIns="0" anchor="t">
            <a:spAutoFit/>
          </a:bodyPr>
          <a:lstStyle/>
          <a:p>
            <a:pPr algn="ctr">
              <a:lnSpc>
                <a:spcPct val="95000"/>
              </a:lnSpc>
            </a:pPr>
            <a:r>
              <a:rPr sz="1400" b="1" i="0">
                <a:solidFill>
                  <a:srgbClr val="1A1A1A"/>
                </a:solidFill>
                <a:latin typeface="Arial"/>
              </a:rPr>
              <a:t>SWP</a:t>
            </a:r>
          </a:p>
        </p:txBody>
      </p:sp>
      <p:sp>
        <p:nvSpPr>
          <p:cNvPr id="25" name="TextBox 24"/>
          <p:cNvSpPr txBox="1"/>
          <p:nvPr/>
        </p:nvSpPr>
        <p:spPr>
          <a:xfrm>
            <a:off x="7315017" y="4343400"/>
            <a:ext cx="1999427" cy="1143000"/>
          </a:xfrm>
          <a:prstGeom prst="rect">
            <a:avLst/>
          </a:prstGeom>
          <a:noFill/>
        </p:spPr>
        <p:txBody>
          <a:bodyPr wrap="square" lIns="0" rIns="0" tIns="0" bIns="0" anchor="t">
            <a:spAutoFit/>
          </a:bodyPr>
          <a:lstStyle/>
          <a:p>
            <a:pPr algn="ctr">
              <a:lnSpc>
                <a:spcPct val="105000"/>
              </a:lnSpc>
            </a:pPr>
            <a:r>
              <a:rPr sz="1150" b="0" i="0">
                <a:solidFill>
                  <a:srgbClr val="6D6E71"/>
                </a:solidFill>
                <a:latin typeface="Arial"/>
              </a:rPr>
              <a:t>Agrupan lo terminado por sistema</a:t>
            </a:r>
          </a:p>
        </p:txBody>
      </p:sp>
      <p:cxnSp>
        <p:nvCxnSpPr>
          <p:cNvPr id="26" name="Connector 25"/>
          <p:cNvCxnSpPr/>
          <p:nvPr/>
        </p:nvCxnSpPr>
        <p:spPr>
          <a:xfrm>
            <a:off x="8931950" y="3040380"/>
            <a:ext cx="984443" cy="0"/>
          </a:xfrm>
          <a:prstGeom prst="line">
            <a:avLst/>
          </a:prstGeom>
          <a:ln w="22225">
            <a:solidFill>
              <a:srgbClr val="6D6E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10007833" y="2514600"/>
            <a:ext cx="1051560" cy="1051560"/>
          </a:xfrm>
          <a:prstGeom prst="ellipse">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lag_w.png"/>
          <p:cNvPicPr>
            <a:picLocks noChangeAspect="1"/>
          </p:cNvPicPr>
          <p:nvPr/>
        </p:nvPicPr>
        <p:blipFill>
          <a:blip r:embed="rId6"/>
          <a:stretch>
            <a:fillRect/>
          </a:stretch>
        </p:blipFill>
        <p:spPr>
          <a:xfrm>
            <a:off x="10260208" y="2766974"/>
            <a:ext cx="546811" cy="546811"/>
          </a:xfrm>
          <a:prstGeom prst="rect">
            <a:avLst/>
          </a:prstGeom>
        </p:spPr>
      </p:pic>
      <p:sp>
        <p:nvSpPr>
          <p:cNvPr id="29" name="TextBox 28"/>
          <p:cNvSpPr txBox="1"/>
          <p:nvPr/>
        </p:nvSpPr>
        <p:spPr>
          <a:xfrm>
            <a:off x="9515612" y="3749039"/>
            <a:ext cx="2036003" cy="566928"/>
          </a:xfrm>
          <a:prstGeom prst="rect">
            <a:avLst/>
          </a:prstGeom>
          <a:noFill/>
        </p:spPr>
        <p:txBody>
          <a:bodyPr wrap="square" lIns="0" rIns="0" tIns="0" bIns="0" anchor="t">
            <a:spAutoFit/>
          </a:bodyPr>
          <a:lstStyle/>
          <a:p>
            <a:pPr algn="ctr">
              <a:lnSpc>
                <a:spcPct val="95000"/>
              </a:lnSpc>
            </a:pPr>
            <a:r>
              <a:rPr sz="1400" b="1" i="0">
                <a:solidFill>
                  <a:srgbClr val="1A1A1A"/>
                </a:solidFill>
                <a:latin typeface="Arial"/>
              </a:rPr>
              <a:t>TOP</a:t>
            </a:r>
          </a:p>
        </p:txBody>
      </p:sp>
      <p:sp>
        <p:nvSpPr>
          <p:cNvPr id="30" name="TextBox 29"/>
          <p:cNvSpPr txBox="1"/>
          <p:nvPr/>
        </p:nvSpPr>
        <p:spPr>
          <a:xfrm>
            <a:off x="9533900" y="4343400"/>
            <a:ext cx="1999427" cy="1143000"/>
          </a:xfrm>
          <a:prstGeom prst="rect">
            <a:avLst/>
          </a:prstGeom>
          <a:noFill/>
        </p:spPr>
        <p:txBody>
          <a:bodyPr wrap="square" lIns="0" rIns="0" tIns="0" bIns="0" anchor="t">
            <a:spAutoFit/>
          </a:bodyPr>
          <a:lstStyle/>
          <a:p>
            <a:pPr algn="ctr">
              <a:lnSpc>
                <a:spcPct val="105000"/>
              </a:lnSpc>
            </a:pPr>
            <a:r>
              <a:rPr sz="1150" b="0" i="0">
                <a:solidFill>
                  <a:srgbClr val="6D6E71"/>
                </a:solidFill>
                <a:latin typeface="Arial"/>
              </a:rPr>
              <a:t>Sistema listo para entregar</a:t>
            </a:r>
          </a:p>
        </p:txBody>
      </p:sp>
      <p:sp>
        <p:nvSpPr>
          <p:cNvPr id="31" name="Rectangle 30"/>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flag_o.png"/>
          <p:cNvPicPr>
            <a:picLocks noChangeAspect="1"/>
          </p:cNvPicPr>
          <p:nvPr/>
        </p:nvPicPr>
        <p:blipFill>
          <a:blip r:embed="rId7"/>
          <a:stretch>
            <a:fillRect/>
          </a:stretch>
        </p:blipFill>
        <p:spPr>
          <a:xfrm>
            <a:off x="822959" y="5660136"/>
            <a:ext cx="365760" cy="365760"/>
          </a:xfrm>
          <a:prstGeom prst="rect">
            <a:avLst/>
          </a:prstGeom>
        </p:spPr>
      </p:pic>
      <p:sp>
        <p:nvSpPr>
          <p:cNvPr id="33" name="TextBox 32"/>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Operaciones y comisionamiento deben participar en los talleres del POC desde FEL 2.</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7 · ENTREGA</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El TOP documenta que el sistema está listo para operar</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M7 · FASE 4: PUESTA EN MARCHA Y ENTREGA</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078</a:t>
            </a:r>
          </a:p>
        </p:txBody>
      </p:sp>
      <p:sp>
        <p:nvSpPr>
          <p:cNvPr id="7" name="Rectangle 6"/>
          <p:cNvSpPr/>
          <p:nvPr/>
        </p:nvSpPr>
        <p:spPr>
          <a:xfrm>
            <a:off x="548640" y="1874519"/>
            <a:ext cx="2567863"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1</a:t>
            </a:r>
          </a:p>
        </p:txBody>
      </p:sp>
      <p:pic>
        <p:nvPicPr>
          <p:cNvPr id="10" name="Picture 9" descr="clipcheck_o.png"/>
          <p:cNvPicPr>
            <a:picLocks noChangeAspect="1"/>
          </p:cNvPicPr>
          <p:nvPr/>
        </p:nvPicPr>
        <p:blipFill>
          <a:blip r:embed="rId2"/>
          <a:stretch>
            <a:fillRect/>
          </a:stretch>
        </p:blipFill>
        <p:spPr>
          <a:xfrm>
            <a:off x="2458135" y="2148839"/>
            <a:ext cx="420624" cy="420624"/>
          </a:xfrm>
          <a:prstGeom prst="rect">
            <a:avLst/>
          </a:prstGeom>
        </p:spPr>
      </p:pic>
      <p:sp>
        <p:nvSpPr>
          <p:cNvPr id="11" name="TextBox 10"/>
          <p:cNvSpPr txBox="1"/>
          <p:nvPr/>
        </p:nvSpPr>
        <p:spPr>
          <a:xfrm>
            <a:off x="777240"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Completamiento mecánico</a:t>
            </a:r>
          </a:p>
        </p:txBody>
      </p:sp>
      <p:sp>
        <p:nvSpPr>
          <p:cNvPr id="12" name="TextBox 11"/>
          <p:cNvSpPr txBox="1"/>
          <p:nvPr/>
        </p:nvSpPr>
        <p:spPr>
          <a:xfrm>
            <a:off x="777240" y="3429000"/>
            <a:ext cx="2156383"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Verificación progresiva de lo construido</a:t>
            </a:r>
          </a:p>
        </p:txBody>
      </p:sp>
      <p:cxnSp>
        <p:nvCxnSpPr>
          <p:cNvPr id="13" name="Connector 12"/>
          <p:cNvCxnSpPr/>
          <p:nvPr/>
        </p:nvCxnSpPr>
        <p:spPr>
          <a:xfrm>
            <a:off x="3153079" y="3291839"/>
            <a:ext cx="201168"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3390823" y="1874519"/>
            <a:ext cx="2567863"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3619423"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619423"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2</a:t>
            </a:r>
          </a:p>
        </p:txBody>
      </p:sp>
      <p:pic>
        <p:nvPicPr>
          <p:cNvPr id="17" name="Picture 16" descr="search_o.png"/>
          <p:cNvPicPr>
            <a:picLocks noChangeAspect="1"/>
          </p:cNvPicPr>
          <p:nvPr/>
        </p:nvPicPr>
        <p:blipFill>
          <a:blip r:embed="rId3"/>
          <a:stretch>
            <a:fillRect/>
          </a:stretch>
        </p:blipFill>
        <p:spPr>
          <a:xfrm>
            <a:off x="5300319" y="2148839"/>
            <a:ext cx="420624" cy="420624"/>
          </a:xfrm>
          <a:prstGeom prst="rect">
            <a:avLst/>
          </a:prstGeom>
        </p:spPr>
      </p:pic>
      <p:sp>
        <p:nvSpPr>
          <p:cNvPr id="18" name="TextBox 17"/>
          <p:cNvSpPr txBox="1"/>
          <p:nvPr/>
        </p:nvSpPr>
        <p:spPr>
          <a:xfrm>
            <a:off x="3619423"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Pruebas (TWP)</a:t>
            </a:r>
          </a:p>
        </p:txBody>
      </p:sp>
      <p:sp>
        <p:nvSpPr>
          <p:cNvPr id="19" name="TextBox 18"/>
          <p:cNvSpPr txBox="1"/>
          <p:nvPr/>
        </p:nvSpPr>
        <p:spPr>
          <a:xfrm>
            <a:off x="3619423" y="3429000"/>
            <a:ext cx="2156383"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Test Work Package: inspecciones y pruebas previas</a:t>
            </a:r>
          </a:p>
        </p:txBody>
      </p:sp>
      <p:cxnSp>
        <p:nvCxnSpPr>
          <p:cNvPr id="20" name="Connector 19"/>
          <p:cNvCxnSpPr/>
          <p:nvPr/>
        </p:nvCxnSpPr>
        <p:spPr>
          <a:xfrm>
            <a:off x="5995263" y="3291839"/>
            <a:ext cx="201168"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233007" y="1874519"/>
            <a:ext cx="2567863"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6461607"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461607"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3</a:t>
            </a:r>
          </a:p>
        </p:txBody>
      </p:sp>
      <p:pic>
        <p:nvPicPr>
          <p:cNvPr id="24" name="Picture 23" descr="key_o.png"/>
          <p:cNvPicPr>
            <a:picLocks noChangeAspect="1"/>
          </p:cNvPicPr>
          <p:nvPr/>
        </p:nvPicPr>
        <p:blipFill>
          <a:blip r:embed="rId4"/>
          <a:stretch>
            <a:fillRect/>
          </a:stretch>
        </p:blipFill>
        <p:spPr>
          <a:xfrm>
            <a:off x="8142503" y="2148839"/>
            <a:ext cx="420624" cy="420624"/>
          </a:xfrm>
          <a:prstGeom prst="rect">
            <a:avLst/>
          </a:prstGeom>
        </p:spPr>
      </p:pic>
      <p:sp>
        <p:nvSpPr>
          <p:cNvPr id="25" name="TextBox 24"/>
          <p:cNvSpPr txBox="1"/>
          <p:nvPr/>
        </p:nvSpPr>
        <p:spPr>
          <a:xfrm>
            <a:off x="6461607"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RFCC</a:t>
            </a:r>
          </a:p>
        </p:txBody>
      </p:sp>
      <p:sp>
        <p:nvSpPr>
          <p:cNvPr id="26" name="TextBox 25"/>
          <p:cNvSpPr txBox="1"/>
          <p:nvPr/>
        </p:nvSpPr>
        <p:spPr>
          <a:xfrm>
            <a:off x="6461607" y="3429000"/>
            <a:ext cx="2156383"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Ready for Commissioning: listo para comisionar</a:t>
            </a:r>
          </a:p>
        </p:txBody>
      </p:sp>
      <p:cxnSp>
        <p:nvCxnSpPr>
          <p:cNvPr id="27" name="Connector 26"/>
          <p:cNvCxnSpPr/>
          <p:nvPr/>
        </p:nvCxnSpPr>
        <p:spPr>
          <a:xfrm>
            <a:off x="8837447" y="3291839"/>
            <a:ext cx="201168"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9075191" y="1874519"/>
            <a:ext cx="2567863"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9303791"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303791"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4</a:t>
            </a:r>
          </a:p>
        </p:txBody>
      </p:sp>
      <p:pic>
        <p:nvPicPr>
          <p:cNvPr id="31" name="Picture 30" descr="industry_o.png"/>
          <p:cNvPicPr>
            <a:picLocks noChangeAspect="1"/>
          </p:cNvPicPr>
          <p:nvPr/>
        </p:nvPicPr>
        <p:blipFill>
          <a:blip r:embed="rId5"/>
          <a:stretch>
            <a:fillRect/>
          </a:stretch>
        </p:blipFill>
        <p:spPr>
          <a:xfrm>
            <a:off x="10984687" y="2148839"/>
            <a:ext cx="420624" cy="420624"/>
          </a:xfrm>
          <a:prstGeom prst="rect">
            <a:avLst/>
          </a:prstGeom>
        </p:spPr>
      </p:pic>
      <p:sp>
        <p:nvSpPr>
          <p:cNvPr id="32" name="TextBox 31"/>
          <p:cNvSpPr txBox="1"/>
          <p:nvPr/>
        </p:nvSpPr>
        <p:spPr>
          <a:xfrm>
            <a:off x="9303791"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RFOC</a:t>
            </a:r>
          </a:p>
        </p:txBody>
      </p:sp>
      <p:sp>
        <p:nvSpPr>
          <p:cNvPr id="33" name="TextBox 32"/>
          <p:cNvSpPr txBox="1"/>
          <p:nvPr/>
        </p:nvSpPr>
        <p:spPr>
          <a:xfrm>
            <a:off x="9303791" y="3429000"/>
            <a:ext cx="2156383"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Ready for Operation: el sistema pasa a Operaciones</a:t>
            </a:r>
          </a:p>
        </p:txBody>
      </p:sp>
      <p:sp>
        <p:nvSpPr>
          <p:cNvPr id="34" name="Rectangle 33"/>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flag_o.png"/>
          <p:cNvPicPr>
            <a:picLocks noChangeAspect="1"/>
          </p:cNvPicPr>
          <p:nvPr/>
        </p:nvPicPr>
        <p:blipFill>
          <a:blip r:embed="rId6"/>
          <a:stretch>
            <a:fillRect/>
          </a:stretch>
        </p:blipFill>
        <p:spPr>
          <a:xfrm>
            <a:off x="822959" y="5660136"/>
            <a:ext cx="365760" cy="365760"/>
          </a:xfrm>
          <a:prstGeom prst="rect">
            <a:avLst/>
          </a:prstGeom>
        </p:spPr>
      </p:pic>
      <p:sp>
        <p:nvSpPr>
          <p:cNvPr id="36" name="TextBox 35"/>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Cada certificado se vincula a su SWP; el CII todavía está definiendo el TOP (RT-364).</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7 · ENTREGABLES</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Entregables de la Fase 4: la lista de verificación</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M7 · FASE 4: PUESTA EN MARCHA Y ENTREGA</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079</a:t>
            </a:r>
          </a:p>
        </p:txBody>
      </p:sp>
      <p:sp>
        <p:nvSpPr>
          <p:cNvPr id="7" name="Rectangle 6"/>
          <p:cNvSpPr/>
          <p:nvPr/>
        </p:nvSpPr>
        <p:spPr>
          <a:xfrm>
            <a:off x="548640" y="1828800"/>
            <a:ext cx="3017520" cy="43434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lipcheck_o.png"/>
          <p:cNvPicPr>
            <a:picLocks noChangeAspect="1"/>
          </p:cNvPicPr>
          <p:nvPr/>
        </p:nvPicPr>
        <p:blipFill>
          <a:blip r:embed="rId2"/>
          <a:stretch>
            <a:fillRect/>
          </a:stretch>
        </p:blipFill>
        <p:spPr>
          <a:xfrm>
            <a:off x="868680" y="2194560"/>
            <a:ext cx="548640" cy="548640"/>
          </a:xfrm>
          <a:prstGeom prst="rect">
            <a:avLst/>
          </a:prstGeom>
        </p:spPr>
      </p:pic>
      <p:sp>
        <p:nvSpPr>
          <p:cNvPr id="9" name="TextBox 8"/>
          <p:cNvSpPr txBox="1"/>
          <p:nvPr/>
        </p:nvSpPr>
        <p:spPr>
          <a:xfrm>
            <a:off x="868680" y="2971800"/>
            <a:ext cx="2468879" cy="274320"/>
          </a:xfrm>
          <a:prstGeom prst="rect">
            <a:avLst/>
          </a:prstGeom>
          <a:noFill/>
        </p:spPr>
        <p:txBody>
          <a:bodyPr wrap="square" lIns="0" rIns="0" tIns="0" bIns="0" anchor="t">
            <a:spAutoFit/>
          </a:bodyPr>
          <a:lstStyle/>
          <a:p>
            <a:pPr algn="l"/>
            <a:r>
              <a:rPr sz="1100" b="1" i="0" spc="200">
                <a:solidFill>
                  <a:srgbClr val="FF6600"/>
                </a:solidFill>
                <a:latin typeface="Arial"/>
              </a:rPr>
              <a:t>ENTREGABLES</a:t>
            </a:r>
          </a:p>
        </p:txBody>
      </p:sp>
      <p:sp>
        <p:nvSpPr>
          <p:cNvPr id="10" name="TextBox 9"/>
          <p:cNvSpPr txBox="1"/>
          <p:nvPr/>
        </p:nvSpPr>
        <p:spPr>
          <a:xfrm>
            <a:off x="868680" y="3291840"/>
            <a:ext cx="2468879" cy="1188720"/>
          </a:xfrm>
          <a:prstGeom prst="rect">
            <a:avLst/>
          </a:prstGeom>
          <a:noFill/>
        </p:spPr>
        <p:txBody>
          <a:bodyPr wrap="square" lIns="0" rIns="0" tIns="0" bIns="0" anchor="t">
            <a:spAutoFit/>
          </a:bodyPr>
          <a:lstStyle/>
          <a:p>
            <a:pPr algn="l">
              <a:lnSpc>
                <a:spcPct val="95000"/>
              </a:lnSpc>
            </a:pPr>
            <a:r>
              <a:rPr sz="2200" b="1" i="0">
                <a:solidFill>
                  <a:srgbClr val="FFFFFF"/>
                </a:solidFill>
                <a:latin typeface="Arial"/>
              </a:rPr>
              <a:t>Fase 4 · Puesta en marcha y entrega</a:t>
            </a:r>
          </a:p>
        </p:txBody>
      </p:sp>
      <p:sp>
        <p:nvSpPr>
          <p:cNvPr id="11" name="TextBox 10"/>
          <p:cNvSpPr txBox="1"/>
          <p:nvPr/>
        </p:nvSpPr>
        <p:spPr>
          <a:xfrm>
            <a:off x="868680" y="4754880"/>
            <a:ext cx="2468879" cy="1188720"/>
          </a:xfrm>
          <a:prstGeom prst="rect">
            <a:avLst/>
          </a:prstGeom>
          <a:noFill/>
        </p:spPr>
        <p:txBody>
          <a:bodyPr wrap="square" lIns="0" rIns="0" tIns="0" bIns="0" anchor="b">
            <a:spAutoFit/>
          </a:bodyPr>
          <a:lstStyle/>
          <a:p>
            <a:pPr algn="l">
              <a:lnSpc>
                <a:spcPct val="110000"/>
              </a:lnSpc>
            </a:pPr>
            <a:r>
              <a:rPr sz="1200" b="0" i="0">
                <a:solidFill>
                  <a:srgbClr val="BCBEC0"/>
                </a:solidFill>
                <a:latin typeface="Arial"/>
              </a:rPr>
              <a:t>La entrega cierra el ciclo: los datos de este proyecto alimentan el siguiente.</a:t>
            </a:r>
          </a:p>
        </p:txBody>
      </p:sp>
      <p:sp>
        <p:nvSpPr>
          <p:cNvPr id="12" name="Rectangle 11"/>
          <p:cNvSpPr/>
          <p:nvPr/>
        </p:nvSpPr>
        <p:spPr>
          <a:xfrm>
            <a:off x="3886200" y="1865376"/>
            <a:ext cx="7756855" cy="585216"/>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check_o.png"/>
          <p:cNvPicPr>
            <a:picLocks noChangeAspect="1"/>
          </p:cNvPicPr>
          <p:nvPr/>
        </p:nvPicPr>
        <p:blipFill>
          <a:blip r:embed="rId3"/>
          <a:stretch>
            <a:fillRect/>
          </a:stretch>
        </p:blipFill>
        <p:spPr>
          <a:xfrm>
            <a:off x="4087368" y="2002536"/>
            <a:ext cx="310896" cy="310896"/>
          </a:xfrm>
          <a:prstGeom prst="rect">
            <a:avLst/>
          </a:prstGeom>
        </p:spPr>
      </p:pic>
      <p:sp>
        <p:nvSpPr>
          <p:cNvPr id="14" name="TextBox 13"/>
          <p:cNvSpPr txBox="1"/>
          <p:nvPr/>
        </p:nvSpPr>
        <p:spPr>
          <a:xfrm>
            <a:off x="4572000" y="1865376"/>
            <a:ext cx="6888175" cy="585216"/>
          </a:xfrm>
          <a:prstGeom prst="rect">
            <a:avLst/>
          </a:prstGeom>
          <a:noFill/>
        </p:spPr>
        <p:txBody>
          <a:bodyPr wrap="square" lIns="0" rIns="0" tIns="0" bIns="0" anchor="ctr">
            <a:spAutoFit/>
          </a:bodyPr>
          <a:lstStyle/>
          <a:p>
            <a:pPr algn="l"/>
            <a:r>
              <a:rPr sz="1350" b="1" i="0">
                <a:solidFill>
                  <a:srgbClr val="1A1A1A"/>
                </a:solidFill>
                <a:latin typeface="Arial"/>
              </a:rPr>
              <a:t>SWP definidos</a:t>
            </a:r>
            <a:r>
              <a:rPr sz="1200" b="0" i="0">
                <a:solidFill>
                  <a:srgbClr val="6D6E71"/>
                </a:solidFill>
                <a:latin typeface="Arial"/>
              </a:rPr>
              <a:t>  ·  por sistema funcional</a:t>
            </a:r>
          </a:p>
        </p:txBody>
      </p:sp>
      <p:sp>
        <p:nvSpPr>
          <p:cNvPr id="15" name="Rectangle 14"/>
          <p:cNvSpPr/>
          <p:nvPr/>
        </p:nvSpPr>
        <p:spPr>
          <a:xfrm>
            <a:off x="3886200" y="2523744"/>
            <a:ext cx="7756855" cy="585216"/>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_o.png"/>
          <p:cNvPicPr>
            <a:picLocks noChangeAspect="1"/>
          </p:cNvPicPr>
          <p:nvPr/>
        </p:nvPicPr>
        <p:blipFill>
          <a:blip r:embed="rId3"/>
          <a:stretch>
            <a:fillRect/>
          </a:stretch>
        </p:blipFill>
        <p:spPr>
          <a:xfrm>
            <a:off x="4087368" y="2660903"/>
            <a:ext cx="310896" cy="310896"/>
          </a:xfrm>
          <a:prstGeom prst="rect">
            <a:avLst/>
          </a:prstGeom>
        </p:spPr>
      </p:pic>
      <p:sp>
        <p:nvSpPr>
          <p:cNvPr id="17" name="TextBox 16"/>
          <p:cNvSpPr txBox="1"/>
          <p:nvPr/>
        </p:nvSpPr>
        <p:spPr>
          <a:xfrm>
            <a:off x="4572000" y="2523744"/>
            <a:ext cx="6888175" cy="585216"/>
          </a:xfrm>
          <a:prstGeom prst="rect">
            <a:avLst/>
          </a:prstGeom>
          <a:noFill/>
        </p:spPr>
        <p:txBody>
          <a:bodyPr wrap="square" lIns="0" rIns="0" tIns="0" bIns="0" anchor="ctr">
            <a:spAutoFit/>
          </a:bodyPr>
          <a:lstStyle/>
          <a:p>
            <a:pPr algn="l"/>
            <a:r>
              <a:rPr sz="1350" b="1" i="0">
                <a:solidFill>
                  <a:srgbClr val="1A1A1A"/>
                </a:solidFill>
                <a:latin typeface="Arial"/>
              </a:rPr>
              <a:t>Paquetes de prueba (TWP)</a:t>
            </a:r>
            <a:r>
              <a:rPr sz="1200" b="0" i="0">
                <a:solidFill>
                  <a:srgbClr val="6D6E71"/>
                </a:solidFill>
                <a:latin typeface="Arial"/>
              </a:rPr>
              <a:t>  ·  inspecciones y pruebas</a:t>
            </a:r>
          </a:p>
        </p:txBody>
      </p:sp>
      <p:sp>
        <p:nvSpPr>
          <p:cNvPr id="18" name="Rectangle 17"/>
          <p:cNvSpPr/>
          <p:nvPr/>
        </p:nvSpPr>
        <p:spPr>
          <a:xfrm>
            <a:off x="3886200" y="3182112"/>
            <a:ext cx="7756855" cy="585216"/>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check_o.png"/>
          <p:cNvPicPr>
            <a:picLocks noChangeAspect="1"/>
          </p:cNvPicPr>
          <p:nvPr/>
        </p:nvPicPr>
        <p:blipFill>
          <a:blip r:embed="rId3"/>
          <a:stretch>
            <a:fillRect/>
          </a:stretch>
        </p:blipFill>
        <p:spPr>
          <a:xfrm>
            <a:off x="4087368" y="3319272"/>
            <a:ext cx="310896" cy="310896"/>
          </a:xfrm>
          <a:prstGeom prst="rect">
            <a:avLst/>
          </a:prstGeom>
        </p:spPr>
      </p:pic>
      <p:sp>
        <p:nvSpPr>
          <p:cNvPr id="20" name="TextBox 19"/>
          <p:cNvSpPr txBox="1"/>
          <p:nvPr/>
        </p:nvSpPr>
        <p:spPr>
          <a:xfrm>
            <a:off x="4572000" y="3182112"/>
            <a:ext cx="6888175" cy="585216"/>
          </a:xfrm>
          <a:prstGeom prst="rect">
            <a:avLst/>
          </a:prstGeom>
          <a:noFill/>
        </p:spPr>
        <p:txBody>
          <a:bodyPr wrap="square" lIns="0" rIns="0" tIns="0" bIns="0" anchor="ctr">
            <a:spAutoFit/>
          </a:bodyPr>
          <a:lstStyle/>
          <a:p>
            <a:pPr algn="l"/>
            <a:r>
              <a:rPr sz="1350" b="1" i="0">
                <a:solidFill>
                  <a:srgbClr val="1A1A1A"/>
                </a:solidFill>
                <a:latin typeface="Arial"/>
              </a:rPr>
              <a:t>TOP por sistema</a:t>
            </a:r>
            <a:r>
              <a:rPr sz="1200" b="0" i="0">
                <a:solidFill>
                  <a:srgbClr val="6D6E71"/>
                </a:solidFill>
                <a:latin typeface="Arial"/>
              </a:rPr>
              <a:t>  ·  con la documentación de entrega</a:t>
            </a:r>
          </a:p>
        </p:txBody>
      </p:sp>
      <p:sp>
        <p:nvSpPr>
          <p:cNvPr id="21" name="Rectangle 20"/>
          <p:cNvSpPr/>
          <p:nvPr/>
        </p:nvSpPr>
        <p:spPr>
          <a:xfrm>
            <a:off x="3886200" y="3840480"/>
            <a:ext cx="7756855" cy="585216"/>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heck_o.png"/>
          <p:cNvPicPr>
            <a:picLocks noChangeAspect="1"/>
          </p:cNvPicPr>
          <p:nvPr/>
        </p:nvPicPr>
        <p:blipFill>
          <a:blip r:embed="rId3"/>
          <a:stretch>
            <a:fillRect/>
          </a:stretch>
        </p:blipFill>
        <p:spPr>
          <a:xfrm>
            <a:off x="4087368" y="3977640"/>
            <a:ext cx="310896" cy="310896"/>
          </a:xfrm>
          <a:prstGeom prst="rect">
            <a:avLst/>
          </a:prstGeom>
        </p:spPr>
      </p:pic>
      <p:sp>
        <p:nvSpPr>
          <p:cNvPr id="23" name="TextBox 22"/>
          <p:cNvSpPr txBox="1"/>
          <p:nvPr/>
        </p:nvSpPr>
        <p:spPr>
          <a:xfrm>
            <a:off x="4572000" y="3840480"/>
            <a:ext cx="6888175" cy="585216"/>
          </a:xfrm>
          <a:prstGeom prst="rect">
            <a:avLst/>
          </a:prstGeom>
          <a:noFill/>
        </p:spPr>
        <p:txBody>
          <a:bodyPr wrap="square" lIns="0" rIns="0" tIns="0" bIns="0" anchor="ctr">
            <a:spAutoFit/>
          </a:bodyPr>
          <a:lstStyle/>
          <a:p>
            <a:pPr algn="l"/>
            <a:r>
              <a:rPr sz="1350" b="1" i="0">
                <a:solidFill>
                  <a:srgbClr val="1A1A1A"/>
                </a:solidFill>
                <a:latin typeface="Arial"/>
              </a:rPr>
              <a:t>Certificados RFCC y RFOC</a:t>
            </a:r>
            <a:r>
              <a:rPr sz="1200" b="0" i="0">
                <a:solidFill>
                  <a:srgbClr val="6D6E71"/>
                </a:solidFill>
                <a:latin typeface="Arial"/>
              </a:rPr>
              <a:t>  ·  vinculados a cada SWP</a:t>
            </a:r>
          </a:p>
        </p:txBody>
      </p:sp>
      <p:sp>
        <p:nvSpPr>
          <p:cNvPr id="24" name="Rectangle 23"/>
          <p:cNvSpPr/>
          <p:nvPr/>
        </p:nvSpPr>
        <p:spPr>
          <a:xfrm>
            <a:off x="3886200" y="4498848"/>
            <a:ext cx="7756855" cy="585216"/>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check_o.png"/>
          <p:cNvPicPr>
            <a:picLocks noChangeAspect="1"/>
          </p:cNvPicPr>
          <p:nvPr/>
        </p:nvPicPr>
        <p:blipFill>
          <a:blip r:embed="rId3"/>
          <a:stretch>
            <a:fillRect/>
          </a:stretch>
        </p:blipFill>
        <p:spPr>
          <a:xfrm>
            <a:off x="4087368" y="4636008"/>
            <a:ext cx="310896" cy="310896"/>
          </a:xfrm>
          <a:prstGeom prst="rect">
            <a:avLst/>
          </a:prstGeom>
        </p:spPr>
      </p:pic>
      <p:sp>
        <p:nvSpPr>
          <p:cNvPr id="26" name="TextBox 25"/>
          <p:cNvSpPr txBox="1"/>
          <p:nvPr/>
        </p:nvSpPr>
        <p:spPr>
          <a:xfrm>
            <a:off x="4572000" y="4498848"/>
            <a:ext cx="6888175" cy="585216"/>
          </a:xfrm>
          <a:prstGeom prst="rect">
            <a:avLst/>
          </a:prstGeom>
          <a:noFill/>
        </p:spPr>
        <p:txBody>
          <a:bodyPr wrap="square" lIns="0" rIns="0" tIns="0" bIns="0" anchor="ctr">
            <a:spAutoFit/>
          </a:bodyPr>
          <a:lstStyle/>
          <a:p>
            <a:pPr algn="l"/>
            <a:r>
              <a:rPr sz="1350" b="1" i="0">
                <a:solidFill>
                  <a:srgbClr val="1A1A1A"/>
                </a:solidFill>
                <a:latin typeface="Arial"/>
              </a:rPr>
              <a:t>Dossier de calidad</a:t>
            </a:r>
            <a:r>
              <a:rPr sz="1200" b="0" i="0">
                <a:solidFill>
                  <a:srgbClr val="6D6E71"/>
                </a:solidFill>
                <a:latin typeface="Arial"/>
              </a:rPr>
              <a:t>  ·  registros devueltos en los IWP</a:t>
            </a:r>
          </a:p>
        </p:txBody>
      </p:sp>
      <p:sp>
        <p:nvSpPr>
          <p:cNvPr id="27" name="Rectangle 26"/>
          <p:cNvSpPr/>
          <p:nvPr/>
        </p:nvSpPr>
        <p:spPr>
          <a:xfrm>
            <a:off x="3886200" y="5157216"/>
            <a:ext cx="7756855" cy="585216"/>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_o.png"/>
          <p:cNvPicPr>
            <a:picLocks noChangeAspect="1"/>
          </p:cNvPicPr>
          <p:nvPr/>
        </p:nvPicPr>
        <p:blipFill>
          <a:blip r:embed="rId3"/>
          <a:stretch>
            <a:fillRect/>
          </a:stretch>
        </p:blipFill>
        <p:spPr>
          <a:xfrm>
            <a:off x="4087368" y="5294376"/>
            <a:ext cx="310896" cy="310896"/>
          </a:xfrm>
          <a:prstGeom prst="rect">
            <a:avLst/>
          </a:prstGeom>
        </p:spPr>
      </p:pic>
      <p:sp>
        <p:nvSpPr>
          <p:cNvPr id="29" name="TextBox 28"/>
          <p:cNvSpPr txBox="1"/>
          <p:nvPr/>
        </p:nvSpPr>
        <p:spPr>
          <a:xfrm>
            <a:off x="4572000" y="5157216"/>
            <a:ext cx="6888175" cy="585216"/>
          </a:xfrm>
          <a:prstGeom prst="rect">
            <a:avLst/>
          </a:prstGeom>
          <a:noFill/>
        </p:spPr>
        <p:txBody>
          <a:bodyPr wrap="square" lIns="0" rIns="0" tIns="0" bIns="0" anchor="ctr">
            <a:spAutoFit/>
          </a:bodyPr>
          <a:lstStyle/>
          <a:p>
            <a:pPr algn="l"/>
            <a:r>
              <a:rPr sz="1350" b="1" i="0">
                <a:solidFill>
                  <a:srgbClr val="1A1A1A"/>
                </a:solidFill>
                <a:latin typeface="Arial"/>
              </a:rPr>
              <a:t>Lecciones aprendidas</a:t>
            </a:r>
            <a:r>
              <a:rPr sz="1200" b="0" i="0">
                <a:solidFill>
                  <a:srgbClr val="6D6E71"/>
                </a:solidFill>
                <a:latin typeface="Arial"/>
              </a:rPr>
              <a:t>  ·  desempeño de paquetes y restricciones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097280"/>
            <a:ext cx="3657600" cy="2194560"/>
          </a:xfrm>
          <a:prstGeom prst="rect">
            <a:avLst/>
          </a:prstGeom>
          <a:noFill/>
        </p:spPr>
        <p:txBody>
          <a:bodyPr wrap="square" lIns="0" rIns="0" tIns="0" bIns="0" anchor="t">
            <a:spAutoFit/>
          </a:bodyPr>
          <a:lstStyle/>
          <a:p>
            <a:pPr algn="l"/>
            <a:r>
              <a:rPr sz="15000" b="1" i="0">
                <a:solidFill>
                  <a:srgbClr val="FF6600"/>
                </a:solidFill>
                <a:latin typeface="Arial"/>
              </a:rPr>
              <a:t>08</a:t>
            </a:r>
          </a:p>
        </p:txBody>
      </p:sp>
      <p:sp>
        <p:nvSpPr>
          <p:cNvPr id="4" name="TextBox 3"/>
          <p:cNvSpPr txBox="1"/>
          <p:nvPr/>
        </p:nvSpPr>
        <p:spPr>
          <a:xfrm>
            <a:off x="4160520" y="1481328"/>
            <a:ext cx="7498079" cy="274320"/>
          </a:xfrm>
          <a:prstGeom prst="rect">
            <a:avLst/>
          </a:prstGeom>
          <a:noFill/>
        </p:spPr>
        <p:txBody>
          <a:bodyPr wrap="square" lIns="0" rIns="0" tIns="0" bIns="0" anchor="t">
            <a:spAutoFit/>
          </a:bodyPr>
          <a:lstStyle/>
          <a:p>
            <a:pPr algn="l"/>
            <a:r>
              <a:rPr sz="1200" b="1" i="0" spc="300">
                <a:solidFill>
                  <a:srgbClr val="FF6600"/>
                </a:solidFill>
                <a:latin typeface="Arial"/>
              </a:rPr>
              <a:t>MÓDULO 8 · INFORMACIÓN Y TECNOLOGÍA</a:t>
            </a:r>
          </a:p>
        </p:txBody>
      </p:sp>
      <p:sp>
        <p:nvSpPr>
          <p:cNvPr id="5" name="Título"/>
          <p:cNvSpPr txBox="1"/>
          <p:nvPr/>
        </p:nvSpPr>
        <p:spPr>
          <a:xfrm>
            <a:off x="4160520" y="1874519"/>
            <a:ext cx="7452360" cy="1508760"/>
          </a:xfrm>
          <a:prstGeom prst="rect">
            <a:avLst/>
          </a:prstGeom>
          <a:noFill/>
        </p:spPr>
        <p:txBody>
          <a:bodyPr wrap="square" lIns="0" rIns="0" tIns="0" bIns="0" anchor="t">
            <a:spAutoFit/>
          </a:bodyPr>
          <a:lstStyle/>
          <a:p>
            <a:pPr algn="l">
              <a:lnSpc>
                <a:spcPct val="95000"/>
              </a:lnSpc>
            </a:pPr>
            <a:r>
              <a:rPr sz="3600" b="1" i="0">
                <a:solidFill>
                  <a:srgbClr val="FFFFFF"/>
                </a:solidFill>
                <a:latin typeface="Arial"/>
              </a:rPr>
              <a:t>Sin datos confiables no hay paquetes confiables</a:t>
            </a:r>
          </a:p>
        </p:txBody>
      </p:sp>
      <p:sp>
        <p:nvSpPr>
          <p:cNvPr id="6" name="TextBox 5"/>
          <p:cNvSpPr txBox="1"/>
          <p:nvPr/>
        </p:nvSpPr>
        <p:spPr>
          <a:xfrm>
            <a:off x="4160520" y="3474720"/>
            <a:ext cx="7406640" cy="685800"/>
          </a:xfrm>
          <a:prstGeom prst="rect">
            <a:avLst/>
          </a:prstGeom>
          <a:noFill/>
        </p:spPr>
        <p:txBody>
          <a:bodyPr wrap="square" lIns="0" rIns="0" tIns="0" bIns="0" anchor="t">
            <a:spAutoFit/>
          </a:bodyPr>
          <a:lstStyle/>
          <a:p>
            <a:pPr algn="l">
              <a:lnSpc>
                <a:spcPct val="110000"/>
              </a:lnSpc>
            </a:pPr>
            <a:r>
              <a:rPr sz="1500" b="0" i="0">
                <a:solidFill>
                  <a:srgbClr val="BCBEC0"/>
                </a:solidFill>
                <a:latin typeface="Arial"/>
              </a:rPr>
              <a:t>Modelo 3D, datos de fabricantes, control documental, materiales, andamios y equipos.</a:t>
            </a:r>
          </a:p>
        </p:txBody>
      </p:sp>
      <p:sp>
        <p:nvSpPr>
          <p:cNvPr id="7" name="Rectangle 6"/>
          <p:cNvSpPr/>
          <p:nvPr/>
        </p:nvSpPr>
        <p:spPr>
          <a:xfrm>
            <a:off x="548640"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48640"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01</a:t>
            </a:r>
          </a:p>
        </p:txBody>
      </p:sp>
      <p:sp>
        <p:nvSpPr>
          <p:cNvPr id="9" name="Rectangle 8"/>
          <p:cNvSpPr/>
          <p:nvPr/>
        </p:nvSpPr>
        <p:spPr>
          <a:xfrm>
            <a:off x="1409090"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409090"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02</a:t>
            </a:r>
          </a:p>
        </p:txBody>
      </p:sp>
      <p:sp>
        <p:nvSpPr>
          <p:cNvPr id="11" name="Rectangle 10"/>
          <p:cNvSpPr/>
          <p:nvPr/>
        </p:nvSpPr>
        <p:spPr>
          <a:xfrm>
            <a:off x="2269540"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269540"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03</a:t>
            </a:r>
          </a:p>
        </p:txBody>
      </p:sp>
      <p:sp>
        <p:nvSpPr>
          <p:cNvPr id="13" name="Rectangle 12"/>
          <p:cNvSpPr/>
          <p:nvPr/>
        </p:nvSpPr>
        <p:spPr>
          <a:xfrm>
            <a:off x="3129991"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129991"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04</a:t>
            </a:r>
          </a:p>
        </p:txBody>
      </p:sp>
      <p:sp>
        <p:nvSpPr>
          <p:cNvPr id="15" name="Rectangle 14"/>
          <p:cNvSpPr/>
          <p:nvPr/>
        </p:nvSpPr>
        <p:spPr>
          <a:xfrm>
            <a:off x="3990441"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990441"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05</a:t>
            </a:r>
          </a:p>
        </p:txBody>
      </p:sp>
      <p:sp>
        <p:nvSpPr>
          <p:cNvPr id="17" name="Rectangle 16"/>
          <p:cNvSpPr/>
          <p:nvPr/>
        </p:nvSpPr>
        <p:spPr>
          <a:xfrm>
            <a:off x="4850892"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850892"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06</a:t>
            </a:r>
          </a:p>
        </p:txBody>
      </p:sp>
      <p:sp>
        <p:nvSpPr>
          <p:cNvPr id="19" name="Rectangle 18"/>
          <p:cNvSpPr/>
          <p:nvPr/>
        </p:nvSpPr>
        <p:spPr>
          <a:xfrm>
            <a:off x="5711342"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711342"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07</a:t>
            </a:r>
          </a:p>
        </p:txBody>
      </p:sp>
      <p:sp>
        <p:nvSpPr>
          <p:cNvPr id="21" name="Rectangle 20"/>
          <p:cNvSpPr/>
          <p:nvPr/>
        </p:nvSpPr>
        <p:spPr>
          <a:xfrm>
            <a:off x="6571792" y="5074920"/>
            <a:ext cx="769010" cy="50292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571792" y="5074920"/>
            <a:ext cx="769010" cy="502920"/>
          </a:xfrm>
          <a:prstGeom prst="rect">
            <a:avLst/>
          </a:prstGeom>
          <a:noFill/>
        </p:spPr>
        <p:txBody>
          <a:bodyPr wrap="square" lIns="0" rIns="0" tIns="0" bIns="0" anchor="ctr">
            <a:spAutoFit/>
          </a:bodyPr>
          <a:lstStyle/>
          <a:p>
            <a:pPr algn="ctr"/>
            <a:r>
              <a:rPr sz="1100" b="1" i="0">
                <a:solidFill>
                  <a:srgbClr val="FFFFFF"/>
                </a:solidFill>
                <a:latin typeface="Courier New"/>
              </a:rPr>
              <a:t>08</a:t>
            </a:r>
          </a:p>
        </p:txBody>
      </p:sp>
      <p:sp>
        <p:nvSpPr>
          <p:cNvPr id="23" name="Rectangle 22"/>
          <p:cNvSpPr/>
          <p:nvPr/>
        </p:nvSpPr>
        <p:spPr>
          <a:xfrm>
            <a:off x="7432243"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432243"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09</a:t>
            </a:r>
          </a:p>
        </p:txBody>
      </p:sp>
      <p:sp>
        <p:nvSpPr>
          <p:cNvPr id="25" name="Rectangle 24"/>
          <p:cNvSpPr/>
          <p:nvPr/>
        </p:nvSpPr>
        <p:spPr>
          <a:xfrm>
            <a:off x="8292693"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292693"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10</a:t>
            </a:r>
          </a:p>
        </p:txBody>
      </p:sp>
      <p:sp>
        <p:nvSpPr>
          <p:cNvPr id="27" name="Rectangle 26"/>
          <p:cNvSpPr/>
          <p:nvPr/>
        </p:nvSpPr>
        <p:spPr>
          <a:xfrm>
            <a:off x="9153144"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153144"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11</a:t>
            </a:r>
          </a:p>
        </p:txBody>
      </p:sp>
      <p:sp>
        <p:nvSpPr>
          <p:cNvPr id="29" name="Rectangle 28"/>
          <p:cNvSpPr/>
          <p:nvPr/>
        </p:nvSpPr>
        <p:spPr>
          <a:xfrm>
            <a:off x="10013594"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013594"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12</a:t>
            </a:r>
          </a:p>
        </p:txBody>
      </p:sp>
      <p:sp>
        <p:nvSpPr>
          <p:cNvPr id="31" name="Rectangle 30"/>
          <p:cNvSpPr/>
          <p:nvPr/>
        </p:nvSpPr>
        <p:spPr>
          <a:xfrm>
            <a:off x="10874044"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874044"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13</a:t>
            </a:r>
          </a:p>
        </p:txBody>
      </p:sp>
      <p:sp>
        <p:nvSpPr>
          <p:cNvPr id="33" name="TextBox 32"/>
          <p:cNvSpPr txBox="1"/>
          <p:nvPr/>
        </p:nvSpPr>
        <p:spPr>
          <a:xfrm>
            <a:off x="548640" y="4709159"/>
            <a:ext cx="5486400" cy="274320"/>
          </a:xfrm>
          <a:prstGeom prst="rect">
            <a:avLst/>
          </a:prstGeom>
          <a:noFill/>
        </p:spPr>
        <p:txBody>
          <a:bodyPr wrap="square" lIns="0" rIns="0" tIns="0" bIns="0" anchor="t">
            <a:spAutoFit/>
          </a:bodyPr>
          <a:lstStyle/>
          <a:p>
            <a:pPr algn="l"/>
            <a:r>
              <a:rPr sz="1000" b="1" i="0" spc="200">
                <a:solidFill>
                  <a:srgbClr val="8A8B8E"/>
                </a:solidFill>
                <a:latin typeface="Arial"/>
              </a:rPr>
              <a:t>MÓDULOS</a:t>
            </a:r>
          </a:p>
        </p:txBody>
      </p:sp>
      <p:sp>
        <p:nvSpPr>
          <p:cNvPr id="34" name="TextBox 33"/>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8A8B8E"/>
                </a:solidFill>
                <a:latin typeface="Arial"/>
              </a:rPr>
              <a:t>IMPLEMENTACIÓN DE AWP  ·  M8 · INFORMACIÓN Y TECNOLOGÍA</a:t>
            </a:r>
          </a:p>
        </p:txBody>
      </p:sp>
      <p:sp>
        <p:nvSpPr>
          <p:cNvPr id="35" name="TextBox 34"/>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8A8B8E"/>
                </a:solidFill>
                <a:latin typeface="Courier New"/>
              </a:rPr>
              <a:t>080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8 · MODELO 3D</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El modelo 3D con atributos es la plataforma de planificación</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M8 · INFORMACIÓN Y TECNOLOGÍA</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081</a:t>
            </a:r>
          </a:p>
        </p:txBody>
      </p:sp>
      <p:graphicFrame>
        <p:nvGraphicFramePr>
          <p:cNvPr id="7" name="Table 6"/>
          <p:cNvGraphicFramePr>
            <a:graphicFrameLocks noGrp="1"/>
          </p:cNvGraphicFramePr>
          <p:nvPr/>
        </p:nvGraphicFramePr>
        <p:xfrm>
          <a:off x="563727" y="1828800"/>
          <a:ext cx="11064240" cy="3703320"/>
        </p:xfrm>
        <a:graphic>
          <a:graphicData uri="http://schemas.openxmlformats.org/drawingml/2006/table">
            <a:tbl>
              <a:tblPr firstRow="0" bandRow="0">
                <a:tableStyleId>{5C22544A-7EE6-4342-B048-85BDC9FD1C3A}</a:tableStyleId>
              </a:tblPr>
              <a:tblGrid>
                <a:gridCol w="3291840"/>
                <a:gridCol w="2468880"/>
                <a:gridCol w="1325880"/>
                <a:gridCol w="1325880"/>
                <a:gridCol w="1325880"/>
                <a:gridCol w="1325880"/>
              </a:tblGrid>
              <a:tr h="457200">
                <a:tc>
                  <a:txBody>
                    <a:bodyPr wrap="square"/>
                    <a:lstStyle/>
                    <a:p>
                      <a:pPr algn="l"/>
                      <a:r>
                        <a:rPr sz="1000" b="1" spc="100">
                          <a:solidFill>
                            <a:srgbClr val="FFFFFF"/>
                          </a:solidFill>
                          <a:latin typeface="Arial"/>
                        </a:rPr>
                        <a:t>ATRIBUTO</a:t>
                      </a:r>
                    </a:p>
                  </a:txBody>
                  <a:tcPr marL="137160" marR="91440" marT="27432" marB="27432" anchor="ctr">
                    <a:solidFill>
                      <a:srgbClr val="1A1A1A"/>
                    </a:solidFill>
                  </a:tcPr>
                </a:tc>
                <a:tc>
                  <a:txBody>
                    <a:bodyPr wrap="square"/>
                    <a:lstStyle/>
                    <a:p>
                      <a:pPr algn="l"/>
                      <a:r>
                        <a:rPr sz="1000" b="1" spc="100">
                          <a:solidFill>
                            <a:srgbClr val="FFFFFF"/>
                          </a:solidFill>
                          <a:latin typeface="Arial"/>
                        </a:rPr>
                        <a:t>RESPONSABLE</a:t>
                      </a:r>
                    </a:p>
                  </a:txBody>
                  <a:tcPr marL="137160" marR="91440" marT="27432" marB="27432" anchor="ctr">
                    <a:solidFill>
                      <a:srgbClr val="1A1A1A"/>
                    </a:solidFill>
                  </a:tcPr>
                </a:tc>
                <a:tc>
                  <a:txBody>
                    <a:bodyPr wrap="square"/>
                    <a:lstStyle/>
                    <a:p>
                      <a:pPr algn="l"/>
                      <a:r>
                        <a:rPr sz="1000" b="1" spc="100">
                          <a:solidFill>
                            <a:srgbClr val="FFFFFF"/>
                          </a:solidFill>
                          <a:latin typeface="Arial"/>
                        </a:rPr>
                        <a:t>CIVIL</a:t>
                      </a:r>
                    </a:p>
                  </a:txBody>
                  <a:tcPr marL="137160" marR="91440" marT="27432" marB="27432" anchor="ctr">
                    <a:solidFill>
                      <a:srgbClr val="1A1A1A"/>
                    </a:solidFill>
                  </a:tcPr>
                </a:tc>
                <a:tc>
                  <a:txBody>
                    <a:bodyPr wrap="square"/>
                    <a:lstStyle/>
                    <a:p>
                      <a:pPr algn="l"/>
                      <a:r>
                        <a:rPr sz="1000" b="1" spc="100">
                          <a:solidFill>
                            <a:srgbClr val="FFFFFF"/>
                          </a:solidFill>
                          <a:latin typeface="Arial"/>
                        </a:rPr>
                        <a:t>ACERO</a:t>
                      </a:r>
                    </a:p>
                  </a:txBody>
                  <a:tcPr marL="137160" marR="91440" marT="27432" marB="27432" anchor="ctr">
                    <a:solidFill>
                      <a:srgbClr val="1A1A1A"/>
                    </a:solidFill>
                  </a:tcPr>
                </a:tc>
                <a:tc>
                  <a:txBody>
                    <a:bodyPr wrap="square"/>
                    <a:lstStyle/>
                    <a:p>
                      <a:pPr algn="l"/>
                      <a:r>
                        <a:rPr sz="1000" b="1" spc="100">
                          <a:solidFill>
                            <a:srgbClr val="FFFFFF"/>
                          </a:solidFill>
                          <a:latin typeface="Arial"/>
                        </a:rPr>
                        <a:t>TUBERÍAS</a:t>
                      </a:r>
                    </a:p>
                  </a:txBody>
                  <a:tcPr marL="137160" marR="91440" marT="27432" marB="27432" anchor="ctr">
                    <a:solidFill>
                      <a:srgbClr val="1A1A1A"/>
                    </a:solidFill>
                  </a:tcPr>
                </a:tc>
                <a:tc>
                  <a:txBody>
                    <a:bodyPr wrap="square"/>
                    <a:lstStyle/>
                    <a:p>
                      <a:pPr algn="l"/>
                      <a:r>
                        <a:rPr sz="1000" b="1" spc="100">
                          <a:solidFill>
                            <a:srgbClr val="FFFFFF"/>
                          </a:solidFill>
                          <a:latin typeface="Arial"/>
                        </a:rPr>
                        <a:t>CABLES</a:t>
                      </a:r>
                    </a:p>
                  </a:txBody>
                  <a:tcPr marL="137160" marR="91440" marT="27432" marB="27432" anchor="ctr">
                    <a:solidFill>
                      <a:srgbClr val="1A1A1A"/>
                    </a:solidFill>
                  </a:tcPr>
                </a:tc>
              </a:tr>
              <a:tr h="405765">
                <a:tc>
                  <a:txBody>
                    <a:bodyPr wrap="square"/>
                    <a:lstStyle/>
                    <a:p>
                      <a:pPr algn="l"/>
                      <a:r>
                        <a:rPr sz="1250" b="1">
                          <a:solidFill>
                            <a:srgbClr val="1A1A1A"/>
                          </a:solidFill>
                          <a:latin typeface="Arial"/>
                        </a:rPr>
                        <a:t>Tag único</a:t>
                      </a:r>
                    </a:p>
                  </a:txBody>
                  <a:tcPr marL="137160" marR="91440" marT="27432" marB="27432" anchor="ctr">
                    <a:solidFill>
                      <a:srgbClr val="FFFFFF"/>
                    </a:solidFill>
                  </a:tcPr>
                </a:tc>
                <a:tc>
                  <a:txBody>
                    <a:bodyPr wrap="square"/>
                    <a:lstStyle/>
                    <a:p>
                      <a:pPr algn="l"/>
                      <a:r>
                        <a:rPr sz="1250" b="0">
                          <a:solidFill>
                            <a:srgbClr val="2E2E2E"/>
                          </a:solidFill>
                          <a:latin typeface="Arial"/>
                        </a:rPr>
                        <a:t>Ingeniería</a:t>
                      </a:r>
                    </a:p>
                  </a:txBody>
                  <a:tcPr marL="137160" marR="91440" marT="27432" marB="27432" anchor="ctr">
                    <a:solidFill>
                      <a:srgbClr val="FFFFFF"/>
                    </a:solidFill>
                  </a:tcPr>
                </a:tc>
                <a:tc>
                  <a:txBody>
                    <a:bodyPr wrap="square"/>
                    <a:lstStyle/>
                    <a:p>
                      <a:pPr algn="ctr"/>
                      <a:r>
                        <a:rPr sz="1250" b="0">
                          <a:solidFill>
                            <a:srgbClr val="2E2E2E"/>
                          </a:solidFill>
                          <a:latin typeface="Arial"/>
                        </a:rPr>
                        <a:t>Sí</a:t>
                      </a:r>
                    </a:p>
                  </a:txBody>
                  <a:tcPr marL="137160" marR="91440" marT="27432" marB="27432" anchor="ctr">
                    <a:solidFill>
                      <a:srgbClr val="FFFFFF"/>
                    </a:solidFill>
                  </a:tcPr>
                </a:tc>
                <a:tc>
                  <a:txBody>
                    <a:bodyPr wrap="square"/>
                    <a:lstStyle/>
                    <a:p>
                      <a:pPr algn="ctr"/>
                      <a:r>
                        <a:rPr sz="1250" b="0">
                          <a:solidFill>
                            <a:srgbClr val="2E2E2E"/>
                          </a:solidFill>
                          <a:latin typeface="Arial"/>
                        </a:rPr>
                        <a:t>Sí</a:t>
                      </a:r>
                    </a:p>
                  </a:txBody>
                  <a:tcPr marL="137160" marR="91440" marT="27432" marB="27432" anchor="ctr">
                    <a:solidFill>
                      <a:srgbClr val="FFFFFF"/>
                    </a:solidFill>
                  </a:tcPr>
                </a:tc>
                <a:tc>
                  <a:txBody>
                    <a:bodyPr wrap="square"/>
                    <a:lstStyle/>
                    <a:p>
                      <a:pPr algn="ctr"/>
                      <a:r>
                        <a:rPr sz="1250" b="0">
                          <a:solidFill>
                            <a:srgbClr val="2E2E2E"/>
                          </a:solidFill>
                          <a:latin typeface="Arial"/>
                        </a:rPr>
                        <a:t>Sí</a:t>
                      </a:r>
                    </a:p>
                  </a:txBody>
                  <a:tcPr marL="137160" marR="91440" marT="27432" marB="27432" anchor="ctr">
                    <a:solidFill>
                      <a:srgbClr val="FFFFFF"/>
                    </a:solidFill>
                  </a:tcPr>
                </a:tc>
                <a:tc>
                  <a:txBody>
                    <a:bodyPr wrap="square"/>
                    <a:lstStyle/>
                    <a:p>
                      <a:pPr algn="ctr"/>
                      <a:r>
                        <a:rPr sz="1250" b="0">
                          <a:solidFill>
                            <a:srgbClr val="2E2E2E"/>
                          </a:solidFill>
                          <a:latin typeface="Arial"/>
                        </a:rPr>
                        <a:t>Sí</a:t>
                      </a:r>
                    </a:p>
                  </a:txBody>
                  <a:tcPr marL="137160" marR="91440" marT="27432" marB="27432" anchor="ctr">
                    <a:solidFill>
                      <a:srgbClr val="FFFFFF"/>
                    </a:solidFill>
                  </a:tcPr>
                </a:tc>
              </a:tr>
              <a:tr h="405765">
                <a:tc>
                  <a:txBody>
                    <a:bodyPr wrap="square"/>
                    <a:lstStyle/>
                    <a:p>
                      <a:pPr algn="l"/>
                      <a:r>
                        <a:rPr sz="1250" b="1">
                          <a:solidFill>
                            <a:srgbClr val="1A1A1A"/>
                          </a:solidFill>
                          <a:latin typeface="Arial"/>
                        </a:rPr>
                        <a:t>N.º de pieza (piece mark)</a:t>
                      </a:r>
                    </a:p>
                  </a:txBody>
                  <a:tcPr marL="137160" marR="91440" marT="27432" marB="27432" anchor="ctr">
                    <a:solidFill>
                      <a:srgbClr val="F7F7F7"/>
                    </a:solidFill>
                  </a:tcPr>
                </a:tc>
                <a:tc>
                  <a:txBody>
                    <a:bodyPr wrap="square"/>
                    <a:lstStyle/>
                    <a:p>
                      <a:pPr algn="l"/>
                      <a:r>
                        <a:rPr sz="1250" b="0">
                          <a:solidFill>
                            <a:srgbClr val="2E2E2E"/>
                          </a:solidFill>
                          <a:latin typeface="Arial"/>
                        </a:rPr>
                        <a:t>Ingeniería</a:t>
                      </a:r>
                    </a:p>
                  </a:txBody>
                  <a:tcPr marL="137160" marR="91440" marT="27432" marB="27432" anchor="ctr">
                    <a:solidFill>
                      <a:srgbClr val="F7F7F7"/>
                    </a:solidFill>
                  </a:tcPr>
                </a:tc>
                <a:tc>
                  <a:txBody>
                    <a:bodyPr wrap="square"/>
                    <a:lstStyle/>
                    <a:p>
                      <a:pPr algn="ctr"/>
                      <a:r>
                        <a:rPr sz="1250" b="0">
                          <a:solidFill>
                            <a:srgbClr val="2E2E2E"/>
                          </a:solidFill>
                          <a:latin typeface="Arial"/>
                        </a:rPr>
                        <a:t>—</a:t>
                      </a:r>
                    </a:p>
                  </a:txBody>
                  <a:tcPr marL="137160" marR="91440" marT="27432" marB="27432" anchor="ctr">
                    <a:solidFill>
                      <a:srgbClr val="F7F7F7"/>
                    </a:solidFill>
                  </a:tcPr>
                </a:tc>
                <a:tc>
                  <a:txBody>
                    <a:bodyPr wrap="square"/>
                    <a:lstStyle/>
                    <a:p>
                      <a:pPr algn="ctr"/>
                      <a:r>
                        <a:rPr sz="1250" b="0">
                          <a:solidFill>
                            <a:srgbClr val="2E2E2E"/>
                          </a:solidFill>
                          <a:latin typeface="Arial"/>
                        </a:rPr>
                        <a:t>Sí</a:t>
                      </a:r>
                    </a:p>
                  </a:txBody>
                  <a:tcPr marL="137160" marR="91440" marT="27432" marB="27432" anchor="ctr">
                    <a:solidFill>
                      <a:srgbClr val="F7F7F7"/>
                    </a:solidFill>
                  </a:tcPr>
                </a:tc>
                <a:tc>
                  <a:txBody>
                    <a:bodyPr wrap="square"/>
                    <a:lstStyle/>
                    <a:p>
                      <a:pPr algn="ctr"/>
                      <a:r>
                        <a:rPr sz="1250" b="0">
                          <a:solidFill>
                            <a:srgbClr val="2E2E2E"/>
                          </a:solidFill>
                          <a:latin typeface="Arial"/>
                        </a:rPr>
                        <a:t>—</a:t>
                      </a:r>
                    </a:p>
                  </a:txBody>
                  <a:tcPr marL="137160" marR="91440" marT="27432" marB="27432" anchor="ctr">
                    <a:solidFill>
                      <a:srgbClr val="F7F7F7"/>
                    </a:solidFill>
                  </a:tcPr>
                </a:tc>
                <a:tc>
                  <a:txBody>
                    <a:bodyPr wrap="square"/>
                    <a:lstStyle/>
                    <a:p>
                      <a:pPr algn="ctr"/>
                      <a:r>
                        <a:rPr sz="1250" b="0">
                          <a:solidFill>
                            <a:srgbClr val="2E2E2E"/>
                          </a:solidFill>
                          <a:latin typeface="Arial"/>
                        </a:rPr>
                        <a:t>—</a:t>
                      </a:r>
                    </a:p>
                  </a:txBody>
                  <a:tcPr marL="137160" marR="91440" marT="27432" marB="27432" anchor="ctr">
                    <a:solidFill>
                      <a:srgbClr val="F7F7F7"/>
                    </a:solidFill>
                  </a:tcPr>
                </a:tc>
              </a:tr>
              <a:tr h="405765">
                <a:tc>
                  <a:txBody>
                    <a:bodyPr wrap="square"/>
                    <a:lstStyle/>
                    <a:p>
                      <a:pPr algn="l"/>
                      <a:r>
                        <a:rPr sz="1250" b="1">
                          <a:solidFill>
                            <a:srgbClr val="1A1A1A"/>
                          </a:solidFill>
                          <a:latin typeface="Arial"/>
                        </a:rPr>
                        <a:t>N.º de spool</a:t>
                      </a:r>
                    </a:p>
                  </a:txBody>
                  <a:tcPr marL="137160" marR="91440" marT="27432" marB="27432" anchor="ctr">
                    <a:solidFill>
                      <a:srgbClr val="FFFFFF"/>
                    </a:solidFill>
                  </a:tcPr>
                </a:tc>
                <a:tc>
                  <a:txBody>
                    <a:bodyPr wrap="square"/>
                    <a:lstStyle/>
                    <a:p>
                      <a:pPr algn="l"/>
                      <a:r>
                        <a:rPr sz="1250" b="0">
                          <a:solidFill>
                            <a:srgbClr val="2E2E2E"/>
                          </a:solidFill>
                          <a:latin typeface="Arial"/>
                        </a:rPr>
                        <a:t>Workface Planning</a:t>
                      </a:r>
                    </a:p>
                  </a:txBody>
                  <a:tcPr marL="137160" marR="91440" marT="27432" marB="27432" anchor="ctr">
                    <a:solidFill>
                      <a:srgbClr val="FFFFFF"/>
                    </a:solidFill>
                  </a:tcPr>
                </a:tc>
                <a:tc>
                  <a:txBody>
                    <a:bodyPr wrap="square"/>
                    <a:lstStyle/>
                    <a:p>
                      <a:pPr algn="ctr"/>
                      <a:r>
                        <a:rPr sz="1250" b="0">
                          <a:solidFill>
                            <a:srgbClr val="2E2E2E"/>
                          </a:solidFill>
                          <a:latin typeface="Arial"/>
                        </a:rPr>
                        <a:t>—</a:t>
                      </a:r>
                    </a:p>
                  </a:txBody>
                  <a:tcPr marL="137160" marR="91440" marT="27432" marB="27432" anchor="ctr">
                    <a:solidFill>
                      <a:srgbClr val="FFFFFF"/>
                    </a:solidFill>
                  </a:tcPr>
                </a:tc>
                <a:tc>
                  <a:txBody>
                    <a:bodyPr wrap="square"/>
                    <a:lstStyle/>
                    <a:p>
                      <a:pPr algn="ctr"/>
                      <a:r>
                        <a:rPr sz="1250" b="0">
                          <a:solidFill>
                            <a:srgbClr val="2E2E2E"/>
                          </a:solidFill>
                          <a:latin typeface="Arial"/>
                        </a:rPr>
                        <a:t>—</a:t>
                      </a:r>
                    </a:p>
                  </a:txBody>
                  <a:tcPr marL="137160" marR="91440" marT="27432" marB="27432" anchor="ctr">
                    <a:solidFill>
                      <a:srgbClr val="FFFFFF"/>
                    </a:solidFill>
                  </a:tcPr>
                </a:tc>
                <a:tc>
                  <a:txBody>
                    <a:bodyPr wrap="square"/>
                    <a:lstStyle/>
                    <a:p>
                      <a:pPr algn="ctr"/>
                      <a:r>
                        <a:rPr sz="1250" b="0">
                          <a:solidFill>
                            <a:srgbClr val="2E2E2E"/>
                          </a:solidFill>
                          <a:latin typeface="Arial"/>
                        </a:rPr>
                        <a:t>Sí</a:t>
                      </a:r>
                    </a:p>
                  </a:txBody>
                  <a:tcPr marL="137160" marR="91440" marT="27432" marB="27432" anchor="ctr">
                    <a:solidFill>
                      <a:srgbClr val="FFFFFF"/>
                    </a:solidFill>
                  </a:tcPr>
                </a:tc>
                <a:tc>
                  <a:txBody>
                    <a:bodyPr wrap="square"/>
                    <a:lstStyle/>
                    <a:p>
                      <a:pPr algn="ctr"/>
                      <a:r>
                        <a:rPr sz="1250" b="0">
                          <a:solidFill>
                            <a:srgbClr val="2E2E2E"/>
                          </a:solidFill>
                          <a:latin typeface="Arial"/>
                        </a:rPr>
                        <a:t>—</a:t>
                      </a:r>
                    </a:p>
                  </a:txBody>
                  <a:tcPr marL="137160" marR="91440" marT="27432" marB="27432" anchor="ctr">
                    <a:solidFill>
                      <a:srgbClr val="FFFFFF"/>
                    </a:solidFill>
                  </a:tcPr>
                </a:tc>
              </a:tr>
              <a:tr h="405765">
                <a:tc>
                  <a:txBody>
                    <a:bodyPr wrap="square"/>
                    <a:lstStyle/>
                    <a:p>
                      <a:pPr algn="l"/>
                      <a:r>
                        <a:rPr sz="1250" b="1">
                          <a:solidFill>
                            <a:srgbClr val="1A1A1A"/>
                          </a:solidFill>
                          <a:latin typeface="Arial"/>
                        </a:rPr>
                        <a:t>Longitud (cantidad de diseño)</a:t>
                      </a:r>
                    </a:p>
                  </a:txBody>
                  <a:tcPr marL="137160" marR="91440" marT="27432" marB="27432" anchor="ctr">
                    <a:solidFill>
                      <a:srgbClr val="F7F7F7"/>
                    </a:solidFill>
                  </a:tcPr>
                </a:tc>
                <a:tc>
                  <a:txBody>
                    <a:bodyPr wrap="square"/>
                    <a:lstStyle/>
                    <a:p>
                      <a:pPr algn="l"/>
                      <a:r>
                        <a:rPr sz="1250" b="0">
                          <a:solidFill>
                            <a:srgbClr val="2E2E2E"/>
                          </a:solidFill>
                          <a:latin typeface="Arial"/>
                        </a:rPr>
                        <a:t>Ingeniería</a:t>
                      </a:r>
                    </a:p>
                  </a:txBody>
                  <a:tcPr marL="137160" marR="91440" marT="27432" marB="27432" anchor="ctr">
                    <a:solidFill>
                      <a:srgbClr val="F7F7F7"/>
                    </a:solidFill>
                  </a:tcPr>
                </a:tc>
                <a:tc>
                  <a:txBody>
                    <a:bodyPr wrap="square"/>
                    <a:lstStyle/>
                    <a:p>
                      <a:pPr algn="ctr"/>
                      <a:r>
                        <a:rPr sz="1250" b="0">
                          <a:solidFill>
                            <a:srgbClr val="2E2E2E"/>
                          </a:solidFill>
                          <a:latin typeface="Arial"/>
                        </a:rPr>
                        <a:t>—</a:t>
                      </a:r>
                    </a:p>
                  </a:txBody>
                  <a:tcPr marL="137160" marR="91440" marT="27432" marB="27432" anchor="ctr">
                    <a:solidFill>
                      <a:srgbClr val="F7F7F7"/>
                    </a:solidFill>
                  </a:tcPr>
                </a:tc>
                <a:tc>
                  <a:txBody>
                    <a:bodyPr wrap="square"/>
                    <a:lstStyle/>
                    <a:p>
                      <a:pPr algn="ctr"/>
                      <a:r>
                        <a:rPr sz="1250" b="0">
                          <a:solidFill>
                            <a:srgbClr val="2E2E2E"/>
                          </a:solidFill>
                          <a:latin typeface="Arial"/>
                        </a:rPr>
                        <a:t>Sí</a:t>
                      </a:r>
                    </a:p>
                  </a:txBody>
                  <a:tcPr marL="137160" marR="91440" marT="27432" marB="27432" anchor="ctr">
                    <a:solidFill>
                      <a:srgbClr val="F7F7F7"/>
                    </a:solidFill>
                  </a:tcPr>
                </a:tc>
                <a:tc>
                  <a:txBody>
                    <a:bodyPr wrap="square"/>
                    <a:lstStyle/>
                    <a:p>
                      <a:pPr algn="ctr"/>
                      <a:r>
                        <a:rPr sz="1250" b="0">
                          <a:solidFill>
                            <a:srgbClr val="2E2E2E"/>
                          </a:solidFill>
                          <a:latin typeface="Arial"/>
                        </a:rPr>
                        <a:t>Sí</a:t>
                      </a:r>
                    </a:p>
                  </a:txBody>
                  <a:tcPr marL="137160" marR="91440" marT="27432" marB="27432" anchor="ctr">
                    <a:solidFill>
                      <a:srgbClr val="F7F7F7"/>
                    </a:solidFill>
                  </a:tcPr>
                </a:tc>
                <a:tc>
                  <a:txBody>
                    <a:bodyPr wrap="square"/>
                    <a:lstStyle/>
                    <a:p>
                      <a:pPr algn="ctr"/>
                      <a:r>
                        <a:rPr sz="1250" b="0">
                          <a:solidFill>
                            <a:srgbClr val="2E2E2E"/>
                          </a:solidFill>
                          <a:latin typeface="Arial"/>
                        </a:rPr>
                        <a:t>Sí</a:t>
                      </a:r>
                    </a:p>
                  </a:txBody>
                  <a:tcPr marL="137160" marR="91440" marT="27432" marB="27432" anchor="ctr">
                    <a:solidFill>
                      <a:srgbClr val="F7F7F7"/>
                    </a:solidFill>
                  </a:tcPr>
                </a:tc>
              </a:tr>
              <a:tr h="405765">
                <a:tc>
                  <a:txBody>
                    <a:bodyPr wrap="square"/>
                    <a:lstStyle/>
                    <a:p>
                      <a:pPr algn="l"/>
                      <a:r>
                        <a:rPr sz="1250" b="1">
                          <a:solidFill>
                            <a:srgbClr val="1A1A1A"/>
                          </a:solidFill>
                          <a:latin typeface="Arial"/>
                        </a:rPr>
                        <a:t>CWA</a:t>
                      </a:r>
                    </a:p>
                  </a:txBody>
                  <a:tcPr marL="137160" marR="91440" marT="27432" marB="27432" anchor="ctr">
                    <a:solidFill>
                      <a:srgbClr val="FFFFFF"/>
                    </a:solidFill>
                  </a:tcPr>
                </a:tc>
                <a:tc>
                  <a:txBody>
                    <a:bodyPr wrap="square"/>
                    <a:lstStyle/>
                    <a:p>
                      <a:pPr algn="l"/>
                      <a:r>
                        <a:rPr sz="1250" b="0">
                          <a:solidFill>
                            <a:srgbClr val="2E2E2E"/>
                          </a:solidFill>
                          <a:latin typeface="Arial"/>
                        </a:rPr>
                        <a:t>Ingeniería</a:t>
                      </a:r>
                    </a:p>
                  </a:txBody>
                  <a:tcPr marL="137160" marR="91440" marT="27432" marB="27432" anchor="ctr">
                    <a:solidFill>
                      <a:srgbClr val="FFFFFF"/>
                    </a:solidFill>
                  </a:tcPr>
                </a:tc>
                <a:tc>
                  <a:txBody>
                    <a:bodyPr wrap="square"/>
                    <a:lstStyle/>
                    <a:p>
                      <a:pPr algn="ctr"/>
                      <a:r>
                        <a:rPr sz="1250" b="0">
                          <a:solidFill>
                            <a:srgbClr val="2E2E2E"/>
                          </a:solidFill>
                          <a:latin typeface="Arial"/>
                        </a:rPr>
                        <a:t>Sí</a:t>
                      </a:r>
                    </a:p>
                  </a:txBody>
                  <a:tcPr marL="137160" marR="91440" marT="27432" marB="27432" anchor="ctr">
                    <a:solidFill>
                      <a:srgbClr val="FFFFFF"/>
                    </a:solidFill>
                  </a:tcPr>
                </a:tc>
                <a:tc>
                  <a:txBody>
                    <a:bodyPr wrap="square"/>
                    <a:lstStyle/>
                    <a:p>
                      <a:pPr algn="ctr"/>
                      <a:r>
                        <a:rPr sz="1250" b="0">
                          <a:solidFill>
                            <a:srgbClr val="2E2E2E"/>
                          </a:solidFill>
                          <a:latin typeface="Arial"/>
                        </a:rPr>
                        <a:t>Sí</a:t>
                      </a:r>
                    </a:p>
                  </a:txBody>
                  <a:tcPr marL="137160" marR="91440" marT="27432" marB="27432" anchor="ctr">
                    <a:solidFill>
                      <a:srgbClr val="FFFFFF"/>
                    </a:solidFill>
                  </a:tcPr>
                </a:tc>
                <a:tc>
                  <a:txBody>
                    <a:bodyPr wrap="square"/>
                    <a:lstStyle/>
                    <a:p>
                      <a:pPr algn="ctr"/>
                      <a:r>
                        <a:rPr sz="1250" b="0">
                          <a:solidFill>
                            <a:srgbClr val="2E2E2E"/>
                          </a:solidFill>
                          <a:latin typeface="Arial"/>
                        </a:rPr>
                        <a:t>Sí</a:t>
                      </a:r>
                    </a:p>
                  </a:txBody>
                  <a:tcPr marL="137160" marR="91440" marT="27432" marB="27432" anchor="ctr">
                    <a:solidFill>
                      <a:srgbClr val="FFFFFF"/>
                    </a:solidFill>
                  </a:tcPr>
                </a:tc>
                <a:tc>
                  <a:txBody>
                    <a:bodyPr wrap="square"/>
                    <a:lstStyle/>
                    <a:p>
                      <a:pPr algn="ctr"/>
                      <a:r>
                        <a:rPr sz="1250" b="0">
                          <a:solidFill>
                            <a:srgbClr val="2E2E2E"/>
                          </a:solidFill>
                          <a:latin typeface="Arial"/>
                        </a:rPr>
                        <a:t>Sí</a:t>
                      </a:r>
                    </a:p>
                  </a:txBody>
                  <a:tcPr marL="137160" marR="91440" marT="27432" marB="27432" anchor="ctr">
                    <a:solidFill>
                      <a:srgbClr val="FFFFFF"/>
                    </a:solidFill>
                  </a:tcPr>
                </a:tc>
              </a:tr>
              <a:tr h="405765">
                <a:tc>
                  <a:txBody>
                    <a:bodyPr wrap="square"/>
                    <a:lstStyle/>
                    <a:p>
                      <a:pPr algn="l"/>
                      <a:r>
                        <a:rPr sz="1250" b="1">
                          <a:solidFill>
                            <a:srgbClr val="1A1A1A"/>
                          </a:solidFill>
                          <a:latin typeface="Arial"/>
                        </a:rPr>
                        <a:t>EWP</a:t>
                      </a:r>
                    </a:p>
                  </a:txBody>
                  <a:tcPr marL="137160" marR="91440" marT="27432" marB="27432" anchor="ctr">
                    <a:solidFill>
                      <a:srgbClr val="F7F7F7"/>
                    </a:solidFill>
                  </a:tcPr>
                </a:tc>
                <a:tc>
                  <a:txBody>
                    <a:bodyPr wrap="square"/>
                    <a:lstStyle/>
                    <a:p>
                      <a:pPr algn="l"/>
                      <a:r>
                        <a:rPr sz="1250" b="0">
                          <a:solidFill>
                            <a:srgbClr val="2E2E2E"/>
                          </a:solidFill>
                          <a:latin typeface="Arial"/>
                        </a:rPr>
                        <a:t>Ingeniería</a:t>
                      </a:r>
                    </a:p>
                  </a:txBody>
                  <a:tcPr marL="137160" marR="91440" marT="27432" marB="27432" anchor="ctr">
                    <a:solidFill>
                      <a:srgbClr val="F7F7F7"/>
                    </a:solidFill>
                  </a:tcPr>
                </a:tc>
                <a:tc>
                  <a:txBody>
                    <a:bodyPr wrap="square"/>
                    <a:lstStyle/>
                    <a:p>
                      <a:pPr algn="ctr"/>
                      <a:r>
                        <a:rPr sz="1250" b="0">
                          <a:solidFill>
                            <a:srgbClr val="2E2E2E"/>
                          </a:solidFill>
                          <a:latin typeface="Arial"/>
                        </a:rPr>
                        <a:t>Sí</a:t>
                      </a:r>
                    </a:p>
                  </a:txBody>
                  <a:tcPr marL="137160" marR="91440" marT="27432" marB="27432" anchor="ctr">
                    <a:solidFill>
                      <a:srgbClr val="F7F7F7"/>
                    </a:solidFill>
                  </a:tcPr>
                </a:tc>
                <a:tc>
                  <a:txBody>
                    <a:bodyPr wrap="square"/>
                    <a:lstStyle/>
                    <a:p>
                      <a:pPr algn="ctr"/>
                      <a:r>
                        <a:rPr sz="1250" b="0">
                          <a:solidFill>
                            <a:srgbClr val="2E2E2E"/>
                          </a:solidFill>
                          <a:latin typeface="Arial"/>
                        </a:rPr>
                        <a:t>Sí</a:t>
                      </a:r>
                    </a:p>
                  </a:txBody>
                  <a:tcPr marL="137160" marR="91440" marT="27432" marB="27432" anchor="ctr">
                    <a:solidFill>
                      <a:srgbClr val="F7F7F7"/>
                    </a:solidFill>
                  </a:tcPr>
                </a:tc>
                <a:tc>
                  <a:txBody>
                    <a:bodyPr wrap="square"/>
                    <a:lstStyle/>
                    <a:p>
                      <a:pPr algn="ctr"/>
                      <a:r>
                        <a:rPr sz="1250" b="0">
                          <a:solidFill>
                            <a:srgbClr val="2E2E2E"/>
                          </a:solidFill>
                          <a:latin typeface="Arial"/>
                        </a:rPr>
                        <a:t>Sí</a:t>
                      </a:r>
                    </a:p>
                  </a:txBody>
                  <a:tcPr marL="137160" marR="91440" marT="27432" marB="27432" anchor="ctr">
                    <a:solidFill>
                      <a:srgbClr val="F7F7F7"/>
                    </a:solidFill>
                  </a:tcPr>
                </a:tc>
                <a:tc>
                  <a:txBody>
                    <a:bodyPr wrap="square"/>
                    <a:lstStyle/>
                    <a:p>
                      <a:pPr algn="ctr"/>
                      <a:r>
                        <a:rPr sz="1250" b="0">
                          <a:solidFill>
                            <a:srgbClr val="2E2E2E"/>
                          </a:solidFill>
                          <a:latin typeface="Arial"/>
                        </a:rPr>
                        <a:t>Sí</a:t>
                      </a:r>
                    </a:p>
                  </a:txBody>
                  <a:tcPr marL="137160" marR="91440" marT="27432" marB="27432" anchor="ctr">
                    <a:solidFill>
                      <a:srgbClr val="F7F7F7"/>
                    </a:solidFill>
                  </a:tcPr>
                </a:tc>
              </a:tr>
              <a:tr h="405765">
                <a:tc>
                  <a:txBody>
                    <a:bodyPr wrap="square"/>
                    <a:lstStyle/>
                    <a:p>
                      <a:pPr algn="l"/>
                      <a:r>
                        <a:rPr sz="1250" b="1">
                          <a:solidFill>
                            <a:srgbClr val="1A1A1A"/>
                          </a:solidFill>
                          <a:latin typeface="Arial"/>
                        </a:rPr>
                        <a:t>CWP</a:t>
                      </a:r>
                    </a:p>
                  </a:txBody>
                  <a:tcPr marL="137160" marR="91440" marT="27432" marB="27432" anchor="ctr">
                    <a:solidFill>
                      <a:srgbClr val="FFE3CF"/>
                    </a:solidFill>
                  </a:tcPr>
                </a:tc>
                <a:tc>
                  <a:txBody>
                    <a:bodyPr wrap="square"/>
                    <a:lstStyle/>
                    <a:p>
                      <a:pPr algn="l"/>
                      <a:r>
                        <a:rPr sz="1250" b="1">
                          <a:solidFill>
                            <a:srgbClr val="2E2E2E"/>
                          </a:solidFill>
                          <a:latin typeface="Arial"/>
                        </a:rPr>
                        <a:t>Construcción</a:t>
                      </a:r>
                    </a:p>
                  </a:txBody>
                  <a:tcPr marL="137160" marR="91440" marT="27432" marB="27432" anchor="ctr">
                    <a:solidFill>
                      <a:srgbClr val="FFE3CF"/>
                    </a:solidFill>
                  </a:tcPr>
                </a:tc>
                <a:tc>
                  <a:txBody>
                    <a:bodyPr wrap="square"/>
                    <a:lstStyle/>
                    <a:p>
                      <a:pPr algn="ctr"/>
                      <a:r>
                        <a:rPr sz="1250" b="0">
                          <a:solidFill>
                            <a:srgbClr val="2E2E2E"/>
                          </a:solidFill>
                          <a:latin typeface="Arial"/>
                        </a:rPr>
                        <a:t>Sí</a:t>
                      </a:r>
                    </a:p>
                  </a:txBody>
                  <a:tcPr marL="137160" marR="91440" marT="27432" marB="27432" anchor="ctr">
                    <a:solidFill>
                      <a:srgbClr val="FFE3CF"/>
                    </a:solidFill>
                  </a:tcPr>
                </a:tc>
                <a:tc>
                  <a:txBody>
                    <a:bodyPr wrap="square"/>
                    <a:lstStyle/>
                    <a:p>
                      <a:pPr algn="ctr"/>
                      <a:r>
                        <a:rPr sz="1250" b="0">
                          <a:solidFill>
                            <a:srgbClr val="2E2E2E"/>
                          </a:solidFill>
                          <a:latin typeface="Arial"/>
                        </a:rPr>
                        <a:t>Sí</a:t>
                      </a:r>
                    </a:p>
                  </a:txBody>
                  <a:tcPr marL="137160" marR="91440" marT="27432" marB="27432" anchor="ctr">
                    <a:solidFill>
                      <a:srgbClr val="FFE3CF"/>
                    </a:solidFill>
                  </a:tcPr>
                </a:tc>
                <a:tc>
                  <a:txBody>
                    <a:bodyPr wrap="square"/>
                    <a:lstStyle/>
                    <a:p>
                      <a:pPr algn="ctr"/>
                      <a:r>
                        <a:rPr sz="1250" b="0">
                          <a:solidFill>
                            <a:srgbClr val="2E2E2E"/>
                          </a:solidFill>
                          <a:latin typeface="Arial"/>
                        </a:rPr>
                        <a:t>Sí</a:t>
                      </a:r>
                    </a:p>
                  </a:txBody>
                  <a:tcPr marL="137160" marR="91440" marT="27432" marB="27432" anchor="ctr">
                    <a:solidFill>
                      <a:srgbClr val="FFE3CF"/>
                    </a:solidFill>
                  </a:tcPr>
                </a:tc>
                <a:tc>
                  <a:txBody>
                    <a:bodyPr wrap="square"/>
                    <a:lstStyle/>
                    <a:p>
                      <a:pPr algn="ctr"/>
                      <a:r>
                        <a:rPr sz="1250" b="0">
                          <a:solidFill>
                            <a:srgbClr val="2E2E2E"/>
                          </a:solidFill>
                          <a:latin typeface="Arial"/>
                        </a:rPr>
                        <a:t>Sí</a:t>
                      </a:r>
                    </a:p>
                  </a:txBody>
                  <a:tcPr marL="137160" marR="91440" marT="27432" marB="27432" anchor="ctr">
                    <a:solidFill>
                      <a:srgbClr val="FFE3CF"/>
                    </a:solidFill>
                  </a:tcPr>
                </a:tc>
              </a:tr>
              <a:tr h="405765">
                <a:tc>
                  <a:txBody>
                    <a:bodyPr wrap="square"/>
                    <a:lstStyle/>
                    <a:p>
                      <a:pPr algn="l"/>
                      <a:r>
                        <a:rPr sz="1250" b="1">
                          <a:solidFill>
                            <a:srgbClr val="1A1A1A"/>
                          </a:solidFill>
                          <a:latin typeface="Arial"/>
                        </a:rPr>
                        <a:t>IWP</a:t>
                      </a:r>
                    </a:p>
                  </a:txBody>
                  <a:tcPr marL="137160" marR="91440" marT="27432" marB="27432" anchor="ctr">
                    <a:solidFill>
                      <a:srgbClr val="FFE3CF"/>
                    </a:solidFill>
                  </a:tcPr>
                </a:tc>
                <a:tc>
                  <a:txBody>
                    <a:bodyPr wrap="square"/>
                    <a:lstStyle/>
                    <a:p>
                      <a:pPr algn="l"/>
                      <a:r>
                        <a:rPr sz="1250" b="1">
                          <a:solidFill>
                            <a:srgbClr val="2E2E2E"/>
                          </a:solidFill>
                          <a:latin typeface="Arial"/>
                        </a:rPr>
                        <a:t>Workface Planning</a:t>
                      </a:r>
                    </a:p>
                  </a:txBody>
                  <a:tcPr marL="137160" marR="91440" marT="27432" marB="27432" anchor="ctr">
                    <a:solidFill>
                      <a:srgbClr val="FFE3CF"/>
                    </a:solidFill>
                  </a:tcPr>
                </a:tc>
                <a:tc>
                  <a:txBody>
                    <a:bodyPr wrap="square"/>
                    <a:lstStyle/>
                    <a:p>
                      <a:pPr algn="ctr"/>
                      <a:r>
                        <a:rPr sz="1250" b="0">
                          <a:solidFill>
                            <a:srgbClr val="2E2E2E"/>
                          </a:solidFill>
                          <a:latin typeface="Arial"/>
                        </a:rPr>
                        <a:t>Sí</a:t>
                      </a:r>
                    </a:p>
                  </a:txBody>
                  <a:tcPr marL="137160" marR="91440" marT="27432" marB="27432" anchor="ctr">
                    <a:solidFill>
                      <a:srgbClr val="FFE3CF"/>
                    </a:solidFill>
                  </a:tcPr>
                </a:tc>
                <a:tc>
                  <a:txBody>
                    <a:bodyPr wrap="square"/>
                    <a:lstStyle/>
                    <a:p>
                      <a:pPr algn="ctr"/>
                      <a:r>
                        <a:rPr sz="1250" b="0">
                          <a:solidFill>
                            <a:srgbClr val="2E2E2E"/>
                          </a:solidFill>
                          <a:latin typeface="Arial"/>
                        </a:rPr>
                        <a:t>Sí</a:t>
                      </a:r>
                    </a:p>
                  </a:txBody>
                  <a:tcPr marL="137160" marR="91440" marT="27432" marB="27432" anchor="ctr">
                    <a:solidFill>
                      <a:srgbClr val="FFE3CF"/>
                    </a:solidFill>
                  </a:tcPr>
                </a:tc>
                <a:tc>
                  <a:txBody>
                    <a:bodyPr wrap="square"/>
                    <a:lstStyle/>
                    <a:p>
                      <a:pPr algn="ctr"/>
                      <a:r>
                        <a:rPr sz="1250" b="0">
                          <a:solidFill>
                            <a:srgbClr val="2E2E2E"/>
                          </a:solidFill>
                          <a:latin typeface="Arial"/>
                        </a:rPr>
                        <a:t>Sí</a:t>
                      </a:r>
                    </a:p>
                  </a:txBody>
                  <a:tcPr marL="137160" marR="91440" marT="27432" marB="27432" anchor="ctr">
                    <a:solidFill>
                      <a:srgbClr val="FFE3CF"/>
                    </a:solidFill>
                  </a:tcPr>
                </a:tc>
                <a:tc>
                  <a:txBody>
                    <a:bodyPr wrap="square"/>
                    <a:lstStyle/>
                    <a:p>
                      <a:pPr algn="ctr"/>
                      <a:r>
                        <a:rPr sz="1250" b="0">
                          <a:solidFill>
                            <a:srgbClr val="2E2E2E"/>
                          </a:solidFill>
                          <a:latin typeface="Arial"/>
                        </a:rPr>
                        <a:t>Sí</a:t>
                      </a:r>
                    </a:p>
                  </a:txBody>
                  <a:tcPr marL="137160" marR="91440" marT="27432" marB="27432" anchor="ctr">
                    <a:solidFill>
                      <a:srgbClr val="FFE3CF"/>
                    </a:solidFill>
                  </a:tcPr>
                </a:tc>
              </a:tr>
            </a:tbl>
          </a:graphicData>
        </a:graphic>
      </p:graphicFrame>
      <p:pic>
        <p:nvPicPr>
          <p:cNvPr id="8" name="Picture 7" descr="layers_o.png"/>
          <p:cNvPicPr>
            <a:picLocks noChangeAspect="1"/>
          </p:cNvPicPr>
          <p:nvPr/>
        </p:nvPicPr>
        <p:blipFill>
          <a:blip r:embed="rId2"/>
          <a:stretch>
            <a:fillRect/>
          </a:stretch>
        </p:blipFill>
        <p:spPr>
          <a:xfrm>
            <a:off x="563727" y="5769864"/>
            <a:ext cx="292608" cy="292608"/>
          </a:xfrm>
          <a:prstGeom prst="rect">
            <a:avLst/>
          </a:prstGeom>
        </p:spPr>
      </p:pic>
      <p:sp>
        <p:nvSpPr>
          <p:cNvPr id="9" name="TextBox 8"/>
          <p:cNvSpPr txBox="1"/>
          <p:nvPr/>
        </p:nvSpPr>
        <p:spPr>
          <a:xfrm>
            <a:off x="1020927" y="5733288"/>
            <a:ext cx="10607040" cy="384048"/>
          </a:xfrm>
          <a:prstGeom prst="rect">
            <a:avLst/>
          </a:prstGeom>
          <a:noFill/>
        </p:spPr>
        <p:txBody>
          <a:bodyPr wrap="square" lIns="0" rIns="0" tIns="0" bIns="0" anchor="ctr">
            <a:spAutoFit/>
          </a:bodyPr>
          <a:lstStyle/>
          <a:p>
            <a:pPr algn="l"/>
            <a:r>
              <a:rPr sz="1200" b="0" i="0">
                <a:solidFill>
                  <a:srgbClr val="2E2E2E"/>
                </a:solidFill>
                <a:latin typeface="Arial"/>
              </a:rPr>
              <a:t>La matriz completa del Procedimiento 2.0 cubre nueve tipos de componente y más de veinte atributos.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8 · INTERCAMBIO DE DATOS</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Los datos de fabricantes se piden en el contrato</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M8 · INFORMACIÓN Y TECNOLOGÍA</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082</a:t>
            </a:r>
          </a:p>
        </p:txBody>
      </p:sp>
      <p:graphicFrame>
        <p:nvGraphicFramePr>
          <p:cNvPr id="7" name="Table 6"/>
          <p:cNvGraphicFramePr>
            <a:graphicFrameLocks noGrp="1"/>
          </p:cNvGraphicFramePr>
          <p:nvPr/>
        </p:nvGraphicFramePr>
        <p:xfrm>
          <a:off x="563727" y="1828800"/>
          <a:ext cx="11064240" cy="3703320"/>
        </p:xfrm>
        <a:graphic>
          <a:graphicData uri="http://schemas.openxmlformats.org/drawingml/2006/table">
            <a:tbl>
              <a:tblPr firstRow="0" bandRow="0">
                <a:tableStyleId>{5C22544A-7EE6-4342-B048-85BDC9FD1C3A}</a:tableStyleId>
              </a:tblPr>
              <a:tblGrid>
                <a:gridCol w="4937760"/>
                <a:gridCol w="6126480"/>
              </a:tblGrid>
              <a:tr h="457200">
                <a:tc>
                  <a:txBody>
                    <a:bodyPr wrap="square"/>
                    <a:lstStyle/>
                    <a:p>
                      <a:pPr algn="l"/>
                      <a:r>
                        <a:rPr sz="1000" b="1" spc="100">
                          <a:solidFill>
                            <a:srgbClr val="FFFFFF"/>
                          </a:solidFill>
                          <a:latin typeface="Arial"/>
                        </a:rPr>
                        <a:t>INTERCAMBIO</a:t>
                      </a:r>
                    </a:p>
                  </a:txBody>
                  <a:tcPr marL="137160" marR="91440" marT="27432" marB="27432" anchor="ctr">
                    <a:solidFill>
                      <a:srgbClr val="1A1A1A"/>
                    </a:solidFill>
                  </a:tcPr>
                </a:tc>
                <a:tc>
                  <a:txBody>
                    <a:bodyPr wrap="square"/>
                    <a:lstStyle/>
                    <a:p>
                      <a:pPr algn="l"/>
                      <a:r>
                        <a:rPr sz="1000" b="1" spc="100">
                          <a:solidFill>
                            <a:srgbClr val="FFFFFF"/>
                          </a:solidFill>
                          <a:latin typeface="Arial"/>
                        </a:rPr>
                        <a:t>FORMATO RECOMENDADO</a:t>
                      </a:r>
                    </a:p>
                  </a:txBody>
                  <a:tcPr marL="137160" marR="91440" marT="27432" marB="27432" anchor="ctr">
                    <a:solidFill>
                      <a:srgbClr val="1A1A1A"/>
                    </a:solidFill>
                  </a:tcPr>
                </a:tc>
              </a:tr>
              <a:tr h="541020">
                <a:tc>
                  <a:txBody>
                    <a:bodyPr wrap="square"/>
                    <a:lstStyle/>
                    <a:p>
                      <a:pPr algn="l"/>
                      <a:r>
                        <a:rPr sz="1350" b="1">
                          <a:solidFill>
                            <a:srgbClr val="1A1A1A"/>
                          </a:solidFill>
                          <a:latin typeface="Arial"/>
                        </a:rPr>
                        <a:t>Fabricación de tuberías → Construcción</a:t>
                      </a:r>
                    </a:p>
                  </a:txBody>
                  <a:tcPr marL="137160" marR="91440" marT="27432" marB="27432" anchor="ctr">
                    <a:solidFill>
                      <a:srgbClr val="FFFFFF"/>
                    </a:solidFill>
                  </a:tcPr>
                </a:tc>
                <a:tc>
                  <a:txBody>
                    <a:bodyPr wrap="square"/>
                    <a:lstStyle/>
                    <a:p>
                      <a:pPr algn="l"/>
                      <a:r>
                        <a:rPr sz="1350" b="0">
                          <a:solidFill>
                            <a:srgbClr val="2E2E2E"/>
                          </a:solidFill>
                          <a:latin typeface="Arial"/>
                        </a:rPr>
                        <a:t>Archivos PCF/IDF y PDF inteligente</a:t>
                      </a:r>
                    </a:p>
                  </a:txBody>
                  <a:tcPr marL="137160" marR="91440" marT="27432" marB="27432" anchor="ctr">
                    <a:solidFill>
                      <a:srgbClr val="FFFFFF"/>
                    </a:solidFill>
                  </a:tcPr>
                </a:tc>
              </a:tr>
              <a:tr h="541020">
                <a:tc>
                  <a:txBody>
                    <a:bodyPr wrap="square"/>
                    <a:lstStyle/>
                    <a:p>
                      <a:pPr algn="l"/>
                      <a:r>
                        <a:rPr sz="1350" b="1">
                          <a:solidFill>
                            <a:srgbClr val="1A1A1A"/>
                          </a:solidFill>
                          <a:latin typeface="Arial"/>
                        </a:rPr>
                        <a:t>Fabricación de acero → Construcción</a:t>
                      </a:r>
                    </a:p>
                  </a:txBody>
                  <a:tcPr marL="137160" marR="91440" marT="27432" marB="27432" anchor="ctr">
                    <a:solidFill>
                      <a:srgbClr val="F7F7F7"/>
                    </a:solidFill>
                  </a:tcPr>
                </a:tc>
                <a:tc>
                  <a:txBody>
                    <a:bodyPr wrap="square"/>
                    <a:lstStyle/>
                    <a:p>
                      <a:pPr algn="l"/>
                      <a:r>
                        <a:rPr sz="1350" b="0">
                          <a:solidFill>
                            <a:srgbClr val="2E2E2E"/>
                          </a:solidFill>
                          <a:latin typeface="Arial"/>
                        </a:rPr>
                        <a:t>Archivos CIS2 y PDF inteligente</a:t>
                      </a:r>
                    </a:p>
                  </a:txBody>
                  <a:tcPr marL="137160" marR="91440" marT="27432" marB="27432" anchor="ctr">
                    <a:solidFill>
                      <a:srgbClr val="F7F7F7"/>
                    </a:solidFill>
                  </a:tcPr>
                </a:tc>
              </a:tr>
              <a:tr h="541020">
                <a:tc>
                  <a:txBody>
                    <a:bodyPr wrap="square"/>
                    <a:lstStyle/>
                    <a:p>
                      <a:pPr algn="l"/>
                      <a:r>
                        <a:rPr sz="1350" b="1">
                          <a:solidFill>
                            <a:srgbClr val="1A1A1A"/>
                          </a:solidFill>
                          <a:latin typeface="Arial"/>
                        </a:rPr>
                        <a:t>Ingeniería → Construcción</a:t>
                      </a:r>
                    </a:p>
                  </a:txBody>
                  <a:tcPr marL="137160" marR="91440" marT="27432" marB="27432" anchor="ctr">
                    <a:solidFill>
                      <a:srgbClr val="FFFFFF"/>
                    </a:solidFill>
                  </a:tcPr>
                </a:tc>
                <a:tc>
                  <a:txBody>
                    <a:bodyPr wrap="square"/>
                    <a:lstStyle/>
                    <a:p>
                      <a:pPr algn="l"/>
                      <a:r>
                        <a:rPr sz="1350" b="0">
                          <a:solidFill>
                            <a:srgbClr val="2E2E2E"/>
                          </a:solidFill>
                          <a:latin typeface="Arial"/>
                        </a:rPr>
                        <a:t>Modelo 3D con todos sus atributos</a:t>
                      </a:r>
                    </a:p>
                  </a:txBody>
                  <a:tcPr marL="137160" marR="91440" marT="27432" marB="27432" anchor="ctr">
                    <a:solidFill>
                      <a:srgbClr val="FFFFFF"/>
                    </a:solidFill>
                  </a:tcPr>
                </a:tc>
              </a:tr>
              <a:tr h="541020">
                <a:tc>
                  <a:txBody>
                    <a:bodyPr wrap="square"/>
                    <a:lstStyle/>
                    <a:p>
                      <a:pPr algn="l"/>
                      <a:r>
                        <a:rPr sz="1350" b="1">
                          <a:solidFill>
                            <a:srgbClr val="1A1A1A"/>
                          </a:solidFill>
                          <a:latin typeface="Arial"/>
                        </a:rPr>
                        <a:t>Ingeniería → Control documental</a:t>
                      </a:r>
                    </a:p>
                  </a:txBody>
                  <a:tcPr marL="137160" marR="91440" marT="27432" marB="27432" anchor="ctr">
                    <a:solidFill>
                      <a:srgbClr val="F7F7F7"/>
                    </a:solidFill>
                  </a:tcPr>
                </a:tc>
                <a:tc>
                  <a:txBody>
                    <a:bodyPr wrap="square"/>
                    <a:lstStyle/>
                    <a:p>
                      <a:pPr algn="l"/>
                      <a:r>
                        <a:rPr sz="1350" b="0">
                          <a:solidFill>
                            <a:srgbClr val="2E2E2E"/>
                          </a:solidFill>
                          <a:latin typeface="Arial"/>
                        </a:rPr>
                        <a:t>PCF/IDF para planos; PDF inteligente para especificaciones</a:t>
                      </a:r>
                    </a:p>
                  </a:txBody>
                  <a:tcPr marL="137160" marR="91440" marT="27432" marB="27432" anchor="ctr">
                    <a:solidFill>
                      <a:srgbClr val="F7F7F7"/>
                    </a:solidFill>
                  </a:tcPr>
                </a:tc>
              </a:tr>
              <a:tr h="541020">
                <a:tc>
                  <a:txBody>
                    <a:bodyPr wrap="square"/>
                    <a:lstStyle/>
                    <a:p>
                      <a:pPr algn="l"/>
                      <a:r>
                        <a:rPr sz="1350" b="1">
                          <a:solidFill>
                            <a:srgbClr val="1A1A1A"/>
                          </a:solidFill>
                          <a:latin typeface="Arial"/>
                        </a:rPr>
                        <a:t>Proveedores de equipos → Materiales</a:t>
                      </a:r>
                    </a:p>
                  </a:txBody>
                  <a:tcPr marL="137160" marR="91440" marT="27432" marB="27432" anchor="ctr">
                    <a:solidFill>
                      <a:srgbClr val="FFFFFF"/>
                    </a:solidFill>
                  </a:tcPr>
                </a:tc>
                <a:tc>
                  <a:txBody>
                    <a:bodyPr wrap="square"/>
                    <a:lstStyle/>
                    <a:p>
                      <a:pPr algn="l"/>
                      <a:r>
                        <a:rPr sz="1350" b="0">
                          <a:solidFill>
                            <a:srgbClr val="2E2E2E"/>
                          </a:solidFill>
                          <a:latin typeface="Arial"/>
                        </a:rPr>
                        <a:t>Base de datos común u hoja de cálculo</a:t>
                      </a:r>
                    </a:p>
                  </a:txBody>
                  <a:tcPr marL="137160" marR="91440" marT="27432" marB="27432" anchor="ctr">
                    <a:solidFill>
                      <a:srgbClr val="FFFFFF"/>
                    </a:solidFill>
                  </a:tcPr>
                </a:tc>
              </a:tr>
              <a:tr h="541020">
                <a:tc>
                  <a:txBody>
                    <a:bodyPr wrap="square"/>
                    <a:lstStyle/>
                    <a:p>
                      <a:pPr algn="l"/>
                      <a:r>
                        <a:rPr sz="1350" b="1">
                          <a:solidFill>
                            <a:srgbClr val="1A1A1A"/>
                          </a:solidFill>
                          <a:latin typeface="Arial"/>
                        </a:rPr>
                        <a:t>Construcción → Controles</a:t>
                      </a:r>
                    </a:p>
                  </a:txBody>
                  <a:tcPr marL="137160" marR="91440" marT="27432" marB="27432" anchor="ctr">
                    <a:solidFill>
                      <a:srgbClr val="F7F7F7"/>
                    </a:solidFill>
                  </a:tcPr>
                </a:tc>
                <a:tc>
                  <a:txBody>
                    <a:bodyPr wrap="square"/>
                    <a:lstStyle/>
                    <a:p>
                      <a:pPr algn="l"/>
                      <a:r>
                        <a:rPr sz="1350" b="0">
                          <a:solidFill>
                            <a:srgbClr val="2E2E2E"/>
                          </a:solidFill>
                          <a:latin typeface="Arial"/>
                        </a:rPr>
                        <a:t>Avance exportado desde el software WFP</a:t>
                      </a:r>
                    </a:p>
                  </a:txBody>
                  <a:tcPr marL="137160" marR="91440" marT="27432" marB="27432" anchor="ctr">
                    <a:solidFill>
                      <a:srgbClr val="F7F7F7"/>
                    </a:solidFill>
                  </a:tcPr>
                </a:tc>
              </a:tr>
            </a:tbl>
          </a:graphicData>
        </a:graphic>
      </p:graphicFrame>
      <p:pic>
        <p:nvPicPr>
          <p:cNvPr id="8" name="Picture 7" descr="contract_o.png"/>
          <p:cNvPicPr>
            <a:picLocks noChangeAspect="1"/>
          </p:cNvPicPr>
          <p:nvPr/>
        </p:nvPicPr>
        <p:blipFill>
          <a:blip r:embed="rId2"/>
          <a:stretch>
            <a:fillRect/>
          </a:stretch>
        </p:blipFill>
        <p:spPr>
          <a:xfrm>
            <a:off x="563727" y="5769864"/>
            <a:ext cx="292608" cy="292608"/>
          </a:xfrm>
          <a:prstGeom prst="rect">
            <a:avLst/>
          </a:prstGeom>
        </p:spPr>
      </p:pic>
      <p:sp>
        <p:nvSpPr>
          <p:cNvPr id="9" name="TextBox 8"/>
          <p:cNvSpPr txBox="1"/>
          <p:nvPr/>
        </p:nvSpPr>
        <p:spPr>
          <a:xfrm>
            <a:off x="1020927" y="5733288"/>
            <a:ext cx="10607040" cy="384048"/>
          </a:xfrm>
          <a:prstGeom prst="rect">
            <a:avLst/>
          </a:prstGeom>
          <a:noFill/>
        </p:spPr>
        <p:txBody>
          <a:bodyPr wrap="square" lIns="0" rIns="0" tIns="0" bIns="0" anchor="ctr">
            <a:spAutoFit/>
          </a:bodyPr>
          <a:lstStyle/>
          <a:p>
            <a:pPr algn="l"/>
            <a:r>
              <a:rPr sz="1200" b="0" i="0">
                <a:solidFill>
                  <a:srgbClr val="2E2E2E"/>
                </a:solidFill>
                <a:latin typeface="Arial"/>
              </a:rPr>
              <a:t>Compras incluye en cada contrato la obligación de entregar estos datos junto con el producto.</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8 · CONTROL DOCUMENTAL</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Un solo repositorio documental elimina el desfase de revisiones</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M8 · INFORMACIÓN Y TECNOLOGÍA</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083</a:t>
            </a:r>
          </a:p>
        </p:txBody>
      </p:sp>
      <p:sp>
        <p:nvSpPr>
          <p:cNvPr id="7" name="Oval 6"/>
          <p:cNvSpPr/>
          <p:nvPr/>
        </p:nvSpPr>
        <p:spPr>
          <a:xfrm>
            <a:off x="1409661" y="2514600"/>
            <a:ext cx="1051560" cy="1051560"/>
          </a:xfrm>
          <a:prstGeom prst="ellipse">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ruler_w.png"/>
          <p:cNvPicPr>
            <a:picLocks noChangeAspect="1"/>
          </p:cNvPicPr>
          <p:nvPr/>
        </p:nvPicPr>
        <p:blipFill>
          <a:blip r:embed="rId2"/>
          <a:stretch>
            <a:fillRect/>
          </a:stretch>
        </p:blipFill>
        <p:spPr>
          <a:xfrm>
            <a:off x="1662036" y="2766974"/>
            <a:ext cx="546811" cy="546811"/>
          </a:xfrm>
          <a:prstGeom prst="rect">
            <a:avLst/>
          </a:prstGeom>
        </p:spPr>
      </p:pic>
      <p:sp>
        <p:nvSpPr>
          <p:cNvPr id="9" name="TextBox 8"/>
          <p:cNvSpPr txBox="1"/>
          <p:nvPr/>
        </p:nvSpPr>
        <p:spPr>
          <a:xfrm>
            <a:off x="640079" y="3749039"/>
            <a:ext cx="2590723" cy="566928"/>
          </a:xfrm>
          <a:prstGeom prst="rect">
            <a:avLst/>
          </a:prstGeom>
          <a:noFill/>
        </p:spPr>
        <p:txBody>
          <a:bodyPr wrap="square" lIns="0" rIns="0" tIns="0" bIns="0" anchor="t">
            <a:spAutoFit/>
          </a:bodyPr>
          <a:lstStyle/>
          <a:p>
            <a:pPr algn="ctr">
              <a:lnSpc>
                <a:spcPct val="95000"/>
              </a:lnSpc>
            </a:pPr>
            <a:r>
              <a:rPr sz="1400" b="1" i="0">
                <a:solidFill>
                  <a:srgbClr val="1A1A1A"/>
                </a:solidFill>
                <a:latin typeface="Arial"/>
              </a:rPr>
              <a:t>Ingeniería</a:t>
            </a:r>
          </a:p>
        </p:txBody>
      </p:sp>
      <p:sp>
        <p:nvSpPr>
          <p:cNvPr id="10" name="TextBox 9"/>
          <p:cNvSpPr txBox="1"/>
          <p:nvPr/>
        </p:nvSpPr>
        <p:spPr>
          <a:xfrm>
            <a:off x="658367" y="4343400"/>
            <a:ext cx="2554147" cy="1143000"/>
          </a:xfrm>
          <a:prstGeom prst="rect">
            <a:avLst/>
          </a:prstGeom>
          <a:noFill/>
        </p:spPr>
        <p:txBody>
          <a:bodyPr wrap="square" lIns="0" rIns="0" tIns="0" bIns="0" anchor="t">
            <a:spAutoFit/>
          </a:bodyPr>
          <a:lstStyle/>
          <a:p>
            <a:pPr algn="ctr">
              <a:lnSpc>
                <a:spcPct val="105000"/>
              </a:lnSpc>
            </a:pPr>
            <a:r>
              <a:rPr sz="1150" b="0" i="0">
                <a:solidFill>
                  <a:srgbClr val="6D6E71"/>
                </a:solidFill>
                <a:latin typeface="Arial"/>
              </a:rPr>
              <a:t>Carga planos y revisiones</a:t>
            </a:r>
          </a:p>
        </p:txBody>
      </p:sp>
      <p:cxnSp>
        <p:nvCxnSpPr>
          <p:cNvPr id="11" name="Connector 10"/>
          <p:cNvCxnSpPr/>
          <p:nvPr/>
        </p:nvCxnSpPr>
        <p:spPr>
          <a:xfrm>
            <a:off x="2552661" y="3040380"/>
            <a:ext cx="1539164" cy="0"/>
          </a:xfrm>
          <a:prstGeom prst="line">
            <a:avLst/>
          </a:prstGeom>
          <a:ln w="22225">
            <a:solidFill>
              <a:srgbClr val="6D6E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4183265" y="2514600"/>
            <a:ext cx="1051560" cy="1051560"/>
          </a:xfrm>
          <a:prstGeom prst="ellipse">
            <a:avLst/>
          </a:prstGeom>
          <a:solidFill>
            <a:srgbClr val="0078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cloud_w.png"/>
          <p:cNvPicPr>
            <a:picLocks noChangeAspect="1"/>
          </p:cNvPicPr>
          <p:nvPr/>
        </p:nvPicPr>
        <p:blipFill>
          <a:blip r:embed="rId3"/>
          <a:stretch>
            <a:fillRect/>
          </a:stretch>
        </p:blipFill>
        <p:spPr>
          <a:xfrm>
            <a:off x="4435640" y="2766974"/>
            <a:ext cx="546811" cy="546811"/>
          </a:xfrm>
          <a:prstGeom prst="rect">
            <a:avLst/>
          </a:prstGeom>
        </p:spPr>
      </p:pic>
      <p:sp>
        <p:nvSpPr>
          <p:cNvPr id="14" name="TextBox 13"/>
          <p:cNvSpPr txBox="1"/>
          <p:nvPr/>
        </p:nvSpPr>
        <p:spPr>
          <a:xfrm>
            <a:off x="3413683" y="3749039"/>
            <a:ext cx="2590723" cy="566928"/>
          </a:xfrm>
          <a:prstGeom prst="rect">
            <a:avLst/>
          </a:prstGeom>
          <a:noFill/>
        </p:spPr>
        <p:txBody>
          <a:bodyPr wrap="square" lIns="0" rIns="0" tIns="0" bIns="0" anchor="t">
            <a:spAutoFit/>
          </a:bodyPr>
          <a:lstStyle/>
          <a:p>
            <a:pPr algn="ctr">
              <a:lnSpc>
                <a:spcPct val="95000"/>
              </a:lnSpc>
            </a:pPr>
            <a:r>
              <a:rPr sz="1400" b="1" i="0">
                <a:solidFill>
                  <a:srgbClr val="1A1A1A"/>
                </a:solidFill>
                <a:latin typeface="Arial"/>
              </a:rPr>
              <a:t>Repositorio en la nube</a:t>
            </a:r>
          </a:p>
        </p:txBody>
      </p:sp>
      <p:sp>
        <p:nvSpPr>
          <p:cNvPr id="15" name="TextBox 14"/>
          <p:cNvSpPr txBox="1"/>
          <p:nvPr/>
        </p:nvSpPr>
        <p:spPr>
          <a:xfrm>
            <a:off x="3431971" y="4343400"/>
            <a:ext cx="2554147" cy="1143000"/>
          </a:xfrm>
          <a:prstGeom prst="rect">
            <a:avLst/>
          </a:prstGeom>
          <a:noFill/>
        </p:spPr>
        <p:txBody>
          <a:bodyPr wrap="square" lIns="0" rIns="0" tIns="0" bIns="0" anchor="t">
            <a:spAutoFit/>
          </a:bodyPr>
          <a:lstStyle/>
          <a:p>
            <a:pPr algn="ctr">
              <a:lnSpc>
                <a:spcPct val="105000"/>
              </a:lnSpc>
            </a:pPr>
            <a:r>
              <a:rPr sz="1150" b="0" i="0">
                <a:solidFill>
                  <a:srgbClr val="6D6E71"/>
                </a:solidFill>
                <a:latin typeface="Arial"/>
              </a:rPr>
              <a:t>Documentos ordenados por WBS, con permisos</a:t>
            </a:r>
          </a:p>
        </p:txBody>
      </p:sp>
      <p:cxnSp>
        <p:nvCxnSpPr>
          <p:cNvPr id="16" name="Connector 15"/>
          <p:cNvCxnSpPr/>
          <p:nvPr/>
        </p:nvCxnSpPr>
        <p:spPr>
          <a:xfrm>
            <a:off x="5326265" y="3040380"/>
            <a:ext cx="1539164" cy="0"/>
          </a:xfrm>
          <a:prstGeom prst="line">
            <a:avLst/>
          </a:prstGeom>
          <a:ln w="22225">
            <a:solidFill>
              <a:srgbClr val="6D6E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6956869" y="2514600"/>
            <a:ext cx="1051560" cy="1051560"/>
          </a:xfrm>
          <a:prstGeom prst="ellipse">
            <a:avLst/>
          </a:prstGeom>
          <a:solidFill>
            <a:srgbClr val="0078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ube_w.png"/>
          <p:cNvPicPr>
            <a:picLocks noChangeAspect="1"/>
          </p:cNvPicPr>
          <p:nvPr/>
        </p:nvPicPr>
        <p:blipFill>
          <a:blip r:embed="rId4"/>
          <a:stretch>
            <a:fillRect/>
          </a:stretch>
        </p:blipFill>
        <p:spPr>
          <a:xfrm>
            <a:off x="7209243" y="2766974"/>
            <a:ext cx="546811" cy="546811"/>
          </a:xfrm>
          <a:prstGeom prst="rect">
            <a:avLst/>
          </a:prstGeom>
        </p:spPr>
      </p:pic>
      <p:sp>
        <p:nvSpPr>
          <p:cNvPr id="19" name="TextBox 18"/>
          <p:cNvSpPr txBox="1"/>
          <p:nvPr/>
        </p:nvSpPr>
        <p:spPr>
          <a:xfrm>
            <a:off x="6187287" y="3749039"/>
            <a:ext cx="2590723" cy="566928"/>
          </a:xfrm>
          <a:prstGeom prst="rect">
            <a:avLst/>
          </a:prstGeom>
          <a:noFill/>
        </p:spPr>
        <p:txBody>
          <a:bodyPr wrap="square" lIns="0" rIns="0" tIns="0" bIns="0" anchor="t">
            <a:spAutoFit/>
          </a:bodyPr>
          <a:lstStyle/>
          <a:p>
            <a:pPr algn="ctr">
              <a:lnSpc>
                <a:spcPct val="95000"/>
              </a:lnSpc>
            </a:pPr>
            <a:r>
              <a:rPr sz="1400" b="1" i="0">
                <a:solidFill>
                  <a:srgbClr val="1A1A1A"/>
                </a:solidFill>
                <a:latin typeface="Arial"/>
              </a:rPr>
              <a:t>Modelo 3D</a:t>
            </a:r>
          </a:p>
        </p:txBody>
      </p:sp>
      <p:sp>
        <p:nvSpPr>
          <p:cNvPr id="20" name="TextBox 19"/>
          <p:cNvSpPr txBox="1"/>
          <p:nvPr/>
        </p:nvSpPr>
        <p:spPr>
          <a:xfrm>
            <a:off x="6205575" y="4343400"/>
            <a:ext cx="2554147" cy="1143000"/>
          </a:xfrm>
          <a:prstGeom prst="rect">
            <a:avLst/>
          </a:prstGeom>
          <a:noFill/>
        </p:spPr>
        <p:txBody>
          <a:bodyPr wrap="square" lIns="0" rIns="0" tIns="0" bIns="0" anchor="t">
            <a:spAutoFit/>
          </a:bodyPr>
          <a:lstStyle/>
          <a:p>
            <a:pPr algn="ctr">
              <a:lnSpc>
                <a:spcPct val="105000"/>
              </a:lnSpc>
            </a:pPr>
            <a:r>
              <a:rPr sz="1150" b="0" i="0">
                <a:solidFill>
                  <a:srgbClr val="6D6E71"/>
                </a:solidFill>
                <a:latin typeface="Arial"/>
              </a:rPr>
              <a:t>Enlaza cada objeto con su plano vigente</a:t>
            </a:r>
          </a:p>
        </p:txBody>
      </p:sp>
      <p:cxnSp>
        <p:nvCxnSpPr>
          <p:cNvPr id="21" name="Connector 20"/>
          <p:cNvCxnSpPr/>
          <p:nvPr/>
        </p:nvCxnSpPr>
        <p:spPr>
          <a:xfrm>
            <a:off x="8099869" y="3040380"/>
            <a:ext cx="1539164" cy="0"/>
          </a:xfrm>
          <a:prstGeom prst="line">
            <a:avLst/>
          </a:prstGeom>
          <a:ln w="22225">
            <a:solidFill>
              <a:srgbClr val="6D6E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9730473" y="2514600"/>
            <a:ext cx="1051560" cy="105156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helmet_w.png"/>
          <p:cNvPicPr>
            <a:picLocks noChangeAspect="1"/>
          </p:cNvPicPr>
          <p:nvPr/>
        </p:nvPicPr>
        <p:blipFill>
          <a:blip r:embed="rId5"/>
          <a:stretch>
            <a:fillRect/>
          </a:stretch>
        </p:blipFill>
        <p:spPr>
          <a:xfrm>
            <a:off x="9982847" y="2766974"/>
            <a:ext cx="546811" cy="546811"/>
          </a:xfrm>
          <a:prstGeom prst="rect">
            <a:avLst/>
          </a:prstGeom>
        </p:spPr>
      </p:pic>
      <p:sp>
        <p:nvSpPr>
          <p:cNvPr id="24" name="TextBox 23"/>
          <p:cNvSpPr txBox="1"/>
          <p:nvPr/>
        </p:nvSpPr>
        <p:spPr>
          <a:xfrm>
            <a:off x="8960891" y="3749039"/>
            <a:ext cx="2590723" cy="566928"/>
          </a:xfrm>
          <a:prstGeom prst="rect">
            <a:avLst/>
          </a:prstGeom>
          <a:noFill/>
        </p:spPr>
        <p:txBody>
          <a:bodyPr wrap="square" lIns="0" rIns="0" tIns="0" bIns="0" anchor="t">
            <a:spAutoFit/>
          </a:bodyPr>
          <a:lstStyle/>
          <a:p>
            <a:pPr algn="ctr">
              <a:lnSpc>
                <a:spcPct val="95000"/>
              </a:lnSpc>
            </a:pPr>
            <a:r>
              <a:rPr sz="1400" b="1" i="0">
                <a:solidFill>
                  <a:srgbClr val="1A1A1A"/>
                </a:solidFill>
                <a:latin typeface="Arial"/>
              </a:rPr>
              <a:t>Construcción</a:t>
            </a:r>
          </a:p>
        </p:txBody>
      </p:sp>
      <p:sp>
        <p:nvSpPr>
          <p:cNvPr id="25" name="TextBox 24"/>
          <p:cNvSpPr txBox="1"/>
          <p:nvPr/>
        </p:nvSpPr>
        <p:spPr>
          <a:xfrm>
            <a:off x="8979179" y="4343400"/>
            <a:ext cx="2554147" cy="1143000"/>
          </a:xfrm>
          <a:prstGeom prst="rect">
            <a:avLst/>
          </a:prstGeom>
          <a:noFill/>
        </p:spPr>
        <p:txBody>
          <a:bodyPr wrap="square" lIns="0" rIns="0" tIns="0" bIns="0" anchor="t">
            <a:spAutoFit/>
          </a:bodyPr>
          <a:lstStyle/>
          <a:p>
            <a:pPr algn="ctr">
              <a:lnSpc>
                <a:spcPct val="105000"/>
              </a:lnSpc>
            </a:pPr>
            <a:r>
              <a:rPr sz="1150" b="0" i="0">
                <a:solidFill>
                  <a:srgbClr val="6D6E71"/>
                </a:solidFill>
                <a:latin typeface="Arial"/>
              </a:rPr>
              <a:t>Consulta e imprime su IWP</a:t>
            </a:r>
          </a:p>
        </p:txBody>
      </p:sp>
      <p:sp>
        <p:nvSpPr>
          <p:cNvPr id="26" name="Rectangle 25"/>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flag_o.png"/>
          <p:cNvPicPr>
            <a:picLocks noChangeAspect="1"/>
          </p:cNvPicPr>
          <p:nvPr/>
        </p:nvPicPr>
        <p:blipFill>
          <a:blip r:embed="rId6"/>
          <a:stretch>
            <a:fillRect/>
          </a:stretch>
        </p:blipFill>
        <p:spPr>
          <a:xfrm>
            <a:off x="822959" y="5660136"/>
            <a:ext cx="365760" cy="365760"/>
          </a:xfrm>
          <a:prstGeom prst="rect">
            <a:avLst/>
          </a:prstGeom>
        </p:spPr>
      </p:pic>
      <p:sp>
        <p:nvSpPr>
          <p:cNvPr id="28" name="TextBox 27"/>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Sin desfase entre la emisión de una revisión y su llegada a campo, y con menos personal documental en obra.</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8 · MATERIALES</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Los materiales se agrupan por IWP hasta 8 semanas antes</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M8 · INFORMACIÓN Y TECNOLOGÍA</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084</a:t>
            </a:r>
          </a:p>
        </p:txBody>
      </p:sp>
      <p:sp>
        <p:nvSpPr>
          <p:cNvPr id="7" name="Rectangle 6"/>
          <p:cNvSpPr/>
          <p:nvPr/>
        </p:nvSpPr>
        <p:spPr>
          <a:xfrm>
            <a:off x="548640" y="1874519"/>
            <a:ext cx="2567863" cy="31546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1</a:t>
            </a:r>
          </a:p>
        </p:txBody>
      </p:sp>
      <p:pic>
        <p:nvPicPr>
          <p:cNvPr id="10" name="Picture 9" descr="listcheck_o.png"/>
          <p:cNvPicPr>
            <a:picLocks noChangeAspect="1"/>
          </p:cNvPicPr>
          <p:nvPr/>
        </p:nvPicPr>
        <p:blipFill>
          <a:blip r:embed="rId2"/>
          <a:stretch>
            <a:fillRect/>
          </a:stretch>
        </p:blipFill>
        <p:spPr>
          <a:xfrm>
            <a:off x="2458135" y="2148839"/>
            <a:ext cx="420624" cy="420624"/>
          </a:xfrm>
          <a:prstGeom prst="rect">
            <a:avLst/>
          </a:prstGeom>
        </p:spPr>
      </p:pic>
      <p:sp>
        <p:nvSpPr>
          <p:cNvPr id="11" name="TextBox 10"/>
          <p:cNvSpPr txBox="1"/>
          <p:nvPr/>
        </p:nvSpPr>
        <p:spPr>
          <a:xfrm>
            <a:off x="777240"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Lista por IWP</a:t>
            </a:r>
          </a:p>
        </p:txBody>
      </p:sp>
      <p:sp>
        <p:nvSpPr>
          <p:cNvPr id="12" name="TextBox 11"/>
          <p:cNvSpPr txBox="1"/>
          <p:nvPr/>
        </p:nvSpPr>
        <p:spPr>
          <a:xfrm>
            <a:off x="777240" y="3429000"/>
            <a:ext cx="2156383" cy="73152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El planificador envía la lista de materiales del paquete</a:t>
            </a:r>
          </a:p>
        </p:txBody>
      </p:sp>
      <p:cxnSp>
        <p:nvCxnSpPr>
          <p:cNvPr id="13" name="Connector 12"/>
          <p:cNvCxnSpPr/>
          <p:nvPr/>
        </p:nvCxnSpPr>
        <p:spPr>
          <a:xfrm>
            <a:off x="777240" y="4160520"/>
            <a:ext cx="2110663" cy="0"/>
          </a:xfrm>
          <a:prstGeom prst="line">
            <a:avLst/>
          </a:prstGeom>
          <a:ln w="12700">
            <a:solidFill>
              <a:srgbClr val="BCBEC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77240" y="4270248"/>
            <a:ext cx="1379143" cy="274320"/>
          </a:xfrm>
          <a:prstGeom prst="rect">
            <a:avLst/>
          </a:prstGeom>
          <a:noFill/>
        </p:spPr>
        <p:txBody>
          <a:bodyPr wrap="square" lIns="0" rIns="0" tIns="0" bIns="0" anchor="ctr">
            <a:spAutoFit/>
          </a:bodyPr>
          <a:lstStyle/>
          <a:p>
            <a:pPr algn="l"/>
            <a:r>
              <a:rPr sz="1000" b="0" i="0">
                <a:solidFill>
                  <a:srgbClr val="6D6E71"/>
                </a:solidFill>
                <a:latin typeface="Arial"/>
              </a:rPr>
              <a:t>Anticipación</a:t>
            </a:r>
          </a:p>
        </p:txBody>
      </p:sp>
      <p:sp>
        <p:nvSpPr>
          <p:cNvPr id="15" name="TextBox 14"/>
          <p:cNvSpPr txBox="1"/>
          <p:nvPr/>
        </p:nvSpPr>
        <p:spPr>
          <a:xfrm>
            <a:off x="1927783" y="4270248"/>
            <a:ext cx="960120" cy="274320"/>
          </a:xfrm>
          <a:prstGeom prst="rect">
            <a:avLst/>
          </a:prstGeom>
          <a:noFill/>
        </p:spPr>
        <p:txBody>
          <a:bodyPr wrap="square" lIns="0" rIns="0" tIns="0" bIns="0" anchor="ctr">
            <a:spAutoFit/>
          </a:bodyPr>
          <a:lstStyle/>
          <a:p>
            <a:pPr algn="r"/>
            <a:r>
              <a:rPr sz="1200" b="1" i="0">
                <a:solidFill>
                  <a:srgbClr val="FF6600"/>
                </a:solidFill>
                <a:latin typeface="Courier New"/>
              </a:rPr>
              <a:t>−8 sem</a:t>
            </a:r>
          </a:p>
        </p:txBody>
      </p:sp>
      <p:cxnSp>
        <p:nvCxnSpPr>
          <p:cNvPr id="16" name="Connector 15"/>
          <p:cNvCxnSpPr/>
          <p:nvPr/>
        </p:nvCxnSpPr>
        <p:spPr>
          <a:xfrm>
            <a:off x="3153079" y="3451860"/>
            <a:ext cx="201168"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3390823" y="1874519"/>
            <a:ext cx="2567863" cy="31546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3619423"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619423"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2</a:t>
            </a:r>
          </a:p>
        </p:txBody>
      </p:sp>
      <p:pic>
        <p:nvPicPr>
          <p:cNvPr id="20" name="Picture 19" descr="warehouse_o.png"/>
          <p:cNvPicPr>
            <a:picLocks noChangeAspect="1"/>
          </p:cNvPicPr>
          <p:nvPr/>
        </p:nvPicPr>
        <p:blipFill>
          <a:blip r:embed="rId3"/>
          <a:stretch>
            <a:fillRect/>
          </a:stretch>
        </p:blipFill>
        <p:spPr>
          <a:xfrm>
            <a:off x="5300319" y="2148839"/>
            <a:ext cx="420624" cy="420624"/>
          </a:xfrm>
          <a:prstGeom prst="rect">
            <a:avLst/>
          </a:prstGeom>
        </p:spPr>
      </p:pic>
      <p:sp>
        <p:nvSpPr>
          <p:cNvPr id="21" name="TextBox 20"/>
          <p:cNvSpPr txBox="1"/>
          <p:nvPr/>
        </p:nvSpPr>
        <p:spPr>
          <a:xfrm>
            <a:off x="3619423"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Agrupar al recibir</a:t>
            </a:r>
          </a:p>
        </p:txBody>
      </p:sp>
      <p:sp>
        <p:nvSpPr>
          <p:cNvPr id="22" name="TextBox 21"/>
          <p:cNvSpPr txBox="1"/>
          <p:nvPr/>
        </p:nvSpPr>
        <p:spPr>
          <a:xfrm>
            <a:off x="3619423" y="3429000"/>
            <a:ext cx="2156383" cy="73152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El almacén separa las entregas por paquete</a:t>
            </a:r>
          </a:p>
        </p:txBody>
      </p:sp>
      <p:cxnSp>
        <p:nvCxnSpPr>
          <p:cNvPr id="23" name="Connector 22"/>
          <p:cNvCxnSpPr/>
          <p:nvPr/>
        </p:nvCxnSpPr>
        <p:spPr>
          <a:xfrm>
            <a:off x="3619423" y="4160520"/>
            <a:ext cx="2110664" cy="0"/>
          </a:xfrm>
          <a:prstGeom prst="line">
            <a:avLst/>
          </a:prstGeom>
          <a:ln w="12700">
            <a:solidFill>
              <a:srgbClr val="BCBEC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619423" y="4270248"/>
            <a:ext cx="1379143" cy="274320"/>
          </a:xfrm>
          <a:prstGeom prst="rect">
            <a:avLst/>
          </a:prstGeom>
          <a:noFill/>
        </p:spPr>
        <p:txBody>
          <a:bodyPr wrap="square" lIns="0" rIns="0" tIns="0" bIns="0" anchor="ctr">
            <a:spAutoFit/>
          </a:bodyPr>
          <a:lstStyle/>
          <a:p>
            <a:pPr algn="l"/>
            <a:r>
              <a:rPr sz="1000" b="0" i="0">
                <a:solidFill>
                  <a:srgbClr val="6D6E71"/>
                </a:solidFill>
                <a:latin typeface="Arial"/>
              </a:rPr>
              <a:t>Al recibir</a:t>
            </a:r>
          </a:p>
        </p:txBody>
      </p:sp>
      <p:sp>
        <p:nvSpPr>
          <p:cNvPr id="25" name="TextBox 24"/>
          <p:cNvSpPr txBox="1"/>
          <p:nvPr/>
        </p:nvSpPr>
        <p:spPr>
          <a:xfrm>
            <a:off x="4769967" y="4270248"/>
            <a:ext cx="960120" cy="274320"/>
          </a:xfrm>
          <a:prstGeom prst="rect">
            <a:avLst/>
          </a:prstGeom>
          <a:noFill/>
        </p:spPr>
        <p:txBody>
          <a:bodyPr wrap="square" lIns="0" rIns="0" tIns="0" bIns="0" anchor="ctr">
            <a:spAutoFit/>
          </a:bodyPr>
          <a:lstStyle/>
          <a:p>
            <a:pPr algn="r"/>
            <a:r>
              <a:rPr sz="1200" b="1" i="0">
                <a:solidFill>
                  <a:srgbClr val="003087"/>
                </a:solidFill>
                <a:latin typeface="Courier New"/>
              </a:rPr>
              <a:t>continuo</a:t>
            </a:r>
          </a:p>
        </p:txBody>
      </p:sp>
      <p:cxnSp>
        <p:nvCxnSpPr>
          <p:cNvPr id="26" name="Connector 25"/>
          <p:cNvCxnSpPr/>
          <p:nvPr/>
        </p:nvCxnSpPr>
        <p:spPr>
          <a:xfrm>
            <a:off x="5995263" y="3451860"/>
            <a:ext cx="201168"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6233007" y="1874519"/>
            <a:ext cx="2567863" cy="31546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6461607"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461607"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3</a:t>
            </a:r>
          </a:p>
        </p:txBody>
      </p:sp>
      <p:pic>
        <p:nvPicPr>
          <p:cNvPr id="30" name="Picture 29" descr="barcode_o.png"/>
          <p:cNvPicPr>
            <a:picLocks noChangeAspect="1"/>
          </p:cNvPicPr>
          <p:nvPr/>
        </p:nvPicPr>
        <p:blipFill>
          <a:blip r:embed="rId4"/>
          <a:stretch>
            <a:fillRect/>
          </a:stretch>
        </p:blipFill>
        <p:spPr>
          <a:xfrm>
            <a:off x="8142503" y="2148839"/>
            <a:ext cx="420624" cy="420624"/>
          </a:xfrm>
          <a:prstGeom prst="rect">
            <a:avLst/>
          </a:prstGeom>
        </p:spPr>
      </p:pic>
      <p:sp>
        <p:nvSpPr>
          <p:cNvPr id="31" name="TextBox 30"/>
          <p:cNvSpPr txBox="1"/>
          <p:nvPr/>
        </p:nvSpPr>
        <p:spPr>
          <a:xfrm>
            <a:off x="6461607"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Separar y etiquetar</a:t>
            </a:r>
          </a:p>
        </p:txBody>
      </p:sp>
      <p:sp>
        <p:nvSpPr>
          <p:cNvPr id="32" name="TextBox 31"/>
          <p:cNvSpPr txBox="1"/>
          <p:nvPr/>
        </p:nvSpPr>
        <p:spPr>
          <a:xfrm>
            <a:off x="6461607" y="3429000"/>
            <a:ext cx="2156383" cy="73152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Material del IWP listo al entrar al look-ahead</a:t>
            </a:r>
          </a:p>
        </p:txBody>
      </p:sp>
      <p:cxnSp>
        <p:nvCxnSpPr>
          <p:cNvPr id="33" name="Connector 32"/>
          <p:cNvCxnSpPr/>
          <p:nvPr/>
        </p:nvCxnSpPr>
        <p:spPr>
          <a:xfrm>
            <a:off x="6461607" y="4160520"/>
            <a:ext cx="2110664" cy="0"/>
          </a:xfrm>
          <a:prstGeom prst="line">
            <a:avLst/>
          </a:prstGeom>
          <a:ln w="12700">
            <a:solidFill>
              <a:srgbClr val="BCBEC0"/>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461607" y="4270248"/>
            <a:ext cx="1379143" cy="274320"/>
          </a:xfrm>
          <a:prstGeom prst="rect">
            <a:avLst/>
          </a:prstGeom>
          <a:noFill/>
        </p:spPr>
        <p:txBody>
          <a:bodyPr wrap="square" lIns="0" rIns="0" tIns="0" bIns="0" anchor="ctr">
            <a:spAutoFit/>
          </a:bodyPr>
          <a:lstStyle/>
          <a:p>
            <a:pPr algn="l"/>
            <a:r>
              <a:rPr sz="1000" b="0" i="0">
                <a:solidFill>
                  <a:srgbClr val="6D6E71"/>
                </a:solidFill>
                <a:latin typeface="Arial"/>
              </a:rPr>
              <a:t>Look-ahead</a:t>
            </a:r>
          </a:p>
        </p:txBody>
      </p:sp>
      <p:sp>
        <p:nvSpPr>
          <p:cNvPr id="35" name="TextBox 34"/>
          <p:cNvSpPr txBox="1"/>
          <p:nvPr/>
        </p:nvSpPr>
        <p:spPr>
          <a:xfrm>
            <a:off x="7612151" y="4270248"/>
            <a:ext cx="960120" cy="274320"/>
          </a:xfrm>
          <a:prstGeom prst="rect">
            <a:avLst/>
          </a:prstGeom>
          <a:noFill/>
        </p:spPr>
        <p:txBody>
          <a:bodyPr wrap="square" lIns="0" rIns="0" tIns="0" bIns="0" anchor="ctr">
            <a:spAutoFit/>
          </a:bodyPr>
          <a:lstStyle/>
          <a:p>
            <a:pPr algn="r"/>
            <a:r>
              <a:rPr sz="1200" b="1" i="0">
                <a:solidFill>
                  <a:srgbClr val="FF6600"/>
                </a:solidFill>
                <a:latin typeface="Courier New"/>
              </a:rPr>
              <a:t>−2 sem</a:t>
            </a:r>
          </a:p>
        </p:txBody>
      </p:sp>
      <p:cxnSp>
        <p:nvCxnSpPr>
          <p:cNvPr id="36" name="Connector 35"/>
          <p:cNvCxnSpPr/>
          <p:nvPr/>
        </p:nvCxnSpPr>
        <p:spPr>
          <a:xfrm>
            <a:off x="8837447" y="3451860"/>
            <a:ext cx="201168"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9075191" y="1874519"/>
            <a:ext cx="2567863" cy="31546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9303791"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303791"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4</a:t>
            </a:r>
          </a:p>
        </p:txBody>
      </p:sp>
      <p:pic>
        <p:nvPicPr>
          <p:cNvPr id="40" name="Picture 39" descr="truck_o.png"/>
          <p:cNvPicPr>
            <a:picLocks noChangeAspect="1"/>
          </p:cNvPicPr>
          <p:nvPr/>
        </p:nvPicPr>
        <p:blipFill>
          <a:blip r:embed="rId5"/>
          <a:stretch>
            <a:fillRect/>
          </a:stretch>
        </p:blipFill>
        <p:spPr>
          <a:xfrm>
            <a:off x="10984687" y="2148839"/>
            <a:ext cx="420624" cy="420624"/>
          </a:xfrm>
          <a:prstGeom prst="rect">
            <a:avLst/>
          </a:prstGeom>
        </p:spPr>
      </p:pic>
      <p:sp>
        <p:nvSpPr>
          <p:cNvPr id="41" name="TextBox 40"/>
          <p:cNvSpPr txBox="1"/>
          <p:nvPr/>
        </p:nvSpPr>
        <p:spPr>
          <a:xfrm>
            <a:off x="9303791"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Pedir al frente</a:t>
            </a:r>
          </a:p>
        </p:txBody>
      </p:sp>
      <p:sp>
        <p:nvSpPr>
          <p:cNvPr id="42" name="TextBox 41"/>
          <p:cNvSpPr txBox="1"/>
          <p:nvPr/>
        </p:nvSpPr>
        <p:spPr>
          <a:xfrm>
            <a:off x="9303791" y="3429000"/>
            <a:ext cx="2156383" cy="73152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El capataz general lo solicita una semana antes</a:t>
            </a:r>
          </a:p>
        </p:txBody>
      </p:sp>
      <p:cxnSp>
        <p:nvCxnSpPr>
          <p:cNvPr id="43" name="Connector 42"/>
          <p:cNvCxnSpPr/>
          <p:nvPr/>
        </p:nvCxnSpPr>
        <p:spPr>
          <a:xfrm>
            <a:off x="9303791" y="4160520"/>
            <a:ext cx="2110664" cy="0"/>
          </a:xfrm>
          <a:prstGeom prst="line">
            <a:avLst/>
          </a:prstGeom>
          <a:ln w="12700">
            <a:solidFill>
              <a:srgbClr val="BCBEC0"/>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9303791" y="4270248"/>
            <a:ext cx="1379143" cy="274320"/>
          </a:xfrm>
          <a:prstGeom prst="rect">
            <a:avLst/>
          </a:prstGeom>
          <a:noFill/>
        </p:spPr>
        <p:txBody>
          <a:bodyPr wrap="square" lIns="0" rIns="0" tIns="0" bIns="0" anchor="ctr">
            <a:spAutoFit/>
          </a:bodyPr>
          <a:lstStyle/>
          <a:p>
            <a:pPr algn="l"/>
            <a:r>
              <a:rPr sz="1000" b="0" i="0">
                <a:solidFill>
                  <a:srgbClr val="6D6E71"/>
                </a:solidFill>
                <a:latin typeface="Arial"/>
              </a:rPr>
              <a:t>Pedido</a:t>
            </a:r>
          </a:p>
        </p:txBody>
      </p:sp>
      <p:sp>
        <p:nvSpPr>
          <p:cNvPr id="45" name="TextBox 44"/>
          <p:cNvSpPr txBox="1"/>
          <p:nvPr/>
        </p:nvSpPr>
        <p:spPr>
          <a:xfrm>
            <a:off x="10454335" y="4270248"/>
            <a:ext cx="960120" cy="274320"/>
          </a:xfrm>
          <a:prstGeom prst="rect">
            <a:avLst/>
          </a:prstGeom>
          <a:noFill/>
        </p:spPr>
        <p:txBody>
          <a:bodyPr wrap="square" lIns="0" rIns="0" tIns="0" bIns="0" anchor="ctr">
            <a:spAutoFit/>
          </a:bodyPr>
          <a:lstStyle/>
          <a:p>
            <a:pPr algn="r"/>
            <a:r>
              <a:rPr sz="1200" b="1" i="0">
                <a:solidFill>
                  <a:srgbClr val="FF6600"/>
                </a:solidFill>
                <a:latin typeface="Courier New"/>
              </a:rPr>
              <a:t>−1 sem</a:t>
            </a:r>
          </a:p>
        </p:txBody>
      </p:sp>
      <p:sp>
        <p:nvSpPr>
          <p:cNvPr id="46" name="Rectangle 45"/>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flag_o.png"/>
          <p:cNvPicPr>
            <a:picLocks noChangeAspect="1"/>
          </p:cNvPicPr>
          <p:nvPr/>
        </p:nvPicPr>
        <p:blipFill>
          <a:blip r:embed="rId6"/>
          <a:stretch>
            <a:fillRect/>
          </a:stretch>
        </p:blipFill>
        <p:spPr>
          <a:xfrm>
            <a:off x="822959" y="5660136"/>
            <a:ext cx="365760" cy="365760"/>
          </a:xfrm>
          <a:prstGeom prst="rect">
            <a:avLst/>
          </a:prstGeom>
        </p:spPr>
      </p:pic>
      <p:sp>
        <p:nvSpPr>
          <p:cNvPr id="48" name="TextBox 47"/>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Con una base de datos de materiales, el IWP se carga como una reserva y el material se asigna al recibirse.</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8 · ANDAMIOS Y EQUIPOS</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Andamios y equipos se piden desde el IWP con 2 semanas de anticipación</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M8 · INFORMACIÓN Y TECNOLOGÍA</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085</a:t>
            </a:r>
          </a:p>
        </p:txBody>
      </p:sp>
      <p:sp>
        <p:nvSpPr>
          <p:cNvPr id="7" name="Rectangle 6"/>
          <p:cNvSpPr/>
          <p:nvPr/>
        </p:nvSpPr>
        <p:spPr>
          <a:xfrm>
            <a:off x="548640" y="1874519"/>
            <a:ext cx="2567863"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1</a:t>
            </a:r>
          </a:p>
        </p:txBody>
      </p:sp>
      <p:pic>
        <p:nvPicPr>
          <p:cNvPr id="10" name="Picture 9" descr="clip_o.png"/>
          <p:cNvPicPr>
            <a:picLocks noChangeAspect="1"/>
          </p:cNvPicPr>
          <p:nvPr/>
        </p:nvPicPr>
        <p:blipFill>
          <a:blip r:embed="rId2"/>
          <a:stretch>
            <a:fillRect/>
          </a:stretch>
        </p:blipFill>
        <p:spPr>
          <a:xfrm>
            <a:off x="2458135" y="2148839"/>
            <a:ext cx="420624" cy="420624"/>
          </a:xfrm>
          <a:prstGeom prst="rect">
            <a:avLst/>
          </a:prstGeom>
        </p:spPr>
      </p:pic>
      <p:sp>
        <p:nvSpPr>
          <p:cNvPr id="11" name="TextBox 10"/>
          <p:cNvSpPr txBox="1"/>
          <p:nvPr/>
        </p:nvSpPr>
        <p:spPr>
          <a:xfrm>
            <a:off x="777240"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El IWP detecta la necesidad</a:t>
            </a:r>
          </a:p>
        </p:txBody>
      </p:sp>
      <p:sp>
        <p:nvSpPr>
          <p:cNvPr id="12" name="TextBox 11"/>
          <p:cNvSpPr txBox="1"/>
          <p:nvPr/>
        </p:nvSpPr>
        <p:spPr>
          <a:xfrm>
            <a:off x="777240" y="3429000"/>
            <a:ext cx="2156383"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Andamios, grúas, elevadores y soldadoras</a:t>
            </a:r>
          </a:p>
        </p:txBody>
      </p:sp>
      <p:cxnSp>
        <p:nvCxnSpPr>
          <p:cNvPr id="13" name="Connector 12"/>
          <p:cNvCxnSpPr/>
          <p:nvPr/>
        </p:nvCxnSpPr>
        <p:spPr>
          <a:xfrm>
            <a:off x="3153079" y="3291839"/>
            <a:ext cx="201168"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3390823" y="1874519"/>
            <a:ext cx="2567863"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3619423"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619423"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2</a:t>
            </a:r>
          </a:p>
        </p:txBody>
      </p:sp>
      <p:pic>
        <p:nvPicPr>
          <p:cNvPr id="17" name="Picture 16" descr="file_o.png"/>
          <p:cNvPicPr>
            <a:picLocks noChangeAspect="1"/>
          </p:cNvPicPr>
          <p:nvPr/>
        </p:nvPicPr>
        <p:blipFill>
          <a:blip r:embed="rId3"/>
          <a:stretch>
            <a:fillRect/>
          </a:stretch>
        </p:blipFill>
        <p:spPr>
          <a:xfrm>
            <a:off x="5300319" y="2148839"/>
            <a:ext cx="420624" cy="420624"/>
          </a:xfrm>
          <a:prstGeom prst="rect">
            <a:avLst/>
          </a:prstGeom>
        </p:spPr>
      </p:pic>
      <p:sp>
        <p:nvSpPr>
          <p:cNvPr id="18" name="TextBox 17"/>
          <p:cNvSpPr txBox="1"/>
          <p:nvPr/>
        </p:nvSpPr>
        <p:spPr>
          <a:xfrm>
            <a:off x="3619423"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Solicitud electrónica</a:t>
            </a:r>
          </a:p>
        </p:txBody>
      </p:sp>
      <p:sp>
        <p:nvSpPr>
          <p:cNvPr id="19" name="TextBox 18"/>
          <p:cNvSpPr txBox="1"/>
          <p:nvPr/>
        </p:nvSpPr>
        <p:spPr>
          <a:xfrm>
            <a:off x="3619423" y="3429000"/>
            <a:ext cx="2156383"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El planificador la envía al responsable de andamios o de equipos</a:t>
            </a:r>
          </a:p>
        </p:txBody>
      </p:sp>
      <p:cxnSp>
        <p:nvCxnSpPr>
          <p:cNvPr id="20" name="Connector 19"/>
          <p:cNvCxnSpPr/>
          <p:nvPr/>
        </p:nvCxnSpPr>
        <p:spPr>
          <a:xfrm>
            <a:off x="5995263" y="3291839"/>
            <a:ext cx="201168"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233007" y="1874519"/>
            <a:ext cx="2567863"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6461607"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461607"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3</a:t>
            </a:r>
          </a:p>
        </p:txBody>
      </p:sp>
      <p:pic>
        <p:nvPicPr>
          <p:cNvPr id="24" name="Picture 23" descr="calendar_o.png"/>
          <p:cNvPicPr>
            <a:picLocks noChangeAspect="1"/>
          </p:cNvPicPr>
          <p:nvPr/>
        </p:nvPicPr>
        <p:blipFill>
          <a:blip r:embed="rId4"/>
          <a:stretch>
            <a:fillRect/>
          </a:stretch>
        </p:blipFill>
        <p:spPr>
          <a:xfrm>
            <a:off x="8142503" y="2148839"/>
            <a:ext cx="420624" cy="420624"/>
          </a:xfrm>
          <a:prstGeom prst="rect">
            <a:avLst/>
          </a:prstGeom>
        </p:spPr>
      </p:pic>
      <p:sp>
        <p:nvSpPr>
          <p:cNvPr id="25" name="TextBox 24"/>
          <p:cNvSpPr txBox="1"/>
          <p:nvPr/>
        </p:nvSpPr>
        <p:spPr>
          <a:xfrm>
            <a:off x="6461607"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Programación</a:t>
            </a:r>
          </a:p>
        </p:txBody>
      </p:sp>
      <p:sp>
        <p:nvSpPr>
          <p:cNvPr id="26" name="TextBox 25"/>
          <p:cNvSpPr txBox="1"/>
          <p:nvPr/>
        </p:nvSpPr>
        <p:spPr>
          <a:xfrm>
            <a:off x="6461607" y="3429000"/>
            <a:ext cx="2156383"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Montaje y asignación con al menos 2 semanas</a:t>
            </a:r>
          </a:p>
        </p:txBody>
      </p:sp>
      <p:cxnSp>
        <p:nvCxnSpPr>
          <p:cNvPr id="27" name="Connector 26"/>
          <p:cNvCxnSpPr/>
          <p:nvPr/>
        </p:nvCxnSpPr>
        <p:spPr>
          <a:xfrm>
            <a:off x="8837447" y="3291839"/>
            <a:ext cx="201168"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9075191" y="1874519"/>
            <a:ext cx="2567863"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9303791"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303791"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4</a:t>
            </a:r>
          </a:p>
        </p:txBody>
      </p:sp>
      <p:pic>
        <p:nvPicPr>
          <p:cNvPr id="31" name="Picture 30" descr="check_o.png"/>
          <p:cNvPicPr>
            <a:picLocks noChangeAspect="1"/>
          </p:cNvPicPr>
          <p:nvPr/>
        </p:nvPicPr>
        <p:blipFill>
          <a:blip r:embed="rId5"/>
          <a:stretch>
            <a:fillRect/>
          </a:stretch>
        </p:blipFill>
        <p:spPr>
          <a:xfrm>
            <a:off x="10984687" y="2148839"/>
            <a:ext cx="420624" cy="420624"/>
          </a:xfrm>
          <a:prstGeom prst="rect">
            <a:avLst/>
          </a:prstGeom>
        </p:spPr>
      </p:pic>
      <p:sp>
        <p:nvSpPr>
          <p:cNvPr id="32" name="TextBox 31"/>
          <p:cNvSpPr txBox="1"/>
          <p:nvPr/>
        </p:nvSpPr>
        <p:spPr>
          <a:xfrm>
            <a:off x="9303791"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ID en el IWP</a:t>
            </a:r>
          </a:p>
        </p:txBody>
      </p:sp>
      <p:sp>
        <p:nvSpPr>
          <p:cNvPr id="33" name="TextBox 32"/>
          <p:cNvSpPr txBox="1"/>
          <p:nvPr/>
        </p:nvSpPr>
        <p:spPr>
          <a:xfrm>
            <a:off x="9303791" y="3429000"/>
            <a:ext cx="2156383"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El número de solicitud vuelve al paquete</a:t>
            </a:r>
          </a:p>
        </p:txBody>
      </p:sp>
      <p:sp>
        <p:nvSpPr>
          <p:cNvPr id="34" name="Rectangle 33"/>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flag_o.png"/>
          <p:cNvPicPr>
            <a:picLocks noChangeAspect="1"/>
          </p:cNvPicPr>
          <p:nvPr/>
        </p:nvPicPr>
        <p:blipFill>
          <a:blip r:embed="rId6"/>
          <a:stretch>
            <a:fillRect/>
          </a:stretch>
        </p:blipFill>
        <p:spPr>
          <a:xfrm>
            <a:off x="822959" y="5660136"/>
            <a:ext cx="365760" cy="365760"/>
          </a:xfrm>
          <a:prstGeom prst="rect">
            <a:avLst/>
          </a:prstGeom>
        </p:spPr>
      </p:pic>
      <p:sp>
        <p:nvSpPr>
          <p:cNvPr id="36" name="TextBox 35"/>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Además de reducir esperas, baja el costo total de andamios y equipos.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8 · TECNOLOGÍA</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FFFFFF"/>
                </a:solidFill>
                <a:latin typeface="Arial"/>
              </a:rPr>
              <a:t>Primero las personas y el proceso; después la tecnología</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8A8B8E"/>
                </a:solidFill>
                <a:latin typeface="Arial"/>
              </a:rPr>
              <a:t>IMPLEMENTACIÓN DE AWP  ·  M8 · INFORMACIÓN Y TECNOLOGÍA</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8A8B8E"/>
                </a:solidFill>
                <a:latin typeface="Courier New"/>
              </a:rPr>
              <a:t>086</a:t>
            </a:r>
          </a:p>
        </p:txBody>
      </p:sp>
      <p:pic>
        <p:nvPicPr>
          <p:cNvPr id="7" name="Picture 6" descr="quote_o.png"/>
          <p:cNvPicPr>
            <a:picLocks noChangeAspect="1"/>
          </p:cNvPicPr>
          <p:nvPr/>
        </p:nvPicPr>
        <p:blipFill>
          <a:blip r:embed="rId2"/>
          <a:stretch>
            <a:fillRect/>
          </a:stretch>
        </p:blipFill>
        <p:spPr>
          <a:xfrm>
            <a:off x="548640" y="1920240"/>
            <a:ext cx="548640" cy="548640"/>
          </a:xfrm>
          <a:prstGeom prst="rect">
            <a:avLst/>
          </a:prstGeom>
        </p:spPr>
      </p:pic>
      <p:sp>
        <p:nvSpPr>
          <p:cNvPr id="8" name="TextBox 7"/>
          <p:cNvSpPr txBox="1"/>
          <p:nvPr/>
        </p:nvSpPr>
        <p:spPr>
          <a:xfrm>
            <a:off x="1417319" y="1828800"/>
            <a:ext cx="10225735" cy="1737360"/>
          </a:xfrm>
          <a:prstGeom prst="rect">
            <a:avLst/>
          </a:prstGeom>
          <a:noFill/>
        </p:spPr>
        <p:txBody>
          <a:bodyPr wrap="square" lIns="0" rIns="0" tIns="0" bIns="0" anchor="ctr">
            <a:spAutoFit/>
          </a:bodyPr>
          <a:lstStyle/>
          <a:p>
            <a:pPr algn="l">
              <a:lnSpc>
                <a:spcPct val="110000"/>
              </a:lnSpc>
            </a:pPr>
            <a:r>
              <a:rPr sz="2400" b="0" i="1">
                <a:solidFill>
                  <a:srgbClr val="FFFFFF"/>
                </a:solidFill>
                <a:latin typeface="Arial"/>
              </a:rPr>
              <a:t>“Antes de pensar en tecnología, hay que tener bien el proceso. Trátelo como bloques de construcción: el proceso es la base.”</a:t>
            </a:r>
          </a:p>
        </p:txBody>
      </p:sp>
      <p:sp>
        <p:nvSpPr>
          <p:cNvPr id="9" name="TextBox 8"/>
          <p:cNvSpPr txBox="1"/>
          <p:nvPr/>
        </p:nvSpPr>
        <p:spPr>
          <a:xfrm>
            <a:off x="1417319" y="3657600"/>
            <a:ext cx="10225735" cy="274320"/>
          </a:xfrm>
          <a:prstGeom prst="rect">
            <a:avLst/>
          </a:prstGeom>
          <a:noFill/>
        </p:spPr>
        <p:txBody>
          <a:bodyPr wrap="square" lIns="0" rIns="0" tIns="0" bIns="0" anchor="t">
            <a:spAutoFit/>
          </a:bodyPr>
          <a:lstStyle/>
          <a:p>
            <a:pPr algn="l"/>
            <a:r>
              <a:rPr sz="1100" b="1" i="0" spc="100">
                <a:solidFill>
                  <a:srgbClr val="FF9955"/>
                </a:solidFill>
                <a:latin typeface="Arial"/>
              </a:rPr>
              <a:t>CURSO AWP 2023 · LECCIÓN APRENDIDA 7 (ADAPTACIÓN)</a:t>
            </a:r>
          </a:p>
        </p:txBody>
      </p:sp>
      <p:sp>
        <p:nvSpPr>
          <p:cNvPr id="10" name="Rectangle 9"/>
          <p:cNvSpPr/>
          <p:nvPr/>
        </p:nvSpPr>
        <p:spPr>
          <a:xfrm>
            <a:off x="548640" y="4160520"/>
            <a:ext cx="3527450" cy="201168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users_o.png"/>
          <p:cNvPicPr>
            <a:picLocks noChangeAspect="1"/>
          </p:cNvPicPr>
          <p:nvPr/>
        </p:nvPicPr>
        <p:blipFill>
          <a:blip r:embed="rId3"/>
          <a:stretch>
            <a:fillRect/>
          </a:stretch>
        </p:blipFill>
        <p:spPr>
          <a:xfrm>
            <a:off x="822959" y="4974336"/>
            <a:ext cx="384048" cy="384048"/>
          </a:xfrm>
          <a:prstGeom prst="rect">
            <a:avLst/>
          </a:prstGeom>
        </p:spPr>
      </p:pic>
      <p:sp>
        <p:nvSpPr>
          <p:cNvPr id="12" name="TextBox 11"/>
          <p:cNvSpPr txBox="1"/>
          <p:nvPr/>
        </p:nvSpPr>
        <p:spPr>
          <a:xfrm>
            <a:off x="1417319" y="4251959"/>
            <a:ext cx="2475890" cy="1828800"/>
          </a:xfrm>
          <a:prstGeom prst="rect">
            <a:avLst/>
          </a:prstGeom>
          <a:noFill/>
        </p:spPr>
        <p:txBody>
          <a:bodyPr wrap="square" lIns="0" rIns="0" tIns="0" bIns="0" anchor="ctr">
            <a:spAutoFit/>
          </a:bodyPr>
          <a:lstStyle/>
          <a:p>
            <a:pPr algn="l">
              <a:lnSpc>
                <a:spcPct val="105000"/>
              </a:lnSpc>
            </a:pPr>
            <a:r>
              <a:rPr sz="1300" b="0" i="0">
                <a:solidFill>
                  <a:srgbClr val="FFFFFF"/>
                </a:solidFill>
                <a:latin typeface="Arial"/>
              </a:rPr>
              <a:t>Personas: roles claros y capacitación</a:t>
            </a:r>
          </a:p>
        </p:txBody>
      </p:sp>
      <p:sp>
        <p:nvSpPr>
          <p:cNvPr id="13" name="Rectangle 12"/>
          <p:cNvSpPr/>
          <p:nvPr/>
        </p:nvSpPr>
        <p:spPr>
          <a:xfrm>
            <a:off x="4332122" y="4160520"/>
            <a:ext cx="3527450" cy="201168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gears_o.png"/>
          <p:cNvPicPr>
            <a:picLocks noChangeAspect="1"/>
          </p:cNvPicPr>
          <p:nvPr/>
        </p:nvPicPr>
        <p:blipFill>
          <a:blip r:embed="rId4"/>
          <a:stretch>
            <a:fillRect/>
          </a:stretch>
        </p:blipFill>
        <p:spPr>
          <a:xfrm>
            <a:off x="4606442" y="4974336"/>
            <a:ext cx="384048" cy="384048"/>
          </a:xfrm>
          <a:prstGeom prst="rect">
            <a:avLst/>
          </a:prstGeom>
        </p:spPr>
      </p:pic>
      <p:sp>
        <p:nvSpPr>
          <p:cNvPr id="15" name="TextBox 14"/>
          <p:cNvSpPr txBox="1"/>
          <p:nvPr/>
        </p:nvSpPr>
        <p:spPr>
          <a:xfrm>
            <a:off x="5200802" y="4251959"/>
            <a:ext cx="2475890" cy="1828800"/>
          </a:xfrm>
          <a:prstGeom prst="rect">
            <a:avLst/>
          </a:prstGeom>
          <a:noFill/>
        </p:spPr>
        <p:txBody>
          <a:bodyPr wrap="square" lIns="0" rIns="0" tIns="0" bIns="0" anchor="ctr">
            <a:spAutoFit/>
          </a:bodyPr>
          <a:lstStyle/>
          <a:p>
            <a:pPr algn="l">
              <a:lnSpc>
                <a:spcPct val="105000"/>
              </a:lnSpc>
            </a:pPr>
            <a:r>
              <a:rPr sz="1300" b="0" i="0">
                <a:solidFill>
                  <a:srgbClr val="FFFFFF"/>
                </a:solidFill>
                <a:latin typeface="Arial"/>
              </a:rPr>
              <a:t>Proceso: procedimientos y flujos probados</a:t>
            </a:r>
          </a:p>
        </p:txBody>
      </p:sp>
      <p:sp>
        <p:nvSpPr>
          <p:cNvPr id="16" name="Rectangle 15"/>
          <p:cNvSpPr/>
          <p:nvPr/>
        </p:nvSpPr>
        <p:spPr>
          <a:xfrm>
            <a:off x="8115604" y="4160520"/>
            <a:ext cx="3527450" cy="201168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laptop_o.png"/>
          <p:cNvPicPr>
            <a:picLocks noChangeAspect="1"/>
          </p:cNvPicPr>
          <p:nvPr/>
        </p:nvPicPr>
        <p:blipFill>
          <a:blip r:embed="rId5"/>
          <a:stretch>
            <a:fillRect/>
          </a:stretch>
        </p:blipFill>
        <p:spPr>
          <a:xfrm>
            <a:off x="8389924" y="4974336"/>
            <a:ext cx="384048" cy="384048"/>
          </a:xfrm>
          <a:prstGeom prst="rect">
            <a:avLst/>
          </a:prstGeom>
        </p:spPr>
      </p:pic>
      <p:sp>
        <p:nvSpPr>
          <p:cNvPr id="18" name="TextBox 17"/>
          <p:cNvSpPr txBox="1"/>
          <p:nvPr/>
        </p:nvSpPr>
        <p:spPr>
          <a:xfrm>
            <a:off x="8984284" y="4251959"/>
            <a:ext cx="2475890" cy="1828800"/>
          </a:xfrm>
          <a:prstGeom prst="rect">
            <a:avLst/>
          </a:prstGeom>
          <a:noFill/>
        </p:spPr>
        <p:txBody>
          <a:bodyPr wrap="square" lIns="0" rIns="0" tIns="0" bIns="0" anchor="ctr">
            <a:spAutoFit/>
          </a:bodyPr>
          <a:lstStyle/>
          <a:p>
            <a:pPr algn="l">
              <a:lnSpc>
                <a:spcPct val="105000"/>
              </a:lnSpc>
            </a:pPr>
            <a:r>
              <a:rPr sz="1300" b="0" i="0">
                <a:solidFill>
                  <a:srgbClr val="FFFFFF"/>
                </a:solidFill>
                <a:latin typeface="Arial"/>
              </a:rPr>
              <a:t>Tecnología: acelera lo que ya funciona</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097280"/>
            <a:ext cx="3657600" cy="2194560"/>
          </a:xfrm>
          <a:prstGeom prst="rect">
            <a:avLst/>
          </a:prstGeom>
          <a:noFill/>
        </p:spPr>
        <p:txBody>
          <a:bodyPr wrap="square" lIns="0" rIns="0" tIns="0" bIns="0" anchor="t">
            <a:spAutoFit/>
          </a:bodyPr>
          <a:lstStyle/>
          <a:p>
            <a:pPr algn="l"/>
            <a:r>
              <a:rPr sz="15000" b="1" i="0">
                <a:solidFill>
                  <a:srgbClr val="FF6600"/>
                </a:solidFill>
                <a:latin typeface="Arial"/>
              </a:rPr>
              <a:t>09</a:t>
            </a:r>
          </a:p>
        </p:txBody>
      </p:sp>
      <p:sp>
        <p:nvSpPr>
          <p:cNvPr id="4" name="TextBox 3"/>
          <p:cNvSpPr txBox="1"/>
          <p:nvPr/>
        </p:nvSpPr>
        <p:spPr>
          <a:xfrm>
            <a:off x="4160520" y="1481328"/>
            <a:ext cx="7498079" cy="274320"/>
          </a:xfrm>
          <a:prstGeom prst="rect">
            <a:avLst/>
          </a:prstGeom>
          <a:noFill/>
        </p:spPr>
        <p:txBody>
          <a:bodyPr wrap="square" lIns="0" rIns="0" tIns="0" bIns="0" anchor="t">
            <a:spAutoFit/>
          </a:bodyPr>
          <a:lstStyle/>
          <a:p>
            <a:pPr algn="l"/>
            <a:r>
              <a:rPr sz="1200" b="1" i="0" spc="300">
                <a:solidFill>
                  <a:srgbClr val="FF6600"/>
                </a:solidFill>
                <a:latin typeface="Arial"/>
              </a:rPr>
              <a:t>MÓDULO 9 · ROLES Y ORGANIZACIÓN</a:t>
            </a:r>
          </a:p>
        </p:txBody>
      </p:sp>
      <p:sp>
        <p:nvSpPr>
          <p:cNvPr id="5" name="Título"/>
          <p:cNvSpPr txBox="1"/>
          <p:nvPr/>
        </p:nvSpPr>
        <p:spPr>
          <a:xfrm>
            <a:off x="4160520" y="1874519"/>
            <a:ext cx="7452360" cy="1508760"/>
          </a:xfrm>
          <a:prstGeom prst="rect">
            <a:avLst/>
          </a:prstGeom>
          <a:noFill/>
        </p:spPr>
        <p:txBody>
          <a:bodyPr wrap="square" lIns="0" rIns="0" tIns="0" bIns="0" anchor="t">
            <a:spAutoFit/>
          </a:bodyPr>
          <a:lstStyle/>
          <a:p>
            <a:pPr algn="l">
              <a:lnSpc>
                <a:spcPct val="95000"/>
              </a:lnSpc>
            </a:pPr>
            <a:r>
              <a:rPr sz="3000" b="1" i="0">
                <a:solidFill>
                  <a:srgbClr val="FFFFFF"/>
                </a:solidFill>
                <a:latin typeface="Arial"/>
              </a:rPr>
              <a:t>AWP redistribuye responsabilidades, no solo agrega cargos</a:t>
            </a:r>
          </a:p>
        </p:txBody>
      </p:sp>
      <p:sp>
        <p:nvSpPr>
          <p:cNvPr id="6" name="TextBox 5"/>
          <p:cNvSpPr txBox="1"/>
          <p:nvPr/>
        </p:nvSpPr>
        <p:spPr>
          <a:xfrm>
            <a:off x="4160520" y="3474720"/>
            <a:ext cx="7406640" cy="685800"/>
          </a:xfrm>
          <a:prstGeom prst="rect">
            <a:avLst/>
          </a:prstGeom>
          <a:noFill/>
        </p:spPr>
        <p:txBody>
          <a:bodyPr wrap="square" lIns="0" rIns="0" tIns="0" bIns="0" anchor="t">
            <a:spAutoFit/>
          </a:bodyPr>
          <a:lstStyle/>
          <a:p>
            <a:pPr algn="l">
              <a:lnSpc>
                <a:spcPct val="110000"/>
              </a:lnSpc>
            </a:pPr>
            <a:r>
              <a:rPr sz="1500" b="0" i="0">
                <a:solidFill>
                  <a:srgbClr val="BCBEC0"/>
                </a:solidFill>
                <a:latin typeface="Arial"/>
              </a:rPr>
              <a:t>Actores del proyecto, cargos nuevos y cómo cambian los roles tradicionales.</a:t>
            </a:r>
          </a:p>
        </p:txBody>
      </p:sp>
      <p:sp>
        <p:nvSpPr>
          <p:cNvPr id="7" name="Rectangle 6"/>
          <p:cNvSpPr/>
          <p:nvPr/>
        </p:nvSpPr>
        <p:spPr>
          <a:xfrm>
            <a:off x="548640"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48640"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01</a:t>
            </a:r>
          </a:p>
        </p:txBody>
      </p:sp>
      <p:sp>
        <p:nvSpPr>
          <p:cNvPr id="9" name="Rectangle 8"/>
          <p:cNvSpPr/>
          <p:nvPr/>
        </p:nvSpPr>
        <p:spPr>
          <a:xfrm>
            <a:off x="1409090"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409090"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02</a:t>
            </a:r>
          </a:p>
        </p:txBody>
      </p:sp>
      <p:sp>
        <p:nvSpPr>
          <p:cNvPr id="11" name="Rectangle 10"/>
          <p:cNvSpPr/>
          <p:nvPr/>
        </p:nvSpPr>
        <p:spPr>
          <a:xfrm>
            <a:off x="2269540"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269540"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03</a:t>
            </a:r>
          </a:p>
        </p:txBody>
      </p:sp>
      <p:sp>
        <p:nvSpPr>
          <p:cNvPr id="13" name="Rectangle 12"/>
          <p:cNvSpPr/>
          <p:nvPr/>
        </p:nvSpPr>
        <p:spPr>
          <a:xfrm>
            <a:off x="3129991"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129991"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04</a:t>
            </a:r>
          </a:p>
        </p:txBody>
      </p:sp>
      <p:sp>
        <p:nvSpPr>
          <p:cNvPr id="15" name="Rectangle 14"/>
          <p:cNvSpPr/>
          <p:nvPr/>
        </p:nvSpPr>
        <p:spPr>
          <a:xfrm>
            <a:off x="3990441"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990441"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05</a:t>
            </a:r>
          </a:p>
        </p:txBody>
      </p:sp>
      <p:sp>
        <p:nvSpPr>
          <p:cNvPr id="17" name="Rectangle 16"/>
          <p:cNvSpPr/>
          <p:nvPr/>
        </p:nvSpPr>
        <p:spPr>
          <a:xfrm>
            <a:off x="4850892"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850892"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06</a:t>
            </a:r>
          </a:p>
        </p:txBody>
      </p:sp>
      <p:sp>
        <p:nvSpPr>
          <p:cNvPr id="19" name="Rectangle 18"/>
          <p:cNvSpPr/>
          <p:nvPr/>
        </p:nvSpPr>
        <p:spPr>
          <a:xfrm>
            <a:off x="5711342"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711342"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07</a:t>
            </a:r>
          </a:p>
        </p:txBody>
      </p:sp>
      <p:sp>
        <p:nvSpPr>
          <p:cNvPr id="21" name="Rectangle 20"/>
          <p:cNvSpPr/>
          <p:nvPr/>
        </p:nvSpPr>
        <p:spPr>
          <a:xfrm>
            <a:off x="6571792"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571792"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08</a:t>
            </a:r>
          </a:p>
        </p:txBody>
      </p:sp>
      <p:sp>
        <p:nvSpPr>
          <p:cNvPr id="23" name="Rectangle 22"/>
          <p:cNvSpPr/>
          <p:nvPr/>
        </p:nvSpPr>
        <p:spPr>
          <a:xfrm>
            <a:off x="7432243" y="5074920"/>
            <a:ext cx="769010" cy="50292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432243" y="5074920"/>
            <a:ext cx="769010" cy="502920"/>
          </a:xfrm>
          <a:prstGeom prst="rect">
            <a:avLst/>
          </a:prstGeom>
          <a:noFill/>
        </p:spPr>
        <p:txBody>
          <a:bodyPr wrap="square" lIns="0" rIns="0" tIns="0" bIns="0" anchor="ctr">
            <a:spAutoFit/>
          </a:bodyPr>
          <a:lstStyle/>
          <a:p>
            <a:pPr algn="ctr"/>
            <a:r>
              <a:rPr sz="1100" b="1" i="0">
                <a:solidFill>
                  <a:srgbClr val="FFFFFF"/>
                </a:solidFill>
                <a:latin typeface="Courier New"/>
              </a:rPr>
              <a:t>09</a:t>
            </a:r>
          </a:p>
        </p:txBody>
      </p:sp>
      <p:sp>
        <p:nvSpPr>
          <p:cNvPr id="25" name="Rectangle 24"/>
          <p:cNvSpPr/>
          <p:nvPr/>
        </p:nvSpPr>
        <p:spPr>
          <a:xfrm>
            <a:off x="8292693"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292693"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10</a:t>
            </a:r>
          </a:p>
        </p:txBody>
      </p:sp>
      <p:sp>
        <p:nvSpPr>
          <p:cNvPr id="27" name="Rectangle 26"/>
          <p:cNvSpPr/>
          <p:nvPr/>
        </p:nvSpPr>
        <p:spPr>
          <a:xfrm>
            <a:off x="9153144"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153144"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11</a:t>
            </a:r>
          </a:p>
        </p:txBody>
      </p:sp>
      <p:sp>
        <p:nvSpPr>
          <p:cNvPr id="29" name="Rectangle 28"/>
          <p:cNvSpPr/>
          <p:nvPr/>
        </p:nvSpPr>
        <p:spPr>
          <a:xfrm>
            <a:off x="10013594"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013594"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12</a:t>
            </a:r>
          </a:p>
        </p:txBody>
      </p:sp>
      <p:sp>
        <p:nvSpPr>
          <p:cNvPr id="31" name="Rectangle 30"/>
          <p:cNvSpPr/>
          <p:nvPr/>
        </p:nvSpPr>
        <p:spPr>
          <a:xfrm>
            <a:off x="10874044"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874044"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13</a:t>
            </a:r>
          </a:p>
        </p:txBody>
      </p:sp>
      <p:sp>
        <p:nvSpPr>
          <p:cNvPr id="33" name="TextBox 32"/>
          <p:cNvSpPr txBox="1"/>
          <p:nvPr/>
        </p:nvSpPr>
        <p:spPr>
          <a:xfrm>
            <a:off x="548640" y="4709159"/>
            <a:ext cx="5486400" cy="274320"/>
          </a:xfrm>
          <a:prstGeom prst="rect">
            <a:avLst/>
          </a:prstGeom>
          <a:noFill/>
        </p:spPr>
        <p:txBody>
          <a:bodyPr wrap="square" lIns="0" rIns="0" tIns="0" bIns="0" anchor="t">
            <a:spAutoFit/>
          </a:bodyPr>
          <a:lstStyle/>
          <a:p>
            <a:pPr algn="l"/>
            <a:r>
              <a:rPr sz="1000" b="1" i="0" spc="200">
                <a:solidFill>
                  <a:srgbClr val="8A8B8E"/>
                </a:solidFill>
                <a:latin typeface="Arial"/>
              </a:rPr>
              <a:t>MÓDULOS</a:t>
            </a:r>
          </a:p>
        </p:txBody>
      </p:sp>
      <p:sp>
        <p:nvSpPr>
          <p:cNvPr id="34" name="TextBox 33"/>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8A8B8E"/>
                </a:solidFill>
                <a:latin typeface="Arial"/>
              </a:rPr>
              <a:t>IMPLEMENTACIÓN DE AWP  ·  M9 · ROLES Y ORGANIZACIÓN</a:t>
            </a:r>
          </a:p>
        </p:txBody>
      </p:sp>
      <p:sp>
        <p:nvSpPr>
          <p:cNvPr id="35" name="TextBox 34"/>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8A8B8E"/>
                </a:solidFill>
                <a:latin typeface="Courier New"/>
              </a:rPr>
              <a:t>087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9 · ACTORES</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Cada actor tiene un papel en AWP</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M9 · ROLES Y ORGANIZACIÓN</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088</a:t>
            </a:r>
          </a:p>
        </p:txBody>
      </p:sp>
      <p:sp>
        <p:nvSpPr>
          <p:cNvPr id="7" name="Rectangle 6"/>
          <p:cNvSpPr/>
          <p:nvPr/>
        </p:nvSpPr>
        <p:spPr>
          <a:xfrm>
            <a:off x="4449927" y="1828800"/>
            <a:ext cx="3291840" cy="77724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building_w.png"/>
          <p:cNvPicPr>
            <a:picLocks noChangeAspect="1"/>
          </p:cNvPicPr>
          <p:nvPr/>
        </p:nvPicPr>
        <p:blipFill>
          <a:blip r:embed="rId2"/>
          <a:stretch>
            <a:fillRect/>
          </a:stretch>
        </p:blipFill>
        <p:spPr>
          <a:xfrm>
            <a:off x="4632807" y="2011680"/>
            <a:ext cx="347472" cy="347472"/>
          </a:xfrm>
          <a:prstGeom prst="rect">
            <a:avLst/>
          </a:prstGeom>
        </p:spPr>
      </p:pic>
      <p:sp>
        <p:nvSpPr>
          <p:cNvPr id="9" name="TextBox 8"/>
          <p:cNvSpPr txBox="1"/>
          <p:nvPr/>
        </p:nvSpPr>
        <p:spPr>
          <a:xfrm>
            <a:off x="5090007" y="1938528"/>
            <a:ext cx="2514600" cy="557784"/>
          </a:xfrm>
          <a:prstGeom prst="rect">
            <a:avLst/>
          </a:prstGeom>
          <a:noFill/>
        </p:spPr>
        <p:txBody>
          <a:bodyPr wrap="square" lIns="0" rIns="0" tIns="0" bIns="0" anchor="ctr">
            <a:spAutoFit/>
          </a:bodyPr>
          <a:lstStyle/>
          <a:p>
            <a:pPr algn="l">
              <a:lnSpc>
                <a:spcPct val="100000"/>
              </a:lnSpc>
            </a:pPr>
            <a:r>
              <a:rPr sz="1300" b="1" i="0">
                <a:solidFill>
                  <a:srgbClr val="FFFFFF"/>
                </a:solidFill>
                <a:latin typeface="Arial"/>
              </a:rPr>
              <a:t>Propietario</a:t>
            </a:r>
          </a:p>
          <a:p>
            <a:pPr algn="l">
              <a:lnSpc>
                <a:spcPct val="100000"/>
              </a:lnSpc>
            </a:pPr>
            <a:r>
              <a:rPr sz="1050" b="0" i="0">
                <a:solidFill>
                  <a:srgbClr val="FFFFFF"/>
                </a:solidFill>
                <a:latin typeface="Arial"/>
              </a:rPr>
              <a:t>Respaldo corporativo y foco en la operación</a:t>
            </a:r>
          </a:p>
        </p:txBody>
      </p:sp>
      <p:sp>
        <p:nvSpPr>
          <p:cNvPr id="10" name="Rectangle 9"/>
          <p:cNvSpPr/>
          <p:nvPr/>
        </p:nvSpPr>
        <p:spPr>
          <a:xfrm>
            <a:off x="4449927" y="2971800"/>
            <a:ext cx="3291840" cy="777240"/>
          </a:xfrm>
          <a:prstGeom prst="rect">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itemap_w.png"/>
          <p:cNvPicPr>
            <a:picLocks noChangeAspect="1"/>
          </p:cNvPicPr>
          <p:nvPr/>
        </p:nvPicPr>
        <p:blipFill>
          <a:blip r:embed="rId3"/>
          <a:stretch>
            <a:fillRect/>
          </a:stretch>
        </p:blipFill>
        <p:spPr>
          <a:xfrm>
            <a:off x="4632807" y="3154680"/>
            <a:ext cx="347472" cy="347472"/>
          </a:xfrm>
          <a:prstGeom prst="rect">
            <a:avLst/>
          </a:prstGeom>
        </p:spPr>
      </p:pic>
      <p:sp>
        <p:nvSpPr>
          <p:cNvPr id="12" name="TextBox 11"/>
          <p:cNvSpPr txBox="1"/>
          <p:nvPr/>
        </p:nvSpPr>
        <p:spPr>
          <a:xfrm>
            <a:off x="5090007" y="3081528"/>
            <a:ext cx="2514600" cy="557784"/>
          </a:xfrm>
          <a:prstGeom prst="rect">
            <a:avLst/>
          </a:prstGeom>
          <a:noFill/>
        </p:spPr>
        <p:txBody>
          <a:bodyPr wrap="square" lIns="0" rIns="0" tIns="0" bIns="0" anchor="ctr">
            <a:spAutoFit/>
          </a:bodyPr>
          <a:lstStyle/>
          <a:p>
            <a:pPr algn="l">
              <a:lnSpc>
                <a:spcPct val="100000"/>
              </a:lnSpc>
            </a:pPr>
            <a:r>
              <a:rPr sz="1300" b="1" i="0">
                <a:solidFill>
                  <a:srgbClr val="FFFFFF"/>
                </a:solidFill>
                <a:latin typeface="Arial"/>
              </a:rPr>
              <a:t>EPC / EPCM</a:t>
            </a:r>
          </a:p>
          <a:p>
            <a:pPr algn="l">
              <a:lnSpc>
                <a:spcPct val="100000"/>
              </a:lnSpc>
            </a:pPr>
            <a:r>
              <a:rPr sz="1050" b="0" i="0">
                <a:solidFill>
                  <a:srgbClr val="FFFFFF"/>
                </a:solidFill>
                <a:latin typeface="Arial"/>
              </a:rPr>
              <a:t>Lidera el plan AWP y mantiene el POC</a:t>
            </a:r>
          </a:p>
        </p:txBody>
      </p:sp>
      <p:cxnSp>
        <p:nvCxnSpPr>
          <p:cNvPr id="13" name="Connector 12"/>
          <p:cNvCxnSpPr/>
          <p:nvPr/>
        </p:nvCxnSpPr>
        <p:spPr>
          <a:xfrm>
            <a:off x="6095847" y="2624328"/>
            <a:ext cx="0" cy="329184"/>
          </a:xfrm>
          <a:prstGeom prst="line">
            <a:avLst/>
          </a:prstGeom>
          <a:ln w="22225">
            <a:solidFill>
              <a:srgbClr val="6D6E7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860003" y="4069080"/>
            <a:ext cx="8471688" cy="0"/>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095847" y="3767328"/>
            <a:ext cx="0" cy="301752"/>
          </a:xfrm>
          <a:prstGeom prst="line">
            <a:avLst/>
          </a:prstGeom>
          <a:ln w="19050">
            <a:solidFill>
              <a:srgbClr val="6D6E71"/>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860003" y="4069080"/>
            <a:ext cx="0" cy="246888"/>
          </a:xfrm>
          <a:prstGeom prst="line">
            <a:avLst/>
          </a:prstGeom>
          <a:ln w="22225">
            <a:solidFill>
              <a:srgbClr val="6D6E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548640" y="4343400"/>
            <a:ext cx="2622727" cy="914400"/>
          </a:xfrm>
          <a:prstGeom prst="rect">
            <a:avLst/>
          </a:prstGeom>
          <a:solidFill>
            <a:srgbClr val="0078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ruler_w.png"/>
          <p:cNvPicPr>
            <a:picLocks noChangeAspect="1"/>
          </p:cNvPicPr>
          <p:nvPr/>
        </p:nvPicPr>
        <p:blipFill>
          <a:blip r:embed="rId4"/>
          <a:stretch>
            <a:fillRect/>
          </a:stretch>
        </p:blipFill>
        <p:spPr>
          <a:xfrm>
            <a:off x="731520" y="4526280"/>
            <a:ext cx="347472" cy="347472"/>
          </a:xfrm>
          <a:prstGeom prst="rect">
            <a:avLst/>
          </a:prstGeom>
        </p:spPr>
      </p:pic>
      <p:sp>
        <p:nvSpPr>
          <p:cNvPr id="19" name="TextBox 18"/>
          <p:cNvSpPr txBox="1"/>
          <p:nvPr/>
        </p:nvSpPr>
        <p:spPr>
          <a:xfrm>
            <a:off x="1188719" y="4453128"/>
            <a:ext cx="1845487" cy="694944"/>
          </a:xfrm>
          <a:prstGeom prst="rect">
            <a:avLst/>
          </a:prstGeom>
          <a:noFill/>
        </p:spPr>
        <p:txBody>
          <a:bodyPr wrap="square" lIns="0" rIns="0" tIns="0" bIns="0" anchor="ctr">
            <a:spAutoFit/>
          </a:bodyPr>
          <a:lstStyle/>
          <a:p>
            <a:pPr algn="l">
              <a:lnSpc>
                <a:spcPct val="100000"/>
              </a:lnSpc>
            </a:pPr>
            <a:r>
              <a:rPr sz="1300" b="1" i="0">
                <a:solidFill>
                  <a:srgbClr val="FFFFFF"/>
                </a:solidFill>
                <a:latin typeface="Arial"/>
              </a:rPr>
              <a:t>Ingeniería</a:t>
            </a:r>
          </a:p>
          <a:p>
            <a:pPr algn="l">
              <a:lnSpc>
                <a:spcPct val="100000"/>
              </a:lnSpc>
            </a:pPr>
            <a:r>
              <a:rPr sz="1050" b="0" i="0">
                <a:solidFill>
                  <a:srgbClr val="FFFFFF"/>
                </a:solidFill>
                <a:latin typeface="Arial"/>
              </a:rPr>
              <a:t>EWP alineados al POC</a:t>
            </a:r>
          </a:p>
        </p:txBody>
      </p:sp>
      <p:cxnSp>
        <p:nvCxnSpPr>
          <p:cNvPr id="20" name="Connector 19"/>
          <p:cNvCxnSpPr/>
          <p:nvPr/>
        </p:nvCxnSpPr>
        <p:spPr>
          <a:xfrm>
            <a:off x="4683899" y="4069080"/>
            <a:ext cx="0" cy="246888"/>
          </a:xfrm>
          <a:prstGeom prst="line">
            <a:avLst/>
          </a:prstGeom>
          <a:ln w="22225">
            <a:solidFill>
              <a:srgbClr val="6D6E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3372535" y="4343400"/>
            <a:ext cx="2622727" cy="914400"/>
          </a:xfrm>
          <a:prstGeom prst="rect">
            <a:avLst/>
          </a:prstGeom>
          <a:solidFill>
            <a:srgbClr val="0078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truck_w.png"/>
          <p:cNvPicPr>
            <a:picLocks noChangeAspect="1"/>
          </p:cNvPicPr>
          <p:nvPr/>
        </p:nvPicPr>
        <p:blipFill>
          <a:blip r:embed="rId5"/>
          <a:stretch>
            <a:fillRect/>
          </a:stretch>
        </p:blipFill>
        <p:spPr>
          <a:xfrm>
            <a:off x="3555415" y="4526280"/>
            <a:ext cx="347472" cy="347472"/>
          </a:xfrm>
          <a:prstGeom prst="rect">
            <a:avLst/>
          </a:prstGeom>
        </p:spPr>
      </p:pic>
      <p:sp>
        <p:nvSpPr>
          <p:cNvPr id="23" name="TextBox 22"/>
          <p:cNvSpPr txBox="1"/>
          <p:nvPr/>
        </p:nvSpPr>
        <p:spPr>
          <a:xfrm>
            <a:off x="4012615" y="4453128"/>
            <a:ext cx="1845487" cy="694944"/>
          </a:xfrm>
          <a:prstGeom prst="rect">
            <a:avLst/>
          </a:prstGeom>
          <a:noFill/>
        </p:spPr>
        <p:txBody>
          <a:bodyPr wrap="square" lIns="0" rIns="0" tIns="0" bIns="0" anchor="ctr">
            <a:spAutoFit/>
          </a:bodyPr>
          <a:lstStyle/>
          <a:p>
            <a:pPr algn="l">
              <a:lnSpc>
                <a:spcPct val="100000"/>
              </a:lnSpc>
            </a:pPr>
            <a:r>
              <a:rPr sz="1300" b="1" i="0">
                <a:solidFill>
                  <a:srgbClr val="FFFFFF"/>
                </a:solidFill>
                <a:latin typeface="Arial"/>
              </a:rPr>
              <a:t>Compras</a:t>
            </a:r>
          </a:p>
          <a:p>
            <a:pPr algn="l">
              <a:lnSpc>
                <a:spcPct val="100000"/>
              </a:lnSpc>
            </a:pPr>
            <a:r>
              <a:rPr sz="1050" b="0" i="0">
                <a:solidFill>
                  <a:srgbClr val="FFFFFF"/>
                </a:solidFill>
                <a:latin typeface="Arial"/>
              </a:rPr>
              <a:t>PWP y datos de proveedores</a:t>
            </a:r>
          </a:p>
        </p:txBody>
      </p:sp>
      <p:cxnSp>
        <p:nvCxnSpPr>
          <p:cNvPr id="24" name="Connector 23"/>
          <p:cNvCxnSpPr/>
          <p:nvPr/>
        </p:nvCxnSpPr>
        <p:spPr>
          <a:xfrm>
            <a:off x="7507795" y="4069080"/>
            <a:ext cx="0" cy="246888"/>
          </a:xfrm>
          <a:prstGeom prst="line">
            <a:avLst/>
          </a:prstGeom>
          <a:ln w="22225">
            <a:solidFill>
              <a:srgbClr val="6D6E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6196431" y="4343400"/>
            <a:ext cx="2622727" cy="9144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helmet_w.png"/>
          <p:cNvPicPr>
            <a:picLocks noChangeAspect="1"/>
          </p:cNvPicPr>
          <p:nvPr/>
        </p:nvPicPr>
        <p:blipFill>
          <a:blip r:embed="rId6"/>
          <a:stretch>
            <a:fillRect/>
          </a:stretch>
        </p:blipFill>
        <p:spPr>
          <a:xfrm>
            <a:off x="6379311" y="4526280"/>
            <a:ext cx="347472" cy="347472"/>
          </a:xfrm>
          <a:prstGeom prst="rect">
            <a:avLst/>
          </a:prstGeom>
        </p:spPr>
      </p:pic>
      <p:sp>
        <p:nvSpPr>
          <p:cNvPr id="27" name="TextBox 26"/>
          <p:cNvSpPr txBox="1"/>
          <p:nvPr/>
        </p:nvSpPr>
        <p:spPr>
          <a:xfrm>
            <a:off x="6836511" y="4453128"/>
            <a:ext cx="1845487" cy="694944"/>
          </a:xfrm>
          <a:prstGeom prst="rect">
            <a:avLst/>
          </a:prstGeom>
          <a:noFill/>
        </p:spPr>
        <p:txBody>
          <a:bodyPr wrap="square" lIns="0" rIns="0" tIns="0" bIns="0" anchor="ctr">
            <a:spAutoFit/>
          </a:bodyPr>
          <a:lstStyle/>
          <a:p>
            <a:pPr algn="l">
              <a:lnSpc>
                <a:spcPct val="100000"/>
              </a:lnSpc>
            </a:pPr>
            <a:r>
              <a:rPr sz="1300" b="1" i="0">
                <a:solidFill>
                  <a:srgbClr val="FFFFFF"/>
                </a:solidFill>
                <a:latin typeface="Arial"/>
              </a:rPr>
              <a:t>Construcción</a:t>
            </a:r>
          </a:p>
          <a:p>
            <a:pPr algn="l">
              <a:lnSpc>
                <a:spcPct val="100000"/>
              </a:lnSpc>
            </a:pPr>
            <a:r>
              <a:rPr sz="1050" b="0" i="0">
                <a:solidFill>
                  <a:srgbClr val="FFFFFF"/>
                </a:solidFill>
                <a:latin typeface="Arial"/>
              </a:rPr>
              <a:t>IWP y ejecución en campo</a:t>
            </a:r>
          </a:p>
        </p:txBody>
      </p:sp>
      <p:cxnSp>
        <p:nvCxnSpPr>
          <p:cNvPr id="28" name="Connector 27"/>
          <p:cNvCxnSpPr/>
          <p:nvPr/>
        </p:nvCxnSpPr>
        <p:spPr>
          <a:xfrm>
            <a:off x="10331691" y="4069080"/>
            <a:ext cx="0" cy="246888"/>
          </a:xfrm>
          <a:prstGeom prst="line">
            <a:avLst/>
          </a:prstGeom>
          <a:ln w="22225">
            <a:solidFill>
              <a:srgbClr val="6D6E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9020327" y="4343400"/>
            <a:ext cx="2622727" cy="914400"/>
          </a:xfrm>
          <a:prstGeom prst="rect">
            <a:avLst/>
          </a:prstGeom>
          <a:solidFill>
            <a:srgbClr val="CC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industry_w.png"/>
          <p:cNvPicPr>
            <a:picLocks noChangeAspect="1"/>
          </p:cNvPicPr>
          <p:nvPr/>
        </p:nvPicPr>
        <p:blipFill>
          <a:blip r:embed="rId7"/>
          <a:stretch>
            <a:fillRect/>
          </a:stretch>
        </p:blipFill>
        <p:spPr>
          <a:xfrm>
            <a:off x="9203207" y="4526280"/>
            <a:ext cx="347472" cy="347472"/>
          </a:xfrm>
          <a:prstGeom prst="rect">
            <a:avLst/>
          </a:prstGeom>
        </p:spPr>
      </p:pic>
      <p:sp>
        <p:nvSpPr>
          <p:cNvPr id="31" name="TextBox 30"/>
          <p:cNvSpPr txBox="1"/>
          <p:nvPr/>
        </p:nvSpPr>
        <p:spPr>
          <a:xfrm>
            <a:off x="9660407" y="4453128"/>
            <a:ext cx="1845487" cy="694944"/>
          </a:xfrm>
          <a:prstGeom prst="rect">
            <a:avLst/>
          </a:prstGeom>
          <a:noFill/>
        </p:spPr>
        <p:txBody>
          <a:bodyPr wrap="square" lIns="0" rIns="0" tIns="0" bIns="0" anchor="ctr">
            <a:spAutoFit/>
          </a:bodyPr>
          <a:lstStyle/>
          <a:p>
            <a:pPr algn="l">
              <a:lnSpc>
                <a:spcPct val="100000"/>
              </a:lnSpc>
            </a:pPr>
            <a:r>
              <a:rPr sz="1300" b="1" i="0">
                <a:solidFill>
                  <a:srgbClr val="FFFFFF"/>
                </a:solidFill>
                <a:latin typeface="Arial"/>
              </a:rPr>
              <a:t>Puesta en marcha y operación</a:t>
            </a:r>
          </a:p>
          <a:p>
            <a:pPr algn="l">
              <a:lnSpc>
                <a:spcPct val="100000"/>
              </a:lnSpc>
            </a:pPr>
            <a:r>
              <a:rPr sz="1050" b="0" i="0">
                <a:solidFill>
                  <a:srgbClr val="FFFFFF"/>
                </a:solidFill>
                <a:latin typeface="Arial"/>
              </a:rPr>
              <a:t>SWP, TOP y prioridades de sistemas</a:t>
            </a:r>
          </a:p>
        </p:txBody>
      </p:sp>
      <p:sp>
        <p:nvSpPr>
          <p:cNvPr id="32" name="Rectangle 31"/>
          <p:cNvSpPr/>
          <p:nvPr/>
        </p:nvSpPr>
        <p:spPr>
          <a:xfrm>
            <a:off x="548640" y="5577840"/>
            <a:ext cx="11094415" cy="658368"/>
          </a:xfrm>
          <a:prstGeom prst="rect">
            <a:avLst/>
          </a:prstGeom>
          <a:solidFill>
            <a:srgbClr val="FFE3CF"/>
          </a:solidFill>
          <a:ln w="9525">
            <a:solidFill>
              <a:srgbClr val="FF6600"/>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star_o.png"/>
          <p:cNvPicPr>
            <a:picLocks noChangeAspect="1"/>
          </p:cNvPicPr>
          <p:nvPr/>
        </p:nvPicPr>
        <p:blipFill>
          <a:blip r:embed="rId8"/>
          <a:stretch>
            <a:fillRect/>
          </a:stretch>
        </p:blipFill>
        <p:spPr>
          <a:xfrm>
            <a:off x="777240" y="5733288"/>
            <a:ext cx="347472" cy="347472"/>
          </a:xfrm>
          <a:prstGeom prst="rect">
            <a:avLst/>
          </a:prstGeom>
        </p:spPr>
      </p:pic>
      <p:sp>
        <p:nvSpPr>
          <p:cNvPr id="34" name="TextBox 33"/>
          <p:cNvSpPr txBox="1"/>
          <p:nvPr/>
        </p:nvSpPr>
        <p:spPr>
          <a:xfrm>
            <a:off x="1280160" y="5577840"/>
            <a:ext cx="10180015" cy="658368"/>
          </a:xfrm>
          <a:prstGeom prst="rect">
            <a:avLst/>
          </a:prstGeom>
          <a:noFill/>
        </p:spPr>
        <p:txBody>
          <a:bodyPr wrap="square" lIns="0" rIns="0" tIns="0" bIns="0" anchor="ctr">
            <a:spAutoFit/>
          </a:bodyPr>
          <a:lstStyle/>
          <a:p>
            <a:pPr algn="l"/>
            <a:r>
              <a:rPr sz="1300" b="1" i="0">
                <a:solidFill>
                  <a:srgbClr val="1A1A1A"/>
                </a:solidFill>
                <a:latin typeface="Arial"/>
              </a:rPr>
              <a:t>AWP Champion y equipo de soporte: </a:t>
            </a:r>
            <a:r>
              <a:rPr sz="1300" b="0" i="0">
                <a:solidFill>
                  <a:srgbClr val="2E2E2E"/>
                </a:solidFill>
                <a:latin typeface="Arial"/>
              </a:rPr>
              <a:t>integran AWP con los procesos de la empresa, capacitan y impulsan la mejora continua.</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9 · AWP CHAMPION</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El AWP Champion guía; no ejecuta por los demás</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M9 · ROLES Y ORGANIZACIÓN</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089</a:t>
            </a:r>
          </a:p>
        </p:txBody>
      </p:sp>
      <p:sp>
        <p:nvSpPr>
          <p:cNvPr id="7" name="Rectangle 6"/>
          <p:cNvSpPr/>
          <p:nvPr/>
        </p:nvSpPr>
        <p:spPr>
          <a:xfrm>
            <a:off x="548640" y="1828800"/>
            <a:ext cx="2014057" cy="24688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rocket_o.png"/>
          <p:cNvPicPr>
            <a:picLocks noChangeAspect="1"/>
          </p:cNvPicPr>
          <p:nvPr/>
        </p:nvPicPr>
        <p:blipFill>
          <a:blip r:embed="rId2"/>
          <a:stretch>
            <a:fillRect/>
          </a:stretch>
        </p:blipFill>
        <p:spPr>
          <a:xfrm>
            <a:off x="822959" y="2084832"/>
            <a:ext cx="457200" cy="457200"/>
          </a:xfrm>
          <a:prstGeom prst="rect">
            <a:avLst/>
          </a:prstGeom>
        </p:spPr>
      </p:pic>
      <p:sp>
        <p:nvSpPr>
          <p:cNvPr id="9" name="TextBox 8"/>
          <p:cNvSpPr txBox="1"/>
          <p:nvPr/>
        </p:nvSpPr>
        <p:spPr>
          <a:xfrm>
            <a:off x="822959" y="2706624"/>
            <a:ext cx="1511137"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Adopción de AWP</a:t>
            </a:r>
          </a:p>
        </p:txBody>
      </p:sp>
      <p:sp>
        <p:nvSpPr>
          <p:cNvPr id="10" name="TextBox 9"/>
          <p:cNvSpPr txBox="1"/>
          <p:nvPr/>
        </p:nvSpPr>
        <p:spPr>
          <a:xfrm>
            <a:off x="822959" y="3328416"/>
            <a:ext cx="1511137" cy="832103"/>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Lidera el cambio en la organización</a:t>
            </a:r>
          </a:p>
        </p:txBody>
      </p:sp>
      <p:sp>
        <p:nvSpPr>
          <p:cNvPr id="11" name="Rectangle 10"/>
          <p:cNvSpPr/>
          <p:nvPr/>
        </p:nvSpPr>
        <p:spPr>
          <a:xfrm>
            <a:off x="2818729" y="1828800"/>
            <a:ext cx="2014057" cy="24688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handshake_o.png"/>
          <p:cNvPicPr>
            <a:picLocks noChangeAspect="1"/>
          </p:cNvPicPr>
          <p:nvPr/>
        </p:nvPicPr>
        <p:blipFill>
          <a:blip r:embed="rId3"/>
          <a:stretch>
            <a:fillRect/>
          </a:stretch>
        </p:blipFill>
        <p:spPr>
          <a:xfrm>
            <a:off x="3093049" y="2084832"/>
            <a:ext cx="457200" cy="457200"/>
          </a:xfrm>
          <a:prstGeom prst="rect">
            <a:avLst/>
          </a:prstGeom>
        </p:spPr>
      </p:pic>
      <p:sp>
        <p:nvSpPr>
          <p:cNvPr id="13" name="TextBox 12"/>
          <p:cNvSpPr txBox="1"/>
          <p:nvPr/>
        </p:nvSpPr>
        <p:spPr>
          <a:xfrm>
            <a:off x="3093049" y="2706624"/>
            <a:ext cx="1511137"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Enlace con el propietario</a:t>
            </a:r>
          </a:p>
        </p:txBody>
      </p:sp>
      <p:sp>
        <p:nvSpPr>
          <p:cNvPr id="14" name="TextBox 13"/>
          <p:cNvSpPr txBox="1"/>
          <p:nvPr/>
        </p:nvSpPr>
        <p:spPr>
          <a:xfrm>
            <a:off x="3093049" y="3328416"/>
            <a:ext cx="1511137" cy="832103"/>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Punto de contacto AWP del contratista</a:t>
            </a:r>
          </a:p>
        </p:txBody>
      </p:sp>
      <p:sp>
        <p:nvSpPr>
          <p:cNvPr id="15" name="Rectangle 14"/>
          <p:cNvSpPr/>
          <p:nvPr/>
        </p:nvSpPr>
        <p:spPr>
          <a:xfrm>
            <a:off x="5088818" y="1828800"/>
            <a:ext cx="2014057" cy="24688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ontract_o.png"/>
          <p:cNvPicPr>
            <a:picLocks noChangeAspect="1"/>
          </p:cNvPicPr>
          <p:nvPr/>
        </p:nvPicPr>
        <p:blipFill>
          <a:blip r:embed="rId4"/>
          <a:stretch>
            <a:fillRect/>
          </a:stretch>
        </p:blipFill>
        <p:spPr>
          <a:xfrm>
            <a:off x="5363138" y="2084832"/>
            <a:ext cx="457200" cy="457200"/>
          </a:xfrm>
          <a:prstGeom prst="rect">
            <a:avLst/>
          </a:prstGeom>
        </p:spPr>
      </p:pic>
      <p:sp>
        <p:nvSpPr>
          <p:cNvPr id="17" name="TextBox 16"/>
          <p:cNvSpPr txBox="1"/>
          <p:nvPr/>
        </p:nvSpPr>
        <p:spPr>
          <a:xfrm>
            <a:off x="5363138" y="2706624"/>
            <a:ext cx="1511137"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Subcontratistas</a:t>
            </a:r>
          </a:p>
        </p:txBody>
      </p:sp>
      <p:sp>
        <p:nvSpPr>
          <p:cNvPr id="18" name="TextBox 17"/>
          <p:cNvSpPr txBox="1"/>
          <p:nvPr/>
        </p:nvSpPr>
        <p:spPr>
          <a:xfrm>
            <a:off x="5363138" y="3328416"/>
            <a:ext cx="1511137" cy="832103"/>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Fija requisitos AWP y vigila su cumplimiento</a:t>
            </a:r>
          </a:p>
        </p:txBody>
      </p:sp>
      <p:sp>
        <p:nvSpPr>
          <p:cNvPr id="19" name="Rectangle 18"/>
          <p:cNvSpPr/>
          <p:nvPr/>
        </p:nvSpPr>
        <p:spPr>
          <a:xfrm>
            <a:off x="7358908" y="1828800"/>
            <a:ext cx="2014057" cy="24688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teach_o.png"/>
          <p:cNvPicPr>
            <a:picLocks noChangeAspect="1"/>
          </p:cNvPicPr>
          <p:nvPr/>
        </p:nvPicPr>
        <p:blipFill>
          <a:blip r:embed="rId5"/>
          <a:stretch>
            <a:fillRect/>
          </a:stretch>
        </p:blipFill>
        <p:spPr>
          <a:xfrm>
            <a:off x="7633228" y="2084832"/>
            <a:ext cx="457200" cy="457200"/>
          </a:xfrm>
          <a:prstGeom prst="rect">
            <a:avLst/>
          </a:prstGeom>
        </p:spPr>
      </p:pic>
      <p:sp>
        <p:nvSpPr>
          <p:cNvPr id="21" name="TextBox 20"/>
          <p:cNvSpPr txBox="1"/>
          <p:nvPr/>
        </p:nvSpPr>
        <p:spPr>
          <a:xfrm>
            <a:off x="7633228" y="2706624"/>
            <a:ext cx="1511137"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Mentor del equipo</a:t>
            </a:r>
          </a:p>
        </p:txBody>
      </p:sp>
      <p:sp>
        <p:nvSpPr>
          <p:cNvPr id="22" name="TextBox 21"/>
          <p:cNvSpPr txBox="1"/>
          <p:nvPr/>
        </p:nvSpPr>
        <p:spPr>
          <a:xfrm>
            <a:off x="7633228" y="3328416"/>
            <a:ext cx="1511137" cy="832103"/>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Guía, revisa y asegura el proceso</a:t>
            </a:r>
          </a:p>
        </p:txBody>
      </p:sp>
      <p:sp>
        <p:nvSpPr>
          <p:cNvPr id="23" name="Rectangle 22"/>
          <p:cNvSpPr/>
          <p:nvPr/>
        </p:nvSpPr>
        <p:spPr>
          <a:xfrm>
            <a:off x="9628997" y="1828800"/>
            <a:ext cx="2014057" cy="24688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helmet_o.png"/>
          <p:cNvPicPr>
            <a:picLocks noChangeAspect="1"/>
          </p:cNvPicPr>
          <p:nvPr/>
        </p:nvPicPr>
        <p:blipFill>
          <a:blip r:embed="rId6"/>
          <a:stretch>
            <a:fillRect/>
          </a:stretch>
        </p:blipFill>
        <p:spPr>
          <a:xfrm>
            <a:off x="9903317" y="2084832"/>
            <a:ext cx="457200" cy="457200"/>
          </a:xfrm>
          <a:prstGeom prst="rect">
            <a:avLst/>
          </a:prstGeom>
        </p:spPr>
      </p:pic>
      <p:sp>
        <p:nvSpPr>
          <p:cNvPr id="25" name="TextBox 24"/>
          <p:cNvSpPr txBox="1"/>
          <p:nvPr/>
        </p:nvSpPr>
        <p:spPr>
          <a:xfrm>
            <a:off x="9903317" y="2706624"/>
            <a:ext cx="1511137"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Workface Planning</a:t>
            </a:r>
          </a:p>
        </p:txBody>
      </p:sp>
      <p:sp>
        <p:nvSpPr>
          <p:cNvPr id="26" name="TextBox 25"/>
          <p:cNvSpPr txBox="1"/>
          <p:nvPr/>
        </p:nvSpPr>
        <p:spPr>
          <a:xfrm>
            <a:off x="9903317" y="3328416"/>
            <a:ext cx="1511137" cy="832103"/>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Supervisa su aplicación en obra</a:t>
            </a:r>
          </a:p>
        </p:txBody>
      </p:sp>
      <p:sp>
        <p:nvSpPr>
          <p:cNvPr id="27" name="Rectangle 26"/>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lag_o.png"/>
          <p:cNvPicPr>
            <a:picLocks noChangeAspect="1"/>
          </p:cNvPicPr>
          <p:nvPr/>
        </p:nvPicPr>
        <p:blipFill>
          <a:blip r:embed="rId7"/>
          <a:stretch>
            <a:fillRect/>
          </a:stretch>
        </p:blipFill>
        <p:spPr>
          <a:xfrm>
            <a:off x="822959" y="5660136"/>
            <a:ext cx="365760" cy="365760"/>
          </a:xfrm>
          <a:prstGeom prst="rect">
            <a:avLst/>
          </a:prstGeom>
        </p:spPr>
      </p:pic>
      <p:sp>
        <p:nvSpPr>
          <p:cNvPr id="29" name="TextBox 28"/>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Errores al designarlo: asumir que es el gerente, subestimar su carga, ignorar su carrera y dejarlo solo.</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9 · WORKFACE PLANNER</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El Workface Planner es un oficio con experiencia, no un oficinista</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M9 · ROLES Y ORGANIZACIÓN</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090</a:t>
            </a:r>
          </a:p>
        </p:txBody>
      </p:sp>
      <p:sp>
        <p:nvSpPr>
          <p:cNvPr id="7" name="Rectangle 6"/>
          <p:cNvSpPr/>
          <p:nvPr/>
        </p:nvSpPr>
        <p:spPr>
          <a:xfrm>
            <a:off x="548640" y="1828800"/>
            <a:ext cx="5387187" cy="114300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2080260"/>
            <a:ext cx="640080" cy="64008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hammer_w.png"/>
          <p:cNvPicPr>
            <a:picLocks noChangeAspect="1"/>
          </p:cNvPicPr>
          <p:nvPr/>
        </p:nvPicPr>
        <p:blipFill>
          <a:blip r:embed="rId2"/>
          <a:stretch>
            <a:fillRect/>
          </a:stretch>
        </p:blipFill>
        <p:spPr>
          <a:xfrm>
            <a:off x="930859" y="2233879"/>
            <a:ext cx="332841" cy="332841"/>
          </a:xfrm>
          <a:prstGeom prst="rect">
            <a:avLst/>
          </a:prstGeom>
        </p:spPr>
      </p:pic>
      <p:sp>
        <p:nvSpPr>
          <p:cNvPr id="10" name="TextBox 9"/>
          <p:cNvSpPr txBox="1"/>
          <p:nvPr/>
        </p:nvSpPr>
        <p:spPr>
          <a:xfrm>
            <a:off x="1645919" y="1956816"/>
            <a:ext cx="4061307" cy="886968"/>
          </a:xfrm>
          <a:prstGeom prst="rect">
            <a:avLst/>
          </a:prstGeom>
          <a:noFill/>
        </p:spPr>
        <p:txBody>
          <a:bodyPr wrap="square" lIns="0" rIns="0" tIns="0" bIns="0" anchor="ctr">
            <a:spAutoFit/>
          </a:bodyPr>
          <a:lstStyle/>
          <a:p>
            <a:pPr algn="l">
              <a:lnSpc>
                <a:spcPct val="105000"/>
              </a:lnSpc>
              <a:spcAft>
                <a:spcPts val="300"/>
              </a:spcAft>
            </a:pPr>
            <a:r>
              <a:rPr sz="1400" b="1" i="0">
                <a:solidFill>
                  <a:srgbClr val="1A1A1A"/>
                </a:solidFill>
                <a:latin typeface="Arial"/>
              </a:rPr>
              <a:t>Oficio con experiencia</a:t>
            </a:r>
          </a:p>
          <a:p>
            <a:pPr algn="l">
              <a:lnSpc>
                <a:spcPct val="105000"/>
              </a:lnSpc>
              <a:spcAft>
                <a:spcPts val="300"/>
              </a:spcAft>
            </a:pPr>
            <a:r>
              <a:rPr sz="1200" b="0" i="0">
                <a:solidFill>
                  <a:srgbClr val="6D6E71"/>
                </a:solidFill>
                <a:latin typeface="Arial"/>
              </a:rPr>
              <a:t>Entiende el trabajo que planifica</a:t>
            </a:r>
          </a:p>
        </p:txBody>
      </p:sp>
      <p:sp>
        <p:nvSpPr>
          <p:cNvPr id="11" name="Rectangle 10"/>
          <p:cNvSpPr/>
          <p:nvPr/>
        </p:nvSpPr>
        <p:spPr>
          <a:xfrm>
            <a:off x="6255867" y="1828800"/>
            <a:ext cx="5387187" cy="114300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6484467" y="2080260"/>
            <a:ext cx="640080" cy="64008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helmet_w.png"/>
          <p:cNvPicPr>
            <a:picLocks noChangeAspect="1"/>
          </p:cNvPicPr>
          <p:nvPr/>
        </p:nvPicPr>
        <p:blipFill>
          <a:blip r:embed="rId3"/>
          <a:stretch>
            <a:fillRect/>
          </a:stretch>
        </p:blipFill>
        <p:spPr>
          <a:xfrm>
            <a:off x="6638086" y="2233879"/>
            <a:ext cx="332841" cy="332841"/>
          </a:xfrm>
          <a:prstGeom prst="rect">
            <a:avLst/>
          </a:prstGeom>
        </p:spPr>
      </p:pic>
      <p:sp>
        <p:nvSpPr>
          <p:cNvPr id="14" name="TextBox 13"/>
          <p:cNvSpPr txBox="1"/>
          <p:nvPr/>
        </p:nvSpPr>
        <p:spPr>
          <a:xfrm>
            <a:off x="7353147" y="1956816"/>
            <a:ext cx="4061307" cy="886968"/>
          </a:xfrm>
          <a:prstGeom prst="rect">
            <a:avLst/>
          </a:prstGeom>
          <a:noFill/>
        </p:spPr>
        <p:txBody>
          <a:bodyPr wrap="square" lIns="0" rIns="0" tIns="0" bIns="0" anchor="ctr">
            <a:spAutoFit/>
          </a:bodyPr>
          <a:lstStyle/>
          <a:p>
            <a:pPr algn="l">
              <a:lnSpc>
                <a:spcPct val="105000"/>
              </a:lnSpc>
              <a:spcAft>
                <a:spcPts val="300"/>
              </a:spcAft>
            </a:pPr>
            <a:r>
              <a:rPr sz="1400" b="1" i="0">
                <a:solidFill>
                  <a:srgbClr val="1A1A1A"/>
                </a:solidFill>
                <a:latin typeface="Arial"/>
              </a:rPr>
              <a:t>Supervisión en campo</a:t>
            </a:r>
          </a:p>
          <a:p>
            <a:pPr algn="l">
              <a:lnSpc>
                <a:spcPct val="105000"/>
              </a:lnSpc>
              <a:spcAft>
                <a:spcPts val="300"/>
              </a:spcAft>
            </a:pPr>
            <a:r>
              <a:rPr sz="1200" b="0" i="0">
                <a:solidFill>
                  <a:srgbClr val="6D6E71"/>
                </a:solidFill>
                <a:latin typeface="Arial"/>
              </a:rPr>
              <a:t>Varios años como supervisor</a:t>
            </a:r>
          </a:p>
        </p:txBody>
      </p:sp>
      <p:sp>
        <p:nvSpPr>
          <p:cNvPr id="15" name="Rectangle 14"/>
          <p:cNvSpPr/>
          <p:nvPr/>
        </p:nvSpPr>
        <p:spPr>
          <a:xfrm>
            <a:off x="548640" y="3172968"/>
            <a:ext cx="5387187" cy="114300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777240" y="3424427"/>
            <a:ext cx="640080" cy="64008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laptop_w.png"/>
          <p:cNvPicPr>
            <a:picLocks noChangeAspect="1"/>
          </p:cNvPicPr>
          <p:nvPr/>
        </p:nvPicPr>
        <p:blipFill>
          <a:blip r:embed="rId4"/>
          <a:stretch>
            <a:fillRect/>
          </a:stretch>
        </p:blipFill>
        <p:spPr>
          <a:xfrm>
            <a:off x="930859" y="3578047"/>
            <a:ext cx="332841" cy="332841"/>
          </a:xfrm>
          <a:prstGeom prst="rect">
            <a:avLst/>
          </a:prstGeom>
        </p:spPr>
      </p:pic>
      <p:sp>
        <p:nvSpPr>
          <p:cNvPr id="18" name="TextBox 17"/>
          <p:cNvSpPr txBox="1"/>
          <p:nvPr/>
        </p:nvSpPr>
        <p:spPr>
          <a:xfrm>
            <a:off x="1645919" y="3300984"/>
            <a:ext cx="4061307" cy="886968"/>
          </a:xfrm>
          <a:prstGeom prst="rect">
            <a:avLst/>
          </a:prstGeom>
          <a:noFill/>
        </p:spPr>
        <p:txBody>
          <a:bodyPr wrap="square" lIns="0" rIns="0" tIns="0" bIns="0" anchor="ctr">
            <a:spAutoFit/>
          </a:bodyPr>
          <a:lstStyle/>
          <a:p>
            <a:pPr algn="l">
              <a:lnSpc>
                <a:spcPct val="105000"/>
              </a:lnSpc>
              <a:spcAft>
                <a:spcPts val="300"/>
              </a:spcAft>
            </a:pPr>
            <a:r>
              <a:rPr sz="1400" b="1" i="0">
                <a:solidFill>
                  <a:srgbClr val="1A1A1A"/>
                </a:solidFill>
                <a:latin typeface="Arial"/>
              </a:rPr>
              <a:t>Computación básica</a:t>
            </a:r>
          </a:p>
          <a:p>
            <a:pPr algn="l">
              <a:lnSpc>
                <a:spcPct val="105000"/>
              </a:lnSpc>
              <a:spcAft>
                <a:spcPts val="300"/>
              </a:spcAft>
            </a:pPr>
            <a:r>
              <a:rPr sz="1200" b="0" i="0">
                <a:solidFill>
                  <a:srgbClr val="6D6E71"/>
                </a:solidFill>
                <a:latin typeface="Arial"/>
              </a:rPr>
              <a:t>Maneja el software WFP</a:t>
            </a:r>
          </a:p>
        </p:txBody>
      </p:sp>
      <p:sp>
        <p:nvSpPr>
          <p:cNvPr id="19" name="Rectangle 18"/>
          <p:cNvSpPr/>
          <p:nvPr/>
        </p:nvSpPr>
        <p:spPr>
          <a:xfrm>
            <a:off x="6255867" y="3172968"/>
            <a:ext cx="5387187" cy="114300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6484467" y="3424427"/>
            <a:ext cx="640080" cy="64008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usertie_w.png"/>
          <p:cNvPicPr>
            <a:picLocks noChangeAspect="1"/>
          </p:cNvPicPr>
          <p:nvPr/>
        </p:nvPicPr>
        <p:blipFill>
          <a:blip r:embed="rId5"/>
          <a:stretch>
            <a:fillRect/>
          </a:stretch>
        </p:blipFill>
        <p:spPr>
          <a:xfrm>
            <a:off x="6638086" y="3578047"/>
            <a:ext cx="332841" cy="332841"/>
          </a:xfrm>
          <a:prstGeom prst="rect">
            <a:avLst/>
          </a:prstGeom>
        </p:spPr>
      </p:pic>
      <p:sp>
        <p:nvSpPr>
          <p:cNvPr id="22" name="TextBox 21"/>
          <p:cNvSpPr txBox="1"/>
          <p:nvPr/>
        </p:nvSpPr>
        <p:spPr>
          <a:xfrm>
            <a:off x="7353147" y="3300984"/>
            <a:ext cx="4061307" cy="886968"/>
          </a:xfrm>
          <a:prstGeom prst="rect">
            <a:avLst/>
          </a:prstGeom>
          <a:noFill/>
        </p:spPr>
        <p:txBody>
          <a:bodyPr wrap="square" lIns="0" rIns="0" tIns="0" bIns="0" anchor="ctr">
            <a:spAutoFit/>
          </a:bodyPr>
          <a:lstStyle/>
          <a:p>
            <a:pPr algn="l">
              <a:lnSpc>
                <a:spcPct val="105000"/>
              </a:lnSpc>
              <a:spcAft>
                <a:spcPts val="300"/>
              </a:spcAft>
            </a:pPr>
            <a:r>
              <a:rPr sz="1400" b="1" i="0">
                <a:solidFill>
                  <a:srgbClr val="1A1A1A"/>
                </a:solidFill>
                <a:latin typeface="Arial"/>
              </a:rPr>
              <a:t>Reporta al superintendente</a:t>
            </a:r>
          </a:p>
          <a:p>
            <a:pPr algn="l">
              <a:lnSpc>
                <a:spcPct val="105000"/>
              </a:lnSpc>
              <a:spcAft>
                <a:spcPts val="300"/>
              </a:spcAft>
            </a:pPr>
            <a:r>
              <a:rPr sz="1200" b="0" i="0">
                <a:solidFill>
                  <a:srgbClr val="6D6E71"/>
                </a:solidFill>
                <a:latin typeface="Arial"/>
              </a:rPr>
              <a:t>Uno por superintendente y disciplina</a:t>
            </a:r>
          </a:p>
        </p:txBody>
      </p:sp>
      <p:sp>
        <p:nvSpPr>
          <p:cNvPr id="23" name="Rectangle 22"/>
          <p:cNvSpPr/>
          <p:nvPr/>
        </p:nvSpPr>
        <p:spPr>
          <a:xfrm>
            <a:off x="548640" y="4517136"/>
            <a:ext cx="5387187" cy="114300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77240" y="4768596"/>
            <a:ext cx="640080" cy="64008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ban_w.png"/>
          <p:cNvPicPr>
            <a:picLocks noChangeAspect="1"/>
          </p:cNvPicPr>
          <p:nvPr/>
        </p:nvPicPr>
        <p:blipFill>
          <a:blip r:embed="rId6"/>
          <a:stretch>
            <a:fillRect/>
          </a:stretch>
        </p:blipFill>
        <p:spPr>
          <a:xfrm>
            <a:off x="930859" y="4922215"/>
            <a:ext cx="332841" cy="332841"/>
          </a:xfrm>
          <a:prstGeom prst="rect">
            <a:avLst/>
          </a:prstGeom>
        </p:spPr>
      </p:pic>
      <p:sp>
        <p:nvSpPr>
          <p:cNvPr id="26" name="TextBox 25"/>
          <p:cNvSpPr txBox="1"/>
          <p:nvPr/>
        </p:nvSpPr>
        <p:spPr>
          <a:xfrm>
            <a:off x="1645919" y="4645151"/>
            <a:ext cx="4061307" cy="886968"/>
          </a:xfrm>
          <a:prstGeom prst="rect">
            <a:avLst/>
          </a:prstGeom>
          <a:noFill/>
        </p:spPr>
        <p:txBody>
          <a:bodyPr wrap="square" lIns="0" rIns="0" tIns="0" bIns="0" anchor="ctr">
            <a:spAutoFit/>
          </a:bodyPr>
          <a:lstStyle/>
          <a:p>
            <a:pPr algn="l">
              <a:lnSpc>
                <a:spcPct val="105000"/>
              </a:lnSpc>
              <a:spcAft>
                <a:spcPts val="300"/>
              </a:spcAft>
            </a:pPr>
            <a:r>
              <a:rPr sz="1400" b="1" i="0">
                <a:solidFill>
                  <a:srgbClr val="1A1A1A"/>
                </a:solidFill>
                <a:latin typeface="Arial"/>
              </a:rPr>
              <a:t>Dedicación exclusiva</a:t>
            </a:r>
          </a:p>
          <a:p>
            <a:pPr algn="l">
              <a:lnSpc>
                <a:spcPct val="105000"/>
              </a:lnSpc>
              <a:spcAft>
                <a:spcPts val="300"/>
              </a:spcAft>
            </a:pPr>
            <a:r>
              <a:rPr sz="1200" b="0" i="0">
                <a:solidFill>
                  <a:srgbClr val="6D6E71"/>
                </a:solidFill>
                <a:latin typeface="Arial"/>
              </a:rPr>
              <a:t>Solo planifica, sin otras tareas</a:t>
            </a:r>
          </a:p>
        </p:txBody>
      </p:sp>
      <p:sp>
        <p:nvSpPr>
          <p:cNvPr id="27" name="Rectangle 26"/>
          <p:cNvSpPr/>
          <p:nvPr/>
        </p:nvSpPr>
        <p:spPr>
          <a:xfrm>
            <a:off x="6255867" y="4517136"/>
            <a:ext cx="5387187" cy="114300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6484467" y="4768596"/>
            <a:ext cx="640080" cy="64008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grad_w.png"/>
          <p:cNvPicPr>
            <a:picLocks noChangeAspect="1"/>
          </p:cNvPicPr>
          <p:nvPr/>
        </p:nvPicPr>
        <p:blipFill>
          <a:blip r:embed="rId7"/>
          <a:stretch>
            <a:fillRect/>
          </a:stretch>
        </p:blipFill>
        <p:spPr>
          <a:xfrm>
            <a:off x="6638086" y="4922215"/>
            <a:ext cx="332841" cy="332841"/>
          </a:xfrm>
          <a:prstGeom prst="rect">
            <a:avLst/>
          </a:prstGeom>
        </p:spPr>
      </p:pic>
      <p:sp>
        <p:nvSpPr>
          <p:cNvPr id="30" name="TextBox 29"/>
          <p:cNvSpPr txBox="1"/>
          <p:nvPr/>
        </p:nvSpPr>
        <p:spPr>
          <a:xfrm>
            <a:off x="7353147" y="4645151"/>
            <a:ext cx="4061307" cy="886968"/>
          </a:xfrm>
          <a:prstGeom prst="rect">
            <a:avLst/>
          </a:prstGeom>
          <a:noFill/>
        </p:spPr>
        <p:txBody>
          <a:bodyPr wrap="square" lIns="0" rIns="0" tIns="0" bIns="0" anchor="ctr">
            <a:spAutoFit/>
          </a:bodyPr>
          <a:lstStyle/>
          <a:p>
            <a:pPr algn="l">
              <a:lnSpc>
                <a:spcPct val="105000"/>
              </a:lnSpc>
              <a:spcAft>
                <a:spcPts val="300"/>
              </a:spcAft>
            </a:pPr>
            <a:r>
              <a:rPr sz="1400" b="1" i="0">
                <a:solidFill>
                  <a:srgbClr val="1A1A1A"/>
                </a:solidFill>
                <a:latin typeface="Arial"/>
              </a:rPr>
              <a:t>Capacitación formal</a:t>
            </a:r>
          </a:p>
          <a:p>
            <a:pPr algn="l">
              <a:lnSpc>
                <a:spcPct val="105000"/>
              </a:lnSpc>
              <a:spcAft>
                <a:spcPts val="300"/>
              </a:spcAft>
            </a:pPr>
            <a:r>
              <a:rPr sz="1200" b="0" i="0">
                <a:solidFill>
                  <a:srgbClr val="6D6E71"/>
                </a:solidFill>
                <a:latin typeface="Arial"/>
              </a:rPr>
              <a:t>Curso de WFP tras incorporarse</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9 · DIMENSIONAMIENTO</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Un planificador por cada 50 trabajadores</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M9 · ROLES Y ORGANIZACIÓN</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091</a:t>
            </a:r>
          </a:p>
        </p:txBody>
      </p:sp>
      <p:pic>
        <p:nvPicPr>
          <p:cNvPr id="7" name="Picture 6" descr="users_o.png"/>
          <p:cNvPicPr>
            <a:picLocks noChangeAspect="1"/>
          </p:cNvPicPr>
          <p:nvPr/>
        </p:nvPicPr>
        <p:blipFill>
          <a:blip r:embed="rId2"/>
          <a:stretch>
            <a:fillRect/>
          </a:stretch>
        </p:blipFill>
        <p:spPr>
          <a:xfrm>
            <a:off x="548640" y="1965960"/>
            <a:ext cx="548640" cy="548640"/>
          </a:xfrm>
          <a:prstGeom prst="rect">
            <a:avLst/>
          </a:prstGeom>
        </p:spPr>
      </p:pic>
      <p:sp>
        <p:nvSpPr>
          <p:cNvPr id="8" name="TextBox 7"/>
          <p:cNvSpPr txBox="1"/>
          <p:nvPr/>
        </p:nvSpPr>
        <p:spPr>
          <a:xfrm>
            <a:off x="548640" y="2514600"/>
            <a:ext cx="6035040" cy="1737360"/>
          </a:xfrm>
          <a:prstGeom prst="rect">
            <a:avLst/>
          </a:prstGeom>
          <a:noFill/>
        </p:spPr>
        <p:txBody>
          <a:bodyPr wrap="square" lIns="0" rIns="0" tIns="0" bIns="0" anchor="ctr">
            <a:spAutoFit/>
          </a:bodyPr>
          <a:lstStyle/>
          <a:p>
            <a:pPr algn="l"/>
            <a:r>
              <a:rPr sz="12000" b="1" i="0">
                <a:solidFill>
                  <a:srgbClr val="FF6600"/>
                </a:solidFill>
                <a:latin typeface="Arial"/>
              </a:rPr>
              <a:t>1 : 50</a:t>
            </a:r>
          </a:p>
        </p:txBody>
      </p:sp>
      <p:sp>
        <p:nvSpPr>
          <p:cNvPr id="9" name="TextBox 8"/>
          <p:cNvSpPr txBox="1"/>
          <p:nvPr/>
        </p:nvSpPr>
        <p:spPr>
          <a:xfrm>
            <a:off x="548640" y="4389120"/>
            <a:ext cx="5760720" cy="411480"/>
          </a:xfrm>
          <a:prstGeom prst="rect">
            <a:avLst/>
          </a:prstGeom>
          <a:noFill/>
        </p:spPr>
        <p:txBody>
          <a:bodyPr wrap="square" lIns="0" rIns="0" tIns="0" bIns="0" anchor="t">
            <a:spAutoFit/>
          </a:bodyPr>
          <a:lstStyle/>
          <a:p>
            <a:pPr algn="l"/>
            <a:r>
              <a:rPr sz="2000" b="1" i="0">
                <a:solidFill>
                  <a:srgbClr val="1A1A1A"/>
                </a:solidFill>
                <a:latin typeface="Arial"/>
              </a:rPr>
              <a:t>un Workface Planner por cada 50 trabajadores</a:t>
            </a:r>
          </a:p>
        </p:txBody>
      </p:sp>
      <p:sp>
        <p:nvSpPr>
          <p:cNvPr id="10" name="TextBox 9"/>
          <p:cNvSpPr txBox="1"/>
          <p:nvPr/>
        </p:nvSpPr>
        <p:spPr>
          <a:xfrm>
            <a:off x="548640" y="4892040"/>
            <a:ext cx="5669279" cy="1188720"/>
          </a:xfrm>
          <a:prstGeom prst="rect">
            <a:avLst/>
          </a:prstGeom>
          <a:noFill/>
        </p:spPr>
        <p:txBody>
          <a:bodyPr wrap="square" lIns="0" rIns="0" tIns="0" bIns="0" anchor="t">
            <a:spAutoFit/>
          </a:bodyPr>
          <a:lstStyle/>
          <a:p>
            <a:pPr algn="l">
              <a:lnSpc>
                <a:spcPct val="110000"/>
              </a:lnSpc>
            </a:pPr>
            <a:r>
              <a:rPr sz="1400" b="0" i="0">
                <a:solidFill>
                  <a:srgbClr val="6D6E71"/>
                </a:solidFill>
                <a:latin typeface="Arial"/>
              </a:rPr>
              <a:t>Ajuste por complejidad: la instrumentación exige más planificación que el concreto o el movimiento de tierras.</a:t>
            </a:r>
          </a:p>
        </p:txBody>
      </p:sp>
      <p:sp>
        <p:nvSpPr>
          <p:cNvPr id="11" name="Rectangle 10"/>
          <p:cNvSpPr/>
          <p:nvPr/>
        </p:nvSpPr>
        <p:spPr>
          <a:xfrm>
            <a:off x="6949440" y="1828800"/>
            <a:ext cx="4693615" cy="12954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69479" y="2011680"/>
            <a:ext cx="2011680" cy="929640"/>
          </a:xfrm>
          <a:prstGeom prst="rect">
            <a:avLst/>
          </a:prstGeom>
          <a:noFill/>
        </p:spPr>
        <p:txBody>
          <a:bodyPr wrap="square" lIns="0" rIns="0" tIns="0" bIns="0" anchor="ctr">
            <a:spAutoFit/>
          </a:bodyPr>
          <a:lstStyle/>
          <a:p>
            <a:pPr algn="l"/>
            <a:r>
              <a:rPr sz="3000" b="1" i="0">
                <a:solidFill>
                  <a:srgbClr val="FF9955"/>
                </a:solidFill>
                <a:latin typeface="Arial"/>
              </a:rPr>
              <a:t>20 IWP</a:t>
            </a:r>
          </a:p>
        </p:txBody>
      </p:sp>
      <p:sp>
        <p:nvSpPr>
          <p:cNvPr id="13" name="TextBox 12"/>
          <p:cNvSpPr txBox="1"/>
          <p:nvPr/>
        </p:nvSpPr>
        <p:spPr>
          <a:xfrm>
            <a:off x="9326880" y="1965960"/>
            <a:ext cx="2087575" cy="1021080"/>
          </a:xfrm>
          <a:prstGeom prst="rect">
            <a:avLst/>
          </a:prstGeom>
          <a:noFill/>
        </p:spPr>
        <p:txBody>
          <a:bodyPr wrap="square" lIns="0" rIns="0" tIns="0" bIns="0" anchor="ctr">
            <a:spAutoFit/>
          </a:bodyPr>
          <a:lstStyle/>
          <a:p>
            <a:pPr algn="l">
              <a:lnSpc>
                <a:spcPct val="105000"/>
              </a:lnSpc>
            </a:pPr>
            <a:r>
              <a:rPr sz="1250" b="0" i="0">
                <a:solidFill>
                  <a:srgbClr val="FFFFFF"/>
                </a:solidFill>
                <a:latin typeface="Arial"/>
              </a:rPr>
              <a:t>al mes por planificador: 1 IWP por 10 trabajadores por semana, con 5 cuadrillas</a:t>
            </a:r>
          </a:p>
        </p:txBody>
      </p:sp>
      <p:sp>
        <p:nvSpPr>
          <p:cNvPr id="14" name="Rectangle 13"/>
          <p:cNvSpPr/>
          <p:nvPr/>
        </p:nvSpPr>
        <p:spPr>
          <a:xfrm>
            <a:off x="6949440" y="3352800"/>
            <a:ext cx="4693615" cy="12954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269479" y="3535680"/>
            <a:ext cx="2011680" cy="929640"/>
          </a:xfrm>
          <a:prstGeom prst="rect">
            <a:avLst/>
          </a:prstGeom>
          <a:noFill/>
        </p:spPr>
        <p:txBody>
          <a:bodyPr wrap="square" lIns="0" rIns="0" tIns="0" bIns="0" anchor="ctr">
            <a:spAutoFit/>
          </a:bodyPr>
          <a:lstStyle/>
          <a:p>
            <a:pPr algn="l"/>
            <a:r>
              <a:rPr sz="3000" b="1" i="0">
                <a:solidFill>
                  <a:srgbClr val="FF9955"/>
                </a:solidFill>
                <a:latin typeface="Arial"/>
              </a:rPr>
              <a:t>80 → 2</a:t>
            </a:r>
          </a:p>
        </p:txBody>
      </p:sp>
      <p:sp>
        <p:nvSpPr>
          <p:cNvPr id="16" name="TextBox 15"/>
          <p:cNvSpPr txBox="1"/>
          <p:nvPr/>
        </p:nvSpPr>
        <p:spPr>
          <a:xfrm>
            <a:off x="9326880" y="3489960"/>
            <a:ext cx="2087575" cy="1021080"/>
          </a:xfrm>
          <a:prstGeom prst="rect">
            <a:avLst/>
          </a:prstGeom>
          <a:noFill/>
        </p:spPr>
        <p:txBody>
          <a:bodyPr wrap="square" lIns="0" rIns="0" tIns="0" bIns="0" anchor="ctr">
            <a:spAutoFit/>
          </a:bodyPr>
          <a:lstStyle/>
          <a:p>
            <a:pPr algn="l">
              <a:lnSpc>
                <a:spcPct val="105000"/>
              </a:lnSpc>
            </a:pPr>
            <a:r>
              <a:rPr sz="1250" b="0" i="0">
                <a:solidFill>
                  <a:srgbClr val="FFFFFF"/>
                </a:solidFill>
                <a:latin typeface="Arial"/>
              </a:rPr>
              <a:t>80 montadores de acero en el pico requieren 2 planificadores</a:t>
            </a:r>
          </a:p>
        </p:txBody>
      </p:sp>
      <p:sp>
        <p:nvSpPr>
          <p:cNvPr id="17" name="Rectangle 16"/>
          <p:cNvSpPr/>
          <p:nvPr/>
        </p:nvSpPr>
        <p:spPr>
          <a:xfrm>
            <a:off x="6949440" y="4876800"/>
            <a:ext cx="4693615" cy="12954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269479" y="5059680"/>
            <a:ext cx="2011680" cy="929640"/>
          </a:xfrm>
          <a:prstGeom prst="rect">
            <a:avLst/>
          </a:prstGeom>
          <a:noFill/>
        </p:spPr>
        <p:txBody>
          <a:bodyPr wrap="square" lIns="0" rIns="0" tIns="0" bIns="0" anchor="ctr">
            <a:spAutoFit/>
          </a:bodyPr>
          <a:lstStyle/>
          <a:p>
            <a:pPr algn="l"/>
            <a:r>
              <a:rPr sz="3000" b="1" i="0">
                <a:solidFill>
                  <a:srgbClr val="FF9955"/>
                </a:solidFill>
                <a:latin typeface="Arial"/>
              </a:rPr>
              <a:t>−4 sem</a:t>
            </a:r>
          </a:p>
        </p:txBody>
      </p:sp>
      <p:sp>
        <p:nvSpPr>
          <p:cNvPr id="19" name="TextBox 18"/>
          <p:cNvSpPr txBox="1"/>
          <p:nvPr/>
        </p:nvSpPr>
        <p:spPr>
          <a:xfrm>
            <a:off x="9326880" y="5013960"/>
            <a:ext cx="2087575" cy="1021080"/>
          </a:xfrm>
          <a:prstGeom prst="rect">
            <a:avLst/>
          </a:prstGeom>
          <a:noFill/>
        </p:spPr>
        <p:txBody>
          <a:bodyPr wrap="square" lIns="0" rIns="0" tIns="0" bIns="0" anchor="ctr">
            <a:spAutoFit/>
          </a:bodyPr>
          <a:lstStyle/>
          <a:p>
            <a:pPr algn="l">
              <a:lnSpc>
                <a:spcPct val="105000"/>
              </a:lnSpc>
            </a:pPr>
            <a:r>
              <a:rPr sz="1250" b="0" i="0">
                <a:solidFill>
                  <a:srgbClr val="FFFFFF"/>
                </a:solidFill>
                <a:latin typeface="Arial"/>
              </a:rPr>
              <a:t>inicio de la generación de IWP antes de construir</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9 · CONSTRUCTION MANAGER</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El Construction Manager es dueño de AWP en la obra</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M9 · ROLES Y ORGANIZACIÓN</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092</a:t>
            </a:r>
          </a:p>
        </p:txBody>
      </p:sp>
      <p:sp>
        <p:nvSpPr>
          <p:cNvPr id="7" name="Rectangle 6"/>
          <p:cNvSpPr/>
          <p:nvPr/>
        </p:nvSpPr>
        <p:spPr>
          <a:xfrm>
            <a:off x="548640" y="1828800"/>
            <a:ext cx="5387187" cy="100279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2010156"/>
            <a:ext cx="640080" cy="64008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rocket_w.png"/>
          <p:cNvPicPr>
            <a:picLocks noChangeAspect="1"/>
          </p:cNvPicPr>
          <p:nvPr/>
        </p:nvPicPr>
        <p:blipFill>
          <a:blip r:embed="rId2"/>
          <a:stretch>
            <a:fillRect/>
          </a:stretch>
        </p:blipFill>
        <p:spPr>
          <a:xfrm>
            <a:off x="930859" y="2163775"/>
            <a:ext cx="332841" cy="332841"/>
          </a:xfrm>
          <a:prstGeom prst="rect">
            <a:avLst/>
          </a:prstGeom>
        </p:spPr>
      </p:pic>
      <p:sp>
        <p:nvSpPr>
          <p:cNvPr id="10" name="TextBox 9"/>
          <p:cNvSpPr txBox="1"/>
          <p:nvPr/>
        </p:nvSpPr>
        <p:spPr>
          <a:xfrm>
            <a:off x="1645919" y="1956816"/>
            <a:ext cx="4061307" cy="746760"/>
          </a:xfrm>
          <a:prstGeom prst="rect">
            <a:avLst/>
          </a:prstGeom>
          <a:noFill/>
        </p:spPr>
        <p:txBody>
          <a:bodyPr wrap="square" lIns="0" rIns="0" tIns="0" bIns="0" anchor="ctr">
            <a:spAutoFit/>
          </a:bodyPr>
          <a:lstStyle/>
          <a:p>
            <a:pPr algn="l">
              <a:lnSpc>
                <a:spcPct val="105000"/>
              </a:lnSpc>
              <a:spcAft>
                <a:spcPts val="300"/>
              </a:spcAft>
            </a:pPr>
            <a:r>
              <a:rPr sz="1400" b="1" i="0">
                <a:solidFill>
                  <a:srgbClr val="1A1A1A"/>
                </a:solidFill>
                <a:latin typeface="Arial"/>
              </a:rPr>
              <a:t>Adopción</a:t>
            </a:r>
          </a:p>
          <a:p>
            <a:pPr algn="l">
              <a:lnSpc>
                <a:spcPct val="105000"/>
              </a:lnSpc>
              <a:spcAft>
                <a:spcPts val="300"/>
              </a:spcAft>
            </a:pPr>
            <a:r>
              <a:rPr sz="1200" b="0" i="0">
                <a:solidFill>
                  <a:srgbClr val="6D6E71"/>
                </a:solidFill>
                <a:latin typeface="Arial"/>
              </a:rPr>
              <a:t>Explica por qué se usa AWP</a:t>
            </a:r>
          </a:p>
        </p:txBody>
      </p:sp>
      <p:sp>
        <p:nvSpPr>
          <p:cNvPr id="11" name="Rectangle 10"/>
          <p:cNvSpPr/>
          <p:nvPr/>
        </p:nvSpPr>
        <p:spPr>
          <a:xfrm>
            <a:off x="6255867" y="1828800"/>
            <a:ext cx="5387187" cy="100279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6484467" y="2010156"/>
            <a:ext cx="640080" cy="64008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route_w.png"/>
          <p:cNvPicPr>
            <a:picLocks noChangeAspect="1"/>
          </p:cNvPicPr>
          <p:nvPr/>
        </p:nvPicPr>
        <p:blipFill>
          <a:blip r:embed="rId3"/>
          <a:stretch>
            <a:fillRect/>
          </a:stretch>
        </p:blipFill>
        <p:spPr>
          <a:xfrm>
            <a:off x="6638086" y="2163775"/>
            <a:ext cx="332841" cy="332841"/>
          </a:xfrm>
          <a:prstGeom prst="rect">
            <a:avLst/>
          </a:prstGeom>
        </p:spPr>
      </p:pic>
      <p:sp>
        <p:nvSpPr>
          <p:cNvPr id="14" name="TextBox 13"/>
          <p:cNvSpPr txBox="1"/>
          <p:nvPr/>
        </p:nvSpPr>
        <p:spPr>
          <a:xfrm>
            <a:off x="7353147" y="1956816"/>
            <a:ext cx="4061307" cy="746760"/>
          </a:xfrm>
          <a:prstGeom prst="rect">
            <a:avLst/>
          </a:prstGeom>
          <a:noFill/>
        </p:spPr>
        <p:txBody>
          <a:bodyPr wrap="square" lIns="0" rIns="0" tIns="0" bIns="0" anchor="ctr">
            <a:spAutoFit/>
          </a:bodyPr>
          <a:lstStyle/>
          <a:p>
            <a:pPr algn="l">
              <a:lnSpc>
                <a:spcPct val="105000"/>
              </a:lnSpc>
              <a:spcAft>
                <a:spcPts val="300"/>
              </a:spcAft>
            </a:pPr>
            <a:r>
              <a:rPr sz="1400" b="1" i="0">
                <a:solidFill>
                  <a:srgbClr val="1A1A1A"/>
                </a:solidFill>
                <a:latin typeface="Arial"/>
              </a:rPr>
              <a:t>Path of Construction</a:t>
            </a:r>
          </a:p>
          <a:p>
            <a:pPr algn="l">
              <a:lnSpc>
                <a:spcPct val="105000"/>
              </a:lnSpc>
              <a:spcAft>
                <a:spcPts val="300"/>
              </a:spcAft>
            </a:pPr>
            <a:r>
              <a:rPr sz="1200" b="0" i="0">
                <a:solidFill>
                  <a:srgbClr val="6D6E71"/>
                </a:solidFill>
                <a:latin typeface="Arial"/>
              </a:rPr>
              <a:t>Lo lidera y reúne las restricciones</a:t>
            </a:r>
          </a:p>
        </p:txBody>
      </p:sp>
      <p:sp>
        <p:nvSpPr>
          <p:cNvPr id="15" name="Rectangle 14"/>
          <p:cNvSpPr/>
          <p:nvPr/>
        </p:nvSpPr>
        <p:spPr>
          <a:xfrm>
            <a:off x="548640" y="3032760"/>
            <a:ext cx="5387187" cy="100279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777240" y="3214116"/>
            <a:ext cx="640080" cy="64008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hammer_w.png"/>
          <p:cNvPicPr>
            <a:picLocks noChangeAspect="1"/>
          </p:cNvPicPr>
          <p:nvPr/>
        </p:nvPicPr>
        <p:blipFill>
          <a:blip r:embed="rId4"/>
          <a:stretch>
            <a:fillRect/>
          </a:stretch>
        </p:blipFill>
        <p:spPr>
          <a:xfrm>
            <a:off x="930859" y="3367735"/>
            <a:ext cx="332841" cy="332841"/>
          </a:xfrm>
          <a:prstGeom prst="rect">
            <a:avLst/>
          </a:prstGeom>
        </p:spPr>
      </p:pic>
      <p:sp>
        <p:nvSpPr>
          <p:cNvPr id="18" name="TextBox 17"/>
          <p:cNvSpPr txBox="1"/>
          <p:nvPr/>
        </p:nvSpPr>
        <p:spPr>
          <a:xfrm>
            <a:off x="1645919" y="3160776"/>
            <a:ext cx="4061307" cy="746760"/>
          </a:xfrm>
          <a:prstGeom prst="rect">
            <a:avLst/>
          </a:prstGeom>
          <a:noFill/>
        </p:spPr>
        <p:txBody>
          <a:bodyPr wrap="square" lIns="0" rIns="0" tIns="0" bIns="0" anchor="ctr">
            <a:spAutoFit/>
          </a:bodyPr>
          <a:lstStyle/>
          <a:p>
            <a:pPr algn="l">
              <a:lnSpc>
                <a:spcPct val="105000"/>
              </a:lnSpc>
              <a:spcAft>
                <a:spcPts val="300"/>
              </a:spcAft>
            </a:pPr>
            <a:r>
              <a:rPr sz="1400" b="1" i="0">
                <a:solidFill>
                  <a:srgbClr val="1A1A1A"/>
                </a:solidFill>
                <a:latin typeface="Arial"/>
              </a:rPr>
              <a:t>Constructabilidad</a:t>
            </a:r>
          </a:p>
          <a:p>
            <a:pPr algn="l">
              <a:lnSpc>
                <a:spcPct val="105000"/>
              </a:lnSpc>
              <a:spcAft>
                <a:spcPts val="300"/>
              </a:spcAft>
            </a:pPr>
            <a:r>
              <a:rPr sz="1200" b="0" i="0">
                <a:solidFill>
                  <a:srgbClr val="6D6E71"/>
                </a:solidFill>
                <a:latin typeface="Arial"/>
              </a:rPr>
              <a:t>Lidera las revisiones desde las fases tempranas</a:t>
            </a:r>
          </a:p>
        </p:txBody>
      </p:sp>
      <p:sp>
        <p:nvSpPr>
          <p:cNvPr id="19" name="Rectangle 18"/>
          <p:cNvSpPr/>
          <p:nvPr/>
        </p:nvSpPr>
        <p:spPr>
          <a:xfrm>
            <a:off x="6255867" y="3032760"/>
            <a:ext cx="5387187" cy="100279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6484467" y="3214116"/>
            <a:ext cx="640080" cy="64008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file_w.png"/>
          <p:cNvPicPr>
            <a:picLocks noChangeAspect="1"/>
          </p:cNvPicPr>
          <p:nvPr/>
        </p:nvPicPr>
        <p:blipFill>
          <a:blip r:embed="rId5"/>
          <a:stretch>
            <a:fillRect/>
          </a:stretch>
        </p:blipFill>
        <p:spPr>
          <a:xfrm>
            <a:off x="6638086" y="3367735"/>
            <a:ext cx="332841" cy="332841"/>
          </a:xfrm>
          <a:prstGeom prst="rect">
            <a:avLst/>
          </a:prstGeom>
        </p:spPr>
      </p:pic>
      <p:sp>
        <p:nvSpPr>
          <p:cNvPr id="22" name="TextBox 21"/>
          <p:cNvSpPr txBox="1"/>
          <p:nvPr/>
        </p:nvSpPr>
        <p:spPr>
          <a:xfrm>
            <a:off x="7353147" y="3160776"/>
            <a:ext cx="4061307" cy="746760"/>
          </a:xfrm>
          <a:prstGeom prst="rect">
            <a:avLst/>
          </a:prstGeom>
          <a:noFill/>
        </p:spPr>
        <p:txBody>
          <a:bodyPr wrap="square" lIns="0" rIns="0" tIns="0" bIns="0" anchor="ctr">
            <a:spAutoFit/>
          </a:bodyPr>
          <a:lstStyle/>
          <a:p>
            <a:pPr algn="l">
              <a:lnSpc>
                <a:spcPct val="105000"/>
              </a:lnSpc>
              <a:spcAft>
                <a:spcPts val="300"/>
              </a:spcAft>
            </a:pPr>
            <a:r>
              <a:rPr sz="1400" b="1" i="0">
                <a:solidFill>
                  <a:srgbClr val="1A1A1A"/>
                </a:solidFill>
                <a:latin typeface="Arial"/>
              </a:rPr>
              <a:t>Entregables</a:t>
            </a:r>
          </a:p>
          <a:p>
            <a:pPr algn="l">
              <a:lnSpc>
                <a:spcPct val="105000"/>
              </a:lnSpc>
              <a:spcAft>
                <a:spcPts val="300"/>
              </a:spcAft>
            </a:pPr>
            <a:r>
              <a:rPr sz="1200" b="0" i="0">
                <a:solidFill>
                  <a:srgbClr val="6D6E71"/>
                </a:solidFill>
                <a:latin typeface="Arial"/>
              </a:rPr>
              <a:t>Revisa el desglose de paquetes y el estimado</a:t>
            </a:r>
          </a:p>
        </p:txBody>
      </p:sp>
      <p:sp>
        <p:nvSpPr>
          <p:cNvPr id="23" name="Rectangle 22"/>
          <p:cNvSpPr/>
          <p:nvPr/>
        </p:nvSpPr>
        <p:spPr>
          <a:xfrm>
            <a:off x="548640" y="4236720"/>
            <a:ext cx="5387187" cy="100279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77240" y="4418076"/>
            <a:ext cx="640080" cy="64008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warning_w.png"/>
          <p:cNvPicPr>
            <a:picLocks noChangeAspect="1"/>
          </p:cNvPicPr>
          <p:nvPr/>
        </p:nvPicPr>
        <p:blipFill>
          <a:blip r:embed="rId6"/>
          <a:stretch>
            <a:fillRect/>
          </a:stretch>
        </p:blipFill>
        <p:spPr>
          <a:xfrm>
            <a:off x="930859" y="4571695"/>
            <a:ext cx="332841" cy="332841"/>
          </a:xfrm>
          <a:prstGeom prst="rect">
            <a:avLst/>
          </a:prstGeom>
        </p:spPr>
      </p:pic>
      <p:sp>
        <p:nvSpPr>
          <p:cNvPr id="26" name="TextBox 25"/>
          <p:cNvSpPr txBox="1"/>
          <p:nvPr/>
        </p:nvSpPr>
        <p:spPr>
          <a:xfrm>
            <a:off x="1645919" y="4364736"/>
            <a:ext cx="4061307" cy="746760"/>
          </a:xfrm>
          <a:prstGeom prst="rect">
            <a:avLst/>
          </a:prstGeom>
          <a:noFill/>
        </p:spPr>
        <p:txBody>
          <a:bodyPr wrap="square" lIns="0" rIns="0" tIns="0" bIns="0" anchor="ctr">
            <a:spAutoFit/>
          </a:bodyPr>
          <a:lstStyle/>
          <a:p>
            <a:pPr algn="l">
              <a:lnSpc>
                <a:spcPct val="105000"/>
              </a:lnSpc>
              <a:spcAft>
                <a:spcPts val="300"/>
              </a:spcAft>
            </a:pPr>
            <a:r>
              <a:rPr sz="1400" b="1" i="0">
                <a:solidFill>
                  <a:srgbClr val="1A1A1A"/>
                </a:solidFill>
                <a:latin typeface="Arial"/>
              </a:rPr>
              <a:t>Restricciones</a:t>
            </a:r>
          </a:p>
          <a:p>
            <a:pPr algn="l">
              <a:lnSpc>
                <a:spcPct val="105000"/>
              </a:lnSpc>
              <a:spcAft>
                <a:spcPts val="300"/>
              </a:spcAft>
            </a:pPr>
            <a:r>
              <a:rPr sz="1200" b="0" i="0">
                <a:solidFill>
                  <a:srgbClr val="6D6E71"/>
                </a:solidFill>
                <a:latin typeface="Arial"/>
              </a:rPr>
              <a:t>Sigue fechas y el impacto de las abiertas</a:t>
            </a:r>
          </a:p>
        </p:txBody>
      </p:sp>
      <p:sp>
        <p:nvSpPr>
          <p:cNvPr id="27" name="Rectangle 26"/>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lag_o.png"/>
          <p:cNvPicPr>
            <a:picLocks noChangeAspect="1"/>
          </p:cNvPicPr>
          <p:nvPr/>
        </p:nvPicPr>
        <p:blipFill>
          <a:blip r:embed="rId7"/>
          <a:stretch>
            <a:fillRect/>
          </a:stretch>
        </p:blipFill>
        <p:spPr>
          <a:xfrm>
            <a:off x="822959" y="5660136"/>
            <a:ext cx="365760" cy="365760"/>
          </a:xfrm>
          <a:prstGeom prst="rect">
            <a:avLst/>
          </a:prstGeom>
        </p:spPr>
      </p:pic>
      <p:sp>
        <p:nvSpPr>
          <p:cNvPr id="29" name="TextBox 28"/>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Si el Construction Manager no cree en AWP, la implementación será solo un trámite.</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9 · SUPERVISIÓN DE CAMPO</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Superintendente, capataz general y capataz cambian su rutina</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M9 · ROLES Y ORGANIZACIÓN</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093</a:t>
            </a:r>
          </a:p>
        </p:txBody>
      </p:sp>
      <p:graphicFrame>
        <p:nvGraphicFramePr>
          <p:cNvPr id="7" name="Table 6"/>
          <p:cNvGraphicFramePr>
            <a:graphicFrameLocks noGrp="1"/>
          </p:cNvGraphicFramePr>
          <p:nvPr/>
        </p:nvGraphicFramePr>
        <p:xfrm>
          <a:off x="563727" y="1828800"/>
          <a:ext cx="11064240" cy="3200400"/>
        </p:xfrm>
        <a:graphic>
          <a:graphicData uri="http://schemas.openxmlformats.org/drawingml/2006/table">
            <a:tbl>
              <a:tblPr firstRow="0" bandRow="0">
                <a:tableStyleId>{5C22544A-7EE6-4342-B048-85BDC9FD1C3A}</a:tableStyleId>
              </a:tblPr>
              <a:tblGrid>
                <a:gridCol w="2743200"/>
                <a:gridCol w="2834640"/>
                <a:gridCol w="5486400"/>
              </a:tblGrid>
              <a:tr h="457200">
                <a:tc>
                  <a:txBody>
                    <a:bodyPr wrap="square"/>
                    <a:lstStyle/>
                    <a:p>
                      <a:pPr algn="l"/>
                      <a:r>
                        <a:rPr sz="1000" b="1" spc="100">
                          <a:solidFill>
                            <a:srgbClr val="FFFFFF"/>
                          </a:solidFill>
                          <a:latin typeface="Arial"/>
                        </a:rPr>
                        <a:t>NIVEL</a:t>
                      </a:r>
                    </a:p>
                  </a:txBody>
                  <a:tcPr marL="137160" marR="91440" marT="27432" marB="27432" anchor="ctr">
                    <a:solidFill>
                      <a:srgbClr val="1A1A1A"/>
                    </a:solidFill>
                  </a:tcPr>
                </a:tc>
                <a:tc>
                  <a:txBody>
                    <a:bodyPr wrap="square"/>
                    <a:lstStyle/>
                    <a:p>
                      <a:pPr algn="l"/>
                      <a:r>
                        <a:rPr sz="1000" b="1" spc="100">
                          <a:solidFill>
                            <a:srgbClr val="FFFFFF"/>
                          </a:solidFill>
                          <a:latin typeface="Arial"/>
                        </a:rPr>
                        <a:t>SUPERVISA A</a:t>
                      </a:r>
                    </a:p>
                  </a:txBody>
                  <a:tcPr marL="137160" marR="91440" marT="27432" marB="27432" anchor="ctr">
                    <a:solidFill>
                      <a:srgbClr val="1A1A1A"/>
                    </a:solidFill>
                  </a:tcPr>
                </a:tc>
                <a:tc>
                  <a:txBody>
                    <a:bodyPr wrap="square"/>
                    <a:lstStyle/>
                    <a:p>
                      <a:pPr algn="l"/>
                      <a:r>
                        <a:rPr sz="1000" b="1" spc="100">
                          <a:solidFill>
                            <a:srgbClr val="FFFFFF"/>
                          </a:solidFill>
                          <a:latin typeface="Arial"/>
                        </a:rPr>
                        <a:t>QUÉ CAMBIA CON AWP</a:t>
                      </a:r>
                    </a:p>
                  </a:txBody>
                  <a:tcPr marL="137160" marR="91440" marT="27432" marB="27432" anchor="ctr">
                    <a:solidFill>
                      <a:srgbClr val="1A1A1A"/>
                    </a:solidFill>
                  </a:tcPr>
                </a:tc>
              </a:tr>
              <a:tr h="914400">
                <a:tc>
                  <a:txBody>
                    <a:bodyPr wrap="square"/>
                    <a:lstStyle/>
                    <a:p>
                      <a:pPr algn="l"/>
                      <a:r>
                        <a:rPr sz="1300" b="1">
                          <a:solidFill>
                            <a:srgbClr val="1A1A1A"/>
                          </a:solidFill>
                          <a:latin typeface="Arial"/>
                        </a:rPr>
                        <a:t>Superintendente</a:t>
                      </a:r>
                    </a:p>
                  </a:txBody>
                  <a:tcPr marL="137160" marR="91440" marT="27432" marB="27432" anchor="ctr">
                    <a:solidFill>
                      <a:srgbClr val="FFFFFF"/>
                    </a:solidFill>
                  </a:tcPr>
                </a:tc>
                <a:tc>
                  <a:txBody>
                    <a:bodyPr wrap="square"/>
                    <a:lstStyle/>
                    <a:p>
                      <a:pPr algn="l"/>
                      <a:r>
                        <a:rPr sz="1300" b="0">
                          <a:solidFill>
                            <a:srgbClr val="2E2E2E"/>
                          </a:solidFill>
                          <a:latin typeface="Arial"/>
                        </a:rPr>
                        <a:t>Hasta 3 capataces generales</a:t>
                      </a:r>
                    </a:p>
                  </a:txBody>
                  <a:tcPr marL="137160" marR="91440" marT="27432" marB="27432" anchor="ctr">
                    <a:solidFill>
                      <a:srgbClr val="FFFFFF"/>
                    </a:solidFill>
                  </a:tcPr>
                </a:tc>
                <a:tc>
                  <a:txBody>
                    <a:bodyPr wrap="square"/>
                    <a:lstStyle/>
                    <a:p>
                      <a:pPr algn="l"/>
                      <a:r>
                        <a:rPr sz="1300" b="0">
                          <a:solidFill>
                            <a:srgbClr val="2E2E2E"/>
                          </a:solidFill>
                          <a:latin typeface="Arial"/>
                        </a:rPr>
                        <a:t>Define la secuencia con el planificador y elige IWP del backlog para el look-ahead</a:t>
                      </a:r>
                    </a:p>
                  </a:txBody>
                  <a:tcPr marL="137160" marR="91440" marT="27432" marB="27432" anchor="ctr">
                    <a:solidFill>
                      <a:srgbClr val="FFFFFF"/>
                    </a:solidFill>
                  </a:tcPr>
                </a:tc>
              </a:tr>
              <a:tr h="914400">
                <a:tc>
                  <a:txBody>
                    <a:bodyPr wrap="square"/>
                    <a:lstStyle/>
                    <a:p>
                      <a:pPr algn="l"/>
                      <a:r>
                        <a:rPr sz="1300" b="1">
                          <a:solidFill>
                            <a:srgbClr val="1A1A1A"/>
                          </a:solidFill>
                          <a:latin typeface="Arial"/>
                        </a:rPr>
                        <a:t>Capataz general (GF)</a:t>
                      </a:r>
                    </a:p>
                  </a:txBody>
                  <a:tcPr marL="137160" marR="91440" marT="27432" marB="27432" anchor="ctr">
                    <a:solidFill>
                      <a:srgbClr val="F7F7F7"/>
                    </a:solidFill>
                  </a:tcPr>
                </a:tc>
                <a:tc>
                  <a:txBody>
                    <a:bodyPr wrap="square"/>
                    <a:lstStyle/>
                    <a:p>
                      <a:pPr algn="l"/>
                      <a:r>
                        <a:rPr sz="1300" b="0">
                          <a:solidFill>
                            <a:srgbClr val="2E2E2E"/>
                          </a:solidFill>
                          <a:latin typeface="Arial"/>
                        </a:rPr>
                        <a:t>Hasta 4 capataces</a:t>
                      </a:r>
                    </a:p>
                  </a:txBody>
                  <a:tcPr marL="137160" marR="91440" marT="27432" marB="27432" anchor="ctr">
                    <a:solidFill>
                      <a:srgbClr val="F7F7F7"/>
                    </a:solidFill>
                  </a:tcPr>
                </a:tc>
                <a:tc>
                  <a:txBody>
                    <a:bodyPr wrap="square"/>
                    <a:lstStyle/>
                    <a:p>
                      <a:pPr algn="l"/>
                      <a:r>
                        <a:rPr sz="1300" b="0">
                          <a:solidFill>
                            <a:srgbClr val="2E2E2E"/>
                          </a:solidFill>
                          <a:latin typeface="Arial"/>
                        </a:rPr>
                        <a:t>Pide el material una semana antes, entrega los IWP y los recibe al terminar</a:t>
                      </a:r>
                    </a:p>
                  </a:txBody>
                  <a:tcPr marL="137160" marR="91440" marT="27432" marB="27432" anchor="ctr">
                    <a:solidFill>
                      <a:srgbClr val="F7F7F7"/>
                    </a:solidFill>
                  </a:tcPr>
                </a:tc>
              </a:tr>
              <a:tr h="914400">
                <a:tc>
                  <a:txBody>
                    <a:bodyPr wrap="square"/>
                    <a:lstStyle/>
                    <a:p>
                      <a:pPr algn="l"/>
                      <a:r>
                        <a:rPr sz="1300" b="1">
                          <a:solidFill>
                            <a:srgbClr val="1A1A1A"/>
                          </a:solidFill>
                          <a:latin typeface="Arial"/>
                        </a:rPr>
                        <a:t>Capataz</a:t>
                      </a:r>
                    </a:p>
                  </a:txBody>
                  <a:tcPr marL="137160" marR="91440" marT="27432" marB="27432" anchor="ctr">
                    <a:solidFill>
                      <a:srgbClr val="FFFFFF"/>
                    </a:solidFill>
                  </a:tcPr>
                </a:tc>
                <a:tc>
                  <a:txBody>
                    <a:bodyPr wrap="square"/>
                    <a:lstStyle/>
                    <a:p>
                      <a:pPr algn="l"/>
                      <a:r>
                        <a:rPr sz="1300" b="0">
                          <a:solidFill>
                            <a:srgbClr val="2E2E2E"/>
                          </a:solidFill>
                          <a:latin typeface="Arial"/>
                        </a:rPr>
                        <a:t>Unos 10 trabajadores</a:t>
                      </a:r>
                    </a:p>
                  </a:txBody>
                  <a:tcPr marL="137160" marR="91440" marT="27432" marB="27432" anchor="ctr">
                    <a:solidFill>
                      <a:srgbClr val="FFFFFF"/>
                    </a:solidFill>
                  </a:tcPr>
                </a:tc>
                <a:tc>
                  <a:txBody>
                    <a:bodyPr wrap="square"/>
                    <a:lstStyle/>
                    <a:p>
                      <a:pPr algn="l"/>
                      <a:r>
                        <a:rPr sz="1300" b="0">
                          <a:solidFill>
                            <a:srgbClr val="2E2E2E"/>
                          </a:solidFill>
                          <a:latin typeface="Arial"/>
                        </a:rPr>
                        <a:t>Revisa su IWP, arma el plan diario y registra avance y demoras</a:t>
                      </a:r>
                    </a:p>
                  </a:txBody>
                  <a:tcPr marL="137160" marR="91440" marT="27432" marB="27432" anchor="ctr">
                    <a:solidFill>
                      <a:srgbClr val="FFFFFF"/>
                    </a:solidFill>
                  </a:tcPr>
                </a:tc>
              </a:tr>
            </a:tbl>
          </a:graphicData>
        </a:graphic>
      </p:graphicFrame>
      <p:pic>
        <p:nvPicPr>
          <p:cNvPr id="8" name="Picture 7" descr="layers_o.png"/>
          <p:cNvPicPr>
            <a:picLocks noChangeAspect="1"/>
          </p:cNvPicPr>
          <p:nvPr/>
        </p:nvPicPr>
        <p:blipFill>
          <a:blip r:embed="rId2"/>
          <a:stretch>
            <a:fillRect/>
          </a:stretch>
        </p:blipFill>
        <p:spPr>
          <a:xfrm>
            <a:off x="563727" y="5266944"/>
            <a:ext cx="292608" cy="292608"/>
          </a:xfrm>
          <a:prstGeom prst="rect">
            <a:avLst/>
          </a:prstGeom>
        </p:spPr>
      </p:pic>
      <p:sp>
        <p:nvSpPr>
          <p:cNvPr id="9" name="TextBox 8"/>
          <p:cNvSpPr txBox="1"/>
          <p:nvPr/>
        </p:nvSpPr>
        <p:spPr>
          <a:xfrm>
            <a:off x="1020927" y="5230368"/>
            <a:ext cx="10607040" cy="384048"/>
          </a:xfrm>
          <a:prstGeom prst="rect">
            <a:avLst/>
          </a:prstGeom>
          <a:noFill/>
        </p:spPr>
        <p:txBody>
          <a:bodyPr wrap="square" lIns="0" rIns="0" tIns="0" bIns="0" anchor="ctr">
            <a:spAutoFit/>
          </a:bodyPr>
          <a:lstStyle/>
          <a:p>
            <a:pPr algn="l"/>
            <a:r>
              <a:rPr sz="1200" b="0" i="0">
                <a:solidFill>
                  <a:srgbClr val="2E2E2E"/>
                </a:solidFill>
                <a:latin typeface="Arial"/>
              </a:rPr>
              <a:t>Ratios de los procedimientos de Insight-AWP; el Glosario del CII usa otros (ver la lámina siguiente).</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9 · RATIOS</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Los ratios de supervisión difieren entre fuentes: defina los suyos</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M9 · ROLES Y ORGANIZACIÓN</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094</a:t>
            </a:r>
          </a:p>
        </p:txBody>
      </p:sp>
      <p:sp>
        <p:nvSpPr>
          <p:cNvPr id="7" name="Rectangle 6"/>
          <p:cNvSpPr/>
          <p:nvPr/>
        </p:nvSpPr>
        <p:spPr>
          <a:xfrm>
            <a:off x="548640" y="1828800"/>
            <a:ext cx="5396331" cy="341071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48640" y="1828800"/>
            <a:ext cx="5396331" cy="502920"/>
          </a:xfrm>
          <a:prstGeom prst="rect">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1828800"/>
            <a:ext cx="4847691" cy="502920"/>
          </a:xfrm>
          <a:prstGeom prst="rect">
            <a:avLst/>
          </a:prstGeom>
          <a:noFill/>
        </p:spPr>
        <p:txBody>
          <a:bodyPr wrap="square" lIns="0" rIns="0" tIns="0" bIns="0" anchor="ctr">
            <a:spAutoFit/>
          </a:bodyPr>
          <a:lstStyle/>
          <a:p>
            <a:pPr algn="l"/>
            <a:r>
              <a:rPr sz="1200" b="1" i="0" spc="200">
                <a:solidFill>
                  <a:srgbClr val="FFFFFF"/>
                </a:solidFill>
                <a:latin typeface="Arial"/>
              </a:rPr>
              <a:t>INSIGHT-AWP (2017)</a:t>
            </a:r>
          </a:p>
        </p:txBody>
      </p:sp>
      <p:sp>
        <p:nvSpPr>
          <p:cNvPr id="10" name="Oval 9"/>
          <p:cNvSpPr/>
          <p:nvPr/>
        </p:nvSpPr>
        <p:spPr>
          <a:xfrm>
            <a:off x="932688" y="2670048"/>
            <a:ext cx="155448" cy="155448"/>
          </a:xfrm>
          <a:prstGeom prst="ellipse">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17319" y="2542032"/>
            <a:ext cx="4253331" cy="274320"/>
          </a:xfrm>
          <a:prstGeom prst="rect">
            <a:avLst/>
          </a:prstGeom>
          <a:noFill/>
        </p:spPr>
        <p:txBody>
          <a:bodyPr wrap="square" lIns="0" rIns="0" tIns="0" bIns="0" anchor="t">
            <a:spAutoFit/>
          </a:bodyPr>
          <a:lstStyle/>
          <a:p>
            <a:pPr algn="l"/>
            <a:r>
              <a:rPr sz="1400" b="1" i="0">
                <a:solidFill>
                  <a:srgbClr val="1A1A1A"/>
                </a:solidFill>
                <a:latin typeface="Arial"/>
              </a:rPr>
              <a:t>Capataz: unos 10 trabajadores</a:t>
            </a:r>
          </a:p>
        </p:txBody>
      </p:sp>
      <p:sp>
        <p:nvSpPr>
          <p:cNvPr id="12" name="TextBox 11"/>
          <p:cNvSpPr txBox="1"/>
          <p:nvPr/>
        </p:nvSpPr>
        <p:spPr>
          <a:xfrm>
            <a:off x="1417319" y="2834639"/>
            <a:ext cx="4253331" cy="527304"/>
          </a:xfrm>
          <a:prstGeom prst="rect">
            <a:avLst/>
          </a:prstGeom>
          <a:noFill/>
        </p:spPr>
        <p:txBody>
          <a:bodyPr wrap="square" lIns="0" rIns="0" tIns="0" bIns="0" anchor="t">
            <a:spAutoFit/>
          </a:bodyPr>
          <a:lstStyle/>
          <a:p>
            <a:pPr algn="l"/>
            <a:r>
              <a:rPr sz="1150" b="0" i="0">
                <a:solidFill>
                  <a:srgbClr val="6D6E71"/>
                </a:solidFill>
                <a:latin typeface="Arial"/>
              </a:rPr>
              <a:t>Una cuadrilla de una disciplina</a:t>
            </a:r>
          </a:p>
        </p:txBody>
      </p:sp>
      <p:sp>
        <p:nvSpPr>
          <p:cNvPr id="13" name="Oval 12"/>
          <p:cNvSpPr/>
          <p:nvPr/>
        </p:nvSpPr>
        <p:spPr>
          <a:xfrm>
            <a:off x="932688" y="3517392"/>
            <a:ext cx="155448" cy="155448"/>
          </a:xfrm>
          <a:prstGeom prst="ellipse">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417319" y="3389376"/>
            <a:ext cx="4253331" cy="274320"/>
          </a:xfrm>
          <a:prstGeom prst="rect">
            <a:avLst/>
          </a:prstGeom>
          <a:noFill/>
        </p:spPr>
        <p:txBody>
          <a:bodyPr wrap="square" lIns="0" rIns="0" tIns="0" bIns="0" anchor="t">
            <a:spAutoFit/>
          </a:bodyPr>
          <a:lstStyle/>
          <a:p>
            <a:pPr algn="l"/>
            <a:r>
              <a:rPr sz="1400" b="1" i="0">
                <a:solidFill>
                  <a:srgbClr val="1A1A1A"/>
                </a:solidFill>
                <a:latin typeface="Arial"/>
              </a:rPr>
              <a:t>Capataz general: hasta 4 capataces</a:t>
            </a:r>
          </a:p>
        </p:txBody>
      </p:sp>
      <p:sp>
        <p:nvSpPr>
          <p:cNvPr id="15" name="TextBox 14"/>
          <p:cNvSpPr txBox="1"/>
          <p:nvPr/>
        </p:nvSpPr>
        <p:spPr>
          <a:xfrm>
            <a:off x="1417319" y="3681983"/>
            <a:ext cx="4253331" cy="527304"/>
          </a:xfrm>
          <a:prstGeom prst="rect">
            <a:avLst/>
          </a:prstGeom>
          <a:noFill/>
        </p:spPr>
        <p:txBody>
          <a:bodyPr wrap="square" lIns="0" rIns="0" tIns="0" bIns="0" anchor="t">
            <a:spAutoFit/>
          </a:bodyPr>
          <a:lstStyle/>
          <a:p>
            <a:pPr algn="l"/>
            <a:r>
              <a:rPr sz="1150" b="0" i="0">
                <a:solidFill>
                  <a:srgbClr val="6D6E71"/>
                </a:solidFill>
                <a:latin typeface="Arial"/>
              </a:rPr>
              <a:t>En una sola disciplina</a:t>
            </a:r>
          </a:p>
        </p:txBody>
      </p:sp>
      <p:sp>
        <p:nvSpPr>
          <p:cNvPr id="16" name="Oval 15"/>
          <p:cNvSpPr/>
          <p:nvPr/>
        </p:nvSpPr>
        <p:spPr>
          <a:xfrm>
            <a:off x="932688" y="4364736"/>
            <a:ext cx="155448" cy="155448"/>
          </a:xfrm>
          <a:prstGeom prst="ellipse">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417319" y="4236720"/>
            <a:ext cx="4253331" cy="274320"/>
          </a:xfrm>
          <a:prstGeom prst="rect">
            <a:avLst/>
          </a:prstGeom>
          <a:noFill/>
        </p:spPr>
        <p:txBody>
          <a:bodyPr wrap="square" lIns="0" rIns="0" tIns="0" bIns="0" anchor="t">
            <a:spAutoFit/>
          </a:bodyPr>
          <a:lstStyle/>
          <a:p>
            <a:pPr algn="l"/>
            <a:r>
              <a:rPr sz="1400" b="1" i="0">
                <a:solidFill>
                  <a:srgbClr val="1A1A1A"/>
                </a:solidFill>
                <a:latin typeface="Arial"/>
              </a:rPr>
              <a:t>Superintendente: hasta 3 GF</a:t>
            </a:r>
          </a:p>
        </p:txBody>
      </p:sp>
      <p:sp>
        <p:nvSpPr>
          <p:cNvPr id="18" name="TextBox 17"/>
          <p:cNvSpPr txBox="1"/>
          <p:nvPr/>
        </p:nvSpPr>
        <p:spPr>
          <a:xfrm>
            <a:off x="1417319" y="4529328"/>
            <a:ext cx="4253331" cy="527304"/>
          </a:xfrm>
          <a:prstGeom prst="rect">
            <a:avLst/>
          </a:prstGeom>
          <a:noFill/>
        </p:spPr>
        <p:txBody>
          <a:bodyPr wrap="square" lIns="0" rIns="0" tIns="0" bIns="0" anchor="t">
            <a:spAutoFit/>
          </a:bodyPr>
          <a:lstStyle/>
          <a:p>
            <a:pPr algn="l"/>
            <a:r>
              <a:rPr sz="1150" b="0" i="0">
                <a:solidFill>
                  <a:srgbClr val="6D6E71"/>
                </a:solidFill>
                <a:latin typeface="Arial"/>
              </a:rPr>
              <a:t>En una sola disciplina</a:t>
            </a:r>
          </a:p>
        </p:txBody>
      </p:sp>
      <p:sp>
        <p:nvSpPr>
          <p:cNvPr id="19" name="Rectangle 18"/>
          <p:cNvSpPr/>
          <p:nvPr/>
        </p:nvSpPr>
        <p:spPr>
          <a:xfrm>
            <a:off x="6246723" y="1828800"/>
            <a:ext cx="5396331" cy="341071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246723" y="1828800"/>
            <a:ext cx="5396331" cy="50292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521043" y="1828800"/>
            <a:ext cx="4847691" cy="502920"/>
          </a:xfrm>
          <a:prstGeom prst="rect">
            <a:avLst/>
          </a:prstGeom>
          <a:noFill/>
        </p:spPr>
        <p:txBody>
          <a:bodyPr wrap="square" lIns="0" rIns="0" tIns="0" bIns="0" anchor="ctr">
            <a:spAutoFit/>
          </a:bodyPr>
          <a:lstStyle/>
          <a:p>
            <a:pPr algn="l"/>
            <a:r>
              <a:rPr sz="1200" b="1" i="0" spc="200">
                <a:solidFill>
                  <a:srgbClr val="FFFFFF"/>
                </a:solidFill>
                <a:latin typeface="Arial"/>
              </a:rPr>
              <a:t>GLOSARIO DEL CII (2021)</a:t>
            </a:r>
          </a:p>
        </p:txBody>
      </p:sp>
      <p:sp>
        <p:nvSpPr>
          <p:cNvPr id="22" name="Oval 21"/>
          <p:cNvSpPr/>
          <p:nvPr/>
        </p:nvSpPr>
        <p:spPr>
          <a:xfrm>
            <a:off x="6630771" y="2670048"/>
            <a:ext cx="155448" cy="15544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115403" y="2542032"/>
            <a:ext cx="4253331" cy="274320"/>
          </a:xfrm>
          <a:prstGeom prst="rect">
            <a:avLst/>
          </a:prstGeom>
          <a:noFill/>
        </p:spPr>
        <p:txBody>
          <a:bodyPr wrap="square" lIns="0" rIns="0" tIns="0" bIns="0" anchor="t">
            <a:spAutoFit/>
          </a:bodyPr>
          <a:lstStyle/>
          <a:p>
            <a:pPr algn="l"/>
            <a:r>
              <a:rPr sz="1400" b="1" i="0">
                <a:solidFill>
                  <a:srgbClr val="1A1A1A"/>
                </a:solidFill>
                <a:latin typeface="Arial"/>
              </a:rPr>
              <a:t>Capataz: una cuadrilla</a:t>
            </a:r>
          </a:p>
        </p:txBody>
      </p:sp>
      <p:sp>
        <p:nvSpPr>
          <p:cNvPr id="24" name="TextBox 23"/>
          <p:cNvSpPr txBox="1"/>
          <p:nvPr/>
        </p:nvSpPr>
        <p:spPr>
          <a:xfrm>
            <a:off x="7115403" y="2834639"/>
            <a:ext cx="4253331" cy="527304"/>
          </a:xfrm>
          <a:prstGeom prst="rect">
            <a:avLst/>
          </a:prstGeom>
          <a:noFill/>
        </p:spPr>
        <p:txBody>
          <a:bodyPr wrap="square" lIns="0" rIns="0" tIns="0" bIns="0" anchor="t">
            <a:spAutoFit/>
          </a:bodyPr>
          <a:lstStyle/>
          <a:p>
            <a:pPr algn="l"/>
            <a:r>
              <a:rPr sz="1150" b="0" i="0">
                <a:solidFill>
                  <a:srgbClr val="6D6E71"/>
                </a:solidFill>
                <a:latin typeface="Arial"/>
              </a:rPr>
              <a:t>Supervisión directa del trabajo</a:t>
            </a:r>
          </a:p>
        </p:txBody>
      </p:sp>
      <p:sp>
        <p:nvSpPr>
          <p:cNvPr id="25" name="Oval 24"/>
          <p:cNvSpPr/>
          <p:nvPr/>
        </p:nvSpPr>
        <p:spPr>
          <a:xfrm>
            <a:off x="6630771" y="3517392"/>
            <a:ext cx="155448" cy="15544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115403" y="3389376"/>
            <a:ext cx="4253331" cy="274320"/>
          </a:xfrm>
          <a:prstGeom prst="rect">
            <a:avLst/>
          </a:prstGeom>
          <a:noFill/>
        </p:spPr>
        <p:txBody>
          <a:bodyPr wrap="square" lIns="0" rIns="0" tIns="0" bIns="0" anchor="t">
            <a:spAutoFit/>
          </a:bodyPr>
          <a:lstStyle/>
          <a:p>
            <a:pPr algn="l"/>
            <a:r>
              <a:rPr sz="1400" b="1" i="0">
                <a:solidFill>
                  <a:srgbClr val="1A1A1A"/>
                </a:solidFill>
                <a:latin typeface="Arial"/>
              </a:rPr>
              <a:t>Capataz general: hasta 5 capataces</a:t>
            </a:r>
          </a:p>
        </p:txBody>
      </p:sp>
      <p:sp>
        <p:nvSpPr>
          <p:cNvPr id="27" name="TextBox 26"/>
          <p:cNvSpPr txBox="1"/>
          <p:nvPr/>
        </p:nvSpPr>
        <p:spPr>
          <a:xfrm>
            <a:off x="7115403" y="3681983"/>
            <a:ext cx="4253331" cy="527304"/>
          </a:xfrm>
          <a:prstGeom prst="rect">
            <a:avLst/>
          </a:prstGeom>
          <a:noFill/>
        </p:spPr>
        <p:txBody>
          <a:bodyPr wrap="square" lIns="0" rIns="0" tIns="0" bIns="0" anchor="t">
            <a:spAutoFit/>
          </a:bodyPr>
          <a:lstStyle/>
          <a:p>
            <a:pPr algn="l"/>
            <a:r>
              <a:rPr sz="1150" b="0" i="0">
                <a:solidFill>
                  <a:srgbClr val="6D6E71"/>
                </a:solidFill>
                <a:latin typeface="Arial"/>
              </a:rPr>
              <a:t>En una sola disciplina</a:t>
            </a:r>
          </a:p>
        </p:txBody>
      </p:sp>
      <p:sp>
        <p:nvSpPr>
          <p:cNvPr id="28" name="Oval 27"/>
          <p:cNvSpPr/>
          <p:nvPr/>
        </p:nvSpPr>
        <p:spPr>
          <a:xfrm>
            <a:off x="6630771" y="4364736"/>
            <a:ext cx="155448" cy="15544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115403" y="4236720"/>
            <a:ext cx="4253331" cy="274320"/>
          </a:xfrm>
          <a:prstGeom prst="rect">
            <a:avLst/>
          </a:prstGeom>
          <a:noFill/>
        </p:spPr>
        <p:txBody>
          <a:bodyPr wrap="square" lIns="0" rIns="0" tIns="0" bIns="0" anchor="t">
            <a:spAutoFit/>
          </a:bodyPr>
          <a:lstStyle/>
          <a:p>
            <a:pPr algn="l"/>
            <a:r>
              <a:rPr sz="1400" b="1" i="0">
                <a:solidFill>
                  <a:srgbClr val="1A1A1A"/>
                </a:solidFill>
                <a:latin typeface="Arial"/>
              </a:rPr>
              <a:t>Superintendente: hasta 4 GF</a:t>
            </a:r>
          </a:p>
        </p:txBody>
      </p:sp>
      <p:sp>
        <p:nvSpPr>
          <p:cNvPr id="30" name="TextBox 29"/>
          <p:cNvSpPr txBox="1"/>
          <p:nvPr/>
        </p:nvSpPr>
        <p:spPr>
          <a:xfrm>
            <a:off x="7115403" y="4529328"/>
            <a:ext cx="4253331" cy="527304"/>
          </a:xfrm>
          <a:prstGeom prst="rect">
            <a:avLst/>
          </a:prstGeom>
          <a:noFill/>
        </p:spPr>
        <p:txBody>
          <a:bodyPr wrap="square" lIns="0" rIns="0" tIns="0" bIns="0" anchor="t">
            <a:spAutoFit/>
          </a:bodyPr>
          <a:lstStyle/>
          <a:p>
            <a:pPr algn="l"/>
            <a:r>
              <a:rPr sz="1150" b="0" i="0">
                <a:solidFill>
                  <a:srgbClr val="6D6E71"/>
                </a:solidFill>
                <a:latin typeface="Arial"/>
              </a:rPr>
              <a:t>En una sola disciplina</a:t>
            </a:r>
          </a:p>
        </p:txBody>
      </p:sp>
      <p:sp>
        <p:nvSpPr>
          <p:cNvPr id="31" name="Rectangle 30"/>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flag_o.png"/>
          <p:cNvPicPr>
            <a:picLocks noChangeAspect="1"/>
          </p:cNvPicPr>
          <p:nvPr/>
        </p:nvPicPr>
        <p:blipFill>
          <a:blip r:embed="rId2"/>
          <a:stretch>
            <a:fillRect/>
          </a:stretch>
        </p:blipFill>
        <p:spPr>
          <a:xfrm>
            <a:off x="822959" y="5660136"/>
            <a:ext cx="365760" cy="365760"/>
          </a:xfrm>
          <a:prstGeom prst="rect">
            <a:avLst/>
          </a:prstGeom>
        </p:spPr>
      </p:pic>
      <p:sp>
        <p:nvSpPr>
          <p:cNvPr id="33" name="TextBox 32"/>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Los ratios dependen de la complejidad y la criticidad del trabajo: fíjelos en el procedimiento.</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9 · MATRIZ DE RESPONSABILIDADES</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Matriz de responsabilidades AWP por entregable: una propuesta</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M9 · ROLES Y ORGANIZACIÓN</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095</a:t>
            </a:r>
          </a:p>
        </p:txBody>
      </p:sp>
      <p:graphicFrame>
        <p:nvGraphicFramePr>
          <p:cNvPr id="7" name="Table 6"/>
          <p:cNvGraphicFramePr>
            <a:graphicFrameLocks noGrp="1"/>
          </p:cNvGraphicFramePr>
          <p:nvPr/>
        </p:nvGraphicFramePr>
        <p:xfrm>
          <a:off x="563727" y="1828800"/>
          <a:ext cx="11064240" cy="3703317"/>
        </p:xfrm>
        <a:graphic>
          <a:graphicData uri="http://schemas.openxmlformats.org/drawingml/2006/table">
            <a:tbl>
              <a:tblPr firstRow="0" bandRow="0">
                <a:tableStyleId>{5C22544A-7EE6-4342-B048-85BDC9FD1C3A}</a:tableStyleId>
              </a:tblPr>
              <a:tblGrid>
                <a:gridCol w="3291840"/>
                <a:gridCol w="1554480"/>
                <a:gridCol w="1554480"/>
                <a:gridCol w="1554480"/>
                <a:gridCol w="1554480"/>
                <a:gridCol w="1554480"/>
              </a:tblGrid>
              <a:tr h="457200">
                <a:tc>
                  <a:txBody>
                    <a:bodyPr wrap="square"/>
                    <a:lstStyle/>
                    <a:p>
                      <a:pPr algn="l"/>
                      <a:r>
                        <a:rPr sz="1000" b="1" spc="100">
                          <a:solidFill>
                            <a:srgbClr val="FFFFFF"/>
                          </a:solidFill>
                          <a:latin typeface="Arial"/>
                        </a:rPr>
                        <a:t>ENTREGABLE</a:t>
                      </a:r>
                    </a:p>
                  </a:txBody>
                  <a:tcPr marL="137160" marR="91440" marT="27432" marB="27432" anchor="ctr">
                    <a:solidFill>
                      <a:srgbClr val="1A1A1A"/>
                    </a:solidFill>
                  </a:tcPr>
                </a:tc>
                <a:tc>
                  <a:txBody>
                    <a:bodyPr wrap="square"/>
                    <a:lstStyle/>
                    <a:p>
                      <a:pPr algn="l"/>
                      <a:r>
                        <a:rPr sz="1000" b="1" spc="100">
                          <a:solidFill>
                            <a:srgbClr val="FFFFFF"/>
                          </a:solidFill>
                          <a:latin typeface="Arial"/>
                        </a:rPr>
                        <a:t>PROPIETARIO</a:t>
                      </a:r>
                    </a:p>
                  </a:txBody>
                  <a:tcPr marL="137160" marR="91440" marT="27432" marB="27432" anchor="ctr">
                    <a:solidFill>
                      <a:srgbClr val="1A1A1A"/>
                    </a:solidFill>
                  </a:tcPr>
                </a:tc>
                <a:tc>
                  <a:txBody>
                    <a:bodyPr wrap="square"/>
                    <a:lstStyle/>
                    <a:p>
                      <a:pPr algn="l"/>
                      <a:r>
                        <a:rPr sz="1000" b="1" spc="100">
                          <a:solidFill>
                            <a:srgbClr val="FFFFFF"/>
                          </a:solidFill>
                          <a:latin typeface="Arial"/>
                        </a:rPr>
                        <a:t>CHAMPION</a:t>
                      </a:r>
                    </a:p>
                  </a:txBody>
                  <a:tcPr marL="137160" marR="91440" marT="27432" marB="27432" anchor="ctr">
                    <a:solidFill>
                      <a:srgbClr val="1A1A1A"/>
                    </a:solidFill>
                  </a:tcPr>
                </a:tc>
                <a:tc>
                  <a:txBody>
                    <a:bodyPr wrap="square"/>
                    <a:lstStyle/>
                    <a:p>
                      <a:pPr algn="l"/>
                      <a:r>
                        <a:rPr sz="1000" b="1" spc="100">
                          <a:solidFill>
                            <a:srgbClr val="FFFFFF"/>
                          </a:solidFill>
                          <a:latin typeface="Arial"/>
                        </a:rPr>
                        <a:t>INGENIERÍA</a:t>
                      </a:r>
                    </a:p>
                  </a:txBody>
                  <a:tcPr marL="137160" marR="91440" marT="27432" marB="27432" anchor="ctr">
                    <a:solidFill>
                      <a:srgbClr val="1A1A1A"/>
                    </a:solidFill>
                  </a:tcPr>
                </a:tc>
                <a:tc>
                  <a:txBody>
                    <a:bodyPr wrap="square"/>
                    <a:lstStyle/>
                    <a:p>
                      <a:pPr algn="l"/>
                      <a:r>
                        <a:rPr sz="1000" b="1" spc="100">
                          <a:solidFill>
                            <a:srgbClr val="FFFFFF"/>
                          </a:solidFill>
                          <a:latin typeface="Arial"/>
                        </a:rPr>
                        <a:t>COMPRAS</a:t>
                      </a:r>
                    </a:p>
                  </a:txBody>
                  <a:tcPr marL="137160" marR="91440" marT="27432" marB="27432" anchor="ctr">
                    <a:solidFill>
                      <a:srgbClr val="1A1A1A"/>
                    </a:solidFill>
                  </a:tcPr>
                </a:tc>
                <a:tc>
                  <a:txBody>
                    <a:bodyPr wrap="square"/>
                    <a:lstStyle/>
                    <a:p>
                      <a:pPr algn="l"/>
                      <a:r>
                        <a:rPr sz="1000" b="1" spc="100">
                          <a:solidFill>
                            <a:srgbClr val="FFFFFF"/>
                          </a:solidFill>
                          <a:latin typeface="Arial"/>
                        </a:rPr>
                        <a:t>CONSTRUCCIÓN</a:t>
                      </a:r>
                    </a:p>
                  </a:txBody>
                  <a:tcPr marL="137160" marR="91440" marT="27432" marB="27432" anchor="ctr">
                    <a:solidFill>
                      <a:srgbClr val="1A1A1A"/>
                    </a:solidFill>
                  </a:tcPr>
                </a:tc>
              </a:tr>
              <a:tr h="463731">
                <a:tc>
                  <a:txBody>
                    <a:bodyPr wrap="square"/>
                    <a:lstStyle/>
                    <a:p>
                      <a:pPr algn="l"/>
                      <a:r>
                        <a:rPr sz="1400" b="1">
                          <a:solidFill>
                            <a:srgbClr val="1A1A1A"/>
                          </a:solidFill>
                          <a:latin typeface="Arial"/>
                        </a:rPr>
                        <a:t>Plan AWP y procedimientos</a:t>
                      </a:r>
                    </a:p>
                  </a:txBody>
                  <a:tcPr marL="137160" marR="91440" marT="27432" marB="27432" anchor="ctr">
                    <a:solidFill>
                      <a:srgbClr val="FFFFFF"/>
                    </a:solidFill>
                  </a:tcPr>
                </a:tc>
                <a:tc>
                  <a:txBody>
                    <a:bodyPr wrap="square"/>
                    <a:lstStyle/>
                    <a:p>
                      <a:pPr algn="ctr"/>
                      <a:r>
                        <a:rPr sz="1400" b="1">
                          <a:solidFill>
                            <a:srgbClr val="555555"/>
                          </a:solidFill>
                          <a:latin typeface="Courier New"/>
                        </a:rPr>
                        <a:t>A</a:t>
                      </a:r>
                    </a:p>
                  </a:txBody>
                  <a:tcPr marL="137160" marR="91440" marT="27432" marB="27432" anchor="ctr">
                    <a:solidFill>
                      <a:srgbClr val="FFFFFF"/>
                    </a:solidFill>
                  </a:tcPr>
                </a:tc>
                <a:tc>
                  <a:txBody>
                    <a:bodyPr wrap="square"/>
                    <a:lstStyle/>
                    <a:p>
                      <a:pPr algn="ctr"/>
                      <a:r>
                        <a:rPr sz="1400" b="1">
                          <a:solidFill>
                            <a:srgbClr val="555555"/>
                          </a:solidFill>
                          <a:latin typeface="Courier New"/>
                        </a:rPr>
                        <a:t>R</a:t>
                      </a:r>
                    </a:p>
                  </a:txBody>
                  <a:tcPr marL="137160" marR="91440" marT="27432" marB="27432" anchor="ctr">
                    <a:solidFill>
                      <a:srgbClr val="FFFFFF"/>
                    </a:solidFill>
                  </a:tcPr>
                </a:tc>
                <a:tc>
                  <a:txBody>
                    <a:bodyPr wrap="square"/>
                    <a:lstStyle/>
                    <a:p>
                      <a:pPr algn="ctr"/>
                      <a:r>
                        <a:rPr sz="1400" b="1">
                          <a:solidFill>
                            <a:srgbClr val="555555"/>
                          </a:solidFill>
                          <a:latin typeface="Courier New"/>
                        </a:rPr>
                        <a:t>C</a:t>
                      </a:r>
                    </a:p>
                  </a:txBody>
                  <a:tcPr marL="137160" marR="91440" marT="27432" marB="27432" anchor="ctr">
                    <a:solidFill>
                      <a:srgbClr val="FFFFFF"/>
                    </a:solidFill>
                  </a:tcPr>
                </a:tc>
                <a:tc>
                  <a:txBody>
                    <a:bodyPr wrap="square"/>
                    <a:lstStyle/>
                    <a:p>
                      <a:pPr algn="ctr"/>
                      <a:r>
                        <a:rPr sz="1400" b="1">
                          <a:solidFill>
                            <a:srgbClr val="555555"/>
                          </a:solidFill>
                          <a:latin typeface="Courier New"/>
                        </a:rPr>
                        <a:t>C</a:t>
                      </a:r>
                    </a:p>
                  </a:txBody>
                  <a:tcPr marL="137160" marR="91440" marT="27432" marB="27432" anchor="ctr">
                    <a:solidFill>
                      <a:srgbClr val="FFFFFF"/>
                    </a:solidFill>
                  </a:tcPr>
                </a:tc>
                <a:tc>
                  <a:txBody>
                    <a:bodyPr wrap="square"/>
                    <a:lstStyle/>
                    <a:p>
                      <a:pPr algn="ctr"/>
                      <a:r>
                        <a:rPr sz="1400" b="1">
                          <a:solidFill>
                            <a:srgbClr val="555555"/>
                          </a:solidFill>
                          <a:latin typeface="Courier New"/>
                        </a:rPr>
                        <a:t>C</a:t>
                      </a:r>
                    </a:p>
                  </a:txBody>
                  <a:tcPr marL="137160" marR="91440" marT="27432" marB="27432" anchor="ctr">
                    <a:solidFill>
                      <a:srgbClr val="FFFFFF"/>
                    </a:solidFill>
                  </a:tcPr>
                </a:tc>
              </a:tr>
              <a:tr h="463731">
                <a:tc>
                  <a:txBody>
                    <a:bodyPr wrap="square"/>
                    <a:lstStyle/>
                    <a:p>
                      <a:pPr algn="l"/>
                      <a:r>
                        <a:rPr sz="1400" b="1">
                          <a:solidFill>
                            <a:srgbClr val="1A1A1A"/>
                          </a:solidFill>
                          <a:latin typeface="Arial"/>
                        </a:rPr>
                        <a:t>Path of Construction</a:t>
                      </a:r>
                    </a:p>
                  </a:txBody>
                  <a:tcPr marL="137160" marR="91440" marT="27432" marB="27432" anchor="ctr">
                    <a:solidFill>
                      <a:srgbClr val="F7F7F7"/>
                    </a:solidFill>
                  </a:tcPr>
                </a:tc>
                <a:tc>
                  <a:txBody>
                    <a:bodyPr wrap="square"/>
                    <a:lstStyle/>
                    <a:p>
                      <a:pPr algn="ctr"/>
                      <a:r>
                        <a:rPr sz="1400" b="1">
                          <a:solidFill>
                            <a:srgbClr val="555555"/>
                          </a:solidFill>
                          <a:latin typeface="Courier New"/>
                        </a:rPr>
                        <a:t>A</a:t>
                      </a:r>
                    </a:p>
                  </a:txBody>
                  <a:tcPr marL="137160" marR="91440" marT="27432" marB="27432" anchor="ctr">
                    <a:solidFill>
                      <a:srgbClr val="F7F7F7"/>
                    </a:solidFill>
                  </a:tcPr>
                </a:tc>
                <a:tc>
                  <a:txBody>
                    <a:bodyPr wrap="square"/>
                    <a:lstStyle/>
                    <a:p>
                      <a:pPr algn="ctr"/>
                      <a:r>
                        <a:rPr sz="1400" b="1">
                          <a:solidFill>
                            <a:srgbClr val="555555"/>
                          </a:solidFill>
                          <a:latin typeface="Courier New"/>
                        </a:rPr>
                        <a:t>C</a:t>
                      </a:r>
                    </a:p>
                  </a:txBody>
                  <a:tcPr marL="137160" marR="91440" marT="27432" marB="27432" anchor="ctr">
                    <a:solidFill>
                      <a:srgbClr val="F7F7F7"/>
                    </a:solidFill>
                  </a:tcPr>
                </a:tc>
                <a:tc>
                  <a:txBody>
                    <a:bodyPr wrap="square"/>
                    <a:lstStyle/>
                    <a:p>
                      <a:pPr algn="ctr"/>
                      <a:r>
                        <a:rPr sz="1400" b="1">
                          <a:solidFill>
                            <a:srgbClr val="555555"/>
                          </a:solidFill>
                          <a:latin typeface="Courier New"/>
                        </a:rPr>
                        <a:t>C</a:t>
                      </a:r>
                    </a:p>
                  </a:txBody>
                  <a:tcPr marL="137160" marR="91440" marT="27432" marB="27432" anchor="ctr">
                    <a:solidFill>
                      <a:srgbClr val="F7F7F7"/>
                    </a:solidFill>
                  </a:tcPr>
                </a:tc>
                <a:tc>
                  <a:txBody>
                    <a:bodyPr wrap="square"/>
                    <a:lstStyle/>
                    <a:p>
                      <a:pPr algn="ctr"/>
                      <a:r>
                        <a:rPr sz="1400" b="1">
                          <a:solidFill>
                            <a:srgbClr val="555555"/>
                          </a:solidFill>
                          <a:latin typeface="Courier New"/>
                        </a:rPr>
                        <a:t>C</a:t>
                      </a:r>
                    </a:p>
                  </a:txBody>
                  <a:tcPr marL="137160" marR="91440" marT="27432" marB="27432" anchor="ctr">
                    <a:solidFill>
                      <a:srgbClr val="F7F7F7"/>
                    </a:solidFill>
                  </a:tcPr>
                </a:tc>
                <a:tc>
                  <a:txBody>
                    <a:bodyPr wrap="square"/>
                    <a:lstStyle/>
                    <a:p>
                      <a:pPr algn="ctr"/>
                      <a:r>
                        <a:rPr sz="1400" b="1">
                          <a:solidFill>
                            <a:srgbClr val="555555"/>
                          </a:solidFill>
                          <a:latin typeface="Courier New"/>
                        </a:rPr>
                        <a:t>R</a:t>
                      </a:r>
                    </a:p>
                  </a:txBody>
                  <a:tcPr marL="137160" marR="91440" marT="27432" marB="27432" anchor="ctr">
                    <a:solidFill>
                      <a:srgbClr val="F7F7F7"/>
                    </a:solidFill>
                  </a:tcPr>
                </a:tc>
              </a:tr>
              <a:tr h="463731">
                <a:tc>
                  <a:txBody>
                    <a:bodyPr wrap="square"/>
                    <a:lstStyle/>
                    <a:p>
                      <a:pPr algn="l"/>
                      <a:r>
                        <a:rPr sz="1400" b="1">
                          <a:solidFill>
                            <a:srgbClr val="1A1A1A"/>
                          </a:solidFill>
                          <a:latin typeface="Arial"/>
                        </a:rPr>
                        <a:t>EWP</a:t>
                      </a:r>
                    </a:p>
                  </a:txBody>
                  <a:tcPr marL="137160" marR="91440" marT="27432" marB="27432" anchor="ctr">
                    <a:solidFill>
                      <a:srgbClr val="FFFFFF"/>
                    </a:solidFill>
                  </a:tcPr>
                </a:tc>
                <a:tc>
                  <a:txBody>
                    <a:bodyPr wrap="square"/>
                    <a:lstStyle/>
                    <a:p>
                      <a:pPr algn="ctr"/>
                      <a:r>
                        <a:rPr sz="1400" b="1">
                          <a:solidFill>
                            <a:srgbClr val="555555"/>
                          </a:solidFill>
                          <a:latin typeface="Courier New"/>
                        </a:rPr>
                        <a:t>I</a:t>
                      </a:r>
                    </a:p>
                  </a:txBody>
                  <a:tcPr marL="137160" marR="91440" marT="27432" marB="27432" anchor="ctr">
                    <a:solidFill>
                      <a:srgbClr val="FFFFFF"/>
                    </a:solidFill>
                  </a:tcPr>
                </a:tc>
                <a:tc>
                  <a:txBody>
                    <a:bodyPr wrap="square"/>
                    <a:lstStyle/>
                    <a:p>
                      <a:pPr algn="ctr"/>
                      <a:r>
                        <a:rPr sz="1400" b="1">
                          <a:solidFill>
                            <a:srgbClr val="555555"/>
                          </a:solidFill>
                          <a:latin typeface="Courier New"/>
                        </a:rPr>
                        <a:t>C</a:t>
                      </a:r>
                    </a:p>
                  </a:txBody>
                  <a:tcPr marL="137160" marR="91440" marT="27432" marB="27432" anchor="ctr">
                    <a:solidFill>
                      <a:srgbClr val="FFFFFF"/>
                    </a:solidFill>
                  </a:tcPr>
                </a:tc>
                <a:tc>
                  <a:txBody>
                    <a:bodyPr wrap="square"/>
                    <a:lstStyle/>
                    <a:p>
                      <a:pPr algn="ctr"/>
                      <a:r>
                        <a:rPr sz="1400" b="1">
                          <a:solidFill>
                            <a:srgbClr val="555555"/>
                          </a:solidFill>
                          <a:latin typeface="Courier New"/>
                        </a:rPr>
                        <a:t>R</a:t>
                      </a:r>
                    </a:p>
                  </a:txBody>
                  <a:tcPr marL="137160" marR="91440" marT="27432" marB="27432" anchor="ctr">
                    <a:solidFill>
                      <a:srgbClr val="FFFFFF"/>
                    </a:solidFill>
                  </a:tcPr>
                </a:tc>
                <a:tc>
                  <a:txBody>
                    <a:bodyPr wrap="square"/>
                    <a:lstStyle/>
                    <a:p>
                      <a:pPr algn="ctr"/>
                      <a:r>
                        <a:rPr sz="1400" b="1">
                          <a:solidFill>
                            <a:srgbClr val="555555"/>
                          </a:solidFill>
                          <a:latin typeface="Courier New"/>
                        </a:rPr>
                        <a:t>I</a:t>
                      </a:r>
                    </a:p>
                  </a:txBody>
                  <a:tcPr marL="137160" marR="91440" marT="27432" marB="27432" anchor="ctr">
                    <a:solidFill>
                      <a:srgbClr val="FFFFFF"/>
                    </a:solidFill>
                  </a:tcPr>
                </a:tc>
                <a:tc>
                  <a:txBody>
                    <a:bodyPr wrap="square"/>
                    <a:lstStyle/>
                    <a:p>
                      <a:pPr algn="ctr"/>
                      <a:r>
                        <a:rPr sz="1400" b="1">
                          <a:solidFill>
                            <a:srgbClr val="555555"/>
                          </a:solidFill>
                          <a:latin typeface="Courier New"/>
                        </a:rPr>
                        <a:t>C</a:t>
                      </a:r>
                    </a:p>
                  </a:txBody>
                  <a:tcPr marL="137160" marR="91440" marT="27432" marB="27432" anchor="ctr">
                    <a:solidFill>
                      <a:srgbClr val="FFFFFF"/>
                    </a:solidFill>
                  </a:tcPr>
                </a:tc>
              </a:tr>
              <a:tr h="463731">
                <a:tc>
                  <a:txBody>
                    <a:bodyPr wrap="square"/>
                    <a:lstStyle/>
                    <a:p>
                      <a:pPr algn="l"/>
                      <a:r>
                        <a:rPr sz="1400" b="1">
                          <a:solidFill>
                            <a:srgbClr val="1A1A1A"/>
                          </a:solidFill>
                          <a:latin typeface="Arial"/>
                        </a:rPr>
                        <a:t>PWP</a:t>
                      </a:r>
                    </a:p>
                  </a:txBody>
                  <a:tcPr marL="137160" marR="91440" marT="27432" marB="27432" anchor="ctr">
                    <a:solidFill>
                      <a:srgbClr val="F7F7F7"/>
                    </a:solidFill>
                  </a:tcPr>
                </a:tc>
                <a:tc>
                  <a:txBody>
                    <a:bodyPr wrap="square"/>
                    <a:lstStyle/>
                    <a:p>
                      <a:pPr algn="ctr"/>
                      <a:r>
                        <a:rPr sz="1400" b="1">
                          <a:solidFill>
                            <a:srgbClr val="555555"/>
                          </a:solidFill>
                          <a:latin typeface="Courier New"/>
                        </a:rPr>
                        <a:t>I</a:t>
                      </a:r>
                    </a:p>
                  </a:txBody>
                  <a:tcPr marL="137160" marR="91440" marT="27432" marB="27432" anchor="ctr">
                    <a:solidFill>
                      <a:srgbClr val="F7F7F7"/>
                    </a:solidFill>
                  </a:tcPr>
                </a:tc>
                <a:tc>
                  <a:txBody>
                    <a:bodyPr wrap="square"/>
                    <a:lstStyle/>
                    <a:p>
                      <a:pPr algn="ctr"/>
                      <a:r>
                        <a:rPr sz="1400" b="1">
                          <a:solidFill>
                            <a:srgbClr val="555555"/>
                          </a:solidFill>
                          <a:latin typeface="Courier New"/>
                        </a:rPr>
                        <a:t>I</a:t>
                      </a:r>
                    </a:p>
                  </a:txBody>
                  <a:tcPr marL="137160" marR="91440" marT="27432" marB="27432" anchor="ctr">
                    <a:solidFill>
                      <a:srgbClr val="F7F7F7"/>
                    </a:solidFill>
                  </a:tcPr>
                </a:tc>
                <a:tc>
                  <a:txBody>
                    <a:bodyPr wrap="square"/>
                    <a:lstStyle/>
                    <a:p>
                      <a:pPr algn="ctr"/>
                      <a:r>
                        <a:rPr sz="1400" b="1">
                          <a:solidFill>
                            <a:srgbClr val="555555"/>
                          </a:solidFill>
                          <a:latin typeface="Courier New"/>
                        </a:rPr>
                        <a:t>C</a:t>
                      </a:r>
                    </a:p>
                  </a:txBody>
                  <a:tcPr marL="137160" marR="91440" marT="27432" marB="27432" anchor="ctr">
                    <a:solidFill>
                      <a:srgbClr val="F7F7F7"/>
                    </a:solidFill>
                  </a:tcPr>
                </a:tc>
                <a:tc>
                  <a:txBody>
                    <a:bodyPr wrap="square"/>
                    <a:lstStyle/>
                    <a:p>
                      <a:pPr algn="ctr"/>
                      <a:r>
                        <a:rPr sz="1400" b="1">
                          <a:solidFill>
                            <a:srgbClr val="555555"/>
                          </a:solidFill>
                          <a:latin typeface="Courier New"/>
                        </a:rPr>
                        <a:t>R</a:t>
                      </a:r>
                    </a:p>
                  </a:txBody>
                  <a:tcPr marL="137160" marR="91440" marT="27432" marB="27432" anchor="ctr">
                    <a:solidFill>
                      <a:srgbClr val="F7F7F7"/>
                    </a:solidFill>
                  </a:tcPr>
                </a:tc>
                <a:tc>
                  <a:txBody>
                    <a:bodyPr wrap="square"/>
                    <a:lstStyle/>
                    <a:p>
                      <a:pPr algn="ctr"/>
                      <a:r>
                        <a:rPr sz="1400" b="1">
                          <a:solidFill>
                            <a:srgbClr val="555555"/>
                          </a:solidFill>
                          <a:latin typeface="Courier New"/>
                        </a:rPr>
                        <a:t>I</a:t>
                      </a:r>
                    </a:p>
                  </a:txBody>
                  <a:tcPr marL="137160" marR="91440" marT="27432" marB="27432" anchor="ctr">
                    <a:solidFill>
                      <a:srgbClr val="F7F7F7"/>
                    </a:solidFill>
                  </a:tcPr>
                </a:tc>
              </a:tr>
              <a:tr h="463731">
                <a:tc>
                  <a:txBody>
                    <a:bodyPr wrap="square"/>
                    <a:lstStyle/>
                    <a:p>
                      <a:pPr algn="l"/>
                      <a:r>
                        <a:rPr sz="1400" b="1">
                          <a:solidFill>
                            <a:srgbClr val="1A1A1A"/>
                          </a:solidFill>
                          <a:latin typeface="Arial"/>
                        </a:rPr>
                        <a:t>CWP</a:t>
                      </a:r>
                    </a:p>
                  </a:txBody>
                  <a:tcPr marL="137160" marR="91440" marT="27432" marB="27432" anchor="ctr">
                    <a:solidFill>
                      <a:srgbClr val="FFFFFF"/>
                    </a:solidFill>
                  </a:tcPr>
                </a:tc>
                <a:tc>
                  <a:txBody>
                    <a:bodyPr wrap="square"/>
                    <a:lstStyle/>
                    <a:p>
                      <a:pPr algn="ctr"/>
                      <a:r>
                        <a:rPr sz="1400" b="1">
                          <a:solidFill>
                            <a:srgbClr val="555555"/>
                          </a:solidFill>
                          <a:latin typeface="Courier New"/>
                        </a:rPr>
                        <a:t>A</a:t>
                      </a:r>
                    </a:p>
                  </a:txBody>
                  <a:tcPr marL="137160" marR="91440" marT="27432" marB="27432" anchor="ctr">
                    <a:solidFill>
                      <a:srgbClr val="FFFFFF"/>
                    </a:solidFill>
                  </a:tcPr>
                </a:tc>
                <a:tc>
                  <a:txBody>
                    <a:bodyPr wrap="square"/>
                    <a:lstStyle/>
                    <a:p>
                      <a:pPr algn="ctr"/>
                      <a:r>
                        <a:rPr sz="1400" b="1">
                          <a:solidFill>
                            <a:srgbClr val="555555"/>
                          </a:solidFill>
                          <a:latin typeface="Courier New"/>
                        </a:rPr>
                        <a:t>C</a:t>
                      </a:r>
                    </a:p>
                  </a:txBody>
                  <a:tcPr marL="137160" marR="91440" marT="27432" marB="27432" anchor="ctr">
                    <a:solidFill>
                      <a:srgbClr val="FFFFFF"/>
                    </a:solidFill>
                  </a:tcPr>
                </a:tc>
                <a:tc>
                  <a:txBody>
                    <a:bodyPr wrap="square"/>
                    <a:lstStyle/>
                    <a:p>
                      <a:pPr algn="ctr"/>
                      <a:r>
                        <a:rPr sz="1400" b="1">
                          <a:solidFill>
                            <a:srgbClr val="555555"/>
                          </a:solidFill>
                          <a:latin typeface="Courier New"/>
                        </a:rPr>
                        <a:t>C</a:t>
                      </a:r>
                    </a:p>
                  </a:txBody>
                  <a:tcPr marL="137160" marR="91440" marT="27432" marB="27432" anchor="ctr">
                    <a:solidFill>
                      <a:srgbClr val="FFFFFF"/>
                    </a:solidFill>
                  </a:tcPr>
                </a:tc>
                <a:tc>
                  <a:txBody>
                    <a:bodyPr wrap="square"/>
                    <a:lstStyle/>
                    <a:p>
                      <a:pPr algn="ctr"/>
                      <a:r>
                        <a:rPr sz="1400" b="1">
                          <a:solidFill>
                            <a:srgbClr val="555555"/>
                          </a:solidFill>
                          <a:latin typeface="Courier New"/>
                        </a:rPr>
                        <a:t>I</a:t>
                      </a:r>
                    </a:p>
                  </a:txBody>
                  <a:tcPr marL="137160" marR="91440" marT="27432" marB="27432" anchor="ctr">
                    <a:solidFill>
                      <a:srgbClr val="FFFFFF"/>
                    </a:solidFill>
                  </a:tcPr>
                </a:tc>
                <a:tc>
                  <a:txBody>
                    <a:bodyPr wrap="square"/>
                    <a:lstStyle/>
                    <a:p>
                      <a:pPr algn="ctr"/>
                      <a:r>
                        <a:rPr sz="1400" b="1">
                          <a:solidFill>
                            <a:srgbClr val="555555"/>
                          </a:solidFill>
                          <a:latin typeface="Courier New"/>
                        </a:rPr>
                        <a:t>R</a:t>
                      </a:r>
                    </a:p>
                  </a:txBody>
                  <a:tcPr marL="137160" marR="91440" marT="27432" marB="27432" anchor="ctr">
                    <a:solidFill>
                      <a:srgbClr val="FFFFFF"/>
                    </a:solidFill>
                  </a:tcPr>
                </a:tc>
              </a:tr>
              <a:tr h="463731">
                <a:tc>
                  <a:txBody>
                    <a:bodyPr wrap="square"/>
                    <a:lstStyle/>
                    <a:p>
                      <a:pPr algn="l"/>
                      <a:r>
                        <a:rPr sz="1400" b="1">
                          <a:solidFill>
                            <a:srgbClr val="1A1A1A"/>
                          </a:solidFill>
                          <a:latin typeface="Arial"/>
                        </a:rPr>
                        <a:t>IWP</a:t>
                      </a:r>
                    </a:p>
                  </a:txBody>
                  <a:tcPr marL="137160" marR="91440" marT="27432" marB="27432" anchor="ctr">
                    <a:solidFill>
                      <a:srgbClr val="F7F7F7"/>
                    </a:solidFill>
                  </a:tcPr>
                </a:tc>
                <a:tc>
                  <a:txBody>
                    <a:bodyPr wrap="square"/>
                    <a:lstStyle/>
                    <a:p>
                      <a:pPr algn="ctr"/>
                      <a:r>
                        <a:rPr sz="1400" b="1">
                          <a:solidFill>
                            <a:srgbClr val="555555"/>
                          </a:solidFill>
                          <a:latin typeface="Courier New"/>
                        </a:rPr>
                        <a:t>I</a:t>
                      </a:r>
                    </a:p>
                  </a:txBody>
                  <a:tcPr marL="137160" marR="91440" marT="27432" marB="27432" anchor="ctr">
                    <a:solidFill>
                      <a:srgbClr val="F7F7F7"/>
                    </a:solidFill>
                  </a:tcPr>
                </a:tc>
                <a:tc>
                  <a:txBody>
                    <a:bodyPr wrap="square"/>
                    <a:lstStyle/>
                    <a:p>
                      <a:pPr algn="ctr"/>
                      <a:r>
                        <a:rPr sz="1400" b="1">
                          <a:solidFill>
                            <a:srgbClr val="555555"/>
                          </a:solidFill>
                          <a:latin typeface="Courier New"/>
                        </a:rPr>
                        <a:t>C</a:t>
                      </a:r>
                    </a:p>
                  </a:txBody>
                  <a:tcPr marL="137160" marR="91440" marT="27432" marB="27432" anchor="ctr">
                    <a:solidFill>
                      <a:srgbClr val="F7F7F7"/>
                    </a:solidFill>
                  </a:tcPr>
                </a:tc>
                <a:tc>
                  <a:txBody>
                    <a:bodyPr wrap="square"/>
                    <a:lstStyle/>
                    <a:p>
                      <a:pPr algn="ctr"/>
                      <a:r>
                        <a:rPr sz="1400" b="1">
                          <a:solidFill>
                            <a:srgbClr val="555555"/>
                          </a:solidFill>
                          <a:latin typeface="Courier New"/>
                        </a:rPr>
                        <a:t>I</a:t>
                      </a:r>
                    </a:p>
                  </a:txBody>
                  <a:tcPr marL="137160" marR="91440" marT="27432" marB="27432" anchor="ctr">
                    <a:solidFill>
                      <a:srgbClr val="F7F7F7"/>
                    </a:solidFill>
                  </a:tcPr>
                </a:tc>
                <a:tc>
                  <a:txBody>
                    <a:bodyPr wrap="square"/>
                    <a:lstStyle/>
                    <a:p>
                      <a:pPr algn="ctr"/>
                      <a:r>
                        <a:rPr sz="1400" b="1">
                          <a:solidFill>
                            <a:srgbClr val="555555"/>
                          </a:solidFill>
                          <a:latin typeface="Courier New"/>
                        </a:rPr>
                        <a:t>I</a:t>
                      </a:r>
                    </a:p>
                  </a:txBody>
                  <a:tcPr marL="137160" marR="91440" marT="27432" marB="27432" anchor="ctr">
                    <a:solidFill>
                      <a:srgbClr val="F7F7F7"/>
                    </a:solidFill>
                  </a:tcPr>
                </a:tc>
                <a:tc>
                  <a:txBody>
                    <a:bodyPr wrap="square"/>
                    <a:lstStyle/>
                    <a:p>
                      <a:pPr algn="ctr"/>
                      <a:r>
                        <a:rPr sz="1400" b="1">
                          <a:solidFill>
                            <a:srgbClr val="555555"/>
                          </a:solidFill>
                          <a:latin typeface="Courier New"/>
                        </a:rPr>
                        <a:t>R</a:t>
                      </a:r>
                    </a:p>
                  </a:txBody>
                  <a:tcPr marL="137160" marR="91440" marT="27432" marB="27432" anchor="ctr">
                    <a:solidFill>
                      <a:srgbClr val="F7F7F7"/>
                    </a:solidFill>
                  </a:tcPr>
                </a:tc>
              </a:tr>
              <a:tr h="463731">
                <a:tc>
                  <a:txBody>
                    <a:bodyPr wrap="square"/>
                    <a:lstStyle/>
                    <a:p>
                      <a:pPr algn="l"/>
                      <a:r>
                        <a:rPr sz="1400" b="1">
                          <a:solidFill>
                            <a:srgbClr val="1A1A1A"/>
                          </a:solidFill>
                          <a:latin typeface="Arial"/>
                        </a:rPr>
                        <a:t>SWP y TOP</a:t>
                      </a:r>
                    </a:p>
                  </a:txBody>
                  <a:tcPr marL="137160" marR="91440" marT="27432" marB="27432" anchor="ctr">
                    <a:solidFill>
                      <a:srgbClr val="FFFFFF"/>
                    </a:solidFill>
                  </a:tcPr>
                </a:tc>
                <a:tc>
                  <a:txBody>
                    <a:bodyPr wrap="square"/>
                    <a:lstStyle/>
                    <a:p>
                      <a:pPr algn="ctr"/>
                      <a:r>
                        <a:rPr sz="1400" b="1">
                          <a:solidFill>
                            <a:srgbClr val="555555"/>
                          </a:solidFill>
                          <a:latin typeface="Courier New"/>
                        </a:rPr>
                        <a:t>A</a:t>
                      </a:r>
                    </a:p>
                  </a:txBody>
                  <a:tcPr marL="137160" marR="91440" marT="27432" marB="27432" anchor="ctr">
                    <a:solidFill>
                      <a:srgbClr val="FFFFFF"/>
                    </a:solidFill>
                  </a:tcPr>
                </a:tc>
                <a:tc>
                  <a:txBody>
                    <a:bodyPr wrap="square"/>
                    <a:lstStyle/>
                    <a:p>
                      <a:pPr algn="ctr"/>
                      <a:r>
                        <a:rPr sz="1400" b="1">
                          <a:solidFill>
                            <a:srgbClr val="555555"/>
                          </a:solidFill>
                          <a:latin typeface="Courier New"/>
                        </a:rPr>
                        <a:t>C</a:t>
                      </a:r>
                    </a:p>
                  </a:txBody>
                  <a:tcPr marL="137160" marR="91440" marT="27432" marB="27432" anchor="ctr">
                    <a:solidFill>
                      <a:srgbClr val="FFFFFF"/>
                    </a:solidFill>
                  </a:tcPr>
                </a:tc>
                <a:tc>
                  <a:txBody>
                    <a:bodyPr wrap="square"/>
                    <a:lstStyle/>
                    <a:p>
                      <a:pPr algn="ctr"/>
                      <a:r>
                        <a:rPr sz="1400" b="1">
                          <a:solidFill>
                            <a:srgbClr val="555555"/>
                          </a:solidFill>
                          <a:latin typeface="Courier New"/>
                        </a:rPr>
                        <a:t>C</a:t>
                      </a:r>
                    </a:p>
                  </a:txBody>
                  <a:tcPr marL="137160" marR="91440" marT="27432" marB="27432" anchor="ctr">
                    <a:solidFill>
                      <a:srgbClr val="FFFFFF"/>
                    </a:solidFill>
                  </a:tcPr>
                </a:tc>
                <a:tc>
                  <a:txBody>
                    <a:bodyPr wrap="square"/>
                    <a:lstStyle/>
                    <a:p>
                      <a:pPr algn="ctr"/>
                      <a:r>
                        <a:rPr sz="1400" b="1">
                          <a:solidFill>
                            <a:srgbClr val="555555"/>
                          </a:solidFill>
                          <a:latin typeface="Courier New"/>
                        </a:rPr>
                        <a:t>I</a:t>
                      </a:r>
                    </a:p>
                  </a:txBody>
                  <a:tcPr marL="137160" marR="91440" marT="27432" marB="27432" anchor="ctr">
                    <a:solidFill>
                      <a:srgbClr val="FFFFFF"/>
                    </a:solidFill>
                  </a:tcPr>
                </a:tc>
                <a:tc>
                  <a:txBody>
                    <a:bodyPr wrap="square"/>
                    <a:lstStyle/>
                    <a:p>
                      <a:pPr algn="ctr"/>
                      <a:r>
                        <a:rPr sz="1400" b="1">
                          <a:solidFill>
                            <a:srgbClr val="555555"/>
                          </a:solidFill>
                          <a:latin typeface="Courier New"/>
                        </a:rPr>
                        <a:t>R</a:t>
                      </a:r>
                    </a:p>
                  </a:txBody>
                  <a:tcPr marL="137160" marR="91440" marT="27432" marB="27432" anchor="ctr">
                    <a:solidFill>
                      <a:srgbClr val="FFFFFF"/>
                    </a:solidFill>
                  </a:tcPr>
                </a:tc>
              </a:tr>
            </a:tbl>
          </a:graphicData>
        </a:graphic>
      </p:graphicFrame>
      <p:pic>
        <p:nvPicPr>
          <p:cNvPr id="8" name="Picture 7" descr="layers_o.png"/>
          <p:cNvPicPr>
            <a:picLocks noChangeAspect="1"/>
          </p:cNvPicPr>
          <p:nvPr/>
        </p:nvPicPr>
        <p:blipFill>
          <a:blip r:embed="rId2"/>
          <a:stretch>
            <a:fillRect/>
          </a:stretch>
        </p:blipFill>
        <p:spPr>
          <a:xfrm>
            <a:off x="563727" y="5769864"/>
            <a:ext cx="292608" cy="292608"/>
          </a:xfrm>
          <a:prstGeom prst="rect">
            <a:avLst/>
          </a:prstGeom>
        </p:spPr>
      </p:pic>
      <p:sp>
        <p:nvSpPr>
          <p:cNvPr id="9" name="TextBox 8"/>
          <p:cNvSpPr txBox="1"/>
          <p:nvPr/>
        </p:nvSpPr>
        <p:spPr>
          <a:xfrm>
            <a:off x="1020927" y="5733288"/>
            <a:ext cx="10607039" cy="384048"/>
          </a:xfrm>
          <a:prstGeom prst="rect">
            <a:avLst/>
          </a:prstGeom>
          <a:noFill/>
        </p:spPr>
        <p:txBody>
          <a:bodyPr wrap="square" lIns="0" rIns="0" tIns="0" bIns="0" anchor="ctr">
            <a:spAutoFit/>
          </a:bodyPr>
          <a:lstStyle/>
          <a:p>
            <a:pPr algn="l"/>
            <a:r>
              <a:rPr sz="1200" b="0" i="0">
                <a:solidFill>
                  <a:srgbClr val="2E2E2E"/>
                </a:solidFill>
                <a:latin typeface="Arial"/>
              </a:rPr>
              <a:t>R: responsable · A: aprueba · C: consultado · I: informado. Ajústela a su modelo de contrato.</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097280"/>
            <a:ext cx="3657600" cy="2194560"/>
          </a:xfrm>
          <a:prstGeom prst="rect">
            <a:avLst/>
          </a:prstGeom>
          <a:noFill/>
        </p:spPr>
        <p:txBody>
          <a:bodyPr wrap="square" lIns="0" rIns="0" tIns="0" bIns="0" anchor="t">
            <a:spAutoFit/>
          </a:bodyPr>
          <a:lstStyle/>
          <a:p>
            <a:pPr algn="l"/>
            <a:r>
              <a:rPr sz="15000" b="1" i="0">
                <a:solidFill>
                  <a:srgbClr val="FF6600"/>
                </a:solidFill>
                <a:latin typeface="Arial"/>
              </a:rPr>
              <a:t>10</a:t>
            </a:r>
          </a:p>
        </p:txBody>
      </p:sp>
      <p:sp>
        <p:nvSpPr>
          <p:cNvPr id="4" name="TextBox 3"/>
          <p:cNvSpPr txBox="1"/>
          <p:nvPr/>
        </p:nvSpPr>
        <p:spPr>
          <a:xfrm>
            <a:off x="4160520" y="1481328"/>
            <a:ext cx="7498079" cy="274320"/>
          </a:xfrm>
          <a:prstGeom prst="rect">
            <a:avLst/>
          </a:prstGeom>
          <a:noFill/>
        </p:spPr>
        <p:txBody>
          <a:bodyPr wrap="square" lIns="0" rIns="0" tIns="0" bIns="0" anchor="t">
            <a:spAutoFit/>
          </a:bodyPr>
          <a:lstStyle/>
          <a:p>
            <a:pPr algn="l"/>
            <a:r>
              <a:rPr sz="1200" b="1" i="0" spc="300">
                <a:solidFill>
                  <a:srgbClr val="FF6600"/>
                </a:solidFill>
                <a:latin typeface="Arial"/>
              </a:rPr>
              <a:t>MÓDULO 10 · MEDICIÓN</a:t>
            </a:r>
          </a:p>
        </p:txBody>
      </p:sp>
      <p:sp>
        <p:nvSpPr>
          <p:cNvPr id="5" name="Título"/>
          <p:cNvSpPr txBox="1"/>
          <p:nvPr/>
        </p:nvSpPr>
        <p:spPr>
          <a:xfrm>
            <a:off x="4160520" y="1874519"/>
            <a:ext cx="7452360" cy="1508760"/>
          </a:xfrm>
          <a:prstGeom prst="rect">
            <a:avLst/>
          </a:prstGeom>
          <a:noFill/>
        </p:spPr>
        <p:txBody>
          <a:bodyPr wrap="square" lIns="0" rIns="0" tIns="0" bIns="0" anchor="t">
            <a:spAutoFit/>
          </a:bodyPr>
          <a:lstStyle/>
          <a:p>
            <a:pPr algn="l">
              <a:lnSpc>
                <a:spcPct val="95000"/>
              </a:lnSpc>
            </a:pPr>
            <a:r>
              <a:rPr sz="3600" b="1" i="0">
                <a:solidFill>
                  <a:srgbClr val="FFFFFF"/>
                </a:solidFill>
                <a:latin typeface="Arial"/>
              </a:rPr>
              <a:t>Lo que no se mide en paquetes no se mejora</a:t>
            </a:r>
          </a:p>
        </p:txBody>
      </p:sp>
      <p:sp>
        <p:nvSpPr>
          <p:cNvPr id="6" name="TextBox 5"/>
          <p:cNvSpPr txBox="1"/>
          <p:nvPr/>
        </p:nvSpPr>
        <p:spPr>
          <a:xfrm>
            <a:off x="4160520" y="3474720"/>
            <a:ext cx="7406640" cy="685800"/>
          </a:xfrm>
          <a:prstGeom prst="rect">
            <a:avLst/>
          </a:prstGeom>
          <a:noFill/>
        </p:spPr>
        <p:txBody>
          <a:bodyPr wrap="square" lIns="0" rIns="0" tIns="0" bIns="0" anchor="t">
            <a:spAutoFit/>
          </a:bodyPr>
          <a:lstStyle/>
          <a:p>
            <a:pPr algn="l">
              <a:lnSpc>
                <a:spcPct val="110000"/>
              </a:lnSpc>
            </a:pPr>
            <a:r>
              <a:rPr sz="1500" b="0" i="0">
                <a:solidFill>
                  <a:srgbClr val="BCBEC0"/>
                </a:solidFill>
                <a:latin typeface="Arial"/>
              </a:rPr>
              <a:t>Indicadores de ingeniería y de construcción, valor planificado, tool time y auditorías.</a:t>
            </a:r>
          </a:p>
        </p:txBody>
      </p:sp>
      <p:sp>
        <p:nvSpPr>
          <p:cNvPr id="7" name="Rectangle 6"/>
          <p:cNvSpPr/>
          <p:nvPr/>
        </p:nvSpPr>
        <p:spPr>
          <a:xfrm>
            <a:off x="548640"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48640"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01</a:t>
            </a:r>
          </a:p>
        </p:txBody>
      </p:sp>
      <p:sp>
        <p:nvSpPr>
          <p:cNvPr id="9" name="Rectangle 8"/>
          <p:cNvSpPr/>
          <p:nvPr/>
        </p:nvSpPr>
        <p:spPr>
          <a:xfrm>
            <a:off x="1409090"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409090"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02</a:t>
            </a:r>
          </a:p>
        </p:txBody>
      </p:sp>
      <p:sp>
        <p:nvSpPr>
          <p:cNvPr id="11" name="Rectangle 10"/>
          <p:cNvSpPr/>
          <p:nvPr/>
        </p:nvSpPr>
        <p:spPr>
          <a:xfrm>
            <a:off x="2269540"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269540"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03</a:t>
            </a:r>
          </a:p>
        </p:txBody>
      </p:sp>
      <p:sp>
        <p:nvSpPr>
          <p:cNvPr id="13" name="Rectangle 12"/>
          <p:cNvSpPr/>
          <p:nvPr/>
        </p:nvSpPr>
        <p:spPr>
          <a:xfrm>
            <a:off x="3129991"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129991"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04</a:t>
            </a:r>
          </a:p>
        </p:txBody>
      </p:sp>
      <p:sp>
        <p:nvSpPr>
          <p:cNvPr id="15" name="Rectangle 14"/>
          <p:cNvSpPr/>
          <p:nvPr/>
        </p:nvSpPr>
        <p:spPr>
          <a:xfrm>
            <a:off x="3990441"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990441"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05</a:t>
            </a:r>
          </a:p>
        </p:txBody>
      </p:sp>
      <p:sp>
        <p:nvSpPr>
          <p:cNvPr id="17" name="Rectangle 16"/>
          <p:cNvSpPr/>
          <p:nvPr/>
        </p:nvSpPr>
        <p:spPr>
          <a:xfrm>
            <a:off x="4850892"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850892"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06</a:t>
            </a:r>
          </a:p>
        </p:txBody>
      </p:sp>
      <p:sp>
        <p:nvSpPr>
          <p:cNvPr id="19" name="Rectangle 18"/>
          <p:cNvSpPr/>
          <p:nvPr/>
        </p:nvSpPr>
        <p:spPr>
          <a:xfrm>
            <a:off x="5711342"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711342"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07</a:t>
            </a:r>
          </a:p>
        </p:txBody>
      </p:sp>
      <p:sp>
        <p:nvSpPr>
          <p:cNvPr id="21" name="Rectangle 20"/>
          <p:cNvSpPr/>
          <p:nvPr/>
        </p:nvSpPr>
        <p:spPr>
          <a:xfrm>
            <a:off x="6571792"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571792"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08</a:t>
            </a:r>
          </a:p>
        </p:txBody>
      </p:sp>
      <p:sp>
        <p:nvSpPr>
          <p:cNvPr id="23" name="Rectangle 22"/>
          <p:cNvSpPr/>
          <p:nvPr/>
        </p:nvSpPr>
        <p:spPr>
          <a:xfrm>
            <a:off x="7432243"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432243"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09</a:t>
            </a:r>
          </a:p>
        </p:txBody>
      </p:sp>
      <p:sp>
        <p:nvSpPr>
          <p:cNvPr id="25" name="Rectangle 24"/>
          <p:cNvSpPr/>
          <p:nvPr/>
        </p:nvSpPr>
        <p:spPr>
          <a:xfrm>
            <a:off x="8292693" y="5074920"/>
            <a:ext cx="769010" cy="50292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292693" y="5074920"/>
            <a:ext cx="769010" cy="502920"/>
          </a:xfrm>
          <a:prstGeom prst="rect">
            <a:avLst/>
          </a:prstGeom>
          <a:noFill/>
        </p:spPr>
        <p:txBody>
          <a:bodyPr wrap="square" lIns="0" rIns="0" tIns="0" bIns="0" anchor="ctr">
            <a:spAutoFit/>
          </a:bodyPr>
          <a:lstStyle/>
          <a:p>
            <a:pPr algn="ctr"/>
            <a:r>
              <a:rPr sz="1100" b="1" i="0">
                <a:solidFill>
                  <a:srgbClr val="FFFFFF"/>
                </a:solidFill>
                <a:latin typeface="Courier New"/>
              </a:rPr>
              <a:t>10</a:t>
            </a:r>
          </a:p>
        </p:txBody>
      </p:sp>
      <p:sp>
        <p:nvSpPr>
          <p:cNvPr id="27" name="Rectangle 26"/>
          <p:cNvSpPr/>
          <p:nvPr/>
        </p:nvSpPr>
        <p:spPr>
          <a:xfrm>
            <a:off x="9153144"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153144"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11</a:t>
            </a:r>
          </a:p>
        </p:txBody>
      </p:sp>
      <p:sp>
        <p:nvSpPr>
          <p:cNvPr id="29" name="Rectangle 28"/>
          <p:cNvSpPr/>
          <p:nvPr/>
        </p:nvSpPr>
        <p:spPr>
          <a:xfrm>
            <a:off x="10013594"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013594"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12</a:t>
            </a:r>
          </a:p>
        </p:txBody>
      </p:sp>
      <p:sp>
        <p:nvSpPr>
          <p:cNvPr id="31" name="Rectangle 30"/>
          <p:cNvSpPr/>
          <p:nvPr/>
        </p:nvSpPr>
        <p:spPr>
          <a:xfrm>
            <a:off x="10874044"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874044"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13</a:t>
            </a:r>
          </a:p>
        </p:txBody>
      </p:sp>
      <p:sp>
        <p:nvSpPr>
          <p:cNvPr id="33" name="TextBox 32"/>
          <p:cNvSpPr txBox="1"/>
          <p:nvPr/>
        </p:nvSpPr>
        <p:spPr>
          <a:xfrm>
            <a:off x="548640" y="4709159"/>
            <a:ext cx="5486400" cy="274320"/>
          </a:xfrm>
          <a:prstGeom prst="rect">
            <a:avLst/>
          </a:prstGeom>
          <a:noFill/>
        </p:spPr>
        <p:txBody>
          <a:bodyPr wrap="square" lIns="0" rIns="0" tIns="0" bIns="0" anchor="t">
            <a:spAutoFit/>
          </a:bodyPr>
          <a:lstStyle/>
          <a:p>
            <a:pPr algn="l"/>
            <a:r>
              <a:rPr sz="1000" b="1" i="0" spc="200">
                <a:solidFill>
                  <a:srgbClr val="8A8B8E"/>
                </a:solidFill>
                <a:latin typeface="Arial"/>
              </a:rPr>
              <a:t>MÓDULOS</a:t>
            </a:r>
          </a:p>
        </p:txBody>
      </p:sp>
      <p:sp>
        <p:nvSpPr>
          <p:cNvPr id="34" name="TextBox 33"/>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8A8B8E"/>
                </a:solidFill>
                <a:latin typeface="Arial"/>
              </a:rPr>
              <a:t>IMPLEMENTACIÓN DE AWP  ·  M10 · MEDICIÓN: KPIs, CONTROLES Y PRODUCTIVIDAD</a:t>
            </a:r>
          </a:p>
        </p:txBody>
      </p:sp>
      <p:sp>
        <p:nvSpPr>
          <p:cNvPr id="35" name="TextBox 34"/>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8A8B8E"/>
                </a:solidFill>
                <a:latin typeface="Courier New"/>
              </a:rPr>
              <a:t>096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10 · KPI</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Hay dos familias de indicadores (KPI): de Ingeniería y de Construcción</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M10 · MEDICIÓN: KPIs, CONTROLES Y PRODUCTIVIDAD</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097</a:t>
            </a:r>
          </a:p>
        </p:txBody>
      </p:sp>
      <p:sp>
        <p:nvSpPr>
          <p:cNvPr id="7" name="Rectangle 6"/>
          <p:cNvSpPr/>
          <p:nvPr/>
        </p:nvSpPr>
        <p:spPr>
          <a:xfrm>
            <a:off x="548640" y="1828800"/>
            <a:ext cx="5396331" cy="341071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48640" y="1828800"/>
            <a:ext cx="5396331" cy="502920"/>
          </a:xfrm>
          <a:prstGeom prst="rect">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1828800"/>
            <a:ext cx="4847691" cy="502920"/>
          </a:xfrm>
          <a:prstGeom prst="rect">
            <a:avLst/>
          </a:prstGeom>
          <a:noFill/>
        </p:spPr>
        <p:txBody>
          <a:bodyPr wrap="square" lIns="0" rIns="0" tIns="0" bIns="0" anchor="ctr">
            <a:spAutoFit/>
          </a:bodyPr>
          <a:lstStyle/>
          <a:p>
            <a:pPr algn="l"/>
            <a:r>
              <a:rPr sz="1200" b="1" i="0" spc="200">
                <a:solidFill>
                  <a:srgbClr val="FFFFFF"/>
                </a:solidFill>
                <a:latin typeface="Arial"/>
              </a:rPr>
              <a:t>KPI DE INGENIERÍA</a:t>
            </a:r>
          </a:p>
        </p:txBody>
      </p:sp>
      <p:sp>
        <p:nvSpPr>
          <p:cNvPr id="10" name="Oval 9"/>
          <p:cNvSpPr/>
          <p:nvPr/>
        </p:nvSpPr>
        <p:spPr>
          <a:xfrm>
            <a:off x="932688" y="2670048"/>
            <a:ext cx="155448" cy="155448"/>
          </a:xfrm>
          <a:prstGeom prst="ellipse">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17319" y="2542032"/>
            <a:ext cx="4253331" cy="274320"/>
          </a:xfrm>
          <a:prstGeom prst="rect">
            <a:avLst/>
          </a:prstGeom>
          <a:noFill/>
        </p:spPr>
        <p:txBody>
          <a:bodyPr wrap="square" lIns="0" rIns="0" tIns="0" bIns="0" anchor="t">
            <a:spAutoFit/>
          </a:bodyPr>
          <a:lstStyle/>
          <a:p>
            <a:pPr algn="l"/>
            <a:r>
              <a:rPr sz="1400" b="1" i="0">
                <a:solidFill>
                  <a:srgbClr val="1A1A1A"/>
                </a:solidFill>
                <a:latin typeface="Arial"/>
              </a:rPr>
              <a:t>FEL: lista de entregables</a:t>
            </a:r>
          </a:p>
        </p:txBody>
      </p:sp>
      <p:sp>
        <p:nvSpPr>
          <p:cNvPr id="12" name="TextBox 11"/>
          <p:cNvSpPr txBox="1"/>
          <p:nvPr/>
        </p:nvSpPr>
        <p:spPr>
          <a:xfrm>
            <a:off x="1417319" y="2834639"/>
            <a:ext cx="4253331" cy="527304"/>
          </a:xfrm>
          <a:prstGeom prst="rect">
            <a:avLst/>
          </a:prstGeom>
          <a:noFill/>
        </p:spPr>
        <p:txBody>
          <a:bodyPr wrap="square" lIns="0" rIns="0" tIns="0" bIns="0" anchor="t">
            <a:spAutoFit/>
          </a:bodyPr>
          <a:lstStyle/>
          <a:p>
            <a:pPr algn="l"/>
            <a:r>
              <a:rPr sz="1150" b="0" i="0">
                <a:solidFill>
                  <a:srgbClr val="6D6E71"/>
                </a:solidFill>
                <a:latin typeface="Arial"/>
              </a:rPr>
              <a:t>Alineada al procedimiento AWP del propietario</a:t>
            </a:r>
          </a:p>
        </p:txBody>
      </p:sp>
      <p:sp>
        <p:nvSpPr>
          <p:cNvPr id="13" name="Oval 12"/>
          <p:cNvSpPr/>
          <p:nvPr/>
        </p:nvSpPr>
        <p:spPr>
          <a:xfrm>
            <a:off x="932688" y="3517392"/>
            <a:ext cx="155448" cy="155448"/>
          </a:xfrm>
          <a:prstGeom prst="ellipse">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417319" y="3389376"/>
            <a:ext cx="4253331" cy="274320"/>
          </a:xfrm>
          <a:prstGeom prst="rect">
            <a:avLst/>
          </a:prstGeom>
          <a:noFill/>
        </p:spPr>
        <p:txBody>
          <a:bodyPr wrap="square" lIns="0" rIns="0" tIns="0" bIns="0" anchor="t">
            <a:spAutoFit/>
          </a:bodyPr>
          <a:lstStyle/>
          <a:p>
            <a:pPr algn="l"/>
            <a:r>
              <a:rPr sz="1400" b="1" i="0">
                <a:solidFill>
                  <a:srgbClr val="1A1A1A"/>
                </a:solidFill>
                <a:latin typeface="Arial"/>
              </a:rPr>
              <a:t>Ejecución en curso</a:t>
            </a:r>
          </a:p>
        </p:txBody>
      </p:sp>
      <p:sp>
        <p:nvSpPr>
          <p:cNvPr id="15" name="TextBox 14"/>
          <p:cNvSpPr txBox="1"/>
          <p:nvPr/>
        </p:nvSpPr>
        <p:spPr>
          <a:xfrm>
            <a:off x="1417319" y="3681983"/>
            <a:ext cx="4253331" cy="527304"/>
          </a:xfrm>
          <a:prstGeom prst="rect">
            <a:avLst/>
          </a:prstGeom>
          <a:noFill/>
        </p:spPr>
        <p:txBody>
          <a:bodyPr wrap="square" lIns="0" rIns="0" tIns="0" bIns="0" anchor="t">
            <a:spAutoFit/>
          </a:bodyPr>
          <a:lstStyle/>
          <a:p>
            <a:pPr algn="l"/>
            <a:r>
              <a:rPr sz="1150" b="0" i="0">
                <a:solidFill>
                  <a:srgbClr val="6D6E71"/>
                </a:solidFill>
                <a:latin typeface="Arial"/>
              </a:rPr>
              <a:t>Reglas de crédito por EWP</a:t>
            </a:r>
          </a:p>
        </p:txBody>
      </p:sp>
      <p:sp>
        <p:nvSpPr>
          <p:cNvPr id="16" name="Oval 15"/>
          <p:cNvSpPr/>
          <p:nvPr/>
        </p:nvSpPr>
        <p:spPr>
          <a:xfrm>
            <a:off x="932688" y="4364736"/>
            <a:ext cx="155448" cy="155448"/>
          </a:xfrm>
          <a:prstGeom prst="ellipse">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417319" y="4236720"/>
            <a:ext cx="4253331" cy="274320"/>
          </a:xfrm>
          <a:prstGeom prst="rect">
            <a:avLst/>
          </a:prstGeom>
          <a:noFill/>
        </p:spPr>
        <p:txBody>
          <a:bodyPr wrap="square" lIns="0" rIns="0" tIns="0" bIns="0" anchor="t">
            <a:spAutoFit/>
          </a:bodyPr>
          <a:lstStyle/>
          <a:p>
            <a:pPr algn="l"/>
            <a:r>
              <a:rPr sz="1400" b="1" i="0">
                <a:solidFill>
                  <a:srgbClr val="1A1A1A"/>
                </a:solidFill>
                <a:latin typeface="Arial"/>
              </a:rPr>
              <a:t>Ejecución completada</a:t>
            </a:r>
          </a:p>
        </p:txBody>
      </p:sp>
      <p:sp>
        <p:nvSpPr>
          <p:cNvPr id="18" name="TextBox 17"/>
          <p:cNvSpPr txBox="1"/>
          <p:nvPr/>
        </p:nvSpPr>
        <p:spPr>
          <a:xfrm>
            <a:off x="1417319" y="4529328"/>
            <a:ext cx="4253331" cy="527304"/>
          </a:xfrm>
          <a:prstGeom prst="rect">
            <a:avLst/>
          </a:prstGeom>
          <a:noFill/>
        </p:spPr>
        <p:txBody>
          <a:bodyPr wrap="square" lIns="0" rIns="0" tIns="0" bIns="0" anchor="t">
            <a:spAutoFit/>
          </a:bodyPr>
          <a:lstStyle/>
          <a:p>
            <a:pPr algn="l"/>
            <a:r>
              <a:rPr sz="1150" b="0" i="0">
                <a:solidFill>
                  <a:srgbClr val="6D6E71"/>
                </a:solidFill>
                <a:latin typeface="Arial"/>
              </a:rPr>
              <a:t>Planes de liberación de EWP y CWP</a:t>
            </a:r>
          </a:p>
        </p:txBody>
      </p:sp>
      <p:sp>
        <p:nvSpPr>
          <p:cNvPr id="19" name="Rectangle 18"/>
          <p:cNvSpPr/>
          <p:nvPr/>
        </p:nvSpPr>
        <p:spPr>
          <a:xfrm>
            <a:off x="6246723" y="1828800"/>
            <a:ext cx="5396331" cy="341071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246723" y="1828800"/>
            <a:ext cx="5396331" cy="50292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521043" y="1828800"/>
            <a:ext cx="4847691" cy="502920"/>
          </a:xfrm>
          <a:prstGeom prst="rect">
            <a:avLst/>
          </a:prstGeom>
          <a:noFill/>
        </p:spPr>
        <p:txBody>
          <a:bodyPr wrap="square" lIns="0" rIns="0" tIns="0" bIns="0" anchor="ctr">
            <a:spAutoFit/>
          </a:bodyPr>
          <a:lstStyle/>
          <a:p>
            <a:pPr algn="l"/>
            <a:r>
              <a:rPr sz="1200" b="1" i="0" spc="200">
                <a:solidFill>
                  <a:srgbClr val="FFFFFF"/>
                </a:solidFill>
                <a:latin typeface="Arial"/>
              </a:rPr>
              <a:t>KPI DE CONSTRUCCIÓN</a:t>
            </a:r>
          </a:p>
        </p:txBody>
      </p:sp>
      <p:sp>
        <p:nvSpPr>
          <p:cNvPr id="22" name="Oval 21"/>
          <p:cNvSpPr/>
          <p:nvPr/>
        </p:nvSpPr>
        <p:spPr>
          <a:xfrm>
            <a:off x="6630771" y="2670048"/>
            <a:ext cx="155448" cy="15544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115403" y="2542032"/>
            <a:ext cx="4253331" cy="274320"/>
          </a:xfrm>
          <a:prstGeom prst="rect">
            <a:avLst/>
          </a:prstGeom>
          <a:noFill/>
        </p:spPr>
        <p:txBody>
          <a:bodyPr wrap="square" lIns="0" rIns="0" tIns="0" bIns="0" anchor="t">
            <a:spAutoFit/>
          </a:bodyPr>
          <a:lstStyle/>
          <a:p>
            <a:pPr algn="l"/>
            <a:r>
              <a:rPr sz="1400" b="1" i="0">
                <a:solidFill>
                  <a:srgbClr val="1A1A1A"/>
                </a:solidFill>
                <a:latin typeface="Arial"/>
              </a:rPr>
              <a:t>IWP listos frente al total</a:t>
            </a:r>
          </a:p>
        </p:txBody>
      </p:sp>
      <p:sp>
        <p:nvSpPr>
          <p:cNvPr id="24" name="TextBox 23"/>
          <p:cNvSpPr txBox="1"/>
          <p:nvPr/>
        </p:nvSpPr>
        <p:spPr>
          <a:xfrm>
            <a:off x="7115403" y="2834639"/>
            <a:ext cx="4253331" cy="527304"/>
          </a:xfrm>
          <a:prstGeom prst="rect">
            <a:avLst/>
          </a:prstGeom>
          <a:noFill/>
        </p:spPr>
        <p:txBody>
          <a:bodyPr wrap="square" lIns="0" rIns="0" tIns="0" bIns="0" anchor="t">
            <a:spAutoFit/>
          </a:bodyPr>
          <a:lstStyle/>
          <a:p>
            <a:pPr algn="l"/>
            <a:r>
              <a:rPr sz="1150" b="0" i="0">
                <a:solidFill>
                  <a:srgbClr val="6D6E71"/>
                </a:solidFill>
                <a:latin typeface="Arial"/>
              </a:rPr>
              <a:t>Salud del backlog</a:t>
            </a:r>
          </a:p>
        </p:txBody>
      </p:sp>
      <p:sp>
        <p:nvSpPr>
          <p:cNvPr id="25" name="Oval 24"/>
          <p:cNvSpPr/>
          <p:nvPr/>
        </p:nvSpPr>
        <p:spPr>
          <a:xfrm>
            <a:off x="6630771" y="3517392"/>
            <a:ext cx="155448" cy="15544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115403" y="3389376"/>
            <a:ext cx="4253331" cy="274320"/>
          </a:xfrm>
          <a:prstGeom prst="rect">
            <a:avLst/>
          </a:prstGeom>
          <a:noFill/>
        </p:spPr>
        <p:txBody>
          <a:bodyPr wrap="square" lIns="0" rIns="0" tIns="0" bIns="0" anchor="t">
            <a:spAutoFit/>
          </a:bodyPr>
          <a:lstStyle/>
          <a:p>
            <a:pPr algn="l"/>
            <a:r>
              <a:rPr sz="1400" b="1" i="0">
                <a:solidFill>
                  <a:srgbClr val="1A1A1A"/>
                </a:solidFill>
                <a:latin typeface="Arial"/>
              </a:rPr>
              <a:t>Cierre de restricciones</a:t>
            </a:r>
          </a:p>
        </p:txBody>
      </p:sp>
      <p:sp>
        <p:nvSpPr>
          <p:cNvPr id="27" name="TextBox 26"/>
          <p:cNvSpPr txBox="1"/>
          <p:nvPr/>
        </p:nvSpPr>
        <p:spPr>
          <a:xfrm>
            <a:off x="7115403" y="3681983"/>
            <a:ext cx="4253331" cy="527304"/>
          </a:xfrm>
          <a:prstGeom prst="rect">
            <a:avLst/>
          </a:prstGeom>
          <a:noFill/>
        </p:spPr>
        <p:txBody>
          <a:bodyPr wrap="square" lIns="0" rIns="0" tIns="0" bIns="0" anchor="t">
            <a:spAutoFit/>
          </a:bodyPr>
          <a:lstStyle/>
          <a:p>
            <a:pPr algn="l"/>
            <a:r>
              <a:rPr sz="1150" b="0" i="0">
                <a:solidFill>
                  <a:srgbClr val="6D6E71"/>
                </a:solidFill>
                <a:latin typeface="Arial"/>
              </a:rPr>
              <a:t>Tasa de cierre y antigüedad</a:t>
            </a:r>
          </a:p>
        </p:txBody>
      </p:sp>
      <p:sp>
        <p:nvSpPr>
          <p:cNvPr id="28" name="Oval 27"/>
          <p:cNvSpPr/>
          <p:nvPr/>
        </p:nvSpPr>
        <p:spPr>
          <a:xfrm>
            <a:off x="6630771" y="4364736"/>
            <a:ext cx="155448" cy="15544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115403" y="4236720"/>
            <a:ext cx="4253331" cy="274320"/>
          </a:xfrm>
          <a:prstGeom prst="rect">
            <a:avLst/>
          </a:prstGeom>
          <a:noFill/>
        </p:spPr>
        <p:txBody>
          <a:bodyPr wrap="square" lIns="0" rIns="0" tIns="0" bIns="0" anchor="t">
            <a:spAutoFit/>
          </a:bodyPr>
          <a:lstStyle/>
          <a:p>
            <a:pPr algn="l"/>
            <a:r>
              <a:rPr sz="1400" b="1" i="0">
                <a:solidFill>
                  <a:srgbClr val="1A1A1A"/>
                </a:solidFill>
                <a:latin typeface="Arial"/>
              </a:rPr>
              <a:t>Cumplimiento del plan</a:t>
            </a:r>
          </a:p>
        </p:txBody>
      </p:sp>
      <p:sp>
        <p:nvSpPr>
          <p:cNvPr id="30" name="TextBox 29"/>
          <p:cNvSpPr txBox="1"/>
          <p:nvPr/>
        </p:nvSpPr>
        <p:spPr>
          <a:xfrm>
            <a:off x="7115403" y="4529328"/>
            <a:ext cx="4253331" cy="527304"/>
          </a:xfrm>
          <a:prstGeom prst="rect">
            <a:avLst/>
          </a:prstGeom>
          <a:noFill/>
        </p:spPr>
        <p:txBody>
          <a:bodyPr wrap="square" lIns="0" rIns="0" tIns="0" bIns="0" anchor="t">
            <a:spAutoFit/>
          </a:bodyPr>
          <a:lstStyle/>
          <a:p>
            <a:pPr algn="l"/>
            <a:r>
              <a:rPr sz="1150" b="0" i="0">
                <a:solidFill>
                  <a:srgbClr val="6D6E71"/>
                </a:solidFill>
                <a:latin typeface="Arial"/>
              </a:rPr>
              <a:t>IWP a tiempo y productividad por disciplina</a:t>
            </a:r>
          </a:p>
        </p:txBody>
      </p:sp>
      <p:sp>
        <p:nvSpPr>
          <p:cNvPr id="31" name="Rectangle 30"/>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flag_o.png"/>
          <p:cNvPicPr>
            <a:picLocks noChangeAspect="1"/>
          </p:cNvPicPr>
          <p:nvPr/>
        </p:nvPicPr>
        <p:blipFill>
          <a:blip r:embed="rId2"/>
          <a:stretch>
            <a:fillRect/>
          </a:stretch>
        </p:blipFill>
        <p:spPr>
          <a:xfrm>
            <a:off x="822959" y="5660136"/>
            <a:ext cx="365760" cy="365760"/>
          </a:xfrm>
          <a:prstGeom prst="rect">
            <a:avLst/>
          </a:prstGeom>
        </p:spPr>
      </p:pic>
      <p:sp>
        <p:nvSpPr>
          <p:cNvPr id="33" name="TextBox 32"/>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La salud de AWP se mide en ambas fases: un atraso en Ingeniería anticipa uno en campo.</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10 · LIBERACIONES</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En Ingeniería, compare liberaciones planificadas con reales</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M10 · MEDICIÓN: KPIs, CONTROLES Y PRODUCTIVIDAD</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098</a:t>
            </a:r>
          </a:p>
        </p:txBody>
      </p:sp>
      <p:graphicFrame>
        <p:nvGraphicFramePr>
          <p:cNvPr id="7" name="Table 6"/>
          <p:cNvGraphicFramePr>
            <a:graphicFrameLocks noGrp="1"/>
          </p:cNvGraphicFramePr>
          <p:nvPr/>
        </p:nvGraphicFramePr>
        <p:xfrm>
          <a:off x="563727" y="1828800"/>
          <a:ext cx="11064240" cy="3200400"/>
        </p:xfrm>
        <a:graphic>
          <a:graphicData uri="http://schemas.openxmlformats.org/drawingml/2006/table">
            <a:tbl>
              <a:tblPr firstRow="0" bandRow="0">
                <a:tableStyleId>{5C22544A-7EE6-4342-B048-85BDC9FD1C3A}</a:tableStyleId>
              </a:tblPr>
              <a:tblGrid>
                <a:gridCol w="2743200"/>
                <a:gridCol w="2103120"/>
                <a:gridCol w="2103120"/>
                <a:gridCol w="1828800"/>
                <a:gridCol w="2286000"/>
              </a:tblGrid>
              <a:tr h="457200">
                <a:tc>
                  <a:txBody>
                    <a:bodyPr wrap="square"/>
                    <a:lstStyle/>
                    <a:p>
                      <a:pPr algn="l"/>
                      <a:r>
                        <a:rPr sz="1000" b="1" spc="100">
                          <a:solidFill>
                            <a:srgbClr val="FFFFFF"/>
                          </a:solidFill>
                          <a:latin typeface="Arial"/>
                        </a:rPr>
                        <a:t>PAQUETE</a:t>
                      </a:r>
                    </a:p>
                  </a:txBody>
                  <a:tcPr marL="137160" marR="91440" marT="27432" marB="27432" anchor="ctr">
                    <a:solidFill>
                      <a:srgbClr val="1A1A1A"/>
                    </a:solidFill>
                  </a:tcPr>
                </a:tc>
                <a:tc>
                  <a:txBody>
                    <a:bodyPr wrap="square"/>
                    <a:lstStyle/>
                    <a:p>
                      <a:pPr algn="l"/>
                      <a:r>
                        <a:rPr sz="1000" b="1" spc="100">
                          <a:solidFill>
                            <a:srgbClr val="FFFFFF"/>
                          </a:solidFill>
                          <a:latin typeface="Arial"/>
                        </a:rPr>
                        <a:t>PLANIFICADO</a:t>
                      </a:r>
                    </a:p>
                  </a:txBody>
                  <a:tcPr marL="137160" marR="91440" marT="27432" marB="27432" anchor="ctr">
                    <a:solidFill>
                      <a:srgbClr val="1A1A1A"/>
                    </a:solidFill>
                  </a:tcPr>
                </a:tc>
                <a:tc>
                  <a:txBody>
                    <a:bodyPr wrap="square"/>
                    <a:lstStyle/>
                    <a:p>
                      <a:pPr algn="l"/>
                      <a:r>
                        <a:rPr sz="1000" b="1" spc="100">
                          <a:solidFill>
                            <a:srgbClr val="FFFFFF"/>
                          </a:solidFill>
                          <a:latin typeface="Arial"/>
                        </a:rPr>
                        <a:t>REAL</a:t>
                      </a:r>
                    </a:p>
                  </a:txBody>
                  <a:tcPr marL="137160" marR="91440" marT="27432" marB="27432" anchor="ctr">
                    <a:solidFill>
                      <a:srgbClr val="1A1A1A"/>
                    </a:solidFill>
                  </a:tcPr>
                </a:tc>
                <a:tc>
                  <a:txBody>
                    <a:bodyPr wrap="square"/>
                    <a:lstStyle/>
                    <a:p>
                      <a:pPr algn="l"/>
                      <a:r>
                        <a:rPr sz="1000" b="1" spc="100">
                          <a:solidFill>
                            <a:srgbClr val="FFFFFF"/>
                          </a:solidFill>
                          <a:latin typeface="Arial"/>
                        </a:rPr>
                        <a:t>DESVÍO</a:t>
                      </a:r>
                    </a:p>
                  </a:txBody>
                  <a:tcPr marL="137160" marR="91440" marT="27432" marB="27432" anchor="ctr">
                    <a:solidFill>
                      <a:srgbClr val="1A1A1A"/>
                    </a:solidFill>
                  </a:tcPr>
                </a:tc>
                <a:tc>
                  <a:txBody>
                    <a:bodyPr wrap="square"/>
                    <a:lstStyle/>
                    <a:p>
                      <a:pPr algn="l"/>
                      <a:r>
                        <a:rPr sz="1000" b="1" spc="100">
                          <a:solidFill>
                            <a:srgbClr val="FFFFFF"/>
                          </a:solidFill>
                          <a:latin typeface="Arial"/>
                        </a:rPr>
                        <a:t>ESTADO</a:t>
                      </a:r>
                    </a:p>
                  </a:txBody>
                  <a:tcPr marL="137160" marR="91440" marT="27432" marB="27432" anchor="ctr">
                    <a:solidFill>
                      <a:srgbClr val="1A1A1A"/>
                    </a:solidFill>
                  </a:tcPr>
                </a:tc>
              </a:tr>
              <a:tr h="548640">
                <a:tc>
                  <a:txBody>
                    <a:bodyPr wrap="square"/>
                    <a:lstStyle/>
                    <a:p>
                      <a:pPr algn="l"/>
                      <a:r>
                        <a:rPr sz="1400" b="1">
                          <a:solidFill>
                            <a:srgbClr val="555555"/>
                          </a:solidFill>
                          <a:latin typeface="Courier New"/>
                        </a:rPr>
                        <a:t>EWP-12-C01</a:t>
                      </a:r>
                    </a:p>
                  </a:txBody>
                  <a:tcPr marL="137160" marR="91440" marT="27432" marB="27432" anchor="ctr">
                    <a:solidFill>
                      <a:srgbClr val="FFFFFF"/>
                    </a:solidFill>
                  </a:tcPr>
                </a:tc>
                <a:tc>
                  <a:txBody>
                    <a:bodyPr wrap="square"/>
                    <a:lstStyle/>
                    <a:p>
                      <a:pPr algn="l"/>
                      <a:r>
                        <a:rPr sz="1400" b="0">
                          <a:solidFill>
                            <a:srgbClr val="2E2E2E"/>
                          </a:solidFill>
                          <a:latin typeface="Arial"/>
                        </a:rPr>
                        <a:t>15-feb</a:t>
                      </a:r>
                    </a:p>
                  </a:txBody>
                  <a:tcPr marL="137160" marR="91440" marT="27432" marB="27432" anchor="ctr">
                    <a:solidFill>
                      <a:srgbClr val="FFFFFF"/>
                    </a:solidFill>
                  </a:tcPr>
                </a:tc>
                <a:tc>
                  <a:txBody>
                    <a:bodyPr wrap="square"/>
                    <a:lstStyle/>
                    <a:p>
                      <a:pPr algn="l"/>
                      <a:r>
                        <a:rPr sz="1400" b="0">
                          <a:solidFill>
                            <a:srgbClr val="2E2E2E"/>
                          </a:solidFill>
                          <a:latin typeface="Arial"/>
                        </a:rPr>
                        <a:t>14-feb</a:t>
                      </a:r>
                    </a:p>
                  </a:txBody>
                  <a:tcPr marL="137160" marR="91440" marT="27432" marB="27432" anchor="ctr">
                    <a:solidFill>
                      <a:srgbClr val="FFFFFF"/>
                    </a:solidFill>
                  </a:tcPr>
                </a:tc>
                <a:tc>
                  <a:txBody>
                    <a:bodyPr wrap="square"/>
                    <a:lstStyle/>
                    <a:p>
                      <a:pPr algn="l"/>
                      <a:r>
                        <a:rPr sz="1400" b="1">
                          <a:solidFill>
                            <a:srgbClr val="555555"/>
                          </a:solidFill>
                          <a:latin typeface="Courier New"/>
                        </a:rPr>
                        <a:t>−1 d</a:t>
                      </a:r>
                    </a:p>
                  </a:txBody>
                  <a:tcPr marL="137160" marR="91440" marT="27432" marB="27432" anchor="ctr">
                    <a:solidFill>
                      <a:srgbClr val="FFFFFF"/>
                    </a:solidFill>
                  </a:tcPr>
                </a:tc>
                <a:tc>
                  <a:txBody>
                    <a:bodyPr wrap="square"/>
                    <a:lstStyle/>
                    <a:p>
                      <a:pPr algn="l"/>
                      <a:r>
                        <a:rPr sz="1400" b="0">
                          <a:solidFill>
                            <a:srgbClr val="2E2E2E"/>
                          </a:solidFill>
                          <a:latin typeface="Arial"/>
                        </a:rPr>
                        <a:t>A tiempo</a:t>
                      </a:r>
                    </a:p>
                  </a:txBody>
                  <a:tcPr marL="137160" marR="91440" marT="27432" marB="27432" anchor="ctr">
                    <a:solidFill>
                      <a:srgbClr val="FFFFFF"/>
                    </a:solidFill>
                  </a:tcPr>
                </a:tc>
              </a:tr>
              <a:tr h="548640">
                <a:tc>
                  <a:txBody>
                    <a:bodyPr wrap="square"/>
                    <a:lstStyle/>
                    <a:p>
                      <a:pPr algn="l"/>
                      <a:r>
                        <a:rPr sz="1400" b="1">
                          <a:solidFill>
                            <a:srgbClr val="FF6600"/>
                          </a:solidFill>
                          <a:latin typeface="Courier New"/>
                        </a:rPr>
                        <a:t>EWP-12-S02</a:t>
                      </a:r>
                    </a:p>
                  </a:txBody>
                  <a:tcPr marL="137160" marR="91440" marT="27432" marB="27432" anchor="ctr">
                    <a:solidFill>
                      <a:srgbClr val="FFE3CF"/>
                    </a:solidFill>
                  </a:tcPr>
                </a:tc>
                <a:tc>
                  <a:txBody>
                    <a:bodyPr wrap="square"/>
                    <a:lstStyle/>
                    <a:p>
                      <a:pPr algn="l"/>
                      <a:r>
                        <a:rPr sz="1400" b="1">
                          <a:solidFill>
                            <a:srgbClr val="2E2E2E"/>
                          </a:solidFill>
                          <a:latin typeface="Arial"/>
                        </a:rPr>
                        <a:t>01-mar</a:t>
                      </a:r>
                    </a:p>
                  </a:txBody>
                  <a:tcPr marL="137160" marR="91440" marT="27432" marB="27432" anchor="ctr">
                    <a:solidFill>
                      <a:srgbClr val="FFE3CF"/>
                    </a:solidFill>
                  </a:tcPr>
                </a:tc>
                <a:tc>
                  <a:txBody>
                    <a:bodyPr wrap="square"/>
                    <a:lstStyle/>
                    <a:p>
                      <a:pPr algn="l"/>
                      <a:r>
                        <a:rPr sz="1400" b="0">
                          <a:solidFill>
                            <a:srgbClr val="2E2E2E"/>
                          </a:solidFill>
                          <a:latin typeface="Arial"/>
                        </a:rPr>
                        <a:t>08-mar</a:t>
                      </a:r>
                    </a:p>
                  </a:txBody>
                  <a:tcPr marL="137160" marR="91440" marT="27432" marB="27432" anchor="ctr">
                    <a:solidFill>
                      <a:srgbClr val="FFE3CF"/>
                    </a:solidFill>
                  </a:tcPr>
                </a:tc>
                <a:tc>
                  <a:txBody>
                    <a:bodyPr wrap="square"/>
                    <a:lstStyle/>
                    <a:p>
                      <a:pPr algn="l"/>
                      <a:r>
                        <a:rPr sz="1400" b="1">
                          <a:solidFill>
                            <a:srgbClr val="FF6600"/>
                          </a:solidFill>
                          <a:latin typeface="Courier New"/>
                        </a:rPr>
                        <a:t>+7 d</a:t>
                      </a:r>
                    </a:p>
                  </a:txBody>
                  <a:tcPr marL="137160" marR="91440" marT="27432" marB="27432" anchor="ctr">
                    <a:solidFill>
                      <a:srgbClr val="FFE3CF"/>
                    </a:solidFill>
                  </a:tcPr>
                </a:tc>
                <a:tc>
                  <a:txBody>
                    <a:bodyPr wrap="square"/>
                    <a:lstStyle/>
                    <a:p>
                      <a:pPr algn="l"/>
                      <a:r>
                        <a:rPr sz="1400" b="0">
                          <a:solidFill>
                            <a:srgbClr val="2E2E2E"/>
                          </a:solidFill>
                          <a:latin typeface="Arial"/>
                        </a:rPr>
                        <a:t>Atrasado</a:t>
                      </a:r>
                    </a:p>
                  </a:txBody>
                  <a:tcPr marL="137160" marR="91440" marT="27432" marB="27432" anchor="ctr">
                    <a:solidFill>
                      <a:srgbClr val="FFE3CF"/>
                    </a:solidFill>
                  </a:tcPr>
                </a:tc>
              </a:tr>
              <a:tr h="548640">
                <a:tc>
                  <a:txBody>
                    <a:bodyPr wrap="square"/>
                    <a:lstStyle/>
                    <a:p>
                      <a:pPr algn="l"/>
                      <a:r>
                        <a:rPr sz="1400" b="1">
                          <a:solidFill>
                            <a:srgbClr val="555555"/>
                          </a:solidFill>
                          <a:latin typeface="Courier New"/>
                        </a:rPr>
                        <a:t>EWP-13-P03</a:t>
                      </a:r>
                    </a:p>
                  </a:txBody>
                  <a:tcPr marL="137160" marR="91440" marT="27432" marB="27432" anchor="ctr">
                    <a:solidFill>
                      <a:srgbClr val="FFFFFF"/>
                    </a:solidFill>
                  </a:tcPr>
                </a:tc>
                <a:tc>
                  <a:txBody>
                    <a:bodyPr wrap="square"/>
                    <a:lstStyle/>
                    <a:p>
                      <a:pPr algn="l"/>
                      <a:r>
                        <a:rPr sz="1400" b="0">
                          <a:solidFill>
                            <a:srgbClr val="2E2E2E"/>
                          </a:solidFill>
                          <a:latin typeface="Arial"/>
                        </a:rPr>
                        <a:t>20-mar</a:t>
                      </a:r>
                    </a:p>
                  </a:txBody>
                  <a:tcPr marL="137160" marR="91440" marT="27432" marB="27432" anchor="ctr">
                    <a:solidFill>
                      <a:srgbClr val="FFFFFF"/>
                    </a:solidFill>
                  </a:tcPr>
                </a:tc>
                <a:tc>
                  <a:txBody>
                    <a:bodyPr wrap="square"/>
                    <a:lstStyle/>
                    <a:p>
                      <a:pPr algn="l"/>
                      <a:r>
                        <a:rPr sz="1400" b="0">
                          <a:solidFill>
                            <a:srgbClr val="2E2E2E"/>
                          </a:solidFill>
                          <a:latin typeface="Arial"/>
                        </a:rPr>
                        <a:t>20-mar</a:t>
                      </a:r>
                    </a:p>
                  </a:txBody>
                  <a:tcPr marL="137160" marR="91440" marT="27432" marB="27432" anchor="ctr">
                    <a:solidFill>
                      <a:srgbClr val="FFFFFF"/>
                    </a:solidFill>
                  </a:tcPr>
                </a:tc>
                <a:tc>
                  <a:txBody>
                    <a:bodyPr wrap="square"/>
                    <a:lstStyle/>
                    <a:p>
                      <a:pPr algn="l"/>
                      <a:r>
                        <a:rPr sz="1400" b="1">
                          <a:solidFill>
                            <a:srgbClr val="555555"/>
                          </a:solidFill>
                          <a:latin typeface="Courier New"/>
                        </a:rPr>
                        <a:t>0 d</a:t>
                      </a:r>
                    </a:p>
                  </a:txBody>
                  <a:tcPr marL="137160" marR="91440" marT="27432" marB="27432" anchor="ctr">
                    <a:solidFill>
                      <a:srgbClr val="FFFFFF"/>
                    </a:solidFill>
                  </a:tcPr>
                </a:tc>
                <a:tc>
                  <a:txBody>
                    <a:bodyPr wrap="square"/>
                    <a:lstStyle/>
                    <a:p>
                      <a:pPr algn="l"/>
                      <a:r>
                        <a:rPr sz="1400" b="0">
                          <a:solidFill>
                            <a:srgbClr val="2E2E2E"/>
                          </a:solidFill>
                          <a:latin typeface="Arial"/>
                        </a:rPr>
                        <a:t>A tiempo</a:t>
                      </a:r>
                    </a:p>
                  </a:txBody>
                  <a:tcPr marL="137160" marR="91440" marT="27432" marB="27432" anchor="ctr">
                    <a:solidFill>
                      <a:srgbClr val="FFFFFF"/>
                    </a:solidFill>
                  </a:tcPr>
                </a:tc>
              </a:tr>
              <a:tr h="548640">
                <a:tc>
                  <a:txBody>
                    <a:bodyPr wrap="square"/>
                    <a:lstStyle/>
                    <a:p>
                      <a:pPr algn="l"/>
                      <a:r>
                        <a:rPr sz="1400" b="1">
                          <a:solidFill>
                            <a:srgbClr val="555555"/>
                          </a:solidFill>
                          <a:latin typeface="Courier New"/>
                        </a:rPr>
                        <a:t>CWP-12-C01</a:t>
                      </a:r>
                    </a:p>
                  </a:txBody>
                  <a:tcPr marL="137160" marR="91440" marT="27432" marB="27432" anchor="ctr">
                    <a:solidFill>
                      <a:srgbClr val="F7F7F7"/>
                    </a:solidFill>
                  </a:tcPr>
                </a:tc>
                <a:tc>
                  <a:txBody>
                    <a:bodyPr wrap="square"/>
                    <a:lstStyle/>
                    <a:p>
                      <a:pPr algn="l"/>
                      <a:r>
                        <a:rPr sz="1400" b="0">
                          <a:solidFill>
                            <a:srgbClr val="2E2E2E"/>
                          </a:solidFill>
                          <a:latin typeface="Arial"/>
                        </a:rPr>
                        <a:t>01-mar</a:t>
                      </a:r>
                    </a:p>
                  </a:txBody>
                  <a:tcPr marL="137160" marR="91440" marT="27432" marB="27432" anchor="ctr">
                    <a:solidFill>
                      <a:srgbClr val="F7F7F7"/>
                    </a:solidFill>
                  </a:tcPr>
                </a:tc>
                <a:tc>
                  <a:txBody>
                    <a:bodyPr wrap="square"/>
                    <a:lstStyle/>
                    <a:p>
                      <a:pPr algn="l"/>
                      <a:r>
                        <a:rPr sz="1400" b="0">
                          <a:solidFill>
                            <a:srgbClr val="2E2E2E"/>
                          </a:solidFill>
                          <a:latin typeface="Arial"/>
                        </a:rPr>
                        <a:t>28-feb</a:t>
                      </a:r>
                    </a:p>
                  </a:txBody>
                  <a:tcPr marL="137160" marR="91440" marT="27432" marB="27432" anchor="ctr">
                    <a:solidFill>
                      <a:srgbClr val="F7F7F7"/>
                    </a:solidFill>
                  </a:tcPr>
                </a:tc>
                <a:tc>
                  <a:txBody>
                    <a:bodyPr wrap="square"/>
                    <a:lstStyle/>
                    <a:p>
                      <a:pPr algn="l"/>
                      <a:r>
                        <a:rPr sz="1400" b="1">
                          <a:solidFill>
                            <a:srgbClr val="555555"/>
                          </a:solidFill>
                          <a:latin typeface="Courier New"/>
                        </a:rPr>
                        <a:t>−1 d</a:t>
                      </a:r>
                    </a:p>
                  </a:txBody>
                  <a:tcPr marL="137160" marR="91440" marT="27432" marB="27432" anchor="ctr">
                    <a:solidFill>
                      <a:srgbClr val="F7F7F7"/>
                    </a:solidFill>
                  </a:tcPr>
                </a:tc>
                <a:tc>
                  <a:txBody>
                    <a:bodyPr wrap="square"/>
                    <a:lstStyle/>
                    <a:p>
                      <a:pPr algn="l"/>
                      <a:r>
                        <a:rPr sz="1400" b="0">
                          <a:solidFill>
                            <a:srgbClr val="2E2E2E"/>
                          </a:solidFill>
                          <a:latin typeface="Arial"/>
                        </a:rPr>
                        <a:t>A tiempo</a:t>
                      </a:r>
                    </a:p>
                  </a:txBody>
                  <a:tcPr marL="137160" marR="91440" marT="27432" marB="27432" anchor="ctr">
                    <a:solidFill>
                      <a:srgbClr val="F7F7F7"/>
                    </a:solidFill>
                  </a:tcPr>
                </a:tc>
              </a:tr>
              <a:tr h="548640">
                <a:tc>
                  <a:txBody>
                    <a:bodyPr wrap="square"/>
                    <a:lstStyle/>
                    <a:p>
                      <a:pPr algn="l"/>
                      <a:r>
                        <a:rPr sz="1400" b="1">
                          <a:solidFill>
                            <a:srgbClr val="FF6600"/>
                          </a:solidFill>
                          <a:latin typeface="Courier New"/>
                        </a:rPr>
                        <a:t>CWP-12-S02</a:t>
                      </a:r>
                    </a:p>
                  </a:txBody>
                  <a:tcPr marL="137160" marR="91440" marT="27432" marB="27432" anchor="ctr">
                    <a:solidFill>
                      <a:srgbClr val="FFE3CF"/>
                    </a:solidFill>
                  </a:tcPr>
                </a:tc>
                <a:tc>
                  <a:txBody>
                    <a:bodyPr wrap="square"/>
                    <a:lstStyle/>
                    <a:p>
                      <a:pPr algn="l"/>
                      <a:r>
                        <a:rPr sz="1400" b="1">
                          <a:solidFill>
                            <a:srgbClr val="2E2E2E"/>
                          </a:solidFill>
                          <a:latin typeface="Arial"/>
                        </a:rPr>
                        <a:t>15-mar</a:t>
                      </a:r>
                    </a:p>
                  </a:txBody>
                  <a:tcPr marL="137160" marR="91440" marT="27432" marB="27432" anchor="ctr">
                    <a:solidFill>
                      <a:srgbClr val="FFE3CF"/>
                    </a:solidFill>
                  </a:tcPr>
                </a:tc>
                <a:tc>
                  <a:txBody>
                    <a:bodyPr wrap="square"/>
                    <a:lstStyle/>
                    <a:p>
                      <a:pPr algn="l"/>
                      <a:r>
                        <a:rPr sz="1400" b="0">
                          <a:solidFill>
                            <a:srgbClr val="2E2E2E"/>
                          </a:solidFill>
                          <a:latin typeface="Arial"/>
                        </a:rPr>
                        <a:t>29-mar</a:t>
                      </a:r>
                    </a:p>
                  </a:txBody>
                  <a:tcPr marL="137160" marR="91440" marT="27432" marB="27432" anchor="ctr">
                    <a:solidFill>
                      <a:srgbClr val="FFE3CF"/>
                    </a:solidFill>
                  </a:tcPr>
                </a:tc>
                <a:tc>
                  <a:txBody>
                    <a:bodyPr wrap="square"/>
                    <a:lstStyle/>
                    <a:p>
                      <a:pPr algn="l"/>
                      <a:r>
                        <a:rPr sz="1400" b="1">
                          <a:solidFill>
                            <a:srgbClr val="FF6600"/>
                          </a:solidFill>
                          <a:latin typeface="Courier New"/>
                        </a:rPr>
                        <a:t>+14 d</a:t>
                      </a:r>
                    </a:p>
                  </a:txBody>
                  <a:tcPr marL="137160" marR="91440" marT="27432" marB="27432" anchor="ctr">
                    <a:solidFill>
                      <a:srgbClr val="FFE3CF"/>
                    </a:solidFill>
                  </a:tcPr>
                </a:tc>
                <a:tc>
                  <a:txBody>
                    <a:bodyPr wrap="square"/>
                    <a:lstStyle/>
                    <a:p>
                      <a:pPr algn="l"/>
                      <a:r>
                        <a:rPr sz="1400" b="0">
                          <a:solidFill>
                            <a:srgbClr val="2E2E2E"/>
                          </a:solidFill>
                          <a:latin typeface="Arial"/>
                        </a:rPr>
                        <a:t>Atrasado</a:t>
                      </a:r>
                    </a:p>
                  </a:txBody>
                  <a:tcPr marL="137160" marR="91440" marT="27432" marB="27432" anchor="ctr">
                    <a:solidFill>
                      <a:srgbClr val="FFE3CF"/>
                    </a:solidFill>
                  </a:tcPr>
                </a:tc>
              </a:tr>
            </a:tbl>
          </a:graphicData>
        </a:graphic>
      </p:graphicFrame>
      <p:pic>
        <p:nvPicPr>
          <p:cNvPr id="8" name="Picture 7" descr="warning_o.png"/>
          <p:cNvPicPr>
            <a:picLocks noChangeAspect="1"/>
          </p:cNvPicPr>
          <p:nvPr/>
        </p:nvPicPr>
        <p:blipFill>
          <a:blip r:embed="rId2"/>
          <a:stretch>
            <a:fillRect/>
          </a:stretch>
        </p:blipFill>
        <p:spPr>
          <a:xfrm>
            <a:off x="563727" y="5266944"/>
            <a:ext cx="292608" cy="292608"/>
          </a:xfrm>
          <a:prstGeom prst="rect">
            <a:avLst/>
          </a:prstGeom>
        </p:spPr>
      </p:pic>
      <p:sp>
        <p:nvSpPr>
          <p:cNvPr id="9" name="TextBox 8"/>
          <p:cNvSpPr txBox="1"/>
          <p:nvPr/>
        </p:nvSpPr>
        <p:spPr>
          <a:xfrm>
            <a:off x="1020927" y="5230368"/>
            <a:ext cx="10607040" cy="384048"/>
          </a:xfrm>
          <a:prstGeom prst="rect">
            <a:avLst/>
          </a:prstGeom>
          <a:noFill/>
        </p:spPr>
        <p:txBody>
          <a:bodyPr wrap="square" lIns="0" rIns="0" tIns="0" bIns="0" anchor="ctr">
            <a:spAutoFit/>
          </a:bodyPr>
          <a:lstStyle/>
          <a:p>
            <a:pPr algn="l"/>
            <a:r>
              <a:rPr sz="1200" b="0" i="0">
                <a:solidFill>
                  <a:srgbClr val="2E2E2E"/>
                </a:solidFill>
                <a:latin typeface="Arial"/>
              </a:rPr>
              <a:t>Ejemplo ilustrativo: los 7 días de atraso del EWP se convierten en 14 días de atraso en su CWP.</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10 · KPI DE CAMPO</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En campo, mida IWP listos, restricciones cerradas y plan cumplido</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M10 · MEDICIÓN: KPIs, CONTROLES Y PRODUCTIVIDAD</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099</a:t>
            </a:r>
          </a:p>
        </p:txBody>
      </p:sp>
      <p:sp>
        <p:nvSpPr>
          <p:cNvPr id="7" name="Rectangle 6"/>
          <p:cNvSpPr/>
          <p:nvPr/>
        </p:nvSpPr>
        <p:spPr>
          <a:xfrm>
            <a:off x="548640" y="1828800"/>
            <a:ext cx="3527450" cy="2043684"/>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lipcheck_o.png"/>
          <p:cNvPicPr>
            <a:picLocks noChangeAspect="1"/>
          </p:cNvPicPr>
          <p:nvPr/>
        </p:nvPicPr>
        <p:blipFill>
          <a:blip r:embed="rId2"/>
          <a:stretch>
            <a:fillRect/>
          </a:stretch>
        </p:blipFill>
        <p:spPr>
          <a:xfrm>
            <a:off x="822959" y="2084832"/>
            <a:ext cx="457200" cy="457200"/>
          </a:xfrm>
          <a:prstGeom prst="rect">
            <a:avLst/>
          </a:prstGeom>
        </p:spPr>
      </p:pic>
      <p:sp>
        <p:nvSpPr>
          <p:cNvPr id="9" name="TextBox 8"/>
          <p:cNvSpPr txBox="1"/>
          <p:nvPr/>
        </p:nvSpPr>
        <p:spPr>
          <a:xfrm>
            <a:off x="822959" y="2706624"/>
            <a:ext cx="3024530"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IWP listos frente al total</a:t>
            </a:r>
          </a:p>
        </p:txBody>
      </p:sp>
      <p:sp>
        <p:nvSpPr>
          <p:cNvPr id="10" name="TextBox 9"/>
          <p:cNvSpPr txBox="1"/>
          <p:nvPr/>
        </p:nvSpPr>
        <p:spPr>
          <a:xfrm>
            <a:off x="822959" y="3328416"/>
            <a:ext cx="3024530" cy="406907"/>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Cuántos paquetes están libres de restricciones</a:t>
            </a:r>
          </a:p>
        </p:txBody>
      </p:sp>
      <p:sp>
        <p:nvSpPr>
          <p:cNvPr id="11" name="Rectangle 10"/>
          <p:cNvSpPr/>
          <p:nvPr/>
        </p:nvSpPr>
        <p:spPr>
          <a:xfrm>
            <a:off x="4332122" y="1828800"/>
            <a:ext cx="3527450" cy="2043684"/>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unlock_o.png"/>
          <p:cNvPicPr>
            <a:picLocks noChangeAspect="1"/>
          </p:cNvPicPr>
          <p:nvPr/>
        </p:nvPicPr>
        <p:blipFill>
          <a:blip r:embed="rId3"/>
          <a:stretch>
            <a:fillRect/>
          </a:stretch>
        </p:blipFill>
        <p:spPr>
          <a:xfrm>
            <a:off x="4606442" y="2084832"/>
            <a:ext cx="457200" cy="457200"/>
          </a:xfrm>
          <a:prstGeom prst="rect">
            <a:avLst/>
          </a:prstGeom>
        </p:spPr>
      </p:pic>
      <p:sp>
        <p:nvSpPr>
          <p:cNvPr id="13" name="TextBox 12"/>
          <p:cNvSpPr txBox="1"/>
          <p:nvPr/>
        </p:nvSpPr>
        <p:spPr>
          <a:xfrm>
            <a:off x="4606442" y="2706624"/>
            <a:ext cx="3024530"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Cierre de restricciones</a:t>
            </a:r>
          </a:p>
        </p:txBody>
      </p:sp>
      <p:sp>
        <p:nvSpPr>
          <p:cNvPr id="14" name="TextBox 13"/>
          <p:cNvSpPr txBox="1"/>
          <p:nvPr/>
        </p:nvSpPr>
        <p:spPr>
          <a:xfrm>
            <a:off x="4606442" y="3328416"/>
            <a:ext cx="3024530" cy="406907"/>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Tasa de cierre y restricciones vencidas</a:t>
            </a:r>
          </a:p>
        </p:txBody>
      </p:sp>
      <p:sp>
        <p:nvSpPr>
          <p:cNvPr id="15" name="Rectangle 14"/>
          <p:cNvSpPr/>
          <p:nvPr/>
        </p:nvSpPr>
        <p:spPr>
          <a:xfrm>
            <a:off x="8115604" y="1828800"/>
            <a:ext cx="3527450" cy="2043684"/>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hourglass_o.png"/>
          <p:cNvPicPr>
            <a:picLocks noChangeAspect="1"/>
          </p:cNvPicPr>
          <p:nvPr/>
        </p:nvPicPr>
        <p:blipFill>
          <a:blip r:embed="rId4"/>
          <a:stretch>
            <a:fillRect/>
          </a:stretch>
        </p:blipFill>
        <p:spPr>
          <a:xfrm>
            <a:off x="8389924" y="2084832"/>
            <a:ext cx="457200" cy="457200"/>
          </a:xfrm>
          <a:prstGeom prst="rect">
            <a:avLst/>
          </a:prstGeom>
        </p:spPr>
      </p:pic>
      <p:sp>
        <p:nvSpPr>
          <p:cNvPr id="17" name="TextBox 16"/>
          <p:cNvSpPr txBox="1"/>
          <p:nvPr/>
        </p:nvSpPr>
        <p:spPr>
          <a:xfrm>
            <a:off x="8389924" y="2706624"/>
            <a:ext cx="3024530"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Días de backlog</a:t>
            </a:r>
          </a:p>
        </p:txBody>
      </p:sp>
      <p:sp>
        <p:nvSpPr>
          <p:cNvPr id="18" name="TextBox 17"/>
          <p:cNvSpPr txBox="1"/>
          <p:nvPr/>
        </p:nvSpPr>
        <p:spPr>
          <a:xfrm>
            <a:off x="8389924" y="3328416"/>
            <a:ext cx="3024530" cy="406907"/>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Horas libres ÷ horas ganadas por día</a:t>
            </a:r>
          </a:p>
        </p:txBody>
      </p:sp>
      <p:sp>
        <p:nvSpPr>
          <p:cNvPr id="19" name="Rectangle 18"/>
          <p:cNvSpPr/>
          <p:nvPr/>
        </p:nvSpPr>
        <p:spPr>
          <a:xfrm>
            <a:off x="548640" y="4128515"/>
            <a:ext cx="3527450" cy="2043684"/>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alendar_o.png"/>
          <p:cNvPicPr>
            <a:picLocks noChangeAspect="1"/>
          </p:cNvPicPr>
          <p:nvPr/>
        </p:nvPicPr>
        <p:blipFill>
          <a:blip r:embed="rId5"/>
          <a:stretch>
            <a:fillRect/>
          </a:stretch>
        </p:blipFill>
        <p:spPr>
          <a:xfrm>
            <a:off x="822959" y="4384548"/>
            <a:ext cx="457200" cy="457200"/>
          </a:xfrm>
          <a:prstGeom prst="rect">
            <a:avLst/>
          </a:prstGeom>
        </p:spPr>
      </p:pic>
      <p:sp>
        <p:nvSpPr>
          <p:cNvPr id="21" name="TextBox 20"/>
          <p:cNvSpPr txBox="1"/>
          <p:nvPr/>
        </p:nvSpPr>
        <p:spPr>
          <a:xfrm>
            <a:off x="822959" y="5006340"/>
            <a:ext cx="3024530"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IWP completados a tiempo</a:t>
            </a:r>
          </a:p>
        </p:txBody>
      </p:sp>
      <p:sp>
        <p:nvSpPr>
          <p:cNvPr id="22" name="TextBox 21"/>
          <p:cNvSpPr txBox="1"/>
          <p:nvPr/>
        </p:nvSpPr>
        <p:spPr>
          <a:xfrm>
            <a:off x="822959" y="5628131"/>
            <a:ext cx="3024530" cy="406908"/>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Dentro de su ventana de ejecución</a:t>
            </a:r>
          </a:p>
        </p:txBody>
      </p:sp>
      <p:sp>
        <p:nvSpPr>
          <p:cNvPr id="23" name="Rectangle 22"/>
          <p:cNvSpPr/>
          <p:nvPr/>
        </p:nvSpPr>
        <p:spPr>
          <a:xfrm>
            <a:off x="4332122" y="4128515"/>
            <a:ext cx="3527450" cy="2043684"/>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percent_o.png"/>
          <p:cNvPicPr>
            <a:picLocks noChangeAspect="1"/>
          </p:cNvPicPr>
          <p:nvPr/>
        </p:nvPicPr>
        <p:blipFill>
          <a:blip r:embed="rId6"/>
          <a:stretch>
            <a:fillRect/>
          </a:stretch>
        </p:blipFill>
        <p:spPr>
          <a:xfrm>
            <a:off x="4606442" y="4384548"/>
            <a:ext cx="457200" cy="457200"/>
          </a:xfrm>
          <a:prstGeom prst="rect">
            <a:avLst/>
          </a:prstGeom>
        </p:spPr>
      </p:pic>
      <p:sp>
        <p:nvSpPr>
          <p:cNvPr id="25" name="TextBox 24"/>
          <p:cNvSpPr txBox="1"/>
          <p:nvPr/>
        </p:nvSpPr>
        <p:spPr>
          <a:xfrm>
            <a:off x="4606442" y="5006340"/>
            <a:ext cx="3024530"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Plan completado (PPC)</a:t>
            </a:r>
          </a:p>
        </p:txBody>
      </p:sp>
      <p:sp>
        <p:nvSpPr>
          <p:cNvPr id="26" name="TextBox 25"/>
          <p:cNvSpPr txBox="1"/>
          <p:nvPr/>
        </p:nvSpPr>
        <p:spPr>
          <a:xfrm>
            <a:off x="4606442" y="5628131"/>
            <a:ext cx="3024530" cy="406908"/>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Compromisos cumplidos en la semana</a:t>
            </a:r>
          </a:p>
        </p:txBody>
      </p:sp>
      <p:sp>
        <p:nvSpPr>
          <p:cNvPr id="27" name="Rectangle 26"/>
          <p:cNvSpPr/>
          <p:nvPr/>
        </p:nvSpPr>
        <p:spPr>
          <a:xfrm>
            <a:off x="8115604" y="4128515"/>
            <a:ext cx="3527450" cy="2043684"/>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gauge_o.png"/>
          <p:cNvPicPr>
            <a:picLocks noChangeAspect="1"/>
          </p:cNvPicPr>
          <p:nvPr/>
        </p:nvPicPr>
        <p:blipFill>
          <a:blip r:embed="rId7"/>
          <a:stretch>
            <a:fillRect/>
          </a:stretch>
        </p:blipFill>
        <p:spPr>
          <a:xfrm>
            <a:off x="8389924" y="4384548"/>
            <a:ext cx="457200" cy="457200"/>
          </a:xfrm>
          <a:prstGeom prst="rect">
            <a:avLst/>
          </a:prstGeom>
        </p:spPr>
      </p:pic>
      <p:sp>
        <p:nvSpPr>
          <p:cNvPr id="29" name="TextBox 28"/>
          <p:cNvSpPr txBox="1"/>
          <p:nvPr/>
        </p:nvSpPr>
        <p:spPr>
          <a:xfrm>
            <a:off x="8389924" y="5006340"/>
            <a:ext cx="3024530"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Productividad por disciplina</a:t>
            </a:r>
          </a:p>
        </p:txBody>
      </p:sp>
      <p:sp>
        <p:nvSpPr>
          <p:cNvPr id="30" name="TextBox 29"/>
          <p:cNvSpPr txBox="1"/>
          <p:nvPr/>
        </p:nvSpPr>
        <p:spPr>
          <a:xfrm>
            <a:off x="8389924" y="5628131"/>
            <a:ext cx="3024530" cy="406908"/>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Horas reales frente a valor ganado</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10 · VALOR PLANIFICADO</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El valor planificado se calcula por IWP con tasas estándar</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M10 · MEDICIÓN: KPIs, CONTROLES Y PRODUCTIVIDAD</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100</a:t>
            </a:r>
          </a:p>
        </p:txBody>
      </p:sp>
      <p:sp>
        <p:nvSpPr>
          <p:cNvPr id="7" name="Rectangle 6"/>
          <p:cNvSpPr/>
          <p:nvPr/>
        </p:nvSpPr>
        <p:spPr>
          <a:xfrm>
            <a:off x="548640" y="1874519"/>
            <a:ext cx="2567863"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1</a:t>
            </a:r>
          </a:p>
        </p:txBody>
      </p:sp>
      <p:pic>
        <p:nvPicPr>
          <p:cNvPr id="10" name="Picture 9" descr="calendar_o.png"/>
          <p:cNvPicPr>
            <a:picLocks noChangeAspect="1"/>
          </p:cNvPicPr>
          <p:nvPr/>
        </p:nvPicPr>
        <p:blipFill>
          <a:blip r:embed="rId2"/>
          <a:stretch>
            <a:fillRect/>
          </a:stretch>
        </p:blipFill>
        <p:spPr>
          <a:xfrm>
            <a:off x="2458135" y="2148839"/>
            <a:ext cx="420624" cy="420624"/>
          </a:xfrm>
          <a:prstGeom prst="rect">
            <a:avLst/>
          </a:prstGeom>
        </p:spPr>
      </p:pic>
      <p:sp>
        <p:nvSpPr>
          <p:cNvPr id="11" name="TextBox 10"/>
          <p:cNvSpPr txBox="1"/>
          <p:nvPr/>
        </p:nvSpPr>
        <p:spPr>
          <a:xfrm>
            <a:off x="777240"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Planificación por olas</a:t>
            </a:r>
          </a:p>
        </p:txBody>
      </p:sp>
      <p:sp>
        <p:nvSpPr>
          <p:cNvPr id="12" name="TextBox 11"/>
          <p:cNvSpPr txBox="1"/>
          <p:nvPr/>
        </p:nvSpPr>
        <p:spPr>
          <a:xfrm>
            <a:off x="777240" y="3429000"/>
            <a:ext cx="2156383"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CWP → IWP no antes de 3 meses de su ejecución</a:t>
            </a:r>
          </a:p>
        </p:txBody>
      </p:sp>
      <p:cxnSp>
        <p:nvCxnSpPr>
          <p:cNvPr id="13" name="Connector 12"/>
          <p:cNvCxnSpPr/>
          <p:nvPr/>
        </p:nvCxnSpPr>
        <p:spPr>
          <a:xfrm>
            <a:off x="3153079" y="3291839"/>
            <a:ext cx="201168"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3390823" y="1874519"/>
            <a:ext cx="2567863"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3619423"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619423"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2</a:t>
            </a:r>
          </a:p>
        </p:txBody>
      </p:sp>
      <p:pic>
        <p:nvPicPr>
          <p:cNvPr id="17" name="Picture 16" descr="calculator_o.png"/>
          <p:cNvPicPr>
            <a:picLocks noChangeAspect="1"/>
          </p:cNvPicPr>
          <p:nvPr/>
        </p:nvPicPr>
        <p:blipFill>
          <a:blip r:embed="rId3"/>
          <a:stretch>
            <a:fillRect/>
          </a:stretch>
        </p:blipFill>
        <p:spPr>
          <a:xfrm>
            <a:off x="5300319" y="2148839"/>
            <a:ext cx="420624" cy="420624"/>
          </a:xfrm>
          <a:prstGeom prst="rect">
            <a:avLst/>
          </a:prstGeom>
        </p:spPr>
      </p:pic>
      <p:sp>
        <p:nvSpPr>
          <p:cNvPr id="18" name="TextBox 17"/>
          <p:cNvSpPr txBox="1"/>
          <p:nvPr/>
        </p:nvSpPr>
        <p:spPr>
          <a:xfrm>
            <a:off x="3619423"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Valor planificado</a:t>
            </a:r>
          </a:p>
        </p:txBody>
      </p:sp>
      <p:sp>
        <p:nvSpPr>
          <p:cNvPr id="19" name="TextBox 18"/>
          <p:cNvSpPr txBox="1"/>
          <p:nvPr/>
        </p:nvSpPr>
        <p:spPr>
          <a:xfrm>
            <a:off x="3619423" y="3429000"/>
            <a:ext cx="2156383"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Cantidades IFC × tasas estándar de instalación</a:t>
            </a:r>
          </a:p>
        </p:txBody>
      </p:sp>
      <p:cxnSp>
        <p:nvCxnSpPr>
          <p:cNvPr id="20" name="Connector 19"/>
          <p:cNvCxnSpPr/>
          <p:nvPr/>
        </p:nvCxnSpPr>
        <p:spPr>
          <a:xfrm>
            <a:off x="5995263" y="3291839"/>
            <a:ext cx="201168"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233007" y="1874519"/>
            <a:ext cx="2567863"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6461607"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461607"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3</a:t>
            </a:r>
          </a:p>
        </p:txBody>
      </p:sp>
      <p:pic>
        <p:nvPicPr>
          <p:cNvPr id="24" name="Picture 23" descr="clock_o.png"/>
          <p:cNvPicPr>
            <a:picLocks noChangeAspect="1"/>
          </p:cNvPicPr>
          <p:nvPr/>
        </p:nvPicPr>
        <p:blipFill>
          <a:blip r:embed="rId4"/>
          <a:stretch>
            <a:fillRect/>
          </a:stretch>
        </p:blipFill>
        <p:spPr>
          <a:xfrm>
            <a:off x="8142503" y="2148839"/>
            <a:ext cx="420624" cy="420624"/>
          </a:xfrm>
          <a:prstGeom prst="rect">
            <a:avLst/>
          </a:prstGeom>
        </p:spPr>
      </p:pic>
      <p:sp>
        <p:nvSpPr>
          <p:cNvPr id="25" name="TextBox 24"/>
          <p:cNvSpPr txBox="1"/>
          <p:nvPr/>
        </p:nvSpPr>
        <p:spPr>
          <a:xfrm>
            <a:off x="6461607"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Horas por IWP</a:t>
            </a:r>
          </a:p>
        </p:txBody>
      </p:sp>
      <p:sp>
        <p:nvSpPr>
          <p:cNvPr id="26" name="TextBox 25"/>
          <p:cNvSpPr txBox="1"/>
          <p:nvPr/>
        </p:nvSpPr>
        <p:spPr>
          <a:xfrm>
            <a:off x="6461607" y="3429000"/>
            <a:ext cx="2156383"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Las hojas de tiempo usan el IWP como código de costo</a:t>
            </a:r>
          </a:p>
        </p:txBody>
      </p:sp>
      <p:cxnSp>
        <p:nvCxnSpPr>
          <p:cNvPr id="27" name="Connector 26"/>
          <p:cNvCxnSpPr/>
          <p:nvPr/>
        </p:nvCxnSpPr>
        <p:spPr>
          <a:xfrm>
            <a:off x="8837447" y="3291839"/>
            <a:ext cx="201168"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9075191" y="1874519"/>
            <a:ext cx="2567863"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9303791"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303791"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4</a:t>
            </a:r>
          </a:p>
        </p:txBody>
      </p:sp>
      <p:pic>
        <p:nvPicPr>
          <p:cNvPr id="31" name="Picture 30" descr="chart_o.png"/>
          <p:cNvPicPr>
            <a:picLocks noChangeAspect="1"/>
          </p:cNvPicPr>
          <p:nvPr/>
        </p:nvPicPr>
        <p:blipFill>
          <a:blip r:embed="rId5"/>
          <a:stretch>
            <a:fillRect/>
          </a:stretch>
        </p:blipFill>
        <p:spPr>
          <a:xfrm>
            <a:off x="10984687" y="2148839"/>
            <a:ext cx="420624" cy="420624"/>
          </a:xfrm>
          <a:prstGeom prst="rect">
            <a:avLst/>
          </a:prstGeom>
        </p:spPr>
      </p:pic>
      <p:sp>
        <p:nvSpPr>
          <p:cNvPr id="32" name="TextBox 31"/>
          <p:cNvSpPr txBox="1"/>
          <p:nvPr/>
        </p:nvSpPr>
        <p:spPr>
          <a:xfrm>
            <a:off x="9303791"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Avance físico</a:t>
            </a:r>
          </a:p>
        </p:txBody>
      </p:sp>
      <p:sp>
        <p:nvSpPr>
          <p:cNvPr id="33" name="TextBox 32"/>
          <p:cNvSpPr txBox="1"/>
          <p:nvPr/>
        </p:nvSpPr>
        <p:spPr>
          <a:xfrm>
            <a:off x="9303791" y="3429000"/>
            <a:ext cx="2156383"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El capataz registra los componentes instalados</a:t>
            </a:r>
          </a:p>
        </p:txBody>
      </p:sp>
      <p:sp>
        <p:nvSpPr>
          <p:cNvPr id="34" name="Rectangle 33"/>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flag_o.png"/>
          <p:cNvPicPr>
            <a:picLocks noChangeAspect="1"/>
          </p:cNvPicPr>
          <p:nvPr/>
        </p:nvPicPr>
        <p:blipFill>
          <a:blip r:embed="rId6"/>
          <a:stretch>
            <a:fillRect/>
          </a:stretch>
        </p:blipFill>
        <p:spPr>
          <a:xfrm>
            <a:off x="822959" y="5660136"/>
            <a:ext cx="365760" cy="365760"/>
          </a:xfrm>
          <a:prstGeom prst="rect">
            <a:avLst/>
          </a:prstGeom>
        </p:spPr>
      </p:pic>
      <p:sp>
        <p:nvSpPr>
          <p:cNvPr id="36" name="TextBox 35"/>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Regla: </a:t>
            </a:r>
            <a:r>
              <a:rPr sz="1400" b="0" i="0">
                <a:solidFill>
                  <a:srgbClr val="FFFFFF"/>
                </a:solidFill>
                <a:latin typeface="Arial"/>
              </a:rPr>
              <a:t>cantidad × tasa = horas; horas ÷ dotación = duración realista.</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10 · PRODUCTIVIDAD</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El tool time pasa de 37 % a 46 % con AWP</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M10 · MEDICIÓN: KPIs, CONTROLES Y PRODUCTIVIDAD</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101</a:t>
            </a:r>
          </a:p>
        </p:txBody>
      </p:sp>
      <p:sp>
        <p:nvSpPr>
          <p:cNvPr id="7" name="TextBox 6"/>
          <p:cNvSpPr txBox="1"/>
          <p:nvPr/>
        </p:nvSpPr>
        <p:spPr>
          <a:xfrm>
            <a:off x="548640" y="1828800"/>
            <a:ext cx="2926080" cy="1188720"/>
          </a:xfrm>
          <a:prstGeom prst="rect">
            <a:avLst/>
          </a:prstGeom>
          <a:noFill/>
        </p:spPr>
        <p:txBody>
          <a:bodyPr wrap="square" lIns="0" rIns="0" tIns="0" bIns="0" anchor="t">
            <a:spAutoFit/>
          </a:bodyPr>
          <a:lstStyle/>
          <a:p>
            <a:pPr algn="l"/>
            <a:r>
              <a:rPr sz="8000" b="1" i="0">
                <a:solidFill>
                  <a:srgbClr val="6D6E71"/>
                </a:solidFill>
                <a:latin typeface="Arial"/>
              </a:rPr>
              <a:t>37 %</a:t>
            </a:r>
          </a:p>
        </p:txBody>
      </p:sp>
      <p:sp>
        <p:nvSpPr>
          <p:cNvPr id="8" name="TextBox 7"/>
          <p:cNvSpPr txBox="1"/>
          <p:nvPr/>
        </p:nvSpPr>
        <p:spPr>
          <a:xfrm>
            <a:off x="548640" y="3063240"/>
            <a:ext cx="3108960" cy="548640"/>
          </a:xfrm>
          <a:prstGeom prst="rect">
            <a:avLst/>
          </a:prstGeom>
          <a:noFill/>
        </p:spPr>
        <p:txBody>
          <a:bodyPr wrap="square" lIns="0" rIns="0" tIns="0" bIns="0" anchor="t">
            <a:spAutoFit/>
          </a:bodyPr>
          <a:lstStyle/>
          <a:p>
            <a:pPr algn="l"/>
            <a:r>
              <a:rPr sz="1200" b="1" i="0">
                <a:solidFill>
                  <a:srgbClr val="1A1A1A"/>
                </a:solidFill>
                <a:latin typeface="Arial"/>
              </a:rPr>
              <a:t>Proyectos tradicionales</a:t>
            </a:r>
          </a:p>
          <a:p>
            <a:pPr algn="l"/>
            <a:r>
              <a:rPr sz="1200" b="0" i="0">
                <a:solidFill>
                  <a:srgbClr val="6D6E71"/>
                </a:solidFill>
                <a:latin typeface="Arial"/>
              </a:rPr>
              <a:t>3,7 h productivas por jornada de 10 h</a:t>
            </a:r>
          </a:p>
        </p:txBody>
      </p:sp>
      <p:cxnSp>
        <p:nvCxnSpPr>
          <p:cNvPr id="9" name="Connector 8"/>
          <p:cNvCxnSpPr/>
          <p:nvPr/>
        </p:nvCxnSpPr>
        <p:spPr>
          <a:xfrm>
            <a:off x="3611880" y="2487168"/>
            <a:ext cx="914400" cy="0"/>
          </a:xfrm>
          <a:prstGeom prst="line">
            <a:avLst/>
          </a:prstGeom>
          <a:ln w="381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754880" y="1828800"/>
            <a:ext cx="3108960" cy="1188720"/>
          </a:xfrm>
          <a:prstGeom prst="rect">
            <a:avLst/>
          </a:prstGeom>
          <a:noFill/>
        </p:spPr>
        <p:txBody>
          <a:bodyPr wrap="square" lIns="0" rIns="0" tIns="0" bIns="0" anchor="t">
            <a:spAutoFit/>
          </a:bodyPr>
          <a:lstStyle/>
          <a:p>
            <a:pPr algn="l"/>
            <a:r>
              <a:rPr sz="8000" b="1" i="0">
                <a:solidFill>
                  <a:srgbClr val="FF6600"/>
                </a:solidFill>
                <a:latin typeface="Arial"/>
              </a:rPr>
              <a:t>46 %</a:t>
            </a:r>
          </a:p>
        </p:txBody>
      </p:sp>
      <p:sp>
        <p:nvSpPr>
          <p:cNvPr id="11" name="TextBox 10"/>
          <p:cNvSpPr txBox="1"/>
          <p:nvPr/>
        </p:nvSpPr>
        <p:spPr>
          <a:xfrm>
            <a:off x="4754880" y="3063240"/>
            <a:ext cx="3108960" cy="548640"/>
          </a:xfrm>
          <a:prstGeom prst="rect">
            <a:avLst/>
          </a:prstGeom>
          <a:noFill/>
        </p:spPr>
        <p:txBody>
          <a:bodyPr wrap="square" lIns="0" rIns="0" tIns="0" bIns="0" anchor="t">
            <a:spAutoFit/>
          </a:bodyPr>
          <a:lstStyle/>
          <a:p>
            <a:pPr algn="l"/>
            <a:r>
              <a:rPr sz="1200" b="1" i="0">
                <a:solidFill>
                  <a:srgbClr val="1A1A1A"/>
                </a:solidFill>
                <a:latin typeface="Arial"/>
              </a:rPr>
              <a:t>Proyectos con AWP</a:t>
            </a:r>
          </a:p>
          <a:p>
            <a:pPr algn="l"/>
            <a:r>
              <a:rPr sz="1200" b="0" i="0">
                <a:solidFill>
                  <a:srgbClr val="6D6E71"/>
                </a:solidFill>
                <a:latin typeface="Arial"/>
              </a:rPr>
              <a:t>4,6 h productivas por jornada de 10 h</a:t>
            </a:r>
          </a:p>
        </p:txBody>
      </p:sp>
      <p:sp>
        <p:nvSpPr>
          <p:cNvPr id="12" name="TextBox 11"/>
          <p:cNvSpPr txBox="1"/>
          <p:nvPr/>
        </p:nvSpPr>
        <p:spPr>
          <a:xfrm>
            <a:off x="548640" y="3794759"/>
            <a:ext cx="5486400" cy="274320"/>
          </a:xfrm>
          <a:prstGeom prst="rect">
            <a:avLst/>
          </a:prstGeom>
          <a:noFill/>
        </p:spPr>
        <p:txBody>
          <a:bodyPr wrap="square" lIns="0" rIns="0" tIns="0" bIns="0" anchor="t">
            <a:spAutoFit/>
          </a:bodyPr>
          <a:lstStyle/>
          <a:p>
            <a:pPr algn="l"/>
            <a:r>
              <a:rPr sz="1000" b="1" i="0" spc="200">
                <a:solidFill>
                  <a:srgbClr val="6D6E71"/>
                </a:solidFill>
                <a:latin typeface="Arial"/>
              </a:rPr>
              <a:t>JORNADA DE 10 HORAS</a:t>
            </a:r>
          </a:p>
        </p:txBody>
      </p:sp>
      <p:sp>
        <p:nvSpPr>
          <p:cNvPr id="13" name="TextBox 12"/>
          <p:cNvSpPr txBox="1"/>
          <p:nvPr/>
        </p:nvSpPr>
        <p:spPr>
          <a:xfrm>
            <a:off x="548640" y="4160520"/>
            <a:ext cx="1188720" cy="457200"/>
          </a:xfrm>
          <a:prstGeom prst="rect">
            <a:avLst/>
          </a:prstGeom>
          <a:noFill/>
        </p:spPr>
        <p:txBody>
          <a:bodyPr wrap="square" lIns="0" rIns="0" tIns="0" bIns="0" anchor="ctr">
            <a:spAutoFit/>
          </a:bodyPr>
          <a:lstStyle/>
          <a:p>
            <a:pPr algn="l"/>
            <a:r>
              <a:rPr sz="1200" b="1" i="0">
                <a:solidFill>
                  <a:srgbClr val="1A1A1A"/>
                </a:solidFill>
                <a:latin typeface="Arial"/>
              </a:rPr>
              <a:t>Tradicional</a:t>
            </a:r>
          </a:p>
        </p:txBody>
      </p:sp>
      <p:sp>
        <p:nvSpPr>
          <p:cNvPr id="14" name="Rectangle 13"/>
          <p:cNvSpPr/>
          <p:nvPr/>
        </p:nvSpPr>
        <p:spPr>
          <a:xfrm>
            <a:off x="1828800" y="4160520"/>
            <a:ext cx="2706624" cy="457200"/>
          </a:xfrm>
          <a:prstGeom prst="rect">
            <a:avLst/>
          </a:prstGeom>
          <a:solidFill>
            <a:srgbClr val="6D6E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535424" y="4160520"/>
            <a:ext cx="4608576" cy="45720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965960" y="4160520"/>
            <a:ext cx="1828800" cy="457200"/>
          </a:xfrm>
          <a:prstGeom prst="rect">
            <a:avLst/>
          </a:prstGeom>
          <a:noFill/>
        </p:spPr>
        <p:txBody>
          <a:bodyPr wrap="square" lIns="0" rIns="0" tIns="0" bIns="0" anchor="ctr">
            <a:spAutoFit/>
          </a:bodyPr>
          <a:lstStyle/>
          <a:p>
            <a:pPr algn="l"/>
            <a:r>
              <a:rPr sz="1200" b="1" i="0">
                <a:solidFill>
                  <a:srgbClr val="FFFFFF"/>
                </a:solidFill>
                <a:latin typeface="Courier New"/>
              </a:rPr>
              <a:t>3,7 h</a:t>
            </a:r>
          </a:p>
        </p:txBody>
      </p:sp>
      <p:sp>
        <p:nvSpPr>
          <p:cNvPr id="17" name="TextBox 16"/>
          <p:cNvSpPr txBox="1"/>
          <p:nvPr/>
        </p:nvSpPr>
        <p:spPr>
          <a:xfrm>
            <a:off x="4672584" y="4160520"/>
            <a:ext cx="2743200" cy="457200"/>
          </a:xfrm>
          <a:prstGeom prst="rect">
            <a:avLst/>
          </a:prstGeom>
          <a:noFill/>
        </p:spPr>
        <p:txBody>
          <a:bodyPr wrap="square" lIns="0" rIns="0" tIns="0" bIns="0" anchor="ctr">
            <a:spAutoFit/>
          </a:bodyPr>
          <a:lstStyle/>
          <a:p>
            <a:pPr algn="l"/>
            <a:r>
              <a:rPr sz="1100" b="0" i="0">
                <a:solidFill>
                  <a:srgbClr val="6D6E71"/>
                </a:solidFill>
                <a:latin typeface="Arial"/>
              </a:rPr>
              <a:t>6,3 h sin herramientas</a:t>
            </a:r>
          </a:p>
        </p:txBody>
      </p:sp>
      <p:sp>
        <p:nvSpPr>
          <p:cNvPr id="18" name="TextBox 17"/>
          <p:cNvSpPr txBox="1"/>
          <p:nvPr/>
        </p:nvSpPr>
        <p:spPr>
          <a:xfrm>
            <a:off x="548640" y="4818888"/>
            <a:ext cx="1188720" cy="457200"/>
          </a:xfrm>
          <a:prstGeom prst="rect">
            <a:avLst/>
          </a:prstGeom>
          <a:noFill/>
        </p:spPr>
        <p:txBody>
          <a:bodyPr wrap="square" lIns="0" rIns="0" tIns="0" bIns="0" anchor="ctr">
            <a:spAutoFit/>
          </a:bodyPr>
          <a:lstStyle/>
          <a:p>
            <a:pPr algn="l"/>
            <a:r>
              <a:rPr sz="1200" b="1" i="0">
                <a:solidFill>
                  <a:srgbClr val="1A1A1A"/>
                </a:solidFill>
                <a:latin typeface="Arial"/>
              </a:rPr>
              <a:t>AWP</a:t>
            </a:r>
          </a:p>
        </p:txBody>
      </p:sp>
      <p:sp>
        <p:nvSpPr>
          <p:cNvPr id="19" name="Rectangle 18"/>
          <p:cNvSpPr/>
          <p:nvPr/>
        </p:nvSpPr>
        <p:spPr>
          <a:xfrm>
            <a:off x="1828800" y="4818888"/>
            <a:ext cx="3364992" cy="45720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5193792" y="4818888"/>
            <a:ext cx="3950208" cy="45720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965960" y="4818888"/>
            <a:ext cx="1828800" cy="457200"/>
          </a:xfrm>
          <a:prstGeom prst="rect">
            <a:avLst/>
          </a:prstGeom>
          <a:noFill/>
        </p:spPr>
        <p:txBody>
          <a:bodyPr wrap="square" lIns="0" rIns="0" tIns="0" bIns="0" anchor="ctr">
            <a:spAutoFit/>
          </a:bodyPr>
          <a:lstStyle/>
          <a:p>
            <a:pPr algn="l"/>
            <a:r>
              <a:rPr sz="1200" b="1" i="0">
                <a:solidFill>
                  <a:srgbClr val="FFFFFF"/>
                </a:solidFill>
                <a:latin typeface="Courier New"/>
              </a:rPr>
              <a:t>4,6 h</a:t>
            </a:r>
          </a:p>
        </p:txBody>
      </p:sp>
      <p:sp>
        <p:nvSpPr>
          <p:cNvPr id="22" name="TextBox 21"/>
          <p:cNvSpPr txBox="1"/>
          <p:nvPr/>
        </p:nvSpPr>
        <p:spPr>
          <a:xfrm>
            <a:off x="5330952" y="4818888"/>
            <a:ext cx="2743200" cy="457200"/>
          </a:xfrm>
          <a:prstGeom prst="rect">
            <a:avLst/>
          </a:prstGeom>
          <a:noFill/>
        </p:spPr>
        <p:txBody>
          <a:bodyPr wrap="square" lIns="0" rIns="0" tIns="0" bIns="0" anchor="ctr">
            <a:spAutoFit/>
          </a:bodyPr>
          <a:lstStyle/>
          <a:p>
            <a:pPr algn="l"/>
            <a:r>
              <a:rPr sz="1100" b="0" i="0">
                <a:solidFill>
                  <a:srgbClr val="6D6E71"/>
                </a:solidFill>
                <a:latin typeface="Arial"/>
              </a:rPr>
              <a:t>5,4 h sin herramientas</a:t>
            </a:r>
          </a:p>
        </p:txBody>
      </p:sp>
      <p:sp>
        <p:nvSpPr>
          <p:cNvPr id="23" name="Rectangle 22"/>
          <p:cNvSpPr/>
          <p:nvPr/>
        </p:nvSpPr>
        <p:spPr>
          <a:xfrm>
            <a:off x="9464040" y="1828800"/>
            <a:ext cx="2179015" cy="344728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wrench_o.png"/>
          <p:cNvPicPr>
            <a:picLocks noChangeAspect="1"/>
          </p:cNvPicPr>
          <p:nvPr/>
        </p:nvPicPr>
        <p:blipFill>
          <a:blip r:embed="rId2"/>
          <a:stretch>
            <a:fillRect/>
          </a:stretch>
        </p:blipFill>
        <p:spPr>
          <a:xfrm>
            <a:off x="9784080" y="2148840"/>
            <a:ext cx="457200" cy="457200"/>
          </a:xfrm>
          <a:prstGeom prst="rect">
            <a:avLst/>
          </a:prstGeom>
        </p:spPr>
      </p:pic>
      <p:sp>
        <p:nvSpPr>
          <p:cNvPr id="25" name="TextBox 24"/>
          <p:cNvSpPr txBox="1"/>
          <p:nvPr/>
        </p:nvSpPr>
        <p:spPr>
          <a:xfrm>
            <a:off x="9784080" y="2834640"/>
            <a:ext cx="1783080" cy="822960"/>
          </a:xfrm>
          <a:prstGeom prst="rect">
            <a:avLst/>
          </a:prstGeom>
          <a:noFill/>
        </p:spPr>
        <p:txBody>
          <a:bodyPr wrap="square" lIns="0" rIns="0" tIns="0" bIns="0" anchor="t">
            <a:spAutoFit/>
          </a:bodyPr>
          <a:lstStyle/>
          <a:p>
            <a:pPr algn="l"/>
            <a:r>
              <a:rPr sz="4000" b="1" i="0">
                <a:solidFill>
                  <a:srgbClr val="FF6600"/>
                </a:solidFill>
                <a:latin typeface="Arial"/>
              </a:rPr>
              <a:t>+25 %</a:t>
            </a:r>
          </a:p>
        </p:txBody>
      </p:sp>
      <p:sp>
        <p:nvSpPr>
          <p:cNvPr id="26" name="TextBox 25"/>
          <p:cNvSpPr txBox="1"/>
          <p:nvPr/>
        </p:nvSpPr>
        <p:spPr>
          <a:xfrm>
            <a:off x="9784080" y="3611880"/>
            <a:ext cx="1783080" cy="731520"/>
          </a:xfrm>
          <a:prstGeom prst="rect">
            <a:avLst/>
          </a:prstGeom>
          <a:noFill/>
        </p:spPr>
        <p:txBody>
          <a:bodyPr wrap="square" lIns="0" rIns="0" tIns="0" bIns="0" anchor="t">
            <a:spAutoFit/>
          </a:bodyPr>
          <a:lstStyle/>
          <a:p>
            <a:pPr algn="l">
              <a:lnSpc>
                <a:spcPct val="110000"/>
              </a:lnSpc>
            </a:pPr>
            <a:r>
              <a:rPr sz="1300" b="0" i="0">
                <a:solidFill>
                  <a:srgbClr val="FFFFFF"/>
                </a:solidFill>
                <a:latin typeface="Arial"/>
              </a:rPr>
              <a:t>de productividad en campo (CII)</a:t>
            </a:r>
          </a:p>
        </p:txBody>
      </p:sp>
      <p:sp>
        <p:nvSpPr>
          <p:cNvPr id="27" name="TextBox 26"/>
          <p:cNvSpPr txBox="1"/>
          <p:nvPr/>
        </p:nvSpPr>
        <p:spPr>
          <a:xfrm>
            <a:off x="9784080" y="4434840"/>
            <a:ext cx="1783080" cy="731520"/>
          </a:xfrm>
          <a:prstGeom prst="rect">
            <a:avLst/>
          </a:prstGeom>
          <a:noFill/>
        </p:spPr>
        <p:txBody>
          <a:bodyPr wrap="square" lIns="0" rIns="0" tIns="0" bIns="0" anchor="t">
            <a:spAutoFit/>
          </a:bodyPr>
          <a:lstStyle/>
          <a:p>
            <a:pPr algn="l">
              <a:lnSpc>
                <a:spcPct val="110000"/>
              </a:lnSpc>
            </a:pPr>
            <a:r>
              <a:rPr sz="1100" b="0" i="0">
                <a:solidFill>
                  <a:srgbClr val="BCBEC0"/>
                </a:solidFill>
                <a:latin typeface="Arial"/>
              </a:rPr>
              <a:t>Mídalo con estudios de tool time cada 2-3 meses</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10 · AUDITORÍAS</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Audite el proceso AWP, no solo el cronograma</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M10 · MEDICIÓN: KPIs, CONTROLES Y PRODUCTIVIDAD</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102</a:t>
            </a:r>
          </a:p>
        </p:txBody>
      </p:sp>
      <p:sp>
        <p:nvSpPr>
          <p:cNvPr id="7" name="Rectangle 6"/>
          <p:cNvSpPr/>
          <p:nvPr/>
        </p:nvSpPr>
        <p:spPr>
          <a:xfrm>
            <a:off x="548640" y="1874519"/>
            <a:ext cx="2567863"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1</a:t>
            </a:r>
          </a:p>
        </p:txBody>
      </p:sp>
      <p:pic>
        <p:nvPicPr>
          <p:cNvPr id="10" name="Picture 9" descr="eye_o.png"/>
          <p:cNvPicPr>
            <a:picLocks noChangeAspect="1"/>
          </p:cNvPicPr>
          <p:nvPr/>
        </p:nvPicPr>
        <p:blipFill>
          <a:blip r:embed="rId2"/>
          <a:stretch>
            <a:fillRect/>
          </a:stretch>
        </p:blipFill>
        <p:spPr>
          <a:xfrm>
            <a:off x="2458135" y="2148839"/>
            <a:ext cx="420624" cy="420624"/>
          </a:xfrm>
          <a:prstGeom prst="rect">
            <a:avLst/>
          </a:prstGeom>
        </p:spPr>
      </p:pic>
      <p:sp>
        <p:nvSpPr>
          <p:cNvPr id="11" name="TextBox 10"/>
          <p:cNvSpPr txBox="1"/>
          <p:nvPr/>
        </p:nvSpPr>
        <p:spPr>
          <a:xfrm>
            <a:off x="777240"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Revisión independiente</a:t>
            </a:r>
          </a:p>
        </p:txBody>
      </p:sp>
      <p:sp>
        <p:nvSpPr>
          <p:cNvPr id="12" name="TextBox 11"/>
          <p:cNvSpPr txBox="1"/>
          <p:nvPr/>
        </p:nvSpPr>
        <p:spPr>
          <a:xfrm>
            <a:off x="777240" y="3429000"/>
            <a:ext cx="2156383"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Revisión «en frío» (cold eyes) del plan de WFP</a:t>
            </a:r>
          </a:p>
        </p:txBody>
      </p:sp>
      <p:cxnSp>
        <p:nvCxnSpPr>
          <p:cNvPr id="13" name="Connector 12"/>
          <p:cNvCxnSpPr/>
          <p:nvPr/>
        </p:nvCxnSpPr>
        <p:spPr>
          <a:xfrm>
            <a:off x="3153079" y="3291839"/>
            <a:ext cx="201168"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3390823" y="1874519"/>
            <a:ext cx="2567863"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3619423"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619423"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2</a:t>
            </a:r>
          </a:p>
        </p:txBody>
      </p:sp>
      <p:pic>
        <p:nvPicPr>
          <p:cNvPr id="17" name="Picture 16" descr="listcheck_o.png"/>
          <p:cNvPicPr>
            <a:picLocks noChangeAspect="1"/>
          </p:cNvPicPr>
          <p:nvPr/>
        </p:nvPicPr>
        <p:blipFill>
          <a:blip r:embed="rId3"/>
          <a:stretch>
            <a:fillRect/>
          </a:stretch>
        </p:blipFill>
        <p:spPr>
          <a:xfrm>
            <a:off x="5300319" y="2148839"/>
            <a:ext cx="420624" cy="420624"/>
          </a:xfrm>
          <a:prstGeom prst="rect">
            <a:avLst/>
          </a:prstGeom>
        </p:spPr>
      </p:pic>
      <p:sp>
        <p:nvSpPr>
          <p:cNvPr id="18" name="TextBox 17"/>
          <p:cNvSpPr txBox="1"/>
          <p:nvPr/>
        </p:nvSpPr>
        <p:spPr>
          <a:xfrm>
            <a:off x="3619423"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Auditoría periódica</a:t>
            </a:r>
          </a:p>
        </p:txBody>
      </p:sp>
      <p:sp>
        <p:nvSpPr>
          <p:cNvPr id="19" name="TextBox 18"/>
          <p:cNvSpPr txBox="1"/>
          <p:nvPr/>
        </p:nvSpPr>
        <p:spPr>
          <a:xfrm>
            <a:off x="3619423" y="3429000"/>
            <a:ext cx="2156383"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Con la plantilla de auditoría de WFP</a:t>
            </a:r>
          </a:p>
        </p:txBody>
      </p:sp>
      <p:cxnSp>
        <p:nvCxnSpPr>
          <p:cNvPr id="20" name="Connector 19"/>
          <p:cNvCxnSpPr/>
          <p:nvPr/>
        </p:nvCxnSpPr>
        <p:spPr>
          <a:xfrm>
            <a:off x="5995263" y="3291839"/>
            <a:ext cx="201168"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233007" y="1874519"/>
            <a:ext cx="2567863"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6461607"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461607"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3</a:t>
            </a:r>
          </a:p>
        </p:txBody>
      </p:sp>
      <p:pic>
        <p:nvPicPr>
          <p:cNvPr id="24" name="Picture 23" descr="file_o.png"/>
          <p:cNvPicPr>
            <a:picLocks noChangeAspect="1"/>
          </p:cNvPicPr>
          <p:nvPr/>
        </p:nvPicPr>
        <p:blipFill>
          <a:blip r:embed="rId4"/>
          <a:stretch>
            <a:fillRect/>
          </a:stretch>
        </p:blipFill>
        <p:spPr>
          <a:xfrm>
            <a:off x="8142503" y="2148839"/>
            <a:ext cx="420624" cy="420624"/>
          </a:xfrm>
          <a:prstGeom prst="rect">
            <a:avLst/>
          </a:prstGeom>
        </p:spPr>
      </p:pic>
      <p:sp>
        <p:nvSpPr>
          <p:cNvPr id="25" name="TextBox 24"/>
          <p:cNvSpPr txBox="1"/>
          <p:nvPr/>
        </p:nvSpPr>
        <p:spPr>
          <a:xfrm>
            <a:off x="6461607"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Informe semanal</a:t>
            </a:r>
          </a:p>
        </p:txBody>
      </p:sp>
      <p:sp>
        <p:nvSpPr>
          <p:cNvPr id="26" name="TextBox 25"/>
          <p:cNvSpPr txBox="1"/>
          <p:nvPr/>
        </p:nvSpPr>
        <p:spPr>
          <a:xfrm>
            <a:off x="6461607" y="3429000"/>
            <a:ext cx="2156383"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Tablero del Pack Track en el informe de gestión</a:t>
            </a:r>
          </a:p>
        </p:txBody>
      </p:sp>
      <p:cxnSp>
        <p:nvCxnSpPr>
          <p:cNvPr id="27" name="Connector 26"/>
          <p:cNvCxnSpPr/>
          <p:nvPr/>
        </p:nvCxnSpPr>
        <p:spPr>
          <a:xfrm>
            <a:off x="8837447" y="3291839"/>
            <a:ext cx="201168"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9075191" y="1874519"/>
            <a:ext cx="2567863"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9303791"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303791"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4</a:t>
            </a:r>
          </a:p>
        </p:txBody>
      </p:sp>
      <p:pic>
        <p:nvPicPr>
          <p:cNvPr id="31" name="Picture 30" descr="group_o.png"/>
          <p:cNvPicPr>
            <a:picLocks noChangeAspect="1"/>
          </p:cNvPicPr>
          <p:nvPr/>
        </p:nvPicPr>
        <p:blipFill>
          <a:blip r:embed="rId5"/>
          <a:stretch>
            <a:fillRect/>
          </a:stretch>
        </p:blipFill>
        <p:spPr>
          <a:xfrm>
            <a:off x="10984687" y="2148839"/>
            <a:ext cx="420624" cy="420624"/>
          </a:xfrm>
          <a:prstGeom prst="rect">
            <a:avLst/>
          </a:prstGeom>
        </p:spPr>
      </p:pic>
      <p:sp>
        <p:nvSpPr>
          <p:cNvPr id="32" name="TextBox 31"/>
          <p:cNvSpPr txBox="1"/>
          <p:nvPr/>
        </p:nvSpPr>
        <p:spPr>
          <a:xfrm>
            <a:off x="9303791" y="2807208"/>
            <a:ext cx="2156383"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Comité mensual</a:t>
            </a:r>
          </a:p>
        </p:txBody>
      </p:sp>
      <p:sp>
        <p:nvSpPr>
          <p:cNvPr id="33" name="TextBox 32"/>
          <p:cNvSpPr txBox="1"/>
          <p:nvPr/>
        </p:nvSpPr>
        <p:spPr>
          <a:xfrm>
            <a:off x="9303791" y="3429000"/>
            <a:ext cx="2156383"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Resuelve los problemas entre actores</a:t>
            </a:r>
          </a:p>
        </p:txBody>
      </p:sp>
      <p:sp>
        <p:nvSpPr>
          <p:cNvPr id="34" name="Rectangle 33"/>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flag_o.png"/>
          <p:cNvPicPr>
            <a:picLocks noChangeAspect="1"/>
          </p:cNvPicPr>
          <p:nvPr/>
        </p:nvPicPr>
        <p:blipFill>
          <a:blip r:embed="rId6"/>
          <a:stretch>
            <a:fillRect/>
          </a:stretch>
        </p:blipFill>
        <p:spPr>
          <a:xfrm>
            <a:off x="822959" y="5660136"/>
            <a:ext cx="365760" cy="365760"/>
          </a:xfrm>
          <a:prstGeom prst="rect">
            <a:avLst/>
          </a:prstGeom>
        </p:spPr>
      </p:pic>
      <p:sp>
        <p:nvSpPr>
          <p:cNvPr id="36" name="TextBox 35"/>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El procedimiento es la vara de medida: se escribió también para poder auditarlo.</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097280"/>
            <a:ext cx="3657600" cy="2194560"/>
          </a:xfrm>
          <a:prstGeom prst="rect">
            <a:avLst/>
          </a:prstGeom>
          <a:noFill/>
        </p:spPr>
        <p:txBody>
          <a:bodyPr wrap="square" lIns="0" rIns="0" tIns="0" bIns="0" anchor="t">
            <a:spAutoFit/>
          </a:bodyPr>
          <a:lstStyle/>
          <a:p>
            <a:pPr algn="l"/>
            <a:r>
              <a:rPr sz="15000" b="1" i="0">
                <a:solidFill>
                  <a:srgbClr val="FF6600"/>
                </a:solidFill>
                <a:latin typeface="Arial"/>
              </a:rPr>
              <a:t>11</a:t>
            </a:r>
          </a:p>
        </p:txBody>
      </p:sp>
      <p:sp>
        <p:nvSpPr>
          <p:cNvPr id="4" name="TextBox 3"/>
          <p:cNvSpPr txBox="1"/>
          <p:nvPr/>
        </p:nvSpPr>
        <p:spPr>
          <a:xfrm>
            <a:off x="4160520" y="1481328"/>
            <a:ext cx="7498079" cy="274320"/>
          </a:xfrm>
          <a:prstGeom prst="rect">
            <a:avLst/>
          </a:prstGeom>
          <a:noFill/>
        </p:spPr>
        <p:txBody>
          <a:bodyPr wrap="square" lIns="0" rIns="0" tIns="0" bIns="0" anchor="t">
            <a:spAutoFit/>
          </a:bodyPr>
          <a:lstStyle/>
          <a:p>
            <a:pPr algn="l"/>
            <a:r>
              <a:rPr sz="1200" b="1" i="0" spc="300">
                <a:solidFill>
                  <a:srgbClr val="FF6600"/>
                </a:solidFill>
                <a:latin typeface="Arial"/>
              </a:rPr>
              <a:t>MÓDULO 11 · ESCALAR Y ADOPTAR</a:t>
            </a:r>
          </a:p>
        </p:txBody>
      </p:sp>
      <p:sp>
        <p:nvSpPr>
          <p:cNvPr id="5" name="Título"/>
          <p:cNvSpPr txBox="1"/>
          <p:nvPr/>
        </p:nvSpPr>
        <p:spPr>
          <a:xfrm>
            <a:off x="4160520" y="1874519"/>
            <a:ext cx="7452360" cy="1508760"/>
          </a:xfrm>
          <a:prstGeom prst="rect">
            <a:avLst/>
          </a:prstGeom>
          <a:noFill/>
        </p:spPr>
        <p:txBody>
          <a:bodyPr wrap="square" lIns="0" rIns="0" tIns="0" bIns="0" anchor="t">
            <a:spAutoFit/>
          </a:bodyPr>
          <a:lstStyle/>
          <a:p>
            <a:pPr algn="l">
              <a:lnSpc>
                <a:spcPct val="95000"/>
              </a:lnSpc>
            </a:pPr>
            <a:r>
              <a:rPr sz="3600" b="1" i="0">
                <a:solidFill>
                  <a:srgbClr val="FFFFFF"/>
                </a:solidFill>
                <a:latin typeface="Arial"/>
              </a:rPr>
              <a:t>AWP se ajusta al tamaño del proyecto</a:t>
            </a:r>
          </a:p>
        </p:txBody>
      </p:sp>
      <p:sp>
        <p:nvSpPr>
          <p:cNvPr id="6" name="TextBox 5"/>
          <p:cNvSpPr txBox="1"/>
          <p:nvPr/>
        </p:nvSpPr>
        <p:spPr>
          <a:xfrm>
            <a:off x="4160520" y="3474720"/>
            <a:ext cx="7406640" cy="685800"/>
          </a:xfrm>
          <a:prstGeom prst="rect">
            <a:avLst/>
          </a:prstGeom>
          <a:noFill/>
        </p:spPr>
        <p:txBody>
          <a:bodyPr wrap="square" lIns="0" rIns="0" tIns="0" bIns="0" anchor="t">
            <a:spAutoFit/>
          </a:bodyPr>
          <a:lstStyle/>
          <a:p>
            <a:pPr algn="l">
              <a:lnSpc>
                <a:spcPct val="110000"/>
              </a:lnSpc>
            </a:pPr>
            <a:r>
              <a:rPr sz="1500" b="0" i="0">
                <a:solidFill>
                  <a:srgbClr val="BCBEC0"/>
                </a:solidFill>
                <a:latin typeface="Arial"/>
              </a:rPr>
              <a:t>AWP escalable, paradas de planta, relación con Lean y respuestas a las objeciones.</a:t>
            </a:r>
          </a:p>
        </p:txBody>
      </p:sp>
      <p:sp>
        <p:nvSpPr>
          <p:cNvPr id="7" name="Rectangle 6"/>
          <p:cNvSpPr/>
          <p:nvPr/>
        </p:nvSpPr>
        <p:spPr>
          <a:xfrm>
            <a:off x="548640"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48640"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01</a:t>
            </a:r>
          </a:p>
        </p:txBody>
      </p:sp>
      <p:sp>
        <p:nvSpPr>
          <p:cNvPr id="9" name="Rectangle 8"/>
          <p:cNvSpPr/>
          <p:nvPr/>
        </p:nvSpPr>
        <p:spPr>
          <a:xfrm>
            <a:off x="1409090"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409090"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02</a:t>
            </a:r>
          </a:p>
        </p:txBody>
      </p:sp>
      <p:sp>
        <p:nvSpPr>
          <p:cNvPr id="11" name="Rectangle 10"/>
          <p:cNvSpPr/>
          <p:nvPr/>
        </p:nvSpPr>
        <p:spPr>
          <a:xfrm>
            <a:off x="2269540"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269540"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03</a:t>
            </a:r>
          </a:p>
        </p:txBody>
      </p:sp>
      <p:sp>
        <p:nvSpPr>
          <p:cNvPr id="13" name="Rectangle 12"/>
          <p:cNvSpPr/>
          <p:nvPr/>
        </p:nvSpPr>
        <p:spPr>
          <a:xfrm>
            <a:off x="3129991"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129991"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04</a:t>
            </a:r>
          </a:p>
        </p:txBody>
      </p:sp>
      <p:sp>
        <p:nvSpPr>
          <p:cNvPr id="15" name="Rectangle 14"/>
          <p:cNvSpPr/>
          <p:nvPr/>
        </p:nvSpPr>
        <p:spPr>
          <a:xfrm>
            <a:off x="3990441"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990441"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05</a:t>
            </a:r>
          </a:p>
        </p:txBody>
      </p:sp>
      <p:sp>
        <p:nvSpPr>
          <p:cNvPr id="17" name="Rectangle 16"/>
          <p:cNvSpPr/>
          <p:nvPr/>
        </p:nvSpPr>
        <p:spPr>
          <a:xfrm>
            <a:off x="4850892"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850892"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06</a:t>
            </a:r>
          </a:p>
        </p:txBody>
      </p:sp>
      <p:sp>
        <p:nvSpPr>
          <p:cNvPr id="19" name="Rectangle 18"/>
          <p:cNvSpPr/>
          <p:nvPr/>
        </p:nvSpPr>
        <p:spPr>
          <a:xfrm>
            <a:off x="5711342"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711342"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07</a:t>
            </a:r>
          </a:p>
        </p:txBody>
      </p:sp>
      <p:sp>
        <p:nvSpPr>
          <p:cNvPr id="21" name="Rectangle 20"/>
          <p:cNvSpPr/>
          <p:nvPr/>
        </p:nvSpPr>
        <p:spPr>
          <a:xfrm>
            <a:off x="6571792"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571792"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08</a:t>
            </a:r>
          </a:p>
        </p:txBody>
      </p:sp>
      <p:sp>
        <p:nvSpPr>
          <p:cNvPr id="23" name="Rectangle 22"/>
          <p:cNvSpPr/>
          <p:nvPr/>
        </p:nvSpPr>
        <p:spPr>
          <a:xfrm>
            <a:off x="7432243"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432243"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09</a:t>
            </a:r>
          </a:p>
        </p:txBody>
      </p:sp>
      <p:sp>
        <p:nvSpPr>
          <p:cNvPr id="25" name="Rectangle 24"/>
          <p:cNvSpPr/>
          <p:nvPr/>
        </p:nvSpPr>
        <p:spPr>
          <a:xfrm>
            <a:off x="8292693"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292693"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10</a:t>
            </a:r>
          </a:p>
        </p:txBody>
      </p:sp>
      <p:sp>
        <p:nvSpPr>
          <p:cNvPr id="27" name="Rectangle 26"/>
          <p:cNvSpPr/>
          <p:nvPr/>
        </p:nvSpPr>
        <p:spPr>
          <a:xfrm>
            <a:off x="9153144" y="5074920"/>
            <a:ext cx="769010" cy="50292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153144" y="5074920"/>
            <a:ext cx="769010" cy="502920"/>
          </a:xfrm>
          <a:prstGeom prst="rect">
            <a:avLst/>
          </a:prstGeom>
          <a:noFill/>
        </p:spPr>
        <p:txBody>
          <a:bodyPr wrap="square" lIns="0" rIns="0" tIns="0" bIns="0" anchor="ctr">
            <a:spAutoFit/>
          </a:bodyPr>
          <a:lstStyle/>
          <a:p>
            <a:pPr algn="ctr"/>
            <a:r>
              <a:rPr sz="1100" b="1" i="0">
                <a:solidFill>
                  <a:srgbClr val="FFFFFF"/>
                </a:solidFill>
                <a:latin typeface="Courier New"/>
              </a:rPr>
              <a:t>11</a:t>
            </a:r>
          </a:p>
        </p:txBody>
      </p:sp>
      <p:sp>
        <p:nvSpPr>
          <p:cNvPr id="29" name="Rectangle 28"/>
          <p:cNvSpPr/>
          <p:nvPr/>
        </p:nvSpPr>
        <p:spPr>
          <a:xfrm>
            <a:off x="10013594"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013594"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12</a:t>
            </a:r>
          </a:p>
        </p:txBody>
      </p:sp>
      <p:sp>
        <p:nvSpPr>
          <p:cNvPr id="31" name="Rectangle 30"/>
          <p:cNvSpPr/>
          <p:nvPr/>
        </p:nvSpPr>
        <p:spPr>
          <a:xfrm>
            <a:off x="10874044"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874044"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13</a:t>
            </a:r>
          </a:p>
        </p:txBody>
      </p:sp>
      <p:sp>
        <p:nvSpPr>
          <p:cNvPr id="33" name="TextBox 32"/>
          <p:cNvSpPr txBox="1"/>
          <p:nvPr/>
        </p:nvSpPr>
        <p:spPr>
          <a:xfrm>
            <a:off x="548640" y="4709159"/>
            <a:ext cx="5486400" cy="274320"/>
          </a:xfrm>
          <a:prstGeom prst="rect">
            <a:avLst/>
          </a:prstGeom>
          <a:noFill/>
        </p:spPr>
        <p:txBody>
          <a:bodyPr wrap="square" lIns="0" rIns="0" tIns="0" bIns="0" anchor="t">
            <a:spAutoFit/>
          </a:bodyPr>
          <a:lstStyle/>
          <a:p>
            <a:pPr algn="l"/>
            <a:r>
              <a:rPr sz="1000" b="1" i="0" spc="200">
                <a:solidFill>
                  <a:srgbClr val="8A8B8E"/>
                </a:solidFill>
                <a:latin typeface="Arial"/>
              </a:rPr>
              <a:t>MÓDULOS</a:t>
            </a:r>
          </a:p>
        </p:txBody>
      </p:sp>
      <p:sp>
        <p:nvSpPr>
          <p:cNvPr id="34" name="TextBox 33"/>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8A8B8E"/>
                </a:solidFill>
                <a:latin typeface="Arial"/>
              </a:rPr>
              <a:t>IMPLEMENTACIÓN DE AWP  ·  M11 · ESCALAR Y ADOPTAR AWP</a:t>
            </a:r>
          </a:p>
        </p:txBody>
      </p:sp>
      <p:sp>
        <p:nvSpPr>
          <p:cNvPr id="35" name="TextBox 34"/>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8A8B8E"/>
                </a:solidFill>
                <a:latin typeface="Courier New"/>
              </a:rPr>
              <a:t>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11 · AWP ESCALABLE</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AWP también sirve para proyectos de menos de USD 100 millones</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M11 · ESCALAR Y ADOPTAR AWP</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104</a:t>
            </a:r>
          </a:p>
        </p:txBody>
      </p:sp>
      <p:pic>
        <p:nvPicPr>
          <p:cNvPr id="7" name="Picture 6" descr="stairs_o.png"/>
          <p:cNvPicPr>
            <a:picLocks noChangeAspect="1"/>
          </p:cNvPicPr>
          <p:nvPr/>
        </p:nvPicPr>
        <p:blipFill>
          <a:blip r:embed="rId2"/>
          <a:stretch>
            <a:fillRect/>
          </a:stretch>
        </p:blipFill>
        <p:spPr>
          <a:xfrm>
            <a:off x="548640" y="1965960"/>
            <a:ext cx="548640" cy="548640"/>
          </a:xfrm>
          <a:prstGeom prst="rect">
            <a:avLst/>
          </a:prstGeom>
        </p:spPr>
      </p:pic>
      <p:sp>
        <p:nvSpPr>
          <p:cNvPr id="8" name="TextBox 7"/>
          <p:cNvSpPr txBox="1"/>
          <p:nvPr/>
        </p:nvSpPr>
        <p:spPr>
          <a:xfrm>
            <a:off x="548640" y="2514600"/>
            <a:ext cx="6035040" cy="1737360"/>
          </a:xfrm>
          <a:prstGeom prst="rect">
            <a:avLst/>
          </a:prstGeom>
          <a:noFill/>
        </p:spPr>
        <p:txBody>
          <a:bodyPr wrap="square" lIns="0" rIns="0" tIns="0" bIns="0" anchor="ctr">
            <a:spAutoFit/>
          </a:bodyPr>
          <a:lstStyle/>
          <a:p>
            <a:pPr algn="l"/>
            <a:r>
              <a:rPr sz="10000" b="1" i="0">
                <a:solidFill>
                  <a:srgbClr val="FF6600"/>
                </a:solidFill>
                <a:latin typeface="Arial"/>
              </a:rPr>
              <a:t>&lt; 100 M</a:t>
            </a:r>
          </a:p>
        </p:txBody>
      </p:sp>
      <p:sp>
        <p:nvSpPr>
          <p:cNvPr id="9" name="TextBox 8"/>
          <p:cNvSpPr txBox="1"/>
          <p:nvPr/>
        </p:nvSpPr>
        <p:spPr>
          <a:xfrm>
            <a:off x="548640" y="4389120"/>
            <a:ext cx="5760720" cy="411480"/>
          </a:xfrm>
          <a:prstGeom prst="rect">
            <a:avLst/>
          </a:prstGeom>
          <a:noFill/>
        </p:spPr>
        <p:txBody>
          <a:bodyPr wrap="square" lIns="0" rIns="0" tIns="0" bIns="0" anchor="t">
            <a:spAutoFit/>
          </a:bodyPr>
          <a:lstStyle/>
          <a:p>
            <a:pPr algn="l"/>
            <a:r>
              <a:rPr sz="2000" b="1" i="0">
                <a:solidFill>
                  <a:srgbClr val="1A1A1A"/>
                </a:solidFill>
                <a:latin typeface="Arial"/>
              </a:rPr>
              <a:t>de dólares: rango del AWP escalable</a:t>
            </a:r>
          </a:p>
        </p:txBody>
      </p:sp>
      <p:sp>
        <p:nvSpPr>
          <p:cNvPr id="10" name="TextBox 9"/>
          <p:cNvSpPr txBox="1"/>
          <p:nvPr/>
        </p:nvSpPr>
        <p:spPr>
          <a:xfrm>
            <a:off x="548640" y="4892040"/>
            <a:ext cx="5669279" cy="1188720"/>
          </a:xfrm>
          <a:prstGeom prst="rect">
            <a:avLst/>
          </a:prstGeom>
          <a:noFill/>
        </p:spPr>
        <p:txBody>
          <a:bodyPr wrap="square" lIns="0" rIns="0" tIns="0" bIns="0" anchor="t">
            <a:spAutoFit/>
          </a:bodyPr>
          <a:lstStyle/>
          <a:p>
            <a:pPr algn="l">
              <a:lnSpc>
                <a:spcPct val="110000"/>
              </a:lnSpc>
            </a:pPr>
            <a:r>
              <a:rPr sz="1400" b="0" i="0">
                <a:solidFill>
                  <a:srgbClr val="6D6E71"/>
                </a:solidFill>
                <a:latin typeface="Arial"/>
              </a:rPr>
              <a:t>La COAA diseñó en 2019 un modelo de AWP escalable que no renuncia a sus principios.</a:t>
            </a:r>
          </a:p>
        </p:txBody>
      </p:sp>
      <p:sp>
        <p:nvSpPr>
          <p:cNvPr id="11" name="Rectangle 10"/>
          <p:cNvSpPr/>
          <p:nvPr/>
        </p:nvSpPr>
        <p:spPr>
          <a:xfrm>
            <a:off x="6949440" y="1828800"/>
            <a:ext cx="4693615" cy="12954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269479" y="2011680"/>
            <a:ext cx="2011680" cy="929640"/>
          </a:xfrm>
          <a:prstGeom prst="rect">
            <a:avLst/>
          </a:prstGeom>
          <a:noFill/>
        </p:spPr>
        <p:txBody>
          <a:bodyPr wrap="square" lIns="0" rIns="0" tIns="0" bIns="0" anchor="ctr">
            <a:spAutoFit/>
          </a:bodyPr>
          <a:lstStyle/>
          <a:p>
            <a:pPr algn="l"/>
            <a:r>
              <a:rPr sz="3000" b="1" i="0">
                <a:solidFill>
                  <a:srgbClr val="FF9955"/>
                </a:solidFill>
                <a:latin typeface="Arial"/>
              </a:rPr>
              <a:t>2019</a:t>
            </a:r>
          </a:p>
        </p:txBody>
      </p:sp>
      <p:sp>
        <p:nvSpPr>
          <p:cNvPr id="13" name="TextBox 12"/>
          <p:cNvSpPr txBox="1"/>
          <p:nvPr/>
        </p:nvSpPr>
        <p:spPr>
          <a:xfrm>
            <a:off x="9326880" y="1965960"/>
            <a:ext cx="2087575" cy="1021080"/>
          </a:xfrm>
          <a:prstGeom prst="rect">
            <a:avLst/>
          </a:prstGeom>
          <a:noFill/>
        </p:spPr>
        <p:txBody>
          <a:bodyPr wrap="square" lIns="0" rIns="0" tIns="0" bIns="0" anchor="ctr">
            <a:spAutoFit/>
          </a:bodyPr>
          <a:lstStyle/>
          <a:p>
            <a:pPr algn="l">
              <a:lnSpc>
                <a:spcPct val="105000"/>
              </a:lnSpc>
            </a:pPr>
            <a:r>
              <a:rPr sz="1250" b="0" i="0">
                <a:solidFill>
                  <a:srgbClr val="FFFFFF"/>
                </a:solidFill>
                <a:latin typeface="Arial"/>
              </a:rPr>
              <a:t>año del modelo escalable de la COAA</a:t>
            </a:r>
          </a:p>
        </p:txBody>
      </p:sp>
      <p:sp>
        <p:nvSpPr>
          <p:cNvPr id="14" name="Rectangle 13"/>
          <p:cNvSpPr/>
          <p:nvPr/>
        </p:nvSpPr>
        <p:spPr>
          <a:xfrm>
            <a:off x="6949440" y="3352800"/>
            <a:ext cx="4693615" cy="12954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269479" y="3535680"/>
            <a:ext cx="2011680" cy="929640"/>
          </a:xfrm>
          <a:prstGeom prst="rect">
            <a:avLst/>
          </a:prstGeom>
          <a:noFill/>
        </p:spPr>
        <p:txBody>
          <a:bodyPr wrap="square" lIns="0" rIns="0" tIns="0" bIns="0" anchor="ctr">
            <a:spAutoFit/>
          </a:bodyPr>
          <a:lstStyle/>
          <a:p>
            <a:pPr algn="l"/>
            <a:r>
              <a:rPr sz="3000" b="1" i="0">
                <a:solidFill>
                  <a:srgbClr val="FF9955"/>
                </a:solidFill>
                <a:latin typeface="Arial"/>
              </a:rPr>
              <a:t>40</a:t>
            </a:r>
          </a:p>
        </p:txBody>
      </p:sp>
      <p:sp>
        <p:nvSpPr>
          <p:cNvPr id="16" name="TextBox 15"/>
          <p:cNvSpPr txBox="1"/>
          <p:nvPr/>
        </p:nvSpPr>
        <p:spPr>
          <a:xfrm>
            <a:off x="9326880" y="3489960"/>
            <a:ext cx="2087575" cy="1021080"/>
          </a:xfrm>
          <a:prstGeom prst="rect">
            <a:avLst/>
          </a:prstGeom>
          <a:noFill/>
        </p:spPr>
        <p:txBody>
          <a:bodyPr wrap="square" lIns="0" rIns="0" tIns="0" bIns="0" anchor="ctr">
            <a:spAutoFit/>
          </a:bodyPr>
          <a:lstStyle/>
          <a:p>
            <a:pPr algn="l">
              <a:lnSpc>
                <a:spcPct val="105000"/>
              </a:lnSpc>
            </a:pPr>
            <a:r>
              <a:rPr sz="1250" b="0" i="0">
                <a:solidFill>
                  <a:srgbClr val="FFFFFF"/>
                </a:solidFill>
                <a:latin typeface="Arial"/>
              </a:rPr>
              <a:t>profesionales de la industria en cuatro comités de trabajo</a:t>
            </a:r>
          </a:p>
        </p:txBody>
      </p:sp>
      <p:sp>
        <p:nvSpPr>
          <p:cNvPr id="17" name="Rectangle 16"/>
          <p:cNvSpPr/>
          <p:nvPr/>
        </p:nvSpPr>
        <p:spPr>
          <a:xfrm>
            <a:off x="6949440" y="4876800"/>
            <a:ext cx="4693615" cy="12954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269479" y="5059680"/>
            <a:ext cx="2011680" cy="929640"/>
          </a:xfrm>
          <a:prstGeom prst="rect">
            <a:avLst/>
          </a:prstGeom>
          <a:noFill/>
        </p:spPr>
        <p:txBody>
          <a:bodyPr wrap="square" lIns="0" rIns="0" tIns="0" bIns="0" anchor="ctr">
            <a:spAutoFit/>
          </a:bodyPr>
          <a:lstStyle/>
          <a:p>
            <a:pPr algn="l"/>
            <a:r>
              <a:rPr sz="3000" b="1" i="0">
                <a:solidFill>
                  <a:srgbClr val="FF9955"/>
                </a:solidFill>
                <a:latin typeface="Arial"/>
              </a:rPr>
              <a:t>A–D</a:t>
            </a:r>
          </a:p>
        </p:txBody>
      </p:sp>
      <p:sp>
        <p:nvSpPr>
          <p:cNvPr id="19" name="TextBox 18"/>
          <p:cNvSpPr txBox="1"/>
          <p:nvPr/>
        </p:nvSpPr>
        <p:spPr>
          <a:xfrm>
            <a:off x="9326880" y="5013960"/>
            <a:ext cx="2087575" cy="1021080"/>
          </a:xfrm>
          <a:prstGeom prst="rect">
            <a:avLst/>
          </a:prstGeom>
          <a:noFill/>
        </p:spPr>
        <p:txBody>
          <a:bodyPr wrap="square" lIns="0" rIns="0" tIns="0" bIns="0" anchor="ctr">
            <a:spAutoFit/>
          </a:bodyPr>
          <a:lstStyle/>
          <a:p>
            <a:pPr algn="l">
              <a:lnSpc>
                <a:spcPct val="105000"/>
              </a:lnSpc>
            </a:pPr>
            <a:r>
              <a:rPr sz="1250" b="0" i="0">
                <a:solidFill>
                  <a:srgbClr val="FFFFFF"/>
                </a:solidFill>
                <a:latin typeface="Arial"/>
              </a:rPr>
              <a:t>categorías según familiaridad y complejidad</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11 · CATEGORÍAS</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Familiaridad y complejidad definen cuánto AWP necesita</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M11 · ESCALAR Y ADOPTAR AWP</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105</a:t>
            </a:r>
          </a:p>
        </p:txBody>
      </p:sp>
      <p:sp>
        <p:nvSpPr>
          <p:cNvPr id="7" name="Rectangle 6"/>
          <p:cNvSpPr/>
          <p:nvPr/>
        </p:nvSpPr>
        <p:spPr>
          <a:xfrm>
            <a:off x="1371600" y="1828800"/>
            <a:ext cx="3246120" cy="192024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645920" y="2011680"/>
            <a:ext cx="914400" cy="548640"/>
          </a:xfrm>
          <a:prstGeom prst="rect">
            <a:avLst/>
          </a:prstGeom>
          <a:noFill/>
        </p:spPr>
        <p:txBody>
          <a:bodyPr wrap="square" lIns="0" rIns="0" tIns="0" bIns="0" anchor="t">
            <a:spAutoFit/>
          </a:bodyPr>
          <a:lstStyle/>
          <a:p>
            <a:pPr algn="l"/>
            <a:r>
              <a:rPr sz="3000" b="1" i="0">
                <a:solidFill>
                  <a:srgbClr val="FFFFFF"/>
                </a:solidFill>
                <a:latin typeface="Courier New"/>
              </a:rPr>
              <a:t>C</a:t>
            </a:r>
          </a:p>
        </p:txBody>
      </p:sp>
      <p:sp>
        <p:nvSpPr>
          <p:cNvPr id="9" name="TextBox 8"/>
          <p:cNvSpPr txBox="1"/>
          <p:nvPr/>
        </p:nvSpPr>
        <p:spPr>
          <a:xfrm>
            <a:off x="1645920" y="2651760"/>
            <a:ext cx="2788920" cy="320040"/>
          </a:xfrm>
          <a:prstGeom prst="rect">
            <a:avLst/>
          </a:prstGeom>
          <a:noFill/>
        </p:spPr>
        <p:txBody>
          <a:bodyPr wrap="square" lIns="0" rIns="0" tIns="0" bIns="0" anchor="t">
            <a:spAutoFit/>
          </a:bodyPr>
          <a:lstStyle/>
          <a:p>
            <a:pPr algn="l"/>
            <a:r>
              <a:rPr sz="1400" b="1" i="0">
                <a:solidFill>
                  <a:srgbClr val="FFFFFF"/>
                </a:solidFill>
                <a:latin typeface="Arial"/>
              </a:rPr>
              <a:t>Poco familiar · alta complejidad</a:t>
            </a:r>
          </a:p>
        </p:txBody>
      </p:sp>
      <p:sp>
        <p:nvSpPr>
          <p:cNvPr id="10" name="TextBox 9"/>
          <p:cNvSpPr txBox="1"/>
          <p:nvPr/>
        </p:nvSpPr>
        <p:spPr>
          <a:xfrm>
            <a:off x="1645920" y="2999232"/>
            <a:ext cx="2788920" cy="640080"/>
          </a:xfrm>
          <a:prstGeom prst="rect">
            <a:avLst/>
          </a:prstGeom>
          <a:noFill/>
        </p:spPr>
        <p:txBody>
          <a:bodyPr wrap="square" lIns="0" rIns="0" tIns="0" bIns="0" anchor="t">
            <a:spAutoFit/>
          </a:bodyPr>
          <a:lstStyle/>
          <a:p>
            <a:pPr algn="l">
              <a:lnSpc>
                <a:spcPct val="105000"/>
              </a:lnSpc>
            </a:pPr>
            <a:r>
              <a:rPr sz="1150" b="0" i="0">
                <a:solidFill>
                  <a:srgbClr val="FFFFFF"/>
                </a:solidFill>
                <a:latin typeface="Arial"/>
              </a:rPr>
              <a:t>Tipo de proyecto nuevo para la empresa y complejo</a:t>
            </a:r>
          </a:p>
        </p:txBody>
      </p:sp>
      <p:sp>
        <p:nvSpPr>
          <p:cNvPr id="11" name="Rectangle 10"/>
          <p:cNvSpPr/>
          <p:nvPr/>
        </p:nvSpPr>
        <p:spPr>
          <a:xfrm>
            <a:off x="4754879" y="1828800"/>
            <a:ext cx="3246120" cy="1920240"/>
          </a:xfrm>
          <a:prstGeom prst="rect">
            <a:avLst/>
          </a:prstGeom>
          <a:solidFill>
            <a:srgbClr val="CC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029199" y="2011680"/>
            <a:ext cx="914400" cy="548640"/>
          </a:xfrm>
          <a:prstGeom prst="rect">
            <a:avLst/>
          </a:prstGeom>
          <a:noFill/>
        </p:spPr>
        <p:txBody>
          <a:bodyPr wrap="square" lIns="0" rIns="0" tIns="0" bIns="0" anchor="t">
            <a:spAutoFit/>
          </a:bodyPr>
          <a:lstStyle/>
          <a:p>
            <a:pPr algn="l"/>
            <a:r>
              <a:rPr sz="3000" b="1" i="0">
                <a:solidFill>
                  <a:srgbClr val="FFFFFF"/>
                </a:solidFill>
                <a:latin typeface="Courier New"/>
              </a:rPr>
              <a:t>D</a:t>
            </a:r>
          </a:p>
        </p:txBody>
      </p:sp>
      <p:sp>
        <p:nvSpPr>
          <p:cNvPr id="13" name="TextBox 12"/>
          <p:cNvSpPr txBox="1"/>
          <p:nvPr/>
        </p:nvSpPr>
        <p:spPr>
          <a:xfrm>
            <a:off x="5029199" y="2651760"/>
            <a:ext cx="2788920" cy="320040"/>
          </a:xfrm>
          <a:prstGeom prst="rect">
            <a:avLst/>
          </a:prstGeom>
          <a:noFill/>
        </p:spPr>
        <p:txBody>
          <a:bodyPr wrap="square" lIns="0" rIns="0" tIns="0" bIns="0" anchor="t">
            <a:spAutoFit/>
          </a:bodyPr>
          <a:lstStyle/>
          <a:p>
            <a:pPr algn="l"/>
            <a:r>
              <a:rPr sz="1400" b="1" i="0">
                <a:solidFill>
                  <a:srgbClr val="FFFFFF"/>
                </a:solidFill>
                <a:latin typeface="Arial"/>
              </a:rPr>
              <a:t>Familiar · alta complejidad</a:t>
            </a:r>
          </a:p>
        </p:txBody>
      </p:sp>
      <p:sp>
        <p:nvSpPr>
          <p:cNvPr id="14" name="TextBox 13"/>
          <p:cNvSpPr txBox="1"/>
          <p:nvPr/>
        </p:nvSpPr>
        <p:spPr>
          <a:xfrm>
            <a:off x="5029199" y="2999232"/>
            <a:ext cx="2788920" cy="640080"/>
          </a:xfrm>
          <a:prstGeom prst="rect">
            <a:avLst/>
          </a:prstGeom>
          <a:noFill/>
        </p:spPr>
        <p:txBody>
          <a:bodyPr wrap="square" lIns="0" rIns="0" tIns="0" bIns="0" anchor="t">
            <a:spAutoFit/>
          </a:bodyPr>
          <a:lstStyle/>
          <a:p>
            <a:pPr algn="l">
              <a:lnSpc>
                <a:spcPct val="105000"/>
              </a:lnSpc>
            </a:pPr>
            <a:r>
              <a:rPr sz="1150" b="0" i="0">
                <a:solidFill>
                  <a:srgbClr val="FFFFFF"/>
                </a:solidFill>
                <a:latin typeface="Arial"/>
              </a:rPr>
              <a:t>Complejo, pero ya hecho antes por el mismo equipo (programa)</a:t>
            </a:r>
          </a:p>
        </p:txBody>
      </p:sp>
      <p:sp>
        <p:nvSpPr>
          <p:cNvPr id="15" name="Rectangle 14"/>
          <p:cNvSpPr/>
          <p:nvPr/>
        </p:nvSpPr>
        <p:spPr>
          <a:xfrm>
            <a:off x="1371600" y="3886200"/>
            <a:ext cx="3246120" cy="1920240"/>
          </a:xfrm>
          <a:prstGeom prst="rect">
            <a:avLst/>
          </a:prstGeom>
          <a:solidFill>
            <a:srgbClr val="0078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645920" y="4069080"/>
            <a:ext cx="914400" cy="548640"/>
          </a:xfrm>
          <a:prstGeom prst="rect">
            <a:avLst/>
          </a:prstGeom>
          <a:noFill/>
        </p:spPr>
        <p:txBody>
          <a:bodyPr wrap="square" lIns="0" rIns="0" tIns="0" bIns="0" anchor="t">
            <a:spAutoFit/>
          </a:bodyPr>
          <a:lstStyle/>
          <a:p>
            <a:pPr algn="l"/>
            <a:r>
              <a:rPr sz="3000" b="1" i="0">
                <a:solidFill>
                  <a:srgbClr val="FFFFFF"/>
                </a:solidFill>
                <a:latin typeface="Courier New"/>
              </a:rPr>
              <a:t>A</a:t>
            </a:r>
          </a:p>
        </p:txBody>
      </p:sp>
      <p:sp>
        <p:nvSpPr>
          <p:cNvPr id="17" name="TextBox 16"/>
          <p:cNvSpPr txBox="1"/>
          <p:nvPr/>
        </p:nvSpPr>
        <p:spPr>
          <a:xfrm>
            <a:off x="1645920" y="4709160"/>
            <a:ext cx="2788920" cy="320040"/>
          </a:xfrm>
          <a:prstGeom prst="rect">
            <a:avLst/>
          </a:prstGeom>
          <a:noFill/>
        </p:spPr>
        <p:txBody>
          <a:bodyPr wrap="square" lIns="0" rIns="0" tIns="0" bIns="0" anchor="t">
            <a:spAutoFit/>
          </a:bodyPr>
          <a:lstStyle/>
          <a:p>
            <a:pPr algn="l"/>
            <a:r>
              <a:rPr sz="1400" b="1" i="0">
                <a:solidFill>
                  <a:srgbClr val="FFFFFF"/>
                </a:solidFill>
                <a:latin typeface="Arial"/>
              </a:rPr>
              <a:t>Poco familiar · baja complejidad</a:t>
            </a:r>
          </a:p>
        </p:txBody>
      </p:sp>
      <p:sp>
        <p:nvSpPr>
          <p:cNvPr id="18" name="TextBox 17"/>
          <p:cNvSpPr txBox="1"/>
          <p:nvPr/>
        </p:nvSpPr>
        <p:spPr>
          <a:xfrm>
            <a:off x="1645920" y="5056632"/>
            <a:ext cx="2788920" cy="640080"/>
          </a:xfrm>
          <a:prstGeom prst="rect">
            <a:avLst/>
          </a:prstGeom>
          <a:noFill/>
        </p:spPr>
        <p:txBody>
          <a:bodyPr wrap="square" lIns="0" rIns="0" tIns="0" bIns="0" anchor="t">
            <a:spAutoFit/>
          </a:bodyPr>
          <a:lstStyle/>
          <a:p>
            <a:pPr algn="l">
              <a:lnSpc>
                <a:spcPct val="105000"/>
              </a:lnSpc>
            </a:pPr>
            <a:r>
              <a:rPr sz="1150" b="0" i="0">
                <a:solidFill>
                  <a:srgbClr val="FFFFFF"/>
                </a:solidFill>
                <a:latin typeface="Arial"/>
              </a:rPr>
              <a:t>Simple, pero nuevo para la empresa</a:t>
            </a:r>
          </a:p>
        </p:txBody>
      </p:sp>
      <p:sp>
        <p:nvSpPr>
          <p:cNvPr id="19" name="Rectangle 18"/>
          <p:cNvSpPr/>
          <p:nvPr/>
        </p:nvSpPr>
        <p:spPr>
          <a:xfrm>
            <a:off x="4754879" y="3886200"/>
            <a:ext cx="3246120" cy="1920240"/>
          </a:xfrm>
          <a:prstGeom prst="rect">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029199" y="4069080"/>
            <a:ext cx="914400" cy="548640"/>
          </a:xfrm>
          <a:prstGeom prst="rect">
            <a:avLst/>
          </a:prstGeom>
          <a:noFill/>
        </p:spPr>
        <p:txBody>
          <a:bodyPr wrap="square" lIns="0" rIns="0" tIns="0" bIns="0" anchor="t">
            <a:spAutoFit/>
          </a:bodyPr>
          <a:lstStyle/>
          <a:p>
            <a:pPr algn="l"/>
            <a:r>
              <a:rPr sz="3000" b="1" i="0">
                <a:solidFill>
                  <a:srgbClr val="FFFFFF"/>
                </a:solidFill>
                <a:latin typeface="Courier New"/>
              </a:rPr>
              <a:t>B</a:t>
            </a:r>
          </a:p>
        </p:txBody>
      </p:sp>
      <p:sp>
        <p:nvSpPr>
          <p:cNvPr id="21" name="TextBox 20"/>
          <p:cNvSpPr txBox="1"/>
          <p:nvPr/>
        </p:nvSpPr>
        <p:spPr>
          <a:xfrm>
            <a:off x="5029199" y="4709160"/>
            <a:ext cx="2788920" cy="320040"/>
          </a:xfrm>
          <a:prstGeom prst="rect">
            <a:avLst/>
          </a:prstGeom>
          <a:noFill/>
        </p:spPr>
        <p:txBody>
          <a:bodyPr wrap="square" lIns="0" rIns="0" tIns="0" bIns="0" anchor="t">
            <a:spAutoFit/>
          </a:bodyPr>
          <a:lstStyle/>
          <a:p>
            <a:pPr algn="l"/>
            <a:r>
              <a:rPr sz="1400" b="1" i="0">
                <a:solidFill>
                  <a:srgbClr val="FFFFFF"/>
                </a:solidFill>
                <a:latin typeface="Arial"/>
              </a:rPr>
              <a:t>Familiar · baja complejidad</a:t>
            </a:r>
          </a:p>
        </p:txBody>
      </p:sp>
      <p:sp>
        <p:nvSpPr>
          <p:cNvPr id="22" name="TextBox 21"/>
          <p:cNvSpPr txBox="1"/>
          <p:nvPr/>
        </p:nvSpPr>
        <p:spPr>
          <a:xfrm>
            <a:off x="5029199" y="5056632"/>
            <a:ext cx="2788920" cy="640080"/>
          </a:xfrm>
          <a:prstGeom prst="rect">
            <a:avLst/>
          </a:prstGeom>
          <a:noFill/>
        </p:spPr>
        <p:txBody>
          <a:bodyPr wrap="square" lIns="0" rIns="0" tIns="0" bIns="0" anchor="t">
            <a:spAutoFit/>
          </a:bodyPr>
          <a:lstStyle/>
          <a:p>
            <a:pPr algn="l">
              <a:lnSpc>
                <a:spcPct val="105000"/>
              </a:lnSpc>
            </a:pPr>
            <a:r>
              <a:rPr sz="1150" b="0" i="0">
                <a:solidFill>
                  <a:srgbClr val="FFFFFF"/>
                </a:solidFill>
                <a:latin typeface="Arial"/>
              </a:rPr>
              <a:t>Simple y repetido: un programa de proyectos</a:t>
            </a:r>
          </a:p>
        </p:txBody>
      </p:sp>
      <p:cxnSp>
        <p:nvCxnSpPr>
          <p:cNvPr id="23" name="Connector 22"/>
          <p:cNvCxnSpPr/>
          <p:nvPr/>
        </p:nvCxnSpPr>
        <p:spPr>
          <a:xfrm>
            <a:off x="1371600" y="5916168"/>
            <a:ext cx="6629400" cy="0"/>
          </a:xfrm>
          <a:prstGeom prst="line">
            <a:avLst/>
          </a:prstGeom>
          <a:ln w="19050">
            <a:solidFill>
              <a:srgbClr val="6D6E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371600" y="5989320"/>
            <a:ext cx="6629400" cy="274320"/>
          </a:xfrm>
          <a:prstGeom prst="rect">
            <a:avLst/>
          </a:prstGeom>
          <a:noFill/>
        </p:spPr>
        <p:txBody>
          <a:bodyPr wrap="square" lIns="0" rIns="0" tIns="0" bIns="0" anchor="t">
            <a:spAutoFit/>
          </a:bodyPr>
          <a:lstStyle/>
          <a:p>
            <a:pPr algn="ctr"/>
            <a:r>
              <a:rPr sz="1100" b="1" i="0" spc="100">
                <a:solidFill>
                  <a:srgbClr val="6D6E71"/>
                </a:solidFill>
                <a:latin typeface="Arial"/>
              </a:rPr>
              <a:t>FAMILIARIDAD  →</a:t>
            </a:r>
          </a:p>
        </p:txBody>
      </p:sp>
      <p:cxnSp>
        <p:nvCxnSpPr>
          <p:cNvPr id="25" name="Connector 24"/>
          <p:cNvCxnSpPr/>
          <p:nvPr/>
        </p:nvCxnSpPr>
        <p:spPr>
          <a:xfrm flipV="1">
            <a:off x="1188720" y="1828800"/>
            <a:ext cx="0" cy="3977640"/>
          </a:xfrm>
          <a:prstGeom prst="line">
            <a:avLst/>
          </a:prstGeom>
          <a:ln w="19050">
            <a:solidFill>
              <a:srgbClr val="6D6E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rot="16200000">
            <a:off x="-1161288" y="3611879"/>
            <a:ext cx="3931920" cy="274320"/>
          </a:xfrm>
          <a:prstGeom prst="rect">
            <a:avLst/>
          </a:prstGeom>
          <a:noFill/>
        </p:spPr>
        <p:txBody>
          <a:bodyPr wrap="square" lIns="0" rIns="0" tIns="0" bIns="0" anchor="t">
            <a:spAutoFit/>
          </a:bodyPr>
          <a:lstStyle/>
          <a:p>
            <a:pPr algn="ctr"/>
            <a:r>
              <a:rPr sz="1100" b="1" i="0" spc="100">
                <a:solidFill>
                  <a:srgbClr val="6D6E71"/>
                </a:solidFill>
                <a:latin typeface="Arial"/>
              </a:rPr>
              <a:t>COMPLEJIDAD  →</a:t>
            </a:r>
          </a:p>
        </p:txBody>
      </p:sp>
      <p:sp>
        <p:nvSpPr>
          <p:cNvPr id="27" name="Rectangle 26"/>
          <p:cNvSpPr/>
          <p:nvPr/>
        </p:nvSpPr>
        <p:spPr>
          <a:xfrm>
            <a:off x="8366760" y="1828800"/>
            <a:ext cx="3276295" cy="397764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641080" y="2103120"/>
            <a:ext cx="2727655" cy="3429000"/>
          </a:xfrm>
          <a:prstGeom prst="rect">
            <a:avLst/>
          </a:prstGeom>
          <a:noFill/>
        </p:spPr>
        <p:txBody>
          <a:bodyPr wrap="square" lIns="0" rIns="0" tIns="0" bIns="0" anchor="t">
            <a:spAutoFit/>
          </a:bodyPr>
          <a:lstStyle/>
          <a:p>
            <a:pPr algn="l">
              <a:lnSpc>
                <a:spcPct val="115000"/>
              </a:lnSpc>
              <a:spcAft>
                <a:spcPts val="800"/>
              </a:spcAft>
            </a:pPr>
            <a:r>
              <a:rPr sz="1300" b="0" i="0">
                <a:solidFill>
                  <a:srgbClr val="FFFFFF"/>
                </a:solidFill>
                <a:latin typeface="Arial"/>
              </a:rPr>
              <a:t>Una herramienta de clasificación (screening tool) ubica al proyecto con una serie de preguntas.</a:t>
            </a:r>
          </a:p>
          <a:p>
            <a:pPr algn="l">
              <a:lnSpc>
                <a:spcPct val="115000"/>
              </a:lnSpc>
              <a:spcAft>
                <a:spcPts val="800"/>
              </a:spcAft>
            </a:pPr>
            <a:r>
              <a:rPr sz="1300" b="0" i="0">
                <a:solidFill>
                  <a:srgbClr val="FFFFFF"/>
                </a:solidFill>
                <a:latin typeface="Arial"/>
              </a:rPr>
              <a:t>El modelo escala hacia arriba o hacia abajo el mismo diagrama de flujo integrado de AWP.</a:t>
            </a:r>
          </a:p>
          <a:p>
            <a:pPr algn="l">
              <a:lnSpc>
                <a:spcPct val="115000"/>
              </a:lnSpc>
              <a:spcAft>
                <a:spcPts val="800"/>
              </a:spcAft>
            </a:pPr>
            <a:r>
              <a:rPr sz="1300" b="0" i="0">
                <a:solidFill>
                  <a:srgbClr val="FFFFFF"/>
                </a:solidFill>
                <a:latin typeface="Arial"/>
              </a:rPr>
              <a:t>Los proyectos familiares se tratan como programa: reutilizan plantillas y aprendizajes.</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11 · PARADAS DE PLANTA</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Paradas de planta: el mismo ciclo, más corto</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M11 · ESCALAR Y ADOPTAR AWP</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106</a:t>
            </a:r>
          </a:p>
        </p:txBody>
      </p:sp>
      <p:sp>
        <p:nvSpPr>
          <p:cNvPr id="7" name="Rectangle 6"/>
          <p:cNvSpPr/>
          <p:nvPr/>
        </p:nvSpPr>
        <p:spPr>
          <a:xfrm>
            <a:off x="548640" y="1828800"/>
            <a:ext cx="5396331" cy="341071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48640" y="1828800"/>
            <a:ext cx="5396331" cy="50292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1828800"/>
            <a:ext cx="4847691" cy="502920"/>
          </a:xfrm>
          <a:prstGeom prst="rect">
            <a:avLst/>
          </a:prstGeom>
          <a:noFill/>
        </p:spPr>
        <p:txBody>
          <a:bodyPr wrap="square" lIns="0" rIns="0" tIns="0" bIns="0" anchor="ctr">
            <a:spAutoFit/>
          </a:bodyPr>
          <a:lstStyle/>
          <a:p>
            <a:pPr algn="l"/>
            <a:r>
              <a:rPr sz="1200" b="1" i="0" spc="200">
                <a:solidFill>
                  <a:srgbClr val="FFFFFF"/>
                </a:solidFill>
                <a:latin typeface="Arial"/>
              </a:rPr>
              <a:t>PARADA DE PLANTA O PROYECTO PEQUEÑO</a:t>
            </a:r>
          </a:p>
        </p:txBody>
      </p:sp>
      <p:sp>
        <p:nvSpPr>
          <p:cNvPr id="10" name="Oval 9"/>
          <p:cNvSpPr/>
          <p:nvPr/>
        </p:nvSpPr>
        <p:spPr>
          <a:xfrm>
            <a:off x="822959" y="2560320"/>
            <a:ext cx="384048" cy="38404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59" y="2560320"/>
            <a:ext cx="384048" cy="384048"/>
          </a:xfrm>
          <a:prstGeom prst="rect">
            <a:avLst/>
          </a:prstGeom>
          <a:noFill/>
        </p:spPr>
        <p:txBody>
          <a:bodyPr wrap="square" lIns="0" rIns="0" tIns="0" bIns="0" anchor="ctr">
            <a:spAutoFit/>
          </a:bodyPr>
          <a:lstStyle/>
          <a:p>
            <a:pPr algn="ctr"/>
            <a:r>
              <a:rPr sz="1300" b="1" i="0">
                <a:solidFill>
                  <a:srgbClr val="FFFFFF"/>
                </a:solidFill>
                <a:latin typeface="Arial"/>
              </a:rPr>
              <a:t>1</a:t>
            </a:r>
          </a:p>
        </p:txBody>
      </p:sp>
      <p:sp>
        <p:nvSpPr>
          <p:cNvPr id="12" name="TextBox 11"/>
          <p:cNvSpPr txBox="1"/>
          <p:nvPr/>
        </p:nvSpPr>
        <p:spPr>
          <a:xfrm>
            <a:off x="1417319" y="2542032"/>
            <a:ext cx="4253331" cy="274320"/>
          </a:xfrm>
          <a:prstGeom prst="rect">
            <a:avLst/>
          </a:prstGeom>
          <a:noFill/>
        </p:spPr>
        <p:txBody>
          <a:bodyPr wrap="square" lIns="0" rIns="0" tIns="0" bIns="0" anchor="t">
            <a:spAutoFit/>
          </a:bodyPr>
          <a:lstStyle/>
          <a:p>
            <a:pPr algn="l"/>
            <a:r>
              <a:rPr sz="1400" b="1" i="0">
                <a:solidFill>
                  <a:srgbClr val="1A1A1A"/>
                </a:solidFill>
                <a:latin typeface="Arial"/>
              </a:rPr>
              <a:t>IWP iniciado</a:t>
            </a:r>
          </a:p>
        </p:txBody>
      </p:sp>
      <p:sp>
        <p:nvSpPr>
          <p:cNvPr id="13" name="TextBox 12"/>
          <p:cNvSpPr txBox="1"/>
          <p:nvPr/>
        </p:nvSpPr>
        <p:spPr>
          <a:xfrm>
            <a:off x="1417319" y="2834639"/>
            <a:ext cx="4253331" cy="315468"/>
          </a:xfrm>
          <a:prstGeom prst="rect">
            <a:avLst/>
          </a:prstGeom>
          <a:noFill/>
        </p:spPr>
        <p:txBody>
          <a:bodyPr wrap="square" lIns="0" rIns="0" tIns="0" bIns="0" anchor="t">
            <a:spAutoFit/>
          </a:bodyPr>
          <a:lstStyle/>
          <a:p>
            <a:pPr algn="l"/>
            <a:r>
              <a:rPr sz="1150" b="0" i="0">
                <a:solidFill>
                  <a:srgbClr val="6D6E71"/>
                </a:solidFill>
                <a:latin typeface="Arial"/>
              </a:rPr>
              <a:t>6 semanas antes</a:t>
            </a:r>
          </a:p>
        </p:txBody>
      </p:sp>
      <p:sp>
        <p:nvSpPr>
          <p:cNvPr id="14" name="Oval 13"/>
          <p:cNvSpPr/>
          <p:nvPr/>
        </p:nvSpPr>
        <p:spPr>
          <a:xfrm>
            <a:off x="822959" y="3195827"/>
            <a:ext cx="384048" cy="38404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2959" y="3195827"/>
            <a:ext cx="384048" cy="384048"/>
          </a:xfrm>
          <a:prstGeom prst="rect">
            <a:avLst/>
          </a:prstGeom>
          <a:noFill/>
        </p:spPr>
        <p:txBody>
          <a:bodyPr wrap="square" lIns="0" rIns="0" tIns="0" bIns="0" anchor="ctr">
            <a:spAutoFit/>
          </a:bodyPr>
          <a:lstStyle/>
          <a:p>
            <a:pPr algn="ctr"/>
            <a:r>
              <a:rPr sz="1300" b="1" i="0">
                <a:solidFill>
                  <a:srgbClr val="FFFFFF"/>
                </a:solidFill>
                <a:latin typeface="Arial"/>
              </a:rPr>
              <a:t>2</a:t>
            </a:r>
          </a:p>
        </p:txBody>
      </p:sp>
      <p:sp>
        <p:nvSpPr>
          <p:cNvPr id="16" name="TextBox 15"/>
          <p:cNvSpPr txBox="1"/>
          <p:nvPr/>
        </p:nvSpPr>
        <p:spPr>
          <a:xfrm>
            <a:off x="1417319" y="3177539"/>
            <a:ext cx="4253331" cy="274320"/>
          </a:xfrm>
          <a:prstGeom prst="rect">
            <a:avLst/>
          </a:prstGeom>
          <a:noFill/>
        </p:spPr>
        <p:txBody>
          <a:bodyPr wrap="square" lIns="0" rIns="0" tIns="0" bIns="0" anchor="t">
            <a:spAutoFit/>
          </a:bodyPr>
          <a:lstStyle/>
          <a:p>
            <a:pPr algn="l"/>
            <a:r>
              <a:rPr sz="1400" b="1" i="0">
                <a:solidFill>
                  <a:srgbClr val="1A1A1A"/>
                </a:solidFill>
                <a:latin typeface="Arial"/>
              </a:rPr>
              <a:t>Restricciones identificadas</a:t>
            </a:r>
          </a:p>
        </p:txBody>
      </p:sp>
      <p:sp>
        <p:nvSpPr>
          <p:cNvPr id="17" name="TextBox 16"/>
          <p:cNvSpPr txBox="1"/>
          <p:nvPr/>
        </p:nvSpPr>
        <p:spPr>
          <a:xfrm>
            <a:off x="1417319" y="3470147"/>
            <a:ext cx="4253331" cy="315468"/>
          </a:xfrm>
          <a:prstGeom prst="rect">
            <a:avLst/>
          </a:prstGeom>
          <a:noFill/>
        </p:spPr>
        <p:txBody>
          <a:bodyPr wrap="square" lIns="0" rIns="0" tIns="0" bIns="0" anchor="t">
            <a:spAutoFit/>
          </a:bodyPr>
          <a:lstStyle/>
          <a:p>
            <a:pPr algn="l"/>
            <a:r>
              <a:rPr sz="1150" b="0" i="0">
                <a:solidFill>
                  <a:srgbClr val="6D6E71"/>
                </a:solidFill>
                <a:latin typeface="Arial"/>
              </a:rPr>
              <a:t>4 semanas antes</a:t>
            </a:r>
          </a:p>
        </p:txBody>
      </p:sp>
      <p:sp>
        <p:nvSpPr>
          <p:cNvPr id="18" name="Oval 17"/>
          <p:cNvSpPr/>
          <p:nvPr/>
        </p:nvSpPr>
        <p:spPr>
          <a:xfrm>
            <a:off x="822959" y="3831335"/>
            <a:ext cx="384048" cy="38404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22959" y="3831335"/>
            <a:ext cx="384048" cy="384048"/>
          </a:xfrm>
          <a:prstGeom prst="rect">
            <a:avLst/>
          </a:prstGeom>
          <a:noFill/>
        </p:spPr>
        <p:txBody>
          <a:bodyPr wrap="square" lIns="0" rIns="0" tIns="0" bIns="0" anchor="ctr">
            <a:spAutoFit/>
          </a:bodyPr>
          <a:lstStyle/>
          <a:p>
            <a:pPr algn="ctr"/>
            <a:r>
              <a:rPr sz="1300" b="1" i="0">
                <a:solidFill>
                  <a:srgbClr val="FFFFFF"/>
                </a:solidFill>
                <a:latin typeface="Arial"/>
              </a:rPr>
              <a:t>3</a:t>
            </a:r>
          </a:p>
        </p:txBody>
      </p:sp>
      <p:sp>
        <p:nvSpPr>
          <p:cNvPr id="20" name="TextBox 19"/>
          <p:cNvSpPr txBox="1"/>
          <p:nvPr/>
        </p:nvSpPr>
        <p:spPr>
          <a:xfrm>
            <a:off x="1417319" y="3813048"/>
            <a:ext cx="4253331" cy="274320"/>
          </a:xfrm>
          <a:prstGeom prst="rect">
            <a:avLst/>
          </a:prstGeom>
          <a:noFill/>
        </p:spPr>
        <p:txBody>
          <a:bodyPr wrap="square" lIns="0" rIns="0" tIns="0" bIns="0" anchor="t">
            <a:spAutoFit/>
          </a:bodyPr>
          <a:lstStyle/>
          <a:p>
            <a:pPr algn="l"/>
            <a:r>
              <a:rPr sz="1400" b="1" i="0">
                <a:solidFill>
                  <a:srgbClr val="1A1A1A"/>
                </a:solidFill>
                <a:latin typeface="Arial"/>
              </a:rPr>
              <a:t>Restricciones asignadas</a:t>
            </a:r>
          </a:p>
        </p:txBody>
      </p:sp>
      <p:sp>
        <p:nvSpPr>
          <p:cNvPr id="21" name="TextBox 20"/>
          <p:cNvSpPr txBox="1"/>
          <p:nvPr/>
        </p:nvSpPr>
        <p:spPr>
          <a:xfrm>
            <a:off x="1417319" y="4105655"/>
            <a:ext cx="4253331" cy="315468"/>
          </a:xfrm>
          <a:prstGeom prst="rect">
            <a:avLst/>
          </a:prstGeom>
          <a:noFill/>
        </p:spPr>
        <p:txBody>
          <a:bodyPr wrap="square" lIns="0" rIns="0" tIns="0" bIns="0" anchor="t">
            <a:spAutoFit/>
          </a:bodyPr>
          <a:lstStyle/>
          <a:p>
            <a:pPr algn="l"/>
            <a:r>
              <a:rPr sz="1150" b="0" i="0">
                <a:solidFill>
                  <a:srgbClr val="6D6E71"/>
                </a:solidFill>
                <a:latin typeface="Arial"/>
              </a:rPr>
              <a:t>3 semanas antes</a:t>
            </a:r>
          </a:p>
        </p:txBody>
      </p:sp>
      <p:sp>
        <p:nvSpPr>
          <p:cNvPr id="22" name="Oval 21"/>
          <p:cNvSpPr/>
          <p:nvPr/>
        </p:nvSpPr>
        <p:spPr>
          <a:xfrm>
            <a:off x="822959" y="4466844"/>
            <a:ext cx="384048" cy="38404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22959" y="4466844"/>
            <a:ext cx="384048" cy="384048"/>
          </a:xfrm>
          <a:prstGeom prst="rect">
            <a:avLst/>
          </a:prstGeom>
          <a:noFill/>
        </p:spPr>
        <p:txBody>
          <a:bodyPr wrap="square" lIns="0" rIns="0" tIns="0" bIns="0" anchor="ctr">
            <a:spAutoFit/>
          </a:bodyPr>
          <a:lstStyle/>
          <a:p>
            <a:pPr algn="ctr"/>
            <a:r>
              <a:rPr sz="1300" b="1" i="0">
                <a:solidFill>
                  <a:srgbClr val="FFFFFF"/>
                </a:solidFill>
                <a:latin typeface="Arial"/>
              </a:rPr>
              <a:t>4</a:t>
            </a:r>
          </a:p>
        </p:txBody>
      </p:sp>
      <p:sp>
        <p:nvSpPr>
          <p:cNvPr id="24" name="TextBox 23"/>
          <p:cNvSpPr txBox="1"/>
          <p:nvPr/>
        </p:nvSpPr>
        <p:spPr>
          <a:xfrm>
            <a:off x="1417319" y="4448556"/>
            <a:ext cx="4253331" cy="274320"/>
          </a:xfrm>
          <a:prstGeom prst="rect">
            <a:avLst/>
          </a:prstGeom>
          <a:noFill/>
        </p:spPr>
        <p:txBody>
          <a:bodyPr wrap="square" lIns="0" rIns="0" tIns="0" bIns="0" anchor="t">
            <a:spAutoFit/>
          </a:bodyPr>
          <a:lstStyle/>
          <a:p>
            <a:pPr algn="l"/>
            <a:r>
              <a:rPr sz="1400" b="1" i="0">
                <a:solidFill>
                  <a:srgbClr val="1A1A1A"/>
                </a:solidFill>
                <a:latin typeface="Arial"/>
              </a:rPr>
              <a:t>Restricciones liberadas</a:t>
            </a:r>
          </a:p>
        </p:txBody>
      </p:sp>
      <p:sp>
        <p:nvSpPr>
          <p:cNvPr id="25" name="TextBox 24"/>
          <p:cNvSpPr txBox="1"/>
          <p:nvPr/>
        </p:nvSpPr>
        <p:spPr>
          <a:xfrm>
            <a:off x="1417319" y="4741164"/>
            <a:ext cx="4253331" cy="315468"/>
          </a:xfrm>
          <a:prstGeom prst="rect">
            <a:avLst/>
          </a:prstGeom>
          <a:noFill/>
        </p:spPr>
        <p:txBody>
          <a:bodyPr wrap="square" lIns="0" rIns="0" tIns="0" bIns="0" anchor="t">
            <a:spAutoFit/>
          </a:bodyPr>
          <a:lstStyle/>
          <a:p>
            <a:pPr algn="l"/>
            <a:r>
              <a:rPr sz="1150" b="0" i="0">
                <a:solidFill>
                  <a:srgbClr val="6D6E71"/>
                </a:solidFill>
                <a:latin typeface="Arial"/>
              </a:rPr>
              <a:t>2 semanas antes</a:t>
            </a:r>
          </a:p>
        </p:txBody>
      </p:sp>
      <p:sp>
        <p:nvSpPr>
          <p:cNvPr id="26" name="Rectangle 25"/>
          <p:cNvSpPr/>
          <p:nvPr/>
        </p:nvSpPr>
        <p:spPr>
          <a:xfrm>
            <a:off x="6246723" y="1828800"/>
            <a:ext cx="5396331" cy="341071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46723" y="1828800"/>
            <a:ext cx="5396331" cy="502920"/>
          </a:xfrm>
          <a:prstGeom prst="rect">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521043" y="1828800"/>
            <a:ext cx="4847691" cy="502920"/>
          </a:xfrm>
          <a:prstGeom prst="rect">
            <a:avLst/>
          </a:prstGeom>
          <a:noFill/>
        </p:spPr>
        <p:txBody>
          <a:bodyPr wrap="square" lIns="0" rIns="0" tIns="0" bIns="0" anchor="ctr">
            <a:spAutoFit/>
          </a:bodyPr>
          <a:lstStyle/>
          <a:p>
            <a:pPr algn="l"/>
            <a:r>
              <a:rPr sz="1200" b="1" i="0" spc="200">
                <a:solidFill>
                  <a:srgbClr val="FFFFFF"/>
                </a:solidFill>
                <a:latin typeface="Arial"/>
              </a:rPr>
              <a:t>MEGAPROYECTO</a:t>
            </a:r>
          </a:p>
        </p:txBody>
      </p:sp>
      <p:sp>
        <p:nvSpPr>
          <p:cNvPr id="29" name="Oval 28"/>
          <p:cNvSpPr/>
          <p:nvPr/>
        </p:nvSpPr>
        <p:spPr>
          <a:xfrm>
            <a:off x="6521043" y="2560320"/>
            <a:ext cx="384048" cy="384048"/>
          </a:xfrm>
          <a:prstGeom prst="ellipse">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521043" y="2560320"/>
            <a:ext cx="384048" cy="384048"/>
          </a:xfrm>
          <a:prstGeom prst="rect">
            <a:avLst/>
          </a:prstGeom>
          <a:noFill/>
        </p:spPr>
        <p:txBody>
          <a:bodyPr wrap="square" lIns="0" rIns="0" tIns="0" bIns="0" anchor="ctr">
            <a:spAutoFit/>
          </a:bodyPr>
          <a:lstStyle/>
          <a:p>
            <a:pPr algn="ctr"/>
            <a:r>
              <a:rPr sz="1300" b="1" i="0">
                <a:solidFill>
                  <a:srgbClr val="FFFFFF"/>
                </a:solidFill>
                <a:latin typeface="Arial"/>
              </a:rPr>
              <a:t>1</a:t>
            </a:r>
          </a:p>
        </p:txBody>
      </p:sp>
      <p:sp>
        <p:nvSpPr>
          <p:cNvPr id="31" name="TextBox 30"/>
          <p:cNvSpPr txBox="1"/>
          <p:nvPr/>
        </p:nvSpPr>
        <p:spPr>
          <a:xfrm>
            <a:off x="7115403" y="2542032"/>
            <a:ext cx="4253331" cy="274320"/>
          </a:xfrm>
          <a:prstGeom prst="rect">
            <a:avLst/>
          </a:prstGeom>
          <a:noFill/>
        </p:spPr>
        <p:txBody>
          <a:bodyPr wrap="square" lIns="0" rIns="0" tIns="0" bIns="0" anchor="t">
            <a:spAutoFit/>
          </a:bodyPr>
          <a:lstStyle/>
          <a:p>
            <a:pPr algn="l"/>
            <a:r>
              <a:rPr sz="1400" b="1" i="0">
                <a:solidFill>
                  <a:srgbClr val="1A1A1A"/>
                </a:solidFill>
                <a:latin typeface="Arial"/>
              </a:rPr>
              <a:t>IWP iniciado</a:t>
            </a:r>
          </a:p>
        </p:txBody>
      </p:sp>
      <p:sp>
        <p:nvSpPr>
          <p:cNvPr id="32" name="TextBox 31"/>
          <p:cNvSpPr txBox="1"/>
          <p:nvPr/>
        </p:nvSpPr>
        <p:spPr>
          <a:xfrm>
            <a:off x="7115403" y="2834639"/>
            <a:ext cx="4253331" cy="315468"/>
          </a:xfrm>
          <a:prstGeom prst="rect">
            <a:avLst/>
          </a:prstGeom>
          <a:noFill/>
        </p:spPr>
        <p:txBody>
          <a:bodyPr wrap="square" lIns="0" rIns="0" tIns="0" bIns="0" anchor="t">
            <a:spAutoFit/>
          </a:bodyPr>
          <a:lstStyle/>
          <a:p>
            <a:pPr algn="l"/>
            <a:r>
              <a:rPr sz="1150" b="0" i="0">
                <a:solidFill>
                  <a:srgbClr val="6D6E71"/>
                </a:solidFill>
                <a:latin typeface="Arial"/>
              </a:rPr>
              <a:t>12 semanas antes</a:t>
            </a:r>
          </a:p>
        </p:txBody>
      </p:sp>
      <p:sp>
        <p:nvSpPr>
          <p:cNvPr id="33" name="Oval 32"/>
          <p:cNvSpPr/>
          <p:nvPr/>
        </p:nvSpPr>
        <p:spPr>
          <a:xfrm>
            <a:off x="6521043" y="3195827"/>
            <a:ext cx="384048" cy="384048"/>
          </a:xfrm>
          <a:prstGeom prst="ellipse">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521043" y="3195827"/>
            <a:ext cx="384048" cy="384048"/>
          </a:xfrm>
          <a:prstGeom prst="rect">
            <a:avLst/>
          </a:prstGeom>
          <a:noFill/>
        </p:spPr>
        <p:txBody>
          <a:bodyPr wrap="square" lIns="0" rIns="0" tIns="0" bIns="0" anchor="ctr">
            <a:spAutoFit/>
          </a:bodyPr>
          <a:lstStyle/>
          <a:p>
            <a:pPr algn="ctr"/>
            <a:r>
              <a:rPr sz="1300" b="1" i="0">
                <a:solidFill>
                  <a:srgbClr val="FFFFFF"/>
                </a:solidFill>
                <a:latin typeface="Arial"/>
              </a:rPr>
              <a:t>2</a:t>
            </a:r>
          </a:p>
        </p:txBody>
      </p:sp>
      <p:sp>
        <p:nvSpPr>
          <p:cNvPr id="35" name="TextBox 34"/>
          <p:cNvSpPr txBox="1"/>
          <p:nvPr/>
        </p:nvSpPr>
        <p:spPr>
          <a:xfrm>
            <a:off x="7115403" y="3177539"/>
            <a:ext cx="4253331" cy="274320"/>
          </a:xfrm>
          <a:prstGeom prst="rect">
            <a:avLst/>
          </a:prstGeom>
          <a:noFill/>
        </p:spPr>
        <p:txBody>
          <a:bodyPr wrap="square" lIns="0" rIns="0" tIns="0" bIns="0" anchor="t">
            <a:spAutoFit/>
          </a:bodyPr>
          <a:lstStyle/>
          <a:p>
            <a:pPr algn="l"/>
            <a:r>
              <a:rPr sz="1400" b="1" i="0">
                <a:solidFill>
                  <a:srgbClr val="1A1A1A"/>
                </a:solidFill>
                <a:latin typeface="Arial"/>
              </a:rPr>
              <a:t>Restricciones identificadas</a:t>
            </a:r>
          </a:p>
        </p:txBody>
      </p:sp>
      <p:sp>
        <p:nvSpPr>
          <p:cNvPr id="36" name="TextBox 35"/>
          <p:cNvSpPr txBox="1"/>
          <p:nvPr/>
        </p:nvSpPr>
        <p:spPr>
          <a:xfrm>
            <a:off x="7115403" y="3470147"/>
            <a:ext cx="4253331" cy="315468"/>
          </a:xfrm>
          <a:prstGeom prst="rect">
            <a:avLst/>
          </a:prstGeom>
          <a:noFill/>
        </p:spPr>
        <p:txBody>
          <a:bodyPr wrap="square" lIns="0" rIns="0" tIns="0" bIns="0" anchor="t">
            <a:spAutoFit/>
          </a:bodyPr>
          <a:lstStyle/>
          <a:p>
            <a:pPr algn="l"/>
            <a:r>
              <a:rPr sz="1150" b="0" i="0">
                <a:solidFill>
                  <a:srgbClr val="6D6E71"/>
                </a:solidFill>
                <a:latin typeface="Arial"/>
              </a:rPr>
              <a:t>10 semanas antes</a:t>
            </a:r>
          </a:p>
        </p:txBody>
      </p:sp>
      <p:sp>
        <p:nvSpPr>
          <p:cNvPr id="37" name="Oval 36"/>
          <p:cNvSpPr/>
          <p:nvPr/>
        </p:nvSpPr>
        <p:spPr>
          <a:xfrm>
            <a:off x="6521043" y="3831335"/>
            <a:ext cx="384048" cy="384048"/>
          </a:xfrm>
          <a:prstGeom prst="ellipse">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521043" y="3831335"/>
            <a:ext cx="384048" cy="384048"/>
          </a:xfrm>
          <a:prstGeom prst="rect">
            <a:avLst/>
          </a:prstGeom>
          <a:noFill/>
        </p:spPr>
        <p:txBody>
          <a:bodyPr wrap="square" lIns="0" rIns="0" tIns="0" bIns="0" anchor="ctr">
            <a:spAutoFit/>
          </a:bodyPr>
          <a:lstStyle/>
          <a:p>
            <a:pPr algn="ctr"/>
            <a:r>
              <a:rPr sz="1300" b="1" i="0">
                <a:solidFill>
                  <a:srgbClr val="FFFFFF"/>
                </a:solidFill>
                <a:latin typeface="Arial"/>
              </a:rPr>
              <a:t>3</a:t>
            </a:r>
          </a:p>
        </p:txBody>
      </p:sp>
      <p:sp>
        <p:nvSpPr>
          <p:cNvPr id="39" name="TextBox 38"/>
          <p:cNvSpPr txBox="1"/>
          <p:nvPr/>
        </p:nvSpPr>
        <p:spPr>
          <a:xfrm>
            <a:off x="7115403" y="3813048"/>
            <a:ext cx="4253331" cy="274320"/>
          </a:xfrm>
          <a:prstGeom prst="rect">
            <a:avLst/>
          </a:prstGeom>
          <a:noFill/>
        </p:spPr>
        <p:txBody>
          <a:bodyPr wrap="square" lIns="0" rIns="0" tIns="0" bIns="0" anchor="t">
            <a:spAutoFit/>
          </a:bodyPr>
          <a:lstStyle/>
          <a:p>
            <a:pPr algn="l"/>
            <a:r>
              <a:rPr sz="1400" b="1" i="0">
                <a:solidFill>
                  <a:srgbClr val="1A1A1A"/>
                </a:solidFill>
                <a:latin typeface="Arial"/>
              </a:rPr>
              <a:t>Restricciones asignadas</a:t>
            </a:r>
          </a:p>
        </p:txBody>
      </p:sp>
      <p:sp>
        <p:nvSpPr>
          <p:cNvPr id="40" name="TextBox 39"/>
          <p:cNvSpPr txBox="1"/>
          <p:nvPr/>
        </p:nvSpPr>
        <p:spPr>
          <a:xfrm>
            <a:off x="7115403" y="4105655"/>
            <a:ext cx="4253331" cy="315468"/>
          </a:xfrm>
          <a:prstGeom prst="rect">
            <a:avLst/>
          </a:prstGeom>
          <a:noFill/>
        </p:spPr>
        <p:txBody>
          <a:bodyPr wrap="square" lIns="0" rIns="0" tIns="0" bIns="0" anchor="t">
            <a:spAutoFit/>
          </a:bodyPr>
          <a:lstStyle/>
          <a:p>
            <a:pPr algn="l"/>
            <a:r>
              <a:rPr sz="1150" b="0" i="0">
                <a:solidFill>
                  <a:srgbClr val="6D6E71"/>
                </a:solidFill>
                <a:latin typeface="Arial"/>
              </a:rPr>
              <a:t>8 semanas antes</a:t>
            </a:r>
          </a:p>
        </p:txBody>
      </p:sp>
      <p:sp>
        <p:nvSpPr>
          <p:cNvPr id="41" name="Oval 40"/>
          <p:cNvSpPr/>
          <p:nvPr/>
        </p:nvSpPr>
        <p:spPr>
          <a:xfrm>
            <a:off x="6521043" y="4466844"/>
            <a:ext cx="384048" cy="384048"/>
          </a:xfrm>
          <a:prstGeom prst="ellipse">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521043" y="4466844"/>
            <a:ext cx="384048" cy="384048"/>
          </a:xfrm>
          <a:prstGeom prst="rect">
            <a:avLst/>
          </a:prstGeom>
          <a:noFill/>
        </p:spPr>
        <p:txBody>
          <a:bodyPr wrap="square" lIns="0" rIns="0" tIns="0" bIns="0" anchor="ctr">
            <a:spAutoFit/>
          </a:bodyPr>
          <a:lstStyle/>
          <a:p>
            <a:pPr algn="ctr"/>
            <a:r>
              <a:rPr sz="1300" b="1" i="0">
                <a:solidFill>
                  <a:srgbClr val="FFFFFF"/>
                </a:solidFill>
                <a:latin typeface="Arial"/>
              </a:rPr>
              <a:t>4</a:t>
            </a:r>
          </a:p>
        </p:txBody>
      </p:sp>
      <p:sp>
        <p:nvSpPr>
          <p:cNvPr id="43" name="TextBox 42"/>
          <p:cNvSpPr txBox="1"/>
          <p:nvPr/>
        </p:nvSpPr>
        <p:spPr>
          <a:xfrm>
            <a:off x="7115403" y="4448556"/>
            <a:ext cx="4253331" cy="274320"/>
          </a:xfrm>
          <a:prstGeom prst="rect">
            <a:avLst/>
          </a:prstGeom>
          <a:noFill/>
        </p:spPr>
        <p:txBody>
          <a:bodyPr wrap="square" lIns="0" rIns="0" tIns="0" bIns="0" anchor="t">
            <a:spAutoFit/>
          </a:bodyPr>
          <a:lstStyle/>
          <a:p>
            <a:pPr algn="l"/>
            <a:r>
              <a:rPr sz="1400" b="1" i="0">
                <a:solidFill>
                  <a:srgbClr val="1A1A1A"/>
                </a:solidFill>
                <a:latin typeface="Arial"/>
              </a:rPr>
              <a:t>Restricciones liberadas</a:t>
            </a:r>
          </a:p>
        </p:txBody>
      </p:sp>
      <p:sp>
        <p:nvSpPr>
          <p:cNvPr id="44" name="TextBox 43"/>
          <p:cNvSpPr txBox="1"/>
          <p:nvPr/>
        </p:nvSpPr>
        <p:spPr>
          <a:xfrm>
            <a:off x="7115403" y="4741164"/>
            <a:ext cx="4253331" cy="315468"/>
          </a:xfrm>
          <a:prstGeom prst="rect">
            <a:avLst/>
          </a:prstGeom>
          <a:noFill/>
        </p:spPr>
        <p:txBody>
          <a:bodyPr wrap="square" lIns="0" rIns="0" tIns="0" bIns="0" anchor="t">
            <a:spAutoFit/>
          </a:bodyPr>
          <a:lstStyle/>
          <a:p>
            <a:pPr algn="l"/>
            <a:r>
              <a:rPr sz="1150" b="0" i="0">
                <a:solidFill>
                  <a:srgbClr val="6D6E71"/>
                </a:solidFill>
                <a:latin typeface="Arial"/>
              </a:rPr>
              <a:t>4 semanas antes</a:t>
            </a:r>
          </a:p>
        </p:txBody>
      </p:sp>
      <p:sp>
        <p:nvSpPr>
          <p:cNvPr id="45" name="Rectangle 44"/>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flag_o.png"/>
          <p:cNvPicPr>
            <a:picLocks noChangeAspect="1"/>
          </p:cNvPicPr>
          <p:nvPr/>
        </p:nvPicPr>
        <p:blipFill>
          <a:blip r:embed="rId2"/>
          <a:stretch>
            <a:fillRect/>
          </a:stretch>
        </p:blipFill>
        <p:spPr>
          <a:xfrm>
            <a:off x="822959" y="5660136"/>
            <a:ext cx="365760" cy="365760"/>
          </a:xfrm>
          <a:prstGeom prst="rect">
            <a:avLst/>
          </a:prstGeom>
        </p:spPr>
      </p:pic>
      <p:sp>
        <p:nvSpPr>
          <p:cNvPr id="47" name="TextBox 46"/>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Mismo proceso, distinto horizonte: ajuste el calendario al tamaño, no los pasos.</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11 · AWP Y LEAN</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AWP y Lean Construction se complementan</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M11 · ESCALAR Y ADOPTAR AWP</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107</a:t>
            </a:r>
          </a:p>
        </p:txBody>
      </p:sp>
      <p:sp>
        <p:nvSpPr>
          <p:cNvPr id="7" name="Rectangle 6"/>
          <p:cNvSpPr/>
          <p:nvPr/>
        </p:nvSpPr>
        <p:spPr>
          <a:xfrm>
            <a:off x="548640" y="1828800"/>
            <a:ext cx="5396331" cy="341071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48640" y="1828800"/>
            <a:ext cx="5396331" cy="50292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1828800"/>
            <a:ext cx="4847691" cy="502920"/>
          </a:xfrm>
          <a:prstGeom prst="rect">
            <a:avLst/>
          </a:prstGeom>
          <a:noFill/>
        </p:spPr>
        <p:txBody>
          <a:bodyPr wrap="square" lIns="0" rIns="0" tIns="0" bIns="0" anchor="ctr">
            <a:spAutoFit/>
          </a:bodyPr>
          <a:lstStyle/>
          <a:p>
            <a:pPr algn="l"/>
            <a:r>
              <a:rPr sz="1200" b="1" i="0" spc="200">
                <a:solidFill>
                  <a:srgbClr val="FFFFFF"/>
                </a:solidFill>
                <a:latin typeface="Arial"/>
              </a:rPr>
              <a:t>AWP</a:t>
            </a:r>
          </a:p>
        </p:txBody>
      </p:sp>
      <p:sp>
        <p:nvSpPr>
          <p:cNvPr id="10" name="Oval 9"/>
          <p:cNvSpPr/>
          <p:nvPr/>
        </p:nvSpPr>
        <p:spPr>
          <a:xfrm>
            <a:off x="932688" y="2670048"/>
            <a:ext cx="155448" cy="15544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17319" y="2542032"/>
            <a:ext cx="4253331" cy="274320"/>
          </a:xfrm>
          <a:prstGeom prst="rect">
            <a:avLst/>
          </a:prstGeom>
          <a:noFill/>
        </p:spPr>
        <p:txBody>
          <a:bodyPr wrap="square" lIns="0" rIns="0" tIns="0" bIns="0" anchor="t">
            <a:spAutoFit/>
          </a:bodyPr>
          <a:lstStyle/>
          <a:p>
            <a:pPr algn="l"/>
            <a:r>
              <a:rPr sz="1400" b="1" i="0">
                <a:solidFill>
                  <a:srgbClr val="1A1A1A"/>
                </a:solidFill>
                <a:latin typeface="Arial"/>
              </a:rPr>
              <a:t>Planificadores dedicados</a:t>
            </a:r>
          </a:p>
        </p:txBody>
      </p:sp>
      <p:sp>
        <p:nvSpPr>
          <p:cNvPr id="12" name="TextBox 11"/>
          <p:cNvSpPr txBox="1"/>
          <p:nvPr/>
        </p:nvSpPr>
        <p:spPr>
          <a:xfrm>
            <a:off x="1417319" y="2834639"/>
            <a:ext cx="4253331" cy="527304"/>
          </a:xfrm>
          <a:prstGeom prst="rect">
            <a:avLst/>
          </a:prstGeom>
          <a:noFill/>
        </p:spPr>
        <p:txBody>
          <a:bodyPr wrap="square" lIns="0" rIns="0" tIns="0" bIns="0" anchor="t">
            <a:spAutoFit/>
          </a:bodyPr>
          <a:lstStyle/>
          <a:p>
            <a:pPr algn="l"/>
            <a:r>
              <a:rPr sz="1150" b="0" i="0">
                <a:solidFill>
                  <a:srgbClr val="6D6E71"/>
                </a:solidFill>
                <a:latin typeface="Arial"/>
              </a:rPr>
              <a:t>Con experiencia de oficio o de ingeniería de campo</a:t>
            </a:r>
          </a:p>
        </p:txBody>
      </p:sp>
      <p:sp>
        <p:nvSpPr>
          <p:cNvPr id="13" name="Oval 12"/>
          <p:cNvSpPr/>
          <p:nvPr/>
        </p:nvSpPr>
        <p:spPr>
          <a:xfrm>
            <a:off x="932688" y="3517392"/>
            <a:ext cx="155448" cy="15544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417319" y="3389376"/>
            <a:ext cx="4253331" cy="274320"/>
          </a:xfrm>
          <a:prstGeom prst="rect">
            <a:avLst/>
          </a:prstGeom>
          <a:noFill/>
        </p:spPr>
        <p:txBody>
          <a:bodyPr wrap="square" lIns="0" rIns="0" tIns="0" bIns="0" anchor="t">
            <a:spAutoFit/>
          </a:bodyPr>
          <a:lstStyle/>
          <a:p>
            <a:pPr algn="l"/>
            <a:r>
              <a:rPr sz="1400" b="1" i="0">
                <a:solidFill>
                  <a:srgbClr val="1A1A1A"/>
                </a:solidFill>
                <a:latin typeface="Arial"/>
              </a:rPr>
              <a:t>Restricciones con proceso formal</a:t>
            </a:r>
          </a:p>
        </p:txBody>
      </p:sp>
      <p:sp>
        <p:nvSpPr>
          <p:cNvPr id="15" name="TextBox 14"/>
          <p:cNvSpPr txBox="1"/>
          <p:nvPr/>
        </p:nvSpPr>
        <p:spPr>
          <a:xfrm>
            <a:off x="1417319" y="3681983"/>
            <a:ext cx="4253331" cy="527304"/>
          </a:xfrm>
          <a:prstGeom prst="rect">
            <a:avLst/>
          </a:prstGeom>
          <a:noFill/>
        </p:spPr>
        <p:txBody>
          <a:bodyPr wrap="square" lIns="0" rIns="0" tIns="0" bIns="0" anchor="t">
            <a:spAutoFit/>
          </a:bodyPr>
          <a:lstStyle/>
          <a:p>
            <a:pPr algn="l"/>
            <a:r>
              <a:rPr sz="1150" b="0" i="0">
                <a:solidFill>
                  <a:srgbClr val="6D6E71"/>
                </a:solidFill>
                <a:latin typeface="Arial"/>
              </a:rPr>
              <a:t>Útil en instalaciones muy técnicas</a:t>
            </a:r>
          </a:p>
        </p:txBody>
      </p:sp>
      <p:sp>
        <p:nvSpPr>
          <p:cNvPr id="16" name="Oval 15"/>
          <p:cNvSpPr/>
          <p:nvPr/>
        </p:nvSpPr>
        <p:spPr>
          <a:xfrm>
            <a:off x="932688" y="4364736"/>
            <a:ext cx="155448" cy="15544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417319" y="4236720"/>
            <a:ext cx="4253331" cy="274320"/>
          </a:xfrm>
          <a:prstGeom prst="rect">
            <a:avLst/>
          </a:prstGeom>
          <a:noFill/>
        </p:spPr>
        <p:txBody>
          <a:bodyPr wrap="square" lIns="0" rIns="0" tIns="0" bIns="0" anchor="t">
            <a:spAutoFit/>
          </a:bodyPr>
          <a:lstStyle/>
          <a:p>
            <a:pPr algn="l"/>
            <a:r>
              <a:rPr sz="1400" b="1" i="0">
                <a:solidFill>
                  <a:srgbClr val="1A1A1A"/>
                </a:solidFill>
                <a:latin typeface="Arial"/>
              </a:rPr>
              <a:t>Avance frente al plan</a:t>
            </a:r>
          </a:p>
        </p:txBody>
      </p:sp>
      <p:sp>
        <p:nvSpPr>
          <p:cNvPr id="18" name="TextBox 17"/>
          <p:cNvSpPr txBox="1"/>
          <p:nvPr/>
        </p:nvSpPr>
        <p:spPr>
          <a:xfrm>
            <a:off x="1417319" y="4529328"/>
            <a:ext cx="4253331" cy="527304"/>
          </a:xfrm>
          <a:prstGeom prst="rect">
            <a:avLst/>
          </a:prstGeom>
          <a:noFill/>
        </p:spPr>
        <p:txBody>
          <a:bodyPr wrap="square" lIns="0" rIns="0" tIns="0" bIns="0" anchor="t">
            <a:spAutoFit/>
          </a:bodyPr>
          <a:lstStyle/>
          <a:p>
            <a:pPr algn="l"/>
            <a:r>
              <a:rPr sz="1150" b="0" i="0">
                <a:solidFill>
                  <a:srgbClr val="6D6E71"/>
                </a:solidFill>
                <a:latin typeface="Arial"/>
              </a:rPr>
              <a:t>Valor ganado y cumplimiento del cronograma</a:t>
            </a:r>
          </a:p>
        </p:txBody>
      </p:sp>
      <p:sp>
        <p:nvSpPr>
          <p:cNvPr id="19" name="Rectangle 18"/>
          <p:cNvSpPr/>
          <p:nvPr/>
        </p:nvSpPr>
        <p:spPr>
          <a:xfrm>
            <a:off x="6246723" y="1828800"/>
            <a:ext cx="5396331" cy="341071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246723" y="1828800"/>
            <a:ext cx="5396331" cy="502920"/>
          </a:xfrm>
          <a:prstGeom prst="rect">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521043" y="1828800"/>
            <a:ext cx="4847691" cy="502920"/>
          </a:xfrm>
          <a:prstGeom prst="rect">
            <a:avLst/>
          </a:prstGeom>
          <a:noFill/>
        </p:spPr>
        <p:txBody>
          <a:bodyPr wrap="square" lIns="0" rIns="0" tIns="0" bIns="0" anchor="ctr">
            <a:spAutoFit/>
          </a:bodyPr>
          <a:lstStyle/>
          <a:p>
            <a:pPr algn="l"/>
            <a:r>
              <a:rPr sz="1200" b="1" i="0" spc="200">
                <a:solidFill>
                  <a:srgbClr val="FFFFFF"/>
                </a:solidFill>
                <a:latin typeface="Arial"/>
              </a:rPr>
              <a:t>LEAN · LAST PLANNER SYSTEM</a:t>
            </a:r>
          </a:p>
        </p:txBody>
      </p:sp>
      <p:sp>
        <p:nvSpPr>
          <p:cNvPr id="22" name="Oval 21"/>
          <p:cNvSpPr/>
          <p:nvPr/>
        </p:nvSpPr>
        <p:spPr>
          <a:xfrm>
            <a:off x="6630771" y="2670048"/>
            <a:ext cx="155448" cy="155448"/>
          </a:xfrm>
          <a:prstGeom prst="ellipse">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115403" y="2542032"/>
            <a:ext cx="4253331" cy="274320"/>
          </a:xfrm>
          <a:prstGeom prst="rect">
            <a:avLst/>
          </a:prstGeom>
          <a:noFill/>
        </p:spPr>
        <p:txBody>
          <a:bodyPr wrap="square" lIns="0" rIns="0" tIns="0" bIns="0" anchor="t">
            <a:spAutoFit/>
          </a:bodyPr>
          <a:lstStyle/>
          <a:p>
            <a:pPr algn="l"/>
            <a:r>
              <a:rPr sz="1400" b="1" i="0">
                <a:solidFill>
                  <a:srgbClr val="1A1A1A"/>
                </a:solidFill>
                <a:latin typeface="Arial"/>
              </a:rPr>
              <a:t>El «último planificador»</a:t>
            </a:r>
          </a:p>
        </p:txBody>
      </p:sp>
      <p:sp>
        <p:nvSpPr>
          <p:cNvPr id="24" name="TextBox 23"/>
          <p:cNvSpPr txBox="1"/>
          <p:nvPr/>
        </p:nvSpPr>
        <p:spPr>
          <a:xfrm>
            <a:off x="7115403" y="2834639"/>
            <a:ext cx="4253331" cy="527304"/>
          </a:xfrm>
          <a:prstGeom prst="rect">
            <a:avLst/>
          </a:prstGeom>
          <a:noFill/>
        </p:spPr>
        <p:txBody>
          <a:bodyPr wrap="square" lIns="0" rIns="0" tIns="0" bIns="0" anchor="t">
            <a:spAutoFit/>
          </a:bodyPr>
          <a:lstStyle/>
          <a:p>
            <a:pPr algn="l"/>
            <a:r>
              <a:rPr sz="1150" b="0" i="0">
                <a:solidFill>
                  <a:srgbClr val="6D6E71"/>
                </a:solidFill>
                <a:latin typeface="Arial"/>
              </a:rPr>
              <a:t>Capataces y superintendentes planifican juntos</a:t>
            </a:r>
          </a:p>
        </p:txBody>
      </p:sp>
      <p:sp>
        <p:nvSpPr>
          <p:cNvPr id="25" name="Oval 24"/>
          <p:cNvSpPr/>
          <p:nvPr/>
        </p:nvSpPr>
        <p:spPr>
          <a:xfrm>
            <a:off x="6630771" y="3517392"/>
            <a:ext cx="155448" cy="155448"/>
          </a:xfrm>
          <a:prstGeom prst="ellipse">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115403" y="3389376"/>
            <a:ext cx="4253331" cy="274320"/>
          </a:xfrm>
          <a:prstGeom prst="rect">
            <a:avLst/>
          </a:prstGeom>
          <a:noFill/>
        </p:spPr>
        <p:txBody>
          <a:bodyPr wrap="square" lIns="0" rIns="0" tIns="0" bIns="0" anchor="t">
            <a:spAutoFit/>
          </a:bodyPr>
          <a:lstStyle/>
          <a:p>
            <a:pPr algn="l"/>
            <a:r>
              <a:rPr sz="1400" b="1" i="0">
                <a:solidFill>
                  <a:srgbClr val="1A1A1A"/>
                </a:solidFill>
                <a:latin typeface="Arial"/>
              </a:rPr>
              <a:t>Compromisos confiables</a:t>
            </a:r>
          </a:p>
        </p:txBody>
      </p:sp>
      <p:sp>
        <p:nvSpPr>
          <p:cNvPr id="27" name="TextBox 26"/>
          <p:cNvSpPr txBox="1"/>
          <p:nvPr/>
        </p:nvSpPr>
        <p:spPr>
          <a:xfrm>
            <a:off x="7115403" y="3681983"/>
            <a:ext cx="4253331" cy="527304"/>
          </a:xfrm>
          <a:prstGeom prst="rect">
            <a:avLst/>
          </a:prstGeom>
          <a:noFill/>
        </p:spPr>
        <p:txBody>
          <a:bodyPr wrap="square" lIns="0" rIns="0" tIns="0" bIns="0" anchor="t">
            <a:spAutoFit/>
          </a:bodyPr>
          <a:lstStyle/>
          <a:p>
            <a:pPr algn="l"/>
            <a:r>
              <a:rPr sz="1150" b="0" i="0">
                <a:solidFill>
                  <a:srgbClr val="6D6E71"/>
                </a:solidFill>
                <a:latin typeface="Arial"/>
              </a:rPr>
              <a:t>Conversaciones facilitadas y muy visuales</a:t>
            </a:r>
          </a:p>
        </p:txBody>
      </p:sp>
      <p:sp>
        <p:nvSpPr>
          <p:cNvPr id="28" name="Oval 27"/>
          <p:cNvSpPr/>
          <p:nvPr/>
        </p:nvSpPr>
        <p:spPr>
          <a:xfrm>
            <a:off x="6630771" y="4364736"/>
            <a:ext cx="155448" cy="155448"/>
          </a:xfrm>
          <a:prstGeom prst="ellipse">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115403" y="4236720"/>
            <a:ext cx="4253331" cy="274320"/>
          </a:xfrm>
          <a:prstGeom prst="rect">
            <a:avLst/>
          </a:prstGeom>
          <a:noFill/>
        </p:spPr>
        <p:txBody>
          <a:bodyPr wrap="square" lIns="0" rIns="0" tIns="0" bIns="0" anchor="t">
            <a:spAutoFit/>
          </a:bodyPr>
          <a:lstStyle/>
          <a:p>
            <a:pPr algn="l"/>
            <a:r>
              <a:rPr sz="1400" b="1" i="0">
                <a:solidFill>
                  <a:srgbClr val="1A1A1A"/>
                </a:solidFill>
                <a:latin typeface="Arial"/>
              </a:rPr>
              <a:t>Flujo y adaptabilidad</a:t>
            </a:r>
          </a:p>
        </p:txBody>
      </p:sp>
      <p:sp>
        <p:nvSpPr>
          <p:cNvPr id="30" name="TextBox 29"/>
          <p:cNvSpPr txBox="1"/>
          <p:nvPr/>
        </p:nvSpPr>
        <p:spPr>
          <a:xfrm>
            <a:off x="7115403" y="4529328"/>
            <a:ext cx="4253331" cy="527304"/>
          </a:xfrm>
          <a:prstGeom prst="rect">
            <a:avLst/>
          </a:prstGeom>
          <a:noFill/>
        </p:spPr>
        <p:txBody>
          <a:bodyPr wrap="square" lIns="0" rIns="0" tIns="0" bIns="0" anchor="t">
            <a:spAutoFit/>
          </a:bodyPr>
          <a:lstStyle/>
          <a:p>
            <a:pPr algn="l"/>
            <a:r>
              <a:rPr sz="1150" b="0" i="0">
                <a:solidFill>
                  <a:srgbClr val="6D6E71"/>
                </a:solidFill>
                <a:latin typeface="Arial"/>
              </a:rPr>
              <a:t>Confiabilidad del flujo de trabajo</a:t>
            </a:r>
          </a:p>
        </p:txBody>
      </p:sp>
      <p:sp>
        <p:nvSpPr>
          <p:cNvPr id="31" name="Rectangle 30"/>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flag_o.png"/>
          <p:cNvPicPr>
            <a:picLocks noChangeAspect="1"/>
          </p:cNvPicPr>
          <p:nvPr/>
        </p:nvPicPr>
        <p:blipFill>
          <a:blip r:embed="rId2"/>
          <a:stretch>
            <a:fillRect/>
          </a:stretch>
        </p:blipFill>
        <p:spPr>
          <a:xfrm>
            <a:off x="822959" y="5660136"/>
            <a:ext cx="365760" cy="365760"/>
          </a:xfrm>
          <a:prstGeom prst="rect">
            <a:avLst/>
          </a:prstGeom>
        </p:spPr>
      </p:pic>
      <p:sp>
        <p:nvSpPr>
          <p:cNvPr id="33" name="TextBox 32"/>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La eliminación rigurosa de restricciones de WFP puede reforzar el Last Planner System.</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11 · AWP FRENTE A LEAN</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Once temas muestran dónde coinciden y dónde difieren</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M11 · ESCALAR Y ADOPTAR AWP</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108</a:t>
            </a:r>
          </a:p>
        </p:txBody>
      </p:sp>
      <p:graphicFrame>
        <p:nvGraphicFramePr>
          <p:cNvPr id="7" name="Table 6"/>
          <p:cNvGraphicFramePr>
            <a:graphicFrameLocks noGrp="1"/>
          </p:cNvGraphicFramePr>
          <p:nvPr/>
        </p:nvGraphicFramePr>
        <p:xfrm>
          <a:off x="563727" y="1828800"/>
          <a:ext cx="11064240" cy="4343390"/>
        </p:xfrm>
        <a:graphic>
          <a:graphicData uri="http://schemas.openxmlformats.org/drawingml/2006/table">
            <a:tbl>
              <a:tblPr firstRow="0" bandRow="0">
                <a:tableStyleId>{5C22544A-7EE6-4342-B048-85BDC9FD1C3A}</a:tableStyleId>
              </a:tblPr>
              <a:tblGrid>
                <a:gridCol w="3200400"/>
                <a:gridCol w="7863840"/>
              </a:tblGrid>
              <a:tr h="457200">
                <a:tc>
                  <a:txBody>
                    <a:bodyPr wrap="square"/>
                    <a:lstStyle/>
                    <a:p>
                      <a:pPr algn="l"/>
                      <a:r>
                        <a:rPr sz="1000" b="1" spc="100">
                          <a:solidFill>
                            <a:srgbClr val="FFFFFF"/>
                          </a:solidFill>
                          <a:latin typeface="Arial"/>
                        </a:rPr>
                        <a:t>TEMA</a:t>
                      </a:r>
                    </a:p>
                  </a:txBody>
                  <a:tcPr marL="137160" marR="91440" marT="27432" marB="27432" anchor="ctr">
                    <a:solidFill>
                      <a:srgbClr val="1A1A1A"/>
                    </a:solidFill>
                  </a:tcPr>
                </a:tc>
                <a:tc>
                  <a:txBody>
                    <a:bodyPr wrap="square"/>
                    <a:lstStyle/>
                    <a:p>
                      <a:pPr algn="l"/>
                      <a:r>
                        <a:rPr sz="1000" b="1" spc="100">
                          <a:solidFill>
                            <a:srgbClr val="FFFFFF"/>
                          </a:solidFill>
                          <a:latin typeface="Arial"/>
                        </a:rPr>
                        <a:t>COINCIDENCIA O DIFERENCIA</a:t>
                      </a:r>
                    </a:p>
                  </a:txBody>
                  <a:tcPr marL="137160" marR="91440" marT="27432" marB="27432" anchor="ctr">
                    <a:solidFill>
                      <a:srgbClr val="1A1A1A"/>
                    </a:solidFill>
                  </a:tcPr>
                </a:tc>
              </a:tr>
              <a:tr h="353290">
                <a:tc>
                  <a:txBody>
                    <a:bodyPr wrap="square"/>
                    <a:lstStyle/>
                    <a:p>
                      <a:pPr algn="l"/>
                      <a:r>
                        <a:rPr sz="1150" b="1">
                          <a:solidFill>
                            <a:srgbClr val="1A1A1A"/>
                          </a:solidFill>
                          <a:latin typeface="Arial"/>
                        </a:rPr>
                        <a:t>1 · Quién planifica</a:t>
                      </a:r>
                    </a:p>
                  </a:txBody>
                  <a:tcPr marL="137160" marR="91440" marT="27432" marB="27432" anchor="ctr">
                    <a:solidFill>
                      <a:srgbClr val="FFFFFF"/>
                    </a:solidFill>
                  </a:tcPr>
                </a:tc>
                <a:tc>
                  <a:txBody>
                    <a:bodyPr wrap="square"/>
                    <a:lstStyle/>
                    <a:p>
                      <a:pPr algn="l"/>
                      <a:r>
                        <a:rPr sz="1150" b="0">
                          <a:solidFill>
                            <a:srgbClr val="2E2E2E"/>
                          </a:solidFill>
                          <a:latin typeface="Arial"/>
                        </a:rPr>
                        <a:t>AWP: planificadores dedicados · Lean: el «último planificador», cerca del trabajo</a:t>
                      </a:r>
                    </a:p>
                  </a:txBody>
                  <a:tcPr marL="137160" marR="91440" marT="27432" marB="27432" anchor="ctr">
                    <a:solidFill>
                      <a:srgbClr val="FFFFFF"/>
                    </a:solidFill>
                  </a:tcPr>
                </a:tc>
              </a:tr>
              <a:tr h="353290">
                <a:tc>
                  <a:txBody>
                    <a:bodyPr wrap="square"/>
                    <a:lstStyle/>
                    <a:p>
                      <a:pPr algn="l"/>
                      <a:r>
                        <a:rPr sz="1150" b="1">
                          <a:solidFill>
                            <a:srgbClr val="1A1A1A"/>
                          </a:solidFill>
                          <a:latin typeface="Arial"/>
                        </a:rPr>
                        <a:t>2 · Programador maestro</a:t>
                      </a:r>
                    </a:p>
                  </a:txBody>
                  <a:tcPr marL="137160" marR="91440" marT="27432" marB="27432" anchor="ctr">
                    <a:solidFill>
                      <a:srgbClr val="F7F7F7"/>
                    </a:solidFill>
                  </a:tcPr>
                </a:tc>
                <a:tc>
                  <a:txBody>
                    <a:bodyPr wrap="square"/>
                    <a:lstStyle/>
                    <a:p>
                      <a:pPr algn="l"/>
                      <a:r>
                        <a:rPr sz="1150" b="0">
                          <a:solidFill>
                            <a:srgbClr val="2E2E2E"/>
                          </a:solidFill>
                          <a:latin typeface="Arial"/>
                        </a:rPr>
                        <a:t>Lean limita el detalle temprano; WFP puede reforzar la eliminación de restricciones</a:t>
                      </a:r>
                    </a:p>
                  </a:txBody>
                  <a:tcPr marL="137160" marR="91440" marT="27432" marB="27432" anchor="ctr">
                    <a:solidFill>
                      <a:srgbClr val="F7F7F7"/>
                    </a:solidFill>
                  </a:tcPr>
                </a:tc>
              </a:tr>
              <a:tr h="353290">
                <a:tc>
                  <a:txBody>
                    <a:bodyPr wrap="square"/>
                    <a:lstStyle/>
                    <a:p>
                      <a:pPr algn="l"/>
                      <a:r>
                        <a:rPr sz="1150" b="1">
                          <a:solidFill>
                            <a:srgbClr val="1A1A1A"/>
                          </a:solidFill>
                          <a:latin typeface="Arial"/>
                        </a:rPr>
                        <a:t>3 · Quién ejecuta</a:t>
                      </a:r>
                    </a:p>
                  </a:txBody>
                  <a:tcPr marL="137160" marR="91440" marT="27432" marB="27432" anchor="ctr">
                    <a:solidFill>
                      <a:srgbClr val="FFFFFF"/>
                    </a:solidFill>
                  </a:tcPr>
                </a:tc>
                <a:tc>
                  <a:txBody>
                    <a:bodyPr wrap="square"/>
                    <a:lstStyle/>
                    <a:p>
                      <a:pPr algn="l"/>
                      <a:r>
                        <a:rPr sz="1150" b="0">
                          <a:solidFill>
                            <a:srgbClr val="2E2E2E"/>
                          </a:solidFill>
                          <a:latin typeface="Arial"/>
                        </a:rPr>
                        <a:t>Mismo enfoque, con técnicas distintas</a:t>
                      </a:r>
                    </a:p>
                  </a:txBody>
                  <a:tcPr marL="137160" marR="91440" marT="27432" marB="27432" anchor="ctr">
                    <a:solidFill>
                      <a:srgbClr val="FFFFFF"/>
                    </a:solidFill>
                  </a:tcPr>
                </a:tc>
              </a:tr>
              <a:tr h="353290">
                <a:tc>
                  <a:txBody>
                    <a:bodyPr wrap="square"/>
                    <a:lstStyle/>
                    <a:p>
                      <a:pPr algn="l"/>
                      <a:r>
                        <a:rPr sz="1150" b="1">
                          <a:solidFill>
                            <a:srgbClr val="1A1A1A"/>
                          </a:solidFill>
                          <a:latin typeface="Arial"/>
                        </a:rPr>
                        <a:t>4 · Empaquetamiento</a:t>
                      </a:r>
                    </a:p>
                  </a:txBody>
                  <a:tcPr marL="137160" marR="91440" marT="27432" marB="27432" anchor="ctr">
                    <a:solidFill>
                      <a:srgbClr val="F7F7F7"/>
                    </a:solidFill>
                  </a:tcPr>
                </a:tc>
                <a:tc>
                  <a:txBody>
                    <a:bodyPr wrap="square"/>
                    <a:lstStyle/>
                    <a:p>
                      <a:pPr algn="l"/>
                      <a:r>
                        <a:rPr sz="1150" b="0">
                          <a:solidFill>
                            <a:srgbClr val="2E2E2E"/>
                          </a:solidFill>
                          <a:latin typeface="Arial"/>
                        </a:rPr>
                        <a:t>Lean/IPD ya usa paquetes; cambian el momento y la participación de los oficios</a:t>
                      </a:r>
                    </a:p>
                  </a:txBody>
                  <a:tcPr marL="137160" marR="91440" marT="27432" marB="27432" anchor="ctr">
                    <a:solidFill>
                      <a:srgbClr val="F7F7F7"/>
                    </a:solidFill>
                  </a:tcPr>
                </a:tc>
              </a:tr>
              <a:tr h="353290">
                <a:tc>
                  <a:txBody>
                    <a:bodyPr wrap="square"/>
                    <a:lstStyle/>
                    <a:p>
                      <a:pPr algn="l"/>
                      <a:r>
                        <a:rPr sz="1150" b="1">
                          <a:solidFill>
                            <a:srgbClr val="1A1A1A"/>
                          </a:solidFill>
                          <a:latin typeface="Arial"/>
                        </a:rPr>
                        <a:t>5 · Restricciones</a:t>
                      </a:r>
                    </a:p>
                  </a:txBody>
                  <a:tcPr marL="137160" marR="91440" marT="27432" marB="27432" anchor="ctr">
                    <a:solidFill>
                      <a:srgbClr val="FFFFFF"/>
                    </a:solidFill>
                  </a:tcPr>
                </a:tc>
                <a:tc>
                  <a:txBody>
                    <a:bodyPr wrap="square"/>
                    <a:lstStyle/>
                    <a:p>
                      <a:pPr algn="l"/>
                      <a:r>
                        <a:rPr sz="1150" b="0">
                          <a:solidFill>
                            <a:srgbClr val="2E2E2E"/>
                          </a:solidFill>
                          <a:latin typeface="Arial"/>
                        </a:rPr>
                        <a:t>El proceso de WFP es más estructurado, útil en montajes técnicos</a:t>
                      </a:r>
                    </a:p>
                  </a:txBody>
                  <a:tcPr marL="137160" marR="91440" marT="27432" marB="27432" anchor="ctr">
                    <a:solidFill>
                      <a:srgbClr val="FFFFFF"/>
                    </a:solidFill>
                  </a:tcPr>
                </a:tc>
              </a:tr>
              <a:tr h="353290">
                <a:tc>
                  <a:txBody>
                    <a:bodyPr wrap="square"/>
                    <a:lstStyle/>
                    <a:p>
                      <a:pPr algn="l"/>
                      <a:r>
                        <a:rPr sz="1150" b="1">
                          <a:solidFill>
                            <a:srgbClr val="1A1A1A"/>
                          </a:solidFill>
                          <a:latin typeface="Arial"/>
                        </a:rPr>
                        <a:t>6 · Avance</a:t>
                      </a:r>
                    </a:p>
                  </a:txBody>
                  <a:tcPr marL="137160" marR="91440" marT="27432" marB="27432" anchor="ctr">
                    <a:solidFill>
                      <a:srgbClr val="F7F7F7"/>
                    </a:solidFill>
                  </a:tcPr>
                </a:tc>
                <a:tc>
                  <a:txBody>
                    <a:bodyPr wrap="square"/>
                    <a:lstStyle/>
                    <a:p>
                      <a:pPr algn="l"/>
                      <a:r>
                        <a:rPr sz="1150" b="0">
                          <a:solidFill>
                            <a:srgbClr val="2E2E2E"/>
                          </a:solidFill>
                          <a:latin typeface="Arial"/>
                        </a:rPr>
                        <a:t>AWP compara con el plan; Lean prioriza la confiabilidad del flujo</a:t>
                      </a:r>
                    </a:p>
                  </a:txBody>
                  <a:tcPr marL="137160" marR="91440" marT="27432" marB="27432" anchor="ctr">
                    <a:solidFill>
                      <a:srgbClr val="F7F7F7"/>
                    </a:solidFill>
                  </a:tcPr>
                </a:tc>
              </a:tr>
              <a:tr h="353290">
                <a:tc>
                  <a:txBody>
                    <a:bodyPr wrap="square"/>
                    <a:lstStyle/>
                    <a:p>
                      <a:pPr algn="l"/>
                      <a:r>
                        <a:rPr sz="1150" b="1">
                          <a:solidFill>
                            <a:srgbClr val="1A1A1A"/>
                          </a:solidFill>
                          <a:latin typeface="Arial"/>
                        </a:rPr>
                        <a:t>7 · KPI</a:t>
                      </a:r>
                    </a:p>
                  </a:txBody>
                  <a:tcPr marL="137160" marR="91440" marT="27432" marB="27432" anchor="ctr">
                    <a:solidFill>
                      <a:srgbClr val="FFFFFF"/>
                    </a:solidFill>
                  </a:tcPr>
                </a:tc>
                <a:tc>
                  <a:txBody>
                    <a:bodyPr wrap="square"/>
                    <a:lstStyle/>
                    <a:p>
                      <a:pPr algn="l"/>
                      <a:r>
                        <a:rPr sz="1150" b="0">
                          <a:solidFill>
                            <a:srgbClr val="2E2E2E"/>
                          </a:solidFill>
                          <a:latin typeface="Arial"/>
                        </a:rPr>
                        <a:t>Lean se centra en el flujo más que en el valor ganado</a:t>
                      </a:r>
                    </a:p>
                  </a:txBody>
                  <a:tcPr marL="137160" marR="91440" marT="27432" marB="27432" anchor="ctr">
                    <a:solidFill>
                      <a:srgbClr val="FFFFFF"/>
                    </a:solidFill>
                  </a:tcPr>
                </a:tc>
              </a:tr>
              <a:tr h="353290">
                <a:tc>
                  <a:txBody>
                    <a:bodyPr wrap="square"/>
                    <a:lstStyle/>
                    <a:p>
                      <a:pPr algn="l"/>
                      <a:r>
                        <a:rPr sz="1150" b="1">
                          <a:solidFill>
                            <a:srgbClr val="1A1A1A"/>
                          </a:solidFill>
                          <a:latin typeface="Arial"/>
                        </a:rPr>
                        <a:t>8 · Alineación</a:t>
                      </a:r>
                    </a:p>
                  </a:txBody>
                  <a:tcPr marL="137160" marR="91440" marT="27432" marB="27432" anchor="ctr">
                    <a:solidFill>
                      <a:srgbClr val="F7F7F7"/>
                    </a:solidFill>
                  </a:tcPr>
                </a:tc>
                <a:tc>
                  <a:txBody>
                    <a:bodyPr wrap="square"/>
                    <a:lstStyle/>
                    <a:p>
                      <a:pPr algn="l"/>
                      <a:r>
                        <a:rPr sz="1150" b="0">
                          <a:solidFill>
                            <a:srgbClr val="2E2E2E"/>
                          </a:solidFill>
                          <a:latin typeface="Arial"/>
                        </a:rPr>
                        <a:t>AWP integra documentos; IPD integra equipos</a:t>
                      </a:r>
                    </a:p>
                  </a:txBody>
                  <a:tcPr marL="137160" marR="91440" marT="27432" marB="27432" anchor="ctr">
                    <a:solidFill>
                      <a:srgbClr val="F7F7F7"/>
                    </a:solidFill>
                  </a:tcPr>
                </a:tc>
              </a:tr>
              <a:tr h="353290">
                <a:tc>
                  <a:txBody>
                    <a:bodyPr wrap="square"/>
                    <a:lstStyle/>
                    <a:p>
                      <a:pPr algn="l"/>
                      <a:r>
                        <a:rPr sz="1150" b="1">
                          <a:solidFill>
                            <a:srgbClr val="1A1A1A"/>
                          </a:solidFill>
                          <a:latin typeface="Arial"/>
                        </a:rPr>
                        <a:t>9 · Organización</a:t>
                      </a:r>
                    </a:p>
                  </a:txBody>
                  <a:tcPr marL="137160" marR="91440" marT="27432" marB="27432" anchor="ctr">
                    <a:solidFill>
                      <a:srgbClr val="FFFFFF"/>
                    </a:solidFill>
                  </a:tcPr>
                </a:tc>
                <a:tc>
                  <a:txBody>
                    <a:bodyPr wrap="square"/>
                    <a:lstStyle/>
                    <a:p>
                      <a:pPr algn="l"/>
                      <a:r>
                        <a:rPr sz="1150" b="0">
                          <a:solidFill>
                            <a:srgbClr val="2E2E2E"/>
                          </a:solidFill>
                          <a:latin typeface="Arial"/>
                        </a:rPr>
                        <a:t>IPD distribuido frente a una estructura jerárquica en AWP</a:t>
                      </a:r>
                    </a:p>
                  </a:txBody>
                  <a:tcPr marL="137160" marR="91440" marT="27432" marB="27432" anchor="ctr">
                    <a:solidFill>
                      <a:srgbClr val="FFFFFF"/>
                    </a:solidFill>
                  </a:tcPr>
                </a:tc>
              </a:tr>
              <a:tr h="353290">
                <a:tc>
                  <a:txBody>
                    <a:bodyPr wrap="square"/>
                    <a:lstStyle/>
                    <a:p>
                      <a:pPr algn="l"/>
                      <a:r>
                        <a:rPr sz="1150" b="1">
                          <a:solidFill>
                            <a:srgbClr val="1A1A1A"/>
                          </a:solidFill>
                          <a:latin typeface="Arial"/>
                        </a:rPr>
                        <a:t>10 · Seguridad y calidad</a:t>
                      </a:r>
                    </a:p>
                  </a:txBody>
                  <a:tcPr marL="137160" marR="91440" marT="27432" marB="27432" anchor="ctr">
                    <a:solidFill>
                      <a:srgbClr val="F7F7F7"/>
                    </a:solidFill>
                  </a:tcPr>
                </a:tc>
                <a:tc>
                  <a:txBody>
                    <a:bodyPr wrap="square"/>
                    <a:lstStyle/>
                    <a:p>
                      <a:pPr algn="l"/>
                      <a:r>
                        <a:rPr sz="1150" b="0">
                          <a:solidFill>
                            <a:srgbClr val="2E2E2E"/>
                          </a:solidFill>
                          <a:latin typeface="Arial"/>
                        </a:rPr>
                        <a:t>Ambos las priorizan; Lean amplía la seguridad a la salud mental</a:t>
                      </a:r>
                    </a:p>
                  </a:txBody>
                  <a:tcPr marL="137160" marR="91440" marT="27432" marB="27432" anchor="ctr">
                    <a:solidFill>
                      <a:srgbClr val="F7F7F7"/>
                    </a:solidFill>
                  </a:tcPr>
                </a:tc>
              </a:tr>
              <a:tr h="353290">
                <a:tc>
                  <a:txBody>
                    <a:bodyPr wrap="square"/>
                    <a:lstStyle/>
                    <a:p>
                      <a:pPr algn="l"/>
                      <a:r>
                        <a:rPr sz="1150" b="1">
                          <a:solidFill>
                            <a:srgbClr val="1A1A1A"/>
                          </a:solidFill>
                          <a:latin typeface="Arial"/>
                        </a:rPr>
                        <a:t>11 · Puesta en marcha</a:t>
                      </a:r>
                    </a:p>
                  </a:txBody>
                  <a:tcPr marL="137160" marR="91440" marT="27432" marB="27432" anchor="ctr">
                    <a:solidFill>
                      <a:srgbClr val="FFFFFF"/>
                    </a:solidFill>
                  </a:tcPr>
                </a:tc>
                <a:tc>
                  <a:txBody>
                    <a:bodyPr wrap="square"/>
                    <a:lstStyle/>
                    <a:p>
                      <a:pPr algn="l"/>
                      <a:r>
                        <a:rPr sz="1150" b="0">
                          <a:solidFill>
                            <a:srgbClr val="2E2E2E"/>
                          </a:solidFill>
                          <a:latin typeface="Arial"/>
                        </a:rPr>
                        <a:t>AWP le presta cada vez más atención</a:t>
                      </a:r>
                    </a:p>
                  </a:txBody>
                  <a:tcPr marL="137160" marR="91440" marT="27432" marB="27432" anchor="ctr">
                    <a:solidFill>
                      <a:srgbClr val="FFFFFF"/>
                    </a:solidFill>
                  </a:tcPr>
                </a:tc>
              </a:tr>
            </a:tbl>
          </a:graphicData>
        </a:graphic>
      </p:graphicFrame>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11 · OBJECIONES</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Doce objeciones frecuentes tienen respuesta</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M11 · ESCALAR Y ADOPTAR AWP</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109</a:t>
            </a:r>
          </a:p>
        </p:txBody>
      </p:sp>
      <p:graphicFrame>
        <p:nvGraphicFramePr>
          <p:cNvPr id="7" name="Table 6"/>
          <p:cNvGraphicFramePr>
            <a:graphicFrameLocks noGrp="1"/>
          </p:cNvGraphicFramePr>
          <p:nvPr/>
        </p:nvGraphicFramePr>
        <p:xfrm>
          <a:off x="563727" y="1828800"/>
          <a:ext cx="11064240" cy="4343400"/>
        </p:xfrm>
        <a:graphic>
          <a:graphicData uri="http://schemas.openxmlformats.org/drawingml/2006/table">
            <a:tbl>
              <a:tblPr firstRow="0" bandRow="0">
                <a:tableStyleId>{5C22544A-7EE6-4342-B048-85BDC9FD1C3A}</a:tableStyleId>
              </a:tblPr>
              <a:tblGrid>
                <a:gridCol w="3657600"/>
                <a:gridCol w="7406640"/>
              </a:tblGrid>
              <a:tr h="457200">
                <a:tc>
                  <a:txBody>
                    <a:bodyPr wrap="square"/>
                    <a:lstStyle/>
                    <a:p>
                      <a:pPr algn="l"/>
                      <a:r>
                        <a:rPr sz="1000" b="1" spc="100">
                          <a:solidFill>
                            <a:srgbClr val="FFFFFF"/>
                          </a:solidFill>
                          <a:latin typeface="Arial"/>
                        </a:rPr>
                        <a:t>OBJECIÓN</a:t>
                      </a:r>
                    </a:p>
                  </a:txBody>
                  <a:tcPr marL="137160" marR="91440" marT="27432" marB="27432" anchor="ctr">
                    <a:solidFill>
                      <a:srgbClr val="1A1A1A"/>
                    </a:solidFill>
                  </a:tcPr>
                </a:tc>
                <a:tc>
                  <a:txBody>
                    <a:bodyPr wrap="square"/>
                    <a:lstStyle/>
                    <a:p>
                      <a:pPr algn="l"/>
                      <a:r>
                        <a:rPr sz="1000" b="1" spc="100">
                          <a:solidFill>
                            <a:srgbClr val="FFFFFF"/>
                          </a:solidFill>
                          <a:latin typeface="Arial"/>
                        </a:rPr>
                        <a:t>RESPUESTA BREVE</a:t>
                      </a:r>
                    </a:p>
                  </a:txBody>
                  <a:tcPr marL="137160" marR="91440" marT="27432" marB="27432" anchor="ctr">
                    <a:solidFill>
                      <a:srgbClr val="1A1A1A"/>
                    </a:solidFill>
                  </a:tcPr>
                </a:tc>
              </a:tr>
              <a:tr h="323850">
                <a:tc>
                  <a:txBody>
                    <a:bodyPr wrap="square"/>
                    <a:lstStyle/>
                    <a:p>
                      <a:pPr algn="l"/>
                      <a:r>
                        <a:rPr sz="1150" b="1">
                          <a:solidFill>
                            <a:srgbClr val="1A1A1A"/>
                          </a:solidFill>
                          <a:latin typeface="Arial"/>
                        </a:rPr>
                        <a:t>«No tengo suficiente gente»</a:t>
                      </a:r>
                    </a:p>
                  </a:txBody>
                  <a:tcPr marL="137160" marR="91440" marT="27432" marB="27432" anchor="ctr">
                    <a:solidFill>
                      <a:srgbClr val="FFFFFF"/>
                    </a:solidFill>
                  </a:tcPr>
                </a:tc>
                <a:tc>
                  <a:txBody>
                    <a:bodyPr wrap="square"/>
                    <a:lstStyle/>
                    <a:p>
                      <a:pPr algn="l"/>
                      <a:r>
                        <a:rPr sz="1150" b="0">
                          <a:solidFill>
                            <a:srgbClr val="2E2E2E"/>
                          </a:solidFill>
                          <a:latin typeface="Arial"/>
                        </a:rPr>
                        <a:t>Sin compromiso de la organización, el programa fracasa en el proyecto</a:t>
                      </a:r>
                    </a:p>
                  </a:txBody>
                  <a:tcPr marL="137160" marR="91440" marT="27432" marB="27432" anchor="ctr">
                    <a:solidFill>
                      <a:srgbClr val="FFFFFF"/>
                    </a:solidFill>
                  </a:tcPr>
                </a:tc>
              </a:tr>
              <a:tr h="323850">
                <a:tc>
                  <a:txBody>
                    <a:bodyPr wrap="square"/>
                    <a:lstStyle/>
                    <a:p>
                      <a:pPr algn="l"/>
                      <a:r>
                        <a:rPr sz="1150" b="1">
                          <a:solidFill>
                            <a:srgbClr val="1A1A1A"/>
                          </a:solidFill>
                          <a:latin typeface="Arial"/>
                        </a:rPr>
                        <a:t>«Así no trabaja Ingeniería»</a:t>
                      </a:r>
                    </a:p>
                  </a:txBody>
                  <a:tcPr marL="137160" marR="91440" marT="27432" marB="27432" anchor="ctr">
                    <a:solidFill>
                      <a:srgbClr val="F7F7F7"/>
                    </a:solidFill>
                  </a:tcPr>
                </a:tc>
                <a:tc>
                  <a:txBody>
                    <a:bodyPr wrap="square"/>
                    <a:lstStyle/>
                    <a:p>
                      <a:pPr algn="l"/>
                      <a:r>
                        <a:rPr sz="1150" b="0">
                          <a:solidFill>
                            <a:srgbClr val="2E2E2E"/>
                          </a:solidFill>
                          <a:latin typeface="Arial"/>
                        </a:rPr>
                        <a:t>Casi no afecta su productividad: cambia el orden de los entregables</a:t>
                      </a:r>
                    </a:p>
                  </a:txBody>
                  <a:tcPr marL="137160" marR="91440" marT="27432" marB="27432" anchor="ctr">
                    <a:solidFill>
                      <a:srgbClr val="F7F7F7"/>
                    </a:solidFill>
                  </a:tcPr>
                </a:tc>
              </a:tr>
              <a:tr h="323850">
                <a:tc>
                  <a:txBody>
                    <a:bodyPr wrap="square"/>
                    <a:lstStyle/>
                    <a:p>
                      <a:pPr algn="l"/>
                      <a:r>
                        <a:rPr sz="1150" b="1">
                          <a:solidFill>
                            <a:srgbClr val="1A1A1A"/>
                          </a:solidFill>
                          <a:latin typeface="Arial"/>
                        </a:rPr>
                        <a:t>«Es muy difícil o complejo»</a:t>
                      </a:r>
                    </a:p>
                  </a:txBody>
                  <a:tcPr marL="137160" marR="91440" marT="27432" marB="27432" anchor="ctr">
                    <a:solidFill>
                      <a:srgbClr val="FFFFFF"/>
                    </a:solidFill>
                  </a:tcPr>
                </a:tc>
                <a:tc>
                  <a:txBody>
                    <a:bodyPr wrap="square"/>
                    <a:lstStyle/>
                    <a:p>
                      <a:pPr algn="l"/>
                      <a:r>
                        <a:rPr sz="1150" b="0">
                          <a:solidFill>
                            <a:srgbClr val="2E2E2E"/>
                          </a:solidFill>
                          <a:latin typeface="Arial"/>
                        </a:rPr>
                        <a:t>Los clientes exigen entregas más inteligentes; quien no innova, desaparece</a:t>
                      </a:r>
                    </a:p>
                  </a:txBody>
                  <a:tcPr marL="137160" marR="91440" marT="27432" marB="27432" anchor="ctr">
                    <a:solidFill>
                      <a:srgbClr val="FFFFFF"/>
                    </a:solidFill>
                  </a:tcPr>
                </a:tc>
              </a:tr>
              <a:tr h="323850">
                <a:tc>
                  <a:txBody>
                    <a:bodyPr wrap="square"/>
                    <a:lstStyle/>
                    <a:p>
                      <a:pPr algn="l"/>
                      <a:r>
                        <a:rPr sz="1150" b="1">
                          <a:solidFill>
                            <a:srgbClr val="1A1A1A"/>
                          </a:solidFill>
                          <a:latin typeface="Arial"/>
                        </a:rPr>
                        <a:t>«Nuestro proceso está bien»</a:t>
                      </a:r>
                    </a:p>
                  </a:txBody>
                  <a:tcPr marL="137160" marR="91440" marT="27432" marB="27432" anchor="ctr">
                    <a:solidFill>
                      <a:srgbClr val="F7F7F7"/>
                    </a:solidFill>
                  </a:tcPr>
                </a:tc>
                <a:tc>
                  <a:txBody>
                    <a:bodyPr wrap="square"/>
                    <a:lstStyle/>
                    <a:p>
                      <a:pPr algn="l"/>
                      <a:r>
                        <a:rPr sz="1150" b="0">
                          <a:solidFill>
                            <a:srgbClr val="2E2E2E"/>
                          </a:solidFill>
                          <a:latin typeface="Arial"/>
                        </a:rPr>
                        <a:t>El 70 % de los proyectos termina sobre presupuesto y con retraso</a:t>
                      </a:r>
                    </a:p>
                  </a:txBody>
                  <a:tcPr marL="137160" marR="91440" marT="27432" marB="27432" anchor="ctr">
                    <a:solidFill>
                      <a:srgbClr val="F7F7F7"/>
                    </a:solidFill>
                  </a:tcPr>
                </a:tc>
              </a:tr>
              <a:tr h="323850">
                <a:tc>
                  <a:txBody>
                    <a:bodyPr wrap="square"/>
                    <a:lstStyle/>
                    <a:p>
                      <a:pPr algn="l"/>
                      <a:r>
                        <a:rPr sz="1150" b="1">
                          <a:solidFill>
                            <a:srgbClr val="1A1A1A"/>
                          </a:solidFill>
                          <a:latin typeface="Arial"/>
                        </a:rPr>
                        <a:t>«No tengo la tecnología»</a:t>
                      </a:r>
                    </a:p>
                  </a:txBody>
                  <a:tcPr marL="137160" marR="91440" marT="27432" marB="27432" anchor="ctr">
                    <a:solidFill>
                      <a:srgbClr val="FFFFFF"/>
                    </a:solidFill>
                  </a:tcPr>
                </a:tc>
                <a:tc>
                  <a:txBody>
                    <a:bodyPr wrap="square"/>
                    <a:lstStyle/>
                    <a:p>
                      <a:pPr algn="l"/>
                      <a:r>
                        <a:rPr sz="1150" b="0">
                          <a:solidFill>
                            <a:srgbClr val="2E2E2E"/>
                          </a:solidFill>
                          <a:latin typeface="Arial"/>
                        </a:rPr>
                        <a:t>Los sistemas integrados permiten hacer más con menos personal</a:t>
                      </a:r>
                    </a:p>
                  </a:txBody>
                  <a:tcPr marL="137160" marR="91440" marT="27432" marB="27432" anchor="ctr">
                    <a:solidFill>
                      <a:srgbClr val="FFFFFF"/>
                    </a:solidFill>
                  </a:tcPr>
                </a:tc>
              </a:tr>
              <a:tr h="323850">
                <a:tc>
                  <a:txBody>
                    <a:bodyPr wrap="square"/>
                    <a:lstStyle/>
                    <a:p>
                      <a:pPr algn="l"/>
                      <a:r>
                        <a:rPr sz="1150" b="1">
                          <a:solidFill>
                            <a:srgbClr val="1A1A1A"/>
                          </a:solidFill>
                          <a:latin typeface="Arial"/>
                        </a:rPr>
                        <a:t>«AWP es una moda»</a:t>
                      </a:r>
                    </a:p>
                  </a:txBody>
                  <a:tcPr marL="137160" marR="91440" marT="27432" marB="27432" anchor="ctr">
                    <a:solidFill>
                      <a:srgbClr val="F7F7F7"/>
                    </a:solidFill>
                  </a:tcPr>
                </a:tc>
                <a:tc>
                  <a:txBody>
                    <a:bodyPr wrap="square"/>
                    <a:lstStyle/>
                    <a:p>
                      <a:pPr algn="l"/>
                      <a:r>
                        <a:rPr sz="1150" b="0">
                          <a:solidFill>
                            <a:srgbClr val="2E2E2E"/>
                          </a:solidFill>
                          <a:latin typeface="Arial"/>
                        </a:rPr>
                        <a:t>Es mejor práctica del CII y la COAA y requisito de grandes clientes</a:t>
                      </a:r>
                    </a:p>
                  </a:txBody>
                  <a:tcPr marL="137160" marR="91440" marT="27432" marB="27432" anchor="ctr">
                    <a:solidFill>
                      <a:srgbClr val="F7F7F7"/>
                    </a:solidFill>
                  </a:tcPr>
                </a:tc>
              </a:tr>
              <a:tr h="323850">
                <a:tc>
                  <a:txBody>
                    <a:bodyPr wrap="square"/>
                    <a:lstStyle/>
                    <a:p>
                      <a:pPr algn="l"/>
                      <a:r>
                        <a:rPr sz="1150" b="1">
                          <a:solidFill>
                            <a:srgbClr val="1A1A1A"/>
                          </a:solidFill>
                          <a:latin typeface="Arial"/>
                        </a:rPr>
                        <a:t>«No sirve para mi proyecto»</a:t>
                      </a:r>
                    </a:p>
                  </a:txBody>
                  <a:tcPr marL="137160" marR="91440" marT="27432" marB="27432" anchor="ctr">
                    <a:solidFill>
                      <a:srgbClr val="FFFFFF"/>
                    </a:solidFill>
                  </a:tcPr>
                </a:tc>
                <a:tc>
                  <a:txBody>
                    <a:bodyPr wrap="square"/>
                    <a:lstStyle/>
                    <a:p>
                      <a:pPr algn="l"/>
                      <a:r>
                        <a:rPr sz="1150" b="0">
                          <a:solidFill>
                            <a:srgbClr val="2E2E2E"/>
                          </a:solidFill>
                          <a:latin typeface="Arial"/>
                        </a:rPr>
                        <a:t>El concepto se aplica a cualquier proyecto: es escalable</a:t>
                      </a:r>
                    </a:p>
                  </a:txBody>
                  <a:tcPr marL="137160" marR="91440" marT="27432" marB="27432" anchor="ctr">
                    <a:solidFill>
                      <a:srgbClr val="FFFFFF"/>
                    </a:solidFill>
                  </a:tcPr>
                </a:tc>
              </a:tr>
              <a:tr h="323850">
                <a:tc>
                  <a:txBody>
                    <a:bodyPr wrap="square"/>
                    <a:lstStyle/>
                    <a:p>
                      <a:pPr algn="l"/>
                      <a:r>
                        <a:rPr sz="1150" b="1">
                          <a:solidFill>
                            <a:srgbClr val="1A1A1A"/>
                          </a:solidFill>
                          <a:latin typeface="Arial"/>
                        </a:rPr>
                        <a:t>«No tengo tiempo para aprender»</a:t>
                      </a:r>
                    </a:p>
                  </a:txBody>
                  <a:tcPr marL="137160" marR="91440" marT="27432" marB="27432" anchor="ctr">
                    <a:solidFill>
                      <a:srgbClr val="F7F7F7"/>
                    </a:solidFill>
                  </a:tcPr>
                </a:tc>
                <a:tc>
                  <a:txBody>
                    <a:bodyPr wrap="square"/>
                    <a:lstStyle/>
                    <a:p>
                      <a:pPr algn="l"/>
                      <a:r>
                        <a:rPr sz="1150" b="0">
                          <a:solidFill>
                            <a:srgbClr val="2E2E2E"/>
                          </a:solidFill>
                          <a:latin typeface="Arial"/>
                        </a:rPr>
                        <a:t>Hay recursos de formación disponibles, incluido apoyo del CII</a:t>
                      </a:r>
                    </a:p>
                  </a:txBody>
                  <a:tcPr marL="137160" marR="91440" marT="27432" marB="27432" anchor="ctr">
                    <a:solidFill>
                      <a:srgbClr val="F7F7F7"/>
                    </a:solidFill>
                  </a:tcPr>
                </a:tc>
              </a:tr>
              <a:tr h="323850">
                <a:tc>
                  <a:txBody>
                    <a:bodyPr wrap="square"/>
                    <a:lstStyle/>
                    <a:p>
                      <a:pPr algn="l"/>
                      <a:r>
                        <a:rPr sz="1150" b="1">
                          <a:solidFill>
                            <a:srgbClr val="1A1A1A"/>
                          </a:solidFill>
                          <a:latin typeface="Arial"/>
                        </a:rPr>
                        <a:t>«Mi proyecto es muy pequeño»</a:t>
                      </a:r>
                    </a:p>
                  </a:txBody>
                  <a:tcPr marL="137160" marR="91440" marT="27432" marB="27432" anchor="ctr">
                    <a:solidFill>
                      <a:srgbClr val="FFFFFF"/>
                    </a:solidFill>
                  </a:tcPr>
                </a:tc>
                <a:tc>
                  <a:txBody>
                    <a:bodyPr wrap="square"/>
                    <a:lstStyle/>
                    <a:p>
                      <a:pPr algn="l"/>
                      <a:r>
                        <a:rPr sz="1150" b="0">
                          <a:solidFill>
                            <a:srgbClr val="2E2E2E"/>
                          </a:solidFill>
                          <a:latin typeface="Arial"/>
                        </a:rPr>
                        <a:t>El modelo escalable de la COAA responde a este caso</a:t>
                      </a:r>
                    </a:p>
                  </a:txBody>
                  <a:tcPr marL="137160" marR="91440" marT="27432" marB="27432" anchor="ctr">
                    <a:solidFill>
                      <a:srgbClr val="FFFFFF"/>
                    </a:solidFill>
                  </a:tcPr>
                </a:tc>
              </a:tr>
              <a:tr h="323850">
                <a:tc>
                  <a:txBody>
                    <a:bodyPr wrap="square"/>
                    <a:lstStyle/>
                    <a:p>
                      <a:pPr algn="l"/>
                      <a:r>
                        <a:rPr sz="1150" b="1">
                          <a:solidFill>
                            <a:srgbClr val="1A1A1A"/>
                          </a:solidFill>
                          <a:latin typeface="Arial"/>
                        </a:rPr>
                        <a:t>«Mi proyecto está muy avanzado»</a:t>
                      </a:r>
                    </a:p>
                  </a:txBody>
                  <a:tcPr marL="137160" marR="91440" marT="27432" marB="27432" anchor="ctr">
                    <a:solidFill>
                      <a:srgbClr val="F7F7F7"/>
                    </a:solidFill>
                  </a:tcPr>
                </a:tc>
                <a:tc>
                  <a:txBody>
                    <a:bodyPr wrap="square"/>
                    <a:lstStyle/>
                    <a:p>
                      <a:pPr algn="l"/>
                      <a:r>
                        <a:rPr sz="1150" b="0">
                          <a:solidFill>
                            <a:srgbClr val="2E2E2E"/>
                          </a:solidFill>
                          <a:latin typeface="Arial"/>
                        </a:rPr>
                        <a:t>Aplique al menos WFP con gestión de restricciones por IWP</a:t>
                      </a:r>
                    </a:p>
                  </a:txBody>
                  <a:tcPr marL="137160" marR="91440" marT="27432" marB="27432" anchor="ctr">
                    <a:solidFill>
                      <a:srgbClr val="F7F7F7"/>
                    </a:solidFill>
                  </a:tcPr>
                </a:tc>
              </a:tr>
              <a:tr h="323850">
                <a:tc>
                  <a:txBody>
                    <a:bodyPr wrap="square"/>
                    <a:lstStyle/>
                    <a:p>
                      <a:pPr algn="l"/>
                      <a:r>
                        <a:rPr sz="1150" b="1">
                          <a:solidFill>
                            <a:srgbClr val="1A1A1A"/>
                          </a:solidFill>
                          <a:latin typeface="Arial"/>
                        </a:rPr>
                        <a:t>«Es un contrato a suma alzada»</a:t>
                      </a:r>
                    </a:p>
                  </a:txBody>
                  <a:tcPr marL="137160" marR="91440" marT="27432" marB="27432" anchor="ctr">
                    <a:solidFill>
                      <a:srgbClr val="FFFFFF"/>
                    </a:solidFill>
                  </a:tcPr>
                </a:tc>
                <a:tc>
                  <a:txBody>
                    <a:bodyPr wrap="square"/>
                    <a:lstStyle/>
                    <a:p>
                      <a:pPr algn="l"/>
                      <a:r>
                        <a:rPr sz="1150" b="0">
                          <a:solidFill>
                            <a:srgbClr val="2E2E2E"/>
                          </a:solidFill>
                          <a:latin typeface="Arial"/>
                        </a:rPr>
                        <a:t>Mejor aún: más productividad y menos costo elevan su margen</a:t>
                      </a:r>
                    </a:p>
                  </a:txBody>
                  <a:tcPr marL="137160" marR="91440" marT="27432" marB="27432" anchor="ctr">
                    <a:solidFill>
                      <a:srgbClr val="FFFFFF"/>
                    </a:solidFill>
                  </a:tcPr>
                </a:tc>
              </a:tr>
              <a:tr h="323850">
                <a:tc>
                  <a:txBody>
                    <a:bodyPr wrap="square"/>
                    <a:lstStyle/>
                    <a:p>
                      <a:pPr algn="l"/>
                      <a:r>
                        <a:rPr sz="1150" b="1">
                          <a:solidFill>
                            <a:srgbClr val="1A1A1A"/>
                          </a:solidFill>
                          <a:latin typeface="Arial"/>
                        </a:rPr>
                        <a:t>«Ya hacemos AWP»</a:t>
                      </a:r>
                    </a:p>
                  </a:txBody>
                  <a:tcPr marL="137160" marR="91440" marT="27432" marB="27432" anchor="ctr">
                    <a:solidFill>
                      <a:srgbClr val="F7F7F7"/>
                    </a:solidFill>
                  </a:tcPr>
                </a:tc>
                <a:tc>
                  <a:txBody>
                    <a:bodyPr wrap="square"/>
                    <a:lstStyle/>
                    <a:p>
                      <a:pPr algn="l"/>
                      <a:r>
                        <a:rPr sz="1150" b="0">
                          <a:solidFill>
                            <a:srgbClr val="2E2E2E"/>
                          </a:solidFill>
                          <a:latin typeface="Arial"/>
                        </a:rPr>
                        <a:t>AWP abarca desde la planificación temprana hasta el comisionamiento</a:t>
                      </a:r>
                    </a:p>
                  </a:txBody>
                  <a:tcPr marL="137160" marR="91440" marT="27432" marB="27432" anchor="ctr">
                    <a:solidFill>
                      <a:srgbClr val="F7F7F7"/>
                    </a:solidFill>
                  </a:tcPr>
                </a:tc>
              </a:tr>
            </a:tbl>
          </a:graphicData>
        </a:graphic>
      </p:graphicFrame>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11 · LA OBJECIÓN MÁS PELIGROSA</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FFFFFF"/>
                </a:solidFill>
                <a:latin typeface="Arial"/>
              </a:rPr>
              <a:t>«Ya hacemos AWP» es la objeción más peligrosa</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8A8B8E"/>
                </a:solidFill>
                <a:latin typeface="Arial"/>
              </a:rPr>
              <a:t>IMPLEMENTACIÓN DE AWP  ·  M11 · ESCALAR Y ADOPTAR AWP</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8A8B8E"/>
                </a:solidFill>
                <a:latin typeface="Courier New"/>
              </a:rPr>
              <a:t>110</a:t>
            </a:r>
          </a:p>
        </p:txBody>
      </p:sp>
      <p:pic>
        <p:nvPicPr>
          <p:cNvPr id="7" name="Picture 6" descr="quote_o.png"/>
          <p:cNvPicPr>
            <a:picLocks noChangeAspect="1"/>
          </p:cNvPicPr>
          <p:nvPr/>
        </p:nvPicPr>
        <p:blipFill>
          <a:blip r:embed="rId2"/>
          <a:stretch>
            <a:fillRect/>
          </a:stretch>
        </p:blipFill>
        <p:spPr>
          <a:xfrm>
            <a:off x="548640" y="1920240"/>
            <a:ext cx="548640" cy="548640"/>
          </a:xfrm>
          <a:prstGeom prst="rect">
            <a:avLst/>
          </a:prstGeom>
        </p:spPr>
      </p:pic>
      <p:sp>
        <p:nvSpPr>
          <p:cNvPr id="8" name="TextBox 7"/>
          <p:cNvSpPr txBox="1"/>
          <p:nvPr/>
        </p:nvSpPr>
        <p:spPr>
          <a:xfrm>
            <a:off x="1417319" y="1828800"/>
            <a:ext cx="10225735" cy="1737360"/>
          </a:xfrm>
          <a:prstGeom prst="rect">
            <a:avLst/>
          </a:prstGeom>
          <a:noFill/>
        </p:spPr>
        <p:txBody>
          <a:bodyPr wrap="square" lIns="0" rIns="0" tIns="0" bIns="0" anchor="ctr">
            <a:spAutoFit/>
          </a:bodyPr>
          <a:lstStyle/>
          <a:p>
            <a:pPr algn="l">
              <a:lnSpc>
                <a:spcPct val="110000"/>
              </a:lnSpc>
            </a:pPr>
            <a:r>
              <a:rPr sz="2400" b="0" i="1">
                <a:solidFill>
                  <a:srgbClr val="FFFFFF"/>
                </a:solidFill>
                <a:latin typeface="Arial"/>
              </a:rPr>
              <a:t>“Muchas empresas no dimensionan el alcance de AWP: es un método de entrega completo, que va desde la planificación temprana hasta el comisionamiento.”</a:t>
            </a:r>
          </a:p>
        </p:txBody>
      </p:sp>
      <p:sp>
        <p:nvSpPr>
          <p:cNvPr id="9" name="TextBox 8"/>
          <p:cNvSpPr txBox="1"/>
          <p:nvPr/>
        </p:nvSpPr>
        <p:spPr>
          <a:xfrm>
            <a:off x="1417319" y="3657600"/>
            <a:ext cx="10225735" cy="274320"/>
          </a:xfrm>
          <a:prstGeom prst="rect">
            <a:avLst/>
          </a:prstGeom>
          <a:noFill/>
        </p:spPr>
        <p:txBody>
          <a:bodyPr wrap="square" lIns="0" rIns="0" tIns="0" bIns="0" anchor="t">
            <a:spAutoFit/>
          </a:bodyPr>
          <a:lstStyle/>
          <a:p>
            <a:pPr algn="l"/>
            <a:r>
              <a:rPr sz="1100" b="1" i="0" spc="100">
                <a:solidFill>
                  <a:srgbClr val="FF9955"/>
                </a:solidFill>
                <a:latin typeface="Arial"/>
              </a:rPr>
              <a:t>EDUCATION FRAMEWORK DEL CII · RESPUESTA A LA OBJECIÓN</a:t>
            </a:r>
          </a:p>
        </p:txBody>
      </p:sp>
      <p:sp>
        <p:nvSpPr>
          <p:cNvPr id="10" name="Rectangle 9"/>
          <p:cNvSpPr/>
          <p:nvPr/>
        </p:nvSpPr>
        <p:spPr>
          <a:xfrm>
            <a:off x="548640" y="4160520"/>
            <a:ext cx="3527450" cy="201168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route_o.png"/>
          <p:cNvPicPr>
            <a:picLocks noChangeAspect="1"/>
          </p:cNvPicPr>
          <p:nvPr/>
        </p:nvPicPr>
        <p:blipFill>
          <a:blip r:embed="rId3"/>
          <a:stretch>
            <a:fillRect/>
          </a:stretch>
        </p:blipFill>
        <p:spPr>
          <a:xfrm>
            <a:off x="822959" y="4974336"/>
            <a:ext cx="384048" cy="384048"/>
          </a:xfrm>
          <a:prstGeom prst="rect">
            <a:avLst/>
          </a:prstGeom>
        </p:spPr>
      </p:pic>
      <p:sp>
        <p:nvSpPr>
          <p:cNvPr id="12" name="TextBox 11"/>
          <p:cNvSpPr txBox="1"/>
          <p:nvPr/>
        </p:nvSpPr>
        <p:spPr>
          <a:xfrm>
            <a:off x="1417319" y="4251959"/>
            <a:ext cx="2475890" cy="1828800"/>
          </a:xfrm>
          <a:prstGeom prst="rect">
            <a:avLst/>
          </a:prstGeom>
          <a:noFill/>
        </p:spPr>
        <p:txBody>
          <a:bodyPr wrap="square" lIns="0" rIns="0" tIns="0" bIns="0" anchor="ctr">
            <a:spAutoFit/>
          </a:bodyPr>
          <a:lstStyle/>
          <a:p>
            <a:pPr algn="l">
              <a:lnSpc>
                <a:spcPct val="105000"/>
              </a:lnSpc>
            </a:pPr>
            <a:r>
              <a:rPr sz="1300" b="0" i="0">
                <a:solidFill>
                  <a:srgbClr val="FFFFFF"/>
                </a:solidFill>
                <a:latin typeface="Arial"/>
              </a:rPr>
              <a:t>¿Hay un POC firmado en la compuerta 3?</a:t>
            </a:r>
          </a:p>
        </p:txBody>
      </p:sp>
      <p:sp>
        <p:nvSpPr>
          <p:cNvPr id="13" name="Rectangle 12"/>
          <p:cNvSpPr/>
          <p:nvPr/>
        </p:nvSpPr>
        <p:spPr>
          <a:xfrm>
            <a:off x="4332122" y="4160520"/>
            <a:ext cx="3527450" cy="201168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hourglass_o.png"/>
          <p:cNvPicPr>
            <a:picLocks noChangeAspect="1"/>
          </p:cNvPicPr>
          <p:nvPr/>
        </p:nvPicPr>
        <p:blipFill>
          <a:blip r:embed="rId4"/>
          <a:stretch>
            <a:fillRect/>
          </a:stretch>
        </p:blipFill>
        <p:spPr>
          <a:xfrm>
            <a:off x="4606442" y="4974336"/>
            <a:ext cx="384048" cy="384048"/>
          </a:xfrm>
          <a:prstGeom prst="rect">
            <a:avLst/>
          </a:prstGeom>
        </p:spPr>
      </p:pic>
      <p:sp>
        <p:nvSpPr>
          <p:cNvPr id="15" name="TextBox 14"/>
          <p:cNvSpPr txBox="1"/>
          <p:nvPr/>
        </p:nvSpPr>
        <p:spPr>
          <a:xfrm>
            <a:off x="5200802" y="4251959"/>
            <a:ext cx="2475890" cy="1828800"/>
          </a:xfrm>
          <a:prstGeom prst="rect">
            <a:avLst/>
          </a:prstGeom>
          <a:noFill/>
        </p:spPr>
        <p:txBody>
          <a:bodyPr wrap="square" lIns="0" rIns="0" tIns="0" bIns="0" anchor="ctr">
            <a:spAutoFit/>
          </a:bodyPr>
          <a:lstStyle/>
          <a:p>
            <a:pPr algn="l">
              <a:lnSpc>
                <a:spcPct val="105000"/>
              </a:lnSpc>
            </a:pPr>
            <a:r>
              <a:rPr sz="1300" b="0" i="0">
                <a:solidFill>
                  <a:srgbClr val="FFFFFF"/>
                </a:solidFill>
                <a:latin typeface="Arial"/>
              </a:rPr>
              <a:t>¿Cuántos días de backlog libre tiene cada disciplina?</a:t>
            </a:r>
          </a:p>
        </p:txBody>
      </p:sp>
      <p:sp>
        <p:nvSpPr>
          <p:cNvPr id="16" name="Rectangle 15"/>
          <p:cNvSpPr/>
          <p:nvPr/>
        </p:nvSpPr>
        <p:spPr>
          <a:xfrm>
            <a:off x="8115604" y="4160520"/>
            <a:ext cx="3527450" cy="201168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listcheck_o.png"/>
          <p:cNvPicPr>
            <a:picLocks noChangeAspect="1"/>
          </p:cNvPicPr>
          <p:nvPr/>
        </p:nvPicPr>
        <p:blipFill>
          <a:blip r:embed="rId5"/>
          <a:stretch>
            <a:fillRect/>
          </a:stretch>
        </p:blipFill>
        <p:spPr>
          <a:xfrm>
            <a:off x="8389924" y="4974336"/>
            <a:ext cx="384048" cy="384048"/>
          </a:xfrm>
          <a:prstGeom prst="rect">
            <a:avLst/>
          </a:prstGeom>
        </p:spPr>
      </p:pic>
      <p:sp>
        <p:nvSpPr>
          <p:cNvPr id="18" name="TextBox 17"/>
          <p:cNvSpPr txBox="1"/>
          <p:nvPr/>
        </p:nvSpPr>
        <p:spPr>
          <a:xfrm>
            <a:off x="8984284" y="4251959"/>
            <a:ext cx="2475890" cy="1828800"/>
          </a:xfrm>
          <a:prstGeom prst="rect">
            <a:avLst/>
          </a:prstGeom>
          <a:noFill/>
        </p:spPr>
        <p:txBody>
          <a:bodyPr wrap="square" lIns="0" rIns="0" tIns="0" bIns="0" anchor="ctr">
            <a:spAutoFit/>
          </a:bodyPr>
          <a:lstStyle/>
          <a:p>
            <a:pPr algn="l">
              <a:lnSpc>
                <a:spcPct val="105000"/>
              </a:lnSpc>
            </a:pPr>
            <a:r>
              <a:rPr sz="1300" b="0" i="0">
                <a:solidFill>
                  <a:srgbClr val="FFFFFF"/>
                </a:solidFill>
                <a:latin typeface="Arial"/>
              </a:rPr>
              <a:t>¿Dónde está el Pack Track de esta semana?</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097280"/>
            <a:ext cx="3657600" cy="2194560"/>
          </a:xfrm>
          <a:prstGeom prst="rect">
            <a:avLst/>
          </a:prstGeom>
          <a:noFill/>
        </p:spPr>
        <p:txBody>
          <a:bodyPr wrap="square" lIns="0" rIns="0" tIns="0" bIns="0" anchor="t">
            <a:spAutoFit/>
          </a:bodyPr>
          <a:lstStyle/>
          <a:p>
            <a:pPr algn="l"/>
            <a:r>
              <a:rPr sz="15000" b="1" i="0">
                <a:solidFill>
                  <a:srgbClr val="FF6600"/>
                </a:solidFill>
                <a:latin typeface="Arial"/>
              </a:rPr>
              <a:t>12</a:t>
            </a:r>
          </a:p>
        </p:txBody>
      </p:sp>
      <p:sp>
        <p:nvSpPr>
          <p:cNvPr id="4" name="TextBox 3"/>
          <p:cNvSpPr txBox="1"/>
          <p:nvPr/>
        </p:nvSpPr>
        <p:spPr>
          <a:xfrm>
            <a:off x="4160520" y="1481328"/>
            <a:ext cx="7498079" cy="274320"/>
          </a:xfrm>
          <a:prstGeom prst="rect">
            <a:avLst/>
          </a:prstGeom>
          <a:noFill/>
        </p:spPr>
        <p:txBody>
          <a:bodyPr wrap="square" lIns="0" rIns="0" tIns="0" bIns="0" anchor="t">
            <a:spAutoFit/>
          </a:bodyPr>
          <a:lstStyle/>
          <a:p>
            <a:pPr algn="l"/>
            <a:r>
              <a:rPr sz="1200" b="1" i="0" spc="300">
                <a:solidFill>
                  <a:srgbClr val="FF6600"/>
                </a:solidFill>
                <a:latin typeface="Arial"/>
              </a:rPr>
              <a:t>MÓDULO 12 · ERRORES Y LECCIONES</a:t>
            </a:r>
          </a:p>
        </p:txBody>
      </p:sp>
      <p:sp>
        <p:nvSpPr>
          <p:cNvPr id="5" name="Título"/>
          <p:cNvSpPr txBox="1"/>
          <p:nvPr/>
        </p:nvSpPr>
        <p:spPr>
          <a:xfrm>
            <a:off x="4160520" y="1874519"/>
            <a:ext cx="7452360" cy="1508760"/>
          </a:xfrm>
          <a:prstGeom prst="rect">
            <a:avLst/>
          </a:prstGeom>
          <a:noFill/>
        </p:spPr>
        <p:txBody>
          <a:bodyPr wrap="square" lIns="0" rIns="0" tIns="0" bIns="0" anchor="t">
            <a:spAutoFit/>
          </a:bodyPr>
          <a:lstStyle/>
          <a:p>
            <a:pPr algn="l">
              <a:lnSpc>
                <a:spcPct val="95000"/>
              </a:lnSpc>
            </a:pPr>
            <a:r>
              <a:rPr sz="3600" b="1" i="0">
                <a:solidFill>
                  <a:srgbClr val="FFFFFF"/>
                </a:solidFill>
                <a:latin typeface="Arial"/>
              </a:rPr>
              <a:t>Otros ya cometieron estos errores</a:t>
            </a:r>
          </a:p>
        </p:txBody>
      </p:sp>
      <p:sp>
        <p:nvSpPr>
          <p:cNvPr id="6" name="TextBox 5"/>
          <p:cNvSpPr txBox="1"/>
          <p:nvPr/>
        </p:nvSpPr>
        <p:spPr>
          <a:xfrm>
            <a:off x="4160520" y="3474720"/>
            <a:ext cx="7406640" cy="685800"/>
          </a:xfrm>
          <a:prstGeom prst="rect">
            <a:avLst/>
          </a:prstGeom>
          <a:noFill/>
        </p:spPr>
        <p:txBody>
          <a:bodyPr wrap="square" lIns="0" rIns="0" tIns="0" bIns="0" anchor="t">
            <a:spAutoFit/>
          </a:bodyPr>
          <a:lstStyle/>
          <a:p>
            <a:pPr algn="l">
              <a:lnSpc>
                <a:spcPct val="110000"/>
              </a:lnSpc>
            </a:pPr>
            <a:r>
              <a:rPr sz="1500" b="0" i="0">
                <a:solidFill>
                  <a:srgbClr val="BCBEC0"/>
                </a:solidFill>
                <a:latin typeface="Arial"/>
              </a:rPr>
              <a:t>Lecciones aprendidas de proyectos que implementaron AWP y los errores más caros.</a:t>
            </a:r>
          </a:p>
        </p:txBody>
      </p:sp>
      <p:sp>
        <p:nvSpPr>
          <p:cNvPr id="7" name="Rectangle 6"/>
          <p:cNvSpPr/>
          <p:nvPr/>
        </p:nvSpPr>
        <p:spPr>
          <a:xfrm>
            <a:off x="548640"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48640"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01</a:t>
            </a:r>
          </a:p>
        </p:txBody>
      </p:sp>
      <p:sp>
        <p:nvSpPr>
          <p:cNvPr id="9" name="Rectangle 8"/>
          <p:cNvSpPr/>
          <p:nvPr/>
        </p:nvSpPr>
        <p:spPr>
          <a:xfrm>
            <a:off x="1409090"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409090"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02</a:t>
            </a:r>
          </a:p>
        </p:txBody>
      </p:sp>
      <p:sp>
        <p:nvSpPr>
          <p:cNvPr id="11" name="Rectangle 10"/>
          <p:cNvSpPr/>
          <p:nvPr/>
        </p:nvSpPr>
        <p:spPr>
          <a:xfrm>
            <a:off x="2269540"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269540"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03</a:t>
            </a:r>
          </a:p>
        </p:txBody>
      </p:sp>
      <p:sp>
        <p:nvSpPr>
          <p:cNvPr id="13" name="Rectangle 12"/>
          <p:cNvSpPr/>
          <p:nvPr/>
        </p:nvSpPr>
        <p:spPr>
          <a:xfrm>
            <a:off x="3129991"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129991"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04</a:t>
            </a:r>
          </a:p>
        </p:txBody>
      </p:sp>
      <p:sp>
        <p:nvSpPr>
          <p:cNvPr id="15" name="Rectangle 14"/>
          <p:cNvSpPr/>
          <p:nvPr/>
        </p:nvSpPr>
        <p:spPr>
          <a:xfrm>
            <a:off x="3990441"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990441"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05</a:t>
            </a:r>
          </a:p>
        </p:txBody>
      </p:sp>
      <p:sp>
        <p:nvSpPr>
          <p:cNvPr id="17" name="Rectangle 16"/>
          <p:cNvSpPr/>
          <p:nvPr/>
        </p:nvSpPr>
        <p:spPr>
          <a:xfrm>
            <a:off x="4850892"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850892"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06</a:t>
            </a:r>
          </a:p>
        </p:txBody>
      </p:sp>
      <p:sp>
        <p:nvSpPr>
          <p:cNvPr id="19" name="Rectangle 18"/>
          <p:cNvSpPr/>
          <p:nvPr/>
        </p:nvSpPr>
        <p:spPr>
          <a:xfrm>
            <a:off x="5711342"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711342"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07</a:t>
            </a:r>
          </a:p>
        </p:txBody>
      </p:sp>
      <p:sp>
        <p:nvSpPr>
          <p:cNvPr id="21" name="Rectangle 20"/>
          <p:cNvSpPr/>
          <p:nvPr/>
        </p:nvSpPr>
        <p:spPr>
          <a:xfrm>
            <a:off x="6571792"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571792"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08</a:t>
            </a:r>
          </a:p>
        </p:txBody>
      </p:sp>
      <p:sp>
        <p:nvSpPr>
          <p:cNvPr id="23" name="Rectangle 22"/>
          <p:cNvSpPr/>
          <p:nvPr/>
        </p:nvSpPr>
        <p:spPr>
          <a:xfrm>
            <a:off x="7432243"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432243"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09</a:t>
            </a:r>
          </a:p>
        </p:txBody>
      </p:sp>
      <p:sp>
        <p:nvSpPr>
          <p:cNvPr id="25" name="Rectangle 24"/>
          <p:cNvSpPr/>
          <p:nvPr/>
        </p:nvSpPr>
        <p:spPr>
          <a:xfrm>
            <a:off x="8292693"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292693"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10</a:t>
            </a:r>
          </a:p>
        </p:txBody>
      </p:sp>
      <p:sp>
        <p:nvSpPr>
          <p:cNvPr id="27" name="Rectangle 26"/>
          <p:cNvSpPr/>
          <p:nvPr/>
        </p:nvSpPr>
        <p:spPr>
          <a:xfrm>
            <a:off x="9153144"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153144"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11</a:t>
            </a:r>
          </a:p>
        </p:txBody>
      </p:sp>
      <p:sp>
        <p:nvSpPr>
          <p:cNvPr id="29" name="Rectangle 28"/>
          <p:cNvSpPr/>
          <p:nvPr/>
        </p:nvSpPr>
        <p:spPr>
          <a:xfrm>
            <a:off x="10013594" y="5074920"/>
            <a:ext cx="769010" cy="50292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013594" y="5074920"/>
            <a:ext cx="769010" cy="502920"/>
          </a:xfrm>
          <a:prstGeom prst="rect">
            <a:avLst/>
          </a:prstGeom>
          <a:noFill/>
        </p:spPr>
        <p:txBody>
          <a:bodyPr wrap="square" lIns="0" rIns="0" tIns="0" bIns="0" anchor="ctr">
            <a:spAutoFit/>
          </a:bodyPr>
          <a:lstStyle/>
          <a:p>
            <a:pPr algn="ctr"/>
            <a:r>
              <a:rPr sz="1100" b="1" i="0">
                <a:solidFill>
                  <a:srgbClr val="FFFFFF"/>
                </a:solidFill>
                <a:latin typeface="Courier New"/>
              </a:rPr>
              <a:t>12</a:t>
            </a:r>
          </a:p>
        </p:txBody>
      </p:sp>
      <p:sp>
        <p:nvSpPr>
          <p:cNvPr id="31" name="Rectangle 30"/>
          <p:cNvSpPr/>
          <p:nvPr/>
        </p:nvSpPr>
        <p:spPr>
          <a:xfrm>
            <a:off x="10874044" y="5074920"/>
            <a:ext cx="769010" cy="50292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874044"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13</a:t>
            </a:r>
          </a:p>
        </p:txBody>
      </p:sp>
      <p:sp>
        <p:nvSpPr>
          <p:cNvPr id="33" name="TextBox 32"/>
          <p:cNvSpPr txBox="1"/>
          <p:nvPr/>
        </p:nvSpPr>
        <p:spPr>
          <a:xfrm>
            <a:off x="548640" y="4709159"/>
            <a:ext cx="5486400" cy="274320"/>
          </a:xfrm>
          <a:prstGeom prst="rect">
            <a:avLst/>
          </a:prstGeom>
          <a:noFill/>
        </p:spPr>
        <p:txBody>
          <a:bodyPr wrap="square" lIns="0" rIns="0" tIns="0" bIns="0" anchor="t">
            <a:spAutoFit/>
          </a:bodyPr>
          <a:lstStyle/>
          <a:p>
            <a:pPr algn="l"/>
            <a:r>
              <a:rPr sz="1000" b="1" i="0" spc="200">
                <a:solidFill>
                  <a:srgbClr val="8A8B8E"/>
                </a:solidFill>
                <a:latin typeface="Arial"/>
              </a:rPr>
              <a:t>MÓDULOS</a:t>
            </a:r>
          </a:p>
        </p:txBody>
      </p:sp>
      <p:sp>
        <p:nvSpPr>
          <p:cNvPr id="34" name="TextBox 33"/>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8A8B8E"/>
                </a:solidFill>
                <a:latin typeface="Arial"/>
              </a:rPr>
              <a:t>IMPLEMENTACIÓN DE AWP  ·  M12 · ERRORES COMUNES Y LECCIONES APRENDIDAS</a:t>
            </a:r>
          </a:p>
        </p:txBody>
      </p:sp>
      <p:sp>
        <p:nvSpPr>
          <p:cNvPr id="35" name="TextBox 34"/>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8A8B8E"/>
                </a:solidFill>
                <a:latin typeface="Courier New"/>
              </a:rPr>
              <a:t>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12 · LECCIÓN 1</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FFFFFF"/>
                </a:solidFill>
                <a:latin typeface="Arial"/>
              </a:rPr>
              <a:t>AWP es un camino: no saldrá perfecto la primera vez</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8A8B8E"/>
                </a:solidFill>
                <a:latin typeface="Arial"/>
              </a:rPr>
              <a:t>IMPLEMENTACIÓN DE AWP  ·  M12 · ERRORES COMUNES Y LECCIONES APRENDIDAS</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8A8B8E"/>
                </a:solidFill>
                <a:latin typeface="Courier New"/>
              </a:rPr>
              <a:t>112</a:t>
            </a:r>
          </a:p>
        </p:txBody>
      </p:sp>
      <p:pic>
        <p:nvPicPr>
          <p:cNvPr id="7" name="Picture 6" descr="quote_o.png"/>
          <p:cNvPicPr>
            <a:picLocks noChangeAspect="1"/>
          </p:cNvPicPr>
          <p:nvPr/>
        </p:nvPicPr>
        <p:blipFill>
          <a:blip r:embed="rId2"/>
          <a:stretch>
            <a:fillRect/>
          </a:stretch>
        </p:blipFill>
        <p:spPr>
          <a:xfrm>
            <a:off x="548640" y="1920240"/>
            <a:ext cx="548640" cy="548640"/>
          </a:xfrm>
          <a:prstGeom prst="rect">
            <a:avLst/>
          </a:prstGeom>
        </p:spPr>
      </p:pic>
      <p:sp>
        <p:nvSpPr>
          <p:cNvPr id="8" name="TextBox 7"/>
          <p:cNvSpPr txBox="1"/>
          <p:nvPr/>
        </p:nvSpPr>
        <p:spPr>
          <a:xfrm>
            <a:off x="1417319" y="1828800"/>
            <a:ext cx="10225735" cy="1737360"/>
          </a:xfrm>
          <a:prstGeom prst="rect">
            <a:avLst/>
          </a:prstGeom>
          <a:noFill/>
        </p:spPr>
        <p:txBody>
          <a:bodyPr wrap="square" lIns="0" rIns="0" tIns="0" bIns="0" anchor="ctr">
            <a:spAutoFit/>
          </a:bodyPr>
          <a:lstStyle/>
          <a:p>
            <a:pPr algn="l">
              <a:lnSpc>
                <a:spcPct val="110000"/>
              </a:lnSpc>
            </a:pPr>
            <a:r>
              <a:rPr sz="2400" b="0" i="1">
                <a:solidFill>
                  <a:srgbClr val="FFFFFF"/>
                </a:solidFill>
                <a:latin typeface="Arial"/>
              </a:rPr>
              <a:t>“No lo hará todo bien la primera vez. Aprenda de los tropiezos y celebre los avances.”</a:t>
            </a:r>
          </a:p>
        </p:txBody>
      </p:sp>
      <p:sp>
        <p:nvSpPr>
          <p:cNvPr id="9" name="TextBox 8"/>
          <p:cNvSpPr txBox="1"/>
          <p:nvPr/>
        </p:nvSpPr>
        <p:spPr>
          <a:xfrm>
            <a:off x="1417319" y="3657600"/>
            <a:ext cx="10225735" cy="274320"/>
          </a:xfrm>
          <a:prstGeom prst="rect">
            <a:avLst/>
          </a:prstGeom>
          <a:noFill/>
        </p:spPr>
        <p:txBody>
          <a:bodyPr wrap="square" lIns="0" rIns="0" tIns="0" bIns="0" anchor="t">
            <a:spAutoFit/>
          </a:bodyPr>
          <a:lstStyle/>
          <a:p>
            <a:pPr algn="l"/>
            <a:r>
              <a:rPr sz="1100" b="1" i="0" spc="100">
                <a:solidFill>
                  <a:srgbClr val="FF9955"/>
                </a:solidFill>
                <a:latin typeface="Arial"/>
              </a:rPr>
              <a:t>CURSO AWP 2023 · LECCIÓN APRENDIDA 1 (ADAPTACIÓN)</a:t>
            </a:r>
          </a:p>
        </p:txBody>
      </p:sp>
      <p:sp>
        <p:nvSpPr>
          <p:cNvPr id="10" name="Rectangle 9"/>
          <p:cNvSpPr/>
          <p:nvPr/>
        </p:nvSpPr>
        <p:spPr>
          <a:xfrm>
            <a:off x="548640" y="4160520"/>
            <a:ext cx="3527450" cy="201168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bulb_o.png"/>
          <p:cNvPicPr>
            <a:picLocks noChangeAspect="1"/>
          </p:cNvPicPr>
          <p:nvPr/>
        </p:nvPicPr>
        <p:blipFill>
          <a:blip r:embed="rId3"/>
          <a:stretch>
            <a:fillRect/>
          </a:stretch>
        </p:blipFill>
        <p:spPr>
          <a:xfrm>
            <a:off x="822959" y="4974336"/>
            <a:ext cx="384048" cy="384048"/>
          </a:xfrm>
          <a:prstGeom prst="rect">
            <a:avLst/>
          </a:prstGeom>
        </p:spPr>
      </p:pic>
      <p:sp>
        <p:nvSpPr>
          <p:cNvPr id="12" name="TextBox 11"/>
          <p:cNvSpPr txBox="1"/>
          <p:nvPr/>
        </p:nvSpPr>
        <p:spPr>
          <a:xfrm>
            <a:off x="1417319" y="4251959"/>
            <a:ext cx="2475890" cy="1828800"/>
          </a:xfrm>
          <a:prstGeom prst="rect">
            <a:avLst/>
          </a:prstGeom>
          <a:noFill/>
        </p:spPr>
        <p:txBody>
          <a:bodyPr wrap="square" lIns="0" rIns="0" tIns="0" bIns="0" anchor="ctr">
            <a:spAutoFit/>
          </a:bodyPr>
          <a:lstStyle/>
          <a:p>
            <a:pPr algn="l">
              <a:lnSpc>
                <a:spcPct val="105000"/>
              </a:lnSpc>
            </a:pPr>
            <a:r>
              <a:rPr sz="1300" b="0" i="0">
                <a:solidFill>
                  <a:srgbClr val="FFFFFF"/>
                </a:solidFill>
                <a:latin typeface="Arial"/>
              </a:rPr>
              <a:t>Registre lo que no funcionó</a:t>
            </a:r>
          </a:p>
        </p:txBody>
      </p:sp>
      <p:sp>
        <p:nvSpPr>
          <p:cNvPr id="13" name="Rectangle 12"/>
          <p:cNvSpPr/>
          <p:nvPr/>
        </p:nvSpPr>
        <p:spPr>
          <a:xfrm>
            <a:off x="4332122" y="4160520"/>
            <a:ext cx="3527450" cy="201168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trophy_o.png"/>
          <p:cNvPicPr>
            <a:picLocks noChangeAspect="1"/>
          </p:cNvPicPr>
          <p:nvPr/>
        </p:nvPicPr>
        <p:blipFill>
          <a:blip r:embed="rId4"/>
          <a:stretch>
            <a:fillRect/>
          </a:stretch>
        </p:blipFill>
        <p:spPr>
          <a:xfrm>
            <a:off x="4606442" y="4974336"/>
            <a:ext cx="384048" cy="384048"/>
          </a:xfrm>
          <a:prstGeom prst="rect">
            <a:avLst/>
          </a:prstGeom>
        </p:spPr>
      </p:pic>
      <p:sp>
        <p:nvSpPr>
          <p:cNvPr id="15" name="TextBox 14"/>
          <p:cNvSpPr txBox="1"/>
          <p:nvPr/>
        </p:nvSpPr>
        <p:spPr>
          <a:xfrm>
            <a:off x="5200802" y="4251959"/>
            <a:ext cx="2475890" cy="1828800"/>
          </a:xfrm>
          <a:prstGeom prst="rect">
            <a:avLst/>
          </a:prstGeom>
          <a:noFill/>
        </p:spPr>
        <p:txBody>
          <a:bodyPr wrap="square" lIns="0" rIns="0" tIns="0" bIns="0" anchor="ctr">
            <a:spAutoFit/>
          </a:bodyPr>
          <a:lstStyle/>
          <a:p>
            <a:pPr algn="l">
              <a:lnSpc>
                <a:spcPct val="105000"/>
              </a:lnSpc>
            </a:pPr>
            <a:r>
              <a:rPr sz="1300" b="0" i="0">
                <a:solidFill>
                  <a:srgbClr val="FFFFFF"/>
                </a:solidFill>
                <a:latin typeface="Arial"/>
              </a:rPr>
              <a:t>Celebre las mejoras visibles</a:t>
            </a:r>
          </a:p>
        </p:txBody>
      </p:sp>
      <p:sp>
        <p:nvSpPr>
          <p:cNvPr id="16" name="Rectangle 15"/>
          <p:cNvSpPr/>
          <p:nvPr/>
        </p:nvSpPr>
        <p:spPr>
          <a:xfrm>
            <a:off x="8115604" y="4160520"/>
            <a:ext cx="3527450" cy="201168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cycle_o.png"/>
          <p:cNvPicPr>
            <a:picLocks noChangeAspect="1"/>
          </p:cNvPicPr>
          <p:nvPr/>
        </p:nvPicPr>
        <p:blipFill>
          <a:blip r:embed="rId5"/>
          <a:stretch>
            <a:fillRect/>
          </a:stretch>
        </p:blipFill>
        <p:spPr>
          <a:xfrm>
            <a:off x="8389924" y="4974336"/>
            <a:ext cx="384048" cy="384048"/>
          </a:xfrm>
          <a:prstGeom prst="rect">
            <a:avLst/>
          </a:prstGeom>
        </p:spPr>
      </p:pic>
      <p:sp>
        <p:nvSpPr>
          <p:cNvPr id="18" name="TextBox 17"/>
          <p:cNvSpPr txBox="1"/>
          <p:nvPr/>
        </p:nvSpPr>
        <p:spPr>
          <a:xfrm>
            <a:off x="8984284" y="4251959"/>
            <a:ext cx="2475890" cy="1828800"/>
          </a:xfrm>
          <a:prstGeom prst="rect">
            <a:avLst/>
          </a:prstGeom>
          <a:noFill/>
        </p:spPr>
        <p:txBody>
          <a:bodyPr wrap="square" lIns="0" rIns="0" tIns="0" bIns="0" anchor="ctr">
            <a:spAutoFit/>
          </a:bodyPr>
          <a:lstStyle/>
          <a:p>
            <a:pPr algn="l">
              <a:lnSpc>
                <a:spcPct val="105000"/>
              </a:lnSpc>
            </a:pPr>
            <a:r>
              <a:rPr sz="1300" b="0" i="0">
                <a:solidFill>
                  <a:srgbClr val="FFFFFF"/>
                </a:solidFill>
                <a:latin typeface="Arial"/>
              </a:rPr>
              <a:t>Ajuste el procedimiento en cada proyecto</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12 · LECCIÓN 2</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Gatear, caminar, correr: implemente por etapas</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M12 · ERRORES COMUNES Y LECCIONES APRENDIDAS</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113</a:t>
            </a:r>
          </a:p>
        </p:txBody>
      </p:sp>
      <p:sp>
        <p:nvSpPr>
          <p:cNvPr id="7" name="Rectangle 6"/>
          <p:cNvSpPr/>
          <p:nvPr/>
        </p:nvSpPr>
        <p:spPr>
          <a:xfrm>
            <a:off x="548640" y="1874519"/>
            <a:ext cx="3515258"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1</a:t>
            </a:r>
          </a:p>
        </p:txBody>
      </p:sp>
      <p:pic>
        <p:nvPicPr>
          <p:cNvPr id="10" name="Picture 9" descr="baby_o.png"/>
          <p:cNvPicPr>
            <a:picLocks noChangeAspect="1"/>
          </p:cNvPicPr>
          <p:nvPr/>
        </p:nvPicPr>
        <p:blipFill>
          <a:blip r:embed="rId2"/>
          <a:stretch>
            <a:fillRect/>
          </a:stretch>
        </p:blipFill>
        <p:spPr>
          <a:xfrm>
            <a:off x="3405530" y="2148839"/>
            <a:ext cx="420624" cy="420624"/>
          </a:xfrm>
          <a:prstGeom prst="rect">
            <a:avLst/>
          </a:prstGeom>
        </p:spPr>
      </p:pic>
      <p:sp>
        <p:nvSpPr>
          <p:cNvPr id="11" name="TextBox 10"/>
          <p:cNvSpPr txBox="1"/>
          <p:nvPr/>
        </p:nvSpPr>
        <p:spPr>
          <a:xfrm>
            <a:off x="777240" y="2807208"/>
            <a:ext cx="3103778"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Gatear</a:t>
            </a:r>
          </a:p>
        </p:txBody>
      </p:sp>
      <p:sp>
        <p:nvSpPr>
          <p:cNvPr id="12" name="TextBox 11"/>
          <p:cNvSpPr txBox="1"/>
          <p:nvPr/>
        </p:nvSpPr>
        <p:spPr>
          <a:xfrm>
            <a:off x="777240" y="3429000"/>
            <a:ext cx="3103778"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Primer proyecto: CWP más precisos para licitar y un IWP piloto</a:t>
            </a:r>
          </a:p>
        </p:txBody>
      </p:sp>
      <p:cxnSp>
        <p:nvCxnSpPr>
          <p:cNvPr id="13" name="Connector 12"/>
          <p:cNvCxnSpPr/>
          <p:nvPr/>
        </p:nvCxnSpPr>
        <p:spPr>
          <a:xfrm>
            <a:off x="4100474" y="3291839"/>
            <a:ext cx="201168"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4338218" y="1874519"/>
            <a:ext cx="3515258"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4566818"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66818"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2</a:t>
            </a:r>
          </a:p>
        </p:txBody>
      </p:sp>
      <p:pic>
        <p:nvPicPr>
          <p:cNvPr id="17" name="Picture 16" descr="walk_o.png"/>
          <p:cNvPicPr>
            <a:picLocks noChangeAspect="1"/>
          </p:cNvPicPr>
          <p:nvPr/>
        </p:nvPicPr>
        <p:blipFill>
          <a:blip r:embed="rId3"/>
          <a:stretch>
            <a:fillRect/>
          </a:stretch>
        </p:blipFill>
        <p:spPr>
          <a:xfrm>
            <a:off x="7195108" y="2148839"/>
            <a:ext cx="420624" cy="420624"/>
          </a:xfrm>
          <a:prstGeom prst="rect">
            <a:avLst/>
          </a:prstGeom>
        </p:spPr>
      </p:pic>
      <p:sp>
        <p:nvSpPr>
          <p:cNvPr id="18" name="TextBox 17"/>
          <p:cNvSpPr txBox="1"/>
          <p:nvPr/>
        </p:nvSpPr>
        <p:spPr>
          <a:xfrm>
            <a:off x="4566818" y="2807208"/>
            <a:ext cx="3103778"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Caminar</a:t>
            </a:r>
          </a:p>
        </p:txBody>
      </p:sp>
      <p:sp>
        <p:nvSpPr>
          <p:cNvPr id="19" name="TextBox 18"/>
          <p:cNvSpPr txBox="1"/>
          <p:nvPr/>
        </p:nvSpPr>
        <p:spPr>
          <a:xfrm>
            <a:off x="4566818" y="3429000"/>
            <a:ext cx="3103778"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WFP completo: restricciones, backlog y look-ahead en toda la obra</a:t>
            </a:r>
          </a:p>
        </p:txBody>
      </p:sp>
      <p:cxnSp>
        <p:nvCxnSpPr>
          <p:cNvPr id="20" name="Connector 19"/>
          <p:cNvCxnSpPr/>
          <p:nvPr/>
        </p:nvCxnSpPr>
        <p:spPr>
          <a:xfrm>
            <a:off x="7890052" y="3291839"/>
            <a:ext cx="201168" cy="0"/>
          </a:xfrm>
          <a:prstGeom prst="line">
            <a:avLst/>
          </a:prstGeom>
          <a:ln w="25400">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8127796" y="1874519"/>
            <a:ext cx="3515258" cy="283464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8356396" y="2130552"/>
            <a:ext cx="475488" cy="47548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356396" y="2130552"/>
            <a:ext cx="475488" cy="475488"/>
          </a:xfrm>
          <a:prstGeom prst="rect">
            <a:avLst/>
          </a:prstGeom>
          <a:noFill/>
        </p:spPr>
        <p:txBody>
          <a:bodyPr wrap="square" lIns="0" rIns="0" tIns="0" bIns="0" anchor="ctr">
            <a:spAutoFit/>
          </a:bodyPr>
          <a:lstStyle/>
          <a:p>
            <a:pPr algn="ctr"/>
            <a:r>
              <a:rPr sz="1700" b="1" i="0">
                <a:solidFill>
                  <a:srgbClr val="FFFFFF"/>
                </a:solidFill>
                <a:latin typeface="Arial"/>
              </a:rPr>
              <a:t>3</a:t>
            </a:r>
          </a:p>
        </p:txBody>
      </p:sp>
      <p:pic>
        <p:nvPicPr>
          <p:cNvPr id="24" name="Picture 23" descr="run_o.png"/>
          <p:cNvPicPr>
            <a:picLocks noChangeAspect="1"/>
          </p:cNvPicPr>
          <p:nvPr/>
        </p:nvPicPr>
        <p:blipFill>
          <a:blip r:embed="rId4"/>
          <a:stretch>
            <a:fillRect/>
          </a:stretch>
        </p:blipFill>
        <p:spPr>
          <a:xfrm>
            <a:off x="10984687" y="2148839"/>
            <a:ext cx="420624" cy="420624"/>
          </a:xfrm>
          <a:prstGeom prst="rect">
            <a:avLst/>
          </a:prstGeom>
        </p:spPr>
      </p:pic>
      <p:sp>
        <p:nvSpPr>
          <p:cNvPr id="25" name="TextBox 24"/>
          <p:cNvSpPr txBox="1"/>
          <p:nvPr/>
        </p:nvSpPr>
        <p:spPr>
          <a:xfrm>
            <a:off x="8356396" y="2807208"/>
            <a:ext cx="3103778"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Correr</a:t>
            </a:r>
          </a:p>
        </p:txBody>
      </p:sp>
      <p:sp>
        <p:nvSpPr>
          <p:cNvPr id="26" name="TextBox 25"/>
          <p:cNvSpPr txBox="1"/>
          <p:nvPr/>
        </p:nvSpPr>
        <p:spPr>
          <a:xfrm>
            <a:off x="8356396" y="3429000"/>
            <a:ext cx="3103778" cy="1143000"/>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AWP de extremo a extremo: POC en FEL 2, EWP y PWP en secuencia</a:t>
            </a:r>
          </a:p>
        </p:txBody>
      </p:sp>
      <p:sp>
        <p:nvSpPr>
          <p:cNvPr id="27" name="Rectangle 26"/>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lag_o.png"/>
          <p:cNvPicPr>
            <a:picLocks noChangeAspect="1"/>
          </p:cNvPicPr>
          <p:nvPr/>
        </p:nvPicPr>
        <p:blipFill>
          <a:blip r:embed="rId5"/>
          <a:stretch>
            <a:fillRect/>
          </a:stretch>
        </p:blipFill>
        <p:spPr>
          <a:xfrm>
            <a:off x="822959" y="5660136"/>
            <a:ext cx="365760" cy="365760"/>
          </a:xfrm>
          <a:prstGeom prst="rect">
            <a:avLst/>
          </a:prstGeom>
        </p:spPr>
      </p:pic>
      <p:sp>
        <p:nvSpPr>
          <p:cNvPr id="29" name="TextBox 28"/>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No hace falta hacerlo todo de inmediato: algunas empresas empezaron solo con CWP mejores.</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12 · LECCIONES 3 Y 6</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Espere resistencia y respóndala con un lenguaje común</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M12 · ERRORES COMUNES Y LECCIONES APRENDIDAS</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114</a:t>
            </a:r>
          </a:p>
        </p:txBody>
      </p:sp>
      <p:sp>
        <p:nvSpPr>
          <p:cNvPr id="7" name="Rectangle 6"/>
          <p:cNvSpPr/>
          <p:nvPr/>
        </p:nvSpPr>
        <p:spPr>
          <a:xfrm>
            <a:off x="548640" y="1828800"/>
            <a:ext cx="3527450" cy="24688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omments_o.png"/>
          <p:cNvPicPr>
            <a:picLocks noChangeAspect="1"/>
          </p:cNvPicPr>
          <p:nvPr/>
        </p:nvPicPr>
        <p:blipFill>
          <a:blip r:embed="rId2"/>
          <a:stretch>
            <a:fillRect/>
          </a:stretch>
        </p:blipFill>
        <p:spPr>
          <a:xfrm>
            <a:off x="822959" y="2084832"/>
            <a:ext cx="457200" cy="457200"/>
          </a:xfrm>
          <a:prstGeom prst="rect">
            <a:avLst/>
          </a:prstGeom>
        </p:spPr>
      </p:pic>
      <p:sp>
        <p:nvSpPr>
          <p:cNvPr id="9" name="TextBox 8"/>
          <p:cNvSpPr txBox="1"/>
          <p:nvPr/>
        </p:nvSpPr>
        <p:spPr>
          <a:xfrm>
            <a:off x="822959" y="2706624"/>
            <a:ext cx="3024530"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«Lo hacemos hace años»</a:t>
            </a:r>
          </a:p>
        </p:txBody>
      </p:sp>
      <p:sp>
        <p:nvSpPr>
          <p:cNvPr id="10" name="TextBox 9"/>
          <p:cNvSpPr txBox="1"/>
          <p:nvPr/>
        </p:nvSpPr>
        <p:spPr>
          <a:xfrm>
            <a:off x="822959" y="3328416"/>
            <a:ext cx="3024530" cy="832103"/>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Reconozca lo que ya hacen: AWP estandariza las mejores prácticas</a:t>
            </a:r>
          </a:p>
        </p:txBody>
      </p:sp>
      <p:sp>
        <p:nvSpPr>
          <p:cNvPr id="11" name="Rectangle 10"/>
          <p:cNvSpPr/>
          <p:nvPr/>
        </p:nvSpPr>
        <p:spPr>
          <a:xfrm>
            <a:off x="4332122" y="1828800"/>
            <a:ext cx="3527450" cy="24688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grad_o.png"/>
          <p:cNvPicPr>
            <a:picLocks noChangeAspect="1"/>
          </p:cNvPicPr>
          <p:nvPr/>
        </p:nvPicPr>
        <p:blipFill>
          <a:blip r:embed="rId3"/>
          <a:stretch>
            <a:fillRect/>
          </a:stretch>
        </p:blipFill>
        <p:spPr>
          <a:xfrm>
            <a:off x="4606442" y="2084832"/>
            <a:ext cx="457200" cy="457200"/>
          </a:xfrm>
          <a:prstGeom prst="rect">
            <a:avLst/>
          </a:prstGeom>
        </p:spPr>
      </p:pic>
      <p:sp>
        <p:nvSpPr>
          <p:cNvPr id="13" name="TextBox 12"/>
          <p:cNvSpPr txBox="1"/>
          <p:nvPr/>
        </p:nvSpPr>
        <p:spPr>
          <a:xfrm>
            <a:off x="4606442" y="2706624"/>
            <a:ext cx="3024530"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Capacitación constante</a:t>
            </a:r>
          </a:p>
        </p:txBody>
      </p:sp>
      <p:sp>
        <p:nvSpPr>
          <p:cNvPr id="14" name="TextBox 13"/>
          <p:cNvSpPr txBox="1"/>
          <p:nvPr/>
        </p:nvSpPr>
        <p:spPr>
          <a:xfrm>
            <a:off x="4606442" y="3328416"/>
            <a:ext cx="3024530" cy="832103"/>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Enseñe el idioma de AWP a todos los equipos</a:t>
            </a:r>
          </a:p>
        </p:txBody>
      </p:sp>
      <p:sp>
        <p:nvSpPr>
          <p:cNvPr id="15" name="Rectangle 14"/>
          <p:cNvSpPr/>
          <p:nvPr/>
        </p:nvSpPr>
        <p:spPr>
          <a:xfrm>
            <a:off x="8115604" y="1828800"/>
            <a:ext cx="3527450" cy="24688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book_o.png"/>
          <p:cNvPicPr>
            <a:picLocks noChangeAspect="1"/>
          </p:cNvPicPr>
          <p:nvPr/>
        </p:nvPicPr>
        <p:blipFill>
          <a:blip r:embed="rId4"/>
          <a:stretch>
            <a:fillRect/>
          </a:stretch>
        </p:blipFill>
        <p:spPr>
          <a:xfrm>
            <a:off x="8389924" y="2084832"/>
            <a:ext cx="457200" cy="457200"/>
          </a:xfrm>
          <a:prstGeom prst="rect">
            <a:avLst/>
          </a:prstGeom>
        </p:spPr>
      </p:pic>
      <p:sp>
        <p:nvSpPr>
          <p:cNvPr id="17" name="TextBox 16"/>
          <p:cNvSpPr txBox="1"/>
          <p:nvPr/>
        </p:nvSpPr>
        <p:spPr>
          <a:xfrm>
            <a:off x="8389924" y="2706624"/>
            <a:ext cx="3024530" cy="566928"/>
          </a:xfrm>
          <a:prstGeom prst="rect">
            <a:avLst/>
          </a:prstGeom>
          <a:noFill/>
        </p:spPr>
        <p:txBody>
          <a:bodyPr wrap="square" lIns="0" rIns="0" tIns="0" bIns="0" anchor="t">
            <a:spAutoFit/>
          </a:bodyPr>
          <a:lstStyle/>
          <a:p>
            <a:pPr algn="l">
              <a:lnSpc>
                <a:spcPct val="95000"/>
              </a:lnSpc>
            </a:pPr>
            <a:r>
              <a:rPr sz="1500" b="1" i="0">
                <a:solidFill>
                  <a:srgbClr val="1A1A1A"/>
                </a:solidFill>
                <a:latin typeface="Arial"/>
              </a:rPr>
              <a:t>Úselo en todo</a:t>
            </a:r>
          </a:p>
        </p:txBody>
      </p:sp>
      <p:sp>
        <p:nvSpPr>
          <p:cNvPr id="18" name="TextBox 17"/>
          <p:cNvSpPr txBox="1"/>
          <p:nvPr/>
        </p:nvSpPr>
        <p:spPr>
          <a:xfrm>
            <a:off x="8389924" y="3328416"/>
            <a:ext cx="3024530" cy="832103"/>
          </a:xfrm>
          <a:prstGeom prst="rect">
            <a:avLst/>
          </a:prstGeom>
          <a:noFill/>
        </p:spPr>
        <p:txBody>
          <a:bodyPr wrap="square" lIns="0" rIns="0" tIns="0" bIns="0" anchor="t">
            <a:spAutoFit/>
          </a:bodyPr>
          <a:lstStyle/>
          <a:p>
            <a:pPr algn="l">
              <a:lnSpc>
                <a:spcPct val="105000"/>
              </a:lnSpc>
            </a:pPr>
            <a:r>
              <a:rPr sz="1200" b="0" i="0">
                <a:solidFill>
                  <a:srgbClr val="6D6E71"/>
                </a:solidFill>
                <a:latin typeface="Arial"/>
              </a:rPr>
              <a:t>En reuniones, documentos y correspondencia</a:t>
            </a:r>
          </a:p>
        </p:txBody>
      </p:sp>
      <p:sp>
        <p:nvSpPr>
          <p:cNvPr id="19" name="Rectangle 18"/>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lag_o.png"/>
          <p:cNvPicPr>
            <a:picLocks noChangeAspect="1"/>
          </p:cNvPicPr>
          <p:nvPr/>
        </p:nvPicPr>
        <p:blipFill>
          <a:blip r:embed="rId5"/>
          <a:stretch>
            <a:fillRect/>
          </a:stretch>
        </p:blipFill>
        <p:spPr>
          <a:xfrm>
            <a:off x="822959" y="5660136"/>
            <a:ext cx="365760" cy="365760"/>
          </a:xfrm>
          <a:prstGeom prst="rect">
            <a:avLst/>
          </a:prstGeom>
        </p:spPr>
      </p:pic>
      <p:sp>
        <p:nvSpPr>
          <p:cNvPr id="21" name="TextBox 20"/>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Un vocabulario común alinea al equipo y genera adhesión a la cultura AWP.</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12 · LECCIONES 4 Y 5</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Un contratista novato con ganas vale más que un «experto» que no practica</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M12 · ERRORES COMUNES Y LECCIONES APRENDIDAS</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115</a:t>
            </a:r>
          </a:p>
        </p:txBody>
      </p:sp>
      <p:sp>
        <p:nvSpPr>
          <p:cNvPr id="7" name="Rectangle 6"/>
          <p:cNvSpPr/>
          <p:nvPr/>
        </p:nvSpPr>
        <p:spPr>
          <a:xfrm>
            <a:off x="548640" y="1828800"/>
            <a:ext cx="5396331" cy="434340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48640" y="1828800"/>
            <a:ext cx="5396331" cy="502920"/>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1828800"/>
            <a:ext cx="4847691" cy="502920"/>
          </a:xfrm>
          <a:prstGeom prst="rect">
            <a:avLst/>
          </a:prstGeom>
          <a:noFill/>
        </p:spPr>
        <p:txBody>
          <a:bodyPr wrap="square" lIns="0" rIns="0" tIns="0" bIns="0" anchor="ctr">
            <a:spAutoFit/>
          </a:bodyPr>
          <a:lstStyle/>
          <a:p>
            <a:pPr algn="l"/>
            <a:r>
              <a:rPr sz="1200" b="1" i="0" spc="200">
                <a:solidFill>
                  <a:srgbClr val="FFFFFF"/>
                </a:solidFill>
                <a:latin typeface="Arial"/>
              </a:rPr>
              <a:t>EL «EXPERTO» DE PAPEL</a:t>
            </a:r>
          </a:p>
        </p:txBody>
      </p:sp>
      <p:sp>
        <p:nvSpPr>
          <p:cNvPr id="10" name="Oval 9"/>
          <p:cNvSpPr/>
          <p:nvPr/>
        </p:nvSpPr>
        <p:spPr>
          <a:xfrm>
            <a:off x="932688" y="2670048"/>
            <a:ext cx="155448" cy="155448"/>
          </a:xfrm>
          <a:prstGeom prst="ellipse">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17319" y="2542032"/>
            <a:ext cx="4253331" cy="274320"/>
          </a:xfrm>
          <a:prstGeom prst="rect">
            <a:avLst/>
          </a:prstGeom>
          <a:noFill/>
        </p:spPr>
        <p:txBody>
          <a:bodyPr wrap="square" lIns="0" rIns="0" tIns="0" bIns="0" anchor="t">
            <a:spAutoFit/>
          </a:bodyPr>
          <a:lstStyle/>
          <a:p>
            <a:pPr algn="l"/>
            <a:r>
              <a:rPr sz="1400" b="1" i="0">
                <a:solidFill>
                  <a:srgbClr val="1A1A1A"/>
                </a:solidFill>
                <a:latin typeface="Arial"/>
              </a:rPr>
              <a:t>Dice dominar AWP</a:t>
            </a:r>
          </a:p>
        </p:txBody>
      </p:sp>
      <p:sp>
        <p:nvSpPr>
          <p:cNvPr id="12" name="TextBox 11"/>
          <p:cNvSpPr txBox="1"/>
          <p:nvPr/>
        </p:nvSpPr>
        <p:spPr>
          <a:xfrm>
            <a:off x="1417319" y="2834639"/>
            <a:ext cx="4253331" cy="548640"/>
          </a:xfrm>
          <a:prstGeom prst="rect">
            <a:avLst/>
          </a:prstGeom>
          <a:noFill/>
        </p:spPr>
        <p:txBody>
          <a:bodyPr wrap="square" lIns="0" rIns="0" tIns="0" bIns="0" anchor="t">
            <a:spAutoFit/>
          </a:bodyPr>
          <a:lstStyle/>
          <a:p>
            <a:pPr algn="l"/>
            <a:r>
              <a:rPr sz="1150" b="0" i="0">
                <a:solidFill>
                  <a:srgbClr val="6D6E71"/>
                </a:solidFill>
                <a:latin typeface="Arial"/>
              </a:rPr>
              <a:t>Asiente cuando se le pregunta</a:t>
            </a:r>
          </a:p>
        </p:txBody>
      </p:sp>
      <p:sp>
        <p:nvSpPr>
          <p:cNvPr id="13" name="Oval 12"/>
          <p:cNvSpPr/>
          <p:nvPr/>
        </p:nvSpPr>
        <p:spPr>
          <a:xfrm>
            <a:off x="932688" y="3538728"/>
            <a:ext cx="155448" cy="155448"/>
          </a:xfrm>
          <a:prstGeom prst="ellipse">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417319" y="3410712"/>
            <a:ext cx="4253331" cy="274320"/>
          </a:xfrm>
          <a:prstGeom prst="rect">
            <a:avLst/>
          </a:prstGeom>
          <a:noFill/>
        </p:spPr>
        <p:txBody>
          <a:bodyPr wrap="square" lIns="0" rIns="0" tIns="0" bIns="0" anchor="t">
            <a:spAutoFit/>
          </a:bodyPr>
          <a:lstStyle/>
          <a:p>
            <a:pPr algn="l"/>
            <a:r>
              <a:rPr sz="1400" b="1" i="0">
                <a:solidFill>
                  <a:srgbClr val="1A1A1A"/>
                </a:solidFill>
                <a:latin typeface="Arial"/>
              </a:rPr>
              <a:t>Envía procedimientos impecables</a:t>
            </a:r>
          </a:p>
        </p:txBody>
      </p:sp>
      <p:sp>
        <p:nvSpPr>
          <p:cNvPr id="15" name="TextBox 14"/>
          <p:cNvSpPr txBox="1"/>
          <p:nvPr/>
        </p:nvSpPr>
        <p:spPr>
          <a:xfrm>
            <a:off x="1417319" y="3703320"/>
            <a:ext cx="4253331" cy="548640"/>
          </a:xfrm>
          <a:prstGeom prst="rect">
            <a:avLst/>
          </a:prstGeom>
          <a:noFill/>
        </p:spPr>
        <p:txBody>
          <a:bodyPr wrap="square" lIns="0" rIns="0" tIns="0" bIns="0" anchor="t">
            <a:spAutoFit/>
          </a:bodyPr>
          <a:lstStyle/>
          <a:p>
            <a:pPr algn="l"/>
            <a:r>
              <a:rPr sz="1150" b="0" i="0">
                <a:solidFill>
                  <a:srgbClr val="6D6E71"/>
                </a:solidFill>
                <a:latin typeface="Arial"/>
              </a:rPr>
              <a:t>Pero no los aplica en la obra</a:t>
            </a:r>
          </a:p>
        </p:txBody>
      </p:sp>
      <p:sp>
        <p:nvSpPr>
          <p:cNvPr id="16" name="Oval 15"/>
          <p:cNvSpPr/>
          <p:nvPr/>
        </p:nvSpPr>
        <p:spPr>
          <a:xfrm>
            <a:off x="932688" y="4407408"/>
            <a:ext cx="155448" cy="155448"/>
          </a:xfrm>
          <a:prstGeom prst="ellipse">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417319" y="4279392"/>
            <a:ext cx="4253331" cy="274320"/>
          </a:xfrm>
          <a:prstGeom prst="rect">
            <a:avLst/>
          </a:prstGeom>
          <a:noFill/>
        </p:spPr>
        <p:txBody>
          <a:bodyPr wrap="square" lIns="0" rIns="0" tIns="0" bIns="0" anchor="t">
            <a:spAutoFit/>
          </a:bodyPr>
          <a:lstStyle/>
          <a:p>
            <a:pPr algn="l"/>
            <a:r>
              <a:rPr sz="1400" b="1" i="0">
                <a:solidFill>
                  <a:srgbClr val="1A1A1A"/>
                </a:solidFill>
                <a:latin typeface="Arial"/>
              </a:rPr>
              <a:t>No acepta aprender</a:t>
            </a:r>
          </a:p>
        </p:txBody>
      </p:sp>
      <p:sp>
        <p:nvSpPr>
          <p:cNvPr id="18" name="TextBox 17"/>
          <p:cNvSpPr txBox="1"/>
          <p:nvPr/>
        </p:nvSpPr>
        <p:spPr>
          <a:xfrm>
            <a:off x="1417319" y="4572000"/>
            <a:ext cx="4253331" cy="548640"/>
          </a:xfrm>
          <a:prstGeom prst="rect">
            <a:avLst/>
          </a:prstGeom>
          <a:noFill/>
        </p:spPr>
        <p:txBody>
          <a:bodyPr wrap="square" lIns="0" rIns="0" tIns="0" bIns="0" anchor="t">
            <a:spAutoFit/>
          </a:bodyPr>
          <a:lstStyle/>
          <a:p>
            <a:pPr algn="l"/>
            <a:r>
              <a:rPr sz="1150" b="0" i="0">
                <a:solidFill>
                  <a:srgbClr val="6D6E71"/>
                </a:solidFill>
                <a:latin typeface="Arial"/>
              </a:rPr>
              <a:t>Resiste los cambios del propietario</a:t>
            </a:r>
          </a:p>
        </p:txBody>
      </p:sp>
      <p:sp>
        <p:nvSpPr>
          <p:cNvPr id="19" name="Rectangle 18"/>
          <p:cNvSpPr/>
          <p:nvPr/>
        </p:nvSpPr>
        <p:spPr>
          <a:xfrm>
            <a:off x="822959" y="5303520"/>
            <a:ext cx="4847691" cy="640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xmark_g.png"/>
          <p:cNvPicPr>
            <a:picLocks noChangeAspect="1"/>
          </p:cNvPicPr>
          <p:nvPr/>
        </p:nvPicPr>
        <p:blipFill>
          <a:blip r:embed="rId2"/>
          <a:stretch>
            <a:fillRect/>
          </a:stretch>
        </p:blipFill>
        <p:spPr>
          <a:xfrm>
            <a:off x="1005840" y="5440680"/>
            <a:ext cx="365760" cy="365760"/>
          </a:xfrm>
          <a:prstGeom prst="rect">
            <a:avLst/>
          </a:prstGeom>
        </p:spPr>
      </p:pic>
      <p:sp>
        <p:nvSpPr>
          <p:cNvPr id="21" name="TextBox 20"/>
          <p:cNvSpPr txBox="1"/>
          <p:nvPr/>
        </p:nvSpPr>
        <p:spPr>
          <a:xfrm>
            <a:off x="1554480" y="5303520"/>
            <a:ext cx="4024731" cy="640080"/>
          </a:xfrm>
          <a:prstGeom prst="rect">
            <a:avLst/>
          </a:prstGeom>
          <a:noFill/>
        </p:spPr>
        <p:txBody>
          <a:bodyPr wrap="square" lIns="0" rIns="0" tIns="0" bIns="0" anchor="ctr">
            <a:spAutoFit/>
          </a:bodyPr>
          <a:lstStyle/>
          <a:p>
            <a:pPr algn="l"/>
            <a:r>
              <a:rPr sz="1350" b="1" i="0">
                <a:solidFill>
                  <a:srgbClr val="1A1A1A"/>
                </a:solidFill>
                <a:latin typeface="Arial"/>
              </a:rPr>
              <a:t>Riesgo alto de simular el proceso</a:t>
            </a:r>
          </a:p>
        </p:txBody>
      </p:sp>
      <p:sp>
        <p:nvSpPr>
          <p:cNvPr id="22" name="Rectangle 21"/>
          <p:cNvSpPr/>
          <p:nvPr/>
        </p:nvSpPr>
        <p:spPr>
          <a:xfrm>
            <a:off x="6246723" y="1828800"/>
            <a:ext cx="5396331" cy="434340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246723" y="1828800"/>
            <a:ext cx="5396331" cy="50292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521043" y="1828800"/>
            <a:ext cx="4847691" cy="502920"/>
          </a:xfrm>
          <a:prstGeom prst="rect">
            <a:avLst/>
          </a:prstGeom>
          <a:noFill/>
        </p:spPr>
        <p:txBody>
          <a:bodyPr wrap="square" lIns="0" rIns="0" tIns="0" bIns="0" anchor="ctr">
            <a:spAutoFit/>
          </a:bodyPr>
          <a:lstStyle/>
          <a:p>
            <a:pPr algn="l"/>
            <a:r>
              <a:rPr sz="1200" b="1" i="0" spc="200">
                <a:solidFill>
                  <a:srgbClr val="FFFFFF"/>
                </a:solidFill>
                <a:latin typeface="Arial"/>
              </a:rPr>
              <a:t>EL NOVATO DISPUESTO</a:t>
            </a:r>
          </a:p>
        </p:txBody>
      </p:sp>
      <p:sp>
        <p:nvSpPr>
          <p:cNvPr id="25" name="Oval 24"/>
          <p:cNvSpPr/>
          <p:nvPr/>
        </p:nvSpPr>
        <p:spPr>
          <a:xfrm>
            <a:off x="6630771" y="2670048"/>
            <a:ext cx="155448" cy="15544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115403" y="2542032"/>
            <a:ext cx="4253331" cy="274320"/>
          </a:xfrm>
          <a:prstGeom prst="rect">
            <a:avLst/>
          </a:prstGeom>
          <a:noFill/>
        </p:spPr>
        <p:txBody>
          <a:bodyPr wrap="square" lIns="0" rIns="0" tIns="0" bIns="0" anchor="t">
            <a:spAutoFit/>
          </a:bodyPr>
          <a:lstStyle/>
          <a:p>
            <a:pPr algn="l"/>
            <a:r>
              <a:rPr sz="1400" b="1" i="0">
                <a:solidFill>
                  <a:srgbClr val="1A1A1A"/>
                </a:solidFill>
                <a:latin typeface="Arial"/>
              </a:rPr>
              <a:t>Reconoce lo que no sabe</a:t>
            </a:r>
          </a:p>
        </p:txBody>
      </p:sp>
      <p:sp>
        <p:nvSpPr>
          <p:cNvPr id="27" name="TextBox 26"/>
          <p:cNvSpPr txBox="1"/>
          <p:nvPr/>
        </p:nvSpPr>
        <p:spPr>
          <a:xfrm>
            <a:off x="7115403" y="2834639"/>
            <a:ext cx="4253331" cy="548640"/>
          </a:xfrm>
          <a:prstGeom prst="rect">
            <a:avLst/>
          </a:prstGeom>
          <a:noFill/>
        </p:spPr>
        <p:txBody>
          <a:bodyPr wrap="square" lIns="0" rIns="0" tIns="0" bIns="0" anchor="t">
            <a:spAutoFit/>
          </a:bodyPr>
          <a:lstStyle/>
          <a:p>
            <a:pPr algn="l"/>
            <a:r>
              <a:rPr sz="1150" b="0" i="0">
                <a:solidFill>
                  <a:srgbClr val="6D6E71"/>
                </a:solidFill>
                <a:latin typeface="Arial"/>
              </a:rPr>
              <a:t>Pide apoyo y capacitación</a:t>
            </a:r>
          </a:p>
        </p:txBody>
      </p:sp>
      <p:sp>
        <p:nvSpPr>
          <p:cNvPr id="28" name="Oval 27"/>
          <p:cNvSpPr/>
          <p:nvPr/>
        </p:nvSpPr>
        <p:spPr>
          <a:xfrm>
            <a:off x="6630771" y="3538728"/>
            <a:ext cx="155448" cy="15544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115403" y="3410712"/>
            <a:ext cx="4253331" cy="274320"/>
          </a:xfrm>
          <a:prstGeom prst="rect">
            <a:avLst/>
          </a:prstGeom>
          <a:noFill/>
        </p:spPr>
        <p:txBody>
          <a:bodyPr wrap="square" lIns="0" rIns="0" tIns="0" bIns="0" anchor="t">
            <a:spAutoFit/>
          </a:bodyPr>
          <a:lstStyle/>
          <a:p>
            <a:pPr algn="l"/>
            <a:r>
              <a:rPr sz="1400" b="1" i="0">
                <a:solidFill>
                  <a:srgbClr val="1A1A1A"/>
                </a:solidFill>
                <a:latin typeface="Arial"/>
              </a:rPr>
              <a:t>Aplica el procedimiento del propietario</a:t>
            </a:r>
          </a:p>
        </p:txBody>
      </p:sp>
      <p:sp>
        <p:nvSpPr>
          <p:cNvPr id="30" name="TextBox 29"/>
          <p:cNvSpPr txBox="1"/>
          <p:nvPr/>
        </p:nvSpPr>
        <p:spPr>
          <a:xfrm>
            <a:off x="7115403" y="3703320"/>
            <a:ext cx="4253331" cy="548640"/>
          </a:xfrm>
          <a:prstGeom prst="rect">
            <a:avLst/>
          </a:prstGeom>
          <a:noFill/>
        </p:spPr>
        <p:txBody>
          <a:bodyPr wrap="square" lIns="0" rIns="0" tIns="0" bIns="0" anchor="t">
            <a:spAutoFit/>
          </a:bodyPr>
          <a:lstStyle/>
          <a:p>
            <a:pPr algn="l"/>
            <a:r>
              <a:rPr sz="1150" b="0" i="0">
                <a:solidFill>
                  <a:srgbClr val="6D6E71"/>
                </a:solidFill>
                <a:latin typeface="Arial"/>
              </a:rPr>
              <a:t>Con acompañamiento del Champion</a:t>
            </a:r>
          </a:p>
        </p:txBody>
      </p:sp>
      <p:sp>
        <p:nvSpPr>
          <p:cNvPr id="31" name="Oval 30"/>
          <p:cNvSpPr/>
          <p:nvPr/>
        </p:nvSpPr>
        <p:spPr>
          <a:xfrm>
            <a:off x="6630771" y="4407408"/>
            <a:ext cx="155448" cy="155448"/>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115403" y="4279392"/>
            <a:ext cx="4253331" cy="274320"/>
          </a:xfrm>
          <a:prstGeom prst="rect">
            <a:avLst/>
          </a:prstGeom>
          <a:noFill/>
        </p:spPr>
        <p:txBody>
          <a:bodyPr wrap="square" lIns="0" rIns="0" tIns="0" bIns="0" anchor="t">
            <a:spAutoFit/>
          </a:bodyPr>
          <a:lstStyle/>
          <a:p>
            <a:pPr algn="l"/>
            <a:r>
              <a:rPr sz="1400" b="1" i="0">
                <a:solidFill>
                  <a:srgbClr val="1A1A1A"/>
                </a:solidFill>
                <a:latin typeface="Arial"/>
              </a:rPr>
              <a:t>Aprende en el proyecto</a:t>
            </a:r>
          </a:p>
        </p:txBody>
      </p:sp>
      <p:sp>
        <p:nvSpPr>
          <p:cNvPr id="33" name="TextBox 32"/>
          <p:cNvSpPr txBox="1"/>
          <p:nvPr/>
        </p:nvSpPr>
        <p:spPr>
          <a:xfrm>
            <a:off x="7115403" y="4572000"/>
            <a:ext cx="4253331" cy="548640"/>
          </a:xfrm>
          <a:prstGeom prst="rect">
            <a:avLst/>
          </a:prstGeom>
          <a:noFill/>
        </p:spPr>
        <p:txBody>
          <a:bodyPr wrap="square" lIns="0" rIns="0" tIns="0" bIns="0" anchor="t">
            <a:spAutoFit/>
          </a:bodyPr>
          <a:lstStyle/>
          <a:p>
            <a:pPr algn="l"/>
            <a:r>
              <a:rPr sz="1150" b="0" i="0">
                <a:solidFill>
                  <a:srgbClr val="6D6E71"/>
                </a:solidFill>
                <a:latin typeface="Arial"/>
              </a:rPr>
              <a:t>Mejora semana a semana</a:t>
            </a:r>
          </a:p>
        </p:txBody>
      </p:sp>
      <p:sp>
        <p:nvSpPr>
          <p:cNvPr id="34" name="Rectangle 33"/>
          <p:cNvSpPr/>
          <p:nvPr/>
        </p:nvSpPr>
        <p:spPr>
          <a:xfrm>
            <a:off x="6521043" y="5303520"/>
            <a:ext cx="4847691" cy="6400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check_o.png"/>
          <p:cNvPicPr>
            <a:picLocks noChangeAspect="1"/>
          </p:cNvPicPr>
          <p:nvPr/>
        </p:nvPicPr>
        <p:blipFill>
          <a:blip r:embed="rId3"/>
          <a:stretch>
            <a:fillRect/>
          </a:stretch>
        </p:blipFill>
        <p:spPr>
          <a:xfrm>
            <a:off x="6703923" y="5440680"/>
            <a:ext cx="365760" cy="365760"/>
          </a:xfrm>
          <a:prstGeom prst="rect">
            <a:avLst/>
          </a:prstGeom>
        </p:spPr>
      </p:pic>
      <p:sp>
        <p:nvSpPr>
          <p:cNvPr id="36" name="TextBox 35"/>
          <p:cNvSpPr txBox="1"/>
          <p:nvPr/>
        </p:nvSpPr>
        <p:spPr>
          <a:xfrm>
            <a:off x="7252563" y="5303520"/>
            <a:ext cx="4024731" cy="640080"/>
          </a:xfrm>
          <a:prstGeom prst="rect">
            <a:avLst/>
          </a:prstGeom>
          <a:noFill/>
        </p:spPr>
        <p:txBody>
          <a:bodyPr wrap="square" lIns="0" rIns="0" tIns="0" bIns="0" anchor="ctr">
            <a:spAutoFit/>
          </a:bodyPr>
          <a:lstStyle/>
          <a:p>
            <a:pPr algn="l"/>
            <a:r>
              <a:rPr sz="1350" b="1" i="0">
                <a:solidFill>
                  <a:srgbClr val="1A1A1A"/>
                </a:solidFill>
                <a:latin typeface="Arial"/>
              </a:rPr>
              <a:t>Un socio para implementar AWP de verdad</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12 · ERRORES CAROS</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Los siete errores más caros al implementar AWP</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M12 · ERRORES COMUNES Y LECCIONES APRENDIDAS</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116</a:t>
            </a:r>
          </a:p>
        </p:txBody>
      </p:sp>
      <p:graphicFrame>
        <p:nvGraphicFramePr>
          <p:cNvPr id="7" name="Table 6"/>
          <p:cNvGraphicFramePr>
            <a:graphicFrameLocks noGrp="1"/>
          </p:cNvGraphicFramePr>
          <p:nvPr/>
        </p:nvGraphicFramePr>
        <p:xfrm>
          <a:off x="563727" y="1828800"/>
          <a:ext cx="11064239" cy="4343397"/>
        </p:xfrm>
        <a:graphic>
          <a:graphicData uri="http://schemas.openxmlformats.org/drawingml/2006/table">
            <a:tbl>
              <a:tblPr firstRow="0" bandRow="0">
                <a:tableStyleId>{5C22544A-7EE6-4342-B048-85BDC9FD1C3A}</a:tableStyleId>
              </a:tblPr>
              <a:tblGrid>
                <a:gridCol w="3291840"/>
                <a:gridCol w="3749039"/>
                <a:gridCol w="4023360"/>
              </a:tblGrid>
              <a:tr h="457200">
                <a:tc>
                  <a:txBody>
                    <a:bodyPr wrap="square"/>
                    <a:lstStyle/>
                    <a:p>
                      <a:pPr algn="l"/>
                      <a:r>
                        <a:rPr sz="1000" b="1" spc="100">
                          <a:solidFill>
                            <a:srgbClr val="FFFFFF"/>
                          </a:solidFill>
                          <a:latin typeface="Arial"/>
                        </a:rPr>
                        <a:t>ERROR</a:t>
                      </a:r>
                    </a:p>
                  </a:txBody>
                  <a:tcPr marL="137160" marR="91440" marT="27432" marB="27432" anchor="ctr">
                    <a:solidFill>
                      <a:srgbClr val="1A1A1A"/>
                    </a:solidFill>
                  </a:tcPr>
                </a:tc>
                <a:tc>
                  <a:txBody>
                    <a:bodyPr wrap="square"/>
                    <a:lstStyle/>
                    <a:p>
                      <a:pPr algn="l"/>
                      <a:r>
                        <a:rPr sz="1000" b="1" spc="100">
                          <a:solidFill>
                            <a:srgbClr val="FFFFFF"/>
                          </a:solidFill>
                          <a:latin typeface="Arial"/>
                        </a:rPr>
                        <a:t>CONSECUENCIA</a:t>
                      </a:r>
                    </a:p>
                  </a:txBody>
                  <a:tcPr marL="137160" marR="91440" marT="27432" marB="27432" anchor="ctr">
                    <a:solidFill>
                      <a:srgbClr val="1A1A1A"/>
                    </a:solidFill>
                  </a:tcPr>
                </a:tc>
                <a:tc>
                  <a:txBody>
                    <a:bodyPr wrap="square"/>
                    <a:lstStyle/>
                    <a:p>
                      <a:pPr algn="l"/>
                      <a:r>
                        <a:rPr sz="1000" b="1" spc="100">
                          <a:solidFill>
                            <a:srgbClr val="FFFFFF"/>
                          </a:solidFill>
                          <a:latin typeface="Arial"/>
                        </a:rPr>
                        <a:t>CÓMO EVITARLO</a:t>
                      </a:r>
                    </a:p>
                  </a:txBody>
                  <a:tcPr marL="137160" marR="91440" marT="27432" marB="27432" anchor="ctr">
                    <a:solidFill>
                      <a:srgbClr val="1A1A1A"/>
                    </a:solidFill>
                  </a:tcPr>
                </a:tc>
              </a:tr>
              <a:tr h="555171">
                <a:tc>
                  <a:txBody>
                    <a:bodyPr wrap="square"/>
                    <a:lstStyle/>
                    <a:p>
                      <a:pPr algn="l"/>
                      <a:r>
                        <a:rPr sz="1250" b="1">
                          <a:solidFill>
                            <a:srgbClr val="1A1A1A"/>
                          </a:solidFill>
                          <a:latin typeface="Arial"/>
                        </a:rPr>
                        <a:t>Champion a medio tiempo</a:t>
                      </a:r>
                    </a:p>
                  </a:txBody>
                  <a:tcPr marL="137160" marR="91440" marT="27432" marB="27432" anchor="ctr">
                    <a:solidFill>
                      <a:srgbClr val="FFFFFF"/>
                    </a:solidFill>
                  </a:tcPr>
                </a:tc>
                <a:tc>
                  <a:txBody>
                    <a:bodyPr wrap="square"/>
                    <a:lstStyle/>
                    <a:p>
                      <a:pPr algn="l"/>
                      <a:r>
                        <a:rPr sz="1250" b="0">
                          <a:solidFill>
                            <a:srgbClr val="2E2E2E"/>
                          </a:solidFill>
                          <a:latin typeface="Arial"/>
                        </a:rPr>
                        <a:t>Nadie impulsa el cambio</a:t>
                      </a:r>
                    </a:p>
                  </a:txBody>
                  <a:tcPr marL="137160" marR="91440" marT="27432" marB="27432" anchor="ctr">
                    <a:solidFill>
                      <a:srgbClr val="FFFFFF"/>
                    </a:solidFill>
                  </a:tcPr>
                </a:tc>
                <a:tc>
                  <a:txBody>
                    <a:bodyPr wrap="square"/>
                    <a:lstStyle/>
                    <a:p>
                      <a:pPr algn="l"/>
                      <a:r>
                        <a:rPr sz="1250" b="1">
                          <a:solidFill>
                            <a:srgbClr val="CC4400"/>
                          </a:solidFill>
                          <a:latin typeface="Arial"/>
                        </a:rPr>
                        <a:t>Rol dedicado desde FEL 2</a:t>
                      </a:r>
                    </a:p>
                  </a:txBody>
                  <a:tcPr marL="137160" marR="91440" marT="27432" marB="27432" anchor="ctr">
                    <a:solidFill>
                      <a:srgbClr val="FFFFFF"/>
                    </a:solidFill>
                  </a:tcPr>
                </a:tc>
              </a:tr>
              <a:tr h="555171">
                <a:tc>
                  <a:txBody>
                    <a:bodyPr wrap="square"/>
                    <a:lstStyle/>
                    <a:p>
                      <a:pPr algn="l"/>
                      <a:r>
                        <a:rPr sz="1250" b="1">
                          <a:solidFill>
                            <a:srgbClr val="1A1A1A"/>
                          </a:solidFill>
                          <a:latin typeface="Arial"/>
                        </a:rPr>
                        <a:t>POC tardío o sin firmar</a:t>
                      </a:r>
                    </a:p>
                  </a:txBody>
                  <a:tcPr marL="137160" marR="91440" marT="27432" marB="27432" anchor="ctr">
                    <a:solidFill>
                      <a:srgbClr val="F7F7F7"/>
                    </a:solidFill>
                  </a:tcPr>
                </a:tc>
                <a:tc>
                  <a:txBody>
                    <a:bodyPr wrap="square"/>
                    <a:lstStyle/>
                    <a:p>
                      <a:pPr algn="l"/>
                      <a:r>
                        <a:rPr sz="1250" b="0">
                          <a:solidFill>
                            <a:srgbClr val="2E2E2E"/>
                          </a:solidFill>
                          <a:latin typeface="Arial"/>
                        </a:rPr>
                        <a:t>Ingeniería diseña en su propio orden</a:t>
                      </a:r>
                    </a:p>
                  </a:txBody>
                  <a:tcPr marL="137160" marR="91440" marT="27432" marB="27432" anchor="ctr">
                    <a:solidFill>
                      <a:srgbClr val="F7F7F7"/>
                    </a:solidFill>
                  </a:tcPr>
                </a:tc>
                <a:tc>
                  <a:txBody>
                    <a:bodyPr wrap="square"/>
                    <a:lstStyle/>
                    <a:p>
                      <a:pPr algn="l"/>
                      <a:r>
                        <a:rPr sz="1250" b="1">
                          <a:solidFill>
                            <a:srgbClr val="CC4400"/>
                          </a:solidFill>
                          <a:latin typeface="Arial"/>
                        </a:rPr>
                        <a:t>POC como entregable de la compuerta 3</a:t>
                      </a:r>
                    </a:p>
                  </a:txBody>
                  <a:tcPr marL="137160" marR="91440" marT="27432" marB="27432" anchor="ctr">
                    <a:solidFill>
                      <a:srgbClr val="F7F7F7"/>
                    </a:solidFill>
                  </a:tcPr>
                </a:tc>
              </a:tr>
              <a:tr h="555171">
                <a:tc>
                  <a:txBody>
                    <a:bodyPr wrap="square"/>
                    <a:lstStyle/>
                    <a:p>
                      <a:pPr algn="l"/>
                      <a:r>
                        <a:rPr sz="1250" b="1">
                          <a:solidFill>
                            <a:srgbClr val="1A1A1A"/>
                          </a:solidFill>
                          <a:latin typeface="Arial"/>
                        </a:rPr>
                        <a:t>IWP con restricciones abiertas</a:t>
                      </a:r>
                    </a:p>
                  </a:txBody>
                  <a:tcPr marL="137160" marR="91440" marT="27432" marB="27432" anchor="ctr">
                    <a:solidFill>
                      <a:srgbClr val="FFFFFF"/>
                    </a:solidFill>
                  </a:tcPr>
                </a:tc>
                <a:tc>
                  <a:txBody>
                    <a:bodyPr wrap="square"/>
                    <a:lstStyle/>
                    <a:p>
                      <a:pPr algn="l"/>
                      <a:r>
                        <a:rPr sz="1250" b="0">
                          <a:solidFill>
                            <a:srgbClr val="2E2E2E"/>
                          </a:solidFill>
                          <a:latin typeface="Arial"/>
                        </a:rPr>
                        <a:t>Cuadrillas esperando en el frente</a:t>
                      </a:r>
                    </a:p>
                  </a:txBody>
                  <a:tcPr marL="137160" marR="91440" marT="27432" marB="27432" anchor="ctr">
                    <a:solidFill>
                      <a:srgbClr val="FFFFFF"/>
                    </a:solidFill>
                  </a:tcPr>
                </a:tc>
                <a:tc>
                  <a:txBody>
                    <a:bodyPr wrap="square"/>
                    <a:lstStyle/>
                    <a:p>
                      <a:pPr algn="l"/>
                      <a:r>
                        <a:rPr sz="1250" b="1">
                          <a:solidFill>
                            <a:srgbClr val="CC4400"/>
                          </a:solidFill>
                          <a:latin typeface="Arial"/>
                        </a:rPr>
                        <a:t>Regla de oro y firmas de liberación</a:t>
                      </a:r>
                    </a:p>
                  </a:txBody>
                  <a:tcPr marL="137160" marR="91440" marT="27432" marB="27432" anchor="ctr">
                    <a:solidFill>
                      <a:srgbClr val="FFFFFF"/>
                    </a:solidFill>
                  </a:tcPr>
                </a:tc>
              </a:tr>
              <a:tr h="555171">
                <a:tc>
                  <a:txBody>
                    <a:bodyPr wrap="square"/>
                    <a:lstStyle/>
                    <a:p>
                      <a:pPr algn="l"/>
                      <a:r>
                        <a:rPr sz="1250" b="1">
                          <a:solidFill>
                            <a:srgbClr val="1A1A1A"/>
                          </a:solidFill>
                          <a:latin typeface="Arial"/>
                        </a:rPr>
                        <a:t>Sin backlog antes de movilizar</a:t>
                      </a:r>
                    </a:p>
                  </a:txBody>
                  <a:tcPr marL="137160" marR="91440" marT="27432" marB="27432" anchor="ctr">
                    <a:solidFill>
                      <a:srgbClr val="F7F7F7"/>
                    </a:solidFill>
                  </a:tcPr>
                </a:tc>
                <a:tc>
                  <a:txBody>
                    <a:bodyPr wrap="square"/>
                    <a:lstStyle/>
                    <a:p>
                      <a:pPr algn="l"/>
                      <a:r>
                        <a:rPr sz="1250" b="0">
                          <a:solidFill>
                            <a:srgbClr val="2E2E2E"/>
                          </a:solidFill>
                          <a:latin typeface="Arial"/>
                        </a:rPr>
                        <a:t>Cuadrillas sin trabajo listo</a:t>
                      </a:r>
                    </a:p>
                  </a:txBody>
                  <a:tcPr marL="137160" marR="91440" marT="27432" marB="27432" anchor="ctr">
                    <a:solidFill>
                      <a:srgbClr val="F7F7F7"/>
                    </a:solidFill>
                  </a:tcPr>
                </a:tc>
                <a:tc>
                  <a:txBody>
                    <a:bodyPr wrap="square"/>
                    <a:lstStyle/>
                    <a:p>
                      <a:pPr algn="l"/>
                      <a:r>
                        <a:rPr sz="1250" b="1">
                          <a:solidFill>
                            <a:srgbClr val="CC4400"/>
                          </a:solidFill>
                          <a:latin typeface="Arial"/>
                        </a:rPr>
                        <a:t>Planificadores antes que cuadrillas</a:t>
                      </a:r>
                    </a:p>
                  </a:txBody>
                  <a:tcPr marL="137160" marR="91440" marT="27432" marB="27432" anchor="ctr">
                    <a:solidFill>
                      <a:srgbClr val="F7F7F7"/>
                    </a:solidFill>
                  </a:tcPr>
                </a:tc>
              </a:tr>
              <a:tr h="555171">
                <a:tc>
                  <a:txBody>
                    <a:bodyPr wrap="square"/>
                    <a:lstStyle/>
                    <a:p>
                      <a:pPr algn="l"/>
                      <a:r>
                        <a:rPr sz="1250" b="1">
                          <a:solidFill>
                            <a:srgbClr val="1A1A1A"/>
                          </a:solidFill>
                          <a:latin typeface="Arial"/>
                        </a:rPr>
                        <a:t>Software antes que proceso</a:t>
                      </a:r>
                    </a:p>
                  </a:txBody>
                  <a:tcPr marL="137160" marR="91440" marT="27432" marB="27432" anchor="ctr">
                    <a:solidFill>
                      <a:srgbClr val="FFFFFF"/>
                    </a:solidFill>
                  </a:tcPr>
                </a:tc>
                <a:tc>
                  <a:txBody>
                    <a:bodyPr wrap="square"/>
                    <a:lstStyle/>
                    <a:p>
                      <a:pPr algn="l"/>
                      <a:r>
                        <a:rPr sz="1250" b="0">
                          <a:solidFill>
                            <a:srgbClr val="2E2E2E"/>
                          </a:solidFill>
                          <a:latin typeface="Arial"/>
                        </a:rPr>
                        <a:t>Herramienta cara y subutilizada</a:t>
                      </a:r>
                    </a:p>
                  </a:txBody>
                  <a:tcPr marL="137160" marR="91440" marT="27432" marB="27432" anchor="ctr">
                    <a:solidFill>
                      <a:srgbClr val="FFFFFF"/>
                    </a:solidFill>
                  </a:tcPr>
                </a:tc>
                <a:tc>
                  <a:txBody>
                    <a:bodyPr wrap="square"/>
                    <a:lstStyle/>
                    <a:p>
                      <a:pPr algn="l"/>
                      <a:r>
                        <a:rPr sz="1250" b="1">
                          <a:solidFill>
                            <a:srgbClr val="CC4400"/>
                          </a:solidFill>
                          <a:latin typeface="Arial"/>
                        </a:rPr>
                        <a:t>Personas y proceso primero</a:t>
                      </a:r>
                    </a:p>
                  </a:txBody>
                  <a:tcPr marL="137160" marR="91440" marT="27432" marB="27432" anchor="ctr">
                    <a:solidFill>
                      <a:srgbClr val="FFFFFF"/>
                    </a:solidFill>
                  </a:tcPr>
                </a:tc>
              </a:tr>
              <a:tr h="555171">
                <a:tc>
                  <a:txBody>
                    <a:bodyPr wrap="square"/>
                    <a:lstStyle/>
                    <a:p>
                      <a:pPr algn="l"/>
                      <a:r>
                        <a:rPr sz="1250" b="1">
                          <a:solidFill>
                            <a:srgbClr val="1A1A1A"/>
                          </a:solidFill>
                          <a:latin typeface="Arial"/>
                        </a:rPr>
                        <a:t>Sin cláusula contractual</a:t>
                      </a:r>
                    </a:p>
                  </a:txBody>
                  <a:tcPr marL="137160" marR="91440" marT="27432" marB="27432" anchor="ctr">
                    <a:solidFill>
                      <a:srgbClr val="F7F7F7"/>
                    </a:solidFill>
                  </a:tcPr>
                </a:tc>
                <a:tc>
                  <a:txBody>
                    <a:bodyPr wrap="square"/>
                    <a:lstStyle/>
                    <a:p>
                      <a:pPr algn="l"/>
                      <a:r>
                        <a:rPr sz="1250" b="0">
                          <a:solidFill>
                            <a:srgbClr val="2E2E2E"/>
                          </a:solidFill>
                          <a:latin typeface="Arial"/>
                        </a:rPr>
                        <a:t>El contratista no está obligado</a:t>
                      </a:r>
                    </a:p>
                  </a:txBody>
                  <a:tcPr marL="137160" marR="91440" marT="27432" marB="27432" anchor="ctr">
                    <a:solidFill>
                      <a:srgbClr val="F7F7F7"/>
                    </a:solidFill>
                  </a:tcPr>
                </a:tc>
                <a:tc>
                  <a:txBody>
                    <a:bodyPr wrap="square"/>
                    <a:lstStyle/>
                    <a:p>
                      <a:pPr algn="l"/>
                      <a:r>
                        <a:rPr sz="1250" b="1">
                          <a:solidFill>
                            <a:srgbClr val="CC4400"/>
                          </a:solidFill>
                          <a:latin typeface="Arial"/>
                        </a:rPr>
                        <a:t>Procedimiento WFP en la licitación</a:t>
                      </a:r>
                    </a:p>
                  </a:txBody>
                  <a:tcPr marL="137160" marR="91440" marT="27432" marB="27432" anchor="ctr">
                    <a:solidFill>
                      <a:srgbClr val="F7F7F7"/>
                    </a:solidFill>
                  </a:tcPr>
                </a:tc>
              </a:tr>
              <a:tr h="555171">
                <a:tc>
                  <a:txBody>
                    <a:bodyPr wrap="square"/>
                    <a:lstStyle/>
                    <a:p>
                      <a:pPr algn="l"/>
                      <a:r>
                        <a:rPr sz="1250" b="1">
                          <a:solidFill>
                            <a:srgbClr val="1A1A1A"/>
                          </a:solidFill>
                          <a:latin typeface="Arial"/>
                        </a:rPr>
                        <a:t>Sin medición</a:t>
                      </a:r>
                    </a:p>
                  </a:txBody>
                  <a:tcPr marL="137160" marR="91440" marT="27432" marB="27432" anchor="ctr">
                    <a:solidFill>
                      <a:srgbClr val="FFFFFF"/>
                    </a:solidFill>
                  </a:tcPr>
                </a:tc>
                <a:tc>
                  <a:txBody>
                    <a:bodyPr wrap="square"/>
                    <a:lstStyle/>
                    <a:p>
                      <a:pPr algn="l"/>
                      <a:r>
                        <a:rPr sz="1250" b="0">
                          <a:solidFill>
                            <a:srgbClr val="2E2E2E"/>
                          </a:solidFill>
                          <a:latin typeface="Arial"/>
                        </a:rPr>
                        <a:t>No se sabe si funciona</a:t>
                      </a:r>
                    </a:p>
                  </a:txBody>
                  <a:tcPr marL="137160" marR="91440" marT="27432" marB="27432" anchor="ctr">
                    <a:solidFill>
                      <a:srgbClr val="FFFFFF"/>
                    </a:solidFill>
                  </a:tcPr>
                </a:tc>
                <a:tc>
                  <a:txBody>
                    <a:bodyPr wrap="square"/>
                    <a:lstStyle/>
                    <a:p>
                      <a:pPr algn="l"/>
                      <a:r>
                        <a:rPr sz="1250" b="1">
                          <a:solidFill>
                            <a:srgbClr val="CC4400"/>
                          </a:solidFill>
                          <a:latin typeface="Arial"/>
                        </a:rPr>
                        <a:t>Tool time, Pack Track y KPI</a:t>
                      </a:r>
                    </a:p>
                  </a:txBody>
                  <a:tcPr marL="137160" marR="91440" marT="27432" marB="27432" anchor="ctr">
                    <a:solidFill>
                      <a:srgbClr val="FFFFFF"/>
                    </a:solidFill>
                  </a:tcPr>
                </a:tc>
              </a:tr>
            </a:tbl>
          </a:graphicData>
        </a:graphic>
      </p:graphicFrame>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12 · AUTOEVALUACIÓN</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Diagnóstico rápido: ¿dónde está su proyecto hoy?</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M12 · ERRORES COMUNES Y LECCIONES APRENDIDAS</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117</a:t>
            </a:r>
          </a:p>
        </p:txBody>
      </p:sp>
      <p:sp>
        <p:nvSpPr>
          <p:cNvPr id="7" name="Rectangle 6"/>
          <p:cNvSpPr/>
          <p:nvPr/>
        </p:nvSpPr>
        <p:spPr>
          <a:xfrm>
            <a:off x="548640" y="1828800"/>
            <a:ext cx="3017520" cy="43434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lipcheck_o.png"/>
          <p:cNvPicPr>
            <a:picLocks noChangeAspect="1"/>
          </p:cNvPicPr>
          <p:nvPr/>
        </p:nvPicPr>
        <p:blipFill>
          <a:blip r:embed="rId2"/>
          <a:stretch>
            <a:fillRect/>
          </a:stretch>
        </p:blipFill>
        <p:spPr>
          <a:xfrm>
            <a:off x="868680" y="2194560"/>
            <a:ext cx="548640" cy="548640"/>
          </a:xfrm>
          <a:prstGeom prst="rect">
            <a:avLst/>
          </a:prstGeom>
        </p:spPr>
      </p:pic>
      <p:sp>
        <p:nvSpPr>
          <p:cNvPr id="9" name="TextBox 8"/>
          <p:cNvSpPr txBox="1"/>
          <p:nvPr/>
        </p:nvSpPr>
        <p:spPr>
          <a:xfrm>
            <a:off x="868680" y="2971800"/>
            <a:ext cx="2468879" cy="274320"/>
          </a:xfrm>
          <a:prstGeom prst="rect">
            <a:avLst/>
          </a:prstGeom>
          <a:noFill/>
        </p:spPr>
        <p:txBody>
          <a:bodyPr wrap="square" lIns="0" rIns="0" tIns="0" bIns="0" anchor="t">
            <a:spAutoFit/>
          </a:bodyPr>
          <a:lstStyle/>
          <a:p>
            <a:pPr algn="l"/>
            <a:r>
              <a:rPr sz="1100" b="1" i="0" spc="200">
                <a:solidFill>
                  <a:srgbClr val="FF6600"/>
                </a:solidFill>
                <a:latin typeface="Arial"/>
              </a:rPr>
              <a:t>DIAGNÓSTICO</a:t>
            </a:r>
          </a:p>
        </p:txBody>
      </p:sp>
      <p:sp>
        <p:nvSpPr>
          <p:cNvPr id="10" name="TextBox 9"/>
          <p:cNvSpPr txBox="1"/>
          <p:nvPr/>
        </p:nvSpPr>
        <p:spPr>
          <a:xfrm>
            <a:off x="868680" y="3291840"/>
            <a:ext cx="2468879" cy="1188720"/>
          </a:xfrm>
          <a:prstGeom prst="rect">
            <a:avLst/>
          </a:prstGeom>
          <a:noFill/>
        </p:spPr>
        <p:txBody>
          <a:bodyPr wrap="square" lIns="0" rIns="0" tIns="0" bIns="0" anchor="t">
            <a:spAutoFit/>
          </a:bodyPr>
          <a:lstStyle/>
          <a:p>
            <a:pPr algn="l">
              <a:lnSpc>
                <a:spcPct val="95000"/>
              </a:lnSpc>
            </a:pPr>
            <a:r>
              <a:rPr sz="2200" b="1" i="0">
                <a:solidFill>
                  <a:srgbClr val="FFFFFF"/>
                </a:solidFill>
                <a:latin typeface="Arial"/>
              </a:rPr>
              <a:t>Autoevaluación en 7 preguntas</a:t>
            </a:r>
          </a:p>
        </p:txBody>
      </p:sp>
      <p:sp>
        <p:nvSpPr>
          <p:cNvPr id="11" name="TextBox 10"/>
          <p:cNvSpPr txBox="1"/>
          <p:nvPr/>
        </p:nvSpPr>
        <p:spPr>
          <a:xfrm>
            <a:off x="868680" y="4754880"/>
            <a:ext cx="2468879" cy="1188720"/>
          </a:xfrm>
          <a:prstGeom prst="rect">
            <a:avLst/>
          </a:prstGeom>
          <a:noFill/>
        </p:spPr>
        <p:txBody>
          <a:bodyPr wrap="square" lIns="0" rIns="0" tIns="0" bIns="0" anchor="b">
            <a:spAutoFit/>
          </a:bodyPr>
          <a:lstStyle/>
          <a:p>
            <a:pPr algn="l">
              <a:lnSpc>
                <a:spcPct val="110000"/>
              </a:lnSpc>
            </a:pPr>
            <a:r>
              <a:rPr sz="1200" b="0" i="0">
                <a:solidFill>
                  <a:srgbClr val="BCBEC0"/>
                </a:solidFill>
                <a:latin typeface="Arial"/>
              </a:rPr>
              <a:t>Cada «no» es una prioridad para los próximos 90 días.</a:t>
            </a:r>
          </a:p>
        </p:txBody>
      </p:sp>
      <p:sp>
        <p:nvSpPr>
          <p:cNvPr id="12" name="Rectangle 11"/>
          <p:cNvSpPr/>
          <p:nvPr/>
        </p:nvSpPr>
        <p:spPr>
          <a:xfrm>
            <a:off x="3886200" y="1865376"/>
            <a:ext cx="7756855" cy="547333"/>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check_o.png"/>
          <p:cNvPicPr>
            <a:picLocks noChangeAspect="1"/>
          </p:cNvPicPr>
          <p:nvPr/>
        </p:nvPicPr>
        <p:blipFill>
          <a:blip r:embed="rId3"/>
          <a:stretch>
            <a:fillRect/>
          </a:stretch>
        </p:blipFill>
        <p:spPr>
          <a:xfrm>
            <a:off x="4087368" y="1983594"/>
            <a:ext cx="310896" cy="310896"/>
          </a:xfrm>
          <a:prstGeom prst="rect">
            <a:avLst/>
          </a:prstGeom>
        </p:spPr>
      </p:pic>
      <p:sp>
        <p:nvSpPr>
          <p:cNvPr id="14" name="TextBox 13"/>
          <p:cNvSpPr txBox="1"/>
          <p:nvPr/>
        </p:nvSpPr>
        <p:spPr>
          <a:xfrm>
            <a:off x="4572000" y="1865376"/>
            <a:ext cx="6888175" cy="547333"/>
          </a:xfrm>
          <a:prstGeom prst="rect">
            <a:avLst/>
          </a:prstGeom>
          <a:noFill/>
        </p:spPr>
        <p:txBody>
          <a:bodyPr wrap="square" lIns="0" rIns="0" tIns="0" bIns="0" anchor="ctr">
            <a:spAutoFit/>
          </a:bodyPr>
          <a:lstStyle/>
          <a:p>
            <a:pPr algn="l"/>
            <a:r>
              <a:rPr sz="1350" b="1" i="0">
                <a:solidFill>
                  <a:srgbClr val="1A1A1A"/>
                </a:solidFill>
                <a:latin typeface="Arial"/>
              </a:rPr>
              <a:t>¿Hay un AWP Champion dedicado?</a:t>
            </a:r>
            <a:r>
              <a:rPr sz="1200" b="0" i="0">
                <a:solidFill>
                  <a:srgbClr val="6D6E71"/>
                </a:solidFill>
                <a:latin typeface="Arial"/>
              </a:rPr>
              <a:t/>
            </a:r>
          </a:p>
        </p:txBody>
      </p:sp>
      <p:sp>
        <p:nvSpPr>
          <p:cNvPr id="15" name="Rectangle 14"/>
          <p:cNvSpPr/>
          <p:nvPr/>
        </p:nvSpPr>
        <p:spPr>
          <a:xfrm>
            <a:off x="3886200" y="2485861"/>
            <a:ext cx="7756855" cy="547333"/>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_o.png"/>
          <p:cNvPicPr>
            <a:picLocks noChangeAspect="1"/>
          </p:cNvPicPr>
          <p:nvPr/>
        </p:nvPicPr>
        <p:blipFill>
          <a:blip r:embed="rId3"/>
          <a:stretch>
            <a:fillRect/>
          </a:stretch>
        </p:blipFill>
        <p:spPr>
          <a:xfrm>
            <a:off x="4087368" y="2604080"/>
            <a:ext cx="310896" cy="310896"/>
          </a:xfrm>
          <a:prstGeom prst="rect">
            <a:avLst/>
          </a:prstGeom>
        </p:spPr>
      </p:pic>
      <p:sp>
        <p:nvSpPr>
          <p:cNvPr id="17" name="TextBox 16"/>
          <p:cNvSpPr txBox="1"/>
          <p:nvPr/>
        </p:nvSpPr>
        <p:spPr>
          <a:xfrm>
            <a:off x="4572000" y="2485861"/>
            <a:ext cx="6888175" cy="547333"/>
          </a:xfrm>
          <a:prstGeom prst="rect">
            <a:avLst/>
          </a:prstGeom>
          <a:noFill/>
        </p:spPr>
        <p:txBody>
          <a:bodyPr wrap="square" lIns="0" rIns="0" tIns="0" bIns="0" anchor="ctr">
            <a:spAutoFit/>
          </a:bodyPr>
          <a:lstStyle/>
          <a:p>
            <a:pPr algn="l"/>
            <a:r>
              <a:rPr sz="1350" b="1" i="0">
                <a:solidFill>
                  <a:srgbClr val="1A1A1A"/>
                </a:solidFill>
                <a:latin typeface="Arial"/>
              </a:rPr>
              <a:t>¿Están aprobados los procedimientos AWP, IM y WFP?</a:t>
            </a:r>
            <a:r>
              <a:rPr sz="1200" b="0" i="0">
                <a:solidFill>
                  <a:srgbClr val="6D6E71"/>
                </a:solidFill>
                <a:latin typeface="Arial"/>
              </a:rPr>
              <a:t/>
            </a:r>
          </a:p>
        </p:txBody>
      </p:sp>
      <p:sp>
        <p:nvSpPr>
          <p:cNvPr id="18" name="Rectangle 17"/>
          <p:cNvSpPr/>
          <p:nvPr/>
        </p:nvSpPr>
        <p:spPr>
          <a:xfrm>
            <a:off x="3886200" y="3106347"/>
            <a:ext cx="7756855" cy="547333"/>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check_o.png"/>
          <p:cNvPicPr>
            <a:picLocks noChangeAspect="1"/>
          </p:cNvPicPr>
          <p:nvPr/>
        </p:nvPicPr>
        <p:blipFill>
          <a:blip r:embed="rId3"/>
          <a:stretch>
            <a:fillRect/>
          </a:stretch>
        </p:blipFill>
        <p:spPr>
          <a:xfrm>
            <a:off x="4087368" y="3224566"/>
            <a:ext cx="310896" cy="310896"/>
          </a:xfrm>
          <a:prstGeom prst="rect">
            <a:avLst/>
          </a:prstGeom>
        </p:spPr>
      </p:pic>
      <p:sp>
        <p:nvSpPr>
          <p:cNvPr id="20" name="TextBox 19"/>
          <p:cNvSpPr txBox="1"/>
          <p:nvPr/>
        </p:nvSpPr>
        <p:spPr>
          <a:xfrm>
            <a:off x="4572000" y="3106347"/>
            <a:ext cx="6888175" cy="547333"/>
          </a:xfrm>
          <a:prstGeom prst="rect">
            <a:avLst/>
          </a:prstGeom>
          <a:noFill/>
        </p:spPr>
        <p:txBody>
          <a:bodyPr wrap="square" lIns="0" rIns="0" tIns="0" bIns="0" anchor="ctr">
            <a:spAutoFit/>
          </a:bodyPr>
          <a:lstStyle/>
          <a:p>
            <a:pPr algn="l"/>
            <a:r>
              <a:rPr sz="1350" b="1" i="0">
                <a:solidFill>
                  <a:srgbClr val="1A1A1A"/>
                </a:solidFill>
                <a:latin typeface="Arial"/>
              </a:rPr>
              <a:t>¿Se firmó el POC antes de la ingeniería de detalle?</a:t>
            </a:r>
            <a:r>
              <a:rPr sz="1200" b="0" i="0">
                <a:solidFill>
                  <a:srgbClr val="6D6E71"/>
                </a:solidFill>
                <a:latin typeface="Arial"/>
              </a:rPr>
              <a:t/>
            </a:r>
          </a:p>
        </p:txBody>
      </p:sp>
      <p:sp>
        <p:nvSpPr>
          <p:cNvPr id="21" name="Rectangle 20"/>
          <p:cNvSpPr/>
          <p:nvPr/>
        </p:nvSpPr>
        <p:spPr>
          <a:xfrm>
            <a:off x="3886200" y="3726833"/>
            <a:ext cx="7756855" cy="547333"/>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heck_o.png"/>
          <p:cNvPicPr>
            <a:picLocks noChangeAspect="1"/>
          </p:cNvPicPr>
          <p:nvPr/>
        </p:nvPicPr>
        <p:blipFill>
          <a:blip r:embed="rId3"/>
          <a:stretch>
            <a:fillRect/>
          </a:stretch>
        </p:blipFill>
        <p:spPr>
          <a:xfrm>
            <a:off x="4087368" y="3845052"/>
            <a:ext cx="310896" cy="310896"/>
          </a:xfrm>
          <a:prstGeom prst="rect">
            <a:avLst/>
          </a:prstGeom>
        </p:spPr>
      </p:pic>
      <p:sp>
        <p:nvSpPr>
          <p:cNvPr id="23" name="TextBox 22"/>
          <p:cNvSpPr txBox="1"/>
          <p:nvPr/>
        </p:nvSpPr>
        <p:spPr>
          <a:xfrm>
            <a:off x="4572000" y="3726833"/>
            <a:ext cx="6888175" cy="547333"/>
          </a:xfrm>
          <a:prstGeom prst="rect">
            <a:avLst/>
          </a:prstGeom>
          <a:noFill/>
        </p:spPr>
        <p:txBody>
          <a:bodyPr wrap="square" lIns="0" rIns="0" tIns="0" bIns="0" anchor="ctr">
            <a:spAutoFit/>
          </a:bodyPr>
          <a:lstStyle/>
          <a:p>
            <a:pPr algn="l"/>
            <a:r>
              <a:rPr sz="1350" b="1" i="0">
                <a:solidFill>
                  <a:srgbClr val="1A1A1A"/>
                </a:solidFill>
                <a:latin typeface="Arial"/>
              </a:rPr>
              <a:t>¿Los EWP se liberan en la secuencia del POC?</a:t>
            </a:r>
            <a:r>
              <a:rPr sz="1200" b="0" i="0">
                <a:solidFill>
                  <a:srgbClr val="6D6E71"/>
                </a:solidFill>
                <a:latin typeface="Arial"/>
              </a:rPr>
              <a:t/>
            </a:r>
          </a:p>
        </p:txBody>
      </p:sp>
      <p:sp>
        <p:nvSpPr>
          <p:cNvPr id="24" name="Rectangle 23"/>
          <p:cNvSpPr/>
          <p:nvPr/>
        </p:nvSpPr>
        <p:spPr>
          <a:xfrm>
            <a:off x="3886200" y="4347318"/>
            <a:ext cx="7756855" cy="547333"/>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check_o.png"/>
          <p:cNvPicPr>
            <a:picLocks noChangeAspect="1"/>
          </p:cNvPicPr>
          <p:nvPr/>
        </p:nvPicPr>
        <p:blipFill>
          <a:blip r:embed="rId3"/>
          <a:stretch>
            <a:fillRect/>
          </a:stretch>
        </p:blipFill>
        <p:spPr>
          <a:xfrm>
            <a:off x="4087368" y="4465537"/>
            <a:ext cx="310896" cy="310896"/>
          </a:xfrm>
          <a:prstGeom prst="rect">
            <a:avLst/>
          </a:prstGeom>
        </p:spPr>
      </p:pic>
      <p:sp>
        <p:nvSpPr>
          <p:cNvPr id="26" name="TextBox 25"/>
          <p:cNvSpPr txBox="1"/>
          <p:nvPr/>
        </p:nvSpPr>
        <p:spPr>
          <a:xfrm>
            <a:off x="4572000" y="4347318"/>
            <a:ext cx="6888175" cy="547333"/>
          </a:xfrm>
          <a:prstGeom prst="rect">
            <a:avLst/>
          </a:prstGeom>
          <a:noFill/>
        </p:spPr>
        <p:txBody>
          <a:bodyPr wrap="square" lIns="0" rIns="0" tIns="0" bIns="0" anchor="ctr">
            <a:spAutoFit/>
          </a:bodyPr>
          <a:lstStyle/>
          <a:p>
            <a:pPr algn="l"/>
            <a:r>
              <a:rPr sz="1350" b="1" i="0">
                <a:solidFill>
                  <a:srgbClr val="1A1A1A"/>
                </a:solidFill>
                <a:latin typeface="Arial"/>
              </a:rPr>
              <a:t>¿Hay un Workface Planner por cada 50 trabajadores?</a:t>
            </a:r>
            <a:r>
              <a:rPr sz="1200" b="0" i="0">
                <a:solidFill>
                  <a:srgbClr val="6D6E71"/>
                </a:solidFill>
                <a:latin typeface="Arial"/>
              </a:rPr>
              <a:t/>
            </a:r>
          </a:p>
        </p:txBody>
      </p:sp>
      <p:sp>
        <p:nvSpPr>
          <p:cNvPr id="27" name="Rectangle 26"/>
          <p:cNvSpPr/>
          <p:nvPr/>
        </p:nvSpPr>
        <p:spPr>
          <a:xfrm>
            <a:off x="3886200" y="4967804"/>
            <a:ext cx="7756855" cy="547333"/>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_o.png"/>
          <p:cNvPicPr>
            <a:picLocks noChangeAspect="1"/>
          </p:cNvPicPr>
          <p:nvPr/>
        </p:nvPicPr>
        <p:blipFill>
          <a:blip r:embed="rId3"/>
          <a:stretch>
            <a:fillRect/>
          </a:stretch>
        </p:blipFill>
        <p:spPr>
          <a:xfrm>
            <a:off x="4087368" y="5086023"/>
            <a:ext cx="310896" cy="310896"/>
          </a:xfrm>
          <a:prstGeom prst="rect">
            <a:avLst/>
          </a:prstGeom>
        </p:spPr>
      </p:pic>
      <p:sp>
        <p:nvSpPr>
          <p:cNvPr id="29" name="TextBox 28"/>
          <p:cNvSpPr txBox="1"/>
          <p:nvPr/>
        </p:nvSpPr>
        <p:spPr>
          <a:xfrm>
            <a:off x="4572000" y="4967804"/>
            <a:ext cx="6888175" cy="547333"/>
          </a:xfrm>
          <a:prstGeom prst="rect">
            <a:avLst/>
          </a:prstGeom>
          <a:noFill/>
        </p:spPr>
        <p:txBody>
          <a:bodyPr wrap="square" lIns="0" rIns="0" tIns="0" bIns="0" anchor="ctr">
            <a:spAutoFit/>
          </a:bodyPr>
          <a:lstStyle/>
          <a:p>
            <a:pPr algn="l"/>
            <a:r>
              <a:rPr sz="1350" b="1" i="0">
                <a:solidFill>
                  <a:srgbClr val="1A1A1A"/>
                </a:solidFill>
                <a:latin typeface="Arial"/>
              </a:rPr>
              <a:t>¿Ningún IWP sale a campo con restricciones?</a:t>
            </a:r>
            <a:r>
              <a:rPr sz="1200" b="0" i="0">
                <a:solidFill>
                  <a:srgbClr val="6D6E71"/>
                </a:solidFill>
                <a:latin typeface="Arial"/>
              </a:rPr>
              <a:t/>
            </a:r>
          </a:p>
        </p:txBody>
      </p:sp>
      <p:sp>
        <p:nvSpPr>
          <p:cNvPr id="30" name="Rectangle 29"/>
          <p:cNvSpPr/>
          <p:nvPr/>
        </p:nvSpPr>
        <p:spPr>
          <a:xfrm>
            <a:off x="3886200" y="5588290"/>
            <a:ext cx="7756855" cy="547333"/>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check_o.png"/>
          <p:cNvPicPr>
            <a:picLocks noChangeAspect="1"/>
          </p:cNvPicPr>
          <p:nvPr/>
        </p:nvPicPr>
        <p:blipFill>
          <a:blip r:embed="rId3"/>
          <a:stretch>
            <a:fillRect/>
          </a:stretch>
        </p:blipFill>
        <p:spPr>
          <a:xfrm>
            <a:off x="4087368" y="5706509"/>
            <a:ext cx="310896" cy="310896"/>
          </a:xfrm>
          <a:prstGeom prst="rect">
            <a:avLst/>
          </a:prstGeom>
        </p:spPr>
      </p:pic>
      <p:sp>
        <p:nvSpPr>
          <p:cNvPr id="32" name="TextBox 31"/>
          <p:cNvSpPr txBox="1"/>
          <p:nvPr/>
        </p:nvSpPr>
        <p:spPr>
          <a:xfrm>
            <a:off x="4572000" y="5588290"/>
            <a:ext cx="6888175" cy="547333"/>
          </a:xfrm>
          <a:prstGeom prst="rect">
            <a:avLst/>
          </a:prstGeom>
          <a:noFill/>
        </p:spPr>
        <p:txBody>
          <a:bodyPr wrap="square" lIns="0" rIns="0" tIns="0" bIns="0" anchor="ctr">
            <a:spAutoFit/>
          </a:bodyPr>
          <a:lstStyle/>
          <a:p>
            <a:pPr algn="l"/>
            <a:r>
              <a:rPr sz="1350" b="1" i="0">
                <a:solidFill>
                  <a:srgbClr val="1A1A1A"/>
                </a:solidFill>
                <a:latin typeface="Arial"/>
              </a:rPr>
              <a:t>¿Se miden el tool time y el backlog?</a:t>
            </a:r>
            <a:r>
              <a:rPr sz="1200" b="0" i="0">
                <a:solidFill>
                  <a:srgbClr val="6D6E71"/>
                </a:solidFill>
                <a:latin typeface="Arial"/>
              </a:rPr>
              <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12 · MEJORA CONTINUA</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Registre y reutilice las lecciones de cada proyecto</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M12 · ERRORES COMUNES Y LECCIONES APRENDIDAS</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118</a:t>
            </a:r>
          </a:p>
        </p:txBody>
      </p:sp>
      <p:sp>
        <p:nvSpPr>
          <p:cNvPr id="7" name="Oval 6"/>
          <p:cNvSpPr/>
          <p:nvPr/>
        </p:nvSpPr>
        <p:spPr>
          <a:xfrm>
            <a:off x="3337559" y="3428999"/>
            <a:ext cx="1737360" cy="1097280"/>
          </a:xfrm>
          <a:prstGeom prst="ellipse">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383279" y="3520439"/>
            <a:ext cx="1645920" cy="914400"/>
          </a:xfrm>
          <a:prstGeom prst="rect">
            <a:avLst/>
          </a:prstGeom>
          <a:noFill/>
        </p:spPr>
        <p:txBody>
          <a:bodyPr wrap="square" lIns="0" rIns="0" tIns="0" bIns="0" anchor="ctr">
            <a:spAutoFit/>
          </a:bodyPr>
          <a:lstStyle/>
          <a:p>
            <a:pPr algn="ctr"/>
            <a:r>
              <a:rPr sz="1300" b="1" i="0">
                <a:solidFill>
                  <a:srgbClr val="FFFFFF"/>
                </a:solidFill>
                <a:latin typeface="Arial"/>
              </a:rPr>
              <a:t>Mejora continua</a:t>
            </a:r>
          </a:p>
        </p:txBody>
      </p:sp>
      <p:cxnSp>
        <p:nvCxnSpPr>
          <p:cNvPr id="9" name="Connector 8"/>
          <p:cNvCxnSpPr/>
          <p:nvPr/>
        </p:nvCxnSpPr>
        <p:spPr>
          <a:xfrm>
            <a:off x="4545594" y="2748609"/>
            <a:ext cx="753480" cy="824118"/>
          </a:xfrm>
          <a:prstGeom prst="line">
            <a:avLst/>
          </a:prstGeom>
          <a:ln w="22225">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4576445" y="4348809"/>
            <a:ext cx="753480" cy="824118"/>
          </a:xfrm>
          <a:prstGeom prst="line">
            <a:avLst/>
          </a:prstGeom>
          <a:ln w="22225">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3113405" y="4382552"/>
            <a:ext cx="753480" cy="824118"/>
          </a:xfrm>
          <a:prstGeom prst="line">
            <a:avLst/>
          </a:prstGeom>
          <a:ln w="22225">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082554" y="2782352"/>
            <a:ext cx="753480" cy="824118"/>
          </a:xfrm>
          <a:prstGeom prst="line">
            <a:avLst/>
          </a:prstGeom>
          <a:ln w="22225">
            <a:solidFill>
              <a:srgbClr val="FF66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840479" y="2011679"/>
            <a:ext cx="731520" cy="73152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rt_w.png"/>
          <p:cNvPicPr>
            <a:picLocks noChangeAspect="1"/>
          </p:cNvPicPr>
          <p:nvPr/>
        </p:nvPicPr>
        <p:blipFill>
          <a:blip r:embed="rId2"/>
          <a:stretch>
            <a:fillRect/>
          </a:stretch>
        </p:blipFill>
        <p:spPr>
          <a:xfrm>
            <a:off x="4016044" y="2187244"/>
            <a:ext cx="380390" cy="380390"/>
          </a:xfrm>
          <a:prstGeom prst="rect">
            <a:avLst/>
          </a:prstGeom>
        </p:spPr>
      </p:pic>
      <p:sp>
        <p:nvSpPr>
          <p:cNvPr id="15" name="TextBox 14"/>
          <p:cNvSpPr txBox="1"/>
          <p:nvPr/>
        </p:nvSpPr>
        <p:spPr>
          <a:xfrm>
            <a:off x="4663440" y="1993391"/>
            <a:ext cx="1737360" cy="822960"/>
          </a:xfrm>
          <a:prstGeom prst="rect">
            <a:avLst/>
          </a:prstGeom>
          <a:noFill/>
        </p:spPr>
        <p:txBody>
          <a:bodyPr wrap="square" lIns="0" rIns="0" tIns="0" bIns="0" anchor="ctr">
            <a:spAutoFit/>
          </a:bodyPr>
          <a:lstStyle/>
          <a:p>
            <a:pPr algn="l">
              <a:lnSpc>
                <a:spcPct val="100000"/>
              </a:lnSpc>
            </a:pPr>
            <a:r>
              <a:rPr sz="1300" b="1" i="0">
                <a:solidFill>
                  <a:srgbClr val="1A1A1A"/>
                </a:solidFill>
                <a:latin typeface="Arial"/>
              </a:rPr>
              <a:t>Medir</a:t>
            </a:r>
          </a:p>
          <a:p>
            <a:pPr algn="l">
              <a:lnSpc>
                <a:spcPct val="100000"/>
              </a:lnSpc>
            </a:pPr>
            <a:r>
              <a:rPr sz="1100" b="0" i="0">
                <a:solidFill>
                  <a:srgbClr val="6D6E71"/>
                </a:solidFill>
                <a:latin typeface="Arial"/>
              </a:rPr>
              <a:t>Desempeño de paquetes y del cronograma</a:t>
            </a:r>
          </a:p>
        </p:txBody>
      </p:sp>
      <p:sp>
        <p:nvSpPr>
          <p:cNvPr id="16" name="Oval 15"/>
          <p:cNvSpPr/>
          <p:nvPr/>
        </p:nvSpPr>
        <p:spPr>
          <a:xfrm>
            <a:off x="5303519" y="3611879"/>
            <a:ext cx="731520" cy="73152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search_w.png"/>
          <p:cNvPicPr>
            <a:picLocks noChangeAspect="1"/>
          </p:cNvPicPr>
          <p:nvPr/>
        </p:nvPicPr>
        <p:blipFill>
          <a:blip r:embed="rId3"/>
          <a:stretch>
            <a:fillRect/>
          </a:stretch>
        </p:blipFill>
        <p:spPr>
          <a:xfrm>
            <a:off x="5479084" y="3787444"/>
            <a:ext cx="380390" cy="380390"/>
          </a:xfrm>
          <a:prstGeom prst="rect">
            <a:avLst/>
          </a:prstGeom>
        </p:spPr>
      </p:pic>
      <p:sp>
        <p:nvSpPr>
          <p:cNvPr id="18" name="TextBox 17"/>
          <p:cNvSpPr txBox="1"/>
          <p:nvPr/>
        </p:nvSpPr>
        <p:spPr>
          <a:xfrm>
            <a:off x="6126479" y="3593591"/>
            <a:ext cx="1737360" cy="822960"/>
          </a:xfrm>
          <a:prstGeom prst="rect">
            <a:avLst/>
          </a:prstGeom>
          <a:noFill/>
        </p:spPr>
        <p:txBody>
          <a:bodyPr wrap="square" lIns="0" rIns="0" tIns="0" bIns="0" anchor="ctr">
            <a:spAutoFit/>
          </a:bodyPr>
          <a:lstStyle/>
          <a:p>
            <a:pPr algn="l">
              <a:lnSpc>
                <a:spcPct val="100000"/>
              </a:lnSpc>
            </a:pPr>
            <a:r>
              <a:rPr sz="1300" b="1" i="0">
                <a:solidFill>
                  <a:srgbClr val="1A1A1A"/>
                </a:solidFill>
                <a:latin typeface="Arial"/>
              </a:rPr>
              <a:t>Analizar</a:t>
            </a:r>
          </a:p>
          <a:p>
            <a:pPr algn="l">
              <a:lnSpc>
                <a:spcPct val="100000"/>
              </a:lnSpc>
            </a:pPr>
            <a:r>
              <a:rPr sz="1100" b="0" i="0">
                <a:solidFill>
                  <a:srgbClr val="6D6E71"/>
                </a:solidFill>
                <a:latin typeface="Arial"/>
              </a:rPr>
              <a:t>Tendencias de restricciones y causas raíz</a:t>
            </a:r>
          </a:p>
        </p:txBody>
      </p:sp>
      <p:sp>
        <p:nvSpPr>
          <p:cNvPr id="19" name="Oval 18"/>
          <p:cNvSpPr/>
          <p:nvPr/>
        </p:nvSpPr>
        <p:spPr>
          <a:xfrm>
            <a:off x="3840479" y="5212079"/>
            <a:ext cx="731520" cy="73152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book_w.png"/>
          <p:cNvPicPr>
            <a:picLocks noChangeAspect="1"/>
          </p:cNvPicPr>
          <p:nvPr/>
        </p:nvPicPr>
        <p:blipFill>
          <a:blip r:embed="rId4"/>
          <a:stretch>
            <a:fillRect/>
          </a:stretch>
        </p:blipFill>
        <p:spPr>
          <a:xfrm>
            <a:off x="4016044" y="5387644"/>
            <a:ext cx="380390" cy="380390"/>
          </a:xfrm>
          <a:prstGeom prst="rect">
            <a:avLst/>
          </a:prstGeom>
        </p:spPr>
      </p:pic>
      <p:sp>
        <p:nvSpPr>
          <p:cNvPr id="21" name="TextBox 20"/>
          <p:cNvSpPr txBox="1"/>
          <p:nvPr/>
        </p:nvSpPr>
        <p:spPr>
          <a:xfrm>
            <a:off x="4663440" y="5193792"/>
            <a:ext cx="1737360" cy="822960"/>
          </a:xfrm>
          <a:prstGeom prst="rect">
            <a:avLst/>
          </a:prstGeom>
          <a:noFill/>
        </p:spPr>
        <p:txBody>
          <a:bodyPr wrap="square" lIns="0" rIns="0" tIns="0" bIns="0" anchor="ctr">
            <a:spAutoFit/>
          </a:bodyPr>
          <a:lstStyle/>
          <a:p>
            <a:pPr algn="l">
              <a:lnSpc>
                <a:spcPct val="100000"/>
              </a:lnSpc>
            </a:pPr>
            <a:r>
              <a:rPr sz="1300" b="1" i="0">
                <a:solidFill>
                  <a:srgbClr val="1A1A1A"/>
                </a:solidFill>
                <a:latin typeface="Arial"/>
              </a:rPr>
              <a:t>Registrar</a:t>
            </a:r>
          </a:p>
          <a:p>
            <a:pPr algn="l">
              <a:lnSpc>
                <a:spcPct val="100000"/>
              </a:lnSpc>
            </a:pPr>
            <a:r>
              <a:rPr sz="1100" b="0" i="0">
                <a:solidFill>
                  <a:srgbClr val="6D6E71"/>
                </a:solidFill>
                <a:latin typeface="Arial"/>
              </a:rPr>
              <a:t>Registro de lecciones del proyecto</a:t>
            </a:r>
          </a:p>
        </p:txBody>
      </p:sp>
      <p:sp>
        <p:nvSpPr>
          <p:cNvPr id="22" name="Oval 21"/>
          <p:cNvSpPr/>
          <p:nvPr/>
        </p:nvSpPr>
        <p:spPr>
          <a:xfrm>
            <a:off x="2377439" y="3611879"/>
            <a:ext cx="731520" cy="73152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rocket_w.png"/>
          <p:cNvPicPr>
            <a:picLocks noChangeAspect="1"/>
          </p:cNvPicPr>
          <p:nvPr/>
        </p:nvPicPr>
        <p:blipFill>
          <a:blip r:embed="rId5"/>
          <a:stretch>
            <a:fillRect/>
          </a:stretch>
        </p:blipFill>
        <p:spPr>
          <a:xfrm>
            <a:off x="2553004" y="3787444"/>
            <a:ext cx="380390" cy="380390"/>
          </a:xfrm>
          <a:prstGeom prst="rect">
            <a:avLst/>
          </a:prstGeom>
        </p:spPr>
      </p:pic>
      <p:sp>
        <p:nvSpPr>
          <p:cNvPr id="24" name="TextBox 23"/>
          <p:cNvSpPr txBox="1"/>
          <p:nvPr/>
        </p:nvSpPr>
        <p:spPr>
          <a:xfrm>
            <a:off x="548639" y="3593591"/>
            <a:ext cx="1737360" cy="822960"/>
          </a:xfrm>
          <a:prstGeom prst="rect">
            <a:avLst/>
          </a:prstGeom>
          <a:noFill/>
        </p:spPr>
        <p:txBody>
          <a:bodyPr wrap="square" lIns="0" rIns="0" tIns="0" bIns="0" anchor="ctr">
            <a:spAutoFit/>
          </a:bodyPr>
          <a:lstStyle/>
          <a:p>
            <a:pPr algn="r">
              <a:lnSpc>
                <a:spcPct val="100000"/>
              </a:lnSpc>
            </a:pPr>
            <a:r>
              <a:rPr sz="1300" b="1" i="0">
                <a:solidFill>
                  <a:srgbClr val="1A1A1A"/>
                </a:solidFill>
                <a:latin typeface="Arial"/>
              </a:rPr>
              <a:t>Reutilizar</a:t>
            </a:r>
          </a:p>
          <a:p>
            <a:pPr algn="r">
              <a:lnSpc>
                <a:spcPct val="100000"/>
              </a:lnSpc>
            </a:pPr>
            <a:r>
              <a:rPr sz="1100" b="0" i="0">
                <a:solidFill>
                  <a:srgbClr val="6D6E71"/>
                </a:solidFill>
                <a:latin typeface="Arial"/>
              </a:rPr>
              <a:t>Base más madura para el siguiente</a:t>
            </a:r>
          </a:p>
        </p:txBody>
      </p:sp>
      <p:sp>
        <p:nvSpPr>
          <p:cNvPr id="25" name="Rectangle 24"/>
          <p:cNvSpPr/>
          <p:nvPr/>
        </p:nvSpPr>
        <p:spPr>
          <a:xfrm>
            <a:off x="8138160" y="1828800"/>
            <a:ext cx="3504895" cy="43434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80" y="2103120"/>
            <a:ext cx="2956255" cy="3794760"/>
          </a:xfrm>
          <a:prstGeom prst="rect">
            <a:avLst/>
          </a:prstGeom>
          <a:noFill/>
        </p:spPr>
        <p:txBody>
          <a:bodyPr wrap="square" lIns="0" rIns="0" tIns="0" bIns="0" anchor="t">
            <a:spAutoFit/>
          </a:bodyPr>
          <a:lstStyle/>
          <a:p>
            <a:pPr algn="l">
              <a:lnSpc>
                <a:spcPct val="115000"/>
              </a:lnSpc>
              <a:spcAft>
                <a:spcPts val="800"/>
              </a:spcAft>
            </a:pPr>
            <a:r>
              <a:rPr sz="1300" b="0" i="0">
                <a:solidFill>
                  <a:srgbClr val="FFFFFF"/>
                </a:solidFill>
                <a:latin typeface="Arial"/>
              </a:rPr>
              <a:t>El registro empieza en el kick-off:</a:t>
            </a:r>
          </a:p>
          <a:p>
            <a:pPr algn="l">
              <a:lnSpc>
                <a:spcPct val="115000"/>
              </a:lnSpc>
              <a:spcAft>
                <a:spcPts val="800"/>
              </a:spcAft>
            </a:pPr>
            <a:r>
              <a:rPr sz="1300" b="0" i="0">
                <a:solidFill>
                  <a:srgbClr val="FFFFFF"/>
                </a:solidFill>
                <a:latin typeface="Arial"/>
              </a:rPr>
              <a:t>• Lecciones de otros proyectos</a:t>
            </a:r>
          </a:p>
          <a:p>
            <a:pPr algn="l">
              <a:lnSpc>
                <a:spcPct val="115000"/>
              </a:lnSpc>
              <a:spcAft>
                <a:spcPts val="800"/>
              </a:spcAft>
            </a:pPr>
            <a:r>
              <a:rPr sz="1300" b="0" i="0">
                <a:solidFill>
                  <a:srgbClr val="FFFFFF"/>
                </a:solidFill>
                <a:latin typeface="Arial"/>
              </a:rPr>
              <a:t>• Aportes de cada actor</a:t>
            </a:r>
          </a:p>
          <a:p>
            <a:pPr algn="l">
              <a:lnSpc>
                <a:spcPct val="115000"/>
              </a:lnSpc>
              <a:spcAft>
                <a:spcPts val="800"/>
              </a:spcAft>
            </a:pPr>
            <a:r>
              <a:rPr sz="1300" b="0" i="0">
                <a:solidFill>
                  <a:srgbClr val="FFFFFF"/>
                </a:solidFill>
                <a:latin typeface="Arial"/>
              </a:rPr>
              <a:t>• Comité mensual de WFP</a:t>
            </a:r>
          </a:p>
          <a:p>
            <a:pPr algn="l">
              <a:lnSpc>
                <a:spcPct val="115000"/>
              </a:lnSpc>
              <a:spcAft>
                <a:spcPts val="800"/>
              </a:spcAft>
            </a:pPr>
            <a:r>
              <a:rPr sz="1300" b="0" i="0">
                <a:solidFill>
                  <a:srgbClr val="FFFFFF"/>
                </a:solidFill>
                <a:latin typeface="Arial"/>
              </a:rPr>
              <a:t>El cierre alimenta el siguiente proyecto con datos reales.</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1097280"/>
            <a:ext cx="3657600" cy="2194560"/>
          </a:xfrm>
          <a:prstGeom prst="rect">
            <a:avLst/>
          </a:prstGeom>
          <a:noFill/>
        </p:spPr>
        <p:txBody>
          <a:bodyPr wrap="square" lIns="0" rIns="0" tIns="0" bIns="0" anchor="t">
            <a:spAutoFit/>
          </a:bodyPr>
          <a:lstStyle/>
          <a:p>
            <a:pPr algn="l"/>
            <a:r>
              <a:rPr sz="15000" b="1" i="0">
                <a:solidFill>
                  <a:srgbClr val="FF6600"/>
                </a:solidFill>
                <a:latin typeface="Arial"/>
              </a:rPr>
              <a:t>13</a:t>
            </a:r>
          </a:p>
        </p:txBody>
      </p:sp>
      <p:sp>
        <p:nvSpPr>
          <p:cNvPr id="4" name="TextBox 3"/>
          <p:cNvSpPr txBox="1"/>
          <p:nvPr/>
        </p:nvSpPr>
        <p:spPr>
          <a:xfrm>
            <a:off x="4160520" y="1481328"/>
            <a:ext cx="7498079" cy="274320"/>
          </a:xfrm>
          <a:prstGeom prst="rect">
            <a:avLst/>
          </a:prstGeom>
          <a:noFill/>
        </p:spPr>
        <p:txBody>
          <a:bodyPr wrap="square" lIns="0" rIns="0" tIns="0" bIns="0" anchor="t">
            <a:spAutoFit/>
          </a:bodyPr>
          <a:lstStyle/>
          <a:p>
            <a:pPr algn="l"/>
            <a:r>
              <a:rPr sz="1200" b="1" i="0" spc="300">
                <a:solidFill>
                  <a:srgbClr val="FF6600"/>
                </a:solidFill>
                <a:latin typeface="Arial"/>
              </a:rPr>
              <a:t>MÓDULO 13 · HOJA DE RUTA</a:t>
            </a:r>
          </a:p>
        </p:txBody>
      </p:sp>
      <p:sp>
        <p:nvSpPr>
          <p:cNvPr id="5" name="Título"/>
          <p:cNvSpPr txBox="1"/>
          <p:nvPr/>
        </p:nvSpPr>
        <p:spPr>
          <a:xfrm>
            <a:off x="4160520" y="1874519"/>
            <a:ext cx="7452360" cy="1508760"/>
          </a:xfrm>
          <a:prstGeom prst="rect">
            <a:avLst/>
          </a:prstGeom>
          <a:noFill/>
        </p:spPr>
        <p:txBody>
          <a:bodyPr wrap="square" lIns="0" rIns="0" tIns="0" bIns="0" anchor="t">
            <a:spAutoFit/>
          </a:bodyPr>
          <a:lstStyle/>
          <a:p>
            <a:pPr algn="l">
              <a:lnSpc>
                <a:spcPct val="95000"/>
              </a:lnSpc>
            </a:pPr>
            <a:r>
              <a:rPr sz="3600" b="1" i="0">
                <a:solidFill>
                  <a:srgbClr val="FFFFFF"/>
                </a:solidFill>
                <a:latin typeface="Arial"/>
              </a:rPr>
              <a:t>Empiece el lunes con tres acciones</a:t>
            </a:r>
          </a:p>
        </p:txBody>
      </p:sp>
      <p:sp>
        <p:nvSpPr>
          <p:cNvPr id="6" name="TextBox 5"/>
          <p:cNvSpPr txBox="1"/>
          <p:nvPr/>
        </p:nvSpPr>
        <p:spPr>
          <a:xfrm>
            <a:off x="4160520" y="3474720"/>
            <a:ext cx="7406640" cy="685800"/>
          </a:xfrm>
          <a:prstGeom prst="rect">
            <a:avLst/>
          </a:prstGeom>
          <a:noFill/>
        </p:spPr>
        <p:txBody>
          <a:bodyPr wrap="square" lIns="0" rIns="0" tIns="0" bIns="0" anchor="t">
            <a:spAutoFit/>
          </a:bodyPr>
          <a:lstStyle/>
          <a:p>
            <a:pPr algn="l">
              <a:lnSpc>
                <a:spcPct val="110000"/>
              </a:lnSpc>
            </a:pPr>
            <a:r>
              <a:rPr sz="1500" b="0" i="0">
                <a:solidFill>
                  <a:srgbClr val="BCBEC0"/>
                </a:solidFill>
                <a:latin typeface="Arial"/>
              </a:rPr>
              <a:t>Una hoja de ruta de 90 días y el resumen de todo el recorrido.</a:t>
            </a:r>
          </a:p>
        </p:txBody>
      </p:sp>
      <p:sp>
        <p:nvSpPr>
          <p:cNvPr id="7" name="Rectangle 6"/>
          <p:cNvSpPr/>
          <p:nvPr/>
        </p:nvSpPr>
        <p:spPr>
          <a:xfrm>
            <a:off x="548640"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48640"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01</a:t>
            </a:r>
          </a:p>
        </p:txBody>
      </p:sp>
      <p:sp>
        <p:nvSpPr>
          <p:cNvPr id="9" name="Rectangle 8"/>
          <p:cNvSpPr/>
          <p:nvPr/>
        </p:nvSpPr>
        <p:spPr>
          <a:xfrm>
            <a:off x="1409090"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409090"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02</a:t>
            </a:r>
          </a:p>
        </p:txBody>
      </p:sp>
      <p:sp>
        <p:nvSpPr>
          <p:cNvPr id="11" name="Rectangle 10"/>
          <p:cNvSpPr/>
          <p:nvPr/>
        </p:nvSpPr>
        <p:spPr>
          <a:xfrm>
            <a:off x="2269540"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269540"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03</a:t>
            </a:r>
          </a:p>
        </p:txBody>
      </p:sp>
      <p:sp>
        <p:nvSpPr>
          <p:cNvPr id="13" name="Rectangle 12"/>
          <p:cNvSpPr/>
          <p:nvPr/>
        </p:nvSpPr>
        <p:spPr>
          <a:xfrm>
            <a:off x="3129991"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129991"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04</a:t>
            </a:r>
          </a:p>
        </p:txBody>
      </p:sp>
      <p:sp>
        <p:nvSpPr>
          <p:cNvPr id="15" name="Rectangle 14"/>
          <p:cNvSpPr/>
          <p:nvPr/>
        </p:nvSpPr>
        <p:spPr>
          <a:xfrm>
            <a:off x="3990441"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990441"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05</a:t>
            </a:r>
          </a:p>
        </p:txBody>
      </p:sp>
      <p:sp>
        <p:nvSpPr>
          <p:cNvPr id="17" name="Rectangle 16"/>
          <p:cNvSpPr/>
          <p:nvPr/>
        </p:nvSpPr>
        <p:spPr>
          <a:xfrm>
            <a:off x="4850892"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850892"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06</a:t>
            </a:r>
          </a:p>
        </p:txBody>
      </p:sp>
      <p:sp>
        <p:nvSpPr>
          <p:cNvPr id="19" name="Rectangle 18"/>
          <p:cNvSpPr/>
          <p:nvPr/>
        </p:nvSpPr>
        <p:spPr>
          <a:xfrm>
            <a:off x="5711342"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711342"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07</a:t>
            </a:r>
          </a:p>
        </p:txBody>
      </p:sp>
      <p:sp>
        <p:nvSpPr>
          <p:cNvPr id="21" name="Rectangle 20"/>
          <p:cNvSpPr/>
          <p:nvPr/>
        </p:nvSpPr>
        <p:spPr>
          <a:xfrm>
            <a:off x="6571792"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571792"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08</a:t>
            </a:r>
          </a:p>
        </p:txBody>
      </p:sp>
      <p:sp>
        <p:nvSpPr>
          <p:cNvPr id="23" name="Rectangle 22"/>
          <p:cNvSpPr/>
          <p:nvPr/>
        </p:nvSpPr>
        <p:spPr>
          <a:xfrm>
            <a:off x="7432243"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432243"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09</a:t>
            </a:r>
          </a:p>
        </p:txBody>
      </p:sp>
      <p:sp>
        <p:nvSpPr>
          <p:cNvPr id="25" name="Rectangle 24"/>
          <p:cNvSpPr/>
          <p:nvPr/>
        </p:nvSpPr>
        <p:spPr>
          <a:xfrm>
            <a:off x="8292693"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292693"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10</a:t>
            </a:r>
          </a:p>
        </p:txBody>
      </p:sp>
      <p:sp>
        <p:nvSpPr>
          <p:cNvPr id="27" name="Rectangle 26"/>
          <p:cNvSpPr/>
          <p:nvPr/>
        </p:nvSpPr>
        <p:spPr>
          <a:xfrm>
            <a:off x="9153144"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153144"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11</a:t>
            </a:r>
          </a:p>
        </p:txBody>
      </p:sp>
      <p:sp>
        <p:nvSpPr>
          <p:cNvPr id="29" name="Rectangle 28"/>
          <p:cNvSpPr/>
          <p:nvPr/>
        </p:nvSpPr>
        <p:spPr>
          <a:xfrm>
            <a:off x="10013594" y="5074920"/>
            <a:ext cx="769010" cy="502920"/>
          </a:xfrm>
          <a:prstGeom prst="rect">
            <a:avLst/>
          </a:prstGeom>
          <a:solidFill>
            <a:srgbClr val="333333"/>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013594" y="5074920"/>
            <a:ext cx="769010" cy="502920"/>
          </a:xfrm>
          <a:prstGeom prst="rect">
            <a:avLst/>
          </a:prstGeom>
          <a:noFill/>
        </p:spPr>
        <p:txBody>
          <a:bodyPr wrap="square" lIns="0" rIns="0" tIns="0" bIns="0" anchor="ctr">
            <a:spAutoFit/>
          </a:bodyPr>
          <a:lstStyle/>
          <a:p>
            <a:pPr algn="ctr"/>
            <a:r>
              <a:rPr sz="1100" b="0" i="0">
                <a:solidFill>
                  <a:srgbClr val="8A8B8E"/>
                </a:solidFill>
                <a:latin typeface="Courier New"/>
              </a:rPr>
              <a:t>12</a:t>
            </a:r>
          </a:p>
        </p:txBody>
      </p:sp>
      <p:sp>
        <p:nvSpPr>
          <p:cNvPr id="31" name="Rectangle 30"/>
          <p:cNvSpPr/>
          <p:nvPr/>
        </p:nvSpPr>
        <p:spPr>
          <a:xfrm>
            <a:off x="10874044" y="5074920"/>
            <a:ext cx="769010" cy="50292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874044" y="5074920"/>
            <a:ext cx="769010" cy="502920"/>
          </a:xfrm>
          <a:prstGeom prst="rect">
            <a:avLst/>
          </a:prstGeom>
          <a:noFill/>
        </p:spPr>
        <p:txBody>
          <a:bodyPr wrap="square" lIns="0" rIns="0" tIns="0" bIns="0" anchor="ctr">
            <a:spAutoFit/>
          </a:bodyPr>
          <a:lstStyle/>
          <a:p>
            <a:pPr algn="ctr"/>
            <a:r>
              <a:rPr sz="1100" b="1" i="0">
                <a:solidFill>
                  <a:srgbClr val="FFFFFF"/>
                </a:solidFill>
                <a:latin typeface="Courier New"/>
              </a:rPr>
              <a:t>13</a:t>
            </a:r>
          </a:p>
        </p:txBody>
      </p:sp>
      <p:sp>
        <p:nvSpPr>
          <p:cNvPr id="33" name="TextBox 32"/>
          <p:cNvSpPr txBox="1"/>
          <p:nvPr/>
        </p:nvSpPr>
        <p:spPr>
          <a:xfrm>
            <a:off x="548640" y="4709159"/>
            <a:ext cx="5486400" cy="274320"/>
          </a:xfrm>
          <a:prstGeom prst="rect">
            <a:avLst/>
          </a:prstGeom>
          <a:noFill/>
        </p:spPr>
        <p:txBody>
          <a:bodyPr wrap="square" lIns="0" rIns="0" tIns="0" bIns="0" anchor="t">
            <a:spAutoFit/>
          </a:bodyPr>
          <a:lstStyle/>
          <a:p>
            <a:pPr algn="l"/>
            <a:r>
              <a:rPr sz="1000" b="1" i="0" spc="200">
                <a:solidFill>
                  <a:srgbClr val="8A8B8E"/>
                </a:solidFill>
                <a:latin typeface="Arial"/>
              </a:rPr>
              <a:t>MÓDULOS</a:t>
            </a:r>
          </a:p>
        </p:txBody>
      </p:sp>
      <p:sp>
        <p:nvSpPr>
          <p:cNvPr id="34" name="TextBox 33"/>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8A8B8E"/>
                </a:solidFill>
                <a:latin typeface="Arial"/>
              </a:rPr>
              <a:t>IMPLEMENTACIÓN DE AWP  ·  M13 · HOJA DE RUTA</a:t>
            </a:r>
          </a:p>
        </p:txBody>
      </p:sp>
      <p:sp>
        <p:nvSpPr>
          <p:cNvPr id="35" name="TextBox 34"/>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8A8B8E"/>
                </a:solidFill>
                <a:latin typeface="Courier New"/>
              </a:rPr>
              <a:t>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13 · HOJA DE RUTA</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Hoja de ruta de 90 días para el primer proyecto</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M13 · HOJA DE RUTA</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120</a:t>
            </a:r>
          </a:p>
        </p:txBody>
      </p:sp>
      <p:sp>
        <p:nvSpPr>
          <p:cNvPr id="7" name="Rectangle 6"/>
          <p:cNvSpPr/>
          <p:nvPr/>
        </p:nvSpPr>
        <p:spPr>
          <a:xfrm>
            <a:off x="548640" y="2761488"/>
            <a:ext cx="11094415" cy="54864"/>
          </a:xfrm>
          <a:prstGeom prst="rect">
            <a:avLst/>
          </a:prstGeom>
          <a:solidFill>
            <a:srgbClr val="BCB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1874519"/>
            <a:ext cx="3515258" cy="502920"/>
          </a:xfrm>
          <a:prstGeom prst="rect">
            <a:avLst/>
          </a:prstGeom>
          <a:noFill/>
        </p:spPr>
        <p:txBody>
          <a:bodyPr wrap="square" lIns="0" rIns="0" tIns="0" bIns="0" anchor="b">
            <a:spAutoFit/>
          </a:bodyPr>
          <a:lstStyle/>
          <a:p>
            <a:pPr algn="ctr"/>
            <a:r>
              <a:rPr sz="1300" b="1" i="0">
                <a:solidFill>
                  <a:srgbClr val="CC4400"/>
                </a:solidFill>
                <a:latin typeface="Courier New"/>
              </a:rPr>
              <a:t>DÍAS 1 A 30</a:t>
            </a:r>
          </a:p>
        </p:txBody>
      </p:sp>
      <p:sp>
        <p:nvSpPr>
          <p:cNvPr id="9" name="Oval 8"/>
          <p:cNvSpPr/>
          <p:nvPr/>
        </p:nvSpPr>
        <p:spPr>
          <a:xfrm>
            <a:off x="2214829" y="2606039"/>
            <a:ext cx="365760" cy="365760"/>
          </a:xfrm>
          <a:prstGeom prst="ellipse">
            <a:avLst/>
          </a:prstGeom>
          <a:solidFill>
            <a:srgbClr val="CC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21792" y="3200400"/>
            <a:ext cx="3551834" cy="203911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04672" y="3383280"/>
            <a:ext cx="3186074"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Nombrar y preparar</a:t>
            </a:r>
          </a:p>
        </p:txBody>
      </p:sp>
      <p:sp>
        <p:nvSpPr>
          <p:cNvPr id="12" name="TextBox 11"/>
          <p:cNvSpPr txBox="1"/>
          <p:nvPr/>
        </p:nvSpPr>
        <p:spPr>
          <a:xfrm>
            <a:off x="804672" y="3977639"/>
            <a:ext cx="3186074" cy="1124712"/>
          </a:xfrm>
          <a:prstGeom prst="rect">
            <a:avLst/>
          </a:prstGeom>
          <a:noFill/>
        </p:spPr>
        <p:txBody>
          <a:bodyPr wrap="square" lIns="0" rIns="0" tIns="0" bIns="0" anchor="t">
            <a:spAutoFit/>
          </a:bodyPr>
          <a:lstStyle/>
          <a:p>
            <a:pPr algn="l">
              <a:lnSpc>
                <a:spcPct val="105000"/>
              </a:lnSpc>
            </a:pPr>
            <a:r>
              <a:rPr sz="1150" b="0" i="0">
                <a:solidFill>
                  <a:srgbClr val="6D6E71"/>
                </a:solidFill>
                <a:latin typeface="Arial"/>
              </a:rPr>
              <a:t>AWP Champion dedicado, diagnóstico de 7 preguntas y capacitación inicial</a:t>
            </a:r>
          </a:p>
        </p:txBody>
      </p:sp>
      <p:sp>
        <p:nvSpPr>
          <p:cNvPr id="13" name="TextBox 12"/>
          <p:cNvSpPr txBox="1"/>
          <p:nvPr/>
        </p:nvSpPr>
        <p:spPr>
          <a:xfrm>
            <a:off x="4338218" y="1874519"/>
            <a:ext cx="3515258" cy="502920"/>
          </a:xfrm>
          <a:prstGeom prst="rect">
            <a:avLst/>
          </a:prstGeom>
          <a:noFill/>
        </p:spPr>
        <p:txBody>
          <a:bodyPr wrap="square" lIns="0" rIns="0" tIns="0" bIns="0" anchor="b">
            <a:spAutoFit/>
          </a:bodyPr>
          <a:lstStyle/>
          <a:p>
            <a:pPr algn="ctr"/>
            <a:r>
              <a:rPr sz="1300" b="1" i="0">
                <a:solidFill>
                  <a:srgbClr val="FF6600"/>
                </a:solidFill>
                <a:latin typeface="Courier New"/>
              </a:rPr>
              <a:t>DÍAS 31 A 60</a:t>
            </a:r>
          </a:p>
        </p:txBody>
      </p:sp>
      <p:sp>
        <p:nvSpPr>
          <p:cNvPr id="14" name="Oval 13"/>
          <p:cNvSpPr/>
          <p:nvPr/>
        </p:nvSpPr>
        <p:spPr>
          <a:xfrm>
            <a:off x="5912967" y="2606039"/>
            <a:ext cx="365760" cy="365760"/>
          </a:xfrm>
          <a:prstGeom prst="ellipse">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319930" y="3200400"/>
            <a:ext cx="3551834" cy="203911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02810" y="3383280"/>
            <a:ext cx="3186074"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Escribir y contratar</a:t>
            </a:r>
          </a:p>
        </p:txBody>
      </p:sp>
      <p:sp>
        <p:nvSpPr>
          <p:cNvPr id="17" name="TextBox 16"/>
          <p:cNvSpPr txBox="1"/>
          <p:nvPr/>
        </p:nvSpPr>
        <p:spPr>
          <a:xfrm>
            <a:off x="4502810" y="3977639"/>
            <a:ext cx="3186074" cy="1124712"/>
          </a:xfrm>
          <a:prstGeom prst="rect">
            <a:avLst/>
          </a:prstGeom>
          <a:noFill/>
        </p:spPr>
        <p:txBody>
          <a:bodyPr wrap="square" lIns="0" rIns="0" tIns="0" bIns="0" anchor="t">
            <a:spAutoFit/>
          </a:bodyPr>
          <a:lstStyle/>
          <a:p>
            <a:pPr algn="l">
              <a:lnSpc>
                <a:spcPct val="105000"/>
              </a:lnSpc>
            </a:pPr>
            <a:r>
              <a:rPr sz="1150" b="0" i="0">
                <a:solidFill>
                  <a:srgbClr val="6D6E71"/>
                </a:solidFill>
                <a:latin typeface="Arial"/>
              </a:rPr>
              <a:t>Procedimientos AWP, IM y WFP, WBS y cláusulas para la licitación</a:t>
            </a:r>
          </a:p>
        </p:txBody>
      </p:sp>
      <p:sp>
        <p:nvSpPr>
          <p:cNvPr id="18" name="TextBox 17"/>
          <p:cNvSpPr txBox="1"/>
          <p:nvPr/>
        </p:nvSpPr>
        <p:spPr>
          <a:xfrm>
            <a:off x="8036356" y="1874519"/>
            <a:ext cx="3515258" cy="502920"/>
          </a:xfrm>
          <a:prstGeom prst="rect">
            <a:avLst/>
          </a:prstGeom>
          <a:noFill/>
        </p:spPr>
        <p:txBody>
          <a:bodyPr wrap="square" lIns="0" rIns="0" tIns="0" bIns="0" anchor="b">
            <a:spAutoFit/>
          </a:bodyPr>
          <a:lstStyle/>
          <a:p>
            <a:pPr algn="ctr"/>
            <a:r>
              <a:rPr sz="1300" b="1" i="0">
                <a:solidFill>
                  <a:srgbClr val="003087"/>
                </a:solidFill>
                <a:latin typeface="Courier New"/>
              </a:rPr>
              <a:t>DÍAS 61 A 90</a:t>
            </a:r>
          </a:p>
        </p:txBody>
      </p:sp>
      <p:sp>
        <p:nvSpPr>
          <p:cNvPr id="19" name="Oval 18"/>
          <p:cNvSpPr/>
          <p:nvPr/>
        </p:nvSpPr>
        <p:spPr>
          <a:xfrm>
            <a:off x="9611106" y="2606039"/>
            <a:ext cx="365760" cy="365760"/>
          </a:xfrm>
          <a:prstGeom prst="ellipse">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018068" y="3200400"/>
            <a:ext cx="3551834" cy="2039112"/>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200948" y="3383280"/>
            <a:ext cx="3186074" cy="566928"/>
          </a:xfrm>
          <a:prstGeom prst="rect">
            <a:avLst/>
          </a:prstGeom>
          <a:noFill/>
        </p:spPr>
        <p:txBody>
          <a:bodyPr wrap="square" lIns="0" rIns="0" tIns="0" bIns="0" anchor="t">
            <a:spAutoFit/>
          </a:bodyPr>
          <a:lstStyle/>
          <a:p>
            <a:pPr algn="l">
              <a:lnSpc>
                <a:spcPct val="95000"/>
              </a:lnSpc>
            </a:pPr>
            <a:r>
              <a:rPr sz="1400" b="1" i="0">
                <a:solidFill>
                  <a:srgbClr val="1A1A1A"/>
                </a:solidFill>
                <a:latin typeface="Arial"/>
              </a:rPr>
              <a:t>Pilotear</a:t>
            </a:r>
          </a:p>
        </p:txBody>
      </p:sp>
      <p:sp>
        <p:nvSpPr>
          <p:cNvPr id="22" name="TextBox 21"/>
          <p:cNvSpPr txBox="1"/>
          <p:nvPr/>
        </p:nvSpPr>
        <p:spPr>
          <a:xfrm>
            <a:off x="8200948" y="3977639"/>
            <a:ext cx="3186074" cy="1124712"/>
          </a:xfrm>
          <a:prstGeom prst="rect">
            <a:avLst/>
          </a:prstGeom>
          <a:noFill/>
        </p:spPr>
        <p:txBody>
          <a:bodyPr wrap="square" lIns="0" rIns="0" tIns="0" bIns="0" anchor="t">
            <a:spAutoFit/>
          </a:bodyPr>
          <a:lstStyle/>
          <a:p>
            <a:pPr algn="l">
              <a:lnSpc>
                <a:spcPct val="105000"/>
              </a:lnSpc>
            </a:pPr>
            <a:r>
              <a:rPr sz="1150" b="0" i="0">
                <a:solidFill>
                  <a:srgbClr val="6D6E71"/>
                </a:solidFill>
                <a:latin typeface="Arial"/>
              </a:rPr>
              <a:t>Taller del POC y un CWP piloto dividido en IWP, con Pack Track</a:t>
            </a:r>
          </a:p>
        </p:txBody>
      </p:sp>
      <p:sp>
        <p:nvSpPr>
          <p:cNvPr id="23" name="Rectangle 22"/>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flag_o.png"/>
          <p:cNvPicPr>
            <a:picLocks noChangeAspect="1"/>
          </p:cNvPicPr>
          <p:nvPr/>
        </p:nvPicPr>
        <p:blipFill>
          <a:blip r:embed="rId2"/>
          <a:stretch>
            <a:fillRect/>
          </a:stretch>
        </p:blipFill>
        <p:spPr>
          <a:xfrm>
            <a:off x="822959" y="5660136"/>
            <a:ext cx="365760" cy="365760"/>
          </a:xfrm>
          <a:prstGeom prst="rect">
            <a:avLst/>
          </a:prstGeom>
        </p:spPr>
      </p:pic>
      <p:sp>
        <p:nvSpPr>
          <p:cNvPr id="25" name="TextBox 24"/>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Gatear, caminar, correr: </a:t>
            </a:r>
            <a:r>
              <a:rPr sz="1400" b="0" i="0">
                <a:solidFill>
                  <a:srgbClr val="FFFFFF"/>
                </a:solidFill>
                <a:latin typeface="Arial"/>
              </a:rPr>
              <a:t>el piloto enseña más que cualquier documento.</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0972800" cy="274320"/>
          </a:xfrm>
          <a:prstGeom prst="rect">
            <a:avLst/>
          </a:prstGeom>
          <a:noFill/>
        </p:spPr>
        <p:txBody>
          <a:bodyPr wrap="square" lIns="0" rIns="0" tIns="0" bIns="0" anchor="t">
            <a:spAutoFit/>
          </a:bodyPr>
          <a:lstStyle/>
          <a:p>
            <a:pPr algn="l"/>
            <a:r>
              <a:rPr sz="1100" b="1" i="0" spc="300">
                <a:solidFill>
                  <a:srgbClr val="FF6600"/>
                </a:solidFill>
                <a:latin typeface="Arial"/>
              </a:rPr>
              <a:t>MÓDULO 13 · RESUMEN</a:t>
            </a:r>
          </a:p>
        </p:txBody>
      </p:sp>
      <p:sp>
        <p:nvSpPr>
          <p:cNvPr id="4" name="Título"/>
          <p:cNvSpPr txBox="1"/>
          <p:nvPr/>
        </p:nvSpPr>
        <p:spPr>
          <a:xfrm>
            <a:off x="548640" y="676656"/>
            <a:ext cx="11094415" cy="960120"/>
          </a:xfrm>
          <a:prstGeom prst="rect">
            <a:avLst/>
          </a:prstGeom>
          <a:noFill/>
        </p:spPr>
        <p:txBody>
          <a:bodyPr wrap="square" lIns="0" rIns="0" tIns="0" bIns="0" anchor="t">
            <a:spAutoFit/>
          </a:bodyPr>
          <a:lstStyle/>
          <a:p>
            <a:pPr algn="l">
              <a:lnSpc>
                <a:spcPct val="95000"/>
              </a:lnSpc>
            </a:pPr>
            <a:r>
              <a:rPr sz="2800" b="1" i="0">
                <a:solidFill>
                  <a:srgbClr val="1A1A1A"/>
                </a:solidFill>
                <a:latin typeface="Arial"/>
              </a:rPr>
              <a:t>Resumen: cuatro fases, un solo hilo conductor</a:t>
            </a:r>
          </a:p>
        </p:txBody>
      </p:sp>
      <p:sp>
        <p:nvSpPr>
          <p:cNvPr id="5" name="TextBox 4"/>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6D6E71"/>
                </a:solidFill>
                <a:latin typeface="Arial"/>
              </a:rPr>
              <a:t>IMPLEMENTACIÓN DE AWP  ·  M13 · HOJA DE RUTA</a:t>
            </a:r>
          </a:p>
        </p:txBody>
      </p:sp>
      <p:sp>
        <p:nvSpPr>
          <p:cNvPr id="6" name="TextBox 5"/>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6D6E71"/>
                </a:solidFill>
                <a:latin typeface="Courier New"/>
              </a:rPr>
              <a:t>121</a:t>
            </a:r>
          </a:p>
        </p:txBody>
      </p:sp>
      <p:sp>
        <p:nvSpPr>
          <p:cNvPr id="7" name="Rectangle 6"/>
          <p:cNvSpPr/>
          <p:nvPr/>
        </p:nvSpPr>
        <p:spPr>
          <a:xfrm>
            <a:off x="548640" y="1828800"/>
            <a:ext cx="2602153" cy="502920"/>
          </a:xfrm>
          <a:prstGeom prst="rect">
            <a:avLst/>
          </a:prstGeom>
          <a:solidFill>
            <a:srgbClr val="CC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31520" y="1828800"/>
            <a:ext cx="2236393" cy="502920"/>
          </a:xfrm>
          <a:prstGeom prst="rect">
            <a:avLst/>
          </a:prstGeom>
          <a:noFill/>
        </p:spPr>
        <p:txBody>
          <a:bodyPr wrap="square" lIns="0" rIns="0" tIns="0" bIns="0" anchor="ctr">
            <a:spAutoFit/>
          </a:bodyPr>
          <a:lstStyle/>
          <a:p>
            <a:pPr algn="l"/>
            <a:r>
              <a:rPr sz="1100" b="1" i="0" spc="100">
                <a:solidFill>
                  <a:srgbClr val="FFFFFF"/>
                </a:solidFill>
                <a:latin typeface="Arial"/>
              </a:rPr>
              <a:t>FASE 1 · FEL 2</a:t>
            </a:r>
          </a:p>
        </p:txBody>
      </p:sp>
      <p:sp>
        <p:nvSpPr>
          <p:cNvPr id="9" name="Rectangle 8"/>
          <p:cNvSpPr/>
          <p:nvPr/>
        </p:nvSpPr>
        <p:spPr>
          <a:xfrm>
            <a:off x="548640" y="2331720"/>
            <a:ext cx="2602153" cy="29260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20" y="2514600"/>
            <a:ext cx="2236393" cy="228600"/>
          </a:xfrm>
          <a:prstGeom prst="rect">
            <a:avLst/>
          </a:prstGeom>
          <a:noFill/>
        </p:spPr>
        <p:txBody>
          <a:bodyPr wrap="square" lIns="0" rIns="0" tIns="0" bIns="0" anchor="t">
            <a:spAutoFit/>
          </a:bodyPr>
          <a:lstStyle/>
          <a:p>
            <a:pPr algn="l"/>
            <a:r>
              <a:rPr sz="950" b="1" i="0" spc="100">
                <a:solidFill>
                  <a:srgbClr val="6D6E71"/>
                </a:solidFill>
                <a:latin typeface="Arial"/>
              </a:rPr>
              <a:t>LIDERA</a:t>
            </a:r>
          </a:p>
        </p:txBody>
      </p:sp>
      <p:sp>
        <p:nvSpPr>
          <p:cNvPr id="11" name="TextBox 10"/>
          <p:cNvSpPr txBox="1"/>
          <p:nvPr/>
        </p:nvSpPr>
        <p:spPr>
          <a:xfrm>
            <a:off x="731520" y="2743200"/>
            <a:ext cx="2236393" cy="566928"/>
          </a:xfrm>
          <a:prstGeom prst="rect">
            <a:avLst/>
          </a:prstGeom>
          <a:noFill/>
        </p:spPr>
        <p:txBody>
          <a:bodyPr wrap="square" lIns="0" rIns="0" tIns="0" bIns="0" anchor="t">
            <a:spAutoFit/>
          </a:bodyPr>
          <a:lstStyle/>
          <a:p>
            <a:pPr algn="l"/>
            <a:r>
              <a:rPr sz="1400" b="1" i="0">
                <a:solidFill>
                  <a:srgbClr val="1A1A1A"/>
                </a:solidFill>
                <a:latin typeface="Arial"/>
              </a:rPr>
              <a:t>Construcción</a:t>
            </a:r>
          </a:p>
        </p:txBody>
      </p:sp>
      <p:sp>
        <p:nvSpPr>
          <p:cNvPr id="12" name="TextBox 11"/>
          <p:cNvSpPr txBox="1"/>
          <p:nvPr/>
        </p:nvSpPr>
        <p:spPr>
          <a:xfrm>
            <a:off x="731520" y="3429000"/>
            <a:ext cx="2236393" cy="228600"/>
          </a:xfrm>
          <a:prstGeom prst="rect">
            <a:avLst/>
          </a:prstGeom>
          <a:noFill/>
        </p:spPr>
        <p:txBody>
          <a:bodyPr wrap="square" lIns="0" rIns="0" tIns="0" bIns="0" anchor="t">
            <a:spAutoFit/>
          </a:bodyPr>
          <a:lstStyle/>
          <a:p>
            <a:pPr algn="l"/>
            <a:r>
              <a:rPr sz="950" b="1" i="0" spc="100">
                <a:solidFill>
                  <a:srgbClr val="6D6E71"/>
                </a:solidFill>
                <a:latin typeface="Arial"/>
              </a:rPr>
              <a:t>ENTREGA</a:t>
            </a:r>
          </a:p>
        </p:txBody>
      </p:sp>
      <p:sp>
        <p:nvSpPr>
          <p:cNvPr id="13" name="TextBox 12"/>
          <p:cNvSpPr txBox="1"/>
          <p:nvPr/>
        </p:nvSpPr>
        <p:spPr>
          <a:xfrm>
            <a:off x="731520" y="3657600"/>
            <a:ext cx="2236393" cy="1508760"/>
          </a:xfrm>
          <a:prstGeom prst="rect">
            <a:avLst/>
          </a:prstGeom>
          <a:noFill/>
        </p:spPr>
        <p:txBody>
          <a:bodyPr wrap="square" lIns="0" rIns="0" tIns="0" bIns="0" anchor="t">
            <a:spAutoFit/>
          </a:bodyPr>
          <a:lstStyle/>
          <a:p>
            <a:pPr algn="l">
              <a:lnSpc>
                <a:spcPct val="110000"/>
              </a:lnSpc>
            </a:pPr>
            <a:r>
              <a:rPr sz="1200" b="0" i="0">
                <a:solidFill>
                  <a:srgbClr val="2E2E2E"/>
                </a:solidFill>
                <a:latin typeface="Arial"/>
              </a:rPr>
              <a:t>CWA, Path of Construction y plan de liberación</a:t>
            </a:r>
          </a:p>
        </p:txBody>
      </p:sp>
      <p:cxnSp>
        <p:nvCxnSpPr>
          <p:cNvPr id="14" name="Connector 13"/>
          <p:cNvCxnSpPr/>
          <p:nvPr/>
        </p:nvCxnSpPr>
        <p:spPr>
          <a:xfrm>
            <a:off x="3178225" y="2075688"/>
            <a:ext cx="173736" cy="0"/>
          </a:xfrm>
          <a:prstGeom prst="line">
            <a:avLst/>
          </a:prstGeom>
          <a:ln w="22225">
            <a:solidFill>
              <a:srgbClr val="6D6E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3379393" y="1828800"/>
            <a:ext cx="2602153" cy="502920"/>
          </a:xfrm>
          <a:prstGeom prst="rect">
            <a:avLst/>
          </a:prstGeom>
          <a:solidFill>
            <a:srgbClr val="0030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62273" y="1828800"/>
            <a:ext cx="2236393" cy="502920"/>
          </a:xfrm>
          <a:prstGeom prst="rect">
            <a:avLst/>
          </a:prstGeom>
          <a:noFill/>
        </p:spPr>
        <p:txBody>
          <a:bodyPr wrap="square" lIns="0" rIns="0" tIns="0" bIns="0" anchor="ctr">
            <a:spAutoFit/>
          </a:bodyPr>
          <a:lstStyle/>
          <a:p>
            <a:pPr algn="l"/>
            <a:r>
              <a:rPr sz="1100" b="1" i="0" spc="100">
                <a:solidFill>
                  <a:srgbClr val="FFFFFF"/>
                </a:solidFill>
                <a:latin typeface="Arial"/>
              </a:rPr>
              <a:t>FASE 2 · FEL 3</a:t>
            </a:r>
          </a:p>
        </p:txBody>
      </p:sp>
      <p:sp>
        <p:nvSpPr>
          <p:cNvPr id="17" name="Rectangle 16"/>
          <p:cNvSpPr/>
          <p:nvPr/>
        </p:nvSpPr>
        <p:spPr>
          <a:xfrm>
            <a:off x="3379393" y="2331720"/>
            <a:ext cx="2602153" cy="29260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562273" y="2514600"/>
            <a:ext cx="2236393" cy="228600"/>
          </a:xfrm>
          <a:prstGeom prst="rect">
            <a:avLst/>
          </a:prstGeom>
          <a:noFill/>
        </p:spPr>
        <p:txBody>
          <a:bodyPr wrap="square" lIns="0" rIns="0" tIns="0" bIns="0" anchor="t">
            <a:spAutoFit/>
          </a:bodyPr>
          <a:lstStyle/>
          <a:p>
            <a:pPr algn="l"/>
            <a:r>
              <a:rPr sz="950" b="1" i="0" spc="100">
                <a:solidFill>
                  <a:srgbClr val="6D6E71"/>
                </a:solidFill>
                <a:latin typeface="Arial"/>
              </a:rPr>
              <a:t>LIDERA</a:t>
            </a:r>
          </a:p>
        </p:txBody>
      </p:sp>
      <p:sp>
        <p:nvSpPr>
          <p:cNvPr id="19" name="TextBox 18"/>
          <p:cNvSpPr txBox="1"/>
          <p:nvPr/>
        </p:nvSpPr>
        <p:spPr>
          <a:xfrm>
            <a:off x="3562273" y="2743200"/>
            <a:ext cx="2236393" cy="566928"/>
          </a:xfrm>
          <a:prstGeom prst="rect">
            <a:avLst/>
          </a:prstGeom>
          <a:noFill/>
        </p:spPr>
        <p:txBody>
          <a:bodyPr wrap="square" lIns="0" rIns="0" tIns="0" bIns="0" anchor="t">
            <a:spAutoFit/>
          </a:bodyPr>
          <a:lstStyle/>
          <a:p>
            <a:pPr algn="l"/>
            <a:r>
              <a:rPr sz="1400" b="1" i="0">
                <a:solidFill>
                  <a:srgbClr val="1A1A1A"/>
                </a:solidFill>
                <a:latin typeface="Arial"/>
              </a:rPr>
              <a:t>Ingeniería y Compras</a:t>
            </a:r>
          </a:p>
        </p:txBody>
      </p:sp>
      <p:sp>
        <p:nvSpPr>
          <p:cNvPr id="20" name="TextBox 19"/>
          <p:cNvSpPr txBox="1"/>
          <p:nvPr/>
        </p:nvSpPr>
        <p:spPr>
          <a:xfrm>
            <a:off x="3562273" y="3429000"/>
            <a:ext cx="2236393" cy="228600"/>
          </a:xfrm>
          <a:prstGeom prst="rect">
            <a:avLst/>
          </a:prstGeom>
          <a:noFill/>
        </p:spPr>
        <p:txBody>
          <a:bodyPr wrap="square" lIns="0" rIns="0" tIns="0" bIns="0" anchor="t">
            <a:spAutoFit/>
          </a:bodyPr>
          <a:lstStyle/>
          <a:p>
            <a:pPr algn="l"/>
            <a:r>
              <a:rPr sz="950" b="1" i="0" spc="100">
                <a:solidFill>
                  <a:srgbClr val="6D6E71"/>
                </a:solidFill>
                <a:latin typeface="Arial"/>
              </a:rPr>
              <a:t>ENTREGA</a:t>
            </a:r>
          </a:p>
        </p:txBody>
      </p:sp>
      <p:sp>
        <p:nvSpPr>
          <p:cNvPr id="21" name="TextBox 20"/>
          <p:cNvSpPr txBox="1"/>
          <p:nvPr/>
        </p:nvSpPr>
        <p:spPr>
          <a:xfrm>
            <a:off x="3562273" y="3657600"/>
            <a:ext cx="2236393" cy="1508760"/>
          </a:xfrm>
          <a:prstGeom prst="rect">
            <a:avLst/>
          </a:prstGeom>
          <a:noFill/>
        </p:spPr>
        <p:txBody>
          <a:bodyPr wrap="square" lIns="0" rIns="0" tIns="0" bIns="0" anchor="t">
            <a:spAutoFit/>
          </a:bodyPr>
          <a:lstStyle/>
          <a:p>
            <a:pPr algn="l">
              <a:lnSpc>
                <a:spcPct val="110000"/>
              </a:lnSpc>
            </a:pPr>
            <a:r>
              <a:rPr sz="1200" b="0" i="0">
                <a:solidFill>
                  <a:srgbClr val="2E2E2E"/>
                </a:solidFill>
                <a:latin typeface="Arial"/>
              </a:rPr>
              <a:t>EWP, PWP y CWP en la secuencia del POC</a:t>
            </a:r>
          </a:p>
        </p:txBody>
      </p:sp>
      <p:cxnSp>
        <p:nvCxnSpPr>
          <p:cNvPr id="22" name="Connector 21"/>
          <p:cNvCxnSpPr/>
          <p:nvPr/>
        </p:nvCxnSpPr>
        <p:spPr>
          <a:xfrm>
            <a:off x="6008979" y="2075688"/>
            <a:ext cx="173736" cy="0"/>
          </a:xfrm>
          <a:prstGeom prst="line">
            <a:avLst/>
          </a:prstGeom>
          <a:ln w="22225">
            <a:solidFill>
              <a:srgbClr val="6D6E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6210147" y="1828800"/>
            <a:ext cx="2602153" cy="50292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393027" y="1828800"/>
            <a:ext cx="2236393" cy="502920"/>
          </a:xfrm>
          <a:prstGeom prst="rect">
            <a:avLst/>
          </a:prstGeom>
          <a:noFill/>
        </p:spPr>
        <p:txBody>
          <a:bodyPr wrap="square" lIns="0" rIns="0" tIns="0" bIns="0" anchor="ctr">
            <a:spAutoFit/>
          </a:bodyPr>
          <a:lstStyle/>
          <a:p>
            <a:pPr algn="l"/>
            <a:r>
              <a:rPr sz="1100" b="1" i="0" spc="100">
                <a:solidFill>
                  <a:srgbClr val="FFFFFF"/>
                </a:solidFill>
                <a:latin typeface="Arial"/>
              </a:rPr>
              <a:t>FASE 3 · EJECUCIÓN</a:t>
            </a:r>
          </a:p>
        </p:txBody>
      </p:sp>
      <p:sp>
        <p:nvSpPr>
          <p:cNvPr id="25" name="Rectangle 24"/>
          <p:cNvSpPr/>
          <p:nvPr/>
        </p:nvSpPr>
        <p:spPr>
          <a:xfrm>
            <a:off x="6210147" y="2331720"/>
            <a:ext cx="2602153" cy="29260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393027" y="2514600"/>
            <a:ext cx="2236393" cy="228600"/>
          </a:xfrm>
          <a:prstGeom prst="rect">
            <a:avLst/>
          </a:prstGeom>
          <a:noFill/>
        </p:spPr>
        <p:txBody>
          <a:bodyPr wrap="square" lIns="0" rIns="0" tIns="0" bIns="0" anchor="t">
            <a:spAutoFit/>
          </a:bodyPr>
          <a:lstStyle/>
          <a:p>
            <a:pPr algn="l"/>
            <a:r>
              <a:rPr sz="950" b="1" i="0" spc="100">
                <a:solidFill>
                  <a:srgbClr val="6D6E71"/>
                </a:solidFill>
                <a:latin typeface="Arial"/>
              </a:rPr>
              <a:t>LIDERA</a:t>
            </a:r>
          </a:p>
        </p:txBody>
      </p:sp>
      <p:sp>
        <p:nvSpPr>
          <p:cNvPr id="27" name="TextBox 26"/>
          <p:cNvSpPr txBox="1"/>
          <p:nvPr/>
        </p:nvSpPr>
        <p:spPr>
          <a:xfrm>
            <a:off x="6393027" y="2743200"/>
            <a:ext cx="2236393" cy="566928"/>
          </a:xfrm>
          <a:prstGeom prst="rect">
            <a:avLst/>
          </a:prstGeom>
          <a:noFill/>
        </p:spPr>
        <p:txBody>
          <a:bodyPr wrap="square" lIns="0" rIns="0" tIns="0" bIns="0" anchor="t">
            <a:spAutoFit/>
          </a:bodyPr>
          <a:lstStyle/>
          <a:p>
            <a:pPr algn="l"/>
            <a:r>
              <a:rPr sz="1400" b="1" i="0">
                <a:solidFill>
                  <a:srgbClr val="1A1A1A"/>
                </a:solidFill>
                <a:latin typeface="Arial"/>
              </a:rPr>
              <a:t>Workface Planners y supervisión</a:t>
            </a:r>
          </a:p>
        </p:txBody>
      </p:sp>
      <p:sp>
        <p:nvSpPr>
          <p:cNvPr id="28" name="TextBox 27"/>
          <p:cNvSpPr txBox="1"/>
          <p:nvPr/>
        </p:nvSpPr>
        <p:spPr>
          <a:xfrm>
            <a:off x="6393027" y="3429000"/>
            <a:ext cx="2236393" cy="228600"/>
          </a:xfrm>
          <a:prstGeom prst="rect">
            <a:avLst/>
          </a:prstGeom>
          <a:noFill/>
        </p:spPr>
        <p:txBody>
          <a:bodyPr wrap="square" lIns="0" rIns="0" tIns="0" bIns="0" anchor="t">
            <a:spAutoFit/>
          </a:bodyPr>
          <a:lstStyle/>
          <a:p>
            <a:pPr algn="l"/>
            <a:r>
              <a:rPr sz="950" b="1" i="0" spc="100">
                <a:solidFill>
                  <a:srgbClr val="6D6E71"/>
                </a:solidFill>
                <a:latin typeface="Arial"/>
              </a:rPr>
              <a:t>ENTREGA</a:t>
            </a:r>
          </a:p>
        </p:txBody>
      </p:sp>
      <p:sp>
        <p:nvSpPr>
          <p:cNvPr id="29" name="TextBox 28"/>
          <p:cNvSpPr txBox="1"/>
          <p:nvPr/>
        </p:nvSpPr>
        <p:spPr>
          <a:xfrm>
            <a:off x="6393027" y="3657600"/>
            <a:ext cx="2236393" cy="1508760"/>
          </a:xfrm>
          <a:prstGeom prst="rect">
            <a:avLst/>
          </a:prstGeom>
          <a:noFill/>
        </p:spPr>
        <p:txBody>
          <a:bodyPr wrap="square" lIns="0" rIns="0" tIns="0" bIns="0" anchor="t">
            <a:spAutoFit/>
          </a:bodyPr>
          <a:lstStyle/>
          <a:p>
            <a:pPr algn="l">
              <a:lnSpc>
                <a:spcPct val="110000"/>
              </a:lnSpc>
            </a:pPr>
            <a:r>
              <a:rPr sz="1200" b="0" i="0">
                <a:solidFill>
                  <a:srgbClr val="2E2E2E"/>
                </a:solidFill>
                <a:latin typeface="Arial"/>
              </a:rPr>
              <a:t>IWP sin restricciones, backlog y avance diario</a:t>
            </a:r>
          </a:p>
        </p:txBody>
      </p:sp>
      <p:cxnSp>
        <p:nvCxnSpPr>
          <p:cNvPr id="30" name="Connector 29"/>
          <p:cNvCxnSpPr/>
          <p:nvPr/>
        </p:nvCxnSpPr>
        <p:spPr>
          <a:xfrm>
            <a:off x="8839733" y="2075688"/>
            <a:ext cx="173736" cy="0"/>
          </a:xfrm>
          <a:prstGeom prst="line">
            <a:avLst/>
          </a:prstGeom>
          <a:ln w="22225">
            <a:solidFill>
              <a:srgbClr val="6D6E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9040901" y="1828800"/>
            <a:ext cx="2602153" cy="502920"/>
          </a:xfrm>
          <a:prstGeom prst="rect">
            <a:avLst/>
          </a:prstGeom>
          <a:solidFill>
            <a:srgbClr val="0078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223781" y="1828800"/>
            <a:ext cx="2236393" cy="502920"/>
          </a:xfrm>
          <a:prstGeom prst="rect">
            <a:avLst/>
          </a:prstGeom>
          <a:noFill/>
        </p:spPr>
        <p:txBody>
          <a:bodyPr wrap="square" lIns="0" rIns="0" tIns="0" bIns="0" anchor="ctr">
            <a:spAutoFit/>
          </a:bodyPr>
          <a:lstStyle/>
          <a:p>
            <a:pPr algn="l"/>
            <a:r>
              <a:rPr sz="1100" b="1" i="0" spc="100">
                <a:solidFill>
                  <a:srgbClr val="FFFFFF"/>
                </a:solidFill>
                <a:latin typeface="Arial"/>
              </a:rPr>
              <a:t>FASE 4 · ARRANQUE</a:t>
            </a:r>
          </a:p>
        </p:txBody>
      </p:sp>
      <p:sp>
        <p:nvSpPr>
          <p:cNvPr id="33" name="Rectangle 32"/>
          <p:cNvSpPr/>
          <p:nvPr/>
        </p:nvSpPr>
        <p:spPr>
          <a:xfrm>
            <a:off x="9040901" y="2331720"/>
            <a:ext cx="2602153" cy="2926080"/>
          </a:xfrm>
          <a:prstGeom prst="rect">
            <a:avLst/>
          </a:prstGeom>
          <a:solidFill>
            <a:srgbClr val="FFFFFF"/>
          </a:solidFill>
          <a:ln w="9525">
            <a:solidFill>
              <a:srgbClr val="BCBEC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223781" y="2514600"/>
            <a:ext cx="2236393" cy="228600"/>
          </a:xfrm>
          <a:prstGeom prst="rect">
            <a:avLst/>
          </a:prstGeom>
          <a:noFill/>
        </p:spPr>
        <p:txBody>
          <a:bodyPr wrap="square" lIns="0" rIns="0" tIns="0" bIns="0" anchor="t">
            <a:spAutoFit/>
          </a:bodyPr>
          <a:lstStyle/>
          <a:p>
            <a:pPr algn="l"/>
            <a:r>
              <a:rPr sz="950" b="1" i="0" spc="100">
                <a:solidFill>
                  <a:srgbClr val="6D6E71"/>
                </a:solidFill>
                <a:latin typeface="Arial"/>
              </a:rPr>
              <a:t>LIDERA</a:t>
            </a:r>
          </a:p>
        </p:txBody>
      </p:sp>
      <p:sp>
        <p:nvSpPr>
          <p:cNvPr id="35" name="TextBox 34"/>
          <p:cNvSpPr txBox="1"/>
          <p:nvPr/>
        </p:nvSpPr>
        <p:spPr>
          <a:xfrm>
            <a:off x="9223781" y="2743200"/>
            <a:ext cx="2236393" cy="566928"/>
          </a:xfrm>
          <a:prstGeom prst="rect">
            <a:avLst/>
          </a:prstGeom>
          <a:noFill/>
        </p:spPr>
        <p:txBody>
          <a:bodyPr wrap="square" lIns="0" rIns="0" tIns="0" bIns="0" anchor="t">
            <a:spAutoFit/>
          </a:bodyPr>
          <a:lstStyle/>
          <a:p>
            <a:pPr algn="l"/>
            <a:r>
              <a:rPr sz="1400" b="1" i="0">
                <a:solidFill>
                  <a:srgbClr val="1A1A1A"/>
                </a:solidFill>
                <a:latin typeface="Arial"/>
              </a:rPr>
              <a:t>Comisionamiento y Operaciones</a:t>
            </a:r>
          </a:p>
        </p:txBody>
      </p:sp>
      <p:sp>
        <p:nvSpPr>
          <p:cNvPr id="36" name="TextBox 35"/>
          <p:cNvSpPr txBox="1"/>
          <p:nvPr/>
        </p:nvSpPr>
        <p:spPr>
          <a:xfrm>
            <a:off x="9223781" y="3429000"/>
            <a:ext cx="2236393" cy="228600"/>
          </a:xfrm>
          <a:prstGeom prst="rect">
            <a:avLst/>
          </a:prstGeom>
          <a:noFill/>
        </p:spPr>
        <p:txBody>
          <a:bodyPr wrap="square" lIns="0" rIns="0" tIns="0" bIns="0" anchor="t">
            <a:spAutoFit/>
          </a:bodyPr>
          <a:lstStyle/>
          <a:p>
            <a:pPr algn="l"/>
            <a:r>
              <a:rPr sz="950" b="1" i="0" spc="100">
                <a:solidFill>
                  <a:srgbClr val="6D6E71"/>
                </a:solidFill>
                <a:latin typeface="Arial"/>
              </a:rPr>
              <a:t>ENTREGA</a:t>
            </a:r>
          </a:p>
        </p:txBody>
      </p:sp>
      <p:sp>
        <p:nvSpPr>
          <p:cNvPr id="37" name="TextBox 36"/>
          <p:cNvSpPr txBox="1"/>
          <p:nvPr/>
        </p:nvSpPr>
        <p:spPr>
          <a:xfrm>
            <a:off x="9223781" y="3657600"/>
            <a:ext cx="2236393" cy="1508760"/>
          </a:xfrm>
          <a:prstGeom prst="rect">
            <a:avLst/>
          </a:prstGeom>
          <a:noFill/>
        </p:spPr>
        <p:txBody>
          <a:bodyPr wrap="square" lIns="0" rIns="0" tIns="0" bIns="0" anchor="t">
            <a:spAutoFit/>
          </a:bodyPr>
          <a:lstStyle/>
          <a:p>
            <a:pPr algn="l">
              <a:lnSpc>
                <a:spcPct val="110000"/>
              </a:lnSpc>
            </a:pPr>
            <a:r>
              <a:rPr sz="1200" b="0" i="0">
                <a:solidFill>
                  <a:srgbClr val="2E2E2E"/>
                </a:solidFill>
                <a:latin typeface="Arial"/>
              </a:rPr>
              <a:t>SWP, TOP y certificados RFCC y RFOC</a:t>
            </a:r>
          </a:p>
        </p:txBody>
      </p:sp>
      <p:sp>
        <p:nvSpPr>
          <p:cNvPr id="38" name="Rectangle 37"/>
          <p:cNvSpPr/>
          <p:nvPr/>
        </p:nvSpPr>
        <p:spPr>
          <a:xfrm>
            <a:off x="548640" y="5513832"/>
            <a:ext cx="11094415" cy="65836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flag_o.png"/>
          <p:cNvPicPr>
            <a:picLocks noChangeAspect="1"/>
          </p:cNvPicPr>
          <p:nvPr/>
        </p:nvPicPr>
        <p:blipFill>
          <a:blip r:embed="rId2"/>
          <a:stretch>
            <a:fillRect/>
          </a:stretch>
        </p:blipFill>
        <p:spPr>
          <a:xfrm>
            <a:off x="822959" y="5660136"/>
            <a:ext cx="365760" cy="365760"/>
          </a:xfrm>
          <a:prstGeom prst="rect">
            <a:avLst/>
          </a:prstGeom>
        </p:spPr>
      </p:pic>
      <p:sp>
        <p:nvSpPr>
          <p:cNvPr id="40" name="TextBox 39"/>
          <p:cNvSpPr txBox="1"/>
          <p:nvPr/>
        </p:nvSpPr>
        <p:spPr>
          <a:xfrm>
            <a:off x="1417319" y="5513832"/>
            <a:ext cx="9997135" cy="658368"/>
          </a:xfrm>
          <a:prstGeom prst="rect">
            <a:avLst/>
          </a:prstGeom>
          <a:noFill/>
        </p:spPr>
        <p:txBody>
          <a:bodyPr wrap="square" lIns="0" rIns="0" tIns="0" bIns="0" anchor="ctr">
            <a:spAutoFit/>
          </a:bodyPr>
          <a:lstStyle/>
          <a:p>
            <a:pPr algn="l"/>
            <a:r>
              <a:rPr sz="1400" b="1" i="0">
                <a:solidFill>
                  <a:srgbClr val="FF6600"/>
                </a:solidFill>
                <a:latin typeface="Arial"/>
              </a:rPr>
              <a:t>Clave: </a:t>
            </a:r>
            <a:r>
              <a:rPr sz="1400" b="0" i="0">
                <a:solidFill>
                  <a:srgbClr val="FFFFFF"/>
                </a:solidFill>
                <a:latin typeface="Arial"/>
              </a:rPr>
              <a:t>Construcción define el orden; Ingeniería y Compras lo siguen; el campo lo ejecuta sin restricciones.</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12191695" cy="50292"/>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868680"/>
            <a:ext cx="9144000" cy="274320"/>
          </a:xfrm>
          <a:prstGeom prst="rect">
            <a:avLst/>
          </a:prstGeom>
          <a:noFill/>
        </p:spPr>
        <p:txBody>
          <a:bodyPr wrap="square" lIns="0" rIns="0" tIns="0" bIns="0" anchor="t">
            <a:spAutoFit/>
          </a:bodyPr>
          <a:lstStyle/>
          <a:p>
            <a:pPr algn="l"/>
            <a:r>
              <a:rPr sz="1200" b="1" i="0" spc="300">
                <a:solidFill>
                  <a:srgbClr val="FF6600"/>
                </a:solidFill>
                <a:latin typeface="Arial"/>
              </a:rPr>
              <a:t>EN RESUMEN</a:t>
            </a:r>
          </a:p>
        </p:txBody>
      </p:sp>
      <p:sp>
        <p:nvSpPr>
          <p:cNvPr id="4" name="Título"/>
          <p:cNvSpPr txBox="1"/>
          <p:nvPr/>
        </p:nvSpPr>
        <p:spPr>
          <a:xfrm>
            <a:off x="548640" y="1234440"/>
            <a:ext cx="10515600" cy="1280160"/>
          </a:xfrm>
          <a:prstGeom prst="rect">
            <a:avLst/>
          </a:prstGeom>
          <a:noFill/>
        </p:spPr>
        <p:txBody>
          <a:bodyPr wrap="square" lIns="0" rIns="0" tIns="0" bIns="0" anchor="t">
            <a:spAutoFit/>
          </a:bodyPr>
          <a:lstStyle/>
          <a:p>
            <a:pPr algn="l">
              <a:lnSpc>
                <a:spcPct val="95000"/>
              </a:lnSpc>
            </a:pPr>
            <a:r>
              <a:rPr sz="4000" b="1" i="0">
                <a:solidFill>
                  <a:srgbClr val="FFFFFF"/>
                </a:solidFill>
                <a:latin typeface="Arial"/>
              </a:rPr>
              <a:t>Construya en el orden correcto y la productividad llega sola</a:t>
            </a:r>
          </a:p>
        </p:txBody>
      </p:sp>
      <p:sp>
        <p:nvSpPr>
          <p:cNvPr id="5" name="Rectangle 4"/>
          <p:cNvSpPr/>
          <p:nvPr/>
        </p:nvSpPr>
        <p:spPr>
          <a:xfrm>
            <a:off x="548640" y="2926080"/>
            <a:ext cx="3502152" cy="196596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helmet_o.png"/>
          <p:cNvPicPr>
            <a:picLocks noChangeAspect="1"/>
          </p:cNvPicPr>
          <p:nvPr/>
        </p:nvPicPr>
        <p:blipFill>
          <a:blip r:embed="rId2"/>
          <a:stretch>
            <a:fillRect/>
          </a:stretch>
        </p:blipFill>
        <p:spPr>
          <a:xfrm>
            <a:off x="868680" y="3200400"/>
            <a:ext cx="457200" cy="457200"/>
          </a:xfrm>
          <a:prstGeom prst="rect">
            <a:avLst/>
          </a:prstGeom>
        </p:spPr>
      </p:pic>
      <p:sp>
        <p:nvSpPr>
          <p:cNvPr id="7" name="TextBox 6"/>
          <p:cNvSpPr txBox="1"/>
          <p:nvPr/>
        </p:nvSpPr>
        <p:spPr>
          <a:xfrm>
            <a:off x="868680" y="3749040"/>
            <a:ext cx="2953512" cy="566928"/>
          </a:xfrm>
          <a:prstGeom prst="rect">
            <a:avLst/>
          </a:prstGeom>
          <a:noFill/>
        </p:spPr>
        <p:txBody>
          <a:bodyPr wrap="square" lIns="0" rIns="0" tIns="0" bIns="0" anchor="b">
            <a:spAutoFit/>
          </a:bodyPr>
          <a:lstStyle/>
          <a:p>
            <a:pPr algn="l">
              <a:lnSpc>
                <a:spcPct val="95000"/>
              </a:lnSpc>
            </a:pPr>
            <a:r>
              <a:rPr sz="1500" b="1" i="0">
                <a:solidFill>
                  <a:srgbClr val="FFFFFF"/>
                </a:solidFill>
                <a:latin typeface="Arial"/>
              </a:rPr>
              <a:t>Construcción define el orden</a:t>
            </a:r>
          </a:p>
        </p:txBody>
      </p:sp>
      <p:sp>
        <p:nvSpPr>
          <p:cNvPr id="8" name="TextBox 7"/>
          <p:cNvSpPr txBox="1"/>
          <p:nvPr/>
        </p:nvSpPr>
        <p:spPr>
          <a:xfrm>
            <a:off x="868680" y="4389120"/>
            <a:ext cx="2953512" cy="320040"/>
          </a:xfrm>
          <a:prstGeom prst="rect">
            <a:avLst/>
          </a:prstGeom>
          <a:noFill/>
        </p:spPr>
        <p:txBody>
          <a:bodyPr wrap="square" lIns="0" rIns="0" tIns="0" bIns="0" anchor="t">
            <a:spAutoFit/>
          </a:bodyPr>
          <a:lstStyle/>
          <a:p>
            <a:pPr algn="l"/>
            <a:r>
              <a:rPr sz="1200" b="0" i="0">
                <a:solidFill>
                  <a:srgbClr val="BCBEC0"/>
                </a:solidFill>
                <a:latin typeface="Arial"/>
              </a:rPr>
              <a:t>Path of Construction (POC) y CWP</a:t>
            </a:r>
          </a:p>
        </p:txBody>
      </p:sp>
      <p:sp>
        <p:nvSpPr>
          <p:cNvPr id="9" name="Rectangle 8"/>
          <p:cNvSpPr/>
          <p:nvPr/>
        </p:nvSpPr>
        <p:spPr>
          <a:xfrm>
            <a:off x="4343400" y="2926080"/>
            <a:ext cx="3502152" cy="196596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ruler_o.png"/>
          <p:cNvPicPr>
            <a:picLocks noChangeAspect="1"/>
          </p:cNvPicPr>
          <p:nvPr/>
        </p:nvPicPr>
        <p:blipFill>
          <a:blip r:embed="rId3"/>
          <a:stretch>
            <a:fillRect/>
          </a:stretch>
        </p:blipFill>
        <p:spPr>
          <a:xfrm>
            <a:off x="4663440" y="3200400"/>
            <a:ext cx="457200" cy="457200"/>
          </a:xfrm>
          <a:prstGeom prst="rect">
            <a:avLst/>
          </a:prstGeom>
        </p:spPr>
      </p:pic>
      <p:sp>
        <p:nvSpPr>
          <p:cNvPr id="11" name="TextBox 10"/>
          <p:cNvSpPr txBox="1"/>
          <p:nvPr/>
        </p:nvSpPr>
        <p:spPr>
          <a:xfrm>
            <a:off x="4663440" y="3749040"/>
            <a:ext cx="2953512" cy="566928"/>
          </a:xfrm>
          <a:prstGeom prst="rect">
            <a:avLst/>
          </a:prstGeom>
          <a:noFill/>
        </p:spPr>
        <p:txBody>
          <a:bodyPr wrap="square" lIns="0" rIns="0" tIns="0" bIns="0" anchor="b">
            <a:spAutoFit/>
          </a:bodyPr>
          <a:lstStyle/>
          <a:p>
            <a:pPr algn="l">
              <a:lnSpc>
                <a:spcPct val="95000"/>
              </a:lnSpc>
            </a:pPr>
            <a:r>
              <a:rPr sz="1500" b="1" i="0">
                <a:solidFill>
                  <a:srgbClr val="FFFFFF"/>
                </a:solidFill>
                <a:latin typeface="Arial"/>
              </a:rPr>
              <a:t>Ingeniería y Compras lo siguen</a:t>
            </a:r>
          </a:p>
        </p:txBody>
      </p:sp>
      <p:sp>
        <p:nvSpPr>
          <p:cNvPr id="12" name="TextBox 11"/>
          <p:cNvSpPr txBox="1"/>
          <p:nvPr/>
        </p:nvSpPr>
        <p:spPr>
          <a:xfrm>
            <a:off x="4663440" y="4389120"/>
            <a:ext cx="2953512" cy="320040"/>
          </a:xfrm>
          <a:prstGeom prst="rect">
            <a:avLst/>
          </a:prstGeom>
          <a:noFill/>
        </p:spPr>
        <p:txBody>
          <a:bodyPr wrap="square" lIns="0" rIns="0" tIns="0" bIns="0" anchor="t">
            <a:spAutoFit/>
          </a:bodyPr>
          <a:lstStyle/>
          <a:p>
            <a:pPr algn="l"/>
            <a:r>
              <a:rPr sz="1200" b="0" i="0">
                <a:solidFill>
                  <a:srgbClr val="BCBEC0"/>
                </a:solidFill>
                <a:latin typeface="Arial"/>
              </a:rPr>
              <a:t>EWP y PWP en la secuencia del POC</a:t>
            </a:r>
          </a:p>
        </p:txBody>
      </p:sp>
      <p:sp>
        <p:nvSpPr>
          <p:cNvPr id="13" name="Rectangle 12"/>
          <p:cNvSpPr/>
          <p:nvPr/>
        </p:nvSpPr>
        <p:spPr>
          <a:xfrm>
            <a:off x="8138160" y="2926080"/>
            <a:ext cx="3502152" cy="1965960"/>
          </a:xfrm>
          <a:prstGeom prst="rect">
            <a:avLst/>
          </a:prstGeom>
          <a:solidFill>
            <a:srgbClr val="222222"/>
          </a:solidFill>
          <a:ln w="9525">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lip_o.png"/>
          <p:cNvPicPr>
            <a:picLocks noChangeAspect="1"/>
          </p:cNvPicPr>
          <p:nvPr/>
        </p:nvPicPr>
        <p:blipFill>
          <a:blip r:embed="rId4"/>
          <a:stretch>
            <a:fillRect/>
          </a:stretch>
        </p:blipFill>
        <p:spPr>
          <a:xfrm>
            <a:off x="8458200" y="3200400"/>
            <a:ext cx="457200" cy="457200"/>
          </a:xfrm>
          <a:prstGeom prst="rect">
            <a:avLst/>
          </a:prstGeom>
        </p:spPr>
      </p:pic>
      <p:sp>
        <p:nvSpPr>
          <p:cNvPr id="15" name="TextBox 14"/>
          <p:cNvSpPr txBox="1"/>
          <p:nvPr/>
        </p:nvSpPr>
        <p:spPr>
          <a:xfrm>
            <a:off x="8458200" y="3749040"/>
            <a:ext cx="2953512" cy="566928"/>
          </a:xfrm>
          <a:prstGeom prst="rect">
            <a:avLst/>
          </a:prstGeom>
          <a:noFill/>
        </p:spPr>
        <p:txBody>
          <a:bodyPr wrap="square" lIns="0" rIns="0" tIns="0" bIns="0" anchor="b">
            <a:spAutoFit/>
          </a:bodyPr>
          <a:lstStyle/>
          <a:p>
            <a:pPr algn="l">
              <a:lnSpc>
                <a:spcPct val="95000"/>
              </a:lnSpc>
            </a:pPr>
            <a:r>
              <a:rPr sz="1500" b="1" i="0">
                <a:solidFill>
                  <a:srgbClr val="FFFFFF"/>
                </a:solidFill>
                <a:latin typeface="Arial"/>
              </a:rPr>
              <a:t>El campo ejecuta sin restricciones</a:t>
            </a:r>
          </a:p>
        </p:txBody>
      </p:sp>
      <p:sp>
        <p:nvSpPr>
          <p:cNvPr id="16" name="TextBox 15"/>
          <p:cNvSpPr txBox="1"/>
          <p:nvPr/>
        </p:nvSpPr>
        <p:spPr>
          <a:xfrm>
            <a:off x="8458200" y="4389120"/>
            <a:ext cx="2953512" cy="320040"/>
          </a:xfrm>
          <a:prstGeom prst="rect">
            <a:avLst/>
          </a:prstGeom>
          <a:noFill/>
        </p:spPr>
        <p:txBody>
          <a:bodyPr wrap="square" lIns="0" rIns="0" tIns="0" bIns="0" anchor="t">
            <a:spAutoFit/>
          </a:bodyPr>
          <a:lstStyle/>
          <a:p>
            <a:pPr algn="l"/>
            <a:r>
              <a:rPr sz="1200" b="0" i="0">
                <a:solidFill>
                  <a:srgbClr val="BCBEC0"/>
                </a:solidFill>
                <a:latin typeface="Arial"/>
              </a:rPr>
              <a:t>IWP listos, backlog y avance diario</a:t>
            </a:r>
          </a:p>
        </p:txBody>
      </p:sp>
      <p:sp>
        <p:nvSpPr>
          <p:cNvPr id="17" name="TextBox 16"/>
          <p:cNvSpPr txBox="1"/>
          <p:nvPr/>
        </p:nvSpPr>
        <p:spPr>
          <a:xfrm>
            <a:off x="548640" y="5303520"/>
            <a:ext cx="5486400" cy="548640"/>
          </a:xfrm>
          <a:prstGeom prst="rect">
            <a:avLst/>
          </a:prstGeom>
          <a:noFill/>
        </p:spPr>
        <p:txBody>
          <a:bodyPr wrap="square" lIns="0" rIns="0" tIns="0" bIns="0" anchor="t">
            <a:spAutoFit/>
          </a:bodyPr>
          <a:lstStyle/>
          <a:p>
            <a:pPr algn="l"/>
            <a:r>
              <a:rPr sz="2800" b="1" i="0">
                <a:solidFill>
                  <a:srgbClr val="FF9955"/>
                </a:solidFill>
                <a:latin typeface="Arial"/>
              </a:rPr>
              <a:t>¿Preguntas?</a:t>
            </a:r>
          </a:p>
        </p:txBody>
      </p:sp>
      <p:sp>
        <p:nvSpPr>
          <p:cNvPr id="18" name="TextBox 17"/>
          <p:cNvSpPr txBox="1"/>
          <p:nvPr/>
        </p:nvSpPr>
        <p:spPr>
          <a:xfrm>
            <a:off x="6309360" y="5349240"/>
            <a:ext cx="5333695" cy="548640"/>
          </a:xfrm>
          <a:prstGeom prst="rect">
            <a:avLst/>
          </a:prstGeom>
          <a:noFill/>
        </p:spPr>
        <p:txBody>
          <a:bodyPr wrap="square" lIns="0" rIns="0" tIns="0" bIns="0" anchor="ctr">
            <a:spAutoFit/>
          </a:bodyPr>
          <a:lstStyle/>
          <a:p>
            <a:pPr algn="r"/>
            <a:r>
              <a:rPr sz="1400" b="0" i="0">
                <a:solidFill>
                  <a:srgbClr val="BCBEC0"/>
                </a:solidFill>
                <a:latin typeface="Arial"/>
              </a:rPr>
              <a:t>Siguiente paso: nombrar al AWP Champion del proyecto</a:t>
            </a:r>
          </a:p>
        </p:txBody>
      </p:sp>
      <p:sp>
        <p:nvSpPr>
          <p:cNvPr id="19" name="TextBox 18"/>
          <p:cNvSpPr txBox="1"/>
          <p:nvPr/>
        </p:nvSpPr>
        <p:spPr>
          <a:xfrm>
            <a:off x="548640" y="6419088"/>
            <a:ext cx="8686800" cy="228600"/>
          </a:xfrm>
          <a:prstGeom prst="rect">
            <a:avLst/>
          </a:prstGeom>
          <a:noFill/>
        </p:spPr>
        <p:txBody>
          <a:bodyPr wrap="square" lIns="0" rIns="0" tIns="0" bIns="0" anchor="t">
            <a:spAutoFit/>
          </a:bodyPr>
          <a:lstStyle/>
          <a:p>
            <a:pPr algn="l"/>
            <a:r>
              <a:rPr sz="900" b="0" i="0" spc="100">
                <a:solidFill>
                  <a:srgbClr val="8A8B8E"/>
                </a:solidFill>
                <a:latin typeface="Arial"/>
              </a:rPr>
              <a:t>IMPLEMENTACIÓN DE AWP  ·  CIERRE</a:t>
            </a:r>
          </a:p>
        </p:txBody>
      </p:sp>
      <p:sp>
        <p:nvSpPr>
          <p:cNvPr id="20" name="TextBox 19"/>
          <p:cNvSpPr txBox="1"/>
          <p:nvPr/>
        </p:nvSpPr>
        <p:spPr>
          <a:xfrm>
            <a:off x="9814255" y="6419088"/>
            <a:ext cx="1828800" cy="228600"/>
          </a:xfrm>
          <a:prstGeom prst="rect">
            <a:avLst/>
          </a:prstGeom>
          <a:noFill/>
        </p:spPr>
        <p:txBody>
          <a:bodyPr wrap="square" lIns="0" rIns="0" tIns="0" bIns="0" anchor="t">
            <a:spAutoFit/>
          </a:bodyPr>
          <a:lstStyle/>
          <a:p>
            <a:pPr algn="r"/>
            <a:r>
              <a:rPr sz="900" b="0" i="0">
                <a:solidFill>
                  <a:srgbClr val="8A8B8E"/>
                </a:solidFill>
                <a:latin typeface="Courier New"/>
              </a:rPr>
              <a:t>122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9443</Words>
  <Application>Microsoft Office PowerPoint</Application>
  <PresentationFormat>Panorámica</PresentationFormat>
  <Paragraphs>2268</Paragraphs>
  <Slides>20</Slides>
  <Notes>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20</vt:i4>
      </vt:variant>
    </vt:vector>
  </HeadingPairs>
  <TitlesOfParts>
    <vt:vector size="25" baseType="lpstr">
      <vt:lpstr>Arial</vt:lpstr>
      <vt:lpstr>Arial Black</vt:lpstr>
      <vt:lpstr>Courier New</vt:lpstr>
      <vt:lpstr>Georgia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Implementar AWP: guía práctica fase por fase</dc:title>
  <dc:subject>PptxGenJS Presentation</dc:subject>
  <dc:creator>PptxGenJS</dc:creator>
  <cp:lastModifiedBy>Elmer Chávez</cp:lastModifiedBy>
  <cp:revision>1</cp:revision>
  <dcterms:created xsi:type="dcterms:W3CDTF">2026-02-23T12:54:46Z</dcterms:created>
  <dcterms:modified xsi:type="dcterms:W3CDTF">2026-09-21T12:39:43Z</dcterms:modified>
  <dc:language>es-PE</dc:language>
</cp:coreProperties>
</file>