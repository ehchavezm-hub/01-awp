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charts/chart1.xml" ContentType="application/vnd.openxmlformats-officedocument.drawingml.chart+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Lst>
  <p:notesMasterIdLst>
    <p:notesMasterId r:id="rId1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notesMaster" Target="notesMasters/notesMaster1.xml"/><Relationship Id="rId117" Type="http://schemas.openxmlformats.org/officeDocument/2006/relationships/presProps" Target="presProps.xml"/><Relationship Id="rId118" Type="http://schemas.openxmlformats.org/officeDocument/2006/relationships/viewProps" Target="viewProps.xml"/><Relationship Id="rId119" Type="http://schemas.openxmlformats.org/officeDocument/2006/relationships/theme" Target="theme/theme1.xml"/><Relationship Id="rId1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Arial"/>
              </a:defRPr>
            </a:pPr>
            <a:r>
              <a:rPr sz="1400" b="0" i="0" u="none" strike="noStrike">
                <a:solidFill>
                  <a:srgbClr val="1B1F24"/>
                </a:solidFill>
                <a:latin typeface="Arial"/>
              </a:rPr>
              <a:t>HH directas por mes (CWP de ejemplo del PoC)</a:t>
            </a:r>
          </a:p>
        </c:rich>
      </c:tx>
      <c:layout/>
      <c:overlay val="0"/>
    </c:title>
    <c:autoTitleDeleted val="0"/>
    <c:plotArea>
      <c:layout/>
      <c:barChart>
        <c:barDir val="col"/>
        <c:grouping val="stacked"/>
        <c:varyColors val="0"/>
        <c:ser>
          <c:idx val="0"/>
          <c:order val="0"/>
          <c:tx>
            <c:strRef>
              <c:f>Sheet1!$B$1</c:f>
              <c:strCache>
                <c:ptCount val="1"/>
                <c:pt idx="0">
                  <c:v>Fase 1</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Sheet1!$A$2:$A$31</c:f>
              <c:multiLvlStrCache>
                <c:ptCount val="30"/>
                <c:lvl>
                  <c:pt idx="0">
                    <c:v>may 27</c:v>
                  </c:pt>
                  <c:pt idx="1">
                    <c:v>jun 27</c:v>
                  </c:pt>
                  <c:pt idx="2">
                    <c:v>jul 27</c:v>
                  </c:pt>
                  <c:pt idx="3">
                    <c:v>ago 27</c:v>
                  </c:pt>
                  <c:pt idx="4">
                    <c:v>sep 27</c:v>
                  </c:pt>
                  <c:pt idx="5">
                    <c:v>oct 27</c:v>
                  </c:pt>
                  <c:pt idx="6">
                    <c:v>nov 27</c:v>
                  </c:pt>
                  <c:pt idx="7">
                    <c:v>dic 27</c:v>
                  </c:pt>
                  <c:pt idx="8">
                    <c:v>ene 28</c:v>
                  </c:pt>
                  <c:pt idx="9">
                    <c:v>feb 28</c:v>
                  </c:pt>
                  <c:pt idx="10">
                    <c:v>mar 28</c:v>
                  </c:pt>
                  <c:pt idx="11">
                    <c:v>abr 28</c:v>
                  </c:pt>
                  <c:pt idx="12">
                    <c:v>may 28</c:v>
                  </c:pt>
                  <c:pt idx="13">
                    <c:v>jun 28</c:v>
                  </c:pt>
                  <c:pt idx="14">
                    <c:v>jul 28</c:v>
                  </c:pt>
                  <c:pt idx="15">
                    <c:v>ago 28</c:v>
                  </c:pt>
                  <c:pt idx="16">
                    <c:v>sep 28</c:v>
                  </c:pt>
                  <c:pt idx="17">
                    <c:v>oct 28</c:v>
                  </c:pt>
                  <c:pt idx="18">
                    <c:v>nov 28</c:v>
                  </c:pt>
                  <c:pt idx="19">
                    <c:v>dic 28</c:v>
                  </c:pt>
                  <c:pt idx="20">
                    <c:v>ene 29</c:v>
                  </c:pt>
                  <c:pt idx="21">
                    <c:v>feb 29</c:v>
                  </c:pt>
                  <c:pt idx="22">
                    <c:v>mar 29</c:v>
                  </c:pt>
                  <c:pt idx="23">
                    <c:v>abr 29</c:v>
                  </c:pt>
                  <c:pt idx="24">
                    <c:v>may 29</c:v>
                  </c:pt>
                  <c:pt idx="25">
                    <c:v>jun 29</c:v>
                  </c:pt>
                  <c:pt idx="26">
                    <c:v>jul 29</c:v>
                  </c:pt>
                  <c:pt idx="27">
                    <c:v>ago 29</c:v>
                  </c:pt>
                  <c:pt idx="28">
                    <c:v>sep 29</c:v>
                  </c:pt>
                  <c:pt idx="29">
                    <c:v>oct 29</c:v>
                  </c:pt>
                </c:lvl>
              </c:multiLvlStrCache>
            </c:multiLvlStrRef>
          </c:cat>
          <c:val>
            <c:numRef>
              <c:f>Sheet1!$B$2:$B$31</c:f>
              <c:numCache>
                <c:formatCode>General</c:formatCode>
                <c:ptCount val="30"/>
                <c:pt idx="0">
                  <c:v>0</c:v>
                </c:pt>
                <c:pt idx="1">
                  <c:v>20571</c:v>
                </c:pt>
                <c:pt idx="2">
                  <c:v>21429</c:v>
                </c:pt>
                <c:pt idx="3">
                  <c:v>8762</c:v>
                </c:pt>
                <c:pt idx="4">
                  <c:v>11012</c:v>
                </c:pt>
                <c:pt idx="5">
                  <c:v>11379</c:v>
                </c:pt>
                <c:pt idx="6">
                  <c:v>11012</c:v>
                </c:pt>
                <c:pt idx="7">
                  <c:v>1835</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numCache>
            </c:numRef>
          </c:val>
        </c:ser>
        <c:ser>
          <c:idx val="1"/>
          <c:order val="1"/>
          <c:tx>
            <c:strRef>
              <c:f>Sheet1!$C$1</c:f>
              <c:strCache>
                <c:ptCount val="1"/>
                <c:pt idx="0">
                  <c:v>Fase 2</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Sheet1!$A$2:$A$31</c:f>
              <c:multiLvlStrCache>
                <c:ptCount val="30"/>
                <c:lvl>
                  <c:pt idx="0">
                    <c:v>may 27</c:v>
                  </c:pt>
                  <c:pt idx="1">
                    <c:v>jun 27</c:v>
                  </c:pt>
                  <c:pt idx="2">
                    <c:v>jul 27</c:v>
                  </c:pt>
                  <c:pt idx="3">
                    <c:v>ago 27</c:v>
                  </c:pt>
                  <c:pt idx="4">
                    <c:v>sep 27</c:v>
                  </c:pt>
                  <c:pt idx="5">
                    <c:v>oct 27</c:v>
                  </c:pt>
                  <c:pt idx="6">
                    <c:v>nov 27</c:v>
                  </c:pt>
                  <c:pt idx="7">
                    <c:v>dic 27</c:v>
                  </c:pt>
                  <c:pt idx="8">
                    <c:v>ene 28</c:v>
                  </c:pt>
                  <c:pt idx="9">
                    <c:v>feb 28</c:v>
                  </c:pt>
                  <c:pt idx="10">
                    <c:v>mar 28</c:v>
                  </c:pt>
                  <c:pt idx="11">
                    <c:v>abr 28</c:v>
                  </c:pt>
                  <c:pt idx="12">
                    <c:v>may 28</c:v>
                  </c:pt>
                  <c:pt idx="13">
                    <c:v>jun 28</c:v>
                  </c:pt>
                  <c:pt idx="14">
                    <c:v>jul 28</c:v>
                  </c:pt>
                  <c:pt idx="15">
                    <c:v>ago 28</c:v>
                  </c:pt>
                  <c:pt idx="16">
                    <c:v>sep 28</c:v>
                  </c:pt>
                  <c:pt idx="17">
                    <c:v>oct 28</c:v>
                  </c:pt>
                  <c:pt idx="18">
                    <c:v>nov 28</c:v>
                  </c:pt>
                  <c:pt idx="19">
                    <c:v>dic 28</c:v>
                  </c:pt>
                  <c:pt idx="20">
                    <c:v>ene 29</c:v>
                  </c:pt>
                  <c:pt idx="21">
                    <c:v>feb 29</c:v>
                  </c:pt>
                  <c:pt idx="22">
                    <c:v>mar 29</c:v>
                  </c:pt>
                  <c:pt idx="23">
                    <c:v>abr 29</c:v>
                  </c:pt>
                  <c:pt idx="24">
                    <c:v>may 29</c:v>
                  </c:pt>
                  <c:pt idx="25">
                    <c:v>jun 29</c:v>
                  </c:pt>
                  <c:pt idx="26">
                    <c:v>jul 29</c:v>
                  </c:pt>
                  <c:pt idx="27">
                    <c:v>ago 29</c:v>
                  </c:pt>
                  <c:pt idx="28">
                    <c:v>sep 29</c:v>
                  </c:pt>
                  <c:pt idx="29">
                    <c:v>oct 29</c:v>
                  </c:pt>
                </c:lvl>
              </c:multiLvlStrCache>
            </c:multiLvlStrRef>
          </c:cat>
          <c:val>
            <c:numRef>
              <c:f>Sheet1!$C$2:$C$31</c:f>
              <c:numCache>
                <c:formatCode>General</c:formatCode>
                <c:ptCount val="30"/>
                <c:pt idx="0">
                  <c:v>0</c:v>
                </c:pt>
                <c:pt idx="1">
                  <c:v>0</c:v>
                </c:pt>
                <c:pt idx="2">
                  <c:v>0</c:v>
                </c:pt>
                <c:pt idx="3">
                  <c:v>0</c:v>
                </c:pt>
                <c:pt idx="4">
                  <c:v>0</c:v>
                </c:pt>
                <c:pt idx="5">
                  <c:v>0</c:v>
                </c:pt>
                <c:pt idx="6">
                  <c:v>0</c:v>
                </c:pt>
                <c:pt idx="7">
                  <c:v>0</c:v>
                </c:pt>
                <c:pt idx="8">
                  <c:v>0</c:v>
                </c:pt>
                <c:pt idx="9">
                  <c:v>10753</c:v>
                </c:pt>
                <c:pt idx="10">
                  <c:v>18208</c:v>
                </c:pt>
                <c:pt idx="11">
                  <c:v>15523</c:v>
                </c:pt>
                <c:pt idx="12">
                  <c:v>6929</c:v>
                </c:pt>
                <c:pt idx="13">
                  <c:v>6706</c:v>
                </c:pt>
                <c:pt idx="14">
                  <c:v>6929</c:v>
                </c:pt>
                <c:pt idx="15">
                  <c:v>6870</c:v>
                </c:pt>
                <c:pt idx="16">
                  <c:v>9890</c:v>
                </c:pt>
                <c:pt idx="17">
                  <c:v>5934</c:v>
                </c:pt>
                <c:pt idx="18">
                  <c:v>5604</c:v>
                </c:pt>
                <c:pt idx="19">
                  <c:v>5791</c:v>
                </c:pt>
                <c:pt idx="20">
                  <c:v>5791</c:v>
                </c:pt>
                <c:pt idx="21">
                  <c:v>4670</c:v>
                </c:pt>
                <c:pt idx="22">
                  <c:v>0</c:v>
                </c:pt>
                <c:pt idx="23">
                  <c:v>0</c:v>
                </c:pt>
                <c:pt idx="24">
                  <c:v>0</c:v>
                </c:pt>
                <c:pt idx="25">
                  <c:v>0</c:v>
                </c:pt>
                <c:pt idx="26">
                  <c:v>0</c:v>
                </c:pt>
                <c:pt idx="27">
                  <c:v>0</c:v>
                </c:pt>
                <c:pt idx="28">
                  <c:v>0</c:v>
                </c:pt>
                <c:pt idx="29">
                  <c:v>0</c:v>
                </c:pt>
              </c:numCache>
            </c:numRef>
          </c:val>
        </c:ser>
        <c:ser>
          <c:idx val="2"/>
          <c:order val="2"/>
          <c:tx>
            <c:strRef>
              <c:f>Sheet1!$D$1</c:f>
              <c:strCache>
                <c:ptCount val="1"/>
                <c:pt idx="0">
                  <c:v>Fase 3</c:v>
                </c:pt>
              </c:strCache>
            </c:strRef>
          </c:tx>
          <c:spPr>
            <a:solidFill>
              <a:srgbClr val="1BA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Sheet1!$A$2:$A$31</c:f>
              <c:multiLvlStrCache>
                <c:ptCount val="30"/>
                <c:lvl>
                  <c:pt idx="0">
                    <c:v>may 27</c:v>
                  </c:pt>
                  <c:pt idx="1">
                    <c:v>jun 27</c:v>
                  </c:pt>
                  <c:pt idx="2">
                    <c:v>jul 27</c:v>
                  </c:pt>
                  <c:pt idx="3">
                    <c:v>ago 27</c:v>
                  </c:pt>
                  <c:pt idx="4">
                    <c:v>sep 27</c:v>
                  </c:pt>
                  <c:pt idx="5">
                    <c:v>oct 27</c:v>
                  </c:pt>
                  <c:pt idx="6">
                    <c:v>nov 27</c:v>
                  </c:pt>
                  <c:pt idx="7">
                    <c:v>dic 27</c:v>
                  </c:pt>
                  <c:pt idx="8">
                    <c:v>ene 28</c:v>
                  </c:pt>
                  <c:pt idx="9">
                    <c:v>feb 28</c:v>
                  </c:pt>
                  <c:pt idx="10">
                    <c:v>mar 28</c:v>
                  </c:pt>
                  <c:pt idx="11">
                    <c:v>abr 28</c:v>
                  </c:pt>
                  <c:pt idx="12">
                    <c:v>may 28</c:v>
                  </c:pt>
                  <c:pt idx="13">
                    <c:v>jun 28</c:v>
                  </c:pt>
                  <c:pt idx="14">
                    <c:v>jul 28</c:v>
                  </c:pt>
                  <c:pt idx="15">
                    <c:v>ago 28</c:v>
                  </c:pt>
                  <c:pt idx="16">
                    <c:v>sep 28</c:v>
                  </c:pt>
                  <c:pt idx="17">
                    <c:v>oct 28</c:v>
                  </c:pt>
                  <c:pt idx="18">
                    <c:v>nov 28</c:v>
                  </c:pt>
                  <c:pt idx="19">
                    <c:v>dic 28</c:v>
                  </c:pt>
                  <c:pt idx="20">
                    <c:v>ene 29</c:v>
                  </c:pt>
                  <c:pt idx="21">
                    <c:v>feb 29</c:v>
                  </c:pt>
                  <c:pt idx="22">
                    <c:v>mar 29</c:v>
                  </c:pt>
                  <c:pt idx="23">
                    <c:v>abr 29</c:v>
                  </c:pt>
                  <c:pt idx="24">
                    <c:v>may 29</c:v>
                  </c:pt>
                  <c:pt idx="25">
                    <c:v>jun 29</c:v>
                  </c:pt>
                  <c:pt idx="26">
                    <c:v>jul 29</c:v>
                  </c:pt>
                  <c:pt idx="27">
                    <c:v>ago 29</c:v>
                  </c:pt>
                  <c:pt idx="28">
                    <c:v>sep 29</c:v>
                  </c:pt>
                  <c:pt idx="29">
                    <c:v>oct 29</c:v>
                  </c:pt>
                </c:lvl>
              </c:multiLvlStrCache>
            </c:multiLvlStrRef>
          </c:cat>
          <c:val>
            <c:numRef>
              <c:f>Sheet1!$D$2:$D$31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6857</c:v>
                </c:pt>
                <c:pt idx="22">
                  <c:v>13100</c:v>
                </c:pt>
                <c:pt idx="23">
                  <c:v>13286</c:v>
                </c:pt>
                <c:pt idx="24">
                  <c:v>8586</c:v>
                </c:pt>
                <c:pt idx="25">
                  <c:v>4714</c:v>
                </c:pt>
                <c:pt idx="26">
                  <c:v>7743</c:v>
                </c:pt>
                <c:pt idx="27">
                  <c:v>4429</c:v>
                </c:pt>
                <c:pt idx="28">
                  <c:v>3286</c:v>
                </c:pt>
                <c:pt idx="29">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1000" b="0" i="0" u="none" strike="noStrike">
                <a:solidFill>
                  <a:srgbClr val="5660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B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0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En esta presentación vamos a estudiar a fondo el Path of Construction, o ruta de construcción, la pieza central de Advanced Work Packaging. Veremos qué es, cuándo se desarrolla, qué elementos lo componen, cómo se construye paso a paso, quién es responsable de cada parte, y cómo se traduce en fechas concretas para la ingeniería, la procura y la construcción. Todo con el proyecto tipo del kit de implementación, que dura treinta y seis meses y empieza en enero de dos mil veintisiete.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Unas indicaciones para aprovechar este material. Todo se explica con un caso real de principio a fin: las fechas, las áreas y los paquetes son los del proyecto tipo del kit, los mismos que aparecen como filas de ejemplo en la plantilla Path of Construction. Encontrarás varias líneas de tiempo, desde el ciclo de vida completo hasta el Gantt de los diez paquetes de construcción. Veremos los procesos y los responsables de cada paso. Y cada lámina trae en sus notas el texto de la narración, para usarla en un 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Empezamos por qué es el Path of Construction y cuándo se desarrolla dentro del ciclo de vida. Luego sus elementos e insumos, el proceso de desarrollo en tres pasos y el taller de planificación interactiva. Después los responsables y el gobierno. Pasamos a lo práctico: secuenciar áreas y paquetes, programar hacia atrás, la línea de tiempo completa del proyecto tipo y la plantilla Excel del kit. Terminamos con el paso a la ejecución, el control, los riesgos, las lecciones y las buenas prácticas.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uno: qué es el Path of Construction. Veremos su definición, las preguntas que responde, su principio rector y su relación con los paquetes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por la definición. El Path of Construction es la secuencia óptima de ejecución de las actividades de construcción, dentro de las áreas de trabajo de construcción y de los paquetes de trabajo de construcción, para lograr el desempeño deseado del proyecto. Y agrega una consecuencia clave: el cronograma de entregables de ingeniería debe estar alineado con esa ruta. Es decir, primero se decide cómo se construye, y después se ordenan la ingeniería y las compras para que lleguen a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Path of Construction responde una pregunta sencilla: cómo se construirá la planta. De ella se desprenden otras. Por dónde empezamos: de norte a sur, o desde la sala eléctrica hacia los bloques. Cuáles son las prioridades, es decir, qué sistemas deben entregarse primero. En qué orden van las áreas y sus paquetes. Qué depende de qué: por ejemplo, las redes enterradas antes que las cimentaciones. Qué recursos se comparten, como grúas y accesos. Y cuándo se necesita cada cosa: planos, paquetes y materiales.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figura resume la idea central. El Path of Construction está en el centro, y a su alrededor están construcción, ingeniería, procura y comisionamiento. El comisionamiento y la puesta en marcha fijan la prioridad: qué sistemas deben estar listos primero. La construcción fija la secuencia para lograrlo. Y la ingeniería y la procura se ordenan para respaldar esa secuencia. Ninguna de estas áreas planifica por su cuenta: todas se alinean con la misma ruta.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Path of Construction introduce un cambio de lógica. En la planificación tradicional, la ingeniería avanza por disciplina según su conveniencia, la procura compra según el avance de ingeniería, y la construcción recibe planos y materiales en un orden que no le sirve; se termina trabajando donde se puede. Con el Path of Construction, la construcción define la secuencia en talleres, la ingeniería entrega cada paquete en esa secuencia, la procura fija las fechas de materiales en obra desde la ruta, y cada paquete de construcción arranca completo. La secuencia de construcción 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ordena todos los niveles del cronograma. El nivel uno, con los hitos y las fases, es un insumo del primer paso. El nivel dos, con las áreas y los grandes frentes, es el resultado del segundo paso. El nivel tres, con una actividad por cada paquete de construcción, de ingeniería y de procura, es el resultado del paso final: la ruta es su base. El nivel cuatro sigue la secuencia de los paquetes. Y el nivel cinco, el de los paquetes de trabajo de cuadrilla, los ordena en el lookahead según la ruta. Controles del proyecto mantiene los niveles dos y tres, y el Líder de WFP el nivel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confusión frecuente es pensar que la ruta y el cronograma son lo mismo. La ruta es la secuencia y su lógica: qué va primero y por qué. Se construye en talleres, incluye justificaciones, supuestos, interfaces y recursos, y se expresa en áreas, paquetes y sistemas. El cronograma de nivel tres es la programación en el tiempo, que controles arma a partir de la ruta, con recursos, calendario y ruta crítica, y que se controla con avance y valor ganado.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de construcción se relaciona con todos los paquetes. Fija la secuencia en que se liberan y ejecutan las áreas de trabajo de construcción. Determina el orden de los paquetes de construcción y es la base del cronograma de nivel tres. Los paquetes de ingeniería y de procura se estructuran y liberan en la misma secuencia que los paquetes que respaldan. En la ejecución, guía la división en paquetes de trabajo de instalación y su orden en el lookahead. Y al final, los paquetes terminados se agrupan por sistemas para la entrega. Así, el Path of Construction sostiene tanto la visión macro como la micro.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vale la pena. Primero, productividad: los frentes arrancan con información y materiales completos. Segundo, previsibilidad: cada área sabe cuándo empieza y qué necesita. Tercero, puesta en marcha temprana, porque los sistemas prioritarios se completan primero. Cuarto, seguridad, con menos trabajos superpuestos y mejor uso de los recursos compartidos. Quinto, alineamiento: todos los actores comparten un mismo plan. Y sexto, menos retrabajo, menos compras urgentes y menos materiales en el lugar equivocado.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avanzar, el vocabulario. PoC es la ruta de construcción; algunas fuentes dicen OPC, ruta óptima. CWA es el área de trabajo de construcción. CWP, el paquete de construcción de una disciplina. EWP y PWP, los paquetes de ingeniería y de procura que alimentan a cada CWP. IWP, el paquete de trabajo de una cuadrilla en una semana. Path of Engineering, la secuencia de emisión de ingeniería que se deriva de la ruta. IPP, el taller de planificación interactiva. RAS, la fecha en que el material debe estar en obra. SWP y TOP, los paquetes de sistema y de entrega. Y FEL uno, dos y tres, las etapas de planificación temprana.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dos: cuándo se desarrolla el Path of Construction a lo largo del ciclo de vida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cuándo ocurre cada cosa. En FEL uno, visualizar, aún no hay ruta: se trabaja con el plano de ubicación general, un cronograma de nivel uno y un presupuesto preliminar. En FEL dos, seleccionar, se crea el Path of Construction: es la primera secuencia de prioridades contra la que se evalúan todos los demás planes, y se definen las áreas. En FEL tres, definir, se actualiza al inicio y se finaliza al término: la ruta congelada es un entregable de la compuerta tres. En la ejecución, todos los paquetes siguen esa secuencia, y la ruta se revisa con control de cambios. Y en el comisionamiento se entregan los sistemas en ese 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línea de tiempo completa del Path of Construction con todos sus elementos. Arriba, las etapas del ciclo de vida. En FEL dos se definen las áreas y se desarrollan los pasos uno y dos de la ruta, con los primeros talleres. En FEL tres se hace el paso tres, se congela la ruta y se cumplen los hitos H uno, H dos y H tres. A partir de ahí, la ruta se traduce en fechas: la ingeniería emite cada EWP trece semanas antes del inicio de su paquete, el paquete de construcción se emite diez semanas antes, y los materiales llegan diez días antes. En construcción, los paquetes se dividen en paquetes de trabajo que se liberan y entran al lookahead. Al final, los sistemas se entregan con sus paquetes de sistema y de entrega, y las lecciones alimentan la ruta de la fase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resume qué se hace con la ruta en cada momento. En FEL dos se hacen los pasos uno y dos y se definen las áreas; lo lidera el Gerente de Construcción y lo facilita el AWP Champion. Al inicio de FEL tres se actualiza. Al final de FEL tres se finaliza y se congela, lo que da el hito H dos, y se publica el plan de liberación, hito H tres. En ingeniería se emiten los EWP en la secuencia; en procura se fijan las fechas RAS; en construcción se emiten los paquetes y se divide el trabajo. Los cambios de secuencia pasan por aprobación. Y al cierre de la fase, las lecciones de la ruta alimentan la fase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no llega sola a la compuerta tres. Según el CII, la acompañan las prioridades de puesta en marcha, la estructura de desglose y los paquetes de trabajo, el organigrama del proyecto con los roles AWP, el cronograma acordado en la sesión de planificación interactiva, el plan de ejecución de la construcción y un presupuesto con precisión de menos quince a más treinta por ciento.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CII describe cuatro etapas de implementación de AWP, y la ruta tiene un papel en cada una. En la etapa uno, planificación y diseño preliminar, se crea y se congela. En la etapa dos, ingeniería de detalle y compras, ordena la emisión de los paquetes de ingeniería y las fechas de materiales. En la etapa tres, ejecución, ordena la división en paquetes de trabajo y el lookahead. Y en la etapa cuatro, energización y comisionamiento, define el orden de entrega de los sistemas.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proyecto tipo del kit, de treinta y seis meses, hay tres fases superpuestas, y cada una tiene su propio Path of Construction. La Fase uno, infraestructura y obras tempranas, desarrolla su ruta entre los meses tres y cuatro. La Fase dos, instalación principal, entre los meses seis y nueve, organizada por sistemas. Y la Fase tres, edificaciones complementarias y ampliación, entre los meses dieciséis y veintiuno, integrada con el comisionamiento. Cada ventana termina con los hitos H uno a H tres de su fase, antes de que empiece su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hitos del plan se relacionan directamente con la ruta. H uno, áreas definidas: todo el alcance de la fase asignado a áreas, sin superposiciones. H dos, Path of Construction aprobado: la secuencia acordada en un taller con construcción, ingeniería, procura y comisionamiento, y congelada; lo aprueban el cliente y el Gerente de Construcción. H tres, paquetes definidos, con fechas requeridas calculadas desde la ruta. H cinco, el primer EWP emitido en secuencia. Y H seis, el primer paquete de construcción emitido, completo y con materiales asegurados.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idea importante: la ruta de construcción es un documento vivo. Se congela al final de FEL tres, porque ingeniería y procura necesitan una secuencia estable para cumplir. Pero no se abandona: se mantiene y se revisa cuando cambian las condiciones del proyecto, siempre con control de cambios, para que la secuencia siga siendo óptima y realista.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tres: los elementos e insumos del Path of Construction, es decir, lo que hay que tener sobre la mesa para construir la ruta.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Path of Construction completo contiene seis elementos. Las áreas y su secuencia, con límites, código y predecesora. Los paquetes de construcción secuenciados, cada uno con inicio, duración, predecesor, sistema y justificación. Los sistemas y sus prioridades. Las fechas requeridas, calculadas hacia atrás. Los recursos críticos, como grúas, accesos y zonas de acopio. Y los supuestos, riesgos e interfaces, registrados en el acta del 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insumos cambian en cada paso del desarrollo. En el paso uno, sin restricciones, bastan el plano de ubicación general, las áreas, un cronograma de nivel uno y el presupuesto de FEL uno; el resultado es un plan puramente constructivo. En el paso dos, con restricciones, entran las estrategias preliminares de compras, de recursos, de módulos y de contratación; el resultado es la ruta ajustada con cronograma y presupuesto de nivel dos. En el paso tres entran las versiones finales de esas estrategias y los datos técnicos de FEL tres; el resultado es la ruta final, con presupuesto y cronograma de nivel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elemento es físico. El plano de ubicación general muestra la huella de la instalación, los accesos, las vías y las zonas libres. Sobre ese plano se dividen las áreas de trabajo de construcción: con límites físicos o lógicos, sin superposición, y cada una perteneciente a una sola fase. Deben tener un tamaño manejable, que permita dividirlas en paquetes de una disciplina y de menos de cuarenta mil horas hombre. Y cada una lleva su código, por ejemplo CWA dos punto cero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de definición de áreas incluye diez criterios de calidad. Los primeros cinco: límites claros, dibujados en un plano y sin superposición; pertenencia a una sola fase; que permita construir en una secuencia lógica que termina en sistemas o áreas entregables; un tamaño que permita dividirla en paquetes de una disciplina y de menos de cuarenta mil horas; y que considere accesos, zonas de acopio, grúas y rutas de izaje.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los otros cinco: que identifique las interfaces con áreas vecinas y con otras fases; que identifique los sistemas de comisionamiento que la atraviesan; que evalúe si parte del alcance se puede prefabricar o modularizar; que tenga un código único cargado en el modelo 3D y el cronograma; y que haya sido revisada por construcción, ingeniería, procura y comisionamiento, y aprobada por el AWP Champion.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un ejemplo de área: el bloque A de la instalación principal, en la Fase dos, con trescientas ochenta mil horas hombre y secuencia dos. Sus límites son los ejes A uno a A doce. Incluye todas las disciplinas; en la ruta de ejemplo aparecen sus cimentaciones, su estructura metálica y sus tuberías. Su predecesora es la sala eléctrica, porque hay que energizar antes de probar el bloque. Sus sucesoras son el bloque B y la galería de servicios. Comparte grúas, acceso y acopio con el bloque B, y la atraviesan los sistemas de estructura, agua de servicio y distribución eléctrica.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final de la ruta define su comienzo. Comisionamiento y operaciones dicen qué sistemas deben estar listos primero, y la ruta se diseña para lograrlo. En el proyecto tipo, por ejemplo, la sala eléctrica va primero en la Fase dos, para energizar temprano y poder probar los bloques. La lista de sistemas es un insumo del taller, y cada paquete indica a qué sistema pertenece. La prueba de que la ruta termina en sistemas completos es el hito H nueve, el primer sistema o área entregado.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Otros insumos maduran junto con la ruta. El cronograma pasa del nivel uno al dos y al tres. El presupuesto también, hasta la precisión de FEL tres. La estrategia de compras aporta los plazos de fabricación y entrega. La estrategia de módulos dice qué se prefabrica. La estrategia de contratación dice cómo se reparten los paquetes entre contratistas; recuerda que un paquete puede ser un límite contractual. Y los requerimientos de recursos definen cuántos frentes pueden abrirse a 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paso dos se revisan las restricciones, que pueden ser duras o blandas. Las duras no se negocian: no se puede montar estructura sin cimentaciones curadas, los equipos de largo plazo tienen su tiempo de fabricación, hay permisos, ventanas climáticas o paradas obligatorias, y hay interfaces con otras fases. Las blandas son preferencias o supuestos que pueden cambiar: una estrategia de contratación, la cantidad de grúas o la decisión de comprar antes. Se evalúan en el taller por su costo y su beneficio, y se cambian si mejoran la secuencia.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recursos críticos compartidos condicionan la secuencia tanto como la lógica constructiva. Las grúas definen qué áreas pueden trabajar a la vez. Los accesos se construyen al inicio para habilitar el resto: en el proyecto tipo, la vía de acceso principal es parte de la Fase uno. Las zonas de acopio deben estar cerca de los frentes. Las rutas de izaje deben quedar libres para los equipos grandes. Y las instalaciones temporales dan soporte a la obra. Cuando las fases se superponen, estos recursos generan conflictos, que se mitigan con un lookahead conjunto.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insumos más mejoran cada nueva ruta. Las lecciones aprendidas de la fase anterior: el acta del taller exige revisarlas, y el registro de lecciones tiene una categoría propia para el Path of Construction. Y el modelo 3D con atributos: si las áreas y los paquetes son atributos del modelo, se puede visualizar la secuencia y revisar interferencias. Para eso hace falta una codificación común en modelo, cronograma, compras y documentos, algo que el proyecto tipo aprendió en su lección LA cero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cuatro: el proceso de desarrollo. El CII propone un enfoque iterativo en tres pasos, y cada paso tiene sus insumos, participantes y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desarrollo es iterativo. En el paso uno, en FEL dos, solo participa el personal de construcción, sin limitaciones: una reunión para revisar el alcance y evaluar la secuencia de instalación más eficiente; el resultado es un borrador puramente constructivo. En el paso dos se suman ingeniería y compras en un taller de planificación interactiva, donde cada interesado presenta sus plazos y restricciones; el resultado es la ruta ajustada, de nivel dos. En el paso tres, al final de FEL tres, participan todos los interesados clave para afinar el plan con las restricciones actualizadas; el resultado es la ruta final congelada, de nivel tres, entregable de la compuerta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uno, la ruta sin restricciones. El objetivo es responder cómo lo construiríamos si nada nos limitara. Ocurre en FEL dos, apenas se tienen el plano de ubicación general y las áreas preliminares. Participa el equipo de gestión de la construcción del propietario y del contratista; en el kit, el Gerente de Construcción lidera y el AWP Champion facilita, con aportes de superintendentes y del Líder de WFP. Los insumos son el plano, las áreas, un cronograma de nivel uno y el presupuesto de FEL uno. El resultado es un borrador con la secuencia de áreas y una primera lista de paquetes.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dos, la ruta con restricciones. Aquí la lógica constructiva se enfrenta a la realidad del proyecto: plazos de ingeniería, de fabricación, de contratación y de recursos. Ocurre al final de FEL dos y al inicio de FEL tres. Se suman ingeniería, procura, comisionamiento, controles y HSE. Los insumos son las estrategias preliminares de compras, módulos y contratación, y los requerimientos de recursos. Se trabaja en un taller de planificación interactiva donde cada interesado presenta sus plazos y restricciones. El resultado es la ruta ajustada, con cronograma y presupuesto de nivel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tres, la ruta final. Se desarrolla al término de FEL tres con los planes finales. Fijarla en ese momento da al contratista de ingeniería la mejor oportunidad de cumplir. Participa el equipo de gestión de la construcción, y la aprueban el cliente y el Gerente de Construcción, lo que cumple el hito H dos. Se revisan todas las restricciones actualizadas, se calculan las fechas requeridas de ingeniería, de emisión de paquetes y de materiales, y se firma el acta. El resultado es la ruta congelada, el presupuesto y cronograma de nivel tres, y el plan de liberación de paquetes, que es el hito H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pone los tres pasos lado a lado. El paso uno ocurre en FEL dos, solo con construcción, en una reunión, sin restricciones, y produce un borrador. El paso dos va de FEL dos al inicio de FEL tres, con construcción, ingeniería y compras, en un taller, revisando restricciones blandas y duras, y produce la ruta ajustada de nivel dos. El paso tres cierra FEL tres, con todos los interesados, y produce la ruta congelada de nivel tres y los hitos H dos y H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de carriles muestra el proceso completo y quién hace cada actividad. El AWP Champion prepara los insumos, convoca y facilita los talleres y consolida el acta. El Gerente de Construcción propone la secuencia sin restricciones, la ajusta y la presenta para aprobación. Ingeniería y procura presentan sus plazos y restricciones, y luego derivan de la ruta el Path of Engineering y las fechas RAS. Comisionamiento aporta las prioridades de sistemas desde el inicio. Controles calcula las fechas requeridas y arma el cronograma de nivel tres. Y el cliente aprueba y congela la ruta, cumpliendo el hito H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SIPOC resume el proceso. El cliente y operaciones aportan las prioridades y la lista de sistemas para preparar los insumos. Construcción aporta el plano y las áreas para la secuencia sin restricciones, y entrega un borrador. Ingeniería, procura y comisionamiento aportan sus plazos en el taller, que produce la ruta ajustada. Controles calcula las fechas hacia atrás y arma el nivel tres para ingeniería, procura y el Líder de WFP. Y el Champion, construcción y el cliente aprueban y congelan la ruta, que sirve a todo el proyecto y a los contratos.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cada fase, el kit propone un proceso detallado. Uno: preparar los insumos, a cargo del AWP Champion. Dos: proponer la secuencia sin restricciones, a cargo del Gerente de Construcción. Tres: el taller de planificación interactiva, que facilita el Champion y lidera construcción. Cuatro: calcular las fechas hacia atrás, a cargo de controles con ingeniería y procura. Y cinco: aprobar y congelar la ruta con el acta firmada, a cargo del cliente y del Gerente de Construcción. Después vienen dos actividades permanentes: comunicar la ruta a todos, y mantenerla con control de cambios.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ruta congelada puede cambiar, pero con control. Los disparadores típicos son un atraso de ingeniería o de procura que no se puede recuperar, un cambio de alcance, una nueva prioridad de puesta en marcha, una restricción dura que aparece, o las lecciones de la ejecución. El proceso es: quien detecta la necesidad la plantea; controles evalúa el impacto en fechas de EWP, CWP y RAS; se revisa en un taller corto con los afectados; el Gerente de Construcción y el cliente aprueban; y se publica una nueva revisión de la ruta y del plan de liberación. Todo cambio queda registrado.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cinco: el taller de planificación interactiva, o IPP, el espacio donde se construye y se acuerda la ruta.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taller IPP es una sesión de planificación interactiva: todos en la misma mesa, propietario, contratista, ingeniería, compras, construcción, comisionamiento y operaciones. Es interactivo porque la secuencia se construye sobre el plano y sobre una línea de tiempo visible; no se presenta ya hecha. Cada interesado presenta sus plazos. La participación de supervisores y trabajadores de oficio aporta criterios de constructabilidad. Normalmente se hacen varias sesiones: el acta del kit prevé tres, en FEL dos, en FEL tres y en la ejecución. Y el taller termina en acuerdos firmados.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participantes del taller y su aporte. El AWP Champion facilita: prepara los insumos, conduce la agenda y consolida el acta. El Gerente de Construcción lidera: propone la secuencia y decide ante conflictos. Ingeniería aporta los plazos de diseño por paquete. Procura aporta los plazos de fabricación y entrega. Comisionamiento aporta los sistemas y su prioridad. El cliente aporta las prioridades de operación y aprueba. Controles arma el cronograma y calcula las fechas. Y HSE y el Líder de WFP aportan los riesgos de trabajos simultáneos y la factibilidad de planificar los frentes.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agenda del taller tiene cinco objetivos, tal como figuran en el acta del kit. Primero, revisar las áreas y sus límites. Segundo, acordar la secuencia de áreas y paquetes, empezando por los sistemas a entregar primero. Tercero, identificar predecesores, interfaces entre fases y recursos críticos. Cuarto, calcular hacia atrás las fechas requeridas de ingeniería, emisión de paquetes y materiales. Y quinto, acordar acciones con responsable y fecha, y registrar las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buen taller se prepara. El AWP Champion deja listo el plano de áreas en gran formato, el cronograma vigente con los hitos de contrato, la lista de sistemas con su prioridad, las lecciones de la fase anterior filtradas por las categorías de ruta de construcción e interfaces entre fases, y la plantilla Excel con sus parámetros cargados. Y convoca a participantes con poder de decisión, enviando la agenda con anticipación.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dinámica sugerida para una jornada de taller. Media hora de apertura, con objetivos, reglas, prioridades de puesta en marcha y lecciones. Hora y media para que construcción coloque las áreas en orden sobre el plano y la línea de tiempo. Hora y media para que ingeniería, procura y comisionamiento marquen sus plazos y los conflictos. Una hora para ajustar, registrar supuestos y calcular fechas en la plantilla. Y media hora de cierre, con decisiones, acciones y el estado de la ruta en el 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que cada área se discuta a fondo, el facilitador puede usar seis preguntas guía. Qué sistema completa y si es prioritario. Qué necesita antes, y si esa restricción es dura o blanda. Si la ingeniería puede llegar completa con trece semanas de anticipación. Si los materiales pueden llegar a tiempo. Qué recursos comparte y con qué otra área o fase. Y qué riesgos trae, y quién es responsable de mitigarlos.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acta del taller es una plantilla Word del kit, con código PT AWP FOR IPP, y tiene nueve secciones. Datos del taller: fase, número de taller, fecha, facilitador y etapa. Participantes, con su rol y asistencia. Objetivos y agenda. Insumos revisados: plano de áreas, cronograma, lista de sistemas y lecciones. Secuencia acordada, con cada paquete, su inicio, su predecesor y su justificación. Supuestos, riesgos e interfaces. Decisiones. Acciones con responsable y fecha. Y la aprobación, donde se marca si la ruta es un borrador, está acordada o está congelada, con las firmas del Gerente de Construcción, del AWP Champion y del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la sección de supuestos, riesgos e interfaces del acta con casos del proyecto tipo. Supuestos: la estructura del bloque A se fabrica en doce semanas, y las cimentaciones alcanzan su resistencia antes del montaje. Riesgos: que ingeniería no entregue en secuencia, o que la documentación del proveedor de tableros llegue tarde. Interfaces: los empalmes a la galería solo durante la parada programada, y la grúa compartida entre el bloque B y la ampliación. Cada línea tiene fase afectada y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saber si el taller funciona. Buenas señales: ingeniería y procura discuten fechas concretas por paquete; comisionamiento cambia el orden de un área por una prioridad de sistema; aparecen interfaces que nadie había visto; cada acuerdo termina con responsable y fecha; y el acta se firma esa misma semana. Malas señales: construcción presenta un cronograma cerrado y nadie opina; faltan actores clave; se discute por disciplina y no por área; no se calculan fechas; y la ruta queda como un borrador eterno.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seis: responsables y gobierno de la ruta de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gobierno de la ruta está claro en las fuentes. La responsabilidad recae en el EPC o EPCM, bajo el gobierno del propietario. El propietario fija las prioridades de operación, aprueba la ruta y los cambios de secuencia, y exige AWP en los contratos. El contratista define y mantiene la ruta, estructura áreas y paquetes, y coordina ingeniería, compras y construcción. Según el procedimiento de AWP, el gerente sénior del proyecto convoca el proceso en la planificación temprana, antes de la ingeniería de detalle. Y un principio: la lógica de una construcción optimizada debe ser la influencia dominante en la ruta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matriz RACI del kit para las actividades de la ruta. Definir las áreas: responsable el Gerente de Construcción, y el AWP Champion rinde cuentas. Desarrollar la ruta en talleres: el Champion es responsable de hacerlo y el Gerente de Construcción rinde cuentas, con aportes de cliente, ingeniería, procura, comisionamiento, controles, HSE y el Líder de WFP. El plan de liberación lo elaboran construcción, ingeniería, procura y controles. Ingeniería rinde cuentas por planificar y emitir sus paquetes según la ruta. Procura, por alinear las fechas RAS. Construcción, por emitir los paquetes de construcción. Y el cliente aprueba la ruta en el hito H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responsabilidades por rol, primera parte. El Gerente de Construcción lidera la ruta, decide la secuencia y aprueba los paquetes. El AWP Champion facilita los talleres, consolida el acta, publica el plan de liberación y audita que ingeniería y procura sigan la ruta. El cliente patrocina, fija prioridades y aprueba. El Gerente de Proyecto integra la ruta en el plan de ejecución y resuelve los conflictos escalados. Y el líder de comisionamiento define los sistemas y su secuencia desde la planificación temprana.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parte. El Líder de Ingeniería planifica y emite los paquetes de ingeniería en la secuencia de la ruta, y lidera las revisiones de constructabilidad. El Líder de Procura estructura los paquetes de procura y fija las fechas RAS desde la ruta. Controles arma el cronograma de nivel tres, calcula las fechas requeridas y mide los indicadores. El Líder de WFP verifica que la secuencia permita un backlog estable y divide los paquetes en trabajos de cuadrilla. El coordinador de gestión de información asegura la codificación común. Y HSE y calidad evalúan los riesgos de trabajos simultáneos y los requisitos por área.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Finalmente, quién aprueba. El acta del taller la firman tres personas: el Gerente de Construcción, que lidera la ruta; el AWP Champion, que la facilita; y el gerente del proyecto del cliente, que la aprueba. El hito H dos, Path of Construction aprobado, lo aprueban el cliente y el Gerente de Construcción. El hito H uno, áreas definidas, y el hito H tres, paquetes definidos, los aprueba el AWP Champion.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muestra quién tiene la iniciativa en cada momento. En la definición de áreas lidera construcción y aprueba el Champion. En el paso uno lidera construcción, con superintendentes y el Líder de WFP. En el taller del paso dos, construcción rinde cuentas, el Champion lo hace posible, y aportan todos los demás. En el paso tres, controles calcula las fechas, y aprueban el cliente y construcción. El plan de liberación lo elaboran construcción, ingeniería, procura y controles, y lo aprueba el Champion. Y en la ejecución, los cambios los evalúa controles y los aprueban el cliente y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vive en cinco instancias de gobierno. El taller de planificación interactiva, al inicio de cada fase y en cambios mayores, la desarrolla y actualiza. El Comité AWP, mensual, revisa los indicadores y los hitos, y aprueba los cambios de secuencia. La reunión semanal de lookahead selecciona los trabajos en el orden de la ruta. La reunión semanal de restricciones levanta lo que bloquea la secuencia. Y la revisión de lecciones, trimestral y al cierre de fase, lleva lo aprendido a la ruta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siete: secuenciar áreas y paquetes, con el Path of Construction completo del proyecto tipo del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tipo tiene diez áreas de trabajo de construcción. En la Fase uno: plataformas y movimiento de tierras, redes enterradas, y vías de acceso e instalaciones temporales. En la Fase dos: el bloque A y el bloque B de la instalación principal, la sala eléctrica y de servicios, y la galería de servicios e interconexiones. En la Fase tres: edificaciones complementarias, la ampliación de la instalación principal, y la urbanización y obras exteriores. Cada área tiene sus horas hombre estimadas, su número de secuencia dentro de la fase y su área predecesora.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red muestra las precedencias entre áreas. Todo empieza con las plataformas y las vías de acceso de la Fase uno. Las plataformas habilitan las redes enterradas. Las redes enterradas habilitan la sala eléctrica de la Fase dos y las edificaciones complementarias de la Fase tres. La sala eléctrica habilita el bloque A, que habilita el bloque B y la galería de servicios. La galería habilita la ampliación de la Fase tres, y las edificaciones complementarias habilitan la urbanización. Fíjate que hay flechas que cruzan de una fase a otra: son las interfaces entre fases.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criterios que ordenan la secuencia del proyecto tipo. Sistemas primero: la sala eléctrica va primero en la Fase dos para energizar temprano. De abajo hacia arriba: las redes enterradas antes de las cimentaciones. Liberar el terreno: el movimiento de tierras libera la huella de la instalación principal. Por niveles: las tuberías se montan sobre estructura ya terminada. Accesos al inicio: la vía principal y el patio de acopio van primero. Y entregas tempranas: un edificio independiente, como las oficinas, puede adelantarse.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diez paquetes de construcción del Path of Construction del proyecto tipo, con su fase, disciplina, horas hombre, inicio plan, duración en semanas y predecesor. Por ejemplo, el movimiento de tierras de la plataforma norte empieza el siete de junio de dos mil veintisiete y dura siete semanas. La estructura metálica del bloque A empieza el veinticinco de abril de dos mil veintiocho, dura diecisiete semanas y tiene como predecesor las cimentaciones del bloque A. Todos los paquetes son de una sola disciplina y tienen menos de cuarenta mil horas hombre.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justificación es una de las más valiosas de la plantilla, porque registra por qué cada paquete está en su lugar. El movimiento de tierras libera la plataforma para la Fase dos. Las redes van antes de las cimentaciones para evitar interferencias. Los bancos de ductos alimentan la subestación de obra. La sala eléctrica permite energizar temprano. La estructura metálica requiere cimentaciones curadas y estructura fabricada. Las tuberías se montan sobre estructura terminada. Las oficinas se adelantan por ser independientes. Y los empalmes a la galería se hacen durante una parada programada de la Fase dos: una interfaz entre fases.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Dentro de un área, la secuencia va de abajo hacia arriba, disciplina por disciplina. En el bloque A, primero las cimentaciones, del siete de febrero al veinticuatro de abril de dos mil veintiocho, después del movimiento de tierras de la Fase uno. Luego la estructura metálica, del veinticinco de abril al veintidós de agosto, que requiere cimentaciones curadas y la estructura en obra el quince de abril. Luego las tuberías de servicios, del veintiocho de agosto a febrero de dos mil veintinueve, sobre estructura terminada por niveles. Y al final, los sistemas se entregan con sus paquetes de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la ficha de un paquete clave: la sala eléctrica. Es de la disciplina eléctrica, con treinta mil horas hombre, y pertenece al área que va primera en la Fase dos. Empieza el seis de marzo de dos mil veintiocho y dura treinta semanas. Su EWP se requiere el seis de diciembre de dos mil veintisiete, el paquete se emite el veintisiete de diciembre y los tableros deben estar en obra el veinticinco de febrero. Su predecesor son los bancos de ductos de la Fase uno: una interfaz entre fases. Está aquí para energizar temprano. Y su riesgo es la documentación del proveedor de tableros.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reglas para los paquetes de la ruta. Cada paquete pertenece a un área y a una sola disciplina. Tiene menos de cuarenta mil horas hombre y es una sola actividad de nivel tres. Se relaciona uno a uno con su paquete de ingeniería y su paquete de procura, con el mismo sufijo de código. Puede ser un límite contractual. Su código repite los dígitos de su área. Y cada paquete indica el sistema al que aporta.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ocho: programar hacia atrás. Es el paso que convierte la ruta de construcción en fechas concretas para ingeniería, procura y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es de pregunta. Programando hacia adelante, se pregunta cuándo termina ingeniería, y construcción espera lo que llegue. Programando hacia atrás, como hace AWP, se pregunta cuándo necesita construcción cada cosa. La ruta fija la fecha de inicio de cada paquete de construcción; desde ahí se restan las anticipaciones necesarias, y resultan las fechas requeridas de ingeniería, de emisión del paquete y de materiales en obra. Esas fechas entran al contrato y a los planes de ingeniería y procura, y se miden con los indicadores K cero uno y K cero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usa tres parámetros de anticipación, que se ajustan por proyecto. El EWP debe emitirse para construcción trece semanas antes del inicio del paquete, es decir, unos tres meses, para permitir la fabricación. El paquete de construcción se emite diez semanas antes, para que los planificadores armen los paquetes de trabajo y levanten restricciones. Y los materiales deben estar en obra diez días antes del inicio, que es la fecha RAS. Un cuarto parámetro, el mes M uno, fija el calendario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fórmulas son simples. El fin plan es el inicio más la duración en semanas. La fecha requerida del EWP es el inicio menos trece semanas. La emisión del paquete de construcción, el inicio menos diez semanas. Y la fecha RAS, el inicio menos diez días. Además, la columna control de secuencia compara el fin del predecesor con el inicio del paquete: si el predecesor termina después, marca conflicto en rojo.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un ejemplo completo: la estructura metálica del bloque A, de nueve mil seiscientas horas hombre, cuyo montaje empieza el veinticinco de abril de dos mil veintiocho y dura diecisiete semanas. Contando hacia atrás: el EWP debe emitirse para construcción a más tardar el veinticinco de enero, trece semanas antes, para que la estructura se fabrique. El paquete de construcción se emite el quince de febrero, diez semanas antes, para armar los paquetes de trabajo y levantar restricciones. La estructura fabricada debe estar en obra el quince de abril, diez días antes. Y el montaje termina el veintidós de agosto. Su predecesor, las cimentaciones del bloque A, terminan el veinticuatro de abril: la secuencia es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segundo ejemplo, en la Fase uno: el movimiento de tierras de la plataforma norte, de cuarenta y dos mil horas hombre, que empieza el siete de junio de dos mil veintisiete y dura siete semanas. Su EWP se requiere el ocho de marzo, el paquete se emite el veintinueve de marzo, y el material de préstamo y el geotextil deben estar en obra el veintiocho de mayo. Termina el veintiséis de julio. Fíjate que el EWP se requiere en el mes tres, justo cuando se desarrolla la ruta de la Fase uno: en obras tempranas, la ruta y la ingeniería van casi en paralelo, y por eso los plazos son más cortos.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muestra las fechas requeridas de los diez paquetes del proyecto tipo, calculadas por la plantilla. Por ejemplo, para las cimentaciones del bloque A, que empiezan el siete de febrero de dos mil veintiocho, el EWP se requiere el ocho de noviembre de dos mil veintisiete, el paquete se emite el veintinueve de noviembre, y los materiales deben estar en obra el veintiocho de enero. La última columna es el control de secuencia: en los diez paquetes, el predecesor termina antes del inicio, así que todos están en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pasa si una fecha requerida no se cumple. Si el EWP llega tarde, no hay planos al emitir el paquete, la fabricación se retrasa y se pierde la fecha RAS. Si el paquete de construcción se emite tarde, no hay tiempo para armar los paquetes de trabajo y se liberan incompletos. Si la RAS no se cumple, se liberan trabajos sin materiales. El efecto final es un backlog insuficiente. La respuesta es evaluar si se recupera la fecha o si se cambia la secuencia con control de cambios, pero nunca ignorar la desviación.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fechas requeridas ordenan a ingeniería y procura. El Path of Engineering es la lista de paquetes de ingeniería ordenada por fecha requerida: primero los que alimentan los paquetes tempranos y las compras de largo plazo. El plan de procura asigna a cada paquete de procura su fecha RAS. La documentación del proveedor debe tener fecha propia, como enseña la lección LA cero cuatro. Y las fechas de ingeniería derivadas de la ruta deben estar en el contrato, que es la mitigación del riesgo R cero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el paquete de construcción se emite, empieza el trabajo del planificador. Los plazos de liberación de la fase ordenan ese trabajo: en la Fase dos, doce semanas antes de ejecutar un paquete de trabajo se inicia, diez semanas antes se identifican sus restricciones, ocho se asignan, cuatro se levantan y dos se libera. En las Fases uno y tres los plazos son más cortos. La emisión del paquete de construcción diez semanas antes coincide con el inicio de esa ventana. Y la meta es un backlog de dos a tres semanas de trabajo liberado.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nueve: la línea de tiempo del Path of Construction del proyecto tipo, con todos sus elementos.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línea de tiempo completa del Path of Construction del proyecto tipo, de enero de dos mil veintisiete a diciembre de dos mil veintinueve. Cada barra es la construcción de un paquete, con el color de su fase. Delante de cada barra hay tres marcas: el rombo es la fecha requerida del EWP, el triángulo la emisión del paquete, y el círculo la llegada de materiales. Se ve claramente la lógica: la Fase uno libera el terreno y las redes en dos mil veintisiete; la Fase dos arranca con cimentaciones y la sala eléctrica a inicios de dos mil veintiocho; y la Fase tres se superpone desde finales de dos mil veintiocho, con interfaces hacia la Fase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detalle, la Fase uno. Su ruta se desarrolla en los meses tres y cuatro. El movimiento de tierras de la plataforma norte empieza el siete de junio de dos mil veintisiete; su EWP se requería el ocho de marzo, lo que muestra lo apretada que es una fase de obras tempranas. Luego vienen, en paralelo, las redes de agua y desagüe y los bancos de ductos eléctricos, ambos con el movimiento de tierras como predecesor, y ambos terminan el seis de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dos, instalación principal. Su ruta se organiza por sistemas y se desarrolla entre los meses seis y nueve. Arranca en febrero de dos mil veintiocho con las cimentaciones del bloque A, y en marzo con la sala eléctrica, que dura treinta semanas para energizar temprano. Sobre las cimentaciones se monta la estructura metálica desde el veinticinco de abril, y sobre la estructura, las tuberías de servicios desde el veintiocho de agosto hasta febrero de dos mil veintinueve.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tres, edificaciones complementarias y ampliación, con su ruta integrada con el comisionamiento, desarrollada entre los meses dieciséis y veintiuno. Las cimentaciones de la ampliación empiezan en febrero de dos mil veintinueve, cuando la Fase dos libera el acceso lateral del bloque B. La arquitectura de las oficinas, en marzo. Y los empalmes a la galería de servicios, en julio, durante una parada programada de la Fase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también permite ver la carga de trabajo en el tiempo. Este gráfico reparte las horas hombre de los diez paquetes de ejemplo a lo largo de su duración. Se ven tres picos: el de la Fase uno en junio y julio de dos mil veintisiete, el de la Fase dos en marzo y abril de dos mil veintiocho, cuando se superponen las cimentaciones, la sala eléctrica y la estructura, y el de la Fase tres en marzo y abril de dos mil veintinueve. Esta curva sirve para dimensionar la mano de obra y a los planificadores, a razón de uno por cada cincuenta trabajadores directos.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cadena de precedencias más larga del ejemplo cruza las tres fases. Empieza con el movimiento de tierras en junio de dos mil veintisiete, sigue con las cimentaciones del bloque A en febrero de dos mil veintiocho, la estructura en abril, las tuberías en agosto, y termina con los empalmes a la galería en julio de dos mil veintinueve, durante la parada de la Fase dos. Un atraso en cualquier eslabón empuja a todos los siguientes; por eso estos paquetes merecen el seguimiento más estrecho.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línea de tiempo del proyecto tipo, cada fase cumple sus hitos de ruta antes de construir. La Fase uno define áreas, aprueba su ruta y define sus paquetes entre los meses tres y cuatro, y construye desde el mes seis. La Fase dos lo hace entre los meses seis y nueve, y construye desde el mes catorce. La Fase tres, entre los meses dieciséis y veintiuno, y construye desde el mes veintiséis. La regla es que ninguna fase empiece su construcción sin su ruta congelada.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flechas que cruzan de una fase a otra son interfaces, y la ruta las hace visibles. La plataforma norte y los bancos de ductos pasan de la Fase uno a la dos. Las redes de agua, de la Fase uno a la tres. El acceso lateral del bloque B y la galería de servicios, de la Fase dos a la tres; los empalmes se hacen en una parada programada. Estas interfaces se gestionan con actas de entrega de área, con restricciones del tipo interfaz entre fases, y con un lookahead conjunto, como recomienda la lección LA cero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diez: la plantilla Path of Construction del kit, donde se documenta la ruta.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tiene columnas que se ingresan y columnas calculadas. Las que se ingresan son: la secuencia dentro de la fase; la fase; el código del paquete; su descripción; la disciplina; las horas hombre estimadas; el predecesor, con relación fin comienzo; el inicio plan y la duración en semanas; el sistema que completa; y la justificación de su posición, que es el acuerdo del 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las calculadas, que no se editan: el área, obtenida del código; el fin plan; la fecha requerida del EWP; la emisión del paquete; la fecha RAS; el control de secuencia, en verde si está bien y en rojo si hay conflicto; y las treinta y seis columnas de meses, que dibujan un diagrama de barras azul con los meses en que se construye cada paquete.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Llenar la plantilla toma cinco pasos. Primero, ajustar los parámetros: el mes M uno y las tres anticipaciones. Segundo, borrar las filas amarillas de ejemplo. Tercero, registrar los paquetes en el orden acordado en el taller. Cuarto, revisar el control de secuencia: no debe haber conflictos. Y quinto, trasladar las fechas requeridas de ingeniería y de materiales a los planes de ingeniería y procura, y a la plantilla de seguimiento de paquetes.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se conecta con el resto del kit. Recibe las áreas, sus límites y su secuencia desde la definición de áreas, y la secuencia acordada desde el acta del taller. Produce los paquetes secuenciados y sus fechas requeridas. Esas fechas pasan al seguimiento de paquetes, donde se controlan las fechas plan y reales. Y de ahí al programa de liberación de paquetes de trabajo, donde se aplican los plazos de la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once: del Path of Construction a la ejecución, es decir, cómo la ruta guía el trabajo diario en el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cadena completa. La ruta de construcción fija la secuencia de áreas y paquetes. De ella salen las fechas requeridas de ingeniería y de materiales. Cada paquete de construcción se emite diez semanas antes, completo. El planificador lo divide en paquetes de trabajo de una cuadrilla, que se liberan sin restricciones. Los superintendentes eligen del backlog los trabajos para el lookahead de tres semanas. Y los trabajos terminados se agrupan por sistemas en paquetes de sistema y de entrega. Cada eslabón hereda la secuencia del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nivel de ejecución, la ruta sigue actuando. Guía cómo se divide cada paquete en trabajos de cuadrilla: por niveles, ejes o tramos, en la secuencia acordada. Los trabajos entran al lookahead en el orden de la ruta. Cada trabajo debe indicar su sistema, como enseñó la lección LA cero seis. Y el paquete de sistema se prepara cuando todos los trabajos del sistema están cerrados.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baja la ruta al nivel de ejecución. La estructura del bloque A, de unas nueve mil seiscientas horas hombre, se divide en veinticuatro paquetes de trabajo. El primero son las columnas del nivel uno en los ejes A uno a A cuatro, con unas cuatrocientas veinte horas. Siguen las vigas y los arriostres del mismo nivel, luego los niveles superiores y los ejes siguientes, siempre en el orden de la ruta, hasta la cubierta, que cierra el paquete y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así se programa la liberación del primer paquete de trabajo de montaje, con los plazos de la Fase dos. Doce semanas antes de su ejecución, a inicios de febrero de dos mil veintiocho, se inicia; en la práctica, al emitirse el paquete de construcción. Diez semanas antes se identifican sus restricciones. Ocho semanas antes se asignan. Cuatro semanas antes se levantan. Y dos semanas antes, el once de abril, se libera; la estructura llega el quince y el montaje empieza el veinticinco de abril.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también tendrá su módulo en la aplicación AWP, previsto para la Etapa tres. Permitirá ordenar los paquetes arrastrándolos, ver un Gantt por fase con los conflictos marcados, ajustar los parámetros de anticipación y registrar el acta de cada taller. Hoy ya están disponibles el hito H dos en el módulo de hitos y la actividad FEL cero cuatro en el checklist. Mientras tanto, se usan la plantilla Excel y el acta desde la biblioteca de recursos.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doce: control, riesgos y lecciones. Cómo saber si la ruta se está cumpliendo.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indicadores del kit miden si la ruta se cumple. K cero uno, EWP emitidos a tiempo, mide si ingeniería sigue la ruta. K cero dos, materiales disponibles al liberar, mide si procura cumple las fechas RAS. K cero cuatro, el backlog, mide si el flujo llega al campo. K cero ocho, el porcentaje de plan cumplido, mide el plan semanal. Y K trece, el índice de desempeño del cronograma, mide si la secuencia avanza según lo planificado. Todos tienen metas más exigentes de la Fase uno a la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registro de riesgos del kit incluye cuatro riesgos relacionados con la ruta. R cero dos: ingeniería no entrega en la secuencia de la ruta, porque planifica por disciplina; se mitiga poniendo las fechas en el contrato y midiendo K cero uno. R cero ocho: backlog insuficiente porque ingeniería o procura van detrás de la ruta; se mitiga proyectando el backlog a ocho semanas. R cero nueve: conflictos de recursos entre fases superpuestas; se mitiga con un lookahead conjunto. Y R cero siete: datos desintegrados; se mitiga con una codificación única desde la planificación temprana.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tipo dejó lecciones para la siguiente ruta. LA cero dos: sin código de paquete en las órdenes de compra, el almacén no puede reservar; el código debe ser obligatorio. LA cero cuatro: la documentación del proveedor necesita fecha propia. LA cero cinco, positiva: el lookahead conjunto entre fases redujo los conflictos de grúas. LA cero seis: cada paquete debe indicar su sistema desde la ruta. Y LA cero uno: los paquetes de trabajo deben ser de una semana como máximo.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señales de alerta de una ruta que no se está cumpliendo. Ingeniería emite paquetes fuera de secuencia. Se emiten paquetes de construcción incompletos. Se compra por urgencia porque no se respetó la fecha RAS. Las cuadrillas se mueven a donde se puede, fuera de secuencia. El backlog cae por debajo de la meta varias semanas seguidas. Y la secuencia real ya no coincide con la última revisión de la ruta. Cualquiera de estas señales justifica revisar la ruta en un taller corto.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se revisa con un ritmo definido. Cada semana, el lookahead y las restricciones que bloquean la secuencia. Cada quince días, el plan de liberación frente a las fechas requeridas, que es la mitigación del riesgo R cero dos. Cada mes, en el Comité AWP, los indicadores, los hitos y los cambios de secuencia propuestos. En cada cambio mayor, una nueva revisión en un taller corto. Y al cierre de cada fase, qué funcionó y qué no, en el informe de cierre y el registro de lecciones.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trece: buenas prácticas y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prácticas: empezar por los sistemas a entregar y trabajar hacia atrás; hacer el primer paso solo con construcción y luego sumar a todos; registrar la justificación de cada posición; poner las fechas requeridas en los contratos; revisar las lecciones y riesgos de la fase anterior; y congelar al final de FEL tres, cambiando solo con control. Errores comunes: hacer la ruta tarde; hacerla solo con construcción y nunca revisarla con ingeniería y procura; secuenciar por disciplina; no calcular fechas, dejando la ruta como un dibujo; olvidar recursos compartidos e interfaces; y no actualizarla.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declarar cumplido el hito H dos, revisa este checklist. Las áreas cumplen los diez criterios. Hay una lista de sistemas con su prioridad. Construcción, ingeniería, procura y comisionamiento participaron en el taller. Cada paquete tiene inicio, duración, predecesor, sistema y justificación. El control de secuencia no muestra conflictos. Están calculadas las fechas requeridas. Los supuestos, riesgos, decisiones y acciones están en el acta. Y el acta está firmada por el Gerente de Construcción, el AWP Champion y 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Algunas preguntas frecuentes. El dueño de la ruta es el Gerente de Construcción, con el Champion como facilitador y el cliente como aprobador. Debe estar congelada al final de FEL tres. No es lo mismo que el cronograma: la ruta es la secuencia y su lógica, y el cronograma de nivel tres se construye a partir de ella. Cada fase tiene su propia ruta. Se puede cambiar, con control de cambios. Las trece semanas del EWP son un parámetro del kit que se ajusta por proyecto. Se documenta en la plantilla Excel y en el acta. Y si ingeniería no puede cumplir, se discute en el taller y se reordena si hace falta; nunca se ignora.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Resumamos en una lámina. Qué es: la secuencia óptima para construir, probar y entregar, base del cronograma de nivel tres. Cuándo: se crea en FEL dos, se congela al final de FEL tres y se mantiene con control. Quién: lidera construcción, facilita el Champion, aportan ingeniería, procura, comisionamiento, controles, HSE y WFP, y aprueba el cliente. Cómo: en tres pasos iterativos, en talleres de planificación interactiva. Con qué: el plano, las áreas, los sistemas, los cronogramas, las estrategias, las restricciones, los recursos y las lecciones. Qué produce: paquetes secuenciados y sus fechas requeridas. Y cómo se controla: con indicadores, riesgos y lecciones.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plantillas y documentos del kit para trabajar la ruta, disponibles en la biblioteca de recursos de la aplicación y en la web del kit: la definición de áreas; la plantilla de Path of Construction; el acta del taller; el seguimiento de paquetes; el programa de liberación de paquetes de trabajo; y el plan de implementación, con los hitos, la actividad de planificación temprana correspondiente y la organización.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al final. Si hay una sola idea que llevarse, es esta: la secuencia de construcción manda. Construye la ruta temprano, con todos en la mesa, conviértela en fechas concretas, y deja que ordene la ingeniería, la procura y el trabajo en el campo. Las plantillas del kit te acompañan: la de Path of Construction, el acta del taller y la definición de áreas.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slideLayout" Target="../slideLayouts/slideLayout1.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1.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slideLayout" Target="../slideLayouts/slideLayout1.xml"/><Relationship Id="rId8"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image" Target="../media/image-71-6.png"/><Relationship Id="rId7" Type="http://schemas.openxmlformats.org/officeDocument/2006/relationships/slideLayout" Target="../slideLayouts/slideLayout1.xml"/><Relationship Id="rI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slideLayout" Target="../slideLayouts/slideLayout1.xml"/><Relationship Id="rI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image" Target="../media/image-79-4.png"/><Relationship Id="rId5" Type="http://schemas.openxmlformats.org/officeDocument/2006/relationships/image" Target="../media/image-79-5.png"/><Relationship Id="rId6" Type="http://schemas.openxmlformats.org/officeDocument/2006/relationships/slideLayout" Target="../slideLayouts/slideLayout1.xml"/><Relationship Id="rId7"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slideLayout" Target="../slideLayouts/slideLayout1.xml"/><Relationship Id="rId6"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slideLayout" Target="../slideLayouts/slideLayout1.xml"/><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image" Target="../media/image-95-4.png"/><Relationship Id="rId5" Type="http://schemas.openxmlformats.org/officeDocument/2006/relationships/slideLayout" Target="../slideLayouts/slideLayout1.xml"/><Relationship Id="rId6"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image" Target="../media/image-97-2.png"/><Relationship Id="rId3" Type="http://schemas.openxmlformats.org/officeDocument/2006/relationships/image" Target="../media/image-97-3.png"/><Relationship Id="rId4" Type="http://schemas.openxmlformats.org/officeDocument/2006/relationships/image" Target="../media/image-97-4.png"/><Relationship Id="rId5" Type="http://schemas.openxmlformats.org/officeDocument/2006/relationships/image" Target="../media/image-97-5.png"/><Relationship Id="rId6" Type="http://schemas.openxmlformats.org/officeDocument/2006/relationships/image" Target="../media/image-97-6.png"/><Relationship Id="rId7" Type="http://schemas.openxmlformats.org/officeDocument/2006/relationships/image" Target="../media/image-97-7.png"/><Relationship Id="rId8" Type="http://schemas.openxmlformats.org/officeDocument/2006/relationships/image" Target="../media/image-97-8.png"/><Relationship Id="rId9" Type="http://schemas.openxmlformats.org/officeDocument/2006/relationships/image" Target="../media/image-97-9.png"/><Relationship Id="rId10" Type="http://schemas.openxmlformats.org/officeDocument/2006/relationships/image" Target="../media/image-97-10.png"/><Relationship Id="rId11" Type="http://schemas.openxmlformats.org/officeDocument/2006/relationships/image" Target="../media/image-97-11.png"/><Relationship Id="rId12" Type="http://schemas.openxmlformats.org/officeDocument/2006/relationships/slideLayout" Target="../slideLayouts/slideLayout1.xml"/><Relationship Id="rId1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image" Target="../media/image-98-4.png"/><Relationship Id="rId5" Type="http://schemas.openxmlformats.org/officeDocument/2006/relationships/slideLayout" Target="../slideLayouts/slideLayout1.xml"/><Relationship Id="rId6"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4" Type="http://schemas.openxmlformats.org/officeDocument/2006/relationships/image" Target="../media/image-99-4.png"/><Relationship Id="rId5" Type="http://schemas.openxmlformats.org/officeDocument/2006/relationships/slideLayout" Target="../slideLayouts/slideLayout1.xml"/><Relationship Id="rId6"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image" Target="../media/image-101-2.png"/><Relationship Id="rId3" Type="http://schemas.openxmlformats.org/officeDocument/2006/relationships/image" Target="../media/image-101-3.png"/><Relationship Id="rId4" Type="http://schemas.openxmlformats.org/officeDocument/2006/relationships/image" Target="../media/image-101-4.png"/><Relationship Id="rId5" Type="http://schemas.openxmlformats.org/officeDocument/2006/relationships/image" Target="../media/image-101-5.png"/><Relationship Id="rId6" Type="http://schemas.openxmlformats.org/officeDocument/2006/relationships/image" Target="../media/image-101-6.png"/><Relationship Id="rId7" Type="http://schemas.openxmlformats.org/officeDocument/2006/relationships/slideLayout" Target="../slideLayouts/slideLayout1.xml"/><Relationship Id="rId8"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4" Type="http://schemas.openxmlformats.org/officeDocument/2006/relationships/image" Target="../media/image-106-4.png"/><Relationship Id="rId5" Type="http://schemas.openxmlformats.org/officeDocument/2006/relationships/image" Target="../media/image-106-5.png"/><Relationship Id="rId6" Type="http://schemas.openxmlformats.org/officeDocument/2006/relationships/image" Target="../media/image-106-6.png"/><Relationship Id="rId7" Type="http://schemas.openxmlformats.org/officeDocument/2006/relationships/slideLayout" Target="../slideLayouts/slideLayout1.xml"/><Relationship Id="rId8"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1.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image" Target="../media/image-110-2.png"/><Relationship Id="rId3" Type="http://schemas.openxmlformats.org/officeDocument/2006/relationships/image" Target="../media/image-110-3.png"/><Relationship Id="rId4" Type="http://schemas.openxmlformats.org/officeDocument/2006/relationships/image" Target="../media/image-110-4.png"/><Relationship Id="rId5" Type="http://schemas.openxmlformats.org/officeDocument/2006/relationships/image" Target="../media/image-110-5.png"/><Relationship Id="rId6" Type="http://schemas.openxmlformats.org/officeDocument/2006/relationships/image" Target="../media/image-110-6.png"/><Relationship Id="rId7" Type="http://schemas.openxmlformats.org/officeDocument/2006/relationships/image" Target="../media/image-110-7.png"/><Relationship Id="rId8" Type="http://schemas.openxmlformats.org/officeDocument/2006/relationships/image" Target="../media/image-110-8.png"/><Relationship Id="rId9" Type="http://schemas.openxmlformats.org/officeDocument/2006/relationships/slideLayout" Target="../slideLayouts/slideLayout1.xml"/><Relationship Id="rId10"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image" Target="../media/image-111-3.png"/><Relationship Id="rId4" Type="http://schemas.openxmlformats.org/officeDocument/2006/relationships/image" Target="../media/image-111-4.png"/><Relationship Id="rId5" Type="http://schemas.openxmlformats.org/officeDocument/2006/relationships/image" Target="../media/image-111-5.png"/><Relationship Id="rId6" Type="http://schemas.openxmlformats.org/officeDocument/2006/relationships/image" Target="../media/image-111-6.png"/><Relationship Id="rId7" Type="http://schemas.openxmlformats.org/officeDocument/2006/relationships/image" Target="../media/image-111-7.png"/><Relationship Id="rId8" Type="http://schemas.openxmlformats.org/officeDocument/2006/relationships/image" Target="../media/image-111-8.png"/><Relationship Id="rId9" Type="http://schemas.openxmlformats.org/officeDocument/2006/relationships/slideLayout" Target="../slideLayouts/slideLayout1.xml"/><Relationship Id="rId10"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image" Target="../media/image-113-2.png"/><Relationship Id="rId3" Type="http://schemas.openxmlformats.org/officeDocument/2006/relationships/image" Target="../media/image-113-3.png"/><Relationship Id="rId4" Type="http://schemas.openxmlformats.org/officeDocument/2006/relationships/image" Target="../media/image-113-4.png"/><Relationship Id="rId5" Type="http://schemas.openxmlformats.org/officeDocument/2006/relationships/image" Target="../media/image-113-5.png"/><Relationship Id="rId6" Type="http://schemas.openxmlformats.org/officeDocument/2006/relationships/image" Target="../media/image-113-6.png"/><Relationship Id="rId7" Type="http://schemas.openxmlformats.org/officeDocument/2006/relationships/slideLayout" Target="../slideLayouts/slideLayout1.xml"/><Relationship Id="rId8"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6583680" y="1097280"/>
            <a:ext cx="5074920" cy="4663440"/>
          </a:xfrm>
          <a:prstGeom prst="roundRect">
            <a:avLst>
              <a:gd name="adj" fmla="val 2353"/>
            </a:avLst>
          </a:prstGeom>
          <a:solidFill>
            <a:srgbClr val="17385A"/>
          </a:solidFill>
          <a:ln w="12700">
            <a:solidFill>
              <a:srgbClr val="2A4D72"/>
            </a:solidFill>
            <a:prstDash val="solid"/>
          </a:ln>
        </p:spPr>
      </p:sp>
      <p:sp>
        <p:nvSpPr>
          <p:cNvPr id="3" name="Shape 1"/>
          <p:cNvSpPr/>
          <p:nvPr/>
        </p:nvSpPr>
        <p:spPr>
          <a:xfrm>
            <a:off x="6903720" y="1536192"/>
            <a:ext cx="4434840" cy="0"/>
          </a:xfrm>
          <a:prstGeom prst="line">
            <a:avLst/>
          </a:prstGeom>
          <a:noFill/>
          <a:ln w="6350">
            <a:solidFill>
              <a:srgbClr val="2A4D72"/>
            </a:solidFill>
            <a:prstDash val="solid"/>
          </a:ln>
        </p:spPr>
      </p:sp>
      <p:sp>
        <p:nvSpPr>
          <p:cNvPr id="4" name="Shape 2"/>
          <p:cNvSpPr/>
          <p:nvPr/>
        </p:nvSpPr>
        <p:spPr>
          <a:xfrm>
            <a:off x="6519672" y="1463040"/>
            <a:ext cx="146304" cy="146304"/>
          </a:xfrm>
          <a:prstGeom prst="diamond">
            <a:avLst/>
          </a:prstGeom>
          <a:solidFill>
            <a:srgbClr val="F5A623"/>
          </a:solidFill>
          <a:ln w="12700">
            <a:solidFill>
              <a:srgbClr val="F5A623"/>
            </a:solidFill>
            <a:prstDash val="solid"/>
          </a:ln>
        </p:spPr>
      </p:sp>
      <p:sp>
        <p:nvSpPr>
          <p:cNvPr id="5" name="Shape 3"/>
          <p:cNvSpPr/>
          <p:nvPr/>
        </p:nvSpPr>
        <p:spPr>
          <a:xfrm>
            <a:off x="6903720" y="1417320"/>
            <a:ext cx="798271" cy="237744"/>
          </a:xfrm>
          <a:prstGeom prst="roundRect">
            <a:avLst>
              <a:gd name="adj" fmla="val 19231"/>
            </a:avLst>
          </a:prstGeom>
          <a:solidFill>
            <a:srgbClr val="2A78D6"/>
          </a:solidFill>
          <a:ln w="12700">
            <a:solidFill>
              <a:srgbClr val="2A78D6"/>
            </a:solidFill>
            <a:prstDash val="solid"/>
          </a:ln>
        </p:spPr>
      </p:sp>
      <p:sp>
        <p:nvSpPr>
          <p:cNvPr id="6" name="Shape 4"/>
          <p:cNvSpPr/>
          <p:nvPr/>
        </p:nvSpPr>
        <p:spPr>
          <a:xfrm>
            <a:off x="6903720" y="1947672"/>
            <a:ext cx="4434840" cy="0"/>
          </a:xfrm>
          <a:prstGeom prst="line">
            <a:avLst/>
          </a:prstGeom>
          <a:noFill/>
          <a:ln w="6350">
            <a:solidFill>
              <a:srgbClr val="2A4D72"/>
            </a:solidFill>
            <a:prstDash val="solid"/>
          </a:ln>
        </p:spPr>
      </p:sp>
      <p:sp>
        <p:nvSpPr>
          <p:cNvPr id="7" name="Shape 5"/>
          <p:cNvSpPr/>
          <p:nvPr/>
        </p:nvSpPr>
        <p:spPr>
          <a:xfrm>
            <a:off x="6963156" y="1874520"/>
            <a:ext cx="146304" cy="146304"/>
          </a:xfrm>
          <a:prstGeom prst="diamond">
            <a:avLst/>
          </a:prstGeom>
          <a:solidFill>
            <a:srgbClr val="F5A623"/>
          </a:solidFill>
          <a:ln w="12700">
            <a:solidFill>
              <a:srgbClr val="F5A623"/>
            </a:solidFill>
            <a:prstDash val="solid"/>
          </a:ln>
        </p:spPr>
      </p:sp>
      <p:sp>
        <p:nvSpPr>
          <p:cNvPr id="8" name="Shape 6"/>
          <p:cNvSpPr/>
          <p:nvPr/>
        </p:nvSpPr>
        <p:spPr>
          <a:xfrm>
            <a:off x="7347204" y="1828800"/>
            <a:ext cx="1064362" cy="237744"/>
          </a:xfrm>
          <a:prstGeom prst="roundRect">
            <a:avLst>
              <a:gd name="adj" fmla="val 19231"/>
            </a:avLst>
          </a:prstGeom>
          <a:solidFill>
            <a:srgbClr val="2A78D6"/>
          </a:solidFill>
          <a:ln w="12700">
            <a:solidFill>
              <a:srgbClr val="2A78D6"/>
            </a:solidFill>
            <a:prstDash val="solid"/>
          </a:ln>
        </p:spPr>
      </p:sp>
      <p:sp>
        <p:nvSpPr>
          <p:cNvPr id="9" name="Shape 7"/>
          <p:cNvSpPr/>
          <p:nvPr/>
        </p:nvSpPr>
        <p:spPr>
          <a:xfrm>
            <a:off x="6903720" y="2359152"/>
            <a:ext cx="4434840" cy="0"/>
          </a:xfrm>
          <a:prstGeom prst="line">
            <a:avLst/>
          </a:prstGeom>
          <a:noFill/>
          <a:ln w="6350">
            <a:solidFill>
              <a:srgbClr val="2A4D72"/>
            </a:solidFill>
            <a:prstDash val="solid"/>
          </a:ln>
        </p:spPr>
      </p:sp>
      <p:sp>
        <p:nvSpPr>
          <p:cNvPr id="10" name="Shape 8"/>
          <p:cNvSpPr/>
          <p:nvPr/>
        </p:nvSpPr>
        <p:spPr>
          <a:xfrm>
            <a:off x="7140550" y="2286000"/>
            <a:ext cx="146304" cy="146304"/>
          </a:xfrm>
          <a:prstGeom prst="diamond">
            <a:avLst/>
          </a:prstGeom>
          <a:solidFill>
            <a:srgbClr val="F5A623"/>
          </a:solidFill>
          <a:ln w="12700">
            <a:solidFill>
              <a:srgbClr val="F5A623"/>
            </a:solidFill>
            <a:prstDash val="solid"/>
          </a:ln>
        </p:spPr>
      </p:sp>
      <p:sp>
        <p:nvSpPr>
          <p:cNvPr id="11" name="Shape 9"/>
          <p:cNvSpPr/>
          <p:nvPr/>
        </p:nvSpPr>
        <p:spPr>
          <a:xfrm>
            <a:off x="7524598" y="2240280"/>
            <a:ext cx="709574" cy="237744"/>
          </a:xfrm>
          <a:prstGeom prst="roundRect">
            <a:avLst>
              <a:gd name="adj" fmla="val 19231"/>
            </a:avLst>
          </a:prstGeom>
          <a:solidFill>
            <a:srgbClr val="2A78D6"/>
          </a:solidFill>
          <a:ln w="12700">
            <a:solidFill>
              <a:srgbClr val="2A78D6"/>
            </a:solidFill>
            <a:prstDash val="solid"/>
          </a:ln>
        </p:spPr>
      </p:sp>
      <p:sp>
        <p:nvSpPr>
          <p:cNvPr id="12" name="Shape 10"/>
          <p:cNvSpPr/>
          <p:nvPr/>
        </p:nvSpPr>
        <p:spPr>
          <a:xfrm>
            <a:off x="6903720" y="2770632"/>
            <a:ext cx="4434840" cy="0"/>
          </a:xfrm>
          <a:prstGeom prst="line">
            <a:avLst/>
          </a:prstGeom>
          <a:noFill/>
          <a:ln w="6350">
            <a:solidFill>
              <a:srgbClr val="2A4D72"/>
            </a:solidFill>
            <a:prstDash val="solid"/>
          </a:ln>
        </p:spPr>
      </p:sp>
      <p:sp>
        <p:nvSpPr>
          <p:cNvPr id="13" name="Shape 11"/>
          <p:cNvSpPr/>
          <p:nvPr/>
        </p:nvSpPr>
        <p:spPr>
          <a:xfrm>
            <a:off x="7850124" y="2697480"/>
            <a:ext cx="146304" cy="146304"/>
          </a:xfrm>
          <a:prstGeom prst="diamond">
            <a:avLst/>
          </a:prstGeom>
          <a:solidFill>
            <a:srgbClr val="F5A623"/>
          </a:solidFill>
          <a:ln w="12700">
            <a:solidFill>
              <a:srgbClr val="F5A623"/>
            </a:solidFill>
            <a:prstDash val="solid"/>
          </a:ln>
        </p:spPr>
      </p:sp>
      <p:sp>
        <p:nvSpPr>
          <p:cNvPr id="14" name="Shape 12"/>
          <p:cNvSpPr/>
          <p:nvPr/>
        </p:nvSpPr>
        <p:spPr>
          <a:xfrm>
            <a:off x="8234172" y="2651760"/>
            <a:ext cx="975665" cy="237744"/>
          </a:xfrm>
          <a:prstGeom prst="roundRect">
            <a:avLst>
              <a:gd name="adj" fmla="val 19231"/>
            </a:avLst>
          </a:prstGeom>
          <a:solidFill>
            <a:srgbClr val="EB6834"/>
          </a:solidFill>
          <a:ln w="12700">
            <a:solidFill>
              <a:srgbClr val="EB6834"/>
            </a:solidFill>
            <a:prstDash val="solid"/>
          </a:ln>
        </p:spPr>
      </p:sp>
      <p:sp>
        <p:nvSpPr>
          <p:cNvPr id="15" name="Shape 13"/>
          <p:cNvSpPr/>
          <p:nvPr/>
        </p:nvSpPr>
        <p:spPr>
          <a:xfrm>
            <a:off x="6903720" y="3182112"/>
            <a:ext cx="4434840" cy="0"/>
          </a:xfrm>
          <a:prstGeom prst="line">
            <a:avLst/>
          </a:prstGeom>
          <a:noFill/>
          <a:ln w="6350">
            <a:solidFill>
              <a:srgbClr val="2A4D72"/>
            </a:solidFill>
            <a:prstDash val="solid"/>
          </a:ln>
        </p:spPr>
      </p:sp>
      <p:sp>
        <p:nvSpPr>
          <p:cNvPr id="16" name="Shape 14"/>
          <p:cNvSpPr/>
          <p:nvPr/>
        </p:nvSpPr>
        <p:spPr>
          <a:xfrm>
            <a:off x="8204911" y="3108960"/>
            <a:ext cx="146304" cy="146304"/>
          </a:xfrm>
          <a:prstGeom prst="diamond">
            <a:avLst/>
          </a:prstGeom>
          <a:solidFill>
            <a:srgbClr val="F5A623"/>
          </a:solidFill>
          <a:ln w="12700">
            <a:solidFill>
              <a:srgbClr val="F5A623"/>
            </a:solidFill>
            <a:prstDash val="solid"/>
          </a:ln>
        </p:spPr>
      </p:sp>
      <p:sp>
        <p:nvSpPr>
          <p:cNvPr id="17" name="Shape 15"/>
          <p:cNvSpPr/>
          <p:nvPr/>
        </p:nvSpPr>
        <p:spPr>
          <a:xfrm>
            <a:off x="8588959" y="3063240"/>
            <a:ext cx="975665" cy="237744"/>
          </a:xfrm>
          <a:prstGeom prst="roundRect">
            <a:avLst>
              <a:gd name="adj" fmla="val 19231"/>
            </a:avLst>
          </a:prstGeom>
          <a:solidFill>
            <a:srgbClr val="EB6834"/>
          </a:solidFill>
          <a:ln w="12700">
            <a:solidFill>
              <a:srgbClr val="EB6834"/>
            </a:solidFill>
            <a:prstDash val="solid"/>
          </a:ln>
        </p:spPr>
      </p:sp>
      <p:sp>
        <p:nvSpPr>
          <p:cNvPr id="18" name="Shape 16"/>
          <p:cNvSpPr/>
          <p:nvPr/>
        </p:nvSpPr>
        <p:spPr>
          <a:xfrm>
            <a:off x="6903720" y="3593592"/>
            <a:ext cx="4434840" cy="0"/>
          </a:xfrm>
          <a:prstGeom prst="line">
            <a:avLst/>
          </a:prstGeom>
          <a:noFill/>
          <a:ln w="6350">
            <a:solidFill>
              <a:srgbClr val="2A4D72"/>
            </a:solidFill>
            <a:prstDash val="solid"/>
          </a:ln>
        </p:spPr>
      </p:sp>
      <p:sp>
        <p:nvSpPr>
          <p:cNvPr id="19" name="Shape 17"/>
          <p:cNvSpPr/>
          <p:nvPr/>
        </p:nvSpPr>
        <p:spPr>
          <a:xfrm>
            <a:off x="8559698" y="3520440"/>
            <a:ext cx="146304" cy="146304"/>
          </a:xfrm>
          <a:prstGeom prst="diamond">
            <a:avLst/>
          </a:prstGeom>
          <a:solidFill>
            <a:srgbClr val="F5A623"/>
          </a:solidFill>
          <a:ln w="12700">
            <a:solidFill>
              <a:srgbClr val="F5A623"/>
            </a:solidFill>
            <a:prstDash val="solid"/>
          </a:ln>
        </p:spPr>
      </p:sp>
      <p:sp>
        <p:nvSpPr>
          <p:cNvPr id="20" name="Shape 18"/>
          <p:cNvSpPr/>
          <p:nvPr/>
        </p:nvSpPr>
        <p:spPr>
          <a:xfrm>
            <a:off x="8943746" y="3474720"/>
            <a:ext cx="1153058" cy="237744"/>
          </a:xfrm>
          <a:prstGeom prst="roundRect">
            <a:avLst>
              <a:gd name="adj" fmla="val 19231"/>
            </a:avLst>
          </a:prstGeom>
          <a:solidFill>
            <a:srgbClr val="EB6834"/>
          </a:solidFill>
          <a:ln w="12700">
            <a:solidFill>
              <a:srgbClr val="EB6834"/>
            </a:solidFill>
            <a:prstDash val="solid"/>
          </a:ln>
        </p:spPr>
      </p:sp>
      <p:sp>
        <p:nvSpPr>
          <p:cNvPr id="21" name="Shape 19"/>
          <p:cNvSpPr/>
          <p:nvPr/>
        </p:nvSpPr>
        <p:spPr>
          <a:xfrm>
            <a:off x="6903720" y="4005072"/>
            <a:ext cx="4434840" cy="0"/>
          </a:xfrm>
          <a:prstGeom prst="line">
            <a:avLst/>
          </a:prstGeom>
          <a:noFill/>
          <a:ln w="6350">
            <a:solidFill>
              <a:srgbClr val="2A4D72"/>
            </a:solidFill>
            <a:prstDash val="solid"/>
          </a:ln>
        </p:spPr>
      </p:sp>
      <p:sp>
        <p:nvSpPr>
          <p:cNvPr id="22" name="Shape 20"/>
          <p:cNvSpPr/>
          <p:nvPr/>
        </p:nvSpPr>
        <p:spPr>
          <a:xfrm>
            <a:off x="9091879" y="3931920"/>
            <a:ext cx="146304" cy="146304"/>
          </a:xfrm>
          <a:prstGeom prst="diamond">
            <a:avLst/>
          </a:prstGeom>
          <a:solidFill>
            <a:srgbClr val="F5A623"/>
          </a:solidFill>
          <a:ln w="12700">
            <a:solidFill>
              <a:srgbClr val="F5A623"/>
            </a:solidFill>
            <a:prstDash val="solid"/>
          </a:ln>
        </p:spPr>
      </p:sp>
      <p:sp>
        <p:nvSpPr>
          <p:cNvPr id="23" name="Shape 21"/>
          <p:cNvSpPr/>
          <p:nvPr/>
        </p:nvSpPr>
        <p:spPr>
          <a:xfrm>
            <a:off x="9475927" y="3886200"/>
            <a:ext cx="1241755" cy="237744"/>
          </a:xfrm>
          <a:prstGeom prst="roundRect">
            <a:avLst>
              <a:gd name="adj" fmla="val 19231"/>
            </a:avLst>
          </a:prstGeom>
          <a:solidFill>
            <a:srgbClr val="EB6834"/>
          </a:solidFill>
          <a:ln w="12700">
            <a:solidFill>
              <a:srgbClr val="EB6834"/>
            </a:solidFill>
            <a:prstDash val="solid"/>
          </a:ln>
        </p:spPr>
      </p:sp>
      <p:sp>
        <p:nvSpPr>
          <p:cNvPr id="24" name="Shape 22"/>
          <p:cNvSpPr/>
          <p:nvPr/>
        </p:nvSpPr>
        <p:spPr>
          <a:xfrm>
            <a:off x="6903720" y="4416552"/>
            <a:ext cx="4434840" cy="0"/>
          </a:xfrm>
          <a:prstGeom prst="line">
            <a:avLst/>
          </a:prstGeom>
          <a:noFill/>
          <a:ln w="6350">
            <a:solidFill>
              <a:srgbClr val="2A4D72"/>
            </a:solidFill>
            <a:prstDash val="solid"/>
          </a:ln>
        </p:spPr>
      </p:sp>
      <p:sp>
        <p:nvSpPr>
          <p:cNvPr id="25" name="Shape 23"/>
          <p:cNvSpPr/>
          <p:nvPr/>
        </p:nvSpPr>
        <p:spPr>
          <a:xfrm>
            <a:off x="9446666" y="4343400"/>
            <a:ext cx="146304" cy="146304"/>
          </a:xfrm>
          <a:prstGeom prst="diamond">
            <a:avLst/>
          </a:prstGeom>
          <a:solidFill>
            <a:srgbClr val="F5A623"/>
          </a:solidFill>
          <a:ln w="12700">
            <a:solidFill>
              <a:srgbClr val="F5A623"/>
            </a:solidFill>
            <a:prstDash val="solid"/>
          </a:ln>
        </p:spPr>
      </p:sp>
      <p:sp>
        <p:nvSpPr>
          <p:cNvPr id="26" name="Shape 24"/>
          <p:cNvSpPr/>
          <p:nvPr/>
        </p:nvSpPr>
        <p:spPr>
          <a:xfrm>
            <a:off x="9830714" y="4297680"/>
            <a:ext cx="1064362" cy="237744"/>
          </a:xfrm>
          <a:prstGeom prst="roundRect">
            <a:avLst>
              <a:gd name="adj" fmla="val 19231"/>
            </a:avLst>
          </a:prstGeom>
          <a:solidFill>
            <a:srgbClr val="1BAF7A"/>
          </a:solidFill>
          <a:ln w="12700">
            <a:solidFill>
              <a:srgbClr val="1BAF7A"/>
            </a:solidFill>
            <a:prstDash val="solid"/>
          </a:ln>
        </p:spPr>
      </p:sp>
      <p:sp>
        <p:nvSpPr>
          <p:cNvPr id="27" name="Shape 25"/>
          <p:cNvSpPr/>
          <p:nvPr/>
        </p:nvSpPr>
        <p:spPr>
          <a:xfrm>
            <a:off x="6903720" y="4828032"/>
            <a:ext cx="4434840" cy="0"/>
          </a:xfrm>
          <a:prstGeom prst="line">
            <a:avLst/>
          </a:prstGeom>
          <a:noFill/>
          <a:ln w="6350">
            <a:solidFill>
              <a:srgbClr val="2A4D72"/>
            </a:solidFill>
            <a:prstDash val="solid"/>
          </a:ln>
        </p:spPr>
      </p:sp>
      <p:sp>
        <p:nvSpPr>
          <p:cNvPr id="28" name="Shape 26"/>
          <p:cNvSpPr/>
          <p:nvPr/>
        </p:nvSpPr>
        <p:spPr>
          <a:xfrm>
            <a:off x="9712757" y="4754880"/>
            <a:ext cx="146304" cy="146304"/>
          </a:xfrm>
          <a:prstGeom prst="diamond">
            <a:avLst/>
          </a:prstGeom>
          <a:solidFill>
            <a:srgbClr val="F5A623"/>
          </a:solidFill>
          <a:ln w="12700">
            <a:solidFill>
              <a:srgbClr val="F5A623"/>
            </a:solidFill>
            <a:prstDash val="solid"/>
          </a:ln>
        </p:spPr>
      </p:sp>
      <p:sp>
        <p:nvSpPr>
          <p:cNvPr id="29" name="Shape 27"/>
          <p:cNvSpPr/>
          <p:nvPr/>
        </p:nvSpPr>
        <p:spPr>
          <a:xfrm>
            <a:off x="10096805" y="4709160"/>
            <a:ext cx="1020013" cy="237744"/>
          </a:xfrm>
          <a:prstGeom prst="roundRect">
            <a:avLst>
              <a:gd name="adj" fmla="val 19231"/>
            </a:avLst>
          </a:prstGeom>
          <a:solidFill>
            <a:srgbClr val="1BAF7A"/>
          </a:solidFill>
          <a:ln w="12700">
            <a:solidFill>
              <a:srgbClr val="1BAF7A"/>
            </a:solidFill>
            <a:prstDash val="solid"/>
          </a:ln>
        </p:spPr>
      </p:sp>
      <p:sp>
        <p:nvSpPr>
          <p:cNvPr id="30" name="Shape 28"/>
          <p:cNvSpPr/>
          <p:nvPr/>
        </p:nvSpPr>
        <p:spPr>
          <a:xfrm>
            <a:off x="6903720" y="5239512"/>
            <a:ext cx="4434840" cy="0"/>
          </a:xfrm>
          <a:prstGeom prst="line">
            <a:avLst/>
          </a:prstGeom>
          <a:noFill/>
          <a:ln w="6350">
            <a:solidFill>
              <a:srgbClr val="2A4D72"/>
            </a:solidFill>
            <a:prstDash val="solid"/>
          </a:ln>
        </p:spPr>
      </p:sp>
      <p:sp>
        <p:nvSpPr>
          <p:cNvPr id="31" name="Shape 29"/>
          <p:cNvSpPr/>
          <p:nvPr/>
        </p:nvSpPr>
        <p:spPr>
          <a:xfrm>
            <a:off x="10156241" y="5166360"/>
            <a:ext cx="146304" cy="146304"/>
          </a:xfrm>
          <a:prstGeom prst="diamond">
            <a:avLst/>
          </a:prstGeom>
          <a:solidFill>
            <a:srgbClr val="F5A623"/>
          </a:solidFill>
          <a:ln w="12700">
            <a:solidFill>
              <a:srgbClr val="F5A623"/>
            </a:solidFill>
            <a:prstDash val="solid"/>
          </a:ln>
        </p:spPr>
      </p:sp>
      <p:sp>
        <p:nvSpPr>
          <p:cNvPr id="32" name="Shape 30"/>
          <p:cNvSpPr/>
          <p:nvPr/>
        </p:nvSpPr>
        <p:spPr>
          <a:xfrm>
            <a:off x="10540289" y="5120640"/>
            <a:ext cx="798271" cy="237744"/>
          </a:xfrm>
          <a:prstGeom prst="roundRect">
            <a:avLst>
              <a:gd name="adj" fmla="val 19231"/>
            </a:avLst>
          </a:prstGeom>
          <a:solidFill>
            <a:srgbClr val="1BAF7A"/>
          </a:solidFill>
          <a:ln w="12700">
            <a:solidFill>
              <a:srgbClr val="1BAF7A"/>
            </a:solidFill>
            <a:prstDash val="solid"/>
          </a:ln>
        </p:spPr>
      </p:sp>
      <p:sp>
        <p:nvSpPr>
          <p:cNvPr id="33" name="Shape 31"/>
          <p:cNvSpPr/>
          <p:nvPr/>
        </p:nvSpPr>
        <p:spPr>
          <a:xfrm>
            <a:off x="548640" y="1143000"/>
            <a:ext cx="868680" cy="868680"/>
          </a:xfrm>
          <a:prstGeom prst="ellipse">
            <a:avLst/>
          </a:prstGeom>
          <a:solidFill>
            <a:srgbClr val="F5A623"/>
          </a:solidFill>
          <a:ln w="12700">
            <a:solidFill>
              <a:srgbClr val="F5A623"/>
            </a:solidFill>
            <a:prstDash val="solid"/>
          </a:ln>
        </p:spPr>
      </p:sp>
      <p:pic>
        <p:nvPicPr>
          <p:cNvPr id="34" name="Image 0" descr="preencoded.png">    </p:cNvPr>
          <p:cNvPicPr>
            <a:picLocks noChangeAspect="1"/>
          </p:cNvPicPr>
          <p:nvPr/>
        </p:nvPicPr>
        <p:blipFill>
          <a:blip r:embed="rId1"/>
          <a:stretch>
            <a:fillRect/>
          </a:stretch>
        </p:blipFill>
        <p:spPr>
          <a:xfrm>
            <a:off x="744093" y="1338453"/>
            <a:ext cx="477774" cy="477774"/>
          </a:xfrm>
          <a:prstGeom prst="rect">
            <a:avLst/>
          </a:prstGeom>
        </p:spPr>
      </p:pic>
      <p:sp>
        <p:nvSpPr>
          <p:cNvPr id="35" name="Text 32"/>
          <p:cNvSpPr txBox="1"/>
          <p:nvPr/>
        </p:nvSpPr>
        <p:spPr>
          <a:xfrm>
            <a:off x="548640" y="2103120"/>
            <a:ext cx="5760720" cy="14630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Path of Construction</a:t>
            </a:r>
            <a:endParaRPr lang="en-US" sz="4400" dirty="0"/>
          </a:p>
        </p:txBody>
      </p:sp>
      <p:sp>
        <p:nvSpPr>
          <p:cNvPr id="36" name="Text 33"/>
          <p:cNvSpPr txBox="1"/>
          <p:nvPr/>
        </p:nvSpPr>
        <p:spPr>
          <a:xfrm>
            <a:off x="548640" y="3703320"/>
            <a:ext cx="5486400" cy="1463040"/>
          </a:xfrm>
          <a:prstGeom prst="rect">
            <a:avLst/>
          </a:prstGeom>
          <a:noFill/>
          <a:ln/>
        </p:spPr>
        <p:txBody>
          <a:bodyPr wrap="square" lIns="0" tIns="0" rIns="0" bIns="0" rtlCol="0" anchor="t"/>
          <a:lstStyle/>
          <a:p>
            <a:pPr indent="0" marL="0">
              <a:buNone/>
            </a:pPr>
            <a:r>
              <a:rPr lang="en-US" sz="1900" dirty="0">
                <a:solidFill>
                  <a:srgbClr val="B9CCE0"/>
                </a:solidFill>
                <a:latin typeface="Calibri" pitchFamily="34" charset="0"/>
                <a:ea typeface="Calibri" pitchFamily="34" charset="-122"/>
                <a:cs typeface="Calibri" pitchFamily="34" charset="-120"/>
              </a:rPr>
              <a:t>La ruta de construcción en Advanced Work Packaging: elementos, línea de tiempo, procesos y responsables</a:t>
            </a:r>
            <a:endParaRPr lang="en-US" sz="1900" dirty="0"/>
          </a:p>
        </p:txBody>
      </p:sp>
      <p:sp>
        <p:nvSpPr>
          <p:cNvPr id="37" name="Text 34"/>
          <p:cNvSpPr txBox="1"/>
          <p:nvPr/>
        </p:nvSpPr>
        <p:spPr>
          <a:xfrm>
            <a:off x="548640" y="5806440"/>
            <a:ext cx="5852160" cy="457200"/>
          </a:xfrm>
          <a:prstGeom prst="rect">
            <a:avLst/>
          </a:prstGeom>
          <a:noFill/>
          <a:ln/>
        </p:spPr>
        <p:txBody>
          <a:bodyPr wrap="square" lIns="0" tIns="0" rIns="0" bIns="0" rtlCol="0" anchor="t"/>
          <a:lstStyle/>
          <a:p>
            <a:pPr indent="0" marL="0">
              <a:buNone/>
            </a:pPr>
            <a:r>
              <a:rPr lang="en-US" sz="1200" dirty="0">
                <a:solidFill>
                  <a:srgbClr val="8FA8C4"/>
                </a:solidFill>
                <a:latin typeface="Calibri" pitchFamily="34" charset="0"/>
                <a:ea typeface="Calibri" pitchFamily="34" charset="-122"/>
                <a:cs typeface="Calibri" pitchFamily="34" charset="-120"/>
              </a:rPr>
              <a:t>Kit de implementación AWP · Proyecto tipo de 36 meses (M1 = enero de 2027) · Septiembre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Cómo usar esta presentación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Para estudiar sola, para un taller o para seguir el video narrado</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Un caso real de principio a fin</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Las fechas, CWA y CWP son las del proyecto tipo del kit: las mismas filas de ejemplo de la plantilla Path_of_Construction.xlsx.</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Varias líneas de tiempo</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Del ciclo de vida completo al Gantt de los 10 CWP, con las fechas de EWP, CWP y RAS calculadas hacia atrás.</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Procesos</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Los tres pasos iterativos del CII, el taller de planificación interactiva (IPP) y el control de cambios del PoC.</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Responsables</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Quién lidera, quién facilita, quién aprueba y quién aporta en cada paso, con la matriz RACI del kit.</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Notas del orador</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Cada lámina trae en sus notas el texto completo de la narración.</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Para todo el equipo</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Construcción, ingeniería, procura, comisionamiento, controles, planificadores y cliente.</a:t>
            </a:r>
            <a:endParaRPr lang="en-US" sz="1500" dirty="0"/>
          </a:p>
        </p:txBody>
      </p:sp>
      <p:sp>
        <p:nvSpPr>
          <p:cNvPr id="34" name="Text 2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Contenido</a:t>
            </a:r>
            <a:endParaRPr lang="en-US" sz="2800" dirty="0"/>
          </a:p>
        </p:txBody>
      </p:sp>
      <p:sp>
        <p:nvSpPr>
          <p:cNvPr id="3" name="Shape 1"/>
          <p:cNvSpPr/>
          <p:nvPr/>
        </p:nvSpPr>
        <p:spPr>
          <a:xfrm>
            <a:off x="548640" y="1271016"/>
            <a:ext cx="438912" cy="438912"/>
          </a:xfrm>
          <a:prstGeom prst="ellipse">
            <a:avLst/>
          </a:prstGeom>
          <a:solidFill>
            <a:srgbClr val="1F4E79"/>
          </a:solidFill>
          <a:ln w="12700">
            <a:solidFill>
              <a:srgbClr val="1F4E79"/>
            </a:solidFill>
            <a:prstDash val="solid"/>
          </a:ln>
        </p:spPr>
      </p:sp>
      <p:sp>
        <p:nvSpPr>
          <p:cNvPr id="4" name="Text 2"/>
          <p:cNvSpPr txBox="1"/>
          <p:nvPr/>
        </p:nvSpPr>
        <p:spPr>
          <a:xfrm>
            <a:off x="548640" y="1271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188720" y="1234440"/>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Qué es el Path of Construction</a:t>
            </a:r>
            <a:endParaRPr lang="en-US" sz="1800" dirty="0"/>
          </a:p>
        </p:txBody>
      </p:sp>
      <p:sp>
        <p:nvSpPr>
          <p:cNvPr id="6" name="Shape 4"/>
          <p:cNvSpPr/>
          <p:nvPr/>
        </p:nvSpPr>
        <p:spPr>
          <a:xfrm>
            <a:off x="548640" y="1874520"/>
            <a:ext cx="438912" cy="438912"/>
          </a:xfrm>
          <a:prstGeom prst="ellipse">
            <a:avLst/>
          </a:prstGeom>
          <a:solidFill>
            <a:srgbClr val="1F4E79"/>
          </a:solidFill>
          <a:ln w="12700">
            <a:solidFill>
              <a:srgbClr val="1F4E79"/>
            </a:solidFill>
            <a:prstDash val="solid"/>
          </a:ln>
        </p:spPr>
      </p:sp>
      <p:sp>
        <p:nvSpPr>
          <p:cNvPr id="7" name="Text 5"/>
          <p:cNvSpPr txBox="1"/>
          <p:nvPr/>
        </p:nvSpPr>
        <p:spPr>
          <a:xfrm>
            <a:off x="548640" y="18745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188720" y="1837944"/>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Cuándo se desarrolla: el PoC en el ciclo de vida</a:t>
            </a:r>
            <a:endParaRPr lang="en-US" sz="1800" dirty="0"/>
          </a:p>
        </p:txBody>
      </p:sp>
      <p:sp>
        <p:nvSpPr>
          <p:cNvPr id="9" name="Shape 7"/>
          <p:cNvSpPr/>
          <p:nvPr/>
        </p:nvSpPr>
        <p:spPr>
          <a:xfrm>
            <a:off x="548640" y="2478024"/>
            <a:ext cx="438912" cy="438912"/>
          </a:xfrm>
          <a:prstGeom prst="ellipse">
            <a:avLst/>
          </a:prstGeom>
          <a:solidFill>
            <a:srgbClr val="1F4E79"/>
          </a:solidFill>
          <a:ln w="12700">
            <a:solidFill>
              <a:srgbClr val="1F4E79"/>
            </a:solidFill>
            <a:prstDash val="solid"/>
          </a:ln>
        </p:spPr>
      </p:sp>
      <p:sp>
        <p:nvSpPr>
          <p:cNvPr id="10" name="Text 8"/>
          <p:cNvSpPr txBox="1"/>
          <p:nvPr/>
        </p:nvSpPr>
        <p:spPr>
          <a:xfrm>
            <a:off x="548640" y="24780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188720" y="2441448"/>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Elementos e insumos del PoC</a:t>
            </a:r>
            <a:endParaRPr lang="en-US" sz="1800" dirty="0"/>
          </a:p>
        </p:txBody>
      </p:sp>
      <p:sp>
        <p:nvSpPr>
          <p:cNvPr id="12" name="Shape 10"/>
          <p:cNvSpPr/>
          <p:nvPr/>
        </p:nvSpPr>
        <p:spPr>
          <a:xfrm>
            <a:off x="548640" y="3081528"/>
            <a:ext cx="438912" cy="438912"/>
          </a:xfrm>
          <a:prstGeom prst="ellipse">
            <a:avLst/>
          </a:prstGeom>
          <a:solidFill>
            <a:srgbClr val="1F4E79"/>
          </a:solidFill>
          <a:ln w="12700">
            <a:solidFill>
              <a:srgbClr val="1F4E79"/>
            </a:solidFill>
            <a:prstDash val="solid"/>
          </a:ln>
        </p:spPr>
      </p:sp>
      <p:sp>
        <p:nvSpPr>
          <p:cNvPr id="13" name="Text 11"/>
          <p:cNvSpPr txBox="1"/>
          <p:nvPr/>
        </p:nvSpPr>
        <p:spPr>
          <a:xfrm>
            <a:off x="548640" y="308152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2"/>
          <p:cNvSpPr txBox="1"/>
          <p:nvPr/>
        </p:nvSpPr>
        <p:spPr>
          <a:xfrm>
            <a:off x="1188720" y="3044952"/>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Proceso de desarrollo en tres pasos</a:t>
            </a:r>
            <a:endParaRPr lang="en-US" sz="1800" dirty="0"/>
          </a:p>
        </p:txBody>
      </p:sp>
      <p:sp>
        <p:nvSpPr>
          <p:cNvPr id="15" name="Shape 13"/>
          <p:cNvSpPr/>
          <p:nvPr/>
        </p:nvSpPr>
        <p:spPr>
          <a:xfrm>
            <a:off x="548640" y="3685032"/>
            <a:ext cx="438912" cy="438912"/>
          </a:xfrm>
          <a:prstGeom prst="ellipse">
            <a:avLst/>
          </a:prstGeom>
          <a:solidFill>
            <a:srgbClr val="1F4E79"/>
          </a:solidFill>
          <a:ln w="12700">
            <a:solidFill>
              <a:srgbClr val="1F4E79"/>
            </a:solidFill>
            <a:prstDash val="solid"/>
          </a:ln>
        </p:spPr>
      </p:sp>
      <p:sp>
        <p:nvSpPr>
          <p:cNvPr id="16" name="Text 14"/>
          <p:cNvSpPr txBox="1"/>
          <p:nvPr/>
        </p:nvSpPr>
        <p:spPr>
          <a:xfrm>
            <a:off x="548640" y="368503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ext 15"/>
          <p:cNvSpPr txBox="1"/>
          <p:nvPr/>
        </p:nvSpPr>
        <p:spPr>
          <a:xfrm>
            <a:off x="1188720" y="3648456"/>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El taller de planificación interactiva (IPP)</a:t>
            </a:r>
            <a:endParaRPr lang="en-US" sz="1800" dirty="0"/>
          </a:p>
        </p:txBody>
      </p:sp>
      <p:sp>
        <p:nvSpPr>
          <p:cNvPr id="18" name="Shape 16"/>
          <p:cNvSpPr/>
          <p:nvPr/>
        </p:nvSpPr>
        <p:spPr>
          <a:xfrm>
            <a:off x="548640" y="4288536"/>
            <a:ext cx="438912" cy="438912"/>
          </a:xfrm>
          <a:prstGeom prst="ellipse">
            <a:avLst/>
          </a:prstGeom>
          <a:solidFill>
            <a:srgbClr val="1F4E79"/>
          </a:solidFill>
          <a:ln w="12700">
            <a:solidFill>
              <a:srgbClr val="1F4E79"/>
            </a:solidFill>
            <a:prstDash val="solid"/>
          </a:ln>
        </p:spPr>
      </p:sp>
      <p:sp>
        <p:nvSpPr>
          <p:cNvPr id="19" name="Text 17"/>
          <p:cNvSpPr txBox="1"/>
          <p:nvPr/>
        </p:nvSpPr>
        <p:spPr>
          <a:xfrm>
            <a:off x="548640" y="42885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ext 18"/>
          <p:cNvSpPr txBox="1"/>
          <p:nvPr/>
        </p:nvSpPr>
        <p:spPr>
          <a:xfrm>
            <a:off x="1188720" y="4251960"/>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Responsables y gobierno</a:t>
            </a:r>
            <a:endParaRPr lang="en-US" sz="1800" dirty="0"/>
          </a:p>
        </p:txBody>
      </p:sp>
      <p:sp>
        <p:nvSpPr>
          <p:cNvPr id="21" name="Shape 19"/>
          <p:cNvSpPr/>
          <p:nvPr/>
        </p:nvSpPr>
        <p:spPr>
          <a:xfrm>
            <a:off x="548640" y="4892040"/>
            <a:ext cx="438912" cy="438912"/>
          </a:xfrm>
          <a:prstGeom prst="ellipse">
            <a:avLst/>
          </a:prstGeom>
          <a:solidFill>
            <a:srgbClr val="1F4E79"/>
          </a:solidFill>
          <a:ln w="12700">
            <a:solidFill>
              <a:srgbClr val="1F4E79"/>
            </a:solidFill>
            <a:prstDash val="solid"/>
          </a:ln>
        </p:spPr>
      </p:sp>
      <p:sp>
        <p:nvSpPr>
          <p:cNvPr id="22" name="Text 20"/>
          <p:cNvSpPr txBox="1"/>
          <p:nvPr/>
        </p:nvSpPr>
        <p:spPr>
          <a:xfrm>
            <a:off x="548640" y="48920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3" name="Text 21"/>
          <p:cNvSpPr txBox="1"/>
          <p:nvPr/>
        </p:nvSpPr>
        <p:spPr>
          <a:xfrm>
            <a:off x="1188720" y="4855464"/>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Secuenciar CWA y CWP</a:t>
            </a:r>
            <a:endParaRPr lang="en-US" sz="1800" dirty="0"/>
          </a:p>
        </p:txBody>
      </p:sp>
      <p:sp>
        <p:nvSpPr>
          <p:cNvPr id="24" name="Shape 22"/>
          <p:cNvSpPr/>
          <p:nvPr/>
        </p:nvSpPr>
        <p:spPr>
          <a:xfrm>
            <a:off x="548640" y="5495544"/>
            <a:ext cx="438912" cy="438912"/>
          </a:xfrm>
          <a:prstGeom prst="ellipse">
            <a:avLst/>
          </a:prstGeom>
          <a:solidFill>
            <a:srgbClr val="1F4E79"/>
          </a:solidFill>
          <a:ln w="12700">
            <a:solidFill>
              <a:srgbClr val="1F4E79"/>
            </a:solidFill>
            <a:prstDash val="solid"/>
          </a:ln>
        </p:spPr>
      </p:sp>
      <p:sp>
        <p:nvSpPr>
          <p:cNvPr id="25" name="Text 23"/>
          <p:cNvSpPr txBox="1"/>
          <p:nvPr/>
        </p:nvSpPr>
        <p:spPr>
          <a:xfrm>
            <a:off x="548640" y="549554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4"/>
          <p:cNvSpPr txBox="1"/>
          <p:nvPr/>
        </p:nvSpPr>
        <p:spPr>
          <a:xfrm>
            <a:off x="1188720" y="5458968"/>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Programar hacia atrás</a:t>
            </a:r>
            <a:endParaRPr lang="en-US" sz="1800" dirty="0"/>
          </a:p>
        </p:txBody>
      </p:sp>
      <p:sp>
        <p:nvSpPr>
          <p:cNvPr id="27" name="Shape 25"/>
          <p:cNvSpPr/>
          <p:nvPr/>
        </p:nvSpPr>
        <p:spPr>
          <a:xfrm>
            <a:off x="6324448" y="1271016"/>
            <a:ext cx="438912" cy="438912"/>
          </a:xfrm>
          <a:prstGeom prst="ellipse">
            <a:avLst/>
          </a:prstGeom>
          <a:solidFill>
            <a:srgbClr val="1F4E79"/>
          </a:solidFill>
          <a:ln w="12700">
            <a:solidFill>
              <a:srgbClr val="1F4E79"/>
            </a:solidFill>
            <a:prstDash val="solid"/>
          </a:ln>
        </p:spPr>
      </p:sp>
      <p:sp>
        <p:nvSpPr>
          <p:cNvPr id="28" name="Text 26"/>
          <p:cNvSpPr txBox="1"/>
          <p:nvPr/>
        </p:nvSpPr>
        <p:spPr>
          <a:xfrm>
            <a:off x="6324448" y="1271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29" name="Text 27"/>
          <p:cNvSpPr txBox="1"/>
          <p:nvPr/>
        </p:nvSpPr>
        <p:spPr>
          <a:xfrm>
            <a:off x="6964528" y="1234440"/>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Línea de tiempo del PoC del proyecto tipo</a:t>
            </a:r>
            <a:endParaRPr lang="en-US" sz="1800" dirty="0"/>
          </a:p>
        </p:txBody>
      </p:sp>
      <p:sp>
        <p:nvSpPr>
          <p:cNvPr id="30" name="Shape 28"/>
          <p:cNvSpPr/>
          <p:nvPr/>
        </p:nvSpPr>
        <p:spPr>
          <a:xfrm>
            <a:off x="6324448" y="1874520"/>
            <a:ext cx="438912" cy="438912"/>
          </a:xfrm>
          <a:prstGeom prst="ellipse">
            <a:avLst/>
          </a:prstGeom>
          <a:solidFill>
            <a:srgbClr val="1F4E79"/>
          </a:solidFill>
          <a:ln w="12700">
            <a:solidFill>
              <a:srgbClr val="1F4E79"/>
            </a:solidFill>
            <a:prstDash val="solid"/>
          </a:ln>
        </p:spPr>
      </p:sp>
      <p:sp>
        <p:nvSpPr>
          <p:cNvPr id="31" name="Text 29"/>
          <p:cNvSpPr txBox="1"/>
          <p:nvPr/>
        </p:nvSpPr>
        <p:spPr>
          <a:xfrm>
            <a:off x="6324448" y="18745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2" name="Text 30"/>
          <p:cNvSpPr txBox="1"/>
          <p:nvPr/>
        </p:nvSpPr>
        <p:spPr>
          <a:xfrm>
            <a:off x="6964528" y="1837944"/>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La plantilla Path_of_Construction.xlsx</a:t>
            </a:r>
            <a:endParaRPr lang="en-US" sz="1800" dirty="0"/>
          </a:p>
        </p:txBody>
      </p:sp>
      <p:sp>
        <p:nvSpPr>
          <p:cNvPr id="33" name="Shape 31"/>
          <p:cNvSpPr/>
          <p:nvPr/>
        </p:nvSpPr>
        <p:spPr>
          <a:xfrm>
            <a:off x="6324448" y="2478024"/>
            <a:ext cx="438912" cy="438912"/>
          </a:xfrm>
          <a:prstGeom prst="ellipse">
            <a:avLst/>
          </a:prstGeom>
          <a:solidFill>
            <a:srgbClr val="1F4E79"/>
          </a:solidFill>
          <a:ln w="12700">
            <a:solidFill>
              <a:srgbClr val="1F4E79"/>
            </a:solidFill>
            <a:prstDash val="solid"/>
          </a:ln>
        </p:spPr>
      </p:sp>
      <p:sp>
        <p:nvSpPr>
          <p:cNvPr id="34" name="Text 32"/>
          <p:cNvSpPr txBox="1"/>
          <p:nvPr/>
        </p:nvSpPr>
        <p:spPr>
          <a:xfrm>
            <a:off x="6324448" y="24780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35" name="Text 33"/>
          <p:cNvSpPr txBox="1"/>
          <p:nvPr/>
        </p:nvSpPr>
        <p:spPr>
          <a:xfrm>
            <a:off x="6964528" y="2441448"/>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Del PoC a la ejecución</a:t>
            </a:r>
            <a:endParaRPr lang="en-US" sz="1800" dirty="0"/>
          </a:p>
        </p:txBody>
      </p:sp>
      <p:sp>
        <p:nvSpPr>
          <p:cNvPr id="36" name="Shape 34"/>
          <p:cNvSpPr/>
          <p:nvPr/>
        </p:nvSpPr>
        <p:spPr>
          <a:xfrm>
            <a:off x="6324448" y="3081528"/>
            <a:ext cx="438912" cy="438912"/>
          </a:xfrm>
          <a:prstGeom prst="ellipse">
            <a:avLst/>
          </a:prstGeom>
          <a:solidFill>
            <a:srgbClr val="1F4E79"/>
          </a:solidFill>
          <a:ln w="12700">
            <a:solidFill>
              <a:srgbClr val="1F4E79"/>
            </a:solidFill>
            <a:prstDash val="solid"/>
          </a:ln>
        </p:spPr>
      </p:sp>
      <p:sp>
        <p:nvSpPr>
          <p:cNvPr id="37" name="Text 35"/>
          <p:cNvSpPr txBox="1"/>
          <p:nvPr/>
        </p:nvSpPr>
        <p:spPr>
          <a:xfrm>
            <a:off x="6324448" y="308152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38" name="Text 36"/>
          <p:cNvSpPr txBox="1"/>
          <p:nvPr/>
        </p:nvSpPr>
        <p:spPr>
          <a:xfrm>
            <a:off x="6964528" y="3044952"/>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Control, riesgos y lecciones</a:t>
            </a:r>
            <a:endParaRPr lang="en-US" sz="1800" dirty="0"/>
          </a:p>
        </p:txBody>
      </p:sp>
      <p:sp>
        <p:nvSpPr>
          <p:cNvPr id="39" name="Shape 37"/>
          <p:cNvSpPr/>
          <p:nvPr/>
        </p:nvSpPr>
        <p:spPr>
          <a:xfrm>
            <a:off x="6324448" y="3685032"/>
            <a:ext cx="438912" cy="438912"/>
          </a:xfrm>
          <a:prstGeom prst="ellipse">
            <a:avLst/>
          </a:prstGeom>
          <a:solidFill>
            <a:srgbClr val="F5A623"/>
          </a:solidFill>
          <a:ln w="12700">
            <a:solidFill>
              <a:srgbClr val="1F4E79"/>
            </a:solidFill>
            <a:prstDash val="solid"/>
          </a:ln>
        </p:spPr>
      </p:sp>
      <p:sp>
        <p:nvSpPr>
          <p:cNvPr id="40" name="Text 38"/>
          <p:cNvSpPr txBox="1"/>
          <p:nvPr/>
        </p:nvSpPr>
        <p:spPr>
          <a:xfrm>
            <a:off x="6324448" y="3685032"/>
            <a:ext cx="438912" cy="438912"/>
          </a:xfrm>
          <a:prstGeom prst="rect">
            <a:avLst/>
          </a:prstGeom>
          <a:noFill/>
          <a:ln/>
        </p:spPr>
        <p:txBody>
          <a:bodyPr wrap="square" lIns="0" tIns="0" rIns="0" bIns="0" rtlCol="0" anchor="ctr"/>
          <a:lstStyle/>
          <a:p>
            <a:pPr algn="ctr" indent="0" marL="0">
              <a:buNone/>
            </a:pPr>
            <a:r>
              <a:rPr lang="en-US" sz="1400" b="1" dirty="0">
                <a:solidFill>
                  <a:srgbClr val="0F2A43"/>
                </a:solidFill>
                <a:latin typeface="Calibri" pitchFamily="34" charset="0"/>
                <a:ea typeface="Calibri" pitchFamily="34" charset="-122"/>
                <a:cs typeface="Calibri" pitchFamily="34" charset="-120"/>
              </a:rPr>
              <a:t>13</a:t>
            </a:r>
            <a:endParaRPr lang="en-US" sz="1400" dirty="0"/>
          </a:p>
        </p:txBody>
      </p:sp>
      <p:sp>
        <p:nvSpPr>
          <p:cNvPr id="41" name="Text 39"/>
          <p:cNvSpPr txBox="1"/>
          <p:nvPr/>
        </p:nvSpPr>
        <p:spPr>
          <a:xfrm>
            <a:off x="6964528" y="3648456"/>
            <a:ext cx="4587088" cy="512064"/>
          </a:xfrm>
          <a:prstGeom prst="rect">
            <a:avLst/>
          </a:prstGeom>
          <a:noFill/>
          <a:ln/>
        </p:spPr>
        <p:txBody>
          <a:bodyPr wrap="square" lIns="0" tIns="0" rIns="0" bIns="0" rtlCol="0" anchor="ctr"/>
          <a:lstStyle/>
          <a:p>
            <a:pPr indent="0" marL="0">
              <a:buNone/>
            </a:pPr>
            <a:r>
              <a:rPr lang="en-US" sz="1800" dirty="0">
                <a:solidFill>
                  <a:srgbClr val="1B1F24"/>
                </a:solidFill>
                <a:latin typeface="Calibri" pitchFamily="34" charset="0"/>
                <a:ea typeface="Calibri" pitchFamily="34" charset="-122"/>
                <a:cs typeface="Calibri" pitchFamily="34" charset="-120"/>
              </a:rPr>
              <a:t>Buenas prácticas y cierre</a:t>
            </a:r>
            <a:endParaRPr lang="en-US" sz="1800" dirty="0"/>
          </a:p>
        </p:txBody>
      </p:sp>
      <p:sp>
        <p:nvSpPr>
          <p:cNvPr id="42" name="Text 4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01</a:t>
            </a:r>
            <a:endParaRPr lang="en-US" sz="9600" dirty="0"/>
          </a:p>
        </p:txBody>
      </p:sp>
      <p:sp>
        <p:nvSpPr>
          <p:cNvPr id="3" name="Text 1"/>
          <p:cNvSpPr txBox="1"/>
          <p:nvPr/>
        </p:nvSpPr>
        <p:spPr>
          <a:xfrm>
            <a:off x="548640" y="2697480"/>
            <a:ext cx="594360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Qué es el Path of Construction</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La secuencia óptima para construir, probar y entregar</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Definición del CII</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Las preguntas que responde</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La construcción manda</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Relación con los paquetes de trabajo</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Vocabulario básico</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lstStyle/>
          <a:p>
            <a:pPr indent="0" marL="0">
              <a:buNone/>
            </a:pPr>
            <a:r>
              <a:rPr lang="en-US" sz="2800" b="1" dirty="0">
                <a:solidFill>
                  <a:srgbClr val="1B1F24"/>
                </a:solidFill>
                <a:latin typeface="Calibri" pitchFamily="34" charset="0"/>
                <a:ea typeface="Calibri" pitchFamily="34" charset="-122"/>
                <a:cs typeface="Calibri" pitchFamily="34" charset="-120"/>
              </a:rPr>
              <a:t>Definición</a:t>
            </a:r>
            <a:endParaRPr lang="en-US" sz="2800" dirty="0"/>
          </a:p>
        </p:txBody>
      </p:sp>
      <p:sp>
        <p:nvSpPr>
          <p:cNvPr id="3" name="Shape 1"/>
          <p:cNvSpPr/>
          <p:nvPr/>
        </p:nvSpPr>
        <p:spPr>
          <a:xfrm>
            <a:off x="548640" y="1325880"/>
            <a:ext cx="11094415" cy="4206240"/>
          </a:xfrm>
          <a:prstGeom prst="roundRect">
            <a:avLst>
              <a:gd name="adj" fmla="val 3043"/>
            </a:avLst>
          </a:prstGeom>
          <a:solidFill>
            <a:srgbClr val="E2EBF4"/>
          </a:solidFill>
          <a:ln w="9525">
            <a:solidFill>
              <a:srgbClr val="E2EBF4"/>
            </a:solidFill>
            <a:prstDash val="solid"/>
          </a:ln>
        </p:spPr>
      </p:sp>
      <p:sp>
        <p:nvSpPr>
          <p:cNvPr id="4" name="Shape 2"/>
          <p:cNvSpPr/>
          <p:nvPr/>
        </p:nvSpPr>
        <p:spPr>
          <a:xfrm>
            <a:off x="960120" y="1691640"/>
            <a:ext cx="914400" cy="91440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1165860" y="1897380"/>
            <a:ext cx="502920" cy="502920"/>
          </a:xfrm>
          <a:prstGeom prst="rect">
            <a:avLst/>
          </a:prstGeom>
        </p:spPr>
      </p:pic>
      <p:sp>
        <p:nvSpPr>
          <p:cNvPr id="6" name="Text 3"/>
          <p:cNvSpPr txBox="1"/>
          <p:nvPr/>
        </p:nvSpPr>
        <p:spPr>
          <a:xfrm>
            <a:off x="2194560" y="1645920"/>
            <a:ext cx="8991295" cy="3291840"/>
          </a:xfrm>
          <a:prstGeom prst="rect">
            <a:avLst/>
          </a:prstGeom>
          <a:noFill/>
          <a:ln/>
        </p:spPr>
        <p:txBody>
          <a:bodyPr wrap="square" lIns="0" tIns="0" rIns="0" bIns="0" rtlCol="0" anchor="ctr"/>
          <a:lstStyle/>
          <a:p>
            <a:pPr indent="0" marL="0">
              <a:buNone/>
            </a:pPr>
            <a:r>
              <a:rPr lang="en-US" sz="2400" i="1" dirty="0">
                <a:solidFill>
                  <a:srgbClr val="163A5C"/>
                </a:solidFill>
                <a:latin typeface="Calibri" pitchFamily="34" charset="0"/>
                <a:ea typeface="Calibri" pitchFamily="34" charset="-122"/>
                <a:cs typeface="Calibri" pitchFamily="34" charset="-120"/>
              </a:rPr>
              <a:t>«Secuencia óptima de ejecución de las actividades de construcción, dentro de las áreas de trabajo de construcción (CWA) y de los paquetes de trabajo de construcción (CWP), para lograr el desempeño deseado del proyecto. El cronograma de entregables de ingeniería debe estar alineado con la ruta de construcción.»</a:t>
            </a:r>
            <a:endParaRPr lang="en-US" sz="2400" dirty="0"/>
          </a:p>
        </p:txBody>
      </p:sp>
      <p:sp>
        <p:nvSpPr>
          <p:cNvPr id="7" name="Text 4"/>
          <p:cNvSpPr txBox="1"/>
          <p:nvPr/>
        </p:nvSpPr>
        <p:spPr>
          <a:xfrm>
            <a:off x="2194560" y="4983480"/>
            <a:ext cx="8991295" cy="411480"/>
          </a:xfrm>
          <a:prstGeom prst="rect">
            <a:avLst/>
          </a:prstGeom>
          <a:noFill/>
          <a:ln/>
        </p:spPr>
        <p:txBody>
          <a:bodyPr wrap="square" lIns="0" tIns="0" rIns="0" bIns="0" rtlCol="0" anchor="t"/>
          <a:lstStyle/>
          <a:p>
            <a:pPr indent="0" marL="0">
              <a:buNone/>
            </a:pPr>
            <a:r>
              <a:rPr lang="en-US" sz="1400" dirty="0">
                <a:solidFill>
                  <a:srgbClr val="56606B"/>
                </a:solidFill>
                <a:latin typeface="Calibri" pitchFamily="34" charset="0"/>
                <a:ea typeface="Calibri" pitchFamily="34" charset="-122"/>
                <a:cs typeface="Calibri" pitchFamily="34" charset="-120"/>
              </a:rPr>
              <a:t>— Curso integrado de AWP (2023), definición del CII</a:t>
            </a:r>
            <a:endParaRPr lang="en-US" sz="1400" dirty="0"/>
          </a:p>
        </p:txBody>
      </p:sp>
      <p:sp>
        <p:nvSpPr>
          <p:cNvPr id="8" name="Text 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9" name="Text 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Las preguntas que responde 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«¿Cómo se construirá la planta?»</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¿Por dónde empezamos?</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¿De norte a sur? ¿De izquierda a derecha? ¿Desde la sala eléctrica hacia los bloques de proceso?</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¿Cuáles son las prioridades?</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Qué sistemas deben entregarse primero para comisionar y poner en marcha a tiempo.</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¿En qué orden van las áreas?</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La secuencia de CWA y, dentro de cada una, la de sus CWP por disciplina.</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¿Qué depende de qué?</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Predecesores: redes enterradas antes de cimentaciones, cimentaciones curadas antes de estructura.</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¿Qué recursos se comparten?</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Grúas, accesos, zonas de acopio y rutas de izaje que condicionan la secuencia.</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¿Cuándo se necesita cada cosa?</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Fechas requeridas de planos (EWP), de paquetes (CWP) y de materiales en obra (RAS).</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El PoC en el centro de AWP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El comisionamiento y la puesta en marcha fijan la prioridad; la construcción fija la secuencia</a:t>
            </a:r>
            <a:endParaRPr lang="en-US" sz="1500" dirty="0"/>
          </a:p>
        </p:txBody>
      </p:sp>
      <p:sp>
        <p:nvSpPr>
          <p:cNvPr id="4" name="Shape 2"/>
          <p:cNvSpPr/>
          <p:nvPr/>
        </p:nvSpPr>
        <p:spPr>
          <a:xfrm>
            <a:off x="6095848" y="2668219"/>
            <a:ext cx="914" cy="507492"/>
          </a:xfrm>
          <a:prstGeom prst="line">
            <a:avLst/>
          </a:prstGeom>
          <a:noFill/>
          <a:ln w="25400">
            <a:solidFill>
              <a:srgbClr val="B9CCE0"/>
            </a:solidFill>
            <a:prstDash val="solid"/>
            <a:tailEnd type="none"/>
          </a:ln>
        </p:spPr>
      </p:sp>
      <p:sp>
        <p:nvSpPr>
          <p:cNvPr id="5" name="Shape 3"/>
          <p:cNvSpPr/>
          <p:nvPr/>
        </p:nvSpPr>
        <p:spPr>
          <a:xfrm>
            <a:off x="4587088" y="1691640"/>
            <a:ext cx="3017520" cy="1005840"/>
          </a:xfrm>
          <a:prstGeom prst="roundRect">
            <a:avLst>
              <a:gd name="adj" fmla="val 7273"/>
            </a:avLst>
          </a:prstGeom>
          <a:solidFill>
            <a:srgbClr val="FFFFFF"/>
          </a:solidFill>
          <a:ln w="9525">
            <a:solidFill>
              <a:srgbClr val="2A78D6"/>
            </a:solidFill>
            <a:prstDash val="solid"/>
          </a:ln>
        </p:spPr>
      </p:sp>
      <p:sp>
        <p:nvSpPr>
          <p:cNvPr id="6" name="Shape 4"/>
          <p:cNvSpPr/>
          <p:nvPr/>
        </p:nvSpPr>
        <p:spPr>
          <a:xfrm>
            <a:off x="4724248" y="1892808"/>
            <a:ext cx="603504" cy="603504"/>
          </a:xfrm>
          <a:prstGeom prst="ellipse">
            <a:avLst/>
          </a:prstGeom>
          <a:solidFill>
            <a:srgbClr val="2A78D6"/>
          </a:solidFill>
          <a:ln w="12700">
            <a:solidFill>
              <a:srgbClr val="2A78D6"/>
            </a:solidFill>
            <a:prstDash val="solid"/>
          </a:ln>
        </p:spPr>
      </p:sp>
      <p:pic>
        <p:nvPicPr>
          <p:cNvPr id="7" name="Image 0" descr="preencoded.png">    </p:cNvPr>
          <p:cNvPicPr>
            <a:picLocks noChangeAspect="1"/>
          </p:cNvPicPr>
          <p:nvPr/>
        </p:nvPicPr>
        <p:blipFill>
          <a:blip r:embed="rId1"/>
          <a:stretch>
            <a:fillRect/>
          </a:stretch>
        </p:blipFill>
        <p:spPr>
          <a:xfrm>
            <a:off x="4860036" y="2028596"/>
            <a:ext cx="331927" cy="331927"/>
          </a:xfrm>
          <a:prstGeom prst="rect">
            <a:avLst/>
          </a:prstGeom>
        </p:spPr>
      </p:pic>
      <p:sp>
        <p:nvSpPr>
          <p:cNvPr id="8" name="Text 5"/>
          <p:cNvSpPr txBox="1"/>
          <p:nvPr/>
        </p:nvSpPr>
        <p:spPr>
          <a:xfrm>
            <a:off x="5455768" y="1801368"/>
            <a:ext cx="2057400" cy="82296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Construcción</a:t>
            </a:r>
            <a:endParaRPr lang="en-US" sz="1600" dirty="0"/>
          </a:p>
          <a:p>
            <a:pPr indent="0" marL="0">
              <a:buNone/>
            </a:pPr>
            <a:r>
              <a:rPr lang="en-US" sz="1200" dirty="0">
                <a:solidFill>
                  <a:srgbClr val="56606B"/>
                </a:solidFill>
                <a:latin typeface="Calibri" pitchFamily="34" charset="0"/>
                <a:ea typeface="Calibri" pitchFamily="34" charset="-122"/>
                <a:cs typeface="Calibri" pitchFamily="34" charset="-120"/>
              </a:rPr>
              <a:t>Fija la secuencia de CWA y CWP</a:t>
            </a:r>
            <a:endParaRPr lang="en-US" sz="1600" dirty="0"/>
          </a:p>
        </p:txBody>
      </p:sp>
      <p:sp>
        <p:nvSpPr>
          <p:cNvPr id="9" name="Shape 6"/>
          <p:cNvSpPr/>
          <p:nvPr/>
        </p:nvSpPr>
        <p:spPr>
          <a:xfrm>
            <a:off x="7478420" y="3886200"/>
            <a:ext cx="987552" cy="914"/>
          </a:xfrm>
          <a:prstGeom prst="line">
            <a:avLst/>
          </a:prstGeom>
          <a:noFill/>
          <a:ln w="25400">
            <a:solidFill>
              <a:srgbClr val="B9CCE0"/>
            </a:solidFill>
            <a:prstDash val="solid"/>
            <a:tailEnd type="none"/>
          </a:ln>
        </p:spPr>
      </p:sp>
      <p:sp>
        <p:nvSpPr>
          <p:cNvPr id="10" name="Shape 7"/>
          <p:cNvSpPr/>
          <p:nvPr/>
        </p:nvSpPr>
        <p:spPr>
          <a:xfrm>
            <a:off x="7878928" y="3383280"/>
            <a:ext cx="3017520" cy="1005840"/>
          </a:xfrm>
          <a:prstGeom prst="roundRect">
            <a:avLst>
              <a:gd name="adj" fmla="val 7273"/>
            </a:avLst>
          </a:prstGeom>
          <a:solidFill>
            <a:srgbClr val="FFFFFF"/>
          </a:solidFill>
          <a:ln w="9525">
            <a:solidFill>
              <a:srgbClr val="1F4E79"/>
            </a:solidFill>
            <a:prstDash val="solid"/>
          </a:ln>
        </p:spPr>
      </p:sp>
      <p:sp>
        <p:nvSpPr>
          <p:cNvPr id="11" name="Shape 8"/>
          <p:cNvSpPr/>
          <p:nvPr/>
        </p:nvSpPr>
        <p:spPr>
          <a:xfrm>
            <a:off x="8016088" y="3584448"/>
            <a:ext cx="603504" cy="603504"/>
          </a:xfrm>
          <a:prstGeom prst="ellipse">
            <a:avLst/>
          </a:prstGeom>
          <a:solidFill>
            <a:srgbClr val="1F4E79"/>
          </a:solidFill>
          <a:ln w="12700">
            <a:solidFill>
              <a:srgbClr val="1F4E79"/>
            </a:solidFill>
            <a:prstDash val="solid"/>
          </a:ln>
        </p:spPr>
      </p:sp>
      <p:pic>
        <p:nvPicPr>
          <p:cNvPr id="12" name="Image 1" descr="preencoded.png">    </p:cNvPr>
          <p:cNvPicPr>
            <a:picLocks noChangeAspect="1"/>
          </p:cNvPicPr>
          <p:nvPr/>
        </p:nvPicPr>
        <p:blipFill>
          <a:blip r:embed="rId2"/>
          <a:stretch>
            <a:fillRect/>
          </a:stretch>
        </p:blipFill>
        <p:spPr>
          <a:xfrm>
            <a:off x="8151876" y="3720236"/>
            <a:ext cx="331927" cy="331927"/>
          </a:xfrm>
          <a:prstGeom prst="rect">
            <a:avLst/>
          </a:prstGeom>
        </p:spPr>
      </p:pic>
      <p:sp>
        <p:nvSpPr>
          <p:cNvPr id="13" name="Text 9"/>
          <p:cNvSpPr txBox="1"/>
          <p:nvPr/>
        </p:nvSpPr>
        <p:spPr>
          <a:xfrm>
            <a:off x="8747608" y="3493008"/>
            <a:ext cx="2057400" cy="82296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Ingeniería</a:t>
            </a:r>
            <a:endParaRPr lang="en-US" sz="1600" dirty="0"/>
          </a:p>
          <a:p>
            <a:pPr indent="0" marL="0">
              <a:buNone/>
            </a:pPr>
            <a:r>
              <a:rPr lang="en-US" sz="1200" dirty="0">
                <a:solidFill>
                  <a:srgbClr val="56606B"/>
                </a:solidFill>
                <a:latin typeface="Calibri" pitchFamily="34" charset="0"/>
                <a:ea typeface="Calibri" pitchFamily="34" charset="-122"/>
                <a:cs typeface="Calibri" pitchFamily="34" charset="-120"/>
              </a:rPr>
              <a:t>Emite EWP en la secuencia (Path of Engineering)</a:t>
            </a:r>
            <a:endParaRPr lang="en-US" sz="1600" dirty="0"/>
          </a:p>
        </p:txBody>
      </p:sp>
      <p:sp>
        <p:nvSpPr>
          <p:cNvPr id="14" name="Shape 10"/>
          <p:cNvSpPr/>
          <p:nvPr/>
        </p:nvSpPr>
        <p:spPr>
          <a:xfrm>
            <a:off x="6095848" y="4596689"/>
            <a:ext cx="914" cy="507492"/>
          </a:xfrm>
          <a:prstGeom prst="line">
            <a:avLst/>
          </a:prstGeom>
          <a:noFill/>
          <a:ln w="25400">
            <a:solidFill>
              <a:srgbClr val="B9CCE0"/>
            </a:solidFill>
            <a:prstDash val="solid"/>
            <a:tailEnd type="none"/>
          </a:ln>
        </p:spPr>
      </p:sp>
      <p:sp>
        <p:nvSpPr>
          <p:cNvPr id="15" name="Shape 11"/>
          <p:cNvSpPr/>
          <p:nvPr/>
        </p:nvSpPr>
        <p:spPr>
          <a:xfrm>
            <a:off x="4587088" y="5074920"/>
            <a:ext cx="3017520" cy="1005840"/>
          </a:xfrm>
          <a:prstGeom prst="roundRect">
            <a:avLst>
              <a:gd name="adj" fmla="val 7273"/>
            </a:avLst>
          </a:prstGeom>
          <a:solidFill>
            <a:srgbClr val="FFFFFF"/>
          </a:solidFill>
          <a:ln w="9525">
            <a:solidFill>
              <a:srgbClr val="1BAF7A"/>
            </a:solidFill>
            <a:prstDash val="solid"/>
          </a:ln>
        </p:spPr>
      </p:sp>
      <p:sp>
        <p:nvSpPr>
          <p:cNvPr id="16" name="Shape 12"/>
          <p:cNvSpPr/>
          <p:nvPr/>
        </p:nvSpPr>
        <p:spPr>
          <a:xfrm>
            <a:off x="4724248" y="5276088"/>
            <a:ext cx="603504" cy="603504"/>
          </a:xfrm>
          <a:prstGeom prst="ellipse">
            <a:avLst/>
          </a:prstGeom>
          <a:solidFill>
            <a:srgbClr val="1BAF7A"/>
          </a:solidFill>
          <a:ln w="12700">
            <a:solidFill>
              <a:srgbClr val="1BAF7A"/>
            </a:solidFill>
            <a:prstDash val="solid"/>
          </a:ln>
        </p:spPr>
      </p:sp>
      <p:pic>
        <p:nvPicPr>
          <p:cNvPr id="17" name="Image 2" descr="preencoded.png">    </p:cNvPr>
          <p:cNvPicPr>
            <a:picLocks noChangeAspect="1"/>
          </p:cNvPicPr>
          <p:nvPr/>
        </p:nvPicPr>
        <p:blipFill>
          <a:blip r:embed="rId3"/>
          <a:stretch>
            <a:fillRect/>
          </a:stretch>
        </p:blipFill>
        <p:spPr>
          <a:xfrm>
            <a:off x="4860036" y="5411876"/>
            <a:ext cx="331927" cy="331927"/>
          </a:xfrm>
          <a:prstGeom prst="rect">
            <a:avLst/>
          </a:prstGeom>
        </p:spPr>
      </p:pic>
      <p:sp>
        <p:nvSpPr>
          <p:cNvPr id="18" name="Text 13"/>
          <p:cNvSpPr txBox="1"/>
          <p:nvPr/>
        </p:nvSpPr>
        <p:spPr>
          <a:xfrm>
            <a:off x="5455768" y="5184648"/>
            <a:ext cx="2057400" cy="82296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Procura</a:t>
            </a:r>
            <a:endParaRPr lang="en-US" sz="1600" dirty="0"/>
          </a:p>
          <a:p>
            <a:pPr indent="0" marL="0">
              <a:buNone/>
            </a:pPr>
            <a:r>
              <a:rPr lang="en-US" sz="1200" dirty="0">
                <a:solidFill>
                  <a:srgbClr val="56606B"/>
                </a:solidFill>
                <a:latin typeface="Calibri" pitchFamily="34" charset="0"/>
                <a:ea typeface="Calibri" pitchFamily="34" charset="-122"/>
                <a:cs typeface="Calibri" pitchFamily="34" charset="-120"/>
              </a:rPr>
              <a:t>Compra por PWP con fechas RAS del PoC</a:t>
            </a:r>
            <a:endParaRPr lang="en-US" sz="1600" dirty="0"/>
          </a:p>
        </p:txBody>
      </p:sp>
      <p:sp>
        <p:nvSpPr>
          <p:cNvPr id="19" name="Shape 14"/>
          <p:cNvSpPr/>
          <p:nvPr/>
        </p:nvSpPr>
        <p:spPr>
          <a:xfrm flipH="1">
            <a:off x="3725723" y="3886200"/>
            <a:ext cx="987552" cy="914"/>
          </a:xfrm>
          <a:prstGeom prst="line">
            <a:avLst/>
          </a:prstGeom>
          <a:noFill/>
          <a:ln w="25400">
            <a:solidFill>
              <a:srgbClr val="B9CCE0"/>
            </a:solidFill>
            <a:prstDash val="solid"/>
            <a:tailEnd type="none"/>
          </a:ln>
        </p:spPr>
      </p:sp>
      <p:sp>
        <p:nvSpPr>
          <p:cNvPr id="20" name="Shape 15"/>
          <p:cNvSpPr/>
          <p:nvPr/>
        </p:nvSpPr>
        <p:spPr>
          <a:xfrm>
            <a:off x="1295248" y="3383280"/>
            <a:ext cx="3017520" cy="1005840"/>
          </a:xfrm>
          <a:prstGeom prst="roundRect">
            <a:avLst>
              <a:gd name="adj" fmla="val 7273"/>
            </a:avLst>
          </a:prstGeom>
          <a:solidFill>
            <a:srgbClr val="FFFFFF"/>
          </a:solidFill>
          <a:ln w="9525">
            <a:solidFill>
              <a:srgbClr val="EB6834"/>
            </a:solidFill>
            <a:prstDash val="solid"/>
          </a:ln>
        </p:spPr>
      </p:sp>
      <p:sp>
        <p:nvSpPr>
          <p:cNvPr id="21" name="Shape 16"/>
          <p:cNvSpPr/>
          <p:nvPr/>
        </p:nvSpPr>
        <p:spPr>
          <a:xfrm>
            <a:off x="1432408" y="3584448"/>
            <a:ext cx="603504" cy="603504"/>
          </a:xfrm>
          <a:prstGeom prst="ellipse">
            <a:avLst/>
          </a:prstGeom>
          <a:solidFill>
            <a:srgbClr val="EB6834"/>
          </a:solidFill>
          <a:ln w="12700">
            <a:solidFill>
              <a:srgbClr val="EB6834"/>
            </a:solidFill>
            <a:prstDash val="solid"/>
          </a:ln>
        </p:spPr>
      </p:sp>
      <p:pic>
        <p:nvPicPr>
          <p:cNvPr id="22" name="Image 3" descr="preencoded.png">    </p:cNvPr>
          <p:cNvPicPr>
            <a:picLocks noChangeAspect="1"/>
          </p:cNvPicPr>
          <p:nvPr/>
        </p:nvPicPr>
        <p:blipFill>
          <a:blip r:embed="rId4"/>
          <a:stretch>
            <a:fillRect/>
          </a:stretch>
        </p:blipFill>
        <p:spPr>
          <a:xfrm>
            <a:off x="1568196" y="3720236"/>
            <a:ext cx="331927" cy="331927"/>
          </a:xfrm>
          <a:prstGeom prst="rect">
            <a:avLst/>
          </a:prstGeom>
        </p:spPr>
      </p:pic>
      <p:sp>
        <p:nvSpPr>
          <p:cNvPr id="23" name="Text 17"/>
          <p:cNvSpPr txBox="1"/>
          <p:nvPr/>
        </p:nvSpPr>
        <p:spPr>
          <a:xfrm>
            <a:off x="2163928" y="3493008"/>
            <a:ext cx="2057400" cy="82296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Comisionamiento</a:t>
            </a:r>
            <a:endParaRPr lang="en-US" sz="1600" dirty="0"/>
          </a:p>
          <a:p>
            <a:pPr indent="0" marL="0">
              <a:buNone/>
            </a:pPr>
            <a:r>
              <a:rPr lang="en-US" sz="1200" dirty="0">
                <a:solidFill>
                  <a:srgbClr val="56606B"/>
                </a:solidFill>
                <a:latin typeface="Calibri" pitchFamily="34" charset="0"/>
                <a:ea typeface="Calibri" pitchFamily="34" charset="-122"/>
                <a:cs typeface="Calibri" pitchFamily="34" charset="-120"/>
              </a:rPr>
              <a:t>Fija la prioridad: qué sistemas primero</a:t>
            </a:r>
            <a:endParaRPr lang="en-US" sz="1600" dirty="0"/>
          </a:p>
        </p:txBody>
      </p:sp>
      <p:sp>
        <p:nvSpPr>
          <p:cNvPr id="24" name="Shape 18"/>
          <p:cNvSpPr/>
          <p:nvPr/>
        </p:nvSpPr>
        <p:spPr>
          <a:xfrm>
            <a:off x="5135728" y="2926080"/>
            <a:ext cx="1920240" cy="1920240"/>
          </a:xfrm>
          <a:prstGeom prst="ellipse">
            <a:avLst/>
          </a:prstGeom>
          <a:solidFill>
            <a:srgbClr val="0F2A43"/>
          </a:solidFill>
          <a:ln w="38100">
            <a:solidFill>
              <a:srgbClr val="F5A623"/>
            </a:solidFill>
            <a:prstDash val="solid"/>
          </a:ln>
        </p:spPr>
      </p:sp>
      <p:sp>
        <p:nvSpPr>
          <p:cNvPr id="25" name="Text 19"/>
          <p:cNvSpPr txBox="1"/>
          <p:nvPr/>
        </p:nvSpPr>
        <p:spPr>
          <a:xfrm>
            <a:off x="5135728" y="2926080"/>
            <a:ext cx="1920240" cy="1920240"/>
          </a:xfrm>
          <a:prstGeom prst="rect">
            <a:avLst/>
          </a:prstGeom>
          <a:noFill/>
          <a:ln/>
        </p:spPr>
        <p:txBody>
          <a:bodyPr wrap="square" lIns="0" tIns="0" rIns="0" bIns="0" rtlCol="0" anchor="ctr"/>
          <a:lstStyle/>
          <a:p>
            <a:pPr algn="ctr" indent="0" marL="0">
              <a:buNone/>
            </a:pPr>
            <a:r>
              <a:rPr lang="en-US" sz="3000" b="1" dirty="0">
                <a:solidFill>
                  <a:srgbClr val="F5A623"/>
                </a:solidFill>
                <a:latin typeface="Calibri" pitchFamily="34" charset="0"/>
                <a:ea typeface="Calibri" pitchFamily="34" charset="-122"/>
                <a:cs typeface="Calibri" pitchFamily="34" charset="-120"/>
              </a:rPr>
              <a:t>PoC</a:t>
            </a:r>
            <a:endParaRPr lang="en-US" sz="3000" dirty="0"/>
          </a:p>
          <a:p>
            <a:pPr algn="ctr" indent="0" marL="0">
              <a:buNone/>
            </a:pPr>
            <a:r>
              <a:rPr lang="en-US" sz="1200" dirty="0">
                <a:solidFill>
                  <a:srgbClr val="FFFFFF"/>
                </a:solidFill>
                <a:latin typeface="Calibri" pitchFamily="34" charset="0"/>
                <a:ea typeface="Calibri" pitchFamily="34" charset="-122"/>
                <a:cs typeface="Calibri" pitchFamily="34" charset="-120"/>
              </a:rPr>
              <a:t>Path of Construction</a:t>
            </a:r>
            <a:endParaRPr lang="en-US" sz="3000" dirty="0"/>
          </a:p>
        </p:txBody>
      </p:sp>
      <p:sp>
        <p:nvSpPr>
          <p:cNvPr id="26" name="Text 2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27" name="Text 2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 secuencia de construcción manda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El cambio de lógica que introduce AWP</a:t>
            </a:r>
            <a:endParaRPr lang="en-US" sz="1500" dirty="0"/>
          </a:p>
        </p:txBody>
      </p:sp>
      <p:sp>
        <p:nvSpPr>
          <p:cNvPr id="4" name="Shape 2"/>
          <p:cNvSpPr/>
          <p:nvPr/>
        </p:nvSpPr>
        <p:spPr>
          <a:xfrm>
            <a:off x="548640" y="1554480"/>
            <a:ext cx="5364328" cy="4709160"/>
          </a:xfrm>
          <a:prstGeom prst="roundRect">
            <a:avLst>
              <a:gd name="adj" fmla="val 1942"/>
            </a:avLst>
          </a:prstGeom>
          <a:solidFill>
            <a:srgbClr val="F4F7FA"/>
          </a:solidFill>
          <a:ln w="9525">
            <a:solidFill>
              <a:srgbClr val="DDE4EC"/>
            </a:solidFill>
            <a:prstDash val="solid"/>
          </a:ln>
        </p:spPr>
      </p:sp>
      <p:sp>
        <p:nvSpPr>
          <p:cNvPr id="5" name="Shape 3"/>
          <p:cNvSpPr/>
          <p:nvPr/>
        </p:nvSpPr>
        <p:spPr>
          <a:xfrm>
            <a:off x="822960" y="1810512"/>
            <a:ext cx="566928" cy="56692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50519" y="1938071"/>
            <a:ext cx="311810" cy="311810"/>
          </a:xfrm>
          <a:prstGeom prst="rect">
            <a:avLst/>
          </a:prstGeom>
        </p:spPr>
      </p:pic>
      <p:sp>
        <p:nvSpPr>
          <p:cNvPr id="7" name="Text 4"/>
          <p:cNvSpPr txBox="1"/>
          <p:nvPr/>
        </p:nvSpPr>
        <p:spPr>
          <a:xfrm>
            <a:off x="1554480" y="1810512"/>
            <a:ext cx="4084168" cy="566928"/>
          </a:xfrm>
          <a:prstGeom prst="rect">
            <a:avLst/>
          </a:prstGeom>
          <a:noFill/>
          <a:ln/>
        </p:spPr>
        <p:txBody>
          <a:bodyPr wrap="square" lIns="0" tIns="0" rIns="0" bIns="0" rtlCol="0" anchor="ctr"/>
          <a:lstStyle/>
          <a:p>
            <a:pPr indent="0" marL="0">
              <a:buNone/>
            </a:pPr>
            <a:r>
              <a:rPr lang="en-US" sz="2100" b="1" dirty="0">
                <a:solidFill>
                  <a:srgbClr val="D03B3B"/>
                </a:solidFill>
                <a:latin typeface="Calibri" pitchFamily="34" charset="0"/>
                <a:ea typeface="Calibri" pitchFamily="34" charset="-122"/>
                <a:cs typeface="Calibri" pitchFamily="34" charset="-120"/>
              </a:rPr>
              <a:t>Planificación tradicional</a:t>
            </a:r>
            <a:endParaRPr lang="en-US" sz="2100" dirty="0"/>
          </a:p>
        </p:txBody>
      </p:sp>
      <p:sp>
        <p:nvSpPr>
          <p:cNvPr id="8" name="Text 5"/>
          <p:cNvSpPr txBox="1"/>
          <p:nvPr/>
        </p:nvSpPr>
        <p:spPr>
          <a:xfrm>
            <a:off x="868680"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Ingeniería avanza por disciplina, según su propia conveniencia.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Procura compra según el avance de ingeniería o el precio.</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Construcción recibe planos y materiales en un orden que no le sirve.</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Los frentes esperan información; se trabaja «donde se puede».</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El cronograma de nivel 3 se arma sin una lógica constructiva común.</a:t>
            </a:r>
            <a:endParaRPr lang="en-US" sz="1600" dirty="0"/>
          </a:p>
        </p:txBody>
      </p:sp>
      <p:sp>
        <p:nvSpPr>
          <p:cNvPr id="9" name="Shape 6"/>
          <p:cNvSpPr/>
          <p:nvPr/>
        </p:nvSpPr>
        <p:spPr>
          <a:xfrm>
            <a:off x="6278728" y="1554480"/>
            <a:ext cx="5364328" cy="4709160"/>
          </a:xfrm>
          <a:prstGeom prst="roundRect">
            <a:avLst>
              <a:gd name="adj" fmla="val 1942"/>
            </a:avLst>
          </a:prstGeom>
          <a:solidFill>
            <a:srgbClr val="F4F7FA"/>
          </a:solidFill>
          <a:ln w="9525">
            <a:solidFill>
              <a:srgbClr val="DDE4EC"/>
            </a:solidFill>
            <a:prstDash val="solid"/>
          </a:ln>
        </p:spPr>
      </p:sp>
      <p:sp>
        <p:nvSpPr>
          <p:cNvPr id="10" name="Shape 7"/>
          <p:cNvSpPr/>
          <p:nvPr/>
        </p:nvSpPr>
        <p:spPr>
          <a:xfrm>
            <a:off x="6553048" y="1810512"/>
            <a:ext cx="566928" cy="56692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80606" y="1938071"/>
            <a:ext cx="311810" cy="311810"/>
          </a:xfrm>
          <a:prstGeom prst="rect">
            <a:avLst/>
          </a:prstGeom>
        </p:spPr>
      </p:pic>
      <p:sp>
        <p:nvSpPr>
          <p:cNvPr id="12" name="Text 8"/>
          <p:cNvSpPr txBox="1"/>
          <p:nvPr/>
        </p:nvSpPr>
        <p:spPr>
          <a:xfrm>
            <a:off x="7284568" y="1810512"/>
            <a:ext cx="4084168" cy="566928"/>
          </a:xfrm>
          <a:prstGeom prst="rect">
            <a:avLst/>
          </a:prstGeom>
          <a:noFill/>
          <a:ln/>
        </p:spPr>
        <p:txBody>
          <a:bodyPr wrap="square" lIns="0" tIns="0" rIns="0" bIns="0" rtlCol="0" anchor="ctr"/>
          <a:lstStyle/>
          <a:p>
            <a:pPr indent="0" marL="0">
              <a:buNone/>
            </a:pPr>
            <a:r>
              <a:rPr lang="en-US" sz="2100" b="1" dirty="0">
                <a:solidFill>
                  <a:srgbClr val="0CA30C"/>
                </a:solidFill>
                <a:latin typeface="Calibri" pitchFamily="34" charset="0"/>
                <a:ea typeface="Calibri" pitchFamily="34" charset="-122"/>
                <a:cs typeface="Calibri" pitchFamily="34" charset="-120"/>
              </a:rPr>
              <a:t>Con Path of Construction</a:t>
            </a:r>
            <a:endParaRPr lang="en-US" sz="2100" dirty="0"/>
          </a:p>
        </p:txBody>
      </p:sp>
      <p:sp>
        <p:nvSpPr>
          <p:cNvPr id="13" name="Text 9"/>
          <p:cNvSpPr txBox="1"/>
          <p:nvPr/>
        </p:nvSpPr>
        <p:spPr>
          <a:xfrm>
            <a:off x="6598768"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Construcción define la secuencia de CWA y CWP en talleres.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Ingeniería entrega cada EWP en la secuencia de los CWP (Path of Engineering).</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Procura fija las fechas RAS desde el PoC, no desde el avance de ingeniería.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Cada CWP arranca con planos IFC y materiales disponibles.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El PoC es la base del cronograma integrado de nivel 3.</a:t>
            </a:r>
            <a:endParaRPr lang="en-US" sz="1600" dirty="0"/>
          </a:p>
        </p:txBody>
      </p:sp>
      <p:sp>
        <p:nvSpPr>
          <p:cNvPr id="14"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15"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El PoC y los niveles de cronograma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La ruta ordena cada nivel; cada nivel tiene su paquete</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80160"/>
                <a:gridCol w="3291840"/>
                <a:gridCol w="4206240"/>
                <a:gridCol w="219456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Nivel</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Contenido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Relación con el PoC</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Quién lo mantiene</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Nivel 1</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Hitos del proyecto y fases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Insumo del paso 1: fechas de contrato y de puesta en marcha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GP / CTR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Nivel 2</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CWA y grandes frentes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Resultado del paso 2 (PoC con restricciones)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CTR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Nivel 3</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Una actividad por CWP, EWP y PWP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Resultado del paso 3: el PoC final es su base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CTR con CON, ING, PRO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Nivel 4</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Programas por disciplina o contratista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Siguen la secuencia de los CWP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CON / SUB</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Nivel 5</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IWP (una cuadrilla, ~1 semana)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Los IWP se ordenan en el lookahead según 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LWF / WFP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PoC y cronograma no son lo mismo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Una confusión frecuente</a:t>
            </a:r>
            <a:endParaRPr lang="en-US" sz="1500" dirty="0"/>
          </a:p>
        </p:txBody>
      </p:sp>
      <p:sp>
        <p:nvSpPr>
          <p:cNvPr id="4" name="Shape 2"/>
          <p:cNvSpPr/>
          <p:nvPr/>
        </p:nvSpPr>
        <p:spPr>
          <a:xfrm>
            <a:off x="548640" y="1554480"/>
            <a:ext cx="5364328" cy="4709160"/>
          </a:xfrm>
          <a:prstGeom prst="roundRect">
            <a:avLst>
              <a:gd name="adj" fmla="val 1942"/>
            </a:avLst>
          </a:prstGeom>
          <a:solidFill>
            <a:srgbClr val="F4F7FA"/>
          </a:solidFill>
          <a:ln w="9525">
            <a:solidFill>
              <a:srgbClr val="DDE4EC"/>
            </a:solidFill>
            <a:prstDash val="solid"/>
          </a:ln>
        </p:spPr>
      </p:sp>
      <p:sp>
        <p:nvSpPr>
          <p:cNvPr id="5" name="Shape 3"/>
          <p:cNvSpPr/>
          <p:nvPr/>
        </p:nvSpPr>
        <p:spPr>
          <a:xfrm>
            <a:off x="822960" y="1810512"/>
            <a:ext cx="566928" cy="56692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50519" y="1938071"/>
            <a:ext cx="311810" cy="311810"/>
          </a:xfrm>
          <a:prstGeom prst="rect">
            <a:avLst/>
          </a:prstGeom>
        </p:spPr>
      </p:pic>
      <p:sp>
        <p:nvSpPr>
          <p:cNvPr id="7" name="Text 4"/>
          <p:cNvSpPr txBox="1"/>
          <p:nvPr/>
        </p:nvSpPr>
        <p:spPr>
          <a:xfrm>
            <a:off x="1554480" y="1810512"/>
            <a:ext cx="4084168" cy="566928"/>
          </a:xfrm>
          <a:prstGeom prst="rect">
            <a:avLst/>
          </a:prstGeom>
          <a:noFill/>
          <a:ln/>
        </p:spPr>
        <p:txBody>
          <a:bodyPr wrap="square" lIns="0" tIns="0" rIns="0" bIns="0" rtlCol="0" anchor="ctr"/>
          <a:lstStyle/>
          <a:p>
            <a:pPr indent="0" marL="0">
              <a:buNone/>
            </a:pPr>
            <a:r>
              <a:rPr lang="en-US" sz="2100" b="1" dirty="0">
                <a:solidFill>
                  <a:srgbClr val="1F4E79"/>
                </a:solidFill>
                <a:latin typeface="Calibri" pitchFamily="34" charset="0"/>
                <a:ea typeface="Calibri" pitchFamily="34" charset="-122"/>
                <a:cs typeface="Calibri" pitchFamily="34" charset="-120"/>
              </a:rPr>
              <a:t>Path of Construction</a:t>
            </a:r>
            <a:endParaRPr lang="en-US" sz="2100" dirty="0"/>
          </a:p>
        </p:txBody>
      </p:sp>
      <p:sp>
        <p:nvSpPr>
          <p:cNvPr id="8" name="Text 5"/>
          <p:cNvSpPr txBox="1"/>
          <p:nvPr/>
        </p:nvSpPr>
        <p:spPr>
          <a:xfrm>
            <a:off x="868680"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Es la secuencia y su lógica: qué va primero y por qué.</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Se construye en talleres, sobre el plano y los sistemas.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Incluye justificaciones, supuestos, interfaces y recursos.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Se expresa en áreas, paquetes y sistemas.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Es la base para el cronograma.</a:t>
            </a:r>
            <a:endParaRPr lang="en-US" sz="1600" dirty="0"/>
          </a:p>
        </p:txBody>
      </p:sp>
      <p:sp>
        <p:nvSpPr>
          <p:cNvPr id="9" name="Shape 6"/>
          <p:cNvSpPr/>
          <p:nvPr/>
        </p:nvSpPr>
        <p:spPr>
          <a:xfrm>
            <a:off x="6278728" y="1554480"/>
            <a:ext cx="5364328" cy="4709160"/>
          </a:xfrm>
          <a:prstGeom prst="roundRect">
            <a:avLst>
              <a:gd name="adj" fmla="val 1942"/>
            </a:avLst>
          </a:prstGeom>
          <a:solidFill>
            <a:srgbClr val="F4F7FA"/>
          </a:solidFill>
          <a:ln w="9525">
            <a:solidFill>
              <a:srgbClr val="DDE4EC"/>
            </a:solidFill>
            <a:prstDash val="solid"/>
          </a:ln>
        </p:spPr>
      </p:sp>
      <p:sp>
        <p:nvSpPr>
          <p:cNvPr id="10" name="Shape 7"/>
          <p:cNvSpPr/>
          <p:nvPr/>
        </p:nvSpPr>
        <p:spPr>
          <a:xfrm>
            <a:off x="6553048" y="1810512"/>
            <a:ext cx="566928" cy="56692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80606" y="1938071"/>
            <a:ext cx="311810" cy="311810"/>
          </a:xfrm>
          <a:prstGeom prst="rect">
            <a:avLst/>
          </a:prstGeom>
        </p:spPr>
      </p:pic>
      <p:sp>
        <p:nvSpPr>
          <p:cNvPr id="12" name="Text 8"/>
          <p:cNvSpPr txBox="1"/>
          <p:nvPr/>
        </p:nvSpPr>
        <p:spPr>
          <a:xfrm>
            <a:off x="7284568" y="1810512"/>
            <a:ext cx="4084168" cy="566928"/>
          </a:xfrm>
          <a:prstGeom prst="rect">
            <a:avLst/>
          </a:prstGeom>
          <a:noFill/>
          <a:ln/>
        </p:spPr>
        <p:txBody>
          <a:bodyPr wrap="square" lIns="0" tIns="0" rIns="0" bIns="0" rtlCol="0" anchor="ctr"/>
          <a:lstStyle/>
          <a:p>
            <a:pPr indent="0" marL="0">
              <a:buNone/>
            </a:pPr>
            <a:r>
              <a:rPr lang="en-US" sz="2100" b="1" dirty="0">
                <a:solidFill>
                  <a:srgbClr val="B7760B"/>
                </a:solidFill>
                <a:latin typeface="Calibri" pitchFamily="34" charset="0"/>
                <a:ea typeface="Calibri" pitchFamily="34" charset="-122"/>
                <a:cs typeface="Calibri" pitchFamily="34" charset="-120"/>
              </a:rPr>
              <a:t>Cronograma de nivel 3</a:t>
            </a:r>
            <a:endParaRPr lang="en-US" sz="2100" dirty="0"/>
          </a:p>
        </p:txBody>
      </p:sp>
      <p:sp>
        <p:nvSpPr>
          <p:cNvPr id="13" name="Text 9"/>
          <p:cNvSpPr txBox="1"/>
          <p:nvPr/>
        </p:nvSpPr>
        <p:spPr>
          <a:xfrm>
            <a:off x="6598768"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Es la programación en el tiempo: fechas y duraciones.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Lo arma controles del proyecto a partir del PoC.</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Agrega recursos, calendario y ruta crítica.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Se expresa en actividades de CWP, EWP y PWP.</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Se controla con avance y valor ganado (K13).</a:t>
            </a:r>
            <a:endParaRPr lang="en-US" sz="1600" dirty="0"/>
          </a:p>
        </p:txBody>
      </p:sp>
      <p:sp>
        <p:nvSpPr>
          <p:cNvPr id="14"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15"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El PoC y los paquetes de trabajo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Sustenta la visión macro (CWA, CWP) y la micro (IWP, SWP, TOP)</a:t>
            </a:r>
            <a:endParaRPr lang="en-US" sz="1500" dirty="0"/>
          </a:p>
        </p:txBody>
      </p:sp>
      <p:sp>
        <p:nvSpPr>
          <p:cNvPr id="4" name="Shape 2"/>
          <p:cNvSpPr/>
          <p:nvPr/>
        </p:nvSpPr>
        <p:spPr>
          <a:xfrm>
            <a:off x="548640" y="2011680"/>
            <a:ext cx="1911645" cy="3291840"/>
          </a:xfrm>
          <a:prstGeom prst="roundRect">
            <a:avLst>
              <a:gd name="adj" fmla="val 3827"/>
            </a:avLst>
          </a:prstGeom>
          <a:solidFill>
            <a:srgbClr val="F4F7FA"/>
          </a:solidFill>
          <a:ln w="9525">
            <a:solidFill>
              <a:srgbClr val="DDE4EC"/>
            </a:solidFill>
            <a:prstDash val="solid"/>
          </a:ln>
        </p:spPr>
      </p:sp>
      <p:sp>
        <p:nvSpPr>
          <p:cNvPr id="5" name="Shape 3"/>
          <p:cNvSpPr/>
          <p:nvPr/>
        </p:nvSpPr>
        <p:spPr>
          <a:xfrm>
            <a:off x="713232" y="2194560"/>
            <a:ext cx="1582461" cy="640080"/>
          </a:xfrm>
          <a:prstGeom prst="roundRect">
            <a:avLst>
              <a:gd name="adj" fmla="val 11429"/>
            </a:avLst>
          </a:prstGeom>
          <a:solidFill>
            <a:srgbClr val="1F4E79"/>
          </a:solidFill>
          <a:ln w="12700">
            <a:solidFill>
              <a:srgbClr val="1F4E79"/>
            </a:solidFill>
            <a:prstDash val="solid"/>
          </a:ln>
        </p:spPr>
      </p:sp>
      <p:sp>
        <p:nvSpPr>
          <p:cNvPr id="6" name="Text 4"/>
          <p:cNvSpPr txBox="1"/>
          <p:nvPr/>
        </p:nvSpPr>
        <p:spPr>
          <a:xfrm>
            <a:off x="713232"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CWA</a:t>
            </a:r>
            <a:endParaRPr lang="en-US" sz="1600" dirty="0"/>
          </a:p>
        </p:txBody>
      </p:sp>
      <p:sp>
        <p:nvSpPr>
          <p:cNvPr id="7" name="Text 5"/>
          <p:cNvSpPr txBox="1"/>
          <p:nvPr/>
        </p:nvSpPr>
        <p:spPr>
          <a:xfrm>
            <a:off x="749808"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El PoC fija la secuencia en que se liberan y ejecutan las áreas.</a:t>
            </a:r>
            <a:endParaRPr lang="en-US" sz="1450" dirty="0"/>
          </a:p>
        </p:txBody>
      </p:sp>
      <p:pic>
        <p:nvPicPr>
          <p:cNvPr id="8" name="Image 0" descr="preencoded.png">    </p:cNvPr>
          <p:cNvPicPr>
            <a:picLocks noChangeAspect="1"/>
          </p:cNvPicPr>
          <p:nvPr/>
        </p:nvPicPr>
        <p:blipFill>
          <a:blip r:embed="rId1"/>
          <a:stretch>
            <a:fillRect/>
          </a:stretch>
        </p:blipFill>
        <p:spPr>
          <a:xfrm>
            <a:off x="2496861" y="3502152"/>
            <a:ext cx="310896" cy="310896"/>
          </a:xfrm>
          <a:prstGeom prst="rect">
            <a:avLst/>
          </a:prstGeom>
        </p:spPr>
      </p:pic>
      <p:sp>
        <p:nvSpPr>
          <p:cNvPr id="9" name="Shape 6"/>
          <p:cNvSpPr/>
          <p:nvPr/>
        </p:nvSpPr>
        <p:spPr>
          <a:xfrm>
            <a:off x="2844333" y="2011680"/>
            <a:ext cx="1911645" cy="3291840"/>
          </a:xfrm>
          <a:prstGeom prst="roundRect">
            <a:avLst>
              <a:gd name="adj" fmla="val 3827"/>
            </a:avLst>
          </a:prstGeom>
          <a:solidFill>
            <a:srgbClr val="F4F7FA"/>
          </a:solidFill>
          <a:ln w="9525">
            <a:solidFill>
              <a:srgbClr val="DDE4EC"/>
            </a:solidFill>
            <a:prstDash val="solid"/>
          </a:ln>
        </p:spPr>
      </p:sp>
      <p:sp>
        <p:nvSpPr>
          <p:cNvPr id="10" name="Shape 7"/>
          <p:cNvSpPr/>
          <p:nvPr/>
        </p:nvSpPr>
        <p:spPr>
          <a:xfrm>
            <a:off x="3008925" y="2194560"/>
            <a:ext cx="1582461" cy="640080"/>
          </a:xfrm>
          <a:prstGeom prst="roundRect">
            <a:avLst>
              <a:gd name="adj" fmla="val 11429"/>
            </a:avLst>
          </a:prstGeom>
          <a:solidFill>
            <a:srgbClr val="1F4E79"/>
          </a:solidFill>
          <a:ln w="12700">
            <a:solidFill>
              <a:srgbClr val="1F4E79"/>
            </a:solidFill>
            <a:prstDash val="solid"/>
          </a:ln>
        </p:spPr>
      </p:sp>
      <p:sp>
        <p:nvSpPr>
          <p:cNvPr id="11" name="Text 8"/>
          <p:cNvSpPr txBox="1"/>
          <p:nvPr/>
        </p:nvSpPr>
        <p:spPr>
          <a:xfrm>
            <a:off x="3008925"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CWP</a:t>
            </a:r>
            <a:endParaRPr lang="en-US" sz="1600" dirty="0"/>
          </a:p>
        </p:txBody>
      </p:sp>
      <p:sp>
        <p:nvSpPr>
          <p:cNvPr id="12" name="Text 9"/>
          <p:cNvSpPr txBox="1"/>
          <p:nvPr/>
        </p:nvSpPr>
        <p:spPr>
          <a:xfrm>
            <a:off x="3045501"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Orden de ejecución de los paquetes; base del cronograma de nivel 3.</a:t>
            </a:r>
            <a:endParaRPr lang="en-US" sz="1450" dirty="0"/>
          </a:p>
        </p:txBody>
      </p:sp>
      <p:pic>
        <p:nvPicPr>
          <p:cNvPr id="13" name="Image 1" descr="preencoded.png">    </p:cNvPr>
          <p:cNvPicPr>
            <a:picLocks noChangeAspect="1"/>
          </p:cNvPicPr>
          <p:nvPr/>
        </p:nvPicPr>
        <p:blipFill>
          <a:blip r:embed="rId2"/>
          <a:stretch>
            <a:fillRect/>
          </a:stretch>
        </p:blipFill>
        <p:spPr>
          <a:xfrm>
            <a:off x="4792553" y="3502152"/>
            <a:ext cx="310896" cy="310896"/>
          </a:xfrm>
          <a:prstGeom prst="rect">
            <a:avLst/>
          </a:prstGeom>
        </p:spPr>
      </p:pic>
      <p:sp>
        <p:nvSpPr>
          <p:cNvPr id="14" name="Shape 10"/>
          <p:cNvSpPr/>
          <p:nvPr/>
        </p:nvSpPr>
        <p:spPr>
          <a:xfrm>
            <a:off x="5140025" y="2011680"/>
            <a:ext cx="1911645" cy="3291840"/>
          </a:xfrm>
          <a:prstGeom prst="roundRect">
            <a:avLst>
              <a:gd name="adj" fmla="val 3827"/>
            </a:avLst>
          </a:prstGeom>
          <a:solidFill>
            <a:srgbClr val="F4F7FA"/>
          </a:solidFill>
          <a:ln w="9525">
            <a:solidFill>
              <a:srgbClr val="DDE4EC"/>
            </a:solidFill>
            <a:prstDash val="solid"/>
          </a:ln>
        </p:spPr>
      </p:sp>
      <p:sp>
        <p:nvSpPr>
          <p:cNvPr id="15" name="Shape 11"/>
          <p:cNvSpPr/>
          <p:nvPr/>
        </p:nvSpPr>
        <p:spPr>
          <a:xfrm>
            <a:off x="5304617" y="2194560"/>
            <a:ext cx="1582461" cy="640080"/>
          </a:xfrm>
          <a:prstGeom prst="roundRect">
            <a:avLst>
              <a:gd name="adj" fmla="val 11429"/>
            </a:avLst>
          </a:prstGeom>
          <a:solidFill>
            <a:srgbClr val="1F4E79"/>
          </a:solidFill>
          <a:ln w="12700">
            <a:solidFill>
              <a:srgbClr val="1F4E79"/>
            </a:solidFill>
            <a:prstDash val="solid"/>
          </a:ln>
        </p:spPr>
      </p:sp>
      <p:sp>
        <p:nvSpPr>
          <p:cNvPr id="16" name="Text 12"/>
          <p:cNvSpPr txBox="1"/>
          <p:nvPr/>
        </p:nvSpPr>
        <p:spPr>
          <a:xfrm>
            <a:off x="5304617"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EWP / PWP</a:t>
            </a:r>
            <a:endParaRPr lang="en-US" sz="1600" dirty="0"/>
          </a:p>
        </p:txBody>
      </p:sp>
      <p:sp>
        <p:nvSpPr>
          <p:cNvPr id="17" name="Text 13"/>
          <p:cNvSpPr txBox="1"/>
          <p:nvPr/>
        </p:nvSpPr>
        <p:spPr>
          <a:xfrm>
            <a:off x="5341193"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Se estructuran y liberan en la misma secuencia que los CWP que respaldan.</a:t>
            </a:r>
            <a:endParaRPr lang="en-US" sz="1450" dirty="0"/>
          </a:p>
        </p:txBody>
      </p:sp>
      <p:pic>
        <p:nvPicPr>
          <p:cNvPr id="18" name="Image 2" descr="preencoded.png">    </p:cNvPr>
          <p:cNvPicPr>
            <a:picLocks noChangeAspect="1"/>
          </p:cNvPicPr>
          <p:nvPr/>
        </p:nvPicPr>
        <p:blipFill>
          <a:blip r:embed="rId3"/>
          <a:stretch>
            <a:fillRect/>
          </a:stretch>
        </p:blipFill>
        <p:spPr>
          <a:xfrm>
            <a:off x="7088246" y="3502152"/>
            <a:ext cx="310896" cy="310896"/>
          </a:xfrm>
          <a:prstGeom prst="rect">
            <a:avLst/>
          </a:prstGeom>
        </p:spPr>
      </p:pic>
      <p:sp>
        <p:nvSpPr>
          <p:cNvPr id="19" name="Shape 14"/>
          <p:cNvSpPr/>
          <p:nvPr/>
        </p:nvSpPr>
        <p:spPr>
          <a:xfrm>
            <a:off x="7435718" y="2011680"/>
            <a:ext cx="1911645" cy="3291840"/>
          </a:xfrm>
          <a:prstGeom prst="roundRect">
            <a:avLst>
              <a:gd name="adj" fmla="val 3827"/>
            </a:avLst>
          </a:prstGeom>
          <a:solidFill>
            <a:srgbClr val="F4F7FA"/>
          </a:solidFill>
          <a:ln w="9525">
            <a:solidFill>
              <a:srgbClr val="DDE4EC"/>
            </a:solidFill>
            <a:prstDash val="solid"/>
          </a:ln>
        </p:spPr>
      </p:sp>
      <p:sp>
        <p:nvSpPr>
          <p:cNvPr id="20" name="Shape 15"/>
          <p:cNvSpPr/>
          <p:nvPr/>
        </p:nvSpPr>
        <p:spPr>
          <a:xfrm>
            <a:off x="7600310" y="2194560"/>
            <a:ext cx="1582461" cy="640080"/>
          </a:xfrm>
          <a:prstGeom prst="roundRect">
            <a:avLst>
              <a:gd name="adj" fmla="val 11429"/>
            </a:avLst>
          </a:prstGeom>
          <a:solidFill>
            <a:srgbClr val="1F4E79"/>
          </a:solidFill>
          <a:ln w="12700">
            <a:solidFill>
              <a:srgbClr val="1F4E79"/>
            </a:solidFill>
            <a:prstDash val="solid"/>
          </a:ln>
        </p:spPr>
      </p:sp>
      <p:sp>
        <p:nvSpPr>
          <p:cNvPr id="21" name="Text 16"/>
          <p:cNvSpPr txBox="1"/>
          <p:nvPr/>
        </p:nvSpPr>
        <p:spPr>
          <a:xfrm>
            <a:off x="7600310"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IWP</a:t>
            </a:r>
            <a:endParaRPr lang="en-US" sz="1600" dirty="0"/>
          </a:p>
        </p:txBody>
      </p:sp>
      <p:sp>
        <p:nvSpPr>
          <p:cNvPr id="22" name="Text 17"/>
          <p:cNvSpPr txBox="1"/>
          <p:nvPr/>
        </p:nvSpPr>
        <p:spPr>
          <a:xfrm>
            <a:off x="7636886"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Guía la división de los CWP en IWP y su orden en el lookahead.</a:t>
            </a:r>
            <a:endParaRPr lang="en-US" sz="1450" dirty="0"/>
          </a:p>
        </p:txBody>
      </p:sp>
      <p:pic>
        <p:nvPicPr>
          <p:cNvPr id="23" name="Image 3" descr="preencoded.png">    </p:cNvPr>
          <p:cNvPicPr>
            <a:picLocks noChangeAspect="1"/>
          </p:cNvPicPr>
          <p:nvPr/>
        </p:nvPicPr>
        <p:blipFill>
          <a:blip r:embed="rId4"/>
          <a:stretch>
            <a:fillRect/>
          </a:stretch>
        </p:blipFill>
        <p:spPr>
          <a:xfrm>
            <a:off x="9383939" y="3502152"/>
            <a:ext cx="310896" cy="310896"/>
          </a:xfrm>
          <a:prstGeom prst="rect">
            <a:avLst/>
          </a:prstGeom>
        </p:spPr>
      </p:pic>
      <p:sp>
        <p:nvSpPr>
          <p:cNvPr id="24" name="Shape 18"/>
          <p:cNvSpPr/>
          <p:nvPr/>
        </p:nvSpPr>
        <p:spPr>
          <a:xfrm>
            <a:off x="9731411" y="2011680"/>
            <a:ext cx="1911645" cy="3291840"/>
          </a:xfrm>
          <a:prstGeom prst="roundRect">
            <a:avLst>
              <a:gd name="adj" fmla="val 3827"/>
            </a:avLst>
          </a:prstGeom>
          <a:solidFill>
            <a:srgbClr val="F4F7FA"/>
          </a:solidFill>
          <a:ln w="9525">
            <a:solidFill>
              <a:srgbClr val="DDE4EC"/>
            </a:solidFill>
            <a:prstDash val="solid"/>
          </a:ln>
        </p:spPr>
      </p:sp>
      <p:sp>
        <p:nvSpPr>
          <p:cNvPr id="25" name="Shape 19"/>
          <p:cNvSpPr/>
          <p:nvPr/>
        </p:nvSpPr>
        <p:spPr>
          <a:xfrm>
            <a:off x="9896003" y="2194560"/>
            <a:ext cx="1582461" cy="640080"/>
          </a:xfrm>
          <a:prstGeom prst="roundRect">
            <a:avLst>
              <a:gd name="adj" fmla="val 11429"/>
            </a:avLst>
          </a:prstGeom>
          <a:solidFill>
            <a:srgbClr val="1F4E79"/>
          </a:solidFill>
          <a:ln w="12700">
            <a:solidFill>
              <a:srgbClr val="1F4E79"/>
            </a:solidFill>
            <a:prstDash val="solid"/>
          </a:ln>
        </p:spPr>
      </p:sp>
      <p:sp>
        <p:nvSpPr>
          <p:cNvPr id="26" name="Text 20"/>
          <p:cNvSpPr txBox="1"/>
          <p:nvPr/>
        </p:nvSpPr>
        <p:spPr>
          <a:xfrm>
            <a:off x="9896003"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SWP / TOP</a:t>
            </a:r>
            <a:endParaRPr lang="en-US" sz="1600" dirty="0"/>
          </a:p>
        </p:txBody>
      </p:sp>
      <p:sp>
        <p:nvSpPr>
          <p:cNvPr id="27" name="Text 21"/>
          <p:cNvSpPr txBox="1"/>
          <p:nvPr/>
        </p:nvSpPr>
        <p:spPr>
          <a:xfrm>
            <a:off x="9932579"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Los IWP terminados se agrupan por sistemas según la secuencia del PoC.</a:t>
            </a:r>
            <a:endParaRPr lang="en-US" sz="1450" dirty="0"/>
          </a:p>
        </p:txBody>
      </p:sp>
      <p:sp>
        <p:nvSpPr>
          <p:cNvPr id="28" name="Text 2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29" name="Text 2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Por qué vale la pena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Lo que se gana con una ruta acordada temprano</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Productividad</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Frentes con información y materiales completos; menos tiempo de espera y de búsqueda.</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Previsibilidad</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Cada área sabe cuándo empieza y qué necesita; el cronograma de nivel 3 tiene lógica constructiva.</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Puesta en marcha temprana</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Los sistemas prioritarios se completan primero: por ejemplo, energizar la sala eléctrica antes de los bloques.</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Seguridad</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Menos trabajos superpuestos en la misma área y mejor uso de grúas, accesos y acopio.</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Alineamiento</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Propietario, ingeniería, procura, construcción y comisionamiento comparten un mismo plan.</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Menos retrabajo</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Menos cambios tardíos, menos compras urgentes y menos materiales en el lugar equivocado.</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Vocabulario del Path of Construction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Términos que se usan a lo largo de la presentación</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8046720"/>
              </a:tblGrid>
              <a:tr h="423949">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Término</a:t>
                      </a:r>
                      <a:endParaRPr lang="en-US" sz="12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Significado</a:t>
                      </a:r>
                      <a:endParaRPr lang="en-US" sz="12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PoC / POC</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Path of Construction: ruta o secuencia óptima de construcción. También OPC, Optimal Path of Construction.</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Construction Work Area: área de trabajo de construcción, con límites físicos o lógicos.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Construction Work Package: paquete de una disciplina dentro de una CWA; menos de 40 000 HH; nivel 3.</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EWP / PWP</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Paquete de ingeniería / de procura que alimenta a un CWP (1 EWP = 1 PWP = 1 CWP).</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IWP</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Installation Work Package: trabajo de una cuadrilla en una semana, 300–600 HH; nivel 5.</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Path of Engineering</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Secuencia de emisión de los EWP derivada del PoC.</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IPP / IPPM</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Interactive Project Planning (Meeting): taller de planificación interactiva donde se construye el PoC.</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RAS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Required At Site: fecha en que el material o equipo debe estar en obra.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SWP / TOP</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Paquete de sistema / de entrega para comisionamiento.</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FEL 1, 2, 3</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Front End Loading: etapas de planificación temprana (visualizar, seleccionar, definir).</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Qué es el Path of Construction</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02</a:t>
            </a:r>
            <a:endParaRPr lang="en-US" sz="9600" dirty="0"/>
          </a:p>
        </p:txBody>
      </p:sp>
      <p:sp>
        <p:nvSpPr>
          <p:cNvPr id="3" name="Text 1"/>
          <p:cNvSpPr txBox="1"/>
          <p:nvPr/>
        </p:nvSpPr>
        <p:spPr>
          <a:xfrm>
            <a:off x="548640" y="2697480"/>
            <a:ext cx="594360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Cuándo se desarrolla</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El PoC a lo largo del ciclo de vida del proyecto</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Se crea en FEL 2 y se congela al final de FEL 3</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Línea de tiempo completa del PoC</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Las ventanas del PoC en el proyecto tipo</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Hitos H1, H2 y H3</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Un documento vivo</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Cuándo se desarrolla</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Las etapas de planificación temprana (FEL)</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El PoC nace en FEL 2, madura en FEL 3 y se mantiene durante la ejecución</a:t>
            </a:r>
            <a:endParaRPr lang="en-US" sz="1500" dirty="0"/>
          </a:p>
        </p:txBody>
      </p:sp>
      <p:sp>
        <p:nvSpPr>
          <p:cNvPr id="4" name="Shape 2"/>
          <p:cNvSpPr/>
          <p:nvPr/>
        </p:nvSpPr>
        <p:spPr>
          <a:xfrm>
            <a:off x="1566642" y="2103120"/>
            <a:ext cx="9058412" cy="0"/>
          </a:xfrm>
          <a:prstGeom prst="line">
            <a:avLst/>
          </a:prstGeom>
          <a:noFill/>
          <a:ln w="31750">
            <a:solidFill>
              <a:srgbClr val="B9CCE0"/>
            </a:solidFill>
            <a:prstDash val="solid"/>
          </a:ln>
        </p:spPr>
      </p:sp>
      <p:sp>
        <p:nvSpPr>
          <p:cNvPr id="5" name="Shape 3"/>
          <p:cNvSpPr/>
          <p:nvPr/>
        </p:nvSpPr>
        <p:spPr>
          <a:xfrm>
            <a:off x="1200882" y="1737360"/>
            <a:ext cx="731520" cy="731520"/>
          </a:xfrm>
          <a:prstGeom prst="ellipse">
            <a:avLst/>
          </a:prstGeom>
          <a:solidFill>
            <a:srgbClr val="1F4E79"/>
          </a:solidFill>
          <a:ln w="38100">
            <a:solidFill>
              <a:srgbClr val="FFFFFF"/>
            </a:solidFill>
            <a:prstDash val="solid"/>
          </a:ln>
        </p:spPr>
      </p:sp>
      <p:sp>
        <p:nvSpPr>
          <p:cNvPr id="6" name="Text 4"/>
          <p:cNvSpPr txBox="1"/>
          <p:nvPr/>
        </p:nvSpPr>
        <p:spPr>
          <a:xfrm>
            <a:off x="1200882"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036003" cy="3291840"/>
          </a:xfrm>
          <a:prstGeom prst="roundRect">
            <a:avLst>
              <a:gd name="adj" fmla="val 4491"/>
            </a:avLst>
          </a:prstGeom>
          <a:solidFill>
            <a:srgbClr val="F4F7FA"/>
          </a:solidFill>
          <a:ln w="9525">
            <a:solidFill>
              <a:srgbClr val="DDE4EC"/>
            </a:solidFill>
            <a:prstDash val="solid"/>
          </a:ln>
        </p:spPr>
      </p:sp>
      <p:sp>
        <p:nvSpPr>
          <p:cNvPr id="8" name="Text 6"/>
          <p:cNvSpPr txBox="1"/>
          <p:nvPr/>
        </p:nvSpPr>
        <p:spPr>
          <a:xfrm>
            <a:off x="731520"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FEL 1 · Visualizar</a:t>
            </a:r>
            <a:endParaRPr lang="en-US" sz="1350" dirty="0"/>
          </a:p>
        </p:txBody>
      </p:sp>
      <p:sp>
        <p:nvSpPr>
          <p:cNvPr id="9" name="Text 7"/>
          <p:cNvSpPr txBox="1"/>
          <p:nvPr/>
        </p:nvSpPr>
        <p:spPr>
          <a:xfrm>
            <a:off x="731520"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Plano de ubicación general, cronograma de nivel 1, presupuesto FEL 1. Aún no hay PoC; se identifican prioridades de operación.</a:t>
            </a:r>
            <a:endParaRPr lang="en-US" sz="1450" dirty="0"/>
          </a:p>
        </p:txBody>
      </p:sp>
      <p:sp>
        <p:nvSpPr>
          <p:cNvPr id="10" name="Shape 8"/>
          <p:cNvSpPr/>
          <p:nvPr/>
        </p:nvSpPr>
        <p:spPr>
          <a:xfrm>
            <a:off x="3465485" y="1737360"/>
            <a:ext cx="731520" cy="731520"/>
          </a:xfrm>
          <a:prstGeom prst="ellipse">
            <a:avLst/>
          </a:prstGeom>
          <a:solidFill>
            <a:srgbClr val="1F4E79"/>
          </a:solidFill>
          <a:ln w="38100">
            <a:solidFill>
              <a:srgbClr val="FFFFFF"/>
            </a:solidFill>
            <a:prstDash val="solid"/>
          </a:ln>
        </p:spPr>
      </p:sp>
      <p:sp>
        <p:nvSpPr>
          <p:cNvPr id="11" name="Text 9"/>
          <p:cNvSpPr txBox="1"/>
          <p:nvPr/>
        </p:nvSpPr>
        <p:spPr>
          <a:xfrm>
            <a:off x="346548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2813243" y="2743200"/>
            <a:ext cx="2036003" cy="3291840"/>
          </a:xfrm>
          <a:prstGeom prst="roundRect">
            <a:avLst>
              <a:gd name="adj" fmla="val 4491"/>
            </a:avLst>
          </a:prstGeom>
          <a:solidFill>
            <a:srgbClr val="F4F7FA"/>
          </a:solidFill>
          <a:ln w="9525">
            <a:solidFill>
              <a:srgbClr val="DDE4EC"/>
            </a:solidFill>
            <a:prstDash val="solid"/>
          </a:ln>
        </p:spPr>
      </p:sp>
      <p:sp>
        <p:nvSpPr>
          <p:cNvPr id="13" name="Text 11"/>
          <p:cNvSpPr txBox="1"/>
          <p:nvPr/>
        </p:nvSpPr>
        <p:spPr>
          <a:xfrm>
            <a:off x="2996123"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FEL 2 · Seleccionar</a:t>
            </a:r>
            <a:endParaRPr lang="en-US" sz="1350" dirty="0"/>
          </a:p>
        </p:txBody>
      </p:sp>
      <p:sp>
        <p:nvSpPr>
          <p:cNvPr id="14" name="Text 12"/>
          <p:cNvSpPr txBox="1"/>
          <p:nvPr/>
        </p:nvSpPr>
        <p:spPr>
          <a:xfrm>
            <a:off x="2996123"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Se crea el PoC: primera secuencia de prioridades contra la que se evalúan todos los demás planes. Se definen las CWA.</a:t>
            </a:r>
            <a:endParaRPr lang="en-US" sz="1450" dirty="0"/>
          </a:p>
        </p:txBody>
      </p:sp>
      <p:sp>
        <p:nvSpPr>
          <p:cNvPr id="15" name="Shape 13"/>
          <p:cNvSpPr/>
          <p:nvPr/>
        </p:nvSpPr>
        <p:spPr>
          <a:xfrm>
            <a:off x="5730088" y="1737360"/>
            <a:ext cx="731520" cy="731520"/>
          </a:xfrm>
          <a:prstGeom prst="ellipse">
            <a:avLst/>
          </a:prstGeom>
          <a:solidFill>
            <a:srgbClr val="1F4E79"/>
          </a:solidFill>
          <a:ln w="38100">
            <a:solidFill>
              <a:srgbClr val="FFFFFF"/>
            </a:solidFill>
            <a:prstDash val="solid"/>
          </a:ln>
        </p:spPr>
      </p:sp>
      <p:sp>
        <p:nvSpPr>
          <p:cNvPr id="16" name="Text 14"/>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5077846" y="2743200"/>
            <a:ext cx="2036003" cy="3291840"/>
          </a:xfrm>
          <a:prstGeom prst="roundRect">
            <a:avLst>
              <a:gd name="adj" fmla="val 4491"/>
            </a:avLst>
          </a:prstGeom>
          <a:solidFill>
            <a:srgbClr val="F4F7FA"/>
          </a:solidFill>
          <a:ln w="9525">
            <a:solidFill>
              <a:srgbClr val="DDE4EC"/>
            </a:solidFill>
            <a:prstDash val="solid"/>
          </a:ln>
        </p:spPr>
      </p:sp>
      <p:sp>
        <p:nvSpPr>
          <p:cNvPr id="18" name="Text 16"/>
          <p:cNvSpPr txBox="1"/>
          <p:nvPr/>
        </p:nvSpPr>
        <p:spPr>
          <a:xfrm>
            <a:off x="5260726"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FEL 3 · Definir</a:t>
            </a:r>
            <a:endParaRPr lang="en-US" sz="1350" dirty="0"/>
          </a:p>
        </p:txBody>
      </p:sp>
      <p:sp>
        <p:nvSpPr>
          <p:cNvPr id="19" name="Text 17"/>
          <p:cNvSpPr txBox="1"/>
          <p:nvPr/>
        </p:nvSpPr>
        <p:spPr>
          <a:xfrm>
            <a:off x="5260726"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Se actualiza al inicio y se finaliza al término. PoC congelado: entregable de la compuerta 3; cronograma y presupuesto de nivel 3.</a:t>
            </a:r>
            <a:endParaRPr lang="en-US" sz="1450" dirty="0"/>
          </a:p>
        </p:txBody>
      </p:sp>
      <p:sp>
        <p:nvSpPr>
          <p:cNvPr id="20" name="Shape 18"/>
          <p:cNvSpPr/>
          <p:nvPr/>
        </p:nvSpPr>
        <p:spPr>
          <a:xfrm>
            <a:off x="7994691" y="1737360"/>
            <a:ext cx="731520" cy="731520"/>
          </a:xfrm>
          <a:prstGeom prst="ellipse">
            <a:avLst/>
          </a:prstGeom>
          <a:solidFill>
            <a:srgbClr val="1F4E79"/>
          </a:solidFill>
          <a:ln w="38100">
            <a:solidFill>
              <a:srgbClr val="FFFFFF"/>
            </a:solidFill>
            <a:prstDash val="solid"/>
          </a:ln>
        </p:spPr>
      </p:sp>
      <p:sp>
        <p:nvSpPr>
          <p:cNvPr id="21" name="Text 19"/>
          <p:cNvSpPr txBox="1"/>
          <p:nvPr/>
        </p:nvSpPr>
        <p:spPr>
          <a:xfrm>
            <a:off x="799469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7342449" y="2743200"/>
            <a:ext cx="2036003" cy="3291840"/>
          </a:xfrm>
          <a:prstGeom prst="roundRect">
            <a:avLst>
              <a:gd name="adj" fmla="val 4491"/>
            </a:avLst>
          </a:prstGeom>
          <a:solidFill>
            <a:srgbClr val="F4F7FA"/>
          </a:solidFill>
          <a:ln w="9525">
            <a:solidFill>
              <a:srgbClr val="DDE4EC"/>
            </a:solidFill>
            <a:prstDash val="solid"/>
          </a:ln>
        </p:spPr>
      </p:sp>
      <p:sp>
        <p:nvSpPr>
          <p:cNvPr id="23" name="Text 21"/>
          <p:cNvSpPr txBox="1"/>
          <p:nvPr/>
        </p:nvSpPr>
        <p:spPr>
          <a:xfrm>
            <a:off x="7525329"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Ejecución</a:t>
            </a:r>
            <a:endParaRPr lang="en-US" sz="1350" dirty="0"/>
          </a:p>
        </p:txBody>
      </p:sp>
      <p:sp>
        <p:nvSpPr>
          <p:cNvPr id="24" name="Text 22"/>
          <p:cNvSpPr txBox="1"/>
          <p:nvPr/>
        </p:nvSpPr>
        <p:spPr>
          <a:xfrm>
            <a:off x="7525329"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EWP, PWP y CWP en la secuencia del PoC; IWP y lookahead. El PoC se revisa con control de cambios.</a:t>
            </a:r>
            <a:endParaRPr lang="en-US" sz="1450" dirty="0"/>
          </a:p>
        </p:txBody>
      </p:sp>
      <p:sp>
        <p:nvSpPr>
          <p:cNvPr id="25" name="Shape 23"/>
          <p:cNvSpPr/>
          <p:nvPr/>
        </p:nvSpPr>
        <p:spPr>
          <a:xfrm>
            <a:off x="10259294" y="1737360"/>
            <a:ext cx="731520" cy="731520"/>
          </a:xfrm>
          <a:prstGeom prst="ellipse">
            <a:avLst/>
          </a:prstGeom>
          <a:solidFill>
            <a:srgbClr val="F5A623"/>
          </a:solidFill>
          <a:ln w="38100">
            <a:solidFill>
              <a:srgbClr val="FFFFFF"/>
            </a:solidFill>
            <a:prstDash val="solid"/>
          </a:ln>
        </p:spPr>
      </p:sp>
      <p:sp>
        <p:nvSpPr>
          <p:cNvPr id="26" name="Text 24"/>
          <p:cNvSpPr txBox="1"/>
          <p:nvPr/>
        </p:nvSpPr>
        <p:spPr>
          <a:xfrm>
            <a:off x="10259294" y="1737360"/>
            <a:ext cx="731520" cy="731520"/>
          </a:xfrm>
          <a:prstGeom prst="rect">
            <a:avLst/>
          </a:prstGeom>
          <a:noFill/>
          <a:ln/>
        </p:spPr>
        <p:txBody>
          <a:bodyPr wrap="square" lIns="0" tIns="0" rIns="0" bIns="0" rtlCol="0" anchor="ctr"/>
          <a:lstStyle/>
          <a:p>
            <a:pPr algn="ctr" indent="0" marL="0">
              <a:buNone/>
            </a:pPr>
            <a:r>
              <a:rPr lang="en-US" sz="2200" b="1" dirty="0">
                <a:solidFill>
                  <a:srgbClr val="0F2A43"/>
                </a:solidFill>
                <a:latin typeface="Calibri" pitchFamily="34" charset="0"/>
                <a:ea typeface="Calibri" pitchFamily="34" charset="-122"/>
                <a:cs typeface="Calibri" pitchFamily="34" charset="-120"/>
              </a:rPr>
              <a:t>5</a:t>
            </a:r>
            <a:endParaRPr lang="en-US" sz="2200" dirty="0"/>
          </a:p>
        </p:txBody>
      </p:sp>
      <p:sp>
        <p:nvSpPr>
          <p:cNvPr id="27" name="Shape 25"/>
          <p:cNvSpPr/>
          <p:nvPr/>
        </p:nvSpPr>
        <p:spPr>
          <a:xfrm>
            <a:off x="9607052" y="2743200"/>
            <a:ext cx="2036003" cy="3291840"/>
          </a:xfrm>
          <a:prstGeom prst="roundRect">
            <a:avLst>
              <a:gd name="adj" fmla="val 4491"/>
            </a:avLst>
          </a:prstGeom>
          <a:solidFill>
            <a:srgbClr val="F4F7FA"/>
          </a:solidFill>
          <a:ln w="9525">
            <a:solidFill>
              <a:srgbClr val="DDE4EC"/>
            </a:solidFill>
            <a:prstDash val="solid"/>
          </a:ln>
        </p:spPr>
      </p:sp>
      <p:sp>
        <p:nvSpPr>
          <p:cNvPr id="28" name="Text 26"/>
          <p:cNvSpPr txBox="1"/>
          <p:nvPr/>
        </p:nvSpPr>
        <p:spPr>
          <a:xfrm>
            <a:off x="9789932"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Comisionamiento</a:t>
            </a:r>
            <a:endParaRPr lang="en-US" sz="1350" dirty="0"/>
          </a:p>
        </p:txBody>
      </p:sp>
      <p:sp>
        <p:nvSpPr>
          <p:cNvPr id="29" name="Text 27"/>
          <p:cNvSpPr txBox="1"/>
          <p:nvPr/>
        </p:nvSpPr>
        <p:spPr>
          <a:xfrm>
            <a:off x="9789932"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SWP y TOP según la secuencia de sistemas. Lecciones del PoC para la siguiente fase.</a:t>
            </a:r>
            <a:endParaRPr lang="en-US" sz="1450" dirty="0"/>
          </a:p>
        </p:txBody>
      </p:sp>
      <p:sp>
        <p:nvSpPr>
          <p:cNvPr id="30" name="Text 2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Cuándo se desarrolla</a:t>
            </a:r>
            <a:endParaRPr lang="en-US" sz="1000" dirty="0"/>
          </a:p>
        </p:txBody>
      </p:sp>
      <p:sp>
        <p:nvSpPr>
          <p:cNvPr id="31" name="Text 2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Línea de tiempo del Path of Construction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Todos los elementos del PoC, del FEL 1 al cierre de la fase</a:t>
            </a:r>
            <a:endParaRPr lang="en-US" sz="1500" dirty="0"/>
          </a:p>
        </p:txBody>
      </p:sp>
      <p:sp>
        <p:nvSpPr>
          <p:cNvPr id="4" name="Shape 2"/>
          <p:cNvSpPr/>
          <p:nvPr/>
        </p:nvSpPr>
        <p:spPr>
          <a:xfrm>
            <a:off x="1874520" y="1371600"/>
            <a:ext cx="894128" cy="457200"/>
          </a:xfrm>
          <a:prstGeom prst="rect">
            <a:avLst/>
          </a:prstGeom>
          <a:solidFill>
            <a:srgbClr val="D5DEE8"/>
          </a:solidFill>
          <a:ln w="12700">
            <a:solidFill>
              <a:srgbClr val="FFFFFF"/>
            </a:solidFill>
            <a:prstDash val="solid"/>
          </a:ln>
        </p:spPr>
      </p:sp>
      <p:sp>
        <p:nvSpPr>
          <p:cNvPr id="5" name="Text 3"/>
          <p:cNvSpPr txBox="1"/>
          <p:nvPr/>
        </p:nvSpPr>
        <p:spPr>
          <a:xfrm>
            <a:off x="1911096" y="1371600"/>
            <a:ext cx="830120" cy="457200"/>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FEL 1</a:t>
            </a:r>
            <a:endParaRPr lang="en-US" sz="1150" dirty="0"/>
          </a:p>
          <a:p>
            <a:pPr algn="ctr" indent="0" marL="0">
              <a:buNone/>
            </a:pPr>
            <a:r>
              <a:rPr lang="en-US" sz="950" dirty="0">
                <a:solidFill>
                  <a:srgbClr val="56606B"/>
                </a:solidFill>
                <a:latin typeface="Calibri" pitchFamily="34" charset="0"/>
                <a:ea typeface="Calibri" pitchFamily="34" charset="-122"/>
                <a:cs typeface="Calibri" pitchFamily="34" charset="-120"/>
              </a:rPr>
              <a:t>Visualizar</a:t>
            </a:r>
            <a:endParaRPr lang="en-US" sz="1150" dirty="0"/>
          </a:p>
        </p:txBody>
      </p:sp>
      <p:sp>
        <p:nvSpPr>
          <p:cNvPr id="6" name="Shape 4"/>
          <p:cNvSpPr/>
          <p:nvPr/>
        </p:nvSpPr>
        <p:spPr>
          <a:xfrm>
            <a:off x="2796080" y="1371600"/>
            <a:ext cx="1447064" cy="457200"/>
          </a:xfrm>
          <a:prstGeom prst="rect">
            <a:avLst/>
          </a:prstGeom>
          <a:solidFill>
            <a:srgbClr val="E2EBF4"/>
          </a:solidFill>
          <a:ln w="12700">
            <a:solidFill>
              <a:srgbClr val="FFFFFF"/>
            </a:solidFill>
            <a:prstDash val="solid"/>
          </a:ln>
        </p:spPr>
      </p:sp>
      <p:sp>
        <p:nvSpPr>
          <p:cNvPr id="7" name="Text 5"/>
          <p:cNvSpPr txBox="1"/>
          <p:nvPr/>
        </p:nvSpPr>
        <p:spPr>
          <a:xfrm>
            <a:off x="2832656" y="1371600"/>
            <a:ext cx="1383056" cy="457200"/>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FEL 2</a:t>
            </a:r>
            <a:endParaRPr lang="en-US" sz="1150" dirty="0"/>
          </a:p>
          <a:p>
            <a:pPr algn="ctr" indent="0" marL="0">
              <a:buNone/>
            </a:pPr>
            <a:r>
              <a:rPr lang="en-US" sz="950" dirty="0">
                <a:solidFill>
                  <a:srgbClr val="56606B"/>
                </a:solidFill>
                <a:latin typeface="Calibri" pitchFamily="34" charset="0"/>
                <a:ea typeface="Calibri" pitchFamily="34" charset="-122"/>
                <a:cs typeface="Calibri" pitchFamily="34" charset="-120"/>
              </a:rPr>
              <a:t>Seleccionar</a:t>
            </a:r>
            <a:endParaRPr lang="en-US" sz="1150" dirty="0"/>
          </a:p>
        </p:txBody>
      </p:sp>
      <p:sp>
        <p:nvSpPr>
          <p:cNvPr id="8" name="Shape 6"/>
          <p:cNvSpPr/>
          <p:nvPr/>
        </p:nvSpPr>
        <p:spPr>
          <a:xfrm>
            <a:off x="4270576" y="1371600"/>
            <a:ext cx="1447064" cy="457200"/>
          </a:xfrm>
          <a:prstGeom prst="rect">
            <a:avLst/>
          </a:prstGeom>
          <a:solidFill>
            <a:srgbClr val="D6E4F2"/>
          </a:solidFill>
          <a:ln w="12700">
            <a:solidFill>
              <a:srgbClr val="FFFFFF"/>
            </a:solidFill>
            <a:prstDash val="solid"/>
          </a:ln>
        </p:spPr>
      </p:sp>
      <p:sp>
        <p:nvSpPr>
          <p:cNvPr id="9" name="Text 7"/>
          <p:cNvSpPr txBox="1"/>
          <p:nvPr/>
        </p:nvSpPr>
        <p:spPr>
          <a:xfrm>
            <a:off x="4307152" y="1371600"/>
            <a:ext cx="1383056" cy="457200"/>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FEL 3</a:t>
            </a:r>
            <a:endParaRPr lang="en-US" sz="1150" dirty="0"/>
          </a:p>
          <a:p>
            <a:pPr algn="ctr" indent="0" marL="0">
              <a:buNone/>
            </a:pPr>
            <a:r>
              <a:rPr lang="en-US" sz="950" dirty="0">
                <a:solidFill>
                  <a:srgbClr val="56606B"/>
                </a:solidFill>
                <a:latin typeface="Calibri" pitchFamily="34" charset="0"/>
                <a:ea typeface="Calibri" pitchFamily="34" charset="-122"/>
                <a:cs typeface="Calibri" pitchFamily="34" charset="-120"/>
              </a:rPr>
              <a:t>Definir</a:t>
            </a:r>
            <a:endParaRPr lang="en-US" sz="1150" dirty="0"/>
          </a:p>
        </p:txBody>
      </p:sp>
      <p:sp>
        <p:nvSpPr>
          <p:cNvPr id="10" name="Shape 8"/>
          <p:cNvSpPr/>
          <p:nvPr/>
        </p:nvSpPr>
        <p:spPr>
          <a:xfrm>
            <a:off x="5745072" y="1371600"/>
            <a:ext cx="1723532" cy="457200"/>
          </a:xfrm>
          <a:prstGeom prst="rect">
            <a:avLst/>
          </a:prstGeom>
          <a:solidFill>
            <a:srgbClr val="E4EDF6"/>
          </a:solidFill>
          <a:ln w="12700">
            <a:solidFill>
              <a:srgbClr val="FFFFFF"/>
            </a:solidFill>
            <a:prstDash val="solid"/>
          </a:ln>
        </p:spPr>
      </p:sp>
      <p:sp>
        <p:nvSpPr>
          <p:cNvPr id="11" name="Text 9"/>
          <p:cNvSpPr txBox="1"/>
          <p:nvPr/>
        </p:nvSpPr>
        <p:spPr>
          <a:xfrm>
            <a:off x="5781648" y="1371600"/>
            <a:ext cx="1659524" cy="457200"/>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Ingeniería</a:t>
            </a:r>
            <a:endParaRPr lang="en-US" sz="1150" dirty="0"/>
          </a:p>
          <a:p>
            <a:pPr algn="ctr" indent="0" marL="0">
              <a:buNone/>
            </a:pPr>
            <a:r>
              <a:rPr lang="en-US" sz="950" dirty="0">
                <a:solidFill>
                  <a:srgbClr val="56606B"/>
                </a:solidFill>
                <a:latin typeface="Calibri" pitchFamily="34" charset="0"/>
                <a:ea typeface="Calibri" pitchFamily="34" charset="-122"/>
                <a:cs typeface="Calibri" pitchFamily="34" charset="-120"/>
              </a:rPr>
              <a:t>de detalle</a:t>
            </a:r>
            <a:endParaRPr lang="en-US" sz="1150" dirty="0"/>
          </a:p>
        </p:txBody>
      </p:sp>
      <p:sp>
        <p:nvSpPr>
          <p:cNvPr id="12" name="Shape 10"/>
          <p:cNvSpPr/>
          <p:nvPr/>
        </p:nvSpPr>
        <p:spPr>
          <a:xfrm>
            <a:off x="7496036" y="1371600"/>
            <a:ext cx="1216674" cy="457200"/>
          </a:xfrm>
          <a:prstGeom prst="rect">
            <a:avLst/>
          </a:prstGeom>
          <a:solidFill>
            <a:srgbClr val="E1F3EA"/>
          </a:solidFill>
          <a:ln w="12700">
            <a:solidFill>
              <a:srgbClr val="FFFFFF"/>
            </a:solidFill>
            <a:prstDash val="solid"/>
          </a:ln>
        </p:spPr>
      </p:sp>
      <p:sp>
        <p:nvSpPr>
          <p:cNvPr id="13" name="Text 11"/>
          <p:cNvSpPr txBox="1"/>
          <p:nvPr/>
        </p:nvSpPr>
        <p:spPr>
          <a:xfrm>
            <a:off x="7532612" y="1371600"/>
            <a:ext cx="1152666" cy="457200"/>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Procura</a:t>
            </a:r>
            <a:endParaRPr lang="en-US" sz="1150" dirty="0"/>
          </a:p>
        </p:txBody>
      </p:sp>
      <p:sp>
        <p:nvSpPr>
          <p:cNvPr id="14" name="Shape 12"/>
          <p:cNvSpPr/>
          <p:nvPr/>
        </p:nvSpPr>
        <p:spPr>
          <a:xfrm>
            <a:off x="8740141" y="1371600"/>
            <a:ext cx="1539220" cy="457200"/>
          </a:xfrm>
          <a:prstGeom prst="rect">
            <a:avLst/>
          </a:prstGeom>
          <a:solidFill>
            <a:srgbClr val="FDEBDD"/>
          </a:solidFill>
          <a:ln w="12700">
            <a:solidFill>
              <a:srgbClr val="FFFFFF"/>
            </a:solidFill>
            <a:prstDash val="solid"/>
          </a:ln>
        </p:spPr>
      </p:sp>
      <p:sp>
        <p:nvSpPr>
          <p:cNvPr id="15" name="Text 13"/>
          <p:cNvSpPr txBox="1"/>
          <p:nvPr/>
        </p:nvSpPr>
        <p:spPr>
          <a:xfrm>
            <a:off x="8776717" y="1371600"/>
            <a:ext cx="1475212" cy="457200"/>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Construcción</a:t>
            </a:r>
            <a:endParaRPr lang="en-US" sz="1150" dirty="0"/>
          </a:p>
        </p:txBody>
      </p:sp>
      <p:sp>
        <p:nvSpPr>
          <p:cNvPr id="16" name="Shape 14"/>
          <p:cNvSpPr/>
          <p:nvPr/>
        </p:nvSpPr>
        <p:spPr>
          <a:xfrm>
            <a:off x="10306793" y="1371600"/>
            <a:ext cx="1308830" cy="457200"/>
          </a:xfrm>
          <a:prstGeom prst="rect">
            <a:avLst/>
          </a:prstGeom>
          <a:solidFill>
            <a:srgbClr val="FFF3DC"/>
          </a:solidFill>
          <a:ln w="12700">
            <a:solidFill>
              <a:srgbClr val="FFFFFF"/>
            </a:solidFill>
            <a:prstDash val="solid"/>
          </a:ln>
        </p:spPr>
      </p:sp>
      <p:sp>
        <p:nvSpPr>
          <p:cNvPr id="17" name="Text 15"/>
          <p:cNvSpPr txBox="1"/>
          <p:nvPr/>
        </p:nvSpPr>
        <p:spPr>
          <a:xfrm>
            <a:off x="10343369" y="1371600"/>
            <a:ext cx="1244822" cy="457200"/>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Comisiona-</a:t>
            </a:r>
            <a:endParaRPr lang="en-US" sz="1150" dirty="0"/>
          </a:p>
          <a:p>
            <a:pPr algn="ctr" indent="0" marL="0">
              <a:buNone/>
            </a:pPr>
            <a:r>
              <a:rPr lang="en-US" sz="950" b="1" dirty="0">
                <a:solidFill>
                  <a:srgbClr val="56606B"/>
                </a:solidFill>
                <a:latin typeface="Calibri" pitchFamily="34" charset="0"/>
                <a:ea typeface="Calibri" pitchFamily="34" charset="-122"/>
                <a:cs typeface="Calibri" pitchFamily="34" charset="-120"/>
              </a:rPr>
              <a:t>miento</a:t>
            </a:r>
            <a:endParaRPr lang="en-US" sz="1150" dirty="0"/>
          </a:p>
        </p:txBody>
      </p:sp>
      <p:sp>
        <p:nvSpPr>
          <p:cNvPr id="18" name="Shape 16"/>
          <p:cNvSpPr/>
          <p:nvPr/>
        </p:nvSpPr>
        <p:spPr>
          <a:xfrm>
            <a:off x="548640" y="1920240"/>
            <a:ext cx="11094415" cy="539496"/>
          </a:xfrm>
          <a:prstGeom prst="rect">
            <a:avLst/>
          </a:prstGeom>
          <a:solidFill>
            <a:srgbClr val="F4F7FA"/>
          </a:solidFill>
          <a:ln w="6350">
            <a:solidFill>
              <a:srgbClr val="DDE4EC"/>
            </a:solidFill>
            <a:prstDash val="solid"/>
          </a:ln>
        </p:spPr>
      </p:sp>
      <p:sp>
        <p:nvSpPr>
          <p:cNvPr id="19" name="Text 17"/>
          <p:cNvSpPr txBox="1"/>
          <p:nvPr/>
        </p:nvSpPr>
        <p:spPr>
          <a:xfrm>
            <a:off x="603504" y="1920240"/>
            <a:ext cx="1261872" cy="5394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PoC</a:t>
            </a:r>
            <a:endParaRPr lang="en-US" sz="1000" dirty="0"/>
          </a:p>
          <a:p>
            <a:pPr indent="0" marL="0">
              <a:buNone/>
            </a:pPr>
            <a:r>
              <a:rPr lang="en-US" sz="950" dirty="0">
                <a:solidFill>
                  <a:srgbClr val="56606B"/>
                </a:solidFill>
                <a:latin typeface="Calibri" pitchFamily="34" charset="0"/>
                <a:ea typeface="Calibri" pitchFamily="34" charset="-122"/>
                <a:cs typeface="Calibri" pitchFamily="34" charset="-120"/>
              </a:rPr>
              <a:t>CON · CHA</a:t>
            </a:r>
            <a:endParaRPr lang="en-US" sz="1000" dirty="0"/>
          </a:p>
        </p:txBody>
      </p:sp>
      <p:sp>
        <p:nvSpPr>
          <p:cNvPr id="20" name="Shape 18"/>
          <p:cNvSpPr/>
          <p:nvPr/>
        </p:nvSpPr>
        <p:spPr>
          <a:xfrm>
            <a:off x="548640" y="2505456"/>
            <a:ext cx="11094415" cy="539496"/>
          </a:xfrm>
          <a:prstGeom prst="rect">
            <a:avLst/>
          </a:prstGeom>
          <a:solidFill>
            <a:srgbClr val="FFFFFF"/>
          </a:solidFill>
          <a:ln w="6350">
            <a:solidFill>
              <a:srgbClr val="DDE4EC"/>
            </a:solidFill>
            <a:prstDash val="solid"/>
          </a:ln>
        </p:spPr>
      </p:sp>
      <p:sp>
        <p:nvSpPr>
          <p:cNvPr id="21" name="Text 19"/>
          <p:cNvSpPr txBox="1"/>
          <p:nvPr/>
        </p:nvSpPr>
        <p:spPr>
          <a:xfrm>
            <a:off x="603504" y="2505456"/>
            <a:ext cx="1261872" cy="5394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Talleres IPP</a:t>
            </a:r>
            <a:endParaRPr lang="en-US" sz="1000" dirty="0"/>
          </a:p>
          <a:p>
            <a:pPr indent="0" marL="0">
              <a:buNone/>
            </a:pPr>
            <a:r>
              <a:rPr lang="en-US" sz="950" dirty="0">
                <a:solidFill>
                  <a:srgbClr val="56606B"/>
                </a:solidFill>
                <a:latin typeface="Calibri" pitchFamily="34" charset="0"/>
                <a:ea typeface="Calibri" pitchFamily="34" charset="-122"/>
                <a:cs typeface="Calibri" pitchFamily="34" charset="-120"/>
              </a:rPr>
              <a:t>CHA facilita</a:t>
            </a:r>
            <a:endParaRPr lang="en-US" sz="1000" dirty="0"/>
          </a:p>
        </p:txBody>
      </p:sp>
      <p:sp>
        <p:nvSpPr>
          <p:cNvPr id="22" name="Shape 20"/>
          <p:cNvSpPr/>
          <p:nvPr/>
        </p:nvSpPr>
        <p:spPr>
          <a:xfrm>
            <a:off x="548640" y="3090672"/>
            <a:ext cx="11094415" cy="539496"/>
          </a:xfrm>
          <a:prstGeom prst="rect">
            <a:avLst/>
          </a:prstGeom>
          <a:solidFill>
            <a:srgbClr val="F4F7FA"/>
          </a:solidFill>
          <a:ln w="6350">
            <a:solidFill>
              <a:srgbClr val="DDE4EC"/>
            </a:solidFill>
            <a:prstDash val="solid"/>
          </a:ln>
        </p:spPr>
      </p:sp>
      <p:sp>
        <p:nvSpPr>
          <p:cNvPr id="23" name="Text 21"/>
          <p:cNvSpPr txBox="1"/>
          <p:nvPr/>
        </p:nvSpPr>
        <p:spPr>
          <a:xfrm>
            <a:off x="603504" y="3090672"/>
            <a:ext cx="1261872" cy="5394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Ingeniería</a:t>
            </a:r>
            <a:endParaRPr lang="en-US" sz="1000" dirty="0"/>
          </a:p>
          <a:p>
            <a:pPr indent="0" marL="0">
              <a:buNone/>
            </a:pPr>
            <a:r>
              <a:rPr lang="en-US" sz="950" dirty="0">
                <a:solidFill>
                  <a:srgbClr val="56606B"/>
                </a:solidFill>
                <a:latin typeface="Calibri" pitchFamily="34" charset="0"/>
                <a:ea typeface="Calibri" pitchFamily="34" charset="-122"/>
                <a:cs typeface="Calibri" pitchFamily="34" charset="-120"/>
              </a:rPr>
              <a:t>ING</a:t>
            </a:r>
            <a:endParaRPr lang="en-US" sz="1000" dirty="0"/>
          </a:p>
        </p:txBody>
      </p:sp>
      <p:sp>
        <p:nvSpPr>
          <p:cNvPr id="24" name="Shape 22"/>
          <p:cNvSpPr/>
          <p:nvPr/>
        </p:nvSpPr>
        <p:spPr>
          <a:xfrm>
            <a:off x="548640" y="3675888"/>
            <a:ext cx="11094415" cy="539496"/>
          </a:xfrm>
          <a:prstGeom prst="rect">
            <a:avLst/>
          </a:prstGeom>
          <a:solidFill>
            <a:srgbClr val="FFFFFF"/>
          </a:solidFill>
          <a:ln w="6350">
            <a:solidFill>
              <a:srgbClr val="DDE4EC"/>
            </a:solidFill>
            <a:prstDash val="solid"/>
          </a:ln>
        </p:spPr>
      </p:sp>
      <p:sp>
        <p:nvSpPr>
          <p:cNvPr id="25" name="Text 23"/>
          <p:cNvSpPr txBox="1"/>
          <p:nvPr/>
        </p:nvSpPr>
        <p:spPr>
          <a:xfrm>
            <a:off x="603504" y="3675888"/>
            <a:ext cx="1261872" cy="5394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Procura</a:t>
            </a:r>
            <a:endParaRPr lang="en-US" sz="1000" dirty="0"/>
          </a:p>
          <a:p>
            <a:pPr indent="0" marL="0">
              <a:buNone/>
            </a:pPr>
            <a:r>
              <a:rPr lang="en-US" sz="950" dirty="0">
                <a:solidFill>
                  <a:srgbClr val="56606B"/>
                </a:solidFill>
                <a:latin typeface="Calibri" pitchFamily="34" charset="0"/>
                <a:ea typeface="Calibri" pitchFamily="34" charset="-122"/>
                <a:cs typeface="Calibri" pitchFamily="34" charset="-120"/>
              </a:rPr>
              <a:t>PRO · MAT</a:t>
            </a:r>
            <a:endParaRPr lang="en-US" sz="1000" dirty="0"/>
          </a:p>
        </p:txBody>
      </p:sp>
      <p:sp>
        <p:nvSpPr>
          <p:cNvPr id="26" name="Shape 24"/>
          <p:cNvSpPr/>
          <p:nvPr/>
        </p:nvSpPr>
        <p:spPr>
          <a:xfrm>
            <a:off x="548640" y="4261104"/>
            <a:ext cx="11094415" cy="539496"/>
          </a:xfrm>
          <a:prstGeom prst="rect">
            <a:avLst/>
          </a:prstGeom>
          <a:solidFill>
            <a:srgbClr val="F4F7FA"/>
          </a:solidFill>
          <a:ln w="6350">
            <a:solidFill>
              <a:srgbClr val="DDE4EC"/>
            </a:solidFill>
            <a:prstDash val="solid"/>
          </a:ln>
        </p:spPr>
      </p:sp>
      <p:sp>
        <p:nvSpPr>
          <p:cNvPr id="27" name="Text 25"/>
          <p:cNvSpPr txBox="1"/>
          <p:nvPr/>
        </p:nvSpPr>
        <p:spPr>
          <a:xfrm>
            <a:off x="603504" y="4261104"/>
            <a:ext cx="1261872" cy="5394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Construcción</a:t>
            </a:r>
            <a:endParaRPr lang="en-US" sz="1000" dirty="0"/>
          </a:p>
          <a:p>
            <a:pPr indent="0" marL="0">
              <a:buNone/>
            </a:pPr>
            <a:r>
              <a:rPr lang="en-US" sz="950" dirty="0">
                <a:solidFill>
                  <a:srgbClr val="56606B"/>
                </a:solidFill>
                <a:latin typeface="Calibri" pitchFamily="34" charset="0"/>
                <a:ea typeface="Calibri" pitchFamily="34" charset="-122"/>
                <a:cs typeface="Calibri" pitchFamily="34" charset="-120"/>
              </a:rPr>
              <a:t>CON · LWF · WFP</a:t>
            </a:r>
            <a:endParaRPr lang="en-US" sz="1000" dirty="0"/>
          </a:p>
        </p:txBody>
      </p:sp>
      <p:sp>
        <p:nvSpPr>
          <p:cNvPr id="28" name="Shape 26"/>
          <p:cNvSpPr/>
          <p:nvPr/>
        </p:nvSpPr>
        <p:spPr>
          <a:xfrm>
            <a:off x="548640" y="4846320"/>
            <a:ext cx="11094415" cy="539496"/>
          </a:xfrm>
          <a:prstGeom prst="rect">
            <a:avLst/>
          </a:prstGeom>
          <a:solidFill>
            <a:srgbClr val="FFFFFF"/>
          </a:solidFill>
          <a:ln w="6350">
            <a:solidFill>
              <a:srgbClr val="DDE4EC"/>
            </a:solidFill>
            <a:prstDash val="solid"/>
          </a:ln>
        </p:spPr>
      </p:sp>
      <p:sp>
        <p:nvSpPr>
          <p:cNvPr id="29" name="Text 27"/>
          <p:cNvSpPr txBox="1"/>
          <p:nvPr/>
        </p:nvSpPr>
        <p:spPr>
          <a:xfrm>
            <a:off x="603504" y="4846320"/>
            <a:ext cx="1261872" cy="5394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Comisionamiento</a:t>
            </a:r>
            <a:endParaRPr lang="en-US" sz="1000" dirty="0"/>
          </a:p>
          <a:p>
            <a:pPr indent="0" marL="0">
              <a:buNone/>
            </a:pPr>
            <a:r>
              <a:rPr lang="en-US" sz="950" dirty="0">
                <a:solidFill>
                  <a:srgbClr val="56606B"/>
                </a:solidFill>
                <a:latin typeface="Calibri" pitchFamily="34" charset="0"/>
                <a:ea typeface="Calibri" pitchFamily="34" charset="-122"/>
                <a:cs typeface="Calibri" pitchFamily="34" charset="-120"/>
              </a:rPr>
              <a:t>COM · CLI</a:t>
            </a:r>
            <a:endParaRPr lang="en-US" sz="1000" dirty="0"/>
          </a:p>
        </p:txBody>
      </p:sp>
      <p:sp>
        <p:nvSpPr>
          <p:cNvPr id="30" name="Shape 28"/>
          <p:cNvSpPr/>
          <p:nvPr/>
        </p:nvSpPr>
        <p:spPr>
          <a:xfrm>
            <a:off x="548640" y="5431536"/>
            <a:ext cx="11094415" cy="539496"/>
          </a:xfrm>
          <a:prstGeom prst="rect">
            <a:avLst/>
          </a:prstGeom>
          <a:solidFill>
            <a:srgbClr val="F4F7FA"/>
          </a:solidFill>
          <a:ln w="6350">
            <a:solidFill>
              <a:srgbClr val="DDE4EC"/>
            </a:solidFill>
            <a:prstDash val="solid"/>
          </a:ln>
        </p:spPr>
      </p:sp>
      <p:sp>
        <p:nvSpPr>
          <p:cNvPr id="31" name="Text 29"/>
          <p:cNvSpPr txBox="1"/>
          <p:nvPr/>
        </p:nvSpPr>
        <p:spPr>
          <a:xfrm>
            <a:off x="603504" y="5431536"/>
            <a:ext cx="1261872" cy="5394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Control</a:t>
            </a:r>
            <a:endParaRPr lang="en-US" sz="1000" dirty="0"/>
          </a:p>
          <a:p>
            <a:pPr indent="0" marL="0">
              <a:buNone/>
            </a:pPr>
            <a:r>
              <a:rPr lang="en-US" sz="950" dirty="0">
                <a:solidFill>
                  <a:srgbClr val="56606B"/>
                </a:solidFill>
                <a:latin typeface="Calibri" pitchFamily="34" charset="0"/>
                <a:ea typeface="Calibri" pitchFamily="34" charset="-122"/>
                <a:cs typeface="Calibri" pitchFamily="34" charset="-120"/>
              </a:rPr>
              <a:t>CTR · CHA · CLI</a:t>
            </a:r>
            <a:endParaRPr lang="en-US" sz="1000" dirty="0"/>
          </a:p>
        </p:txBody>
      </p:sp>
      <p:sp>
        <p:nvSpPr>
          <p:cNvPr id="32" name="Shape 30"/>
          <p:cNvSpPr/>
          <p:nvPr/>
        </p:nvSpPr>
        <p:spPr>
          <a:xfrm>
            <a:off x="2842158" y="2185416"/>
            <a:ext cx="811116" cy="237744"/>
          </a:xfrm>
          <a:prstGeom prst="roundRect">
            <a:avLst>
              <a:gd name="adj" fmla="val 15385"/>
            </a:avLst>
          </a:prstGeom>
          <a:solidFill>
            <a:srgbClr val="2A78D6"/>
          </a:solidFill>
          <a:ln w="12700">
            <a:solidFill>
              <a:srgbClr val="2A78D6"/>
            </a:solidFill>
            <a:prstDash val="solid"/>
          </a:ln>
        </p:spPr>
      </p:sp>
      <p:sp>
        <p:nvSpPr>
          <p:cNvPr id="33" name="Text 31"/>
          <p:cNvSpPr txBox="1"/>
          <p:nvPr/>
        </p:nvSpPr>
        <p:spPr>
          <a:xfrm>
            <a:off x="2869590" y="2185416"/>
            <a:ext cx="756252" cy="23774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Paso 1</a:t>
            </a:r>
            <a:endParaRPr lang="en-US" sz="950" dirty="0"/>
          </a:p>
        </p:txBody>
      </p:sp>
      <p:sp>
        <p:nvSpPr>
          <p:cNvPr id="34" name="Shape 32"/>
          <p:cNvSpPr/>
          <p:nvPr/>
        </p:nvSpPr>
        <p:spPr>
          <a:xfrm>
            <a:off x="3671562" y="2185416"/>
            <a:ext cx="903272" cy="237744"/>
          </a:xfrm>
          <a:prstGeom prst="roundRect">
            <a:avLst>
              <a:gd name="adj" fmla="val 15385"/>
            </a:avLst>
          </a:prstGeom>
          <a:solidFill>
            <a:srgbClr val="1F4E79"/>
          </a:solidFill>
          <a:ln w="12700">
            <a:solidFill>
              <a:srgbClr val="1F4E79"/>
            </a:solidFill>
            <a:prstDash val="solid"/>
          </a:ln>
        </p:spPr>
      </p:sp>
      <p:sp>
        <p:nvSpPr>
          <p:cNvPr id="35" name="Text 33"/>
          <p:cNvSpPr txBox="1"/>
          <p:nvPr/>
        </p:nvSpPr>
        <p:spPr>
          <a:xfrm>
            <a:off x="3698994" y="2185416"/>
            <a:ext cx="848408" cy="23774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Paso 2</a:t>
            </a:r>
            <a:endParaRPr lang="en-US" sz="950" dirty="0"/>
          </a:p>
        </p:txBody>
      </p:sp>
      <p:sp>
        <p:nvSpPr>
          <p:cNvPr id="36" name="Shape 34"/>
          <p:cNvSpPr/>
          <p:nvPr/>
        </p:nvSpPr>
        <p:spPr>
          <a:xfrm>
            <a:off x="4593122" y="2185416"/>
            <a:ext cx="1133662" cy="237744"/>
          </a:xfrm>
          <a:prstGeom prst="roundRect">
            <a:avLst>
              <a:gd name="adj" fmla="val 15385"/>
            </a:avLst>
          </a:prstGeom>
          <a:solidFill>
            <a:srgbClr val="0F2A43"/>
          </a:solidFill>
          <a:ln w="12700">
            <a:solidFill>
              <a:srgbClr val="0F2A43"/>
            </a:solidFill>
            <a:prstDash val="solid"/>
          </a:ln>
        </p:spPr>
      </p:sp>
      <p:sp>
        <p:nvSpPr>
          <p:cNvPr id="37" name="Text 35"/>
          <p:cNvSpPr txBox="1"/>
          <p:nvPr/>
        </p:nvSpPr>
        <p:spPr>
          <a:xfrm>
            <a:off x="4620554" y="2185416"/>
            <a:ext cx="1078798" cy="23774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Paso 3 · final</a:t>
            </a:r>
            <a:endParaRPr lang="en-US" sz="950" dirty="0"/>
          </a:p>
        </p:txBody>
      </p:sp>
      <p:sp>
        <p:nvSpPr>
          <p:cNvPr id="38" name="Shape 36"/>
          <p:cNvSpPr/>
          <p:nvPr/>
        </p:nvSpPr>
        <p:spPr>
          <a:xfrm>
            <a:off x="5791150" y="2185416"/>
            <a:ext cx="5833618" cy="237744"/>
          </a:xfrm>
          <a:prstGeom prst="roundRect">
            <a:avLst>
              <a:gd name="adj" fmla="val 15385"/>
            </a:avLst>
          </a:prstGeom>
          <a:solidFill>
            <a:srgbClr val="D6E4F2"/>
          </a:solidFill>
          <a:ln w="12700">
            <a:solidFill>
              <a:srgbClr val="D6E4F2"/>
            </a:solidFill>
            <a:prstDash val="solid"/>
          </a:ln>
        </p:spPr>
      </p:sp>
      <p:sp>
        <p:nvSpPr>
          <p:cNvPr id="39" name="Text 37"/>
          <p:cNvSpPr txBox="1"/>
          <p:nvPr/>
        </p:nvSpPr>
        <p:spPr>
          <a:xfrm>
            <a:off x="5818582" y="2185416"/>
            <a:ext cx="5778754" cy="237744"/>
          </a:xfrm>
          <a:prstGeom prst="rect">
            <a:avLst/>
          </a:prstGeom>
          <a:noFill/>
          <a:ln/>
        </p:spPr>
        <p:txBody>
          <a:bodyPr wrap="square" lIns="0" tIns="0" rIns="0" bIns="0" rtlCol="0" anchor="ctr">
            <a:normAutofit/>
          </a:bodyPr>
          <a:lstStyle/>
          <a:p>
            <a:pPr algn="ctr" indent="0" marL="0">
              <a:buNone/>
            </a:pPr>
            <a:r>
              <a:rPr lang="en-US" sz="950" b="1" dirty="0">
                <a:solidFill>
                  <a:srgbClr val="163A5C"/>
                </a:solidFill>
                <a:latin typeface="Calibri" pitchFamily="34" charset="0"/>
                <a:ea typeface="Calibri" pitchFamily="34" charset="-122"/>
                <a:cs typeface="Calibri" pitchFamily="34" charset="-120"/>
              </a:rPr>
              <a:t>PoC congelado · se mantiene con control de cambios</a:t>
            </a:r>
            <a:endParaRPr lang="en-US" sz="950" dirty="0"/>
          </a:p>
        </p:txBody>
      </p:sp>
      <p:sp>
        <p:nvSpPr>
          <p:cNvPr id="40" name="Shape 38"/>
          <p:cNvSpPr/>
          <p:nvPr/>
        </p:nvSpPr>
        <p:spPr>
          <a:xfrm>
            <a:off x="3801368" y="1956816"/>
            <a:ext cx="201168" cy="201168"/>
          </a:xfrm>
          <a:prstGeom prst="diamond">
            <a:avLst/>
          </a:prstGeom>
          <a:solidFill>
            <a:srgbClr val="F5A623"/>
          </a:solidFill>
          <a:ln w="9525">
            <a:solidFill>
              <a:srgbClr val="0F2A43"/>
            </a:solidFill>
            <a:prstDash val="solid"/>
          </a:ln>
        </p:spPr>
      </p:sp>
      <p:sp>
        <p:nvSpPr>
          <p:cNvPr id="41" name="Text 39"/>
          <p:cNvSpPr txBox="1"/>
          <p:nvPr/>
        </p:nvSpPr>
        <p:spPr>
          <a:xfrm>
            <a:off x="4011680" y="1938528"/>
            <a:ext cx="1188720" cy="237744"/>
          </a:xfrm>
          <a:prstGeom prst="rect">
            <a:avLst/>
          </a:prstGeom>
          <a:noFill/>
          <a:ln/>
        </p:spPr>
        <p:txBody>
          <a:bodyPr wrap="square" lIns="0" tIns="0" rIns="0" bIns="0" rtlCol="0" anchor="ctr"/>
          <a:lstStyle/>
          <a:p>
            <a:pPr indent="0" marL="0">
              <a:buNone/>
            </a:pPr>
            <a:r>
              <a:rPr lang="en-US" sz="950" b="1" dirty="0">
                <a:solidFill>
                  <a:srgbClr val="0F2A43"/>
                </a:solidFill>
                <a:latin typeface="Calibri" pitchFamily="34" charset="0"/>
                <a:ea typeface="Calibri" pitchFamily="34" charset="-122"/>
                <a:cs typeface="Calibri" pitchFamily="34" charset="-120"/>
              </a:rPr>
              <a:t>H1 CWA</a:t>
            </a:r>
            <a:endParaRPr lang="en-US" sz="950" dirty="0"/>
          </a:p>
        </p:txBody>
      </p:sp>
      <p:sp>
        <p:nvSpPr>
          <p:cNvPr id="42" name="Shape 40"/>
          <p:cNvSpPr/>
          <p:nvPr/>
        </p:nvSpPr>
        <p:spPr>
          <a:xfrm>
            <a:off x="5229786" y="1956816"/>
            <a:ext cx="201168" cy="201168"/>
          </a:xfrm>
          <a:prstGeom prst="diamond">
            <a:avLst/>
          </a:prstGeom>
          <a:solidFill>
            <a:srgbClr val="F5A623"/>
          </a:solidFill>
          <a:ln w="9525">
            <a:solidFill>
              <a:srgbClr val="0F2A43"/>
            </a:solidFill>
            <a:prstDash val="solid"/>
          </a:ln>
        </p:spPr>
      </p:sp>
      <p:sp>
        <p:nvSpPr>
          <p:cNvPr id="43" name="Text 41"/>
          <p:cNvSpPr txBox="1"/>
          <p:nvPr/>
        </p:nvSpPr>
        <p:spPr>
          <a:xfrm>
            <a:off x="5440098" y="1938528"/>
            <a:ext cx="1188720" cy="237744"/>
          </a:xfrm>
          <a:prstGeom prst="rect">
            <a:avLst/>
          </a:prstGeom>
          <a:noFill/>
          <a:ln/>
        </p:spPr>
        <p:txBody>
          <a:bodyPr wrap="square" lIns="0" tIns="0" rIns="0" bIns="0" rtlCol="0" anchor="ctr"/>
          <a:lstStyle/>
          <a:p>
            <a:pPr indent="0" marL="0">
              <a:buNone/>
            </a:pPr>
            <a:r>
              <a:rPr lang="en-US" sz="950" b="1" dirty="0">
                <a:solidFill>
                  <a:srgbClr val="0F2A43"/>
                </a:solidFill>
                <a:latin typeface="Calibri" pitchFamily="34" charset="0"/>
                <a:ea typeface="Calibri" pitchFamily="34" charset="-122"/>
                <a:cs typeface="Calibri" pitchFamily="34" charset="-120"/>
              </a:rPr>
              <a:t>H2</a:t>
            </a:r>
            <a:endParaRPr lang="en-US" sz="950" dirty="0"/>
          </a:p>
        </p:txBody>
      </p:sp>
      <p:sp>
        <p:nvSpPr>
          <p:cNvPr id="44" name="Shape 42"/>
          <p:cNvSpPr/>
          <p:nvPr/>
        </p:nvSpPr>
        <p:spPr>
          <a:xfrm>
            <a:off x="5828800" y="1956816"/>
            <a:ext cx="201168" cy="201168"/>
          </a:xfrm>
          <a:prstGeom prst="diamond">
            <a:avLst/>
          </a:prstGeom>
          <a:solidFill>
            <a:srgbClr val="F5A623"/>
          </a:solidFill>
          <a:ln w="9525">
            <a:solidFill>
              <a:srgbClr val="0F2A43"/>
            </a:solidFill>
            <a:prstDash val="solid"/>
          </a:ln>
        </p:spPr>
      </p:sp>
      <p:sp>
        <p:nvSpPr>
          <p:cNvPr id="45" name="Text 43"/>
          <p:cNvSpPr txBox="1"/>
          <p:nvPr/>
        </p:nvSpPr>
        <p:spPr>
          <a:xfrm>
            <a:off x="6039112" y="1938528"/>
            <a:ext cx="1188720" cy="237744"/>
          </a:xfrm>
          <a:prstGeom prst="rect">
            <a:avLst/>
          </a:prstGeom>
          <a:noFill/>
          <a:ln/>
        </p:spPr>
        <p:txBody>
          <a:bodyPr wrap="square" lIns="0" tIns="0" rIns="0" bIns="0" rtlCol="0" anchor="ctr"/>
          <a:lstStyle/>
          <a:p>
            <a:pPr indent="0" marL="0">
              <a:buNone/>
            </a:pPr>
            <a:r>
              <a:rPr lang="en-US" sz="950" b="1" dirty="0">
                <a:solidFill>
                  <a:srgbClr val="0F2A43"/>
                </a:solidFill>
                <a:latin typeface="Calibri" pitchFamily="34" charset="0"/>
                <a:ea typeface="Calibri" pitchFamily="34" charset="-122"/>
                <a:cs typeface="Calibri" pitchFamily="34" charset="-120"/>
              </a:rPr>
              <a:t>H3</a:t>
            </a:r>
            <a:endParaRPr lang="en-US" sz="950" dirty="0"/>
          </a:p>
        </p:txBody>
      </p:sp>
      <p:sp>
        <p:nvSpPr>
          <p:cNvPr id="46" name="Shape 44"/>
          <p:cNvSpPr/>
          <p:nvPr/>
        </p:nvSpPr>
        <p:spPr>
          <a:xfrm>
            <a:off x="3045832" y="2651760"/>
            <a:ext cx="237744" cy="237744"/>
          </a:xfrm>
          <a:prstGeom prst="ellipse">
            <a:avLst/>
          </a:prstGeom>
          <a:solidFill>
            <a:srgbClr val="F5A623"/>
          </a:solidFill>
          <a:ln w="9525">
            <a:solidFill>
              <a:srgbClr val="0F2A43"/>
            </a:solidFill>
            <a:prstDash val="solid"/>
          </a:ln>
        </p:spPr>
      </p:sp>
      <p:sp>
        <p:nvSpPr>
          <p:cNvPr id="47" name="Text 45"/>
          <p:cNvSpPr txBox="1"/>
          <p:nvPr/>
        </p:nvSpPr>
        <p:spPr>
          <a:xfrm>
            <a:off x="3329296" y="2615184"/>
            <a:ext cx="1828800" cy="3108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IPP 1 · FEL 2</a:t>
            </a:r>
            <a:endParaRPr lang="en-US" sz="1000" dirty="0"/>
          </a:p>
        </p:txBody>
      </p:sp>
      <p:sp>
        <p:nvSpPr>
          <p:cNvPr id="48" name="Shape 46"/>
          <p:cNvSpPr/>
          <p:nvPr/>
        </p:nvSpPr>
        <p:spPr>
          <a:xfrm>
            <a:off x="4796796" y="2651760"/>
            <a:ext cx="237744" cy="237744"/>
          </a:xfrm>
          <a:prstGeom prst="ellipse">
            <a:avLst/>
          </a:prstGeom>
          <a:solidFill>
            <a:srgbClr val="F5A623"/>
          </a:solidFill>
          <a:ln w="9525">
            <a:solidFill>
              <a:srgbClr val="0F2A43"/>
            </a:solidFill>
            <a:prstDash val="solid"/>
          </a:ln>
        </p:spPr>
      </p:sp>
      <p:sp>
        <p:nvSpPr>
          <p:cNvPr id="49" name="Text 47"/>
          <p:cNvSpPr txBox="1"/>
          <p:nvPr/>
        </p:nvSpPr>
        <p:spPr>
          <a:xfrm>
            <a:off x="5080260" y="2615184"/>
            <a:ext cx="1828800" cy="3108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IPP 2 · FEL 3</a:t>
            </a:r>
            <a:endParaRPr lang="en-US" sz="1000" dirty="0"/>
          </a:p>
        </p:txBody>
      </p:sp>
      <p:sp>
        <p:nvSpPr>
          <p:cNvPr id="50" name="Shape 48"/>
          <p:cNvSpPr/>
          <p:nvPr/>
        </p:nvSpPr>
        <p:spPr>
          <a:xfrm>
            <a:off x="8575191" y="2651760"/>
            <a:ext cx="237744" cy="237744"/>
          </a:xfrm>
          <a:prstGeom prst="ellipse">
            <a:avLst/>
          </a:prstGeom>
          <a:solidFill>
            <a:srgbClr val="F5A623"/>
          </a:solidFill>
          <a:ln w="9525">
            <a:solidFill>
              <a:srgbClr val="0F2A43"/>
            </a:solidFill>
            <a:prstDash val="solid"/>
          </a:ln>
        </p:spPr>
      </p:sp>
      <p:sp>
        <p:nvSpPr>
          <p:cNvPr id="51" name="Text 49"/>
          <p:cNvSpPr txBox="1"/>
          <p:nvPr/>
        </p:nvSpPr>
        <p:spPr>
          <a:xfrm>
            <a:off x="8858655" y="2615184"/>
            <a:ext cx="1828800" cy="3108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IPP 3 · actualización</a:t>
            </a:r>
            <a:endParaRPr lang="en-US" sz="1000" dirty="0"/>
          </a:p>
        </p:txBody>
      </p:sp>
      <p:sp>
        <p:nvSpPr>
          <p:cNvPr id="52" name="Shape 50"/>
          <p:cNvSpPr/>
          <p:nvPr/>
        </p:nvSpPr>
        <p:spPr>
          <a:xfrm>
            <a:off x="5745072" y="3355848"/>
            <a:ext cx="1732676" cy="237744"/>
          </a:xfrm>
          <a:prstGeom prst="roundRect">
            <a:avLst>
              <a:gd name="adj" fmla="val 15385"/>
            </a:avLst>
          </a:prstGeom>
          <a:solidFill>
            <a:srgbClr val="1F4E79"/>
          </a:solidFill>
          <a:ln w="12700">
            <a:solidFill>
              <a:srgbClr val="1F4E79"/>
            </a:solidFill>
            <a:prstDash val="solid"/>
          </a:ln>
        </p:spPr>
      </p:sp>
      <p:sp>
        <p:nvSpPr>
          <p:cNvPr id="53" name="Text 51"/>
          <p:cNvSpPr txBox="1"/>
          <p:nvPr/>
        </p:nvSpPr>
        <p:spPr>
          <a:xfrm>
            <a:off x="5772504" y="3355848"/>
            <a:ext cx="1677812" cy="23774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EWP IFC −13 sem</a:t>
            </a:r>
            <a:endParaRPr lang="en-US" sz="950" dirty="0"/>
          </a:p>
        </p:txBody>
      </p:sp>
      <p:sp>
        <p:nvSpPr>
          <p:cNvPr id="54" name="Shape 52"/>
          <p:cNvSpPr/>
          <p:nvPr/>
        </p:nvSpPr>
        <p:spPr>
          <a:xfrm>
            <a:off x="6289580" y="3127248"/>
            <a:ext cx="201168" cy="201168"/>
          </a:xfrm>
          <a:prstGeom prst="diamond">
            <a:avLst/>
          </a:prstGeom>
          <a:solidFill>
            <a:srgbClr val="1F4E79"/>
          </a:solidFill>
          <a:ln w="9525">
            <a:solidFill>
              <a:srgbClr val="0F2A43"/>
            </a:solidFill>
            <a:prstDash val="solid"/>
          </a:ln>
        </p:spPr>
      </p:sp>
      <p:sp>
        <p:nvSpPr>
          <p:cNvPr id="55" name="Text 53"/>
          <p:cNvSpPr txBox="1"/>
          <p:nvPr/>
        </p:nvSpPr>
        <p:spPr>
          <a:xfrm>
            <a:off x="6499892" y="3108960"/>
            <a:ext cx="1188720" cy="237744"/>
          </a:xfrm>
          <a:prstGeom prst="rect">
            <a:avLst/>
          </a:prstGeom>
          <a:noFill/>
          <a:ln/>
        </p:spPr>
        <p:txBody>
          <a:bodyPr wrap="square" lIns="0" tIns="0" rIns="0" bIns="0" rtlCol="0" anchor="ctr"/>
          <a:lstStyle/>
          <a:p>
            <a:pPr indent="0" marL="0">
              <a:buNone/>
            </a:pPr>
            <a:r>
              <a:rPr lang="en-US" sz="950" b="1" dirty="0">
                <a:solidFill>
                  <a:srgbClr val="0F2A43"/>
                </a:solidFill>
                <a:latin typeface="Calibri" pitchFamily="34" charset="0"/>
                <a:ea typeface="Calibri" pitchFamily="34" charset="-122"/>
                <a:cs typeface="Calibri" pitchFamily="34" charset="-120"/>
              </a:rPr>
              <a:t>H5 primer EWP</a:t>
            </a:r>
            <a:endParaRPr lang="en-US" sz="950" dirty="0"/>
          </a:p>
        </p:txBody>
      </p:sp>
      <p:sp>
        <p:nvSpPr>
          <p:cNvPr id="56" name="Shape 54"/>
          <p:cNvSpPr/>
          <p:nvPr/>
        </p:nvSpPr>
        <p:spPr>
          <a:xfrm>
            <a:off x="6113696" y="3941064"/>
            <a:ext cx="2700314" cy="237744"/>
          </a:xfrm>
          <a:prstGeom prst="roundRect">
            <a:avLst>
              <a:gd name="adj" fmla="val 15385"/>
            </a:avLst>
          </a:prstGeom>
          <a:solidFill>
            <a:srgbClr val="1BAF7A"/>
          </a:solidFill>
          <a:ln w="12700">
            <a:solidFill>
              <a:srgbClr val="1BAF7A"/>
            </a:solidFill>
            <a:prstDash val="solid"/>
          </a:ln>
        </p:spPr>
      </p:sp>
      <p:sp>
        <p:nvSpPr>
          <p:cNvPr id="57" name="Text 55"/>
          <p:cNvSpPr txBox="1"/>
          <p:nvPr/>
        </p:nvSpPr>
        <p:spPr>
          <a:xfrm>
            <a:off x="6141128" y="3941064"/>
            <a:ext cx="2645450" cy="23774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PWP por CWP · RAS −10 días</a:t>
            </a:r>
            <a:endParaRPr lang="en-US" sz="950" dirty="0"/>
          </a:p>
        </p:txBody>
      </p:sp>
      <p:sp>
        <p:nvSpPr>
          <p:cNvPr id="58" name="Shape 56"/>
          <p:cNvSpPr/>
          <p:nvPr/>
        </p:nvSpPr>
        <p:spPr>
          <a:xfrm>
            <a:off x="7496036" y="4526280"/>
            <a:ext cx="2884626" cy="237744"/>
          </a:xfrm>
          <a:prstGeom prst="roundRect">
            <a:avLst>
              <a:gd name="adj" fmla="val 15385"/>
            </a:avLst>
          </a:prstGeom>
          <a:solidFill>
            <a:srgbClr val="EB6834"/>
          </a:solidFill>
          <a:ln w="12700">
            <a:solidFill>
              <a:srgbClr val="EB6834"/>
            </a:solidFill>
            <a:prstDash val="solid"/>
          </a:ln>
        </p:spPr>
      </p:sp>
      <p:sp>
        <p:nvSpPr>
          <p:cNvPr id="59" name="Text 57"/>
          <p:cNvSpPr txBox="1"/>
          <p:nvPr/>
        </p:nvSpPr>
        <p:spPr>
          <a:xfrm>
            <a:off x="7523468" y="4526280"/>
            <a:ext cx="2829762" cy="23774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CWP −10 sem → IWP → lookahead</a:t>
            </a:r>
            <a:endParaRPr lang="en-US" sz="950" dirty="0"/>
          </a:p>
        </p:txBody>
      </p:sp>
      <p:sp>
        <p:nvSpPr>
          <p:cNvPr id="60" name="Shape 58"/>
          <p:cNvSpPr/>
          <p:nvPr/>
        </p:nvSpPr>
        <p:spPr>
          <a:xfrm>
            <a:off x="7625842" y="4297680"/>
            <a:ext cx="201168" cy="201168"/>
          </a:xfrm>
          <a:prstGeom prst="diamond">
            <a:avLst/>
          </a:prstGeom>
          <a:solidFill>
            <a:srgbClr val="F5A623"/>
          </a:solidFill>
          <a:ln w="9525">
            <a:solidFill>
              <a:srgbClr val="0F2A43"/>
            </a:solidFill>
            <a:prstDash val="solid"/>
          </a:ln>
        </p:spPr>
      </p:sp>
      <p:sp>
        <p:nvSpPr>
          <p:cNvPr id="61" name="Text 59"/>
          <p:cNvSpPr txBox="1"/>
          <p:nvPr/>
        </p:nvSpPr>
        <p:spPr>
          <a:xfrm>
            <a:off x="7836154" y="4279392"/>
            <a:ext cx="1188720" cy="237744"/>
          </a:xfrm>
          <a:prstGeom prst="rect">
            <a:avLst/>
          </a:prstGeom>
          <a:noFill/>
          <a:ln/>
        </p:spPr>
        <p:txBody>
          <a:bodyPr wrap="square" lIns="0" tIns="0" rIns="0" bIns="0" rtlCol="0" anchor="ctr"/>
          <a:lstStyle/>
          <a:p>
            <a:pPr indent="0" marL="0">
              <a:buNone/>
            </a:pPr>
            <a:r>
              <a:rPr lang="en-US" sz="950" b="1" dirty="0">
                <a:solidFill>
                  <a:srgbClr val="0F2A43"/>
                </a:solidFill>
                <a:latin typeface="Calibri" pitchFamily="34" charset="0"/>
                <a:ea typeface="Calibri" pitchFamily="34" charset="-122"/>
                <a:cs typeface="Calibri" pitchFamily="34" charset="-120"/>
              </a:rPr>
              <a:t>H6</a:t>
            </a:r>
            <a:endParaRPr lang="en-US" sz="950" dirty="0"/>
          </a:p>
        </p:txBody>
      </p:sp>
      <p:sp>
        <p:nvSpPr>
          <p:cNvPr id="62" name="Shape 60"/>
          <p:cNvSpPr/>
          <p:nvPr/>
        </p:nvSpPr>
        <p:spPr>
          <a:xfrm>
            <a:off x="8224855" y="4297680"/>
            <a:ext cx="201168" cy="201168"/>
          </a:xfrm>
          <a:prstGeom prst="diamond">
            <a:avLst/>
          </a:prstGeom>
          <a:solidFill>
            <a:srgbClr val="F5A623"/>
          </a:solidFill>
          <a:ln w="9525">
            <a:solidFill>
              <a:srgbClr val="0F2A43"/>
            </a:solidFill>
            <a:prstDash val="solid"/>
          </a:ln>
        </p:spPr>
      </p:sp>
      <p:sp>
        <p:nvSpPr>
          <p:cNvPr id="63" name="Text 61"/>
          <p:cNvSpPr txBox="1"/>
          <p:nvPr/>
        </p:nvSpPr>
        <p:spPr>
          <a:xfrm>
            <a:off x="8435167" y="4279392"/>
            <a:ext cx="1188720" cy="237744"/>
          </a:xfrm>
          <a:prstGeom prst="rect">
            <a:avLst/>
          </a:prstGeom>
          <a:noFill/>
          <a:ln/>
        </p:spPr>
        <p:txBody>
          <a:bodyPr wrap="square" lIns="0" tIns="0" rIns="0" bIns="0" rtlCol="0" anchor="ctr"/>
          <a:lstStyle/>
          <a:p>
            <a:pPr indent="0" marL="0">
              <a:buNone/>
            </a:pPr>
            <a:r>
              <a:rPr lang="en-US" sz="950" b="1" dirty="0">
                <a:solidFill>
                  <a:srgbClr val="0F2A43"/>
                </a:solidFill>
                <a:latin typeface="Calibri" pitchFamily="34" charset="0"/>
                <a:ea typeface="Calibri" pitchFamily="34" charset="-122"/>
                <a:cs typeface="Calibri" pitchFamily="34" charset="-120"/>
              </a:rPr>
              <a:t>H7</a:t>
            </a:r>
            <a:endParaRPr lang="en-US" sz="950" dirty="0"/>
          </a:p>
        </p:txBody>
      </p:sp>
      <p:sp>
        <p:nvSpPr>
          <p:cNvPr id="64" name="Shape 62"/>
          <p:cNvSpPr/>
          <p:nvPr/>
        </p:nvSpPr>
        <p:spPr>
          <a:xfrm>
            <a:off x="9054259" y="4297680"/>
            <a:ext cx="201168" cy="201168"/>
          </a:xfrm>
          <a:prstGeom prst="diamond">
            <a:avLst/>
          </a:prstGeom>
          <a:solidFill>
            <a:srgbClr val="F5A623"/>
          </a:solidFill>
          <a:ln w="9525">
            <a:solidFill>
              <a:srgbClr val="0F2A43"/>
            </a:solidFill>
            <a:prstDash val="solid"/>
          </a:ln>
        </p:spPr>
      </p:sp>
      <p:sp>
        <p:nvSpPr>
          <p:cNvPr id="65" name="Text 63"/>
          <p:cNvSpPr txBox="1"/>
          <p:nvPr/>
        </p:nvSpPr>
        <p:spPr>
          <a:xfrm>
            <a:off x="9264571" y="4279392"/>
            <a:ext cx="1188720" cy="237744"/>
          </a:xfrm>
          <a:prstGeom prst="rect">
            <a:avLst/>
          </a:prstGeom>
          <a:noFill/>
          <a:ln/>
        </p:spPr>
        <p:txBody>
          <a:bodyPr wrap="square" lIns="0" tIns="0" rIns="0" bIns="0" rtlCol="0" anchor="ctr"/>
          <a:lstStyle/>
          <a:p>
            <a:pPr indent="0" marL="0">
              <a:buNone/>
            </a:pPr>
            <a:r>
              <a:rPr lang="en-US" sz="950" b="1" dirty="0">
                <a:solidFill>
                  <a:srgbClr val="0F2A43"/>
                </a:solidFill>
                <a:latin typeface="Calibri" pitchFamily="34" charset="0"/>
                <a:ea typeface="Calibri" pitchFamily="34" charset="-122"/>
                <a:cs typeface="Calibri" pitchFamily="34" charset="-120"/>
              </a:rPr>
              <a:t>H8 backlog</a:t>
            </a:r>
            <a:endParaRPr lang="en-US" sz="950" dirty="0"/>
          </a:p>
        </p:txBody>
      </p:sp>
      <p:sp>
        <p:nvSpPr>
          <p:cNvPr id="66" name="Shape 64"/>
          <p:cNvSpPr/>
          <p:nvPr/>
        </p:nvSpPr>
        <p:spPr>
          <a:xfrm>
            <a:off x="2842158" y="5111496"/>
            <a:ext cx="1225818" cy="237744"/>
          </a:xfrm>
          <a:prstGeom prst="roundRect">
            <a:avLst>
              <a:gd name="adj" fmla="val 15385"/>
            </a:avLst>
          </a:prstGeom>
          <a:solidFill>
            <a:srgbClr val="FFE3A3"/>
          </a:solidFill>
          <a:ln w="12700">
            <a:solidFill>
              <a:srgbClr val="FFE3A3"/>
            </a:solidFill>
            <a:prstDash val="solid"/>
          </a:ln>
        </p:spPr>
      </p:sp>
      <p:sp>
        <p:nvSpPr>
          <p:cNvPr id="67" name="Text 65"/>
          <p:cNvSpPr txBox="1"/>
          <p:nvPr/>
        </p:nvSpPr>
        <p:spPr>
          <a:xfrm>
            <a:off x="2869590" y="5111496"/>
            <a:ext cx="1170954" cy="237744"/>
          </a:xfrm>
          <a:prstGeom prst="rect">
            <a:avLst/>
          </a:prstGeom>
          <a:noFill/>
          <a:ln/>
        </p:spPr>
        <p:txBody>
          <a:bodyPr wrap="square" lIns="0" tIns="0" rIns="0" bIns="0" rtlCol="0" anchor="ctr">
            <a:normAutofit/>
          </a:bodyPr>
          <a:lstStyle/>
          <a:p>
            <a:pPr algn="ctr" indent="0" marL="0">
              <a:buNone/>
            </a:pPr>
            <a:r>
              <a:rPr lang="en-US" sz="950" b="1" dirty="0">
                <a:solidFill>
                  <a:srgbClr val="0F2A43"/>
                </a:solidFill>
                <a:latin typeface="Calibri" pitchFamily="34" charset="0"/>
                <a:ea typeface="Calibri" pitchFamily="34" charset="-122"/>
                <a:cs typeface="Calibri" pitchFamily="34" charset="-120"/>
              </a:rPr>
              <a:t>Prioridad de sistemas</a:t>
            </a:r>
            <a:endParaRPr lang="en-US" sz="950" dirty="0"/>
          </a:p>
        </p:txBody>
      </p:sp>
      <p:sp>
        <p:nvSpPr>
          <p:cNvPr id="68" name="Shape 66"/>
          <p:cNvSpPr/>
          <p:nvPr/>
        </p:nvSpPr>
        <p:spPr>
          <a:xfrm>
            <a:off x="10398949" y="5111496"/>
            <a:ext cx="1225818" cy="237744"/>
          </a:xfrm>
          <a:prstGeom prst="roundRect">
            <a:avLst>
              <a:gd name="adj" fmla="val 15385"/>
            </a:avLst>
          </a:prstGeom>
          <a:solidFill>
            <a:srgbClr val="F5A623"/>
          </a:solidFill>
          <a:ln w="12700">
            <a:solidFill>
              <a:srgbClr val="F5A623"/>
            </a:solidFill>
            <a:prstDash val="solid"/>
          </a:ln>
        </p:spPr>
      </p:sp>
      <p:sp>
        <p:nvSpPr>
          <p:cNvPr id="69" name="Text 67"/>
          <p:cNvSpPr txBox="1"/>
          <p:nvPr/>
        </p:nvSpPr>
        <p:spPr>
          <a:xfrm>
            <a:off x="10426381" y="5111496"/>
            <a:ext cx="1170954" cy="237744"/>
          </a:xfrm>
          <a:prstGeom prst="rect">
            <a:avLst/>
          </a:prstGeom>
          <a:noFill/>
          <a:ln/>
        </p:spPr>
        <p:txBody>
          <a:bodyPr wrap="square" lIns="0" tIns="0" rIns="0" bIns="0" rtlCol="0" anchor="ctr">
            <a:normAutofit/>
          </a:bodyPr>
          <a:lstStyle/>
          <a:p>
            <a:pPr algn="ctr" indent="0" marL="0">
              <a:buNone/>
            </a:pPr>
            <a:r>
              <a:rPr lang="en-US" sz="950" b="1" dirty="0">
                <a:solidFill>
                  <a:srgbClr val="0F2A43"/>
                </a:solidFill>
                <a:latin typeface="Calibri" pitchFamily="34" charset="0"/>
                <a:ea typeface="Calibri" pitchFamily="34" charset="-122"/>
                <a:cs typeface="Calibri" pitchFamily="34" charset="-120"/>
              </a:rPr>
              <a:t>SWP · TOP</a:t>
            </a:r>
            <a:endParaRPr lang="en-US" sz="950" dirty="0"/>
          </a:p>
        </p:txBody>
      </p:sp>
      <p:sp>
        <p:nvSpPr>
          <p:cNvPr id="70" name="Shape 68"/>
          <p:cNvSpPr/>
          <p:nvPr/>
        </p:nvSpPr>
        <p:spPr>
          <a:xfrm>
            <a:off x="10528755" y="4882896"/>
            <a:ext cx="201168" cy="201168"/>
          </a:xfrm>
          <a:prstGeom prst="diamond">
            <a:avLst/>
          </a:prstGeom>
          <a:solidFill>
            <a:srgbClr val="F5A623"/>
          </a:solidFill>
          <a:ln w="9525">
            <a:solidFill>
              <a:srgbClr val="0F2A43"/>
            </a:solidFill>
            <a:prstDash val="solid"/>
          </a:ln>
        </p:spPr>
      </p:sp>
      <p:sp>
        <p:nvSpPr>
          <p:cNvPr id="71" name="Text 69"/>
          <p:cNvSpPr txBox="1"/>
          <p:nvPr/>
        </p:nvSpPr>
        <p:spPr>
          <a:xfrm>
            <a:off x="10739067" y="4864608"/>
            <a:ext cx="1188720" cy="237744"/>
          </a:xfrm>
          <a:prstGeom prst="rect">
            <a:avLst/>
          </a:prstGeom>
          <a:noFill/>
          <a:ln/>
        </p:spPr>
        <p:txBody>
          <a:bodyPr wrap="square" lIns="0" tIns="0" rIns="0" bIns="0" rtlCol="0" anchor="ctr"/>
          <a:lstStyle/>
          <a:p>
            <a:pPr indent="0" marL="0">
              <a:buNone/>
            </a:pPr>
            <a:r>
              <a:rPr lang="en-US" sz="950" b="1" dirty="0">
                <a:solidFill>
                  <a:srgbClr val="0F2A43"/>
                </a:solidFill>
                <a:latin typeface="Calibri" pitchFamily="34" charset="0"/>
                <a:ea typeface="Calibri" pitchFamily="34" charset="-122"/>
                <a:cs typeface="Calibri" pitchFamily="34" charset="-120"/>
              </a:rPr>
              <a:t>H9 sistema</a:t>
            </a:r>
            <a:endParaRPr lang="en-US" sz="950" dirty="0"/>
          </a:p>
        </p:txBody>
      </p:sp>
      <p:sp>
        <p:nvSpPr>
          <p:cNvPr id="72" name="Shape 70"/>
          <p:cNvSpPr/>
          <p:nvPr/>
        </p:nvSpPr>
        <p:spPr>
          <a:xfrm>
            <a:off x="5791150" y="5696712"/>
            <a:ext cx="5372838" cy="237744"/>
          </a:xfrm>
          <a:prstGeom prst="roundRect">
            <a:avLst>
              <a:gd name="adj" fmla="val 15385"/>
            </a:avLst>
          </a:prstGeom>
          <a:solidFill>
            <a:srgbClr val="E7ECF1"/>
          </a:solidFill>
          <a:ln w="12700">
            <a:solidFill>
              <a:srgbClr val="E7ECF1"/>
            </a:solidFill>
            <a:prstDash val="solid"/>
          </a:ln>
        </p:spPr>
      </p:sp>
      <p:sp>
        <p:nvSpPr>
          <p:cNvPr id="73" name="Text 71"/>
          <p:cNvSpPr txBox="1"/>
          <p:nvPr/>
        </p:nvSpPr>
        <p:spPr>
          <a:xfrm>
            <a:off x="5818582" y="5696712"/>
            <a:ext cx="5317974" cy="237744"/>
          </a:xfrm>
          <a:prstGeom prst="rect">
            <a:avLst/>
          </a:prstGeom>
          <a:noFill/>
          <a:ln/>
        </p:spPr>
        <p:txBody>
          <a:bodyPr wrap="square" lIns="0" tIns="0" rIns="0" bIns="0" rtlCol="0" anchor="ctr">
            <a:normAutofit/>
          </a:bodyPr>
          <a:lstStyle/>
          <a:p>
            <a:pPr algn="ctr" indent="0" marL="0">
              <a:buNone/>
            </a:pPr>
            <a:r>
              <a:rPr lang="en-US" sz="950" b="1" dirty="0">
                <a:solidFill>
                  <a:srgbClr val="1B1F24"/>
                </a:solidFill>
                <a:latin typeface="Calibri" pitchFamily="34" charset="0"/>
                <a:ea typeface="Calibri" pitchFamily="34" charset="-122"/>
                <a:cs typeface="Calibri" pitchFamily="34" charset="-120"/>
              </a:rPr>
              <a:t>K01 · K02 · K04 · K13 · plan de liberación</a:t>
            </a:r>
            <a:endParaRPr lang="en-US" sz="950" dirty="0"/>
          </a:p>
        </p:txBody>
      </p:sp>
      <p:sp>
        <p:nvSpPr>
          <p:cNvPr id="74" name="Shape 72"/>
          <p:cNvSpPr/>
          <p:nvPr/>
        </p:nvSpPr>
        <p:spPr>
          <a:xfrm>
            <a:off x="10713067" y="5468112"/>
            <a:ext cx="201168" cy="201168"/>
          </a:xfrm>
          <a:prstGeom prst="diamond">
            <a:avLst/>
          </a:prstGeom>
          <a:solidFill>
            <a:srgbClr val="F5A623"/>
          </a:solidFill>
          <a:ln w="9525">
            <a:solidFill>
              <a:srgbClr val="0F2A43"/>
            </a:solidFill>
            <a:prstDash val="solid"/>
          </a:ln>
        </p:spPr>
      </p:sp>
      <p:sp>
        <p:nvSpPr>
          <p:cNvPr id="75" name="Text 73"/>
          <p:cNvSpPr txBox="1"/>
          <p:nvPr/>
        </p:nvSpPr>
        <p:spPr>
          <a:xfrm>
            <a:off x="10923379" y="5449824"/>
            <a:ext cx="1188720" cy="237744"/>
          </a:xfrm>
          <a:prstGeom prst="rect">
            <a:avLst/>
          </a:prstGeom>
          <a:noFill/>
          <a:ln/>
        </p:spPr>
        <p:txBody>
          <a:bodyPr wrap="square" lIns="0" tIns="0" rIns="0" bIns="0" rtlCol="0" anchor="ctr"/>
          <a:lstStyle/>
          <a:p>
            <a:pPr indent="0" marL="0">
              <a:buNone/>
            </a:pPr>
            <a:r>
              <a:rPr lang="en-US" sz="950" b="1" dirty="0">
                <a:solidFill>
                  <a:srgbClr val="0F2A43"/>
                </a:solidFill>
                <a:latin typeface="Calibri" pitchFamily="34" charset="0"/>
                <a:ea typeface="Calibri" pitchFamily="34" charset="-122"/>
                <a:cs typeface="Calibri" pitchFamily="34" charset="-120"/>
              </a:rPr>
              <a:t>H10</a:t>
            </a:r>
            <a:endParaRPr lang="en-US" sz="950" dirty="0"/>
          </a:p>
        </p:txBody>
      </p:sp>
      <p:sp>
        <p:nvSpPr>
          <p:cNvPr id="76" name="Text 74"/>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150" b="1" dirty="0">
                <a:solidFill>
                  <a:srgbClr val="F5A623"/>
                </a:solidFill>
                <a:latin typeface="Calibri" pitchFamily="34" charset="0"/>
                <a:ea typeface="Calibri" pitchFamily="34" charset="-122"/>
                <a:cs typeface="Calibri" pitchFamily="34" charset="-120"/>
              </a:rPr>
              <a:t>◆ </a:t>
            </a:r>
            <a:pPr indent="0" marL="0">
              <a:buNone/>
            </a:pPr>
            <a:r>
              <a:rPr lang="en-US" sz="1150" dirty="0">
                <a:solidFill>
                  <a:srgbClr val="56606B"/>
                </a:solidFill>
                <a:latin typeface="Calibri" pitchFamily="34" charset="0"/>
                <a:ea typeface="Calibri" pitchFamily="34" charset="-122"/>
                <a:cs typeface="Calibri" pitchFamily="34" charset="-120"/>
              </a:rPr>
              <a:t>hito del plan   </a:t>
            </a:r>
            <a:pPr indent="0" marL="0">
              <a:buNone/>
            </a:pPr>
            <a:r>
              <a:rPr lang="en-US" sz="1150" b="1" dirty="0">
                <a:solidFill>
                  <a:srgbClr val="F5A623"/>
                </a:solidFill>
                <a:latin typeface="Calibri" pitchFamily="34" charset="0"/>
                <a:ea typeface="Calibri" pitchFamily="34" charset="-122"/>
                <a:cs typeface="Calibri" pitchFamily="34" charset="-120"/>
              </a:rPr>
              <a:t>● </a:t>
            </a:r>
            <a:pPr indent="0" marL="0">
              <a:buNone/>
            </a:pPr>
            <a:r>
              <a:rPr lang="en-US" sz="1150" dirty="0">
                <a:solidFill>
                  <a:srgbClr val="56606B"/>
                </a:solidFill>
                <a:latin typeface="Calibri" pitchFamily="34" charset="0"/>
                <a:ea typeface="Calibri" pitchFamily="34" charset="-122"/>
                <a:cs typeface="Calibri" pitchFamily="34" charset="-120"/>
              </a:rPr>
              <a:t>taller IPP   </a:t>
            </a:r>
            <a:pPr indent="0" marL="0">
              <a:buNone/>
            </a:pPr>
            <a:r>
              <a:rPr lang="en-US" sz="1150" dirty="0">
                <a:solidFill>
                  <a:srgbClr val="56606B"/>
                </a:solidFill>
                <a:latin typeface="Calibri" pitchFamily="34" charset="0"/>
                <a:ea typeface="Calibri" pitchFamily="34" charset="-122"/>
                <a:cs typeface="Calibri" pitchFamily="34" charset="-120"/>
              </a:rPr>
              <a:t>Responsables en la columna izquierda (códigos de rol del kit).</a:t>
            </a:r>
            <a:endParaRPr lang="en-US" sz="1150" dirty="0"/>
          </a:p>
        </p:txBody>
      </p:sp>
      <p:sp>
        <p:nvSpPr>
          <p:cNvPr id="77" name="Text 7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Cuándo se desarrolla</a:t>
            </a:r>
            <a:endParaRPr lang="en-US" sz="1000" dirty="0"/>
          </a:p>
        </p:txBody>
      </p:sp>
      <p:sp>
        <p:nvSpPr>
          <p:cNvPr id="78" name="Text 7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Qué se hace con el PoC en cada momento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Entradas, actividades, salidas y responsable principal</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737360"/>
                <a:gridCol w="4480560"/>
                <a:gridCol w="3017520"/>
                <a:gridCol w="1737360"/>
              </a:tblGrid>
              <a:tr h="5181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Momento</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Actividad sobre el PoC</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Salida</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Responsable</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FEL 2</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Paso 1 sin restricciones y paso 2 con restricciones; definir CWA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PoC preliminar; cronograma y presupuesto de nivel 2</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CON (lidera), CHA (facilita)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Inicio de FEL 3</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Actualizar el PoC con la estrategia de compras, módulos y contratación</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PoC revisado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CON</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Fin de FEL 3</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Paso 3: finalizar y congelar el PoC; calcular fechas requeridas</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PoC congelado (H2); nivel 3; plan de liberación (H3)</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CLI y CON aprueban</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Ingeniería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Emitir EWP en la secuencia del PoC (Path of Engineering)</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EWP IFC a tiempo (K01)</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ING</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Procura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Fijar y seguir las fechas RAS desde el PoC</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PWP con materiales a tiempo (K02)</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PRO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Construcción</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Emitir CWP, dividir en IWP, lookahead según el PoC</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Backlog de IWP liberados (K04)</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CON, LWF</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Cambios</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Evaluar y aprobar cambios de secuencia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Nueva revisión del PoC</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CON, CHA, CLI</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Cierre de fase</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Registrar lecciones del PoC</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Insumo para el PoC de la fase siguiente (H10)</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CHA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Cuándo se desarrolla</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Entregables de FEL 3 que acompañan al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Lo que debe estar listo en la compuerta 3 (Education Primer del CII)</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Prioridades de puesta en marcha</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Definidas con operaciones: el punto de partida de la secuencia.</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Ruta de construcción (PoC)</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Final y congelada: entregable de la compuerta 3.</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WBS y paquetes de trabajo</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Estructura de desglose y lista de CWA, CWP, EWP y PWP.</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Organigrama del proyecto</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Con los roles AWP: Champion, Líder de WFP, planificadores.</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Sesión IPP: cronograma</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Cronograma integrado de nivel 3 acordado en el taller.</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Plan de ejecución y presupuesto</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Plan de ejecución de la construcción; presupuesto con precisión de −15 / +30 %.</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Cuándo se desarrolla</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Las etapas del CII y 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Cuatro etapas de implementación de AWP (Education Primer)</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4206240"/>
                <a:gridCol w="384048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Etapa del CII</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Qué ocurre</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Papel del PoC</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I · Planificación / diseño preliminar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Planificación interactiva; se definen CWA, CWP y EWP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Se crea y se congela 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II · Ingeniería de detalle y compras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Se crean los CWP, EWP y PWP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Ordena la emisión de EWP y las RAS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III · Ejecución, pruebas y cierre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IWP, lookahead, avance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Ordena la división en IWP y el lookahead</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IV · Energización y comisionamiento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SWP y TOP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Define el orden de entrega de sistemas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Cuándo se desarrolla</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Las ventanas del PoC en el proyecto tipo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Proyecto de 36 meses (M1 = enero de 2027) con tres fases superpuestas</a:t>
            </a:r>
            <a:endParaRPr lang="en-US" sz="1500" dirty="0"/>
          </a:p>
        </p:txBody>
      </p:sp>
      <p:sp>
        <p:nvSpPr>
          <p:cNvPr id="4" name="Text 2"/>
          <p:cNvSpPr txBox="1"/>
          <p:nvPr/>
        </p:nvSpPr>
        <p:spPr>
          <a:xfrm>
            <a:off x="1920240"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a:t>
            </a:r>
            <a:endParaRPr lang="en-US" sz="1000" dirty="0"/>
          </a:p>
        </p:txBody>
      </p:sp>
      <p:sp>
        <p:nvSpPr>
          <p:cNvPr id="5" name="Shape 3"/>
          <p:cNvSpPr/>
          <p:nvPr/>
        </p:nvSpPr>
        <p:spPr>
          <a:xfrm>
            <a:off x="1920240" y="1600200"/>
            <a:ext cx="0" cy="4434840"/>
          </a:xfrm>
          <a:prstGeom prst="line">
            <a:avLst/>
          </a:prstGeom>
          <a:noFill/>
          <a:ln w="12700">
            <a:solidFill>
              <a:srgbClr val="B9CCE0"/>
            </a:solidFill>
            <a:prstDash val="solid"/>
          </a:ln>
        </p:spPr>
      </p:sp>
      <p:sp>
        <p:nvSpPr>
          <p:cNvPr id="6" name="Shape 4"/>
          <p:cNvSpPr/>
          <p:nvPr/>
        </p:nvSpPr>
        <p:spPr>
          <a:xfrm>
            <a:off x="2190318" y="1600200"/>
            <a:ext cx="0" cy="4434840"/>
          </a:xfrm>
          <a:prstGeom prst="line">
            <a:avLst/>
          </a:prstGeom>
          <a:noFill/>
          <a:ln w="6350">
            <a:solidFill>
              <a:srgbClr val="EEF2F6"/>
            </a:solidFill>
            <a:prstDash val="solid"/>
          </a:ln>
        </p:spPr>
      </p:sp>
      <p:sp>
        <p:nvSpPr>
          <p:cNvPr id="7" name="Shape 5"/>
          <p:cNvSpPr/>
          <p:nvPr/>
        </p:nvSpPr>
        <p:spPr>
          <a:xfrm>
            <a:off x="2460396" y="1600200"/>
            <a:ext cx="0" cy="4434840"/>
          </a:xfrm>
          <a:prstGeom prst="line">
            <a:avLst/>
          </a:prstGeom>
          <a:noFill/>
          <a:ln w="6350">
            <a:solidFill>
              <a:srgbClr val="EEF2F6"/>
            </a:solidFill>
            <a:prstDash val="solid"/>
          </a:ln>
        </p:spPr>
      </p:sp>
      <p:sp>
        <p:nvSpPr>
          <p:cNvPr id="8" name="Text 6"/>
          <p:cNvSpPr txBox="1"/>
          <p:nvPr/>
        </p:nvSpPr>
        <p:spPr>
          <a:xfrm>
            <a:off x="2730475"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M4</a:t>
            </a:r>
            <a:endParaRPr lang="en-US" sz="1000" dirty="0"/>
          </a:p>
        </p:txBody>
      </p:sp>
      <p:sp>
        <p:nvSpPr>
          <p:cNvPr id="9" name="Shape 7"/>
          <p:cNvSpPr/>
          <p:nvPr/>
        </p:nvSpPr>
        <p:spPr>
          <a:xfrm>
            <a:off x="2730475" y="1600200"/>
            <a:ext cx="0" cy="4434840"/>
          </a:xfrm>
          <a:prstGeom prst="line">
            <a:avLst/>
          </a:prstGeom>
          <a:noFill/>
          <a:ln w="6350">
            <a:solidFill>
              <a:srgbClr val="EEF2F6"/>
            </a:solidFill>
            <a:prstDash val="solid"/>
          </a:ln>
        </p:spPr>
      </p:sp>
      <p:sp>
        <p:nvSpPr>
          <p:cNvPr id="10" name="Shape 8"/>
          <p:cNvSpPr/>
          <p:nvPr/>
        </p:nvSpPr>
        <p:spPr>
          <a:xfrm>
            <a:off x="3000553" y="1600200"/>
            <a:ext cx="0" cy="4434840"/>
          </a:xfrm>
          <a:prstGeom prst="line">
            <a:avLst/>
          </a:prstGeom>
          <a:noFill/>
          <a:ln w="6350">
            <a:solidFill>
              <a:srgbClr val="EEF2F6"/>
            </a:solidFill>
            <a:prstDash val="solid"/>
          </a:ln>
        </p:spPr>
      </p:sp>
      <p:sp>
        <p:nvSpPr>
          <p:cNvPr id="11" name="Shape 9"/>
          <p:cNvSpPr/>
          <p:nvPr/>
        </p:nvSpPr>
        <p:spPr>
          <a:xfrm>
            <a:off x="3270631" y="1600200"/>
            <a:ext cx="0" cy="4434840"/>
          </a:xfrm>
          <a:prstGeom prst="line">
            <a:avLst/>
          </a:prstGeom>
          <a:noFill/>
          <a:ln w="6350">
            <a:solidFill>
              <a:srgbClr val="EEF2F6"/>
            </a:solidFill>
            <a:prstDash val="solid"/>
          </a:ln>
        </p:spPr>
      </p:sp>
      <p:sp>
        <p:nvSpPr>
          <p:cNvPr id="12" name="Text 10"/>
          <p:cNvSpPr txBox="1"/>
          <p:nvPr/>
        </p:nvSpPr>
        <p:spPr>
          <a:xfrm>
            <a:off x="3540709"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M7</a:t>
            </a:r>
            <a:endParaRPr lang="en-US" sz="1000" dirty="0"/>
          </a:p>
        </p:txBody>
      </p:sp>
      <p:sp>
        <p:nvSpPr>
          <p:cNvPr id="13" name="Shape 11"/>
          <p:cNvSpPr/>
          <p:nvPr/>
        </p:nvSpPr>
        <p:spPr>
          <a:xfrm>
            <a:off x="3540709" y="1600200"/>
            <a:ext cx="0" cy="4434840"/>
          </a:xfrm>
          <a:prstGeom prst="line">
            <a:avLst/>
          </a:prstGeom>
          <a:noFill/>
          <a:ln w="6350">
            <a:solidFill>
              <a:srgbClr val="EEF2F6"/>
            </a:solidFill>
            <a:prstDash val="solid"/>
          </a:ln>
        </p:spPr>
      </p:sp>
      <p:sp>
        <p:nvSpPr>
          <p:cNvPr id="14" name="Shape 12"/>
          <p:cNvSpPr/>
          <p:nvPr/>
        </p:nvSpPr>
        <p:spPr>
          <a:xfrm>
            <a:off x="3810787" y="1600200"/>
            <a:ext cx="0" cy="4434840"/>
          </a:xfrm>
          <a:prstGeom prst="line">
            <a:avLst/>
          </a:prstGeom>
          <a:noFill/>
          <a:ln w="6350">
            <a:solidFill>
              <a:srgbClr val="EEF2F6"/>
            </a:solidFill>
            <a:prstDash val="solid"/>
          </a:ln>
        </p:spPr>
      </p:sp>
      <p:sp>
        <p:nvSpPr>
          <p:cNvPr id="15" name="Shape 13"/>
          <p:cNvSpPr/>
          <p:nvPr/>
        </p:nvSpPr>
        <p:spPr>
          <a:xfrm>
            <a:off x="4080866" y="1600200"/>
            <a:ext cx="0" cy="4434840"/>
          </a:xfrm>
          <a:prstGeom prst="line">
            <a:avLst/>
          </a:prstGeom>
          <a:noFill/>
          <a:ln w="6350">
            <a:solidFill>
              <a:srgbClr val="EEF2F6"/>
            </a:solidFill>
            <a:prstDash val="solid"/>
          </a:ln>
        </p:spPr>
      </p:sp>
      <p:sp>
        <p:nvSpPr>
          <p:cNvPr id="16" name="Text 14"/>
          <p:cNvSpPr txBox="1"/>
          <p:nvPr/>
        </p:nvSpPr>
        <p:spPr>
          <a:xfrm>
            <a:off x="4350944"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M10</a:t>
            </a:r>
            <a:endParaRPr lang="en-US" sz="1000" dirty="0"/>
          </a:p>
        </p:txBody>
      </p:sp>
      <p:sp>
        <p:nvSpPr>
          <p:cNvPr id="17" name="Shape 15"/>
          <p:cNvSpPr/>
          <p:nvPr/>
        </p:nvSpPr>
        <p:spPr>
          <a:xfrm>
            <a:off x="4350944" y="1600200"/>
            <a:ext cx="0" cy="4434840"/>
          </a:xfrm>
          <a:prstGeom prst="line">
            <a:avLst/>
          </a:prstGeom>
          <a:noFill/>
          <a:ln w="6350">
            <a:solidFill>
              <a:srgbClr val="EEF2F6"/>
            </a:solidFill>
            <a:prstDash val="solid"/>
          </a:ln>
        </p:spPr>
      </p:sp>
      <p:sp>
        <p:nvSpPr>
          <p:cNvPr id="18" name="Shape 16"/>
          <p:cNvSpPr/>
          <p:nvPr/>
        </p:nvSpPr>
        <p:spPr>
          <a:xfrm>
            <a:off x="4621022" y="1600200"/>
            <a:ext cx="0" cy="4434840"/>
          </a:xfrm>
          <a:prstGeom prst="line">
            <a:avLst/>
          </a:prstGeom>
          <a:noFill/>
          <a:ln w="6350">
            <a:solidFill>
              <a:srgbClr val="EEF2F6"/>
            </a:solidFill>
            <a:prstDash val="solid"/>
          </a:ln>
        </p:spPr>
      </p:sp>
      <p:sp>
        <p:nvSpPr>
          <p:cNvPr id="19" name="Shape 17"/>
          <p:cNvSpPr/>
          <p:nvPr/>
        </p:nvSpPr>
        <p:spPr>
          <a:xfrm>
            <a:off x="4891100" y="1600200"/>
            <a:ext cx="0" cy="4434840"/>
          </a:xfrm>
          <a:prstGeom prst="line">
            <a:avLst/>
          </a:prstGeom>
          <a:noFill/>
          <a:ln w="6350">
            <a:solidFill>
              <a:srgbClr val="EEF2F6"/>
            </a:solidFill>
            <a:prstDash val="solid"/>
          </a:ln>
        </p:spPr>
      </p:sp>
      <p:sp>
        <p:nvSpPr>
          <p:cNvPr id="20" name="Text 18"/>
          <p:cNvSpPr txBox="1"/>
          <p:nvPr/>
        </p:nvSpPr>
        <p:spPr>
          <a:xfrm>
            <a:off x="5161178"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M13</a:t>
            </a:r>
            <a:endParaRPr lang="en-US" sz="1000" dirty="0"/>
          </a:p>
        </p:txBody>
      </p:sp>
      <p:sp>
        <p:nvSpPr>
          <p:cNvPr id="21" name="Shape 19"/>
          <p:cNvSpPr/>
          <p:nvPr/>
        </p:nvSpPr>
        <p:spPr>
          <a:xfrm>
            <a:off x="5161178" y="1600200"/>
            <a:ext cx="0" cy="4434840"/>
          </a:xfrm>
          <a:prstGeom prst="line">
            <a:avLst/>
          </a:prstGeom>
          <a:noFill/>
          <a:ln w="12700">
            <a:solidFill>
              <a:srgbClr val="B9CCE0"/>
            </a:solidFill>
            <a:prstDash val="solid"/>
          </a:ln>
        </p:spPr>
      </p:sp>
      <p:sp>
        <p:nvSpPr>
          <p:cNvPr id="22" name="Shape 20"/>
          <p:cNvSpPr/>
          <p:nvPr/>
        </p:nvSpPr>
        <p:spPr>
          <a:xfrm>
            <a:off x="5431257" y="1600200"/>
            <a:ext cx="0" cy="4434840"/>
          </a:xfrm>
          <a:prstGeom prst="line">
            <a:avLst/>
          </a:prstGeom>
          <a:noFill/>
          <a:ln w="6350">
            <a:solidFill>
              <a:srgbClr val="EEF2F6"/>
            </a:solidFill>
            <a:prstDash val="solid"/>
          </a:ln>
        </p:spPr>
      </p:sp>
      <p:sp>
        <p:nvSpPr>
          <p:cNvPr id="23" name="Shape 21"/>
          <p:cNvSpPr/>
          <p:nvPr/>
        </p:nvSpPr>
        <p:spPr>
          <a:xfrm>
            <a:off x="5701335" y="1600200"/>
            <a:ext cx="0" cy="4434840"/>
          </a:xfrm>
          <a:prstGeom prst="line">
            <a:avLst/>
          </a:prstGeom>
          <a:noFill/>
          <a:ln w="6350">
            <a:solidFill>
              <a:srgbClr val="EEF2F6"/>
            </a:solidFill>
            <a:prstDash val="solid"/>
          </a:ln>
        </p:spPr>
      </p:sp>
      <p:sp>
        <p:nvSpPr>
          <p:cNvPr id="24" name="Text 22"/>
          <p:cNvSpPr txBox="1"/>
          <p:nvPr/>
        </p:nvSpPr>
        <p:spPr>
          <a:xfrm>
            <a:off x="5971413"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M16</a:t>
            </a:r>
            <a:endParaRPr lang="en-US" sz="1000" dirty="0"/>
          </a:p>
        </p:txBody>
      </p:sp>
      <p:sp>
        <p:nvSpPr>
          <p:cNvPr id="25" name="Shape 23"/>
          <p:cNvSpPr/>
          <p:nvPr/>
        </p:nvSpPr>
        <p:spPr>
          <a:xfrm>
            <a:off x="5971413" y="1600200"/>
            <a:ext cx="0" cy="4434840"/>
          </a:xfrm>
          <a:prstGeom prst="line">
            <a:avLst/>
          </a:prstGeom>
          <a:noFill/>
          <a:ln w="6350">
            <a:solidFill>
              <a:srgbClr val="EEF2F6"/>
            </a:solidFill>
            <a:prstDash val="solid"/>
          </a:ln>
        </p:spPr>
      </p:sp>
      <p:sp>
        <p:nvSpPr>
          <p:cNvPr id="26" name="Shape 24"/>
          <p:cNvSpPr/>
          <p:nvPr/>
        </p:nvSpPr>
        <p:spPr>
          <a:xfrm>
            <a:off x="6241491" y="1600200"/>
            <a:ext cx="0" cy="4434840"/>
          </a:xfrm>
          <a:prstGeom prst="line">
            <a:avLst/>
          </a:prstGeom>
          <a:noFill/>
          <a:ln w="6350">
            <a:solidFill>
              <a:srgbClr val="EEF2F6"/>
            </a:solidFill>
            <a:prstDash val="solid"/>
          </a:ln>
        </p:spPr>
      </p:sp>
      <p:sp>
        <p:nvSpPr>
          <p:cNvPr id="27" name="Shape 25"/>
          <p:cNvSpPr/>
          <p:nvPr/>
        </p:nvSpPr>
        <p:spPr>
          <a:xfrm>
            <a:off x="6511569" y="1600200"/>
            <a:ext cx="0" cy="4434840"/>
          </a:xfrm>
          <a:prstGeom prst="line">
            <a:avLst/>
          </a:prstGeom>
          <a:noFill/>
          <a:ln w="6350">
            <a:solidFill>
              <a:srgbClr val="EEF2F6"/>
            </a:solidFill>
            <a:prstDash val="solid"/>
          </a:ln>
        </p:spPr>
      </p:sp>
      <p:sp>
        <p:nvSpPr>
          <p:cNvPr id="28" name="Text 26"/>
          <p:cNvSpPr txBox="1"/>
          <p:nvPr/>
        </p:nvSpPr>
        <p:spPr>
          <a:xfrm>
            <a:off x="6781648"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M19</a:t>
            </a:r>
            <a:endParaRPr lang="en-US" sz="1000" dirty="0"/>
          </a:p>
        </p:txBody>
      </p:sp>
      <p:sp>
        <p:nvSpPr>
          <p:cNvPr id="29" name="Shape 27"/>
          <p:cNvSpPr/>
          <p:nvPr/>
        </p:nvSpPr>
        <p:spPr>
          <a:xfrm>
            <a:off x="6781648" y="1600200"/>
            <a:ext cx="0" cy="4434840"/>
          </a:xfrm>
          <a:prstGeom prst="line">
            <a:avLst/>
          </a:prstGeom>
          <a:noFill/>
          <a:ln w="6350">
            <a:solidFill>
              <a:srgbClr val="EEF2F6"/>
            </a:solidFill>
            <a:prstDash val="solid"/>
          </a:ln>
        </p:spPr>
      </p:sp>
      <p:sp>
        <p:nvSpPr>
          <p:cNvPr id="30" name="Shape 28"/>
          <p:cNvSpPr/>
          <p:nvPr/>
        </p:nvSpPr>
        <p:spPr>
          <a:xfrm>
            <a:off x="7051726" y="1600200"/>
            <a:ext cx="0" cy="4434840"/>
          </a:xfrm>
          <a:prstGeom prst="line">
            <a:avLst/>
          </a:prstGeom>
          <a:noFill/>
          <a:ln w="6350">
            <a:solidFill>
              <a:srgbClr val="EEF2F6"/>
            </a:solidFill>
            <a:prstDash val="solid"/>
          </a:ln>
        </p:spPr>
      </p:sp>
      <p:sp>
        <p:nvSpPr>
          <p:cNvPr id="31" name="Shape 29"/>
          <p:cNvSpPr/>
          <p:nvPr/>
        </p:nvSpPr>
        <p:spPr>
          <a:xfrm>
            <a:off x="7321804" y="1600200"/>
            <a:ext cx="0" cy="4434840"/>
          </a:xfrm>
          <a:prstGeom prst="line">
            <a:avLst/>
          </a:prstGeom>
          <a:noFill/>
          <a:ln w="6350">
            <a:solidFill>
              <a:srgbClr val="EEF2F6"/>
            </a:solidFill>
            <a:prstDash val="solid"/>
          </a:ln>
        </p:spPr>
      </p:sp>
      <p:sp>
        <p:nvSpPr>
          <p:cNvPr id="32" name="Text 30"/>
          <p:cNvSpPr txBox="1"/>
          <p:nvPr/>
        </p:nvSpPr>
        <p:spPr>
          <a:xfrm>
            <a:off x="7591882"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M22</a:t>
            </a:r>
            <a:endParaRPr lang="en-US" sz="1000" dirty="0"/>
          </a:p>
        </p:txBody>
      </p:sp>
      <p:sp>
        <p:nvSpPr>
          <p:cNvPr id="33" name="Shape 31"/>
          <p:cNvSpPr/>
          <p:nvPr/>
        </p:nvSpPr>
        <p:spPr>
          <a:xfrm>
            <a:off x="7591882" y="1600200"/>
            <a:ext cx="0" cy="4434840"/>
          </a:xfrm>
          <a:prstGeom prst="line">
            <a:avLst/>
          </a:prstGeom>
          <a:noFill/>
          <a:ln w="6350">
            <a:solidFill>
              <a:srgbClr val="EEF2F6"/>
            </a:solidFill>
            <a:prstDash val="solid"/>
          </a:ln>
        </p:spPr>
      </p:sp>
      <p:sp>
        <p:nvSpPr>
          <p:cNvPr id="34" name="Shape 32"/>
          <p:cNvSpPr/>
          <p:nvPr/>
        </p:nvSpPr>
        <p:spPr>
          <a:xfrm>
            <a:off x="7861960" y="1600200"/>
            <a:ext cx="0" cy="4434840"/>
          </a:xfrm>
          <a:prstGeom prst="line">
            <a:avLst/>
          </a:prstGeom>
          <a:noFill/>
          <a:ln w="6350">
            <a:solidFill>
              <a:srgbClr val="EEF2F6"/>
            </a:solidFill>
            <a:prstDash val="solid"/>
          </a:ln>
        </p:spPr>
      </p:sp>
      <p:sp>
        <p:nvSpPr>
          <p:cNvPr id="35" name="Shape 33"/>
          <p:cNvSpPr/>
          <p:nvPr/>
        </p:nvSpPr>
        <p:spPr>
          <a:xfrm>
            <a:off x="8132039" y="1600200"/>
            <a:ext cx="0" cy="4434840"/>
          </a:xfrm>
          <a:prstGeom prst="line">
            <a:avLst/>
          </a:prstGeom>
          <a:noFill/>
          <a:ln w="6350">
            <a:solidFill>
              <a:srgbClr val="EEF2F6"/>
            </a:solidFill>
            <a:prstDash val="solid"/>
          </a:ln>
        </p:spPr>
      </p:sp>
      <p:sp>
        <p:nvSpPr>
          <p:cNvPr id="36" name="Text 34"/>
          <p:cNvSpPr txBox="1"/>
          <p:nvPr/>
        </p:nvSpPr>
        <p:spPr>
          <a:xfrm>
            <a:off x="8402117"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M25</a:t>
            </a:r>
            <a:endParaRPr lang="en-US" sz="1000" dirty="0"/>
          </a:p>
        </p:txBody>
      </p:sp>
      <p:sp>
        <p:nvSpPr>
          <p:cNvPr id="37" name="Shape 35"/>
          <p:cNvSpPr/>
          <p:nvPr/>
        </p:nvSpPr>
        <p:spPr>
          <a:xfrm>
            <a:off x="8402117" y="1600200"/>
            <a:ext cx="0" cy="4434840"/>
          </a:xfrm>
          <a:prstGeom prst="line">
            <a:avLst/>
          </a:prstGeom>
          <a:noFill/>
          <a:ln w="12700">
            <a:solidFill>
              <a:srgbClr val="B9CCE0"/>
            </a:solidFill>
            <a:prstDash val="solid"/>
          </a:ln>
        </p:spPr>
      </p:sp>
      <p:sp>
        <p:nvSpPr>
          <p:cNvPr id="38" name="Shape 36"/>
          <p:cNvSpPr/>
          <p:nvPr/>
        </p:nvSpPr>
        <p:spPr>
          <a:xfrm>
            <a:off x="8672195" y="1600200"/>
            <a:ext cx="0" cy="4434840"/>
          </a:xfrm>
          <a:prstGeom prst="line">
            <a:avLst/>
          </a:prstGeom>
          <a:noFill/>
          <a:ln w="6350">
            <a:solidFill>
              <a:srgbClr val="EEF2F6"/>
            </a:solidFill>
            <a:prstDash val="solid"/>
          </a:ln>
        </p:spPr>
      </p:sp>
      <p:sp>
        <p:nvSpPr>
          <p:cNvPr id="39" name="Shape 37"/>
          <p:cNvSpPr/>
          <p:nvPr/>
        </p:nvSpPr>
        <p:spPr>
          <a:xfrm>
            <a:off x="8942273" y="1600200"/>
            <a:ext cx="0" cy="4434840"/>
          </a:xfrm>
          <a:prstGeom prst="line">
            <a:avLst/>
          </a:prstGeom>
          <a:noFill/>
          <a:ln w="6350">
            <a:solidFill>
              <a:srgbClr val="EEF2F6"/>
            </a:solidFill>
            <a:prstDash val="solid"/>
          </a:ln>
        </p:spPr>
      </p:sp>
      <p:sp>
        <p:nvSpPr>
          <p:cNvPr id="40" name="Text 38"/>
          <p:cNvSpPr txBox="1"/>
          <p:nvPr/>
        </p:nvSpPr>
        <p:spPr>
          <a:xfrm>
            <a:off x="9212351"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M28</a:t>
            </a:r>
            <a:endParaRPr lang="en-US" sz="1000" dirty="0"/>
          </a:p>
        </p:txBody>
      </p:sp>
      <p:sp>
        <p:nvSpPr>
          <p:cNvPr id="41" name="Shape 39"/>
          <p:cNvSpPr/>
          <p:nvPr/>
        </p:nvSpPr>
        <p:spPr>
          <a:xfrm>
            <a:off x="9212351" y="1600200"/>
            <a:ext cx="0" cy="4434840"/>
          </a:xfrm>
          <a:prstGeom prst="line">
            <a:avLst/>
          </a:prstGeom>
          <a:noFill/>
          <a:ln w="6350">
            <a:solidFill>
              <a:srgbClr val="EEF2F6"/>
            </a:solidFill>
            <a:prstDash val="solid"/>
          </a:ln>
        </p:spPr>
      </p:sp>
      <p:sp>
        <p:nvSpPr>
          <p:cNvPr id="42" name="Shape 40"/>
          <p:cNvSpPr/>
          <p:nvPr/>
        </p:nvSpPr>
        <p:spPr>
          <a:xfrm>
            <a:off x="9482430" y="1600200"/>
            <a:ext cx="0" cy="4434840"/>
          </a:xfrm>
          <a:prstGeom prst="line">
            <a:avLst/>
          </a:prstGeom>
          <a:noFill/>
          <a:ln w="6350">
            <a:solidFill>
              <a:srgbClr val="EEF2F6"/>
            </a:solidFill>
            <a:prstDash val="solid"/>
          </a:ln>
        </p:spPr>
      </p:sp>
      <p:sp>
        <p:nvSpPr>
          <p:cNvPr id="43" name="Shape 41"/>
          <p:cNvSpPr/>
          <p:nvPr/>
        </p:nvSpPr>
        <p:spPr>
          <a:xfrm>
            <a:off x="9752508" y="1600200"/>
            <a:ext cx="0" cy="4434840"/>
          </a:xfrm>
          <a:prstGeom prst="line">
            <a:avLst/>
          </a:prstGeom>
          <a:noFill/>
          <a:ln w="6350">
            <a:solidFill>
              <a:srgbClr val="EEF2F6"/>
            </a:solidFill>
            <a:prstDash val="solid"/>
          </a:ln>
        </p:spPr>
      </p:sp>
      <p:sp>
        <p:nvSpPr>
          <p:cNvPr id="44" name="Text 42"/>
          <p:cNvSpPr txBox="1"/>
          <p:nvPr/>
        </p:nvSpPr>
        <p:spPr>
          <a:xfrm>
            <a:off x="10022586"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M31</a:t>
            </a:r>
            <a:endParaRPr lang="en-US" sz="1000" dirty="0"/>
          </a:p>
        </p:txBody>
      </p:sp>
      <p:sp>
        <p:nvSpPr>
          <p:cNvPr id="45" name="Shape 43"/>
          <p:cNvSpPr/>
          <p:nvPr/>
        </p:nvSpPr>
        <p:spPr>
          <a:xfrm>
            <a:off x="10022586" y="1600200"/>
            <a:ext cx="0" cy="4434840"/>
          </a:xfrm>
          <a:prstGeom prst="line">
            <a:avLst/>
          </a:prstGeom>
          <a:noFill/>
          <a:ln w="6350">
            <a:solidFill>
              <a:srgbClr val="EEF2F6"/>
            </a:solidFill>
            <a:prstDash val="solid"/>
          </a:ln>
        </p:spPr>
      </p:sp>
      <p:sp>
        <p:nvSpPr>
          <p:cNvPr id="46" name="Shape 44"/>
          <p:cNvSpPr/>
          <p:nvPr/>
        </p:nvSpPr>
        <p:spPr>
          <a:xfrm>
            <a:off x="10292664" y="1600200"/>
            <a:ext cx="0" cy="4434840"/>
          </a:xfrm>
          <a:prstGeom prst="line">
            <a:avLst/>
          </a:prstGeom>
          <a:noFill/>
          <a:ln w="6350">
            <a:solidFill>
              <a:srgbClr val="EEF2F6"/>
            </a:solidFill>
            <a:prstDash val="solid"/>
          </a:ln>
        </p:spPr>
      </p:sp>
      <p:sp>
        <p:nvSpPr>
          <p:cNvPr id="47" name="Shape 45"/>
          <p:cNvSpPr/>
          <p:nvPr/>
        </p:nvSpPr>
        <p:spPr>
          <a:xfrm>
            <a:off x="10562742" y="1600200"/>
            <a:ext cx="0" cy="4434840"/>
          </a:xfrm>
          <a:prstGeom prst="line">
            <a:avLst/>
          </a:prstGeom>
          <a:noFill/>
          <a:ln w="6350">
            <a:solidFill>
              <a:srgbClr val="EEF2F6"/>
            </a:solidFill>
            <a:prstDash val="solid"/>
          </a:ln>
        </p:spPr>
      </p:sp>
      <p:sp>
        <p:nvSpPr>
          <p:cNvPr id="48" name="Text 46"/>
          <p:cNvSpPr txBox="1"/>
          <p:nvPr/>
        </p:nvSpPr>
        <p:spPr>
          <a:xfrm>
            <a:off x="10832821"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M34</a:t>
            </a:r>
            <a:endParaRPr lang="en-US" sz="1000" dirty="0"/>
          </a:p>
        </p:txBody>
      </p:sp>
      <p:sp>
        <p:nvSpPr>
          <p:cNvPr id="49" name="Shape 47"/>
          <p:cNvSpPr/>
          <p:nvPr/>
        </p:nvSpPr>
        <p:spPr>
          <a:xfrm>
            <a:off x="10832821" y="1600200"/>
            <a:ext cx="0" cy="4434840"/>
          </a:xfrm>
          <a:prstGeom prst="line">
            <a:avLst/>
          </a:prstGeom>
          <a:noFill/>
          <a:ln w="6350">
            <a:solidFill>
              <a:srgbClr val="EEF2F6"/>
            </a:solidFill>
            <a:prstDash val="solid"/>
          </a:ln>
        </p:spPr>
      </p:sp>
      <p:sp>
        <p:nvSpPr>
          <p:cNvPr id="50" name="Shape 48"/>
          <p:cNvSpPr/>
          <p:nvPr/>
        </p:nvSpPr>
        <p:spPr>
          <a:xfrm>
            <a:off x="11102899" y="1600200"/>
            <a:ext cx="0" cy="4434840"/>
          </a:xfrm>
          <a:prstGeom prst="line">
            <a:avLst/>
          </a:prstGeom>
          <a:noFill/>
          <a:ln w="6350">
            <a:solidFill>
              <a:srgbClr val="EEF2F6"/>
            </a:solidFill>
            <a:prstDash val="solid"/>
          </a:ln>
        </p:spPr>
      </p:sp>
      <p:sp>
        <p:nvSpPr>
          <p:cNvPr id="51" name="Text 49"/>
          <p:cNvSpPr txBox="1"/>
          <p:nvPr/>
        </p:nvSpPr>
        <p:spPr>
          <a:xfrm>
            <a:off x="11372977" y="1353312"/>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M36</a:t>
            </a:r>
            <a:endParaRPr lang="en-US" sz="1000" dirty="0"/>
          </a:p>
        </p:txBody>
      </p:sp>
      <p:sp>
        <p:nvSpPr>
          <p:cNvPr id="52" name="Shape 50"/>
          <p:cNvSpPr/>
          <p:nvPr/>
        </p:nvSpPr>
        <p:spPr>
          <a:xfrm>
            <a:off x="11372977" y="1600200"/>
            <a:ext cx="0" cy="4434840"/>
          </a:xfrm>
          <a:prstGeom prst="line">
            <a:avLst/>
          </a:prstGeom>
          <a:noFill/>
          <a:ln w="6350">
            <a:solidFill>
              <a:srgbClr val="EEF2F6"/>
            </a:solidFill>
            <a:prstDash val="solid"/>
          </a:ln>
        </p:spPr>
      </p:sp>
      <p:sp>
        <p:nvSpPr>
          <p:cNvPr id="53" name="Text 51"/>
          <p:cNvSpPr txBox="1"/>
          <p:nvPr/>
        </p:nvSpPr>
        <p:spPr>
          <a:xfrm>
            <a:off x="1947672" y="1591056"/>
            <a:ext cx="548640" cy="228600"/>
          </a:xfrm>
          <a:prstGeom prst="rect">
            <a:avLst/>
          </a:prstGeom>
          <a:noFill/>
          <a:ln/>
        </p:spPr>
        <p:txBody>
          <a:bodyPr wrap="square" lIns="0" tIns="0" rIns="0" bIns="0" rtlCol="0" anchor="t"/>
          <a:lstStyle/>
          <a:p>
            <a:pPr indent="0" marL="0">
              <a:buNone/>
            </a:pPr>
            <a:r>
              <a:rPr lang="en-US" sz="1050" b="1" dirty="0">
                <a:solidFill>
                  <a:srgbClr val="163A5C"/>
                </a:solidFill>
                <a:latin typeface="Calibri" pitchFamily="34" charset="0"/>
                <a:ea typeface="Calibri" pitchFamily="34" charset="-122"/>
                <a:cs typeface="Calibri" pitchFamily="34" charset="-120"/>
              </a:rPr>
              <a:t>2027</a:t>
            </a:r>
            <a:endParaRPr lang="en-US" sz="1050" dirty="0"/>
          </a:p>
        </p:txBody>
      </p:sp>
      <p:sp>
        <p:nvSpPr>
          <p:cNvPr id="54" name="Text 52"/>
          <p:cNvSpPr txBox="1"/>
          <p:nvPr/>
        </p:nvSpPr>
        <p:spPr>
          <a:xfrm>
            <a:off x="5188610" y="1591056"/>
            <a:ext cx="548640" cy="228600"/>
          </a:xfrm>
          <a:prstGeom prst="rect">
            <a:avLst/>
          </a:prstGeom>
          <a:noFill/>
          <a:ln/>
        </p:spPr>
        <p:txBody>
          <a:bodyPr wrap="square" lIns="0" tIns="0" rIns="0" bIns="0" rtlCol="0" anchor="t"/>
          <a:lstStyle/>
          <a:p>
            <a:pPr indent="0" marL="0">
              <a:buNone/>
            </a:pPr>
            <a:r>
              <a:rPr lang="en-US" sz="1050" b="1" dirty="0">
                <a:solidFill>
                  <a:srgbClr val="163A5C"/>
                </a:solidFill>
                <a:latin typeface="Calibri" pitchFamily="34" charset="0"/>
                <a:ea typeface="Calibri" pitchFamily="34" charset="-122"/>
                <a:cs typeface="Calibri" pitchFamily="34" charset="-120"/>
              </a:rPr>
              <a:t>2028</a:t>
            </a:r>
            <a:endParaRPr lang="en-US" sz="1050" dirty="0"/>
          </a:p>
        </p:txBody>
      </p:sp>
      <p:sp>
        <p:nvSpPr>
          <p:cNvPr id="55" name="Text 53"/>
          <p:cNvSpPr txBox="1"/>
          <p:nvPr/>
        </p:nvSpPr>
        <p:spPr>
          <a:xfrm>
            <a:off x="8429549" y="1591056"/>
            <a:ext cx="548640" cy="228600"/>
          </a:xfrm>
          <a:prstGeom prst="rect">
            <a:avLst/>
          </a:prstGeom>
          <a:noFill/>
          <a:ln/>
        </p:spPr>
        <p:txBody>
          <a:bodyPr wrap="square" lIns="0" tIns="0" rIns="0" bIns="0" rtlCol="0" anchor="t"/>
          <a:lstStyle/>
          <a:p>
            <a:pPr indent="0" marL="0">
              <a:buNone/>
            </a:pPr>
            <a:r>
              <a:rPr lang="en-US" sz="1050" b="1" dirty="0">
                <a:solidFill>
                  <a:srgbClr val="163A5C"/>
                </a:solidFill>
                <a:latin typeface="Calibri" pitchFamily="34" charset="0"/>
                <a:ea typeface="Calibri" pitchFamily="34" charset="-122"/>
                <a:cs typeface="Calibri" pitchFamily="34" charset="-120"/>
              </a:rPr>
              <a:t>2029</a:t>
            </a:r>
            <a:endParaRPr lang="en-US" sz="1050" dirty="0"/>
          </a:p>
        </p:txBody>
      </p:sp>
      <p:sp>
        <p:nvSpPr>
          <p:cNvPr id="56" name="Text 54"/>
          <p:cNvSpPr txBox="1"/>
          <p:nvPr/>
        </p:nvSpPr>
        <p:spPr>
          <a:xfrm>
            <a:off x="548640" y="1874520"/>
            <a:ext cx="1280160" cy="356616"/>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Programa</a:t>
            </a:r>
            <a:endParaRPr lang="en-US" sz="1500" dirty="0"/>
          </a:p>
        </p:txBody>
      </p:sp>
      <p:sp>
        <p:nvSpPr>
          <p:cNvPr id="57" name="Shape 55"/>
          <p:cNvSpPr/>
          <p:nvPr/>
        </p:nvSpPr>
        <p:spPr>
          <a:xfrm>
            <a:off x="1920240" y="1874520"/>
            <a:ext cx="512724" cy="310896"/>
          </a:xfrm>
          <a:prstGeom prst="roundRect">
            <a:avLst>
              <a:gd name="adj" fmla="val 14706"/>
            </a:avLst>
          </a:prstGeom>
          <a:solidFill>
            <a:srgbClr val="898781"/>
          </a:solidFill>
          <a:ln w="6350">
            <a:solidFill>
              <a:srgbClr val="FFFFFF"/>
            </a:solidFill>
            <a:prstDash val="solid"/>
          </a:ln>
        </p:spPr>
      </p:sp>
      <p:sp>
        <p:nvSpPr>
          <p:cNvPr id="58" name="Text 56"/>
          <p:cNvSpPr txBox="1"/>
          <p:nvPr/>
        </p:nvSpPr>
        <p:spPr>
          <a:xfrm>
            <a:off x="1938528" y="1874520"/>
            <a:ext cx="476148" cy="310896"/>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alibri" pitchFamily="34" charset="0"/>
                <a:ea typeface="Calibri" pitchFamily="34" charset="-122"/>
                <a:cs typeface="Calibri" pitchFamily="34" charset="-120"/>
              </a:rPr>
              <a:t>H0</a:t>
            </a:r>
            <a:endParaRPr lang="en-US" sz="850" dirty="0"/>
          </a:p>
        </p:txBody>
      </p:sp>
      <p:sp>
        <p:nvSpPr>
          <p:cNvPr id="59" name="Shape 57"/>
          <p:cNvSpPr/>
          <p:nvPr/>
        </p:nvSpPr>
        <p:spPr>
          <a:xfrm>
            <a:off x="2460396" y="1874520"/>
            <a:ext cx="9155227" cy="310896"/>
          </a:xfrm>
          <a:prstGeom prst="roundRect">
            <a:avLst>
              <a:gd name="adj" fmla="val 14706"/>
            </a:avLst>
          </a:prstGeom>
          <a:solidFill>
            <a:srgbClr val="E7ECF1"/>
          </a:solidFill>
          <a:ln w="6350">
            <a:solidFill>
              <a:srgbClr val="FFFFFF"/>
            </a:solidFill>
            <a:prstDash val="solid"/>
          </a:ln>
        </p:spPr>
      </p:sp>
      <p:sp>
        <p:nvSpPr>
          <p:cNvPr id="60" name="Text 58"/>
          <p:cNvSpPr txBox="1"/>
          <p:nvPr/>
        </p:nvSpPr>
        <p:spPr>
          <a:xfrm>
            <a:off x="2478684" y="1874520"/>
            <a:ext cx="9118651"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Comité AWP mensual</a:t>
            </a:r>
            <a:endParaRPr lang="en-US" sz="1000" dirty="0"/>
          </a:p>
        </p:txBody>
      </p:sp>
      <p:sp>
        <p:nvSpPr>
          <p:cNvPr id="61" name="Shape 59"/>
          <p:cNvSpPr/>
          <p:nvPr/>
        </p:nvSpPr>
        <p:spPr>
          <a:xfrm>
            <a:off x="548640" y="2340864"/>
            <a:ext cx="11094415" cy="0"/>
          </a:xfrm>
          <a:prstGeom prst="line">
            <a:avLst/>
          </a:prstGeom>
          <a:noFill/>
          <a:ln w="9525">
            <a:solidFill>
              <a:srgbClr val="DDE4EC"/>
            </a:solidFill>
            <a:prstDash val="solid"/>
          </a:ln>
        </p:spPr>
      </p:sp>
      <p:sp>
        <p:nvSpPr>
          <p:cNvPr id="62" name="Text 60"/>
          <p:cNvSpPr txBox="1"/>
          <p:nvPr/>
        </p:nvSpPr>
        <p:spPr>
          <a:xfrm>
            <a:off x="548640" y="2414016"/>
            <a:ext cx="1280160" cy="1069848"/>
          </a:xfrm>
          <a:prstGeom prst="rect">
            <a:avLst/>
          </a:prstGeom>
          <a:noFill/>
          <a:ln/>
        </p:spPr>
        <p:txBody>
          <a:bodyPr wrap="square" lIns="0" tIns="0" rIns="0" bIns="0" rtlCol="0" anchor="ctr"/>
          <a:lstStyle/>
          <a:p>
            <a:pPr indent="0" marL="0">
              <a:buNone/>
            </a:pPr>
            <a:r>
              <a:rPr lang="en-US" sz="1500" b="1" dirty="0">
                <a:solidFill>
                  <a:srgbClr val="2A78D6"/>
                </a:solidFill>
                <a:latin typeface="Calibri" pitchFamily="34" charset="0"/>
                <a:ea typeface="Calibri" pitchFamily="34" charset="-122"/>
                <a:cs typeface="Calibri" pitchFamily="34" charset="-120"/>
              </a:rPr>
              <a:t>Fase 1</a:t>
            </a:r>
            <a:endParaRPr lang="en-US" sz="1500" dirty="0"/>
          </a:p>
        </p:txBody>
      </p:sp>
      <p:sp>
        <p:nvSpPr>
          <p:cNvPr id="63" name="Shape 61"/>
          <p:cNvSpPr/>
          <p:nvPr/>
        </p:nvSpPr>
        <p:spPr>
          <a:xfrm>
            <a:off x="2460396" y="2414016"/>
            <a:ext cx="512724" cy="310896"/>
          </a:xfrm>
          <a:prstGeom prst="roundRect">
            <a:avLst>
              <a:gd name="adj" fmla="val 14706"/>
            </a:avLst>
          </a:prstGeom>
          <a:solidFill>
            <a:srgbClr val="F5A623"/>
          </a:solidFill>
          <a:ln w="6350">
            <a:solidFill>
              <a:srgbClr val="FFFFFF"/>
            </a:solidFill>
            <a:prstDash val="solid"/>
          </a:ln>
        </p:spPr>
      </p:sp>
      <p:sp>
        <p:nvSpPr>
          <p:cNvPr id="64" name="Text 62"/>
          <p:cNvSpPr txBox="1"/>
          <p:nvPr/>
        </p:nvSpPr>
        <p:spPr>
          <a:xfrm>
            <a:off x="2478684" y="2414016"/>
            <a:ext cx="476148" cy="310896"/>
          </a:xfrm>
          <a:prstGeom prst="rect">
            <a:avLst/>
          </a:prstGeom>
          <a:noFill/>
          <a:ln/>
        </p:spPr>
        <p:txBody>
          <a:bodyPr wrap="square" lIns="0" tIns="0" rIns="0" bIns="0" rtlCol="0" anchor="ctr">
            <a:normAutofit/>
          </a:bodyPr>
          <a:lstStyle/>
          <a:p>
            <a:pPr algn="ctr" indent="0" marL="0">
              <a:buNone/>
            </a:pPr>
            <a:r>
              <a:rPr lang="en-US" sz="850" b="1" dirty="0">
                <a:solidFill>
                  <a:srgbClr val="0F2A43"/>
                </a:solidFill>
                <a:latin typeface="Calibri" pitchFamily="34" charset="0"/>
                <a:ea typeface="Calibri" pitchFamily="34" charset="-122"/>
                <a:cs typeface="Calibri" pitchFamily="34" charset="-120"/>
              </a:rPr>
              <a:t>PoC</a:t>
            </a:r>
            <a:endParaRPr lang="en-US" sz="850" dirty="0"/>
          </a:p>
        </p:txBody>
      </p:sp>
      <p:sp>
        <p:nvSpPr>
          <p:cNvPr id="65" name="Shape 63"/>
          <p:cNvSpPr/>
          <p:nvPr/>
        </p:nvSpPr>
        <p:spPr>
          <a:xfrm>
            <a:off x="3270631" y="2414016"/>
            <a:ext cx="2403272" cy="310896"/>
          </a:xfrm>
          <a:prstGeom prst="roundRect">
            <a:avLst>
              <a:gd name="adj" fmla="val 14706"/>
            </a:avLst>
          </a:prstGeom>
          <a:solidFill>
            <a:srgbClr val="2A78D6"/>
          </a:solidFill>
          <a:ln w="6350">
            <a:solidFill>
              <a:srgbClr val="FFFFFF"/>
            </a:solidFill>
            <a:prstDash val="solid"/>
          </a:ln>
        </p:spPr>
      </p:sp>
      <p:sp>
        <p:nvSpPr>
          <p:cNvPr id="66" name="Text 64"/>
          <p:cNvSpPr txBox="1"/>
          <p:nvPr/>
        </p:nvSpPr>
        <p:spPr>
          <a:xfrm>
            <a:off x="3288919" y="2414016"/>
            <a:ext cx="2366696"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Construcción IWP</a:t>
            </a:r>
            <a:endParaRPr lang="en-US" sz="1000" dirty="0"/>
          </a:p>
        </p:txBody>
      </p:sp>
      <p:sp>
        <p:nvSpPr>
          <p:cNvPr id="67" name="Shape 65"/>
          <p:cNvSpPr/>
          <p:nvPr/>
        </p:nvSpPr>
        <p:spPr>
          <a:xfrm>
            <a:off x="2982265" y="2459736"/>
            <a:ext cx="219456" cy="219456"/>
          </a:xfrm>
          <a:prstGeom prst="diamond">
            <a:avLst/>
          </a:prstGeom>
          <a:solidFill>
            <a:srgbClr val="F5A623"/>
          </a:solidFill>
          <a:ln w="9525">
            <a:solidFill>
              <a:srgbClr val="0F2A43"/>
            </a:solidFill>
            <a:prstDash val="solid"/>
          </a:ln>
        </p:spPr>
      </p:sp>
      <p:sp>
        <p:nvSpPr>
          <p:cNvPr id="68" name="Text 66"/>
          <p:cNvSpPr txBox="1"/>
          <p:nvPr/>
        </p:nvSpPr>
        <p:spPr>
          <a:xfrm>
            <a:off x="3220009" y="2414016"/>
            <a:ext cx="365760" cy="3108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H2</a:t>
            </a:r>
            <a:endParaRPr lang="en-US" sz="1000" dirty="0"/>
          </a:p>
        </p:txBody>
      </p:sp>
      <p:sp>
        <p:nvSpPr>
          <p:cNvPr id="69" name="Shape 67"/>
          <p:cNvSpPr/>
          <p:nvPr/>
        </p:nvSpPr>
        <p:spPr>
          <a:xfrm>
            <a:off x="2460396" y="2770632"/>
            <a:ext cx="1593037" cy="310896"/>
          </a:xfrm>
          <a:prstGeom prst="roundRect">
            <a:avLst>
              <a:gd name="adj" fmla="val 14706"/>
            </a:avLst>
          </a:prstGeom>
          <a:solidFill>
            <a:srgbClr val="BBD5F2"/>
          </a:solidFill>
          <a:ln w="6350">
            <a:solidFill>
              <a:srgbClr val="FFFFFF"/>
            </a:solidFill>
            <a:prstDash val="solid"/>
          </a:ln>
        </p:spPr>
      </p:sp>
      <p:sp>
        <p:nvSpPr>
          <p:cNvPr id="70" name="Text 68"/>
          <p:cNvSpPr txBox="1"/>
          <p:nvPr/>
        </p:nvSpPr>
        <p:spPr>
          <a:xfrm>
            <a:off x="2478684" y="2770632"/>
            <a:ext cx="1556461"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Ingeniería EWP</a:t>
            </a:r>
            <a:endParaRPr lang="en-US" sz="1000" dirty="0"/>
          </a:p>
        </p:txBody>
      </p:sp>
      <p:sp>
        <p:nvSpPr>
          <p:cNvPr id="71" name="Shape 69"/>
          <p:cNvSpPr/>
          <p:nvPr/>
        </p:nvSpPr>
        <p:spPr>
          <a:xfrm>
            <a:off x="2730475" y="3127248"/>
            <a:ext cx="1863115" cy="310896"/>
          </a:xfrm>
          <a:prstGeom prst="roundRect">
            <a:avLst>
              <a:gd name="adj" fmla="val 14706"/>
            </a:avLst>
          </a:prstGeom>
          <a:solidFill>
            <a:srgbClr val="CDEBDD"/>
          </a:solidFill>
          <a:ln w="6350">
            <a:solidFill>
              <a:srgbClr val="FFFFFF"/>
            </a:solidFill>
            <a:prstDash val="solid"/>
          </a:ln>
        </p:spPr>
      </p:sp>
      <p:sp>
        <p:nvSpPr>
          <p:cNvPr id="72" name="Text 70"/>
          <p:cNvSpPr txBox="1"/>
          <p:nvPr/>
        </p:nvSpPr>
        <p:spPr>
          <a:xfrm>
            <a:off x="2748763" y="3127248"/>
            <a:ext cx="1826539"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Procura PWP</a:t>
            </a:r>
            <a:endParaRPr lang="en-US" sz="1000" dirty="0"/>
          </a:p>
        </p:txBody>
      </p:sp>
      <p:sp>
        <p:nvSpPr>
          <p:cNvPr id="73" name="Shape 71"/>
          <p:cNvSpPr/>
          <p:nvPr/>
        </p:nvSpPr>
        <p:spPr>
          <a:xfrm>
            <a:off x="548640" y="3593592"/>
            <a:ext cx="11094415" cy="0"/>
          </a:xfrm>
          <a:prstGeom prst="line">
            <a:avLst/>
          </a:prstGeom>
          <a:noFill/>
          <a:ln w="9525">
            <a:solidFill>
              <a:srgbClr val="DDE4EC"/>
            </a:solidFill>
            <a:prstDash val="solid"/>
          </a:ln>
        </p:spPr>
      </p:sp>
      <p:sp>
        <p:nvSpPr>
          <p:cNvPr id="74" name="Text 72"/>
          <p:cNvSpPr txBox="1"/>
          <p:nvPr/>
        </p:nvSpPr>
        <p:spPr>
          <a:xfrm>
            <a:off x="548640" y="3666744"/>
            <a:ext cx="1280160" cy="1069848"/>
          </a:xfrm>
          <a:prstGeom prst="rect">
            <a:avLst/>
          </a:prstGeom>
          <a:noFill/>
          <a:ln/>
        </p:spPr>
        <p:txBody>
          <a:bodyPr wrap="square" lIns="0" tIns="0" rIns="0" bIns="0" rtlCol="0" anchor="ctr"/>
          <a:lstStyle/>
          <a:p>
            <a:pPr indent="0" marL="0">
              <a:buNone/>
            </a:pPr>
            <a:r>
              <a:rPr lang="en-US" sz="1500" b="1" dirty="0">
                <a:solidFill>
                  <a:srgbClr val="EB6834"/>
                </a:solidFill>
                <a:latin typeface="Calibri" pitchFamily="34" charset="0"/>
                <a:ea typeface="Calibri" pitchFamily="34" charset="-122"/>
                <a:cs typeface="Calibri" pitchFamily="34" charset="-120"/>
              </a:rPr>
              <a:t>Fase 2</a:t>
            </a:r>
            <a:endParaRPr lang="en-US" sz="1500" dirty="0"/>
          </a:p>
        </p:txBody>
      </p:sp>
      <p:sp>
        <p:nvSpPr>
          <p:cNvPr id="75" name="Shape 73"/>
          <p:cNvSpPr/>
          <p:nvPr/>
        </p:nvSpPr>
        <p:spPr>
          <a:xfrm>
            <a:off x="3270631" y="3666744"/>
            <a:ext cx="1052881" cy="310896"/>
          </a:xfrm>
          <a:prstGeom prst="roundRect">
            <a:avLst>
              <a:gd name="adj" fmla="val 14706"/>
            </a:avLst>
          </a:prstGeom>
          <a:solidFill>
            <a:srgbClr val="F5A623"/>
          </a:solidFill>
          <a:ln w="6350">
            <a:solidFill>
              <a:srgbClr val="FFFFFF"/>
            </a:solidFill>
            <a:prstDash val="solid"/>
          </a:ln>
        </p:spPr>
      </p:sp>
      <p:sp>
        <p:nvSpPr>
          <p:cNvPr id="76" name="Text 74"/>
          <p:cNvSpPr txBox="1"/>
          <p:nvPr/>
        </p:nvSpPr>
        <p:spPr>
          <a:xfrm>
            <a:off x="3288919" y="3666744"/>
            <a:ext cx="1016305"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PoC por sistemas</a:t>
            </a:r>
            <a:endParaRPr lang="en-US" sz="1000" dirty="0"/>
          </a:p>
        </p:txBody>
      </p:sp>
      <p:sp>
        <p:nvSpPr>
          <p:cNvPr id="77" name="Shape 75"/>
          <p:cNvSpPr/>
          <p:nvPr/>
        </p:nvSpPr>
        <p:spPr>
          <a:xfrm>
            <a:off x="5431257" y="3666744"/>
            <a:ext cx="4023741" cy="310896"/>
          </a:xfrm>
          <a:prstGeom prst="roundRect">
            <a:avLst>
              <a:gd name="adj" fmla="val 14706"/>
            </a:avLst>
          </a:prstGeom>
          <a:solidFill>
            <a:srgbClr val="EB6834"/>
          </a:solidFill>
          <a:ln w="6350">
            <a:solidFill>
              <a:srgbClr val="FFFFFF"/>
            </a:solidFill>
            <a:prstDash val="solid"/>
          </a:ln>
        </p:spPr>
      </p:sp>
      <p:sp>
        <p:nvSpPr>
          <p:cNvPr id="78" name="Text 76"/>
          <p:cNvSpPr txBox="1"/>
          <p:nvPr/>
        </p:nvSpPr>
        <p:spPr>
          <a:xfrm>
            <a:off x="5449545" y="3666744"/>
            <a:ext cx="3987165"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Construcción IWP</a:t>
            </a:r>
            <a:endParaRPr lang="en-US" sz="1000" dirty="0"/>
          </a:p>
        </p:txBody>
      </p:sp>
      <p:sp>
        <p:nvSpPr>
          <p:cNvPr id="79" name="Shape 77"/>
          <p:cNvSpPr/>
          <p:nvPr/>
        </p:nvSpPr>
        <p:spPr>
          <a:xfrm>
            <a:off x="9482430" y="3666744"/>
            <a:ext cx="1322959" cy="310896"/>
          </a:xfrm>
          <a:prstGeom prst="roundRect">
            <a:avLst>
              <a:gd name="adj" fmla="val 14706"/>
            </a:avLst>
          </a:prstGeom>
          <a:solidFill>
            <a:srgbClr val="FFE3A3"/>
          </a:solidFill>
          <a:ln w="6350">
            <a:solidFill>
              <a:srgbClr val="FFFFFF"/>
            </a:solidFill>
            <a:prstDash val="solid"/>
          </a:ln>
        </p:spPr>
      </p:sp>
      <p:sp>
        <p:nvSpPr>
          <p:cNvPr id="80" name="Text 78"/>
          <p:cNvSpPr txBox="1"/>
          <p:nvPr/>
        </p:nvSpPr>
        <p:spPr>
          <a:xfrm>
            <a:off x="9500718" y="3666744"/>
            <a:ext cx="1286383"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SWP</a:t>
            </a:r>
            <a:endParaRPr lang="en-US" sz="1000" dirty="0"/>
          </a:p>
        </p:txBody>
      </p:sp>
      <p:sp>
        <p:nvSpPr>
          <p:cNvPr id="81" name="Shape 79"/>
          <p:cNvSpPr/>
          <p:nvPr/>
        </p:nvSpPr>
        <p:spPr>
          <a:xfrm>
            <a:off x="4332656" y="3712464"/>
            <a:ext cx="219456" cy="219456"/>
          </a:xfrm>
          <a:prstGeom prst="diamond">
            <a:avLst/>
          </a:prstGeom>
          <a:solidFill>
            <a:srgbClr val="F5A623"/>
          </a:solidFill>
          <a:ln w="9525">
            <a:solidFill>
              <a:srgbClr val="0F2A43"/>
            </a:solidFill>
            <a:prstDash val="solid"/>
          </a:ln>
        </p:spPr>
      </p:sp>
      <p:sp>
        <p:nvSpPr>
          <p:cNvPr id="82" name="Text 80"/>
          <p:cNvSpPr txBox="1"/>
          <p:nvPr/>
        </p:nvSpPr>
        <p:spPr>
          <a:xfrm>
            <a:off x="4570400" y="3666744"/>
            <a:ext cx="365760" cy="3108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H2</a:t>
            </a:r>
            <a:endParaRPr lang="en-US" sz="1000" dirty="0"/>
          </a:p>
        </p:txBody>
      </p:sp>
      <p:sp>
        <p:nvSpPr>
          <p:cNvPr id="83" name="Shape 81"/>
          <p:cNvSpPr/>
          <p:nvPr/>
        </p:nvSpPr>
        <p:spPr>
          <a:xfrm>
            <a:off x="3810787" y="4023360"/>
            <a:ext cx="2943428" cy="310896"/>
          </a:xfrm>
          <a:prstGeom prst="roundRect">
            <a:avLst>
              <a:gd name="adj" fmla="val 14706"/>
            </a:avLst>
          </a:prstGeom>
          <a:solidFill>
            <a:srgbClr val="BBD5F2"/>
          </a:solidFill>
          <a:ln w="6350">
            <a:solidFill>
              <a:srgbClr val="FFFFFF"/>
            </a:solidFill>
            <a:prstDash val="solid"/>
          </a:ln>
        </p:spPr>
      </p:sp>
      <p:sp>
        <p:nvSpPr>
          <p:cNvPr id="84" name="Text 82"/>
          <p:cNvSpPr txBox="1"/>
          <p:nvPr/>
        </p:nvSpPr>
        <p:spPr>
          <a:xfrm>
            <a:off x="3829075" y="4023360"/>
            <a:ext cx="2906852"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Ingeniería EWP</a:t>
            </a:r>
            <a:endParaRPr lang="en-US" sz="1000" dirty="0"/>
          </a:p>
        </p:txBody>
      </p:sp>
      <p:sp>
        <p:nvSpPr>
          <p:cNvPr id="85" name="Shape 83"/>
          <p:cNvSpPr/>
          <p:nvPr/>
        </p:nvSpPr>
        <p:spPr>
          <a:xfrm>
            <a:off x="4350944" y="4379976"/>
            <a:ext cx="4023741" cy="310896"/>
          </a:xfrm>
          <a:prstGeom prst="roundRect">
            <a:avLst>
              <a:gd name="adj" fmla="val 14706"/>
            </a:avLst>
          </a:prstGeom>
          <a:solidFill>
            <a:srgbClr val="CDEBDD"/>
          </a:solidFill>
          <a:ln w="6350">
            <a:solidFill>
              <a:srgbClr val="FFFFFF"/>
            </a:solidFill>
            <a:prstDash val="solid"/>
          </a:ln>
        </p:spPr>
      </p:sp>
      <p:sp>
        <p:nvSpPr>
          <p:cNvPr id="86" name="Text 84"/>
          <p:cNvSpPr txBox="1"/>
          <p:nvPr/>
        </p:nvSpPr>
        <p:spPr>
          <a:xfrm>
            <a:off x="4369232" y="4379976"/>
            <a:ext cx="3987165"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Procura PWP</a:t>
            </a:r>
            <a:endParaRPr lang="en-US" sz="1000" dirty="0"/>
          </a:p>
        </p:txBody>
      </p:sp>
      <p:sp>
        <p:nvSpPr>
          <p:cNvPr id="87" name="Shape 85"/>
          <p:cNvSpPr/>
          <p:nvPr/>
        </p:nvSpPr>
        <p:spPr>
          <a:xfrm>
            <a:off x="548640" y="4846320"/>
            <a:ext cx="11094415" cy="0"/>
          </a:xfrm>
          <a:prstGeom prst="line">
            <a:avLst/>
          </a:prstGeom>
          <a:noFill/>
          <a:ln w="9525">
            <a:solidFill>
              <a:srgbClr val="DDE4EC"/>
            </a:solidFill>
            <a:prstDash val="solid"/>
          </a:ln>
        </p:spPr>
      </p:sp>
      <p:sp>
        <p:nvSpPr>
          <p:cNvPr id="88" name="Text 86"/>
          <p:cNvSpPr txBox="1"/>
          <p:nvPr/>
        </p:nvSpPr>
        <p:spPr>
          <a:xfrm>
            <a:off x="548640" y="4919472"/>
            <a:ext cx="1280160" cy="1069848"/>
          </a:xfrm>
          <a:prstGeom prst="rect">
            <a:avLst/>
          </a:prstGeom>
          <a:noFill/>
          <a:ln/>
        </p:spPr>
        <p:txBody>
          <a:bodyPr wrap="square" lIns="0" tIns="0" rIns="0" bIns="0" rtlCol="0" anchor="ctr"/>
          <a:lstStyle/>
          <a:p>
            <a:pPr indent="0" marL="0">
              <a:buNone/>
            </a:pPr>
            <a:r>
              <a:rPr lang="en-US" sz="1500" b="1" dirty="0">
                <a:solidFill>
                  <a:srgbClr val="1BAF7A"/>
                </a:solidFill>
                <a:latin typeface="Calibri" pitchFamily="34" charset="0"/>
                <a:ea typeface="Calibri" pitchFamily="34" charset="-122"/>
                <a:cs typeface="Calibri" pitchFamily="34" charset="-120"/>
              </a:rPr>
              <a:t>Fase 3</a:t>
            </a:r>
            <a:endParaRPr lang="en-US" sz="1500" dirty="0"/>
          </a:p>
        </p:txBody>
      </p:sp>
      <p:sp>
        <p:nvSpPr>
          <p:cNvPr id="89" name="Shape 87"/>
          <p:cNvSpPr/>
          <p:nvPr/>
        </p:nvSpPr>
        <p:spPr>
          <a:xfrm>
            <a:off x="5971413" y="4919472"/>
            <a:ext cx="1322959" cy="310896"/>
          </a:xfrm>
          <a:prstGeom prst="roundRect">
            <a:avLst>
              <a:gd name="adj" fmla="val 14706"/>
            </a:avLst>
          </a:prstGeom>
          <a:solidFill>
            <a:srgbClr val="F5A623"/>
          </a:solidFill>
          <a:ln w="6350">
            <a:solidFill>
              <a:srgbClr val="FFFFFF"/>
            </a:solidFill>
            <a:prstDash val="solid"/>
          </a:ln>
        </p:spPr>
      </p:sp>
      <p:sp>
        <p:nvSpPr>
          <p:cNvPr id="90" name="Text 88"/>
          <p:cNvSpPr txBox="1"/>
          <p:nvPr/>
        </p:nvSpPr>
        <p:spPr>
          <a:xfrm>
            <a:off x="5989701" y="4919472"/>
            <a:ext cx="1286383"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PoC + comis.</a:t>
            </a:r>
            <a:endParaRPr lang="en-US" sz="1000" dirty="0"/>
          </a:p>
        </p:txBody>
      </p:sp>
      <p:sp>
        <p:nvSpPr>
          <p:cNvPr id="91" name="Shape 89"/>
          <p:cNvSpPr/>
          <p:nvPr/>
        </p:nvSpPr>
        <p:spPr>
          <a:xfrm>
            <a:off x="8672195" y="4919472"/>
            <a:ext cx="2403272" cy="310896"/>
          </a:xfrm>
          <a:prstGeom prst="roundRect">
            <a:avLst>
              <a:gd name="adj" fmla="val 14706"/>
            </a:avLst>
          </a:prstGeom>
          <a:solidFill>
            <a:srgbClr val="1BAF7A"/>
          </a:solidFill>
          <a:ln w="6350">
            <a:solidFill>
              <a:srgbClr val="FFFFFF"/>
            </a:solidFill>
            <a:prstDash val="solid"/>
          </a:ln>
        </p:spPr>
      </p:sp>
      <p:sp>
        <p:nvSpPr>
          <p:cNvPr id="92" name="Text 90"/>
          <p:cNvSpPr txBox="1"/>
          <p:nvPr/>
        </p:nvSpPr>
        <p:spPr>
          <a:xfrm>
            <a:off x="8690483" y="4919472"/>
            <a:ext cx="2366696"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Construcción IWP</a:t>
            </a:r>
            <a:endParaRPr lang="en-US" sz="1000" dirty="0"/>
          </a:p>
        </p:txBody>
      </p:sp>
      <p:sp>
        <p:nvSpPr>
          <p:cNvPr id="93" name="Shape 91"/>
          <p:cNvSpPr/>
          <p:nvPr/>
        </p:nvSpPr>
        <p:spPr>
          <a:xfrm>
            <a:off x="10562742" y="4919472"/>
            <a:ext cx="1052881" cy="310896"/>
          </a:xfrm>
          <a:prstGeom prst="roundRect">
            <a:avLst>
              <a:gd name="adj" fmla="val 14706"/>
            </a:avLst>
          </a:prstGeom>
          <a:solidFill>
            <a:srgbClr val="FFE3A3"/>
          </a:solidFill>
          <a:ln w="6350">
            <a:solidFill>
              <a:srgbClr val="FFFFFF"/>
            </a:solidFill>
            <a:prstDash val="solid"/>
          </a:ln>
        </p:spPr>
      </p:sp>
      <p:sp>
        <p:nvSpPr>
          <p:cNvPr id="94" name="Text 92"/>
          <p:cNvSpPr txBox="1"/>
          <p:nvPr/>
        </p:nvSpPr>
        <p:spPr>
          <a:xfrm>
            <a:off x="10581030" y="4919472"/>
            <a:ext cx="1016305"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Comis.</a:t>
            </a:r>
            <a:endParaRPr lang="en-US" sz="1000" dirty="0"/>
          </a:p>
        </p:txBody>
      </p:sp>
      <p:sp>
        <p:nvSpPr>
          <p:cNvPr id="95" name="Shape 93"/>
          <p:cNvSpPr/>
          <p:nvPr/>
        </p:nvSpPr>
        <p:spPr>
          <a:xfrm>
            <a:off x="7303516" y="4965192"/>
            <a:ext cx="219456" cy="219456"/>
          </a:xfrm>
          <a:prstGeom prst="diamond">
            <a:avLst/>
          </a:prstGeom>
          <a:solidFill>
            <a:srgbClr val="F5A623"/>
          </a:solidFill>
          <a:ln w="9525">
            <a:solidFill>
              <a:srgbClr val="0F2A43"/>
            </a:solidFill>
            <a:prstDash val="solid"/>
          </a:ln>
        </p:spPr>
      </p:sp>
      <p:sp>
        <p:nvSpPr>
          <p:cNvPr id="96" name="Text 94"/>
          <p:cNvSpPr txBox="1"/>
          <p:nvPr/>
        </p:nvSpPr>
        <p:spPr>
          <a:xfrm>
            <a:off x="7541260" y="4919472"/>
            <a:ext cx="365760" cy="310896"/>
          </a:xfrm>
          <a:prstGeom prst="rect">
            <a:avLst/>
          </a:prstGeom>
          <a:noFill/>
          <a:ln/>
        </p:spPr>
        <p:txBody>
          <a:bodyPr wrap="square" lIns="0" tIns="0" rIns="0" bIns="0" rtlCol="0" anchor="ctr"/>
          <a:lstStyle/>
          <a:p>
            <a:pPr indent="0" marL="0">
              <a:buNone/>
            </a:pPr>
            <a:r>
              <a:rPr lang="en-US" sz="1000" b="1" dirty="0">
                <a:solidFill>
                  <a:srgbClr val="1B1F24"/>
                </a:solidFill>
                <a:latin typeface="Calibri" pitchFamily="34" charset="0"/>
                <a:ea typeface="Calibri" pitchFamily="34" charset="-122"/>
                <a:cs typeface="Calibri" pitchFamily="34" charset="-120"/>
              </a:rPr>
              <a:t>H2</a:t>
            </a:r>
            <a:endParaRPr lang="en-US" sz="1000" dirty="0"/>
          </a:p>
        </p:txBody>
      </p:sp>
      <p:sp>
        <p:nvSpPr>
          <p:cNvPr id="97" name="Shape 95"/>
          <p:cNvSpPr/>
          <p:nvPr/>
        </p:nvSpPr>
        <p:spPr>
          <a:xfrm>
            <a:off x="7051726" y="5276088"/>
            <a:ext cx="1863115" cy="310896"/>
          </a:xfrm>
          <a:prstGeom prst="roundRect">
            <a:avLst>
              <a:gd name="adj" fmla="val 14706"/>
            </a:avLst>
          </a:prstGeom>
          <a:solidFill>
            <a:srgbClr val="BBD5F2"/>
          </a:solidFill>
          <a:ln w="6350">
            <a:solidFill>
              <a:srgbClr val="FFFFFF"/>
            </a:solidFill>
            <a:prstDash val="solid"/>
          </a:ln>
        </p:spPr>
      </p:sp>
      <p:sp>
        <p:nvSpPr>
          <p:cNvPr id="98" name="Text 96"/>
          <p:cNvSpPr txBox="1"/>
          <p:nvPr/>
        </p:nvSpPr>
        <p:spPr>
          <a:xfrm>
            <a:off x="7070014" y="5276088"/>
            <a:ext cx="1826539"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Ingeniería EWP</a:t>
            </a:r>
            <a:endParaRPr lang="en-US" sz="1000" dirty="0"/>
          </a:p>
        </p:txBody>
      </p:sp>
      <p:sp>
        <p:nvSpPr>
          <p:cNvPr id="99" name="Shape 97"/>
          <p:cNvSpPr/>
          <p:nvPr/>
        </p:nvSpPr>
        <p:spPr>
          <a:xfrm>
            <a:off x="7591882" y="5632704"/>
            <a:ext cx="2403272" cy="310896"/>
          </a:xfrm>
          <a:prstGeom prst="roundRect">
            <a:avLst>
              <a:gd name="adj" fmla="val 14706"/>
            </a:avLst>
          </a:prstGeom>
          <a:solidFill>
            <a:srgbClr val="CDEBDD"/>
          </a:solidFill>
          <a:ln w="6350">
            <a:solidFill>
              <a:srgbClr val="FFFFFF"/>
            </a:solidFill>
            <a:prstDash val="solid"/>
          </a:ln>
        </p:spPr>
      </p:sp>
      <p:sp>
        <p:nvSpPr>
          <p:cNvPr id="100" name="Text 98"/>
          <p:cNvSpPr txBox="1"/>
          <p:nvPr/>
        </p:nvSpPr>
        <p:spPr>
          <a:xfrm>
            <a:off x="7610170" y="5632704"/>
            <a:ext cx="2366696" cy="310896"/>
          </a:xfrm>
          <a:prstGeom prst="rect">
            <a:avLst/>
          </a:prstGeom>
          <a:noFill/>
          <a:ln/>
        </p:spPr>
        <p:txBody>
          <a:bodyPr wrap="square" lIns="0" tIns="0" rIns="0" bIns="0" rtlCol="0" anchor="ctr">
            <a:normAutofit/>
          </a:bodyPr>
          <a:lstStyle/>
          <a:p>
            <a:pPr algn="ctr" indent="0" marL="0">
              <a:buNone/>
            </a:pPr>
            <a:r>
              <a:rPr lang="en-US" sz="1000" b="1" dirty="0">
                <a:solidFill>
                  <a:srgbClr val="0F2A43"/>
                </a:solidFill>
                <a:latin typeface="Calibri" pitchFamily="34" charset="0"/>
                <a:ea typeface="Calibri" pitchFamily="34" charset="-122"/>
                <a:cs typeface="Calibri" pitchFamily="34" charset="-120"/>
              </a:rPr>
              <a:t>Procura PWP</a:t>
            </a:r>
            <a:endParaRPr lang="en-US" sz="1000" dirty="0"/>
          </a:p>
        </p:txBody>
      </p:sp>
      <p:sp>
        <p:nvSpPr>
          <p:cNvPr id="101" name="Text 99"/>
          <p:cNvSpPr txBox="1"/>
          <p:nvPr/>
        </p:nvSpPr>
        <p:spPr>
          <a:xfrm>
            <a:off x="548640" y="6080760"/>
            <a:ext cx="11094415" cy="274320"/>
          </a:xfrm>
          <a:prstGeom prst="rect">
            <a:avLst/>
          </a:prstGeom>
          <a:noFill/>
          <a:ln/>
        </p:spPr>
        <p:txBody>
          <a:bodyPr wrap="square" lIns="0" tIns="0" rIns="0" bIns="0" rtlCol="0" anchor="t"/>
          <a:lstStyle/>
          <a:p>
            <a:pPr indent="0" marL="0">
              <a:buNone/>
            </a:pPr>
            <a:r>
              <a:rPr lang="en-US" sz="1200" b="1" dirty="0">
                <a:solidFill>
                  <a:srgbClr val="1B1F24"/>
                </a:solidFill>
                <a:latin typeface="Calibri" pitchFamily="34" charset="0"/>
                <a:ea typeface="Calibri" pitchFamily="34" charset="-122"/>
                <a:cs typeface="Calibri" pitchFamily="34" charset="-120"/>
              </a:rPr>
              <a:t>Ventanas del PoC: </a:t>
            </a:r>
            <a:pPr indent="0" marL="0">
              <a:buNone/>
            </a:pPr>
            <a:r>
              <a:rPr lang="en-US" sz="1200" dirty="0">
                <a:solidFill>
                  <a:srgbClr val="56606B"/>
                </a:solidFill>
                <a:latin typeface="Calibri" pitchFamily="34" charset="0"/>
                <a:ea typeface="Calibri" pitchFamily="34" charset="-122"/>
                <a:cs typeface="Calibri" pitchFamily="34" charset="-120"/>
              </a:rPr>
              <a:t>Fase 1 M3–M4 · Fase 2 M6–M9 (por sistemas) · Fase 3 M16–M21 (con comisionamiento) · cronograma del kit.</a:t>
            </a:r>
            <a:endParaRPr lang="en-US" sz="1200" dirty="0"/>
          </a:p>
        </p:txBody>
      </p:sp>
      <p:sp>
        <p:nvSpPr>
          <p:cNvPr id="102" name="Text 10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Cuándo se desarrolla</a:t>
            </a:r>
            <a:endParaRPr lang="en-US" sz="1000" dirty="0"/>
          </a:p>
        </p:txBody>
      </p:sp>
      <p:sp>
        <p:nvSpPr>
          <p:cNvPr id="103" name="Text 10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Los hitos del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Criterio de cumplimiento, evidencia y quién aprueba (catálogo del kit)</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03120"/>
                <a:gridCol w="5029200"/>
                <a:gridCol w="2194560"/>
                <a:gridCol w="164592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Hito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Criterio de cumplimiento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Evidencia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Aprueba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H1 · CWA definidas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100 % del alcance de la fase asignado a CWA sin superposiciones; CWA con límites en plano y código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Plano de CWA, Definicion_CWA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AWP Champion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H2 · Path of Construction aprobado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Secuencia de CWA y CWP acordada en taller IPP con construcción, ingeniería, procura y comisionamiento; PoC congelado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Acta del taller, Path_of_Construction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Cliente y Gerente de Construcción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H3 · CWP, EWP y PWP definidos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Lista completa de CWP con su EWP y PWP; fechas requeridas calculadas desde el PoC; plan de liberación publicado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Seguimiento_Paquetes con fechas plan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AWP Champion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H5 · Primer EWP IFC en secuencia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El EWP del primer CWP del PoC emitido IFC completo antes de su fecha requerida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Transmittal de ingeniería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Líder de Ingeniería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H6 · Primer CWP emitido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CWP completo, con materiales asegurados (PWP), aprobado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Plantilla de CWP firmada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Gerente de Construcción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Cuándo se desarrolla</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F5A623"/>
          </a:solidFill>
          <a:ln w="12700">
            <a:solidFill>
              <a:srgbClr val="F5A623"/>
            </a:solidFill>
            <a:prstDash val="solid"/>
          </a:ln>
        </p:spPr>
      </p:sp>
      <p:pic>
        <p:nvPicPr>
          <p:cNvPr id="3" name="Image 0" descr="preencoded.png">    </p:cNvPr>
          <p:cNvPicPr>
            <a:picLocks noChangeAspect="1"/>
          </p:cNvPicPr>
          <p:nvPr/>
        </p:nvPicPr>
        <p:blipFill>
          <a:blip r:embed="rId1"/>
          <a:stretch>
            <a:fillRect/>
          </a:stretch>
        </p:blipFill>
        <p:spPr>
          <a:xfrm>
            <a:off x="816102" y="1639062"/>
            <a:ext cx="653796" cy="653796"/>
          </a:xfrm>
          <a:prstGeom prst="rect">
            <a:avLst/>
          </a:prstGeom>
        </p:spPr>
      </p:pic>
      <p:sp>
        <p:nvSpPr>
          <p:cNvPr id="4" name="Text 1"/>
          <p:cNvSpPr txBox="1"/>
          <p:nvPr/>
        </p:nvSpPr>
        <p:spPr>
          <a:xfrm>
            <a:off x="548640" y="2788920"/>
            <a:ext cx="11094415" cy="8229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Un documento vivo</a:t>
            </a:r>
            <a:endParaRPr lang="en-US" sz="3800" dirty="0"/>
          </a:p>
        </p:txBody>
      </p:sp>
      <p:sp>
        <p:nvSpPr>
          <p:cNvPr id="5" name="Text 2"/>
          <p:cNvSpPr txBox="1"/>
          <p:nvPr/>
        </p:nvSpPr>
        <p:spPr>
          <a:xfrm>
            <a:off x="548640" y="3703320"/>
            <a:ext cx="10180015" cy="2011680"/>
          </a:xfrm>
          <a:prstGeom prst="rect">
            <a:avLst/>
          </a:prstGeom>
          <a:noFill/>
          <a:ln/>
        </p:spPr>
        <p:txBody>
          <a:bodyPr wrap="square" lIns="0" tIns="0" rIns="0" bIns="0" rtlCol="0" anchor="t"/>
          <a:lstStyle/>
          <a:p>
            <a:pPr indent="0" marL="0">
              <a:buNone/>
            </a:pPr>
            <a:r>
              <a:rPr lang="en-US" sz="2100" dirty="0">
                <a:solidFill>
                  <a:srgbClr val="B9CCE0"/>
                </a:solidFill>
                <a:latin typeface="Calibri" pitchFamily="34" charset="0"/>
                <a:ea typeface="Calibri" pitchFamily="34" charset="-122"/>
                <a:cs typeface="Calibri" pitchFamily="34" charset="-120"/>
              </a:rPr>
              <a:t>El PoC se congela al final de FEL 3 para que ingeniería y procura puedan cumplir, pero no se abandona: se mantiene y se revisa, con control de cambios, cuando cambian las condiciones del proyecto, para que la secuencia siga siendo óptima y realista.</a:t>
            </a:r>
            <a:endParaRPr lang="en-US" sz="2100" dirty="0"/>
          </a:p>
        </p:txBody>
      </p:sp>
      <p:sp>
        <p:nvSpPr>
          <p:cNvPr id="6" name="Text 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Cuándo se desarrolla</a:t>
            </a:r>
            <a:endParaRPr lang="en-US" sz="1000" dirty="0"/>
          </a:p>
        </p:txBody>
      </p:sp>
      <p:sp>
        <p:nvSpPr>
          <p:cNvPr id="7" name="Text 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03</a:t>
            </a:r>
            <a:endParaRPr lang="en-US" sz="9600" dirty="0"/>
          </a:p>
        </p:txBody>
      </p:sp>
      <p:sp>
        <p:nvSpPr>
          <p:cNvPr id="3" name="Text 1"/>
          <p:cNvSpPr txBox="1"/>
          <p:nvPr/>
        </p:nvSpPr>
        <p:spPr>
          <a:xfrm>
            <a:off x="548640" y="2697480"/>
            <a:ext cx="594360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Elementos e insumos del PoC</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Lo que se necesita tener sobre la mesa para construir la ruta</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Plano de ubicación general y CWA</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Sistemas y prioridades de puesta en marcha</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Cronogramas, presupuesto y estrategias</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Restricciones y recursos críticos</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Lecciones y modelo 3D</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Los elementos del Path of Construction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Un PoC completo contiene estos elementos</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Áreas (CWA) y su secuencia</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Con límites, código, predecesora y el orden en que se liberan.</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CWP secuenciados</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Cada CWP con inicio plan, duración, predecesor, sistema y justificación.</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Sistemas y prioridades</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Qué sistemas se entregan primero y qué CWP los completan.</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Fechas requeridas</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EWP IFC requerido, emisión del CWP y RAS de materiales, calculadas hacia atrás.</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Recursos críticos</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Grúas, accesos, zonas de acopio, rutas de izaje e instalaciones temporales.</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Supuestos, riesgos e interfaces</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Registrados en el acta del taller, con responsable y fase afectada.</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Insumos por paso del desarrollo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Según el curso integrado de AWP del CII</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5852160"/>
                <a:gridCol w="292608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Paso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Insumos</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Resultado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1 · Sin restricciones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Plano de ubicación general; CWA; cronograma de nivel 1; presupuesto FEL 1</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Borrador del PoC: plan puramente constructivo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2 · Con restricciones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Estrategia preliminar de compras; requerimientos preliminares de recursos; estrategia preliminar de módulos; estrategia preliminar de contratación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PoC ajustado; cronograma y presupuesto de nivel 2</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3 · PoC final</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Estrategia final de compras; requerimientos finales de recursos; estrategia final de módulos; estrategia final de contratación; datos técnicos de FEL 3</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PoC final (entregable de la compuerta 3); presupuesto y cronograma de nivel 3</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Plano de ubicación general y CWA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La base física del PoC</a:t>
            </a:r>
            <a:endParaRPr lang="en-US" sz="1500" dirty="0"/>
          </a:p>
        </p:txBody>
      </p:sp>
      <p:sp>
        <p:nvSpPr>
          <p:cNvPr id="4" name="Shape 2"/>
          <p:cNvSpPr/>
          <p:nvPr/>
        </p:nvSpPr>
        <p:spPr>
          <a:xfrm>
            <a:off x="548640" y="1554480"/>
            <a:ext cx="541004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Plano de ubicación general</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Muestra la huella de la instalación, accesos, vías, zonas libres y edificios. Es el primer insumo del paso 1.</a:t>
            </a:r>
            <a:endParaRPr lang="en-US" sz="1700" dirty="0"/>
          </a:p>
        </p:txBody>
      </p:sp>
      <p:sp>
        <p:nvSpPr>
          <p:cNvPr id="9" name="Shape 6"/>
          <p:cNvSpPr/>
          <p:nvPr/>
        </p:nvSpPr>
        <p:spPr>
          <a:xfrm>
            <a:off x="6233008" y="1554480"/>
            <a:ext cx="541004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646160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Dividir en CWA</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Áreas con límites físicos o lógicos, sin superposición, que pertenecen a una sola fase.</a:t>
            </a:r>
            <a:endParaRPr lang="en-US" sz="1700" dirty="0"/>
          </a:p>
        </p:txBody>
      </p:sp>
      <p:sp>
        <p:nvSpPr>
          <p:cNvPr id="14" name="Shape 10"/>
          <p:cNvSpPr/>
          <p:nvPr/>
        </p:nvSpPr>
        <p:spPr>
          <a:xfrm>
            <a:off x="548640" y="4046220"/>
            <a:ext cx="541004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777240" y="427482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Tamaño manejable</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Cada CWA debe poder dividirse en CWP de una disciplina y menos de 40 000 HH.</a:t>
            </a:r>
            <a:endParaRPr lang="en-US" sz="1700" dirty="0"/>
          </a:p>
        </p:txBody>
      </p:sp>
      <p:sp>
        <p:nvSpPr>
          <p:cNvPr id="19" name="Shape 14"/>
          <p:cNvSpPr/>
          <p:nvPr/>
        </p:nvSpPr>
        <p:spPr>
          <a:xfrm>
            <a:off x="6233008" y="4046220"/>
            <a:ext cx="541004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6461608"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Código</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CWA-&lt;fase&gt;.&lt;nn&gt;, por ejemplo CWA-2.01; cargado en el modelo 3D y el cronograma.</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Los 10 criterios de una buena CWA (1 de 2)</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Plantilla Definicion_CWA.xlsx, hoja Criterios</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877824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Criterio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Qué debe cumplir la CWA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1 · Límites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Tiene límites físicos o lógicos claros, dibujados en un plano de CWA y sin superposición con otras CWA.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2 · Fase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Pertenece a una sola fase del proyecto.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3 · Secuencia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Permite construir en una secuencia lógica que termina en sistemas o áreas entregables.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4 · Tamaño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Su tamaño permite dividirla en CWP de una disciplina y menos de 40 000 HH.</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5 · Accesos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Considera accesos, zonas de acopio, grúas y rutas de izaje.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Los 10 criterios de una buena CWA (2 de 2)</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Plantilla Definicion_CWA.xlsx, hoja Criterios</a:t>
            </a:r>
            <a:endParaRPr 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877824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Criterio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Qué debe cumplir la CWA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6 · Interfaces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Identifica las interfaces con CWA vecinas y con otras fases (entregas de área, conexiones).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7 · Sistemas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Identifica los sistemas de comisionamiento que atraviesan la CWA.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8 · Modularización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Evalúa si parte del alcance se prefabrica o modulariza.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9 · Código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Tiene código único según la codificación del kit y está cargada en el modelo 3D y el cronograma.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10 · Aprobación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Fue revisada por construcción, ingeniería, procura y comisionamiento y aprobada por el AWP Champion.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Ejemplo: CWA-2.01 · Bloque 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Instalación principal, Fase 2 · 380 000 HH · secuencia 2</a:t>
            </a:r>
            <a:endParaRPr lang="en-US" sz="1500" dirty="0"/>
          </a:p>
        </p:txBody>
      </p:sp>
      <p:sp>
        <p:nvSpPr>
          <p:cNvPr id="4" name="Shape 2"/>
          <p:cNvSpPr/>
          <p:nvPr/>
        </p:nvSpPr>
        <p:spPr>
          <a:xfrm>
            <a:off x="548640" y="1572768"/>
            <a:ext cx="822960" cy="82296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733806" y="1757934"/>
            <a:ext cx="452628" cy="452628"/>
          </a:xfrm>
          <a:prstGeom prst="rect">
            <a:avLst/>
          </a:prstGeom>
        </p:spPr>
      </p:pic>
      <p:sp>
        <p:nvSpPr>
          <p:cNvPr id="6" name="Shape 3"/>
          <p:cNvSpPr/>
          <p:nvPr/>
        </p:nvSpPr>
        <p:spPr>
          <a:xfrm>
            <a:off x="1645920" y="1554480"/>
            <a:ext cx="4861408" cy="1447800"/>
          </a:xfrm>
          <a:prstGeom prst="roundRect">
            <a:avLst>
              <a:gd name="adj" fmla="val 5053"/>
            </a:avLst>
          </a:prstGeom>
          <a:solidFill>
            <a:srgbClr val="F4F7FA"/>
          </a:solidFill>
          <a:ln w="9525">
            <a:solidFill>
              <a:srgbClr val="DDE4EC"/>
            </a:solidFill>
            <a:prstDash val="solid"/>
          </a:ln>
        </p:spPr>
      </p:sp>
      <p:sp>
        <p:nvSpPr>
          <p:cNvPr id="7" name="Text 4"/>
          <p:cNvSpPr txBox="1"/>
          <p:nvPr/>
        </p:nvSpPr>
        <p:spPr>
          <a:xfrm>
            <a:off x="1847088"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Límites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Ejes A1–A12 de la instalación principal; plano de CWA con código.</a:t>
            </a:r>
            <a:endParaRPr lang="en-US" sz="1500" dirty="0"/>
          </a:p>
        </p:txBody>
      </p:sp>
      <p:sp>
        <p:nvSpPr>
          <p:cNvPr id="8" name="Shape 5"/>
          <p:cNvSpPr/>
          <p:nvPr/>
        </p:nvSpPr>
        <p:spPr>
          <a:xfrm>
            <a:off x="6781648" y="1554480"/>
            <a:ext cx="4861408" cy="1447800"/>
          </a:xfrm>
          <a:prstGeom prst="roundRect">
            <a:avLst>
              <a:gd name="adj" fmla="val 5053"/>
            </a:avLst>
          </a:prstGeom>
          <a:solidFill>
            <a:srgbClr val="F4F7FA"/>
          </a:solidFill>
          <a:ln w="9525">
            <a:solidFill>
              <a:srgbClr val="DDE4EC"/>
            </a:solidFill>
            <a:prstDash val="solid"/>
          </a:ln>
        </p:spPr>
      </p:sp>
      <p:sp>
        <p:nvSpPr>
          <p:cNvPr id="9" name="Text 6"/>
          <p:cNvSpPr txBox="1"/>
          <p:nvPr/>
        </p:nvSpPr>
        <p:spPr>
          <a:xfrm>
            <a:off x="6982816"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Disciplinas y CWP</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Todas las disciplinas; en el PoC de ejemplo: CWP-2.01-CIV-01 (cimentaciones), EST-01 (estructura) y TUB-01 (tuberías).</a:t>
            </a:r>
            <a:endParaRPr lang="en-US" sz="1500" dirty="0"/>
          </a:p>
        </p:txBody>
      </p:sp>
      <p:sp>
        <p:nvSpPr>
          <p:cNvPr id="10" name="Shape 7"/>
          <p:cNvSpPr/>
          <p:nvPr/>
        </p:nvSpPr>
        <p:spPr>
          <a:xfrm>
            <a:off x="1645920" y="3185160"/>
            <a:ext cx="4861408" cy="1447800"/>
          </a:xfrm>
          <a:prstGeom prst="roundRect">
            <a:avLst>
              <a:gd name="adj" fmla="val 5053"/>
            </a:avLst>
          </a:prstGeom>
          <a:solidFill>
            <a:srgbClr val="F4F7FA"/>
          </a:solidFill>
          <a:ln w="9525">
            <a:solidFill>
              <a:srgbClr val="DDE4EC"/>
            </a:solidFill>
            <a:prstDash val="solid"/>
          </a:ln>
        </p:spPr>
      </p:sp>
      <p:sp>
        <p:nvSpPr>
          <p:cNvPr id="11" name="Text 8"/>
          <p:cNvSpPr txBox="1"/>
          <p:nvPr/>
        </p:nvSpPr>
        <p:spPr>
          <a:xfrm>
            <a:off x="1847088"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Predecesora</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CWA-2.03, sala eléctrica y de servicios (secuencia 1): energizar antes de probar el bloque.</a:t>
            </a:r>
            <a:endParaRPr lang="en-US" sz="1500" dirty="0"/>
          </a:p>
        </p:txBody>
      </p:sp>
      <p:sp>
        <p:nvSpPr>
          <p:cNvPr id="12" name="Shape 9"/>
          <p:cNvSpPr/>
          <p:nvPr/>
        </p:nvSpPr>
        <p:spPr>
          <a:xfrm>
            <a:off x="6781648" y="3185160"/>
            <a:ext cx="4861408" cy="1447800"/>
          </a:xfrm>
          <a:prstGeom prst="roundRect">
            <a:avLst>
              <a:gd name="adj" fmla="val 5053"/>
            </a:avLst>
          </a:prstGeom>
          <a:solidFill>
            <a:srgbClr val="F4F7FA"/>
          </a:solidFill>
          <a:ln w="9525">
            <a:solidFill>
              <a:srgbClr val="DDE4EC"/>
            </a:solidFill>
            <a:prstDash val="solid"/>
          </a:ln>
        </p:spPr>
      </p:sp>
      <p:sp>
        <p:nvSpPr>
          <p:cNvPr id="13" name="Text 10"/>
          <p:cNvSpPr txBox="1"/>
          <p:nvPr/>
        </p:nvSpPr>
        <p:spPr>
          <a:xfrm>
            <a:off x="6982816"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Sucesoras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CWA-2.02 (bloque B) y CWA-2.04 (galería de servicios e interconexiones).</a:t>
            </a:r>
            <a:endParaRPr lang="en-US" sz="1500" dirty="0"/>
          </a:p>
        </p:txBody>
      </p:sp>
      <p:sp>
        <p:nvSpPr>
          <p:cNvPr id="14" name="Shape 11"/>
          <p:cNvSpPr/>
          <p:nvPr/>
        </p:nvSpPr>
        <p:spPr>
          <a:xfrm>
            <a:off x="1645920" y="4815840"/>
            <a:ext cx="4861408" cy="1447800"/>
          </a:xfrm>
          <a:prstGeom prst="roundRect">
            <a:avLst>
              <a:gd name="adj" fmla="val 5053"/>
            </a:avLst>
          </a:prstGeom>
          <a:solidFill>
            <a:srgbClr val="F4F7FA"/>
          </a:solidFill>
          <a:ln w="9525">
            <a:solidFill>
              <a:srgbClr val="DDE4EC"/>
            </a:solidFill>
            <a:prstDash val="solid"/>
          </a:ln>
        </p:spPr>
      </p:sp>
      <p:sp>
        <p:nvSpPr>
          <p:cNvPr id="15" name="Text 12"/>
          <p:cNvSpPr txBox="1"/>
          <p:nvPr/>
        </p:nvSpPr>
        <p:spPr>
          <a:xfrm>
            <a:off x="1847088"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Recursos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Grúas para montaje de estructura; acceso y acopio compartidos con el bloque B.</a:t>
            </a:r>
            <a:endParaRPr lang="en-US" sz="1500" dirty="0"/>
          </a:p>
        </p:txBody>
      </p:sp>
      <p:sp>
        <p:nvSpPr>
          <p:cNvPr id="16" name="Shape 13"/>
          <p:cNvSpPr/>
          <p:nvPr/>
        </p:nvSpPr>
        <p:spPr>
          <a:xfrm>
            <a:off x="6781648" y="4815840"/>
            <a:ext cx="4861408" cy="1447800"/>
          </a:xfrm>
          <a:prstGeom prst="roundRect">
            <a:avLst>
              <a:gd name="adj" fmla="val 5053"/>
            </a:avLst>
          </a:prstGeom>
          <a:solidFill>
            <a:srgbClr val="F4F7FA"/>
          </a:solidFill>
          <a:ln w="9525">
            <a:solidFill>
              <a:srgbClr val="DDE4EC"/>
            </a:solidFill>
            <a:prstDash val="solid"/>
          </a:ln>
        </p:spPr>
      </p:sp>
      <p:sp>
        <p:nvSpPr>
          <p:cNvPr id="17" name="Text 14"/>
          <p:cNvSpPr txBox="1"/>
          <p:nvPr/>
        </p:nvSpPr>
        <p:spPr>
          <a:xfrm>
            <a:off x="6982816"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Sistemas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Estructura bloque A; agua de servicio; distribución eléctrica.</a:t>
            </a:r>
            <a:endParaRPr lang="en-US" sz="1500" dirty="0"/>
          </a:p>
        </p:txBody>
      </p:sp>
      <p:sp>
        <p:nvSpPr>
          <p:cNvPr id="18"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19"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Sistemas y prioridades de puesta en marcha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El final de la ruta define su comienzo</a:t>
            </a:r>
            <a:endParaRPr lang="en-US" sz="1500" dirty="0"/>
          </a:p>
        </p:txBody>
      </p:sp>
      <p:sp>
        <p:nvSpPr>
          <p:cNvPr id="4" name="Shape 2"/>
          <p:cNvSpPr/>
          <p:nvPr/>
        </p:nvSpPr>
        <p:spPr>
          <a:xfrm>
            <a:off x="548640" y="1554480"/>
            <a:ext cx="541004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Empezar por el final</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Comisionamiento y operaciones dicen qué sistemas deben estar listos primero; la ruta se diseña para lograrlo.</a:t>
            </a:r>
            <a:endParaRPr lang="en-US" sz="1700" dirty="0"/>
          </a:p>
        </p:txBody>
      </p:sp>
      <p:sp>
        <p:nvSpPr>
          <p:cNvPr id="9" name="Shape 6"/>
          <p:cNvSpPr/>
          <p:nvPr/>
        </p:nvSpPr>
        <p:spPr>
          <a:xfrm>
            <a:off x="6233008" y="1554480"/>
            <a:ext cx="541004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646160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Ejemplo: energía</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La sala eléctrica (CWA-2.03) va primero en la Fase 2 para energizar temprano y probar los bloques A y B.</a:t>
            </a:r>
            <a:endParaRPr lang="en-US" sz="1700" dirty="0"/>
          </a:p>
        </p:txBody>
      </p:sp>
      <p:sp>
        <p:nvSpPr>
          <p:cNvPr id="14" name="Shape 10"/>
          <p:cNvSpPr/>
          <p:nvPr/>
        </p:nvSpPr>
        <p:spPr>
          <a:xfrm>
            <a:off x="548640" y="4046220"/>
            <a:ext cx="541004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777240" y="427482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Lista de sistemas</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Insumo revisado en el taller; cada CWP y luego cada IWP indica su sistema.</a:t>
            </a:r>
            <a:endParaRPr lang="en-US" sz="1700" dirty="0"/>
          </a:p>
        </p:txBody>
      </p:sp>
      <p:sp>
        <p:nvSpPr>
          <p:cNvPr id="19" name="Shape 14"/>
          <p:cNvSpPr/>
          <p:nvPr/>
        </p:nvSpPr>
        <p:spPr>
          <a:xfrm>
            <a:off x="6233008" y="4046220"/>
            <a:ext cx="541004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6461608"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Hito H9</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Primer sistema o área entregado: la prueba de que la ruta termina en sistemas completos.</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Cronogramas, presupuesto y estrategias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Insumos de planificación que maduran con el PoC</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Cronograma nivel 1 → 2 → 3</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Nivel 1 en el paso 1, nivel 2 como resultado del paso 2 y nivel 3 como resultado del paso 3.</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Presupuesto</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FEL 1 al inicio; nivel 2 y nivel 3 a medida que la ruta madura. En FEL 3, precisión de −15 / +30 %.</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Estrategia de compras</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Plazos de fabricación y de entrega de equipos y materiales de largo plazo.</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Estrategia de módulos</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Qué se prefabrica o modulariza y cómo llega al sitio.</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Estrategia de contratación</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Cómo se reparten los CWP entre contratistas; un CWP puede ser límite contractual.</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Requerimientos de recursos</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Mano de obra, equipos y supervisión que condicionan cuántos frentes pueden abrirse a la vez.</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Restricciones blandas y duras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En el paso 2 se revisan las restricciones que condicionan la secuencia</a:t>
            </a:r>
            <a:endParaRPr lang="en-US" sz="1500" dirty="0"/>
          </a:p>
        </p:txBody>
      </p:sp>
      <p:sp>
        <p:nvSpPr>
          <p:cNvPr id="4" name="Shape 2"/>
          <p:cNvSpPr/>
          <p:nvPr/>
        </p:nvSpPr>
        <p:spPr>
          <a:xfrm>
            <a:off x="548640" y="1554480"/>
            <a:ext cx="5364328" cy="4709160"/>
          </a:xfrm>
          <a:prstGeom prst="roundRect">
            <a:avLst>
              <a:gd name="adj" fmla="val 1942"/>
            </a:avLst>
          </a:prstGeom>
          <a:solidFill>
            <a:srgbClr val="F4F7FA"/>
          </a:solidFill>
          <a:ln w="9525">
            <a:solidFill>
              <a:srgbClr val="DDE4EC"/>
            </a:solidFill>
            <a:prstDash val="solid"/>
          </a:ln>
        </p:spPr>
      </p:sp>
      <p:sp>
        <p:nvSpPr>
          <p:cNvPr id="5" name="Shape 3"/>
          <p:cNvSpPr/>
          <p:nvPr/>
        </p:nvSpPr>
        <p:spPr>
          <a:xfrm>
            <a:off x="822960" y="1810512"/>
            <a:ext cx="566928" cy="56692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50519" y="1938071"/>
            <a:ext cx="311810" cy="311810"/>
          </a:xfrm>
          <a:prstGeom prst="rect">
            <a:avLst/>
          </a:prstGeom>
        </p:spPr>
      </p:pic>
      <p:sp>
        <p:nvSpPr>
          <p:cNvPr id="7" name="Text 4"/>
          <p:cNvSpPr txBox="1"/>
          <p:nvPr/>
        </p:nvSpPr>
        <p:spPr>
          <a:xfrm>
            <a:off x="1554480" y="1810512"/>
            <a:ext cx="4084168" cy="566928"/>
          </a:xfrm>
          <a:prstGeom prst="rect">
            <a:avLst/>
          </a:prstGeom>
          <a:noFill/>
          <a:ln/>
        </p:spPr>
        <p:txBody>
          <a:bodyPr wrap="square" lIns="0" tIns="0" rIns="0" bIns="0" rtlCol="0" anchor="ctr"/>
          <a:lstStyle/>
          <a:p>
            <a:pPr indent="0" marL="0">
              <a:buNone/>
            </a:pPr>
            <a:r>
              <a:rPr lang="en-US" sz="2100" b="1" dirty="0">
                <a:solidFill>
                  <a:srgbClr val="D03B3B"/>
                </a:solidFill>
                <a:latin typeface="Calibri" pitchFamily="34" charset="0"/>
                <a:ea typeface="Calibri" pitchFamily="34" charset="-122"/>
                <a:cs typeface="Calibri" pitchFamily="34" charset="-120"/>
              </a:rPr>
              <a:t>Restricciones duras</a:t>
            </a:r>
            <a:endParaRPr lang="en-US" sz="2100" dirty="0"/>
          </a:p>
        </p:txBody>
      </p:sp>
      <p:sp>
        <p:nvSpPr>
          <p:cNvPr id="8" name="Text 5"/>
          <p:cNvSpPr txBox="1"/>
          <p:nvPr/>
        </p:nvSpPr>
        <p:spPr>
          <a:xfrm>
            <a:off x="868680"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Físicas o lógicas: no se puede montar estructura sin cimentaciones curadas.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Plazos de fabricación de equipos de largo plazo.</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Permisos, ventanas climáticas o paradas de planta obligatorias.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Interfaces con otras fases: empalmes solo durante una parada programada.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No se negocian: la ruta debe respetarlas.</a:t>
            </a:r>
            <a:endParaRPr lang="en-US" sz="1600" dirty="0"/>
          </a:p>
        </p:txBody>
      </p:sp>
      <p:sp>
        <p:nvSpPr>
          <p:cNvPr id="9" name="Shape 6"/>
          <p:cNvSpPr/>
          <p:nvPr/>
        </p:nvSpPr>
        <p:spPr>
          <a:xfrm>
            <a:off x="6278728" y="1554480"/>
            <a:ext cx="5364328" cy="4709160"/>
          </a:xfrm>
          <a:prstGeom prst="roundRect">
            <a:avLst>
              <a:gd name="adj" fmla="val 1942"/>
            </a:avLst>
          </a:prstGeom>
          <a:solidFill>
            <a:srgbClr val="F4F7FA"/>
          </a:solidFill>
          <a:ln w="9525">
            <a:solidFill>
              <a:srgbClr val="DDE4EC"/>
            </a:solidFill>
            <a:prstDash val="solid"/>
          </a:ln>
        </p:spPr>
      </p:sp>
      <p:sp>
        <p:nvSpPr>
          <p:cNvPr id="10" name="Shape 7"/>
          <p:cNvSpPr/>
          <p:nvPr/>
        </p:nvSpPr>
        <p:spPr>
          <a:xfrm>
            <a:off x="6553048" y="1810512"/>
            <a:ext cx="566928" cy="56692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80606" y="1938071"/>
            <a:ext cx="311810" cy="311810"/>
          </a:xfrm>
          <a:prstGeom prst="rect">
            <a:avLst/>
          </a:prstGeom>
        </p:spPr>
      </p:pic>
      <p:sp>
        <p:nvSpPr>
          <p:cNvPr id="12" name="Text 8"/>
          <p:cNvSpPr txBox="1"/>
          <p:nvPr/>
        </p:nvSpPr>
        <p:spPr>
          <a:xfrm>
            <a:off x="7284568" y="1810512"/>
            <a:ext cx="4084168" cy="566928"/>
          </a:xfrm>
          <a:prstGeom prst="rect">
            <a:avLst/>
          </a:prstGeom>
          <a:noFill/>
          <a:ln/>
        </p:spPr>
        <p:txBody>
          <a:bodyPr wrap="square" lIns="0" tIns="0" rIns="0" bIns="0" rtlCol="0" anchor="ctr"/>
          <a:lstStyle/>
          <a:p>
            <a:pPr indent="0" marL="0">
              <a:buNone/>
            </a:pPr>
            <a:r>
              <a:rPr lang="en-US" sz="2100" b="1" dirty="0">
                <a:solidFill>
                  <a:srgbClr val="B7760B"/>
                </a:solidFill>
                <a:latin typeface="Calibri" pitchFamily="34" charset="0"/>
                <a:ea typeface="Calibri" pitchFamily="34" charset="-122"/>
                <a:cs typeface="Calibri" pitchFamily="34" charset="-120"/>
              </a:rPr>
              <a:t>Restricciones blandas</a:t>
            </a:r>
            <a:endParaRPr lang="en-US" sz="2100" dirty="0"/>
          </a:p>
        </p:txBody>
      </p:sp>
      <p:sp>
        <p:nvSpPr>
          <p:cNvPr id="13" name="Text 9"/>
          <p:cNvSpPr txBox="1"/>
          <p:nvPr/>
        </p:nvSpPr>
        <p:spPr>
          <a:xfrm>
            <a:off x="6598768"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Preferencias de ejecución o de contratación.</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Disponibilidad de recursos que puede ampliarse (más grúas, turnos).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Estrategias que pueden cambiar (comprar antes, modularizar).</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Se evalúan con su costo y su beneficio en el taller.</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Pueden cambiarse si mejoran la secuencia.</a:t>
            </a:r>
            <a:endParaRPr lang="en-US" sz="1600" dirty="0"/>
          </a:p>
        </p:txBody>
      </p:sp>
      <p:sp>
        <p:nvSpPr>
          <p:cNvPr id="14"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15"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Recursos críticos compartidos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Condicionan la secuencia tanto como la lógica constructiva</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Grúas y equipos de izaje</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Su ubicación y disponibilidad definen qué áreas pueden trabajar a la vez.</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Accesos y vías</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La vía de acceso principal (CWA-1.03) se construye al inicio para habilitar el resto.</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Zonas de acopio</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Patio de acopio y almacenes cerca de los frentes; se liberan o reubican según la secuencia.</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Rutas de izaje</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Deben quedar libres cuando se montan equipos grandes o módulos.</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Instalaciones temporales</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Oficinas de obra, energía y agua de construcción.</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Fases superpuestas</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Riesgo R09: conflictos de grúas y accesos entre fases; se mitiga con un lookahead conjunto.</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Lecciones aprendidas y modelo 3D</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Dos insumos que mejoran cada nuevo PoC</a:t>
            </a:r>
            <a:endParaRPr lang="en-US" sz="1500" dirty="0"/>
          </a:p>
        </p:txBody>
      </p:sp>
      <p:sp>
        <p:nvSpPr>
          <p:cNvPr id="4" name="Shape 2"/>
          <p:cNvSpPr/>
          <p:nvPr/>
        </p:nvSpPr>
        <p:spPr>
          <a:xfrm>
            <a:off x="548640" y="1554480"/>
            <a:ext cx="541004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Lecciones de la fase anterior</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El acta del taller exige revisarlas (Registro_Lecciones_Aprendidas.xlsx). La categoría «Path of Construction» existe en el registro.</a:t>
            </a:r>
            <a:endParaRPr lang="en-US" sz="1700" dirty="0"/>
          </a:p>
        </p:txBody>
      </p:sp>
      <p:sp>
        <p:nvSpPr>
          <p:cNvPr id="9" name="Shape 6"/>
          <p:cNvSpPr/>
          <p:nvPr/>
        </p:nvSpPr>
        <p:spPr>
          <a:xfrm>
            <a:off x="6233008" y="1554480"/>
            <a:ext cx="541004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646160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Modelo 3D con atributos</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CWA, CWP e IWP como atributos del modelo permiten visualizar la secuencia y revisar interferencias (4D).</a:t>
            </a:r>
            <a:endParaRPr lang="en-US" sz="1700" dirty="0"/>
          </a:p>
        </p:txBody>
      </p:sp>
      <p:sp>
        <p:nvSpPr>
          <p:cNvPr id="14" name="Shape 10"/>
          <p:cNvSpPr/>
          <p:nvPr/>
        </p:nvSpPr>
        <p:spPr>
          <a:xfrm>
            <a:off x="548640" y="4046220"/>
            <a:ext cx="541004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777240" y="427482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Codificación común</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La misma codificación en modelo, cronograma, compras y documentos (lección LA-02).</a:t>
            </a:r>
            <a:endParaRPr lang="en-US" sz="1700" dirty="0"/>
          </a:p>
        </p:txBody>
      </p:sp>
      <p:sp>
        <p:nvSpPr>
          <p:cNvPr id="19" name="Shape 14"/>
          <p:cNvSpPr/>
          <p:nvPr/>
        </p:nvSpPr>
        <p:spPr>
          <a:xfrm>
            <a:off x="6233008" y="4046220"/>
            <a:ext cx="541004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6461608"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Visualizar la secuencia</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Mostrar la ruta sobre el modelo ayuda a que todos entiendan el plan en el taller.</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Elementos e insumos del PoC</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04</a:t>
            </a:r>
            <a:endParaRPr lang="en-US" sz="9600" dirty="0"/>
          </a:p>
        </p:txBody>
      </p:sp>
      <p:sp>
        <p:nvSpPr>
          <p:cNvPr id="3" name="Text 1"/>
          <p:cNvSpPr txBox="1"/>
          <p:nvPr/>
        </p:nvSpPr>
        <p:spPr>
          <a:xfrm>
            <a:off x="548640" y="2697480"/>
            <a:ext cx="5943600" cy="118872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Proceso de desarrollo en tres pasos</a:t>
            </a:r>
            <a:endParaRPr lang="en-US" sz="30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Un enfoque iterativo y colaborativo</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Paso 1: sin restricciones</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Paso 2: con restricciones</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Paso 3: PoC final</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Diagrama de carriles del proceso</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Actualizar y controlar cambios</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Desarrollar el PoC: un enfoque iterativo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Cada paso agrega restricciones e interesados, hasta llegar al plan final</a:t>
            </a:r>
            <a:endParaRPr lang="en-US" sz="1500" dirty="0"/>
          </a:p>
        </p:txBody>
      </p:sp>
      <p:sp>
        <p:nvSpPr>
          <p:cNvPr id="4" name="Shape 2"/>
          <p:cNvSpPr/>
          <p:nvPr/>
        </p:nvSpPr>
        <p:spPr>
          <a:xfrm>
            <a:off x="548640" y="1554480"/>
            <a:ext cx="3515258" cy="658368"/>
          </a:xfrm>
          <a:prstGeom prst="roundRect">
            <a:avLst>
              <a:gd name="adj" fmla="val 11111"/>
            </a:avLst>
          </a:prstGeom>
          <a:solidFill>
            <a:srgbClr val="2A78D6"/>
          </a:solidFill>
          <a:ln w="12700">
            <a:solidFill>
              <a:srgbClr val="1F4E79"/>
            </a:solidFill>
            <a:prstDash val="solid"/>
          </a:ln>
        </p:spPr>
      </p:sp>
      <p:sp>
        <p:nvSpPr>
          <p:cNvPr id="5" name="Text 3"/>
          <p:cNvSpPr txBox="1"/>
          <p:nvPr/>
        </p:nvSpPr>
        <p:spPr>
          <a:xfrm>
            <a:off x="731520" y="1554480"/>
            <a:ext cx="3149498" cy="6583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Paso 1 · Sin restricciones</a:t>
            </a:r>
            <a:endParaRPr lang="en-US" sz="1700" dirty="0"/>
          </a:p>
        </p:txBody>
      </p:sp>
      <p:sp>
        <p:nvSpPr>
          <p:cNvPr id="6" name="Shape 4"/>
          <p:cNvSpPr/>
          <p:nvPr/>
        </p:nvSpPr>
        <p:spPr>
          <a:xfrm>
            <a:off x="548640" y="2331720"/>
            <a:ext cx="3515258" cy="3931920"/>
          </a:xfrm>
          <a:prstGeom prst="roundRect">
            <a:avLst>
              <a:gd name="adj" fmla="val 2081"/>
            </a:avLst>
          </a:prstGeom>
          <a:solidFill>
            <a:srgbClr val="F4F7FA"/>
          </a:solidFill>
          <a:ln w="9525">
            <a:solidFill>
              <a:srgbClr val="DDE4EC"/>
            </a:solidFill>
            <a:prstDash val="solid"/>
          </a:ln>
        </p:spPr>
      </p:sp>
      <p:sp>
        <p:nvSpPr>
          <p:cNvPr id="7" name="Text 5"/>
          <p:cNvSpPr txBox="1"/>
          <p:nvPr/>
        </p:nvSpPr>
        <p:spPr>
          <a:xfrm>
            <a:off x="749808" y="2468880"/>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CUÁNDO</a:t>
            </a:r>
            <a:endParaRPr lang="en-US" sz="1050" dirty="0"/>
          </a:p>
          <a:p>
            <a:pPr indent="0" marL="0">
              <a:buNone/>
            </a:pPr>
            <a:r>
              <a:rPr lang="en-US" sz="1400" dirty="0">
                <a:solidFill>
                  <a:srgbClr val="1B1F24"/>
                </a:solidFill>
                <a:latin typeface="Calibri" pitchFamily="34" charset="0"/>
                <a:ea typeface="Calibri" pitchFamily="34" charset="-122"/>
                <a:cs typeface="Calibri" pitchFamily="34" charset="-120"/>
              </a:rPr>
              <a:t>FEL 2</a:t>
            </a:r>
            <a:endParaRPr lang="en-US" sz="1050" dirty="0"/>
          </a:p>
        </p:txBody>
      </p:sp>
      <p:sp>
        <p:nvSpPr>
          <p:cNvPr id="8" name="Text 6"/>
          <p:cNvSpPr txBox="1"/>
          <p:nvPr/>
        </p:nvSpPr>
        <p:spPr>
          <a:xfrm>
            <a:off x="749808" y="3410712"/>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QUIÉN</a:t>
            </a:r>
            <a:endParaRPr lang="en-US" sz="1050" dirty="0"/>
          </a:p>
          <a:p>
            <a:pPr indent="0" marL="0">
              <a:buNone/>
            </a:pPr>
            <a:r>
              <a:rPr lang="en-US" sz="1400" dirty="0">
                <a:solidFill>
                  <a:srgbClr val="1B1F24"/>
                </a:solidFill>
                <a:latin typeface="Calibri" pitchFamily="34" charset="0"/>
                <a:ea typeface="Calibri" pitchFamily="34" charset="-122"/>
                <a:cs typeface="Calibri" pitchFamily="34" charset="-120"/>
              </a:rPr>
              <a:t>Solo construcción</a:t>
            </a:r>
            <a:endParaRPr lang="en-US" sz="1050" dirty="0"/>
          </a:p>
        </p:txBody>
      </p:sp>
      <p:sp>
        <p:nvSpPr>
          <p:cNvPr id="9" name="Text 7"/>
          <p:cNvSpPr txBox="1"/>
          <p:nvPr/>
        </p:nvSpPr>
        <p:spPr>
          <a:xfrm>
            <a:off x="749808" y="4352544"/>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CÓMO</a:t>
            </a:r>
            <a:endParaRPr lang="en-US" sz="1050" dirty="0"/>
          </a:p>
          <a:p>
            <a:pPr indent="0" marL="0">
              <a:buNone/>
            </a:pPr>
            <a:r>
              <a:rPr lang="en-US" sz="1400" dirty="0">
                <a:solidFill>
                  <a:srgbClr val="1B1F24"/>
                </a:solidFill>
                <a:latin typeface="Calibri" pitchFamily="34" charset="0"/>
                <a:ea typeface="Calibri" pitchFamily="34" charset="-122"/>
                <a:cs typeface="Calibri" pitchFamily="34" charset="-120"/>
              </a:rPr>
              <a:t>Reunión de construcción: revisar el alcance y evaluar la secuencia de instalación más eficiente.</a:t>
            </a:r>
            <a:endParaRPr lang="en-US" sz="1050" dirty="0"/>
          </a:p>
        </p:txBody>
      </p:sp>
      <p:sp>
        <p:nvSpPr>
          <p:cNvPr id="10" name="Text 8"/>
          <p:cNvSpPr txBox="1"/>
          <p:nvPr/>
        </p:nvSpPr>
        <p:spPr>
          <a:xfrm>
            <a:off x="749808" y="5294376"/>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RESULTADO</a:t>
            </a:r>
            <a:endParaRPr lang="en-US" sz="1050" dirty="0"/>
          </a:p>
          <a:p>
            <a:pPr indent="0" marL="0">
              <a:buNone/>
            </a:pPr>
            <a:r>
              <a:rPr lang="en-US" sz="1400" b="1" dirty="0">
                <a:solidFill>
                  <a:srgbClr val="1B1F24"/>
                </a:solidFill>
                <a:latin typeface="Calibri" pitchFamily="34" charset="0"/>
                <a:ea typeface="Calibri" pitchFamily="34" charset="-122"/>
                <a:cs typeface="Calibri" pitchFamily="34" charset="-120"/>
              </a:rPr>
              <a:t>Borrador: plan puramente constructivo</a:t>
            </a:r>
            <a:endParaRPr lang="en-US" sz="1050" dirty="0"/>
          </a:p>
        </p:txBody>
      </p:sp>
      <p:pic>
        <p:nvPicPr>
          <p:cNvPr id="11" name="Image 0" descr="preencoded.png">    </p:cNvPr>
          <p:cNvPicPr>
            <a:picLocks noChangeAspect="1"/>
          </p:cNvPicPr>
          <p:nvPr/>
        </p:nvPicPr>
        <p:blipFill>
          <a:blip r:embed="rId1"/>
          <a:stretch>
            <a:fillRect/>
          </a:stretch>
        </p:blipFill>
        <p:spPr>
          <a:xfrm>
            <a:off x="4045610" y="1728216"/>
            <a:ext cx="310896" cy="310896"/>
          </a:xfrm>
          <a:prstGeom prst="rect">
            <a:avLst/>
          </a:prstGeom>
        </p:spPr>
      </p:pic>
      <p:sp>
        <p:nvSpPr>
          <p:cNvPr id="12" name="Shape 9"/>
          <p:cNvSpPr/>
          <p:nvPr/>
        </p:nvSpPr>
        <p:spPr>
          <a:xfrm>
            <a:off x="4338218" y="1554480"/>
            <a:ext cx="3515258" cy="658368"/>
          </a:xfrm>
          <a:prstGeom prst="roundRect">
            <a:avLst>
              <a:gd name="adj" fmla="val 11111"/>
            </a:avLst>
          </a:prstGeom>
          <a:solidFill>
            <a:srgbClr val="1F4E79"/>
          </a:solidFill>
          <a:ln w="12700">
            <a:solidFill>
              <a:srgbClr val="1F4E79"/>
            </a:solidFill>
            <a:prstDash val="solid"/>
          </a:ln>
        </p:spPr>
      </p:sp>
      <p:sp>
        <p:nvSpPr>
          <p:cNvPr id="13" name="Text 10"/>
          <p:cNvSpPr txBox="1"/>
          <p:nvPr/>
        </p:nvSpPr>
        <p:spPr>
          <a:xfrm>
            <a:off x="4521098" y="1554480"/>
            <a:ext cx="3149498" cy="6583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Paso 2 · Con restricciones</a:t>
            </a:r>
            <a:endParaRPr lang="en-US" sz="1700" dirty="0"/>
          </a:p>
        </p:txBody>
      </p:sp>
      <p:sp>
        <p:nvSpPr>
          <p:cNvPr id="14" name="Shape 11"/>
          <p:cNvSpPr/>
          <p:nvPr/>
        </p:nvSpPr>
        <p:spPr>
          <a:xfrm>
            <a:off x="4338218" y="2331720"/>
            <a:ext cx="3515258" cy="3931920"/>
          </a:xfrm>
          <a:prstGeom prst="roundRect">
            <a:avLst>
              <a:gd name="adj" fmla="val 2081"/>
            </a:avLst>
          </a:prstGeom>
          <a:solidFill>
            <a:srgbClr val="F4F7FA"/>
          </a:solidFill>
          <a:ln w="9525">
            <a:solidFill>
              <a:srgbClr val="DDE4EC"/>
            </a:solidFill>
            <a:prstDash val="solid"/>
          </a:ln>
        </p:spPr>
      </p:sp>
      <p:sp>
        <p:nvSpPr>
          <p:cNvPr id="15" name="Text 12"/>
          <p:cNvSpPr txBox="1"/>
          <p:nvPr/>
        </p:nvSpPr>
        <p:spPr>
          <a:xfrm>
            <a:off x="4539386" y="2468880"/>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CUÁNDO</a:t>
            </a:r>
            <a:endParaRPr lang="en-US" sz="1050" dirty="0"/>
          </a:p>
          <a:p>
            <a:pPr indent="0" marL="0">
              <a:buNone/>
            </a:pPr>
            <a:r>
              <a:rPr lang="en-US" sz="1400" dirty="0">
                <a:solidFill>
                  <a:srgbClr val="1B1F24"/>
                </a:solidFill>
                <a:latin typeface="Calibri" pitchFamily="34" charset="0"/>
                <a:ea typeface="Calibri" pitchFamily="34" charset="-122"/>
                <a:cs typeface="Calibri" pitchFamily="34" charset="-120"/>
              </a:rPr>
              <a:t>FEL 2 → inicio FEL 3</a:t>
            </a:r>
            <a:endParaRPr lang="en-US" sz="1050" dirty="0"/>
          </a:p>
        </p:txBody>
      </p:sp>
      <p:sp>
        <p:nvSpPr>
          <p:cNvPr id="16" name="Text 13"/>
          <p:cNvSpPr txBox="1"/>
          <p:nvPr/>
        </p:nvSpPr>
        <p:spPr>
          <a:xfrm>
            <a:off x="4539386" y="3410712"/>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QUIÉN</a:t>
            </a:r>
            <a:endParaRPr lang="en-US" sz="1050" dirty="0"/>
          </a:p>
          <a:p>
            <a:pPr indent="0" marL="0">
              <a:buNone/>
            </a:pPr>
            <a:r>
              <a:rPr lang="en-US" sz="1400" dirty="0">
                <a:solidFill>
                  <a:srgbClr val="1B1F24"/>
                </a:solidFill>
                <a:latin typeface="Calibri" pitchFamily="34" charset="0"/>
                <a:ea typeface="Calibri" pitchFamily="34" charset="-122"/>
                <a:cs typeface="Calibri" pitchFamily="34" charset="-120"/>
              </a:rPr>
              <a:t>Construcción + ingeniería + compras</a:t>
            </a:r>
            <a:endParaRPr lang="en-US" sz="1050" dirty="0"/>
          </a:p>
        </p:txBody>
      </p:sp>
      <p:sp>
        <p:nvSpPr>
          <p:cNvPr id="17" name="Text 14"/>
          <p:cNvSpPr txBox="1"/>
          <p:nvPr/>
        </p:nvSpPr>
        <p:spPr>
          <a:xfrm>
            <a:off x="4539386" y="4352544"/>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CÓMO</a:t>
            </a:r>
            <a:endParaRPr lang="en-US" sz="1050" dirty="0"/>
          </a:p>
          <a:p>
            <a:pPr indent="0" marL="0">
              <a:buNone/>
            </a:pPr>
            <a:r>
              <a:rPr lang="en-US" sz="1400" dirty="0">
                <a:solidFill>
                  <a:srgbClr val="1B1F24"/>
                </a:solidFill>
                <a:latin typeface="Calibri" pitchFamily="34" charset="0"/>
                <a:ea typeface="Calibri" pitchFamily="34" charset="-122"/>
                <a:cs typeface="Calibri" pitchFamily="34" charset="-120"/>
              </a:rPr>
              <a:t>Taller IPPM: cada interesado presenta sus plazos y restricciones (blandas y duras).</a:t>
            </a:r>
            <a:endParaRPr lang="en-US" sz="1050" dirty="0"/>
          </a:p>
        </p:txBody>
      </p:sp>
      <p:sp>
        <p:nvSpPr>
          <p:cNvPr id="18" name="Text 15"/>
          <p:cNvSpPr txBox="1"/>
          <p:nvPr/>
        </p:nvSpPr>
        <p:spPr>
          <a:xfrm>
            <a:off x="4539386" y="5294376"/>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RESULTADO</a:t>
            </a:r>
            <a:endParaRPr lang="en-US" sz="1050" dirty="0"/>
          </a:p>
          <a:p>
            <a:pPr indent="0" marL="0">
              <a:buNone/>
            </a:pPr>
            <a:r>
              <a:rPr lang="en-US" sz="1400" b="1" dirty="0">
                <a:solidFill>
                  <a:srgbClr val="1B1F24"/>
                </a:solidFill>
                <a:latin typeface="Calibri" pitchFamily="34" charset="0"/>
                <a:ea typeface="Calibri" pitchFamily="34" charset="-122"/>
                <a:cs typeface="Calibri" pitchFamily="34" charset="-120"/>
              </a:rPr>
              <a:t>PoC ajustado; nivel 2</a:t>
            </a:r>
            <a:endParaRPr lang="en-US" sz="1050" dirty="0"/>
          </a:p>
        </p:txBody>
      </p:sp>
      <p:pic>
        <p:nvPicPr>
          <p:cNvPr id="19" name="Image 1" descr="preencoded.png">    </p:cNvPr>
          <p:cNvPicPr>
            <a:picLocks noChangeAspect="1"/>
          </p:cNvPicPr>
          <p:nvPr/>
        </p:nvPicPr>
        <p:blipFill>
          <a:blip r:embed="rId2"/>
          <a:stretch>
            <a:fillRect/>
          </a:stretch>
        </p:blipFill>
        <p:spPr>
          <a:xfrm>
            <a:off x="7835189" y="1728216"/>
            <a:ext cx="310896" cy="310896"/>
          </a:xfrm>
          <a:prstGeom prst="rect">
            <a:avLst/>
          </a:prstGeom>
        </p:spPr>
      </p:pic>
      <p:sp>
        <p:nvSpPr>
          <p:cNvPr id="20" name="Shape 16"/>
          <p:cNvSpPr/>
          <p:nvPr/>
        </p:nvSpPr>
        <p:spPr>
          <a:xfrm>
            <a:off x="8127797" y="1554480"/>
            <a:ext cx="3515258" cy="658368"/>
          </a:xfrm>
          <a:prstGeom prst="roundRect">
            <a:avLst>
              <a:gd name="adj" fmla="val 11111"/>
            </a:avLst>
          </a:prstGeom>
          <a:solidFill>
            <a:srgbClr val="0F2A43"/>
          </a:solidFill>
          <a:ln w="12700">
            <a:solidFill>
              <a:srgbClr val="1F4E79"/>
            </a:solidFill>
            <a:prstDash val="solid"/>
          </a:ln>
        </p:spPr>
      </p:sp>
      <p:sp>
        <p:nvSpPr>
          <p:cNvPr id="21" name="Text 17"/>
          <p:cNvSpPr txBox="1"/>
          <p:nvPr/>
        </p:nvSpPr>
        <p:spPr>
          <a:xfrm>
            <a:off x="8310677" y="1554480"/>
            <a:ext cx="3149498" cy="6583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Paso 3 · PoC final</a:t>
            </a:r>
            <a:endParaRPr lang="en-US" sz="1700" dirty="0"/>
          </a:p>
        </p:txBody>
      </p:sp>
      <p:sp>
        <p:nvSpPr>
          <p:cNvPr id="22" name="Shape 18"/>
          <p:cNvSpPr/>
          <p:nvPr/>
        </p:nvSpPr>
        <p:spPr>
          <a:xfrm>
            <a:off x="8127797" y="2331720"/>
            <a:ext cx="3515258" cy="3931920"/>
          </a:xfrm>
          <a:prstGeom prst="roundRect">
            <a:avLst>
              <a:gd name="adj" fmla="val 2081"/>
            </a:avLst>
          </a:prstGeom>
          <a:solidFill>
            <a:srgbClr val="F4F7FA"/>
          </a:solidFill>
          <a:ln w="9525">
            <a:solidFill>
              <a:srgbClr val="DDE4EC"/>
            </a:solidFill>
            <a:prstDash val="solid"/>
          </a:ln>
        </p:spPr>
      </p:sp>
      <p:sp>
        <p:nvSpPr>
          <p:cNvPr id="23" name="Text 19"/>
          <p:cNvSpPr txBox="1"/>
          <p:nvPr/>
        </p:nvSpPr>
        <p:spPr>
          <a:xfrm>
            <a:off x="8328965" y="2468880"/>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CUÁNDO</a:t>
            </a:r>
            <a:endParaRPr lang="en-US" sz="1050" dirty="0"/>
          </a:p>
          <a:p>
            <a:pPr indent="0" marL="0">
              <a:buNone/>
            </a:pPr>
            <a:r>
              <a:rPr lang="en-US" sz="1400" dirty="0">
                <a:solidFill>
                  <a:srgbClr val="1B1F24"/>
                </a:solidFill>
                <a:latin typeface="Calibri" pitchFamily="34" charset="0"/>
                <a:ea typeface="Calibri" pitchFamily="34" charset="-122"/>
                <a:cs typeface="Calibri" pitchFamily="34" charset="-120"/>
              </a:rPr>
              <a:t>Fin de FEL 3</a:t>
            </a:r>
            <a:endParaRPr lang="en-US" sz="1050" dirty="0"/>
          </a:p>
        </p:txBody>
      </p:sp>
      <p:sp>
        <p:nvSpPr>
          <p:cNvPr id="24" name="Text 20"/>
          <p:cNvSpPr txBox="1"/>
          <p:nvPr/>
        </p:nvSpPr>
        <p:spPr>
          <a:xfrm>
            <a:off x="8328965" y="3410712"/>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QUIÉN</a:t>
            </a:r>
            <a:endParaRPr lang="en-US" sz="1050" dirty="0"/>
          </a:p>
          <a:p>
            <a:pPr indent="0" marL="0">
              <a:buNone/>
            </a:pPr>
            <a:r>
              <a:rPr lang="en-US" sz="1400" dirty="0">
                <a:solidFill>
                  <a:srgbClr val="1B1F24"/>
                </a:solidFill>
                <a:latin typeface="Calibri" pitchFamily="34" charset="0"/>
                <a:ea typeface="Calibri" pitchFamily="34" charset="-122"/>
                <a:cs typeface="Calibri" pitchFamily="34" charset="-120"/>
              </a:rPr>
              <a:t>Todos los interesados clave</a:t>
            </a:r>
            <a:endParaRPr lang="en-US" sz="1050" dirty="0"/>
          </a:p>
        </p:txBody>
      </p:sp>
      <p:sp>
        <p:nvSpPr>
          <p:cNvPr id="25" name="Text 21"/>
          <p:cNvSpPr txBox="1"/>
          <p:nvPr/>
        </p:nvSpPr>
        <p:spPr>
          <a:xfrm>
            <a:off x="8328965" y="4352544"/>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CÓMO</a:t>
            </a:r>
            <a:endParaRPr lang="en-US" sz="1050" dirty="0"/>
          </a:p>
          <a:p>
            <a:pPr indent="0" marL="0">
              <a:buNone/>
            </a:pPr>
            <a:r>
              <a:rPr lang="en-US" sz="1400" dirty="0">
                <a:solidFill>
                  <a:srgbClr val="1B1F24"/>
                </a:solidFill>
                <a:latin typeface="Calibri" pitchFamily="34" charset="0"/>
                <a:ea typeface="Calibri" pitchFamily="34" charset="-122"/>
                <a:cs typeface="Calibri" pitchFamily="34" charset="-120"/>
              </a:rPr>
              <a:t>Plan afinado revisando las restricciones actualizadas y los datos técnicos de FEL 3.</a:t>
            </a:r>
            <a:endParaRPr lang="en-US" sz="1050" dirty="0"/>
          </a:p>
        </p:txBody>
      </p:sp>
      <p:sp>
        <p:nvSpPr>
          <p:cNvPr id="26" name="Text 22"/>
          <p:cNvSpPr txBox="1"/>
          <p:nvPr/>
        </p:nvSpPr>
        <p:spPr>
          <a:xfrm>
            <a:off x="8328965" y="5294376"/>
            <a:ext cx="3112922" cy="896112"/>
          </a:xfrm>
          <a:prstGeom prst="rect">
            <a:avLst/>
          </a:prstGeom>
          <a:noFill/>
          <a:ln/>
        </p:spPr>
        <p:txBody>
          <a:bodyPr wrap="square" lIns="0" tIns="0" rIns="0" bIns="0" rtlCol="0" anchor="t"/>
          <a:lstStyle/>
          <a:p>
            <a:pPr indent="0" marL="0">
              <a:buNone/>
            </a:pPr>
            <a:r>
              <a:rPr lang="en-US" sz="1050" b="1" spc="100" kern="0" dirty="0">
                <a:solidFill>
                  <a:srgbClr val="56606B"/>
                </a:solidFill>
                <a:latin typeface="Calibri" pitchFamily="34" charset="0"/>
                <a:ea typeface="Calibri" pitchFamily="34" charset="-122"/>
                <a:cs typeface="Calibri" pitchFamily="34" charset="-120"/>
              </a:rPr>
              <a:t>RESULTADO</a:t>
            </a:r>
            <a:endParaRPr lang="en-US" sz="1050" dirty="0"/>
          </a:p>
          <a:p>
            <a:pPr indent="0" marL="0">
              <a:buNone/>
            </a:pPr>
            <a:r>
              <a:rPr lang="en-US" sz="1400" b="1" dirty="0">
                <a:solidFill>
                  <a:srgbClr val="1B1F24"/>
                </a:solidFill>
                <a:latin typeface="Calibri" pitchFamily="34" charset="0"/>
                <a:ea typeface="Calibri" pitchFamily="34" charset="-122"/>
                <a:cs typeface="Calibri" pitchFamily="34" charset="-120"/>
              </a:rPr>
              <a:t>PoC congelado; nivel 3; compuerta 3</a:t>
            </a:r>
            <a:endParaRPr lang="en-US" sz="1050" dirty="0"/>
          </a:p>
        </p:txBody>
      </p:sp>
      <p:sp>
        <p:nvSpPr>
          <p:cNvPr id="27" name="Text 23"/>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250" i="1" dirty="0">
                <a:solidFill>
                  <a:srgbClr val="56606B"/>
                </a:solidFill>
                <a:latin typeface="Calibri" pitchFamily="34" charset="0"/>
                <a:ea typeface="Calibri" pitchFamily="34" charset="-122"/>
                <a:cs typeface="Calibri" pitchFamily="34" charset="-120"/>
              </a:rPr>
              <a:t>↻  Iterativo: cada paso revisa el anterior con más información y más interesados.</a:t>
            </a:r>
            <a:endParaRPr lang="en-US" sz="1250" dirty="0"/>
          </a:p>
        </p:txBody>
      </p:sp>
      <p:sp>
        <p:nvSpPr>
          <p:cNvPr id="28" name="Text 24"/>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29" name="Text 25"/>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Paso 1 · PoC sin restricciones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«Un plan puramente constructivo»</a:t>
            </a:r>
            <a:endParaRPr lang="en-US" sz="1500" dirty="0"/>
          </a:p>
        </p:txBody>
      </p:sp>
      <p:sp>
        <p:nvSpPr>
          <p:cNvPr id="4" name="Shape 2"/>
          <p:cNvSpPr/>
          <p:nvPr/>
        </p:nvSpPr>
        <p:spPr>
          <a:xfrm>
            <a:off x="548640" y="1572768"/>
            <a:ext cx="822960" cy="82296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733806" y="1757934"/>
            <a:ext cx="452628" cy="452628"/>
          </a:xfrm>
          <a:prstGeom prst="rect">
            <a:avLst/>
          </a:prstGeom>
        </p:spPr>
      </p:pic>
      <p:sp>
        <p:nvSpPr>
          <p:cNvPr id="6" name="Shape 3"/>
          <p:cNvSpPr/>
          <p:nvPr/>
        </p:nvSpPr>
        <p:spPr>
          <a:xfrm>
            <a:off x="1645920" y="1554480"/>
            <a:ext cx="4861408" cy="1447800"/>
          </a:xfrm>
          <a:prstGeom prst="roundRect">
            <a:avLst>
              <a:gd name="adj" fmla="val 5053"/>
            </a:avLst>
          </a:prstGeom>
          <a:solidFill>
            <a:srgbClr val="F4F7FA"/>
          </a:solidFill>
          <a:ln w="9525">
            <a:solidFill>
              <a:srgbClr val="DDE4EC"/>
            </a:solidFill>
            <a:prstDash val="solid"/>
          </a:ln>
        </p:spPr>
      </p:sp>
      <p:sp>
        <p:nvSpPr>
          <p:cNvPr id="7" name="Text 4"/>
          <p:cNvSpPr txBox="1"/>
          <p:nvPr/>
        </p:nvSpPr>
        <p:spPr>
          <a:xfrm>
            <a:off x="1847088"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Objetivo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Definir un borrador de la ruta de construcción sin tener en cuenta las restricciones del proyecto: ¿cómo lo construiríamos si nada nos limitara?</a:t>
            </a:r>
            <a:endParaRPr lang="en-US" sz="1500" dirty="0"/>
          </a:p>
        </p:txBody>
      </p:sp>
      <p:sp>
        <p:nvSpPr>
          <p:cNvPr id="8" name="Shape 5"/>
          <p:cNvSpPr/>
          <p:nvPr/>
        </p:nvSpPr>
        <p:spPr>
          <a:xfrm>
            <a:off x="6781648" y="1554480"/>
            <a:ext cx="4861408" cy="1447800"/>
          </a:xfrm>
          <a:prstGeom prst="roundRect">
            <a:avLst>
              <a:gd name="adj" fmla="val 5053"/>
            </a:avLst>
          </a:prstGeom>
          <a:solidFill>
            <a:srgbClr val="F4F7FA"/>
          </a:solidFill>
          <a:ln w="9525">
            <a:solidFill>
              <a:srgbClr val="DDE4EC"/>
            </a:solidFill>
            <a:prstDash val="solid"/>
          </a:ln>
        </p:spPr>
      </p:sp>
      <p:sp>
        <p:nvSpPr>
          <p:cNvPr id="9" name="Text 6"/>
          <p:cNvSpPr txBox="1"/>
          <p:nvPr/>
        </p:nvSpPr>
        <p:spPr>
          <a:xfrm>
            <a:off x="6982816"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Cuándo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FEL 2 / seleccionar, apenas se tienen el plano de ubicación general y las CWA preliminares.</a:t>
            </a:r>
            <a:endParaRPr lang="en-US" sz="1500" dirty="0"/>
          </a:p>
        </p:txBody>
      </p:sp>
      <p:sp>
        <p:nvSpPr>
          <p:cNvPr id="10" name="Shape 7"/>
          <p:cNvSpPr/>
          <p:nvPr/>
        </p:nvSpPr>
        <p:spPr>
          <a:xfrm>
            <a:off x="1645920" y="3185160"/>
            <a:ext cx="4861408" cy="1447800"/>
          </a:xfrm>
          <a:prstGeom prst="roundRect">
            <a:avLst>
              <a:gd name="adj" fmla="val 5053"/>
            </a:avLst>
          </a:prstGeom>
          <a:solidFill>
            <a:srgbClr val="F4F7FA"/>
          </a:solidFill>
          <a:ln w="9525">
            <a:solidFill>
              <a:srgbClr val="DDE4EC"/>
            </a:solidFill>
            <a:prstDash val="solid"/>
          </a:ln>
        </p:spPr>
      </p:sp>
      <p:sp>
        <p:nvSpPr>
          <p:cNvPr id="11" name="Text 8"/>
          <p:cNvSpPr txBox="1"/>
          <p:nvPr/>
        </p:nvSpPr>
        <p:spPr>
          <a:xfrm>
            <a:off x="1847088"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Participantes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Equipo de gestión de la construcción del propietario, contratista de gestión de la construcción (CM) y contratista de ingeniería y compras. En el kit: CON lidera, CHA facilita, SUP y LWF aportan experiencia de campo.</a:t>
            </a:r>
            <a:endParaRPr lang="en-US" sz="1500" dirty="0"/>
          </a:p>
        </p:txBody>
      </p:sp>
      <p:sp>
        <p:nvSpPr>
          <p:cNvPr id="12" name="Shape 9"/>
          <p:cNvSpPr/>
          <p:nvPr/>
        </p:nvSpPr>
        <p:spPr>
          <a:xfrm>
            <a:off x="6781648" y="3185160"/>
            <a:ext cx="4861408" cy="1447800"/>
          </a:xfrm>
          <a:prstGeom prst="roundRect">
            <a:avLst>
              <a:gd name="adj" fmla="val 5053"/>
            </a:avLst>
          </a:prstGeom>
          <a:solidFill>
            <a:srgbClr val="F4F7FA"/>
          </a:solidFill>
          <a:ln w="9525">
            <a:solidFill>
              <a:srgbClr val="DDE4EC"/>
            </a:solidFill>
            <a:prstDash val="solid"/>
          </a:ln>
        </p:spPr>
      </p:sp>
      <p:sp>
        <p:nvSpPr>
          <p:cNvPr id="13" name="Text 10"/>
          <p:cNvSpPr txBox="1"/>
          <p:nvPr/>
        </p:nvSpPr>
        <p:spPr>
          <a:xfrm>
            <a:off x="6982816"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Insumos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Plano de ubicación general, CWA, cronograma de nivel 1 y presupuesto FEL 1.</a:t>
            </a:r>
            <a:endParaRPr lang="en-US" sz="1500" dirty="0"/>
          </a:p>
        </p:txBody>
      </p:sp>
      <p:sp>
        <p:nvSpPr>
          <p:cNvPr id="14" name="Shape 11"/>
          <p:cNvSpPr/>
          <p:nvPr/>
        </p:nvSpPr>
        <p:spPr>
          <a:xfrm>
            <a:off x="1645920" y="4815840"/>
            <a:ext cx="4861408" cy="1447800"/>
          </a:xfrm>
          <a:prstGeom prst="roundRect">
            <a:avLst>
              <a:gd name="adj" fmla="val 5053"/>
            </a:avLst>
          </a:prstGeom>
          <a:solidFill>
            <a:srgbClr val="F4F7FA"/>
          </a:solidFill>
          <a:ln w="9525">
            <a:solidFill>
              <a:srgbClr val="DDE4EC"/>
            </a:solidFill>
            <a:prstDash val="solid"/>
          </a:ln>
        </p:spPr>
      </p:sp>
      <p:sp>
        <p:nvSpPr>
          <p:cNvPr id="15" name="Text 12"/>
          <p:cNvSpPr txBox="1"/>
          <p:nvPr/>
        </p:nvSpPr>
        <p:spPr>
          <a:xfrm>
            <a:off x="1847088"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Cómo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Reunión de construcción: recorrer el plano, proponer el orden de las áreas, identificar predecesores lógicos y sistemas a entregar primero.</a:t>
            </a:r>
            <a:endParaRPr lang="en-US" sz="1500" dirty="0"/>
          </a:p>
        </p:txBody>
      </p:sp>
      <p:sp>
        <p:nvSpPr>
          <p:cNvPr id="16" name="Shape 13"/>
          <p:cNvSpPr/>
          <p:nvPr/>
        </p:nvSpPr>
        <p:spPr>
          <a:xfrm>
            <a:off x="6781648" y="4815840"/>
            <a:ext cx="4861408" cy="1447800"/>
          </a:xfrm>
          <a:prstGeom prst="roundRect">
            <a:avLst>
              <a:gd name="adj" fmla="val 5053"/>
            </a:avLst>
          </a:prstGeom>
          <a:solidFill>
            <a:srgbClr val="F4F7FA"/>
          </a:solidFill>
          <a:ln w="9525">
            <a:solidFill>
              <a:srgbClr val="DDE4EC"/>
            </a:solidFill>
            <a:prstDash val="solid"/>
          </a:ln>
        </p:spPr>
      </p:sp>
      <p:sp>
        <p:nvSpPr>
          <p:cNvPr id="17" name="Text 14"/>
          <p:cNvSpPr txBox="1"/>
          <p:nvPr/>
        </p:nvSpPr>
        <p:spPr>
          <a:xfrm>
            <a:off x="6982816"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Resultado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Borrador del PoC con la secuencia de CWA y una primera lista de CWP.</a:t>
            </a:r>
            <a:endParaRPr lang="en-US" sz="1500" dirty="0"/>
          </a:p>
        </p:txBody>
      </p:sp>
      <p:sp>
        <p:nvSpPr>
          <p:cNvPr id="18"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19"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Paso 2 · PoC con restricciones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La lógica constructiva se enfrenta a la realidad del proyecto</a:t>
            </a:r>
            <a:endParaRPr lang="en-US" sz="1500" dirty="0"/>
          </a:p>
        </p:txBody>
      </p:sp>
      <p:sp>
        <p:nvSpPr>
          <p:cNvPr id="4" name="Shape 2"/>
          <p:cNvSpPr/>
          <p:nvPr/>
        </p:nvSpPr>
        <p:spPr>
          <a:xfrm>
            <a:off x="548640" y="1572768"/>
            <a:ext cx="822960" cy="82296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733806" y="1757934"/>
            <a:ext cx="452628" cy="452628"/>
          </a:xfrm>
          <a:prstGeom prst="rect">
            <a:avLst/>
          </a:prstGeom>
        </p:spPr>
      </p:pic>
      <p:sp>
        <p:nvSpPr>
          <p:cNvPr id="6" name="Shape 3"/>
          <p:cNvSpPr/>
          <p:nvPr/>
        </p:nvSpPr>
        <p:spPr>
          <a:xfrm>
            <a:off x="1645920" y="1554480"/>
            <a:ext cx="4861408" cy="1447800"/>
          </a:xfrm>
          <a:prstGeom prst="roundRect">
            <a:avLst>
              <a:gd name="adj" fmla="val 5053"/>
            </a:avLst>
          </a:prstGeom>
          <a:solidFill>
            <a:srgbClr val="F4F7FA"/>
          </a:solidFill>
          <a:ln w="9525">
            <a:solidFill>
              <a:srgbClr val="DDE4EC"/>
            </a:solidFill>
            <a:prstDash val="solid"/>
          </a:ln>
        </p:spPr>
      </p:sp>
      <p:sp>
        <p:nvSpPr>
          <p:cNvPr id="7" name="Text 4"/>
          <p:cNvSpPr txBox="1"/>
          <p:nvPr/>
        </p:nvSpPr>
        <p:spPr>
          <a:xfrm>
            <a:off x="1847088"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Objetivo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Afinar la ruta teniendo en cuenta las restricciones del proyecto: plazos de ingeniería, fabricación, contratación y recursos.</a:t>
            </a:r>
            <a:endParaRPr lang="en-US" sz="1500" dirty="0"/>
          </a:p>
        </p:txBody>
      </p:sp>
      <p:sp>
        <p:nvSpPr>
          <p:cNvPr id="8" name="Shape 5"/>
          <p:cNvSpPr/>
          <p:nvPr/>
        </p:nvSpPr>
        <p:spPr>
          <a:xfrm>
            <a:off x="6781648" y="1554480"/>
            <a:ext cx="4861408" cy="1447800"/>
          </a:xfrm>
          <a:prstGeom prst="roundRect">
            <a:avLst>
              <a:gd name="adj" fmla="val 5053"/>
            </a:avLst>
          </a:prstGeom>
          <a:solidFill>
            <a:srgbClr val="F4F7FA"/>
          </a:solidFill>
          <a:ln w="9525">
            <a:solidFill>
              <a:srgbClr val="DDE4EC"/>
            </a:solidFill>
            <a:prstDash val="solid"/>
          </a:ln>
        </p:spPr>
      </p:sp>
      <p:sp>
        <p:nvSpPr>
          <p:cNvPr id="9" name="Text 6"/>
          <p:cNvSpPr txBox="1"/>
          <p:nvPr/>
        </p:nvSpPr>
        <p:spPr>
          <a:xfrm>
            <a:off x="6982816"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Cuándo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Final de FEL 2 e inicio de FEL 3 (actualización).</a:t>
            </a:r>
            <a:endParaRPr lang="en-US" sz="1500" dirty="0"/>
          </a:p>
        </p:txBody>
      </p:sp>
      <p:sp>
        <p:nvSpPr>
          <p:cNvPr id="10" name="Shape 7"/>
          <p:cNvSpPr/>
          <p:nvPr/>
        </p:nvSpPr>
        <p:spPr>
          <a:xfrm>
            <a:off x="1645920" y="3185160"/>
            <a:ext cx="4861408" cy="1447800"/>
          </a:xfrm>
          <a:prstGeom prst="roundRect">
            <a:avLst>
              <a:gd name="adj" fmla="val 5053"/>
            </a:avLst>
          </a:prstGeom>
          <a:solidFill>
            <a:srgbClr val="F4F7FA"/>
          </a:solidFill>
          <a:ln w="9525">
            <a:solidFill>
              <a:srgbClr val="DDE4EC"/>
            </a:solidFill>
            <a:prstDash val="solid"/>
          </a:ln>
        </p:spPr>
      </p:sp>
      <p:sp>
        <p:nvSpPr>
          <p:cNvPr id="11" name="Text 8"/>
          <p:cNvSpPr txBox="1"/>
          <p:nvPr/>
        </p:nvSpPr>
        <p:spPr>
          <a:xfrm>
            <a:off x="1847088"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Participantes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Equipo de gestión de la construcción del propietario, equipo de ingeniería y equipo de gestión de la construcción. En el kit: CON, CHA, ING, PRO, COM, CTR, HSE, LWF.</a:t>
            </a:r>
            <a:endParaRPr lang="en-US" sz="1500" dirty="0"/>
          </a:p>
        </p:txBody>
      </p:sp>
      <p:sp>
        <p:nvSpPr>
          <p:cNvPr id="12" name="Shape 9"/>
          <p:cNvSpPr/>
          <p:nvPr/>
        </p:nvSpPr>
        <p:spPr>
          <a:xfrm>
            <a:off x="6781648" y="3185160"/>
            <a:ext cx="4861408" cy="1447800"/>
          </a:xfrm>
          <a:prstGeom prst="roundRect">
            <a:avLst>
              <a:gd name="adj" fmla="val 5053"/>
            </a:avLst>
          </a:prstGeom>
          <a:solidFill>
            <a:srgbClr val="F4F7FA"/>
          </a:solidFill>
          <a:ln w="9525">
            <a:solidFill>
              <a:srgbClr val="DDE4EC"/>
            </a:solidFill>
            <a:prstDash val="solid"/>
          </a:ln>
        </p:spPr>
      </p:sp>
      <p:sp>
        <p:nvSpPr>
          <p:cNvPr id="13" name="Text 10"/>
          <p:cNvSpPr txBox="1"/>
          <p:nvPr/>
        </p:nvSpPr>
        <p:spPr>
          <a:xfrm>
            <a:off x="6982816"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Insumos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Estrategias preliminares de compras, de módulos y de contratación; requerimientos preliminares de recursos.</a:t>
            </a:r>
            <a:endParaRPr lang="en-US" sz="1500" dirty="0"/>
          </a:p>
        </p:txBody>
      </p:sp>
      <p:sp>
        <p:nvSpPr>
          <p:cNvPr id="14" name="Shape 11"/>
          <p:cNvSpPr/>
          <p:nvPr/>
        </p:nvSpPr>
        <p:spPr>
          <a:xfrm>
            <a:off x="1645920" y="4815840"/>
            <a:ext cx="4861408" cy="1447800"/>
          </a:xfrm>
          <a:prstGeom prst="roundRect">
            <a:avLst>
              <a:gd name="adj" fmla="val 5053"/>
            </a:avLst>
          </a:prstGeom>
          <a:solidFill>
            <a:srgbClr val="F4F7FA"/>
          </a:solidFill>
          <a:ln w="9525">
            <a:solidFill>
              <a:srgbClr val="DDE4EC"/>
            </a:solidFill>
            <a:prstDash val="solid"/>
          </a:ln>
        </p:spPr>
      </p:sp>
      <p:sp>
        <p:nvSpPr>
          <p:cNvPr id="15" name="Text 12"/>
          <p:cNvSpPr txBox="1"/>
          <p:nvPr/>
        </p:nvSpPr>
        <p:spPr>
          <a:xfrm>
            <a:off x="1847088"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Cómo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Taller IPPM: cada interesado presenta sus plazos y restricciones; se ajusta la secuencia y se registran supuestos y riesgos.</a:t>
            </a:r>
            <a:endParaRPr lang="en-US" sz="1500" dirty="0"/>
          </a:p>
        </p:txBody>
      </p:sp>
      <p:sp>
        <p:nvSpPr>
          <p:cNvPr id="16" name="Shape 13"/>
          <p:cNvSpPr/>
          <p:nvPr/>
        </p:nvSpPr>
        <p:spPr>
          <a:xfrm>
            <a:off x="6781648" y="4815840"/>
            <a:ext cx="4861408" cy="1447800"/>
          </a:xfrm>
          <a:prstGeom prst="roundRect">
            <a:avLst>
              <a:gd name="adj" fmla="val 5053"/>
            </a:avLst>
          </a:prstGeom>
          <a:solidFill>
            <a:srgbClr val="F4F7FA"/>
          </a:solidFill>
          <a:ln w="9525">
            <a:solidFill>
              <a:srgbClr val="DDE4EC"/>
            </a:solidFill>
            <a:prstDash val="solid"/>
          </a:ln>
        </p:spPr>
      </p:sp>
      <p:sp>
        <p:nvSpPr>
          <p:cNvPr id="17" name="Text 14"/>
          <p:cNvSpPr txBox="1"/>
          <p:nvPr/>
        </p:nvSpPr>
        <p:spPr>
          <a:xfrm>
            <a:off x="6982816"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Resultado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PoC ajustado; cronograma y presupuesto de nivel 2.</a:t>
            </a:r>
            <a:endParaRPr lang="en-US" sz="1500" dirty="0"/>
          </a:p>
        </p:txBody>
      </p:sp>
      <p:sp>
        <p:nvSpPr>
          <p:cNvPr id="18"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19"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Paso 3 · PoC final</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Entregable de la compuerta 3: la base del cronograma EPC de nivel 3</a:t>
            </a:r>
            <a:endParaRPr lang="en-US" sz="1500" dirty="0"/>
          </a:p>
        </p:txBody>
      </p:sp>
      <p:sp>
        <p:nvSpPr>
          <p:cNvPr id="4" name="Shape 2"/>
          <p:cNvSpPr/>
          <p:nvPr/>
        </p:nvSpPr>
        <p:spPr>
          <a:xfrm>
            <a:off x="548640" y="1572768"/>
            <a:ext cx="822960" cy="82296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733806" y="1757934"/>
            <a:ext cx="452628" cy="452628"/>
          </a:xfrm>
          <a:prstGeom prst="rect">
            <a:avLst/>
          </a:prstGeom>
        </p:spPr>
      </p:pic>
      <p:sp>
        <p:nvSpPr>
          <p:cNvPr id="6" name="Shape 3"/>
          <p:cNvSpPr/>
          <p:nvPr/>
        </p:nvSpPr>
        <p:spPr>
          <a:xfrm>
            <a:off x="1645920" y="1554480"/>
            <a:ext cx="4861408" cy="1447800"/>
          </a:xfrm>
          <a:prstGeom prst="roundRect">
            <a:avLst>
              <a:gd name="adj" fmla="val 5053"/>
            </a:avLst>
          </a:prstGeom>
          <a:solidFill>
            <a:srgbClr val="F4F7FA"/>
          </a:solidFill>
          <a:ln w="9525">
            <a:solidFill>
              <a:srgbClr val="DDE4EC"/>
            </a:solidFill>
            <a:prstDash val="solid"/>
          </a:ln>
        </p:spPr>
      </p:sp>
      <p:sp>
        <p:nvSpPr>
          <p:cNvPr id="7" name="Text 4"/>
          <p:cNvSpPr txBox="1"/>
          <p:nvPr/>
        </p:nvSpPr>
        <p:spPr>
          <a:xfrm>
            <a:off x="1847088"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Objetivo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Desarrollar la ruta de construcción final con los planes finales y aportes de todos los interesados.</a:t>
            </a:r>
            <a:endParaRPr lang="en-US" sz="1500" dirty="0"/>
          </a:p>
        </p:txBody>
      </p:sp>
      <p:sp>
        <p:nvSpPr>
          <p:cNvPr id="8" name="Shape 5"/>
          <p:cNvSpPr/>
          <p:nvPr/>
        </p:nvSpPr>
        <p:spPr>
          <a:xfrm>
            <a:off x="6781648" y="1554480"/>
            <a:ext cx="4861408" cy="1447800"/>
          </a:xfrm>
          <a:prstGeom prst="roundRect">
            <a:avLst>
              <a:gd name="adj" fmla="val 5053"/>
            </a:avLst>
          </a:prstGeom>
          <a:solidFill>
            <a:srgbClr val="F4F7FA"/>
          </a:solidFill>
          <a:ln w="9525">
            <a:solidFill>
              <a:srgbClr val="DDE4EC"/>
            </a:solidFill>
            <a:prstDash val="solid"/>
          </a:ln>
        </p:spPr>
      </p:sp>
      <p:sp>
        <p:nvSpPr>
          <p:cNvPr id="9" name="Text 6"/>
          <p:cNvSpPr txBox="1"/>
          <p:nvPr/>
        </p:nvSpPr>
        <p:spPr>
          <a:xfrm>
            <a:off x="6982816"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Cuándo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Término de FEL 3 / definir. Fijarlo aquí da al contratista de ingeniería la mejor oportunidad de cumplir el plan.</a:t>
            </a:r>
            <a:endParaRPr lang="en-US" sz="1500" dirty="0"/>
          </a:p>
        </p:txBody>
      </p:sp>
      <p:sp>
        <p:nvSpPr>
          <p:cNvPr id="10" name="Shape 7"/>
          <p:cNvSpPr/>
          <p:nvPr/>
        </p:nvSpPr>
        <p:spPr>
          <a:xfrm>
            <a:off x="1645920" y="3185160"/>
            <a:ext cx="4861408" cy="1447800"/>
          </a:xfrm>
          <a:prstGeom prst="roundRect">
            <a:avLst>
              <a:gd name="adj" fmla="val 5053"/>
            </a:avLst>
          </a:prstGeom>
          <a:solidFill>
            <a:srgbClr val="F4F7FA"/>
          </a:solidFill>
          <a:ln w="9525">
            <a:solidFill>
              <a:srgbClr val="DDE4EC"/>
            </a:solidFill>
            <a:prstDash val="solid"/>
          </a:ln>
        </p:spPr>
      </p:sp>
      <p:sp>
        <p:nvSpPr>
          <p:cNvPr id="11" name="Text 8"/>
          <p:cNvSpPr txBox="1"/>
          <p:nvPr/>
        </p:nvSpPr>
        <p:spPr>
          <a:xfrm>
            <a:off x="1847088"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Participantes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Equipo de gestión de la construcción del propietario y del contratista; aprueban el cliente y el Gerente de Construcción (hito H2).</a:t>
            </a:r>
            <a:endParaRPr lang="en-US" sz="1500" dirty="0"/>
          </a:p>
        </p:txBody>
      </p:sp>
      <p:sp>
        <p:nvSpPr>
          <p:cNvPr id="12" name="Shape 9"/>
          <p:cNvSpPr/>
          <p:nvPr/>
        </p:nvSpPr>
        <p:spPr>
          <a:xfrm>
            <a:off x="6781648" y="3185160"/>
            <a:ext cx="4861408" cy="1447800"/>
          </a:xfrm>
          <a:prstGeom prst="roundRect">
            <a:avLst>
              <a:gd name="adj" fmla="val 5053"/>
            </a:avLst>
          </a:prstGeom>
          <a:solidFill>
            <a:srgbClr val="F4F7FA"/>
          </a:solidFill>
          <a:ln w="9525">
            <a:solidFill>
              <a:srgbClr val="DDE4EC"/>
            </a:solidFill>
            <a:prstDash val="solid"/>
          </a:ln>
        </p:spPr>
      </p:sp>
      <p:sp>
        <p:nvSpPr>
          <p:cNvPr id="13" name="Text 10"/>
          <p:cNvSpPr txBox="1"/>
          <p:nvPr/>
        </p:nvSpPr>
        <p:spPr>
          <a:xfrm>
            <a:off x="6982816"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Insumos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Estrategias finales de compras, módulos y contratación; requerimientos finales de recursos; datos técnicos de FEL 3.</a:t>
            </a:r>
            <a:endParaRPr lang="en-US" sz="1500" dirty="0"/>
          </a:p>
        </p:txBody>
      </p:sp>
      <p:sp>
        <p:nvSpPr>
          <p:cNvPr id="14" name="Shape 11"/>
          <p:cNvSpPr/>
          <p:nvPr/>
        </p:nvSpPr>
        <p:spPr>
          <a:xfrm>
            <a:off x="1645920" y="4815840"/>
            <a:ext cx="4861408" cy="1447800"/>
          </a:xfrm>
          <a:prstGeom prst="roundRect">
            <a:avLst>
              <a:gd name="adj" fmla="val 5053"/>
            </a:avLst>
          </a:prstGeom>
          <a:solidFill>
            <a:srgbClr val="F4F7FA"/>
          </a:solidFill>
          <a:ln w="9525">
            <a:solidFill>
              <a:srgbClr val="DDE4EC"/>
            </a:solidFill>
            <a:prstDash val="solid"/>
          </a:ln>
        </p:spPr>
      </p:sp>
      <p:sp>
        <p:nvSpPr>
          <p:cNvPr id="15" name="Text 12"/>
          <p:cNvSpPr txBox="1"/>
          <p:nvPr/>
        </p:nvSpPr>
        <p:spPr>
          <a:xfrm>
            <a:off x="1847088"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Cómo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Revisar todas las restricciones actualizadas; calcular fechas requeridas de EWP, CWP y RAS; firmar el acta.</a:t>
            </a:r>
            <a:endParaRPr lang="en-US" sz="1500" dirty="0"/>
          </a:p>
        </p:txBody>
      </p:sp>
      <p:sp>
        <p:nvSpPr>
          <p:cNvPr id="16" name="Shape 13"/>
          <p:cNvSpPr/>
          <p:nvPr/>
        </p:nvSpPr>
        <p:spPr>
          <a:xfrm>
            <a:off x="6781648" y="4815840"/>
            <a:ext cx="4861408" cy="1447800"/>
          </a:xfrm>
          <a:prstGeom prst="roundRect">
            <a:avLst>
              <a:gd name="adj" fmla="val 5053"/>
            </a:avLst>
          </a:prstGeom>
          <a:solidFill>
            <a:srgbClr val="F4F7FA"/>
          </a:solidFill>
          <a:ln w="9525">
            <a:solidFill>
              <a:srgbClr val="DDE4EC"/>
            </a:solidFill>
            <a:prstDash val="solid"/>
          </a:ln>
        </p:spPr>
      </p:sp>
      <p:sp>
        <p:nvSpPr>
          <p:cNvPr id="17" name="Text 14"/>
          <p:cNvSpPr txBox="1"/>
          <p:nvPr/>
        </p:nvSpPr>
        <p:spPr>
          <a:xfrm>
            <a:off x="6982816"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Resultado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PoC congelado; presupuesto y cronograma de nivel 3; plan de liberación CWP/EWP/PWP (H3).</a:t>
            </a:r>
            <a:endParaRPr lang="en-US" sz="1500" dirty="0"/>
          </a:p>
        </p:txBody>
      </p:sp>
      <p:sp>
        <p:nvSpPr>
          <p:cNvPr id="18"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19"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Los tres pasos, lado a lado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Resumen comparativo</a:t>
            </a:r>
            <a:endParaRPr lang="en-US" sz="15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828800"/>
                <a:gridCol w="3063240"/>
                <a:gridCol w="3063240"/>
                <a:gridCol w="3017520"/>
              </a:tblGrid>
              <a:tr h="566928">
                <a:tc>
                  <a:txBody>
                    <a:bodyPr/>
                    <a:lstStyle/>
                    <a:p>
                      <a:pPr indent="0" marL="0">
                        <a:buNone/>
                      </a:pP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Paso 1 · Sin restricciones</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Paso 2 · Con restricciones</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Paso 3 · PoC final</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Etapa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FEL 2 / seleccionar</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FEL 2 → inicio de FEL 3</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Término de FEL 3 / definir</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Quién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Solo construcción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Construcción, ingeniería y compras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Todos los interesados clave</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Formato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Reunión de construcción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Taller IPPM</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Plan afinado y aprobación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Insumos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Plano general, CWA, nivel 1, presupuesto FEL 1</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Estrategias preliminares (compras, módulos, contratación, recursos)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Estrategias finales y datos técnicos de FEL 3</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Restricciones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Ninguna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Blandas y duras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Actualizadas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Resultado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Borrador constructivo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PoC ajustado; nivel 2</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PoC congelado; nivel 3; H2 y H3</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Proceso del PoC en carriles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Quién hace qué, de FEL 2 al congelamiento</a:t>
            </a:r>
            <a:endParaRPr lang="en-US" sz="1500" dirty="0"/>
          </a:p>
        </p:txBody>
      </p:sp>
      <p:sp>
        <p:nvSpPr>
          <p:cNvPr id="4" name="Text 2"/>
          <p:cNvSpPr txBox="1"/>
          <p:nvPr/>
        </p:nvSpPr>
        <p:spPr>
          <a:xfrm>
            <a:off x="2651760" y="1508760"/>
            <a:ext cx="1498549" cy="274320"/>
          </a:xfrm>
          <a:prstGeom prst="rect">
            <a:avLst/>
          </a:prstGeom>
          <a:noFill/>
          <a:ln/>
        </p:spPr>
        <p:txBody>
          <a:bodyPr wrap="square" lIns="0" tIns="0" rIns="0" bIns="0" rtlCol="0" anchor="t"/>
          <a:lstStyle/>
          <a:p>
            <a:pPr algn="ctr" indent="0" marL="0">
              <a:buNone/>
            </a:pPr>
            <a:r>
              <a:rPr lang="en-US" sz="1150" b="1" dirty="0">
                <a:solidFill>
                  <a:srgbClr val="56606B"/>
                </a:solidFill>
                <a:latin typeface="Calibri" pitchFamily="34" charset="0"/>
                <a:ea typeface="Calibri" pitchFamily="34" charset="-122"/>
                <a:cs typeface="Calibri" pitchFamily="34" charset="-120"/>
              </a:rPr>
              <a:t>FEL 2 · inicio</a:t>
            </a:r>
            <a:endParaRPr lang="en-US" sz="1150" dirty="0"/>
          </a:p>
        </p:txBody>
      </p:sp>
      <p:sp>
        <p:nvSpPr>
          <p:cNvPr id="5" name="Text 3"/>
          <p:cNvSpPr txBox="1"/>
          <p:nvPr/>
        </p:nvSpPr>
        <p:spPr>
          <a:xfrm>
            <a:off x="4150309" y="1508760"/>
            <a:ext cx="1498549" cy="274320"/>
          </a:xfrm>
          <a:prstGeom prst="rect">
            <a:avLst/>
          </a:prstGeom>
          <a:noFill/>
          <a:ln/>
        </p:spPr>
        <p:txBody>
          <a:bodyPr wrap="square" lIns="0" tIns="0" rIns="0" bIns="0" rtlCol="0" anchor="t"/>
          <a:lstStyle/>
          <a:p>
            <a:pPr algn="ctr" indent="0" marL="0">
              <a:buNone/>
            </a:pPr>
            <a:r>
              <a:rPr lang="en-US" sz="1150" b="1" dirty="0">
                <a:solidFill>
                  <a:srgbClr val="56606B"/>
                </a:solidFill>
                <a:latin typeface="Calibri" pitchFamily="34" charset="0"/>
                <a:ea typeface="Calibri" pitchFamily="34" charset="-122"/>
                <a:cs typeface="Calibri" pitchFamily="34" charset="-120"/>
              </a:rPr>
              <a:t>Paso 1</a:t>
            </a:r>
            <a:endParaRPr lang="en-US" sz="1150" dirty="0"/>
          </a:p>
        </p:txBody>
      </p:sp>
      <p:sp>
        <p:nvSpPr>
          <p:cNvPr id="6" name="Text 4"/>
          <p:cNvSpPr txBox="1"/>
          <p:nvPr/>
        </p:nvSpPr>
        <p:spPr>
          <a:xfrm>
            <a:off x="5648858" y="1508760"/>
            <a:ext cx="1498549" cy="274320"/>
          </a:xfrm>
          <a:prstGeom prst="rect">
            <a:avLst/>
          </a:prstGeom>
          <a:noFill/>
          <a:ln/>
        </p:spPr>
        <p:txBody>
          <a:bodyPr wrap="square" lIns="0" tIns="0" rIns="0" bIns="0" rtlCol="0" anchor="t"/>
          <a:lstStyle/>
          <a:p>
            <a:pPr algn="ctr" indent="0" marL="0">
              <a:buNone/>
            </a:pPr>
            <a:r>
              <a:rPr lang="en-US" sz="1150" b="1" dirty="0">
                <a:solidFill>
                  <a:srgbClr val="56606B"/>
                </a:solidFill>
                <a:latin typeface="Calibri" pitchFamily="34" charset="0"/>
                <a:ea typeface="Calibri" pitchFamily="34" charset="-122"/>
                <a:cs typeface="Calibri" pitchFamily="34" charset="-120"/>
              </a:rPr>
              <a:t>Taller IPP</a:t>
            </a:r>
            <a:endParaRPr lang="en-US" sz="1150" dirty="0"/>
          </a:p>
        </p:txBody>
      </p:sp>
      <p:sp>
        <p:nvSpPr>
          <p:cNvPr id="7" name="Text 5"/>
          <p:cNvSpPr txBox="1"/>
          <p:nvPr/>
        </p:nvSpPr>
        <p:spPr>
          <a:xfrm>
            <a:off x="7147408" y="1508760"/>
            <a:ext cx="1498549" cy="274320"/>
          </a:xfrm>
          <a:prstGeom prst="rect">
            <a:avLst/>
          </a:prstGeom>
          <a:noFill/>
          <a:ln/>
        </p:spPr>
        <p:txBody>
          <a:bodyPr wrap="square" lIns="0" tIns="0" rIns="0" bIns="0" rtlCol="0" anchor="t"/>
          <a:lstStyle/>
          <a:p>
            <a:pPr algn="ctr" indent="0" marL="0">
              <a:buNone/>
            </a:pPr>
            <a:r>
              <a:rPr lang="en-US" sz="1150" b="1" dirty="0">
                <a:solidFill>
                  <a:srgbClr val="56606B"/>
                </a:solidFill>
                <a:latin typeface="Calibri" pitchFamily="34" charset="0"/>
                <a:ea typeface="Calibri" pitchFamily="34" charset="-122"/>
                <a:cs typeface="Calibri" pitchFamily="34" charset="-120"/>
              </a:rPr>
              <a:t>Paso 2</a:t>
            </a:r>
            <a:endParaRPr lang="en-US" sz="1150" dirty="0"/>
          </a:p>
        </p:txBody>
      </p:sp>
      <p:sp>
        <p:nvSpPr>
          <p:cNvPr id="8" name="Text 6"/>
          <p:cNvSpPr txBox="1"/>
          <p:nvPr/>
        </p:nvSpPr>
        <p:spPr>
          <a:xfrm>
            <a:off x="8645957" y="1508760"/>
            <a:ext cx="1498549" cy="274320"/>
          </a:xfrm>
          <a:prstGeom prst="rect">
            <a:avLst/>
          </a:prstGeom>
          <a:noFill/>
          <a:ln/>
        </p:spPr>
        <p:txBody>
          <a:bodyPr wrap="square" lIns="0" tIns="0" rIns="0" bIns="0" rtlCol="0" anchor="t"/>
          <a:lstStyle/>
          <a:p>
            <a:pPr algn="ctr" indent="0" marL="0">
              <a:buNone/>
            </a:pPr>
            <a:r>
              <a:rPr lang="en-US" sz="1150" b="1" dirty="0">
                <a:solidFill>
                  <a:srgbClr val="56606B"/>
                </a:solidFill>
                <a:latin typeface="Calibri" pitchFamily="34" charset="0"/>
                <a:ea typeface="Calibri" pitchFamily="34" charset="-122"/>
                <a:cs typeface="Calibri" pitchFamily="34" charset="-120"/>
              </a:rPr>
              <a:t>Paso 3</a:t>
            </a:r>
            <a:endParaRPr lang="en-US" sz="1150" dirty="0"/>
          </a:p>
        </p:txBody>
      </p:sp>
      <p:sp>
        <p:nvSpPr>
          <p:cNvPr id="9" name="Text 7"/>
          <p:cNvSpPr txBox="1"/>
          <p:nvPr/>
        </p:nvSpPr>
        <p:spPr>
          <a:xfrm>
            <a:off x="10144506" y="1508760"/>
            <a:ext cx="1498549" cy="274320"/>
          </a:xfrm>
          <a:prstGeom prst="rect">
            <a:avLst/>
          </a:prstGeom>
          <a:noFill/>
          <a:ln/>
        </p:spPr>
        <p:txBody>
          <a:bodyPr wrap="square" lIns="0" tIns="0" rIns="0" bIns="0" rtlCol="0" anchor="t"/>
          <a:lstStyle/>
          <a:p>
            <a:pPr algn="ctr" indent="0" marL="0">
              <a:buNone/>
            </a:pPr>
            <a:r>
              <a:rPr lang="en-US" sz="1150" b="1" dirty="0">
                <a:solidFill>
                  <a:srgbClr val="56606B"/>
                </a:solidFill>
                <a:latin typeface="Calibri" pitchFamily="34" charset="0"/>
                <a:ea typeface="Calibri" pitchFamily="34" charset="-122"/>
                <a:cs typeface="Calibri" pitchFamily="34" charset="-120"/>
              </a:rPr>
              <a:t>Congelado</a:t>
            </a:r>
            <a:endParaRPr lang="en-US" sz="1150" dirty="0"/>
          </a:p>
        </p:txBody>
      </p:sp>
      <p:sp>
        <p:nvSpPr>
          <p:cNvPr id="10" name="Shape 8"/>
          <p:cNvSpPr/>
          <p:nvPr/>
        </p:nvSpPr>
        <p:spPr>
          <a:xfrm>
            <a:off x="548640" y="1828800"/>
            <a:ext cx="11094415" cy="704088"/>
          </a:xfrm>
          <a:prstGeom prst="rect">
            <a:avLst/>
          </a:prstGeom>
          <a:solidFill>
            <a:srgbClr val="F4F7FA"/>
          </a:solidFill>
          <a:ln w="6350">
            <a:solidFill>
              <a:srgbClr val="DDE4EC"/>
            </a:solidFill>
            <a:prstDash val="solid"/>
          </a:ln>
        </p:spPr>
      </p:sp>
      <p:sp>
        <p:nvSpPr>
          <p:cNvPr id="11" name="Shape 9"/>
          <p:cNvSpPr/>
          <p:nvPr/>
        </p:nvSpPr>
        <p:spPr>
          <a:xfrm>
            <a:off x="548640" y="1828800"/>
            <a:ext cx="2011680" cy="704088"/>
          </a:xfrm>
          <a:prstGeom prst="rect">
            <a:avLst/>
          </a:prstGeom>
          <a:solidFill>
            <a:srgbClr val="1F4E79"/>
          </a:solidFill>
          <a:ln w="12700">
            <a:solidFill>
              <a:srgbClr val="1F4E79"/>
            </a:solidFill>
            <a:prstDash val="solid"/>
          </a:ln>
        </p:spPr>
      </p:sp>
      <p:sp>
        <p:nvSpPr>
          <p:cNvPr id="12" name="Text 10"/>
          <p:cNvSpPr txBox="1"/>
          <p:nvPr/>
        </p:nvSpPr>
        <p:spPr>
          <a:xfrm>
            <a:off x="658368" y="1828800"/>
            <a:ext cx="1828800" cy="70408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CHA</a:t>
            </a:r>
            <a:endParaRPr lang="en-US" sz="1300" dirty="0"/>
          </a:p>
          <a:p>
            <a:pPr indent="0" marL="0">
              <a:buNone/>
            </a:pPr>
            <a:r>
              <a:rPr lang="en-US" sz="1100" dirty="0">
                <a:solidFill>
                  <a:srgbClr val="FFFFFF"/>
                </a:solidFill>
                <a:latin typeface="Calibri" pitchFamily="34" charset="0"/>
                <a:ea typeface="Calibri" pitchFamily="34" charset="-122"/>
                <a:cs typeface="Calibri" pitchFamily="34" charset="-120"/>
              </a:rPr>
              <a:t>AWP Champion</a:t>
            </a:r>
            <a:endParaRPr lang="en-US" sz="1300" dirty="0"/>
          </a:p>
        </p:txBody>
      </p:sp>
      <p:sp>
        <p:nvSpPr>
          <p:cNvPr id="13" name="Shape 11"/>
          <p:cNvSpPr/>
          <p:nvPr/>
        </p:nvSpPr>
        <p:spPr>
          <a:xfrm>
            <a:off x="2715768" y="1920240"/>
            <a:ext cx="1370533" cy="521208"/>
          </a:xfrm>
          <a:prstGeom prst="roundRect">
            <a:avLst>
              <a:gd name="adj" fmla="val 10526"/>
            </a:avLst>
          </a:prstGeom>
          <a:solidFill>
            <a:srgbClr val="E2EBF4"/>
          </a:solidFill>
          <a:ln w="9525">
            <a:solidFill>
              <a:srgbClr val="B9CCE0"/>
            </a:solidFill>
            <a:prstDash val="solid"/>
          </a:ln>
        </p:spPr>
      </p:sp>
      <p:sp>
        <p:nvSpPr>
          <p:cNvPr id="14" name="Text 12"/>
          <p:cNvSpPr txBox="1"/>
          <p:nvPr/>
        </p:nvSpPr>
        <p:spPr>
          <a:xfrm>
            <a:off x="2761488" y="1920240"/>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Preparar insumos</a:t>
            </a:r>
            <a:endParaRPr lang="en-US" sz="1150" dirty="0"/>
          </a:p>
        </p:txBody>
      </p:sp>
      <p:sp>
        <p:nvSpPr>
          <p:cNvPr id="15" name="Shape 13"/>
          <p:cNvSpPr/>
          <p:nvPr/>
        </p:nvSpPr>
        <p:spPr>
          <a:xfrm>
            <a:off x="5712866" y="1920240"/>
            <a:ext cx="1370533" cy="521208"/>
          </a:xfrm>
          <a:prstGeom prst="roundRect">
            <a:avLst>
              <a:gd name="adj" fmla="val 10526"/>
            </a:avLst>
          </a:prstGeom>
          <a:solidFill>
            <a:srgbClr val="E2EBF4"/>
          </a:solidFill>
          <a:ln w="9525">
            <a:solidFill>
              <a:srgbClr val="B9CCE0"/>
            </a:solidFill>
            <a:prstDash val="solid"/>
          </a:ln>
        </p:spPr>
      </p:sp>
      <p:sp>
        <p:nvSpPr>
          <p:cNvPr id="16" name="Text 14"/>
          <p:cNvSpPr txBox="1"/>
          <p:nvPr/>
        </p:nvSpPr>
        <p:spPr>
          <a:xfrm>
            <a:off x="5758586" y="1920240"/>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Convocar y facilitar IPP</a:t>
            </a:r>
            <a:endParaRPr lang="en-US" sz="1150" dirty="0"/>
          </a:p>
        </p:txBody>
      </p:sp>
      <p:sp>
        <p:nvSpPr>
          <p:cNvPr id="17" name="Shape 15"/>
          <p:cNvSpPr/>
          <p:nvPr/>
        </p:nvSpPr>
        <p:spPr>
          <a:xfrm>
            <a:off x="8709965" y="1920240"/>
            <a:ext cx="1370533" cy="521208"/>
          </a:xfrm>
          <a:prstGeom prst="roundRect">
            <a:avLst>
              <a:gd name="adj" fmla="val 10526"/>
            </a:avLst>
          </a:prstGeom>
          <a:solidFill>
            <a:srgbClr val="E2EBF4"/>
          </a:solidFill>
          <a:ln w="9525">
            <a:solidFill>
              <a:srgbClr val="B9CCE0"/>
            </a:solidFill>
            <a:prstDash val="solid"/>
          </a:ln>
        </p:spPr>
      </p:sp>
      <p:sp>
        <p:nvSpPr>
          <p:cNvPr id="18" name="Text 16"/>
          <p:cNvSpPr txBox="1"/>
          <p:nvPr/>
        </p:nvSpPr>
        <p:spPr>
          <a:xfrm>
            <a:off x="8755685" y="1920240"/>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Consolidar acta</a:t>
            </a:r>
            <a:endParaRPr lang="en-US" sz="1150" dirty="0"/>
          </a:p>
        </p:txBody>
      </p:sp>
      <p:sp>
        <p:nvSpPr>
          <p:cNvPr id="19" name="Shape 17"/>
          <p:cNvSpPr/>
          <p:nvPr/>
        </p:nvSpPr>
        <p:spPr>
          <a:xfrm>
            <a:off x="548640" y="2587752"/>
            <a:ext cx="11094415" cy="704088"/>
          </a:xfrm>
          <a:prstGeom prst="rect">
            <a:avLst/>
          </a:prstGeom>
          <a:solidFill>
            <a:srgbClr val="FFFFFF"/>
          </a:solidFill>
          <a:ln w="6350">
            <a:solidFill>
              <a:srgbClr val="DDE4EC"/>
            </a:solidFill>
            <a:prstDash val="solid"/>
          </a:ln>
        </p:spPr>
      </p:sp>
      <p:sp>
        <p:nvSpPr>
          <p:cNvPr id="20" name="Shape 18"/>
          <p:cNvSpPr/>
          <p:nvPr/>
        </p:nvSpPr>
        <p:spPr>
          <a:xfrm>
            <a:off x="548640" y="2587752"/>
            <a:ext cx="2011680" cy="704088"/>
          </a:xfrm>
          <a:prstGeom prst="rect">
            <a:avLst/>
          </a:prstGeom>
          <a:solidFill>
            <a:srgbClr val="1F4E79"/>
          </a:solidFill>
          <a:ln w="12700">
            <a:solidFill>
              <a:srgbClr val="1F4E79"/>
            </a:solidFill>
            <a:prstDash val="solid"/>
          </a:ln>
        </p:spPr>
      </p:sp>
      <p:sp>
        <p:nvSpPr>
          <p:cNvPr id="21" name="Text 19"/>
          <p:cNvSpPr txBox="1"/>
          <p:nvPr/>
        </p:nvSpPr>
        <p:spPr>
          <a:xfrm>
            <a:off x="658368" y="2587752"/>
            <a:ext cx="1828800" cy="70408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CON</a:t>
            </a:r>
            <a:endParaRPr lang="en-US" sz="1300" dirty="0"/>
          </a:p>
          <a:p>
            <a:pPr indent="0" marL="0">
              <a:buNone/>
            </a:pPr>
            <a:r>
              <a:rPr lang="en-US" sz="1100" dirty="0">
                <a:solidFill>
                  <a:srgbClr val="FFFFFF"/>
                </a:solidFill>
                <a:latin typeface="Calibri" pitchFamily="34" charset="0"/>
                <a:ea typeface="Calibri" pitchFamily="34" charset="-122"/>
                <a:cs typeface="Calibri" pitchFamily="34" charset="-120"/>
              </a:rPr>
              <a:t>Gerente de Construcción</a:t>
            </a:r>
            <a:endParaRPr lang="en-US" sz="1300" dirty="0"/>
          </a:p>
        </p:txBody>
      </p:sp>
      <p:sp>
        <p:nvSpPr>
          <p:cNvPr id="22" name="Shape 20"/>
          <p:cNvSpPr/>
          <p:nvPr/>
        </p:nvSpPr>
        <p:spPr>
          <a:xfrm>
            <a:off x="4214317" y="2679192"/>
            <a:ext cx="1370533" cy="521208"/>
          </a:xfrm>
          <a:prstGeom prst="roundRect">
            <a:avLst>
              <a:gd name="adj" fmla="val 10526"/>
            </a:avLst>
          </a:prstGeom>
          <a:solidFill>
            <a:srgbClr val="E2EBF4"/>
          </a:solidFill>
          <a:ln w="9525">
            <a:solidFill>
              <a:srgbClr val="B9CCE0"/>
            </a:solidFill>
            <a:prstDash val="solid"/>
          </a:ln>
        </p:spPr>
      </p:sp>
      <p:sp>
        <p:nvSpPr>
          <p:cNvPr id="23" name="Text 21"/>
          <p:cNvSpPr txBox="1"/>
          <p:nvPr/>
        </p:nvSpPr>
        <p:spPr>
          <a:xfrm>
            <a:off x="4260037" y="2679192"/>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Secuencia sin restricciones</a:t>
            </a:r>
            <a:endParaRPr lang="en-US" sz="1150" dirty="0"/>
          </a:p>
        </p:txBody>
      </p:sp>
      <p:sp>
        <p:nvSpPr>
          <p:cNvPr id="24" name="Shape 22"/>
          <p:cNvSpPr/>
          <p:nvPr/>
        </p:nvSpPr>
        <p:spPr>
          <a:xfrm>
            <a:off x="7211416" y="2679192"/>
            <a:ext cx="1370533" cy="521208"/>
          </a:xfrm>
          <a:prstGeom prst="roundRect">
            <a:avLst>
              <a:gd name="adj" fmla="val 10526"/>
            </a:avLst>
          </a:prstGeom>
          <a:solidFill>
            <a:srgbClr val="E2EBF4"/>
          </a:solidFill>
          <a:ln w="9525">
            <a:solidFill>
              <a:srgbClr val="B9CCE0"/>
            </a:solidFill>
            <a:prstDash val="solid"/>
          </a:ln>
        </p:spPr>
      </p:sp>
      <p:sp>
        <p:nvSpPr>
          <p:cNvPr id="25" name="Text 23"/>
          <p:cNvSpPr txBox="1"/>
          <p:nvPr/>
        </p:nvSpPr>
        <p:spPr>
          <a:xfrm>
            <a:off x="7257136" y="2679192"/>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Ajustar secuencia</a:t>
            </a:r>
            <a:endParaRPr lang="en-US" sz="1150" dirty="0"/>
          </a:p>
        </p:txBody>
      </p:sp>
      <p:sp>
        <p:nvSpPr>
          <p:cNvPr id="26" name="Shape 24"/>
          <p:cNvSpPr/>
          <p:nvPr/>
        </p:nvSpPr>
        <p:spPr>
          <a:xfrm>
            <a:off x="8709965" y="2679192"/>
            <a:ext cx="1370533" cy="521208"/>
          </a:xfrm>
          <a:prstGeom prst="roundRect">
            <a:avLst>
              <a:gd name="adj" fmla="val 10526"/>
            </a:avLst>
          </a:prstGeom>
          <a:solidFill>
            <a:srgbClr val="E2EBF4"/>
          </a:solidFill>
          <a:ln w="9525">
            <a:solidFill>
              <a:srgbClr val="B9CCE0"/>
            </a:solidFill>
            <a:prstDash val="solid"/>
          </a:ln>
        </p:spPr>
      </p:sp>
      <p:sp>
        <p:nvSpPr>
          <p:cNvPr id="27" name="Text 25"/>
          <p:cNvSpPr txBox="1"/>
          <p:nvPr/>
        </p:nvSpPr>
        <p:spPr>
          <a:xfrm>
            <a:off x="8755685" y="2679192"/>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Presentar PoC final</a:t>
            </a:r>
            <a:endParaRPr lang="en-US" sz="1150" dirty="0"/>
          </a:p>
        </p:txBody>
      </p:sp>
      <p:sp>
        <p:nvSpPr>
          <p:cNvPr id="28" name="Shape 26"/>
          <p:cNvSpPr/>
          <p:nvPr/>
        </p:nvSpPr>
        <p:spPr>
          <a:xfrm>
            <a:off x="548640" y="3346704"/>
            <a:ext cx="11094415" cy="704088"/>
          </a:xfrm>
          <a:prstGeom prst="rect">
            <a:avLst/>
          </a:prstGeom>
          <a:solidFill>
            <a:srgbClr val="F4F7FA"/>
          </a:solidFill>
          <a:ln w="6350">
            <a:solidFill>
              <a:srgbClr val="DDE4EC"/>
            </a:solidFill>
            <a:prstDash val="solid"/>
          </a:ln>
        </p:spPr>
      </p:sp>
      <p:sp>
        <p:nvSpPr>
          <p:cNvPr id="29" name="Shape 27"/>
          <p:cNvSpPr/>
          <p:nvPr/>
        </p:nvSpPr>
        <p:spPr>
          <a:xfrm>
            <a:off x="548640" y="3346704"/>
            <a:ext cx="2011680" cy="704088"/>
          </a:xfrm>
          <a:prstGeom prst="rect">
            <a:avLst/>
          </a:prstGeom>
          <a:solidFill>
            <a:srgbClr val="1F4E79"/>
          </a:solidFill>
          <a:ln w="12700">
            <a:solidFill>
              <a:srgbClr val="1F4E79"/>
            </a:solidFill>
            <a:prstDash val="solid"/>
          </a:ln>
        </p:spPr>
      </p:sp>
      <p:sp>
        <p:nvSpPr>
          <p:cNvPr id="30" name="Text 28"/>
          <p:cNvSpPr txBox="1"/>
          <p:nvPr/>
        </p:nvSpPr>
        <p:spPr>
          <a:xfrm>
            <a:off x="658368" y="3346704"/>
            <a:ext cx="1828800" cy="70408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ING / PRO</a:t>
            </a:r>
            <a:endParaRPr lang="en-US" sz="1300" dirty="0"/>
          </a:p>
          <a:p>
            <a:pPr indent="0" marL="0">
              <a:buNone/>
            </a:pPr>
            <a:r>
              <a:rPr lang="en-US" sz="1100" dirty="0">
                <a:solidFill>
                  <a:srgbClr val="FFFFFF"/>
                </a:solidFill>
                <a:latin typeface="Calibri" pitchFamily="34" charset="0"/>
                <a:ea typeface="Calibri" pitchFamily="34" charset="-122"/>
                <a:cs typeface="Calibri" pitchFamily="34" charset="-120"/>
              </a:rPr>
              <a:t>Ingeniería y Procura</a:t>
            </a:r>
            <a:endParaRPr lang="en-US" sz="1300" dirty="0"/>
          </a:p>
        </p:txBody>
      </p:sp>
      <p:sp>
        <p:nvSpPr>
          <p:cNvPr id="31" name="Shape 29"/>
          <p:cNvSpPr/>
          <p:nvPr/>
        </p:nvSpPr>
        <p:spPr>
          <a:xfrm>
            <a:off x="5712866" y="3438144"/>
            <a:ext cx="1370533" cy="521208"/>
          </a:xfrm>
          <a:prstGeom prst="roundRect">
            <a:avLst>
              <a:gd name="adj" fmla="val 10526"/>
            </a:avLst>
          </a:prstGeom>
          <a:solidFill>
            <a:srgbClr val="E2EBF4"/>
          </a:solidFill>
          <a:ln w="9525">
            <a:solidFill>
              <a:srgbClr val="B9CCE0"/>
            </a:solidFill>
            <a:prstDash val="solid"/>
          </a:ln>
        </p:spPr>
      </p:sp>
      <p:sp>
        <p:nvSpPr>
          <p:cNvPr id="32" name="Text 30"/>
          <p:cNvSpPr txBox="1"/>
          <p:nvPr/>
        </p:nvSpPr>
        <p:spPr>
          <a:xfrm>
            <a:off x="5758586" y="3438144"/>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Plazos y restricciones</a:t>
            </a:r>
            <a:endParaRPr lang="en-US" sz="1150" dirty="0"/>
          </a:p>
        </p:txBody>
      </p:sp>
      <p:sp>
        <p:nvSpPr>
          <p:cNvPr id="33" name="Shape 31"/>
          <p:cNvSpPr/>
          <p:nvPr/>
        </p:nvSpPr>
        <p:spPr>
          <a:xfrm>
            <a:off x="10208514" y="3438144"/>
            <a:ext cx="1370533" cy="521208"/>
          </a:xfrm>
          <a:prstGeom prst="roundRect">
            <a:avLst>
              <a:gd name="adj" fmla="val 10526"/>
            </a:avLst>
          </a:prstGeom>
          <a:solidFill>
            <a:srgbClr val="E2EBF4"/>
          </a:solidFill>
          <a:ln w="9525">
            <a:solidFill>
              <a:srgbClr val="B9CCE0"/>
            </a:solidFill>
            <a:prstDash val="solid"/>
          </a:ln>
        </p:spPr>
      </p:sp>
      <p:sp>
        <p:nvSpPr>
          <p:cNvPr id="34" name="Text 32"/>
          <p:cNvSpPr txBox="1"/>
          <p:nvPr/>
        </p:nvSpPr>
        <p:spPr>
          <a:xfrm>
            <a:off x="10254234" y="3438144"/>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Path of Engineering y RAS</a:t>
            </a:r>
            <a:endParaRPr lang="en-US" sz="1150" dirty="0"/>
          </a:p>
        </p:txBody>
      </p:sp>
      <p:sp>
        <p:nvSpPr>
          <p:cNvPr id="35" name="Shape 33"/>
          <p:cNvSpPr/>
          <p:nvPr/>
        </p:nvSpPr>
        <p:spPr>
          <a:xfrm>
            <a:off x="548640" y="4105656"/>
            <a:ext cx="11094415" cy="704088"/>
          </a:xfrm>
          <a:prstGeom prst="rect">
            <a:avLst/>
          </a:prstGeom>
          <a:solidFill>
            <a:srgbClr val="FFFFFF"/>
          </a:solidFill>
          <a:ln w="6350">
            <a:solidFill>
              <a:srgbClr val="DDE4EC"/>
            </a:solidFill>
            <a:prstDash val="solid"/>
          </a:ln>
        </p:spPr>
      </p:sp>
      <p:sp>
        <p:nvSpPr>
          <p:cNvPr id="36" name="Shape 34"/>
          <p:cNvSpPr/>
          <p:nvPr/>
        </p:nvSpPr>
        <p:spPr>
          <a:xfrm>
            <a:off x="548640" y="4105656"/>
            <a:ext cx="2011680" cy="704088"/>
          </a:xfrm>
          <a:prstGeom prst="rect">
            <a:avLst/>
          </a:prstGeom>
          <a:solidFill>
            <a:srgbClr val="1F4E79"/>
          </a:solidFill>
          <a:ln w="12700">
            <a:solidFill>
              <a:srgbClr val="1F4E79"/>
            </a:solidFill>
            <a:prstDash val="solid"/>
          </a:ln>
        </p:spPr>
      </p:sp>
      <p:sp>
        <p:nvSpPr>
          <p:cNvPr id="37" name="Text 35"/>
          <p:cNvSpPr txBox="1"/>
          <p:nvPr/>
        </p:nvSpPr>
        <p:spPr>
          <a:xfrm>
            <a:off x="658368" y="4105656"/>
            <a:ext cx="1828800" cy="70408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COM</a:t>
            </a:r>
            <a:endParaRPr lang="en-US" sz="1300" dirty="0"/>
          </a:p>
          <a:p>
            <a:pPr indent="0" marL="0">
              <a:buNone/>
            </a:pPr>
            <a:r>
              <a:rPr lang="en-US" sz="1100" dirty="0">
                <a:solidFill>
                  <a:srgbClr val="FFFFFF"/>
                </a:solidFill>
                <a:latin typeface="Calibri" pitchFamily="34" charset="0"/>
                <a:ea typeface="Calibri" pitchFamily="34" charset="-122"/>
                <a:cs typeface="Calibri" pitchFamily="34" charset="-120"/>
              </a:rPr>
              <a:t>Comisionamiento</a:t>
            </a:r>
            <a:endParaRPr lang="en-US" sz="1300" dirty="0"/>
          </a:p>
        </p:txBody>
      </p:sp>
      <p:sp>
        <p:nvSpPr>
          <p:cNvPr id="38" name="Shape 36"/>
          <p:cNvSpPr/>
          <p:nvPr/>
        </p:nvSpPr>
        <p:spPr>
          <a:xfrm>
            <a:off x="2715768" y="4197096"/>
            <a:ext cx="1370533" cy="521208"/>
          </a:xfrm>
          <a:prstGeom prst="roundRect">
            <a:avLst>
              <a:gd name="adj" fmla="val 10526"/>
            </a:avLst>
          </a:prstGeom>
          <a:solidFill>
            <a:srgbClr val="E2EBF4"/>
          </a:solidFill>
          <a:ln w="9525">
            <a:solidFill>
              <a:srgbClr val="B9CCE0"/>
            </a:solidFill>
            <a:prstDash val="solid"/>
          </a:ln>
        </p:spPr>
      </p:sp>
      <p:sp>
        <p:nvSpPr>
          <p:cNvPr id="39" name="Text 37"/>
          <p:cNvSpPr txBox="1"/>
          <p:nvPr/>
        </p:nvSpPr>
        <p:spPr>
          <a:xfrm>
            <a:off x="2761488" y="4197096"/>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Prioridad de sistemas</a:t>
            </a:r>
            <a:endParaRPr lang="en-US" sz="1150" dirty="0"/>
          </a:p>
        </p:txBody>
      </p:sp>
      <p:sp>
        <p:nvSpPr>
          <p:cNvPr id="40" name="Shape 38"/>
          <p:cNvSpPr/>
          <p:nvPr/>
        </p:nvSpPr>
        <p:spPr>
          <a:xfrm>
            <a:off x="7211416" y="4197096"/>
            <a:ext cx="1370533" cy="521208"/>
          </a:xfrm>
          <a:prstGeom prst="roundRect">
            <a:avLst>
              <a:gd name="adj" fmla="val 10526"/>
            </a:avLst>
          </a:prstGeom>
          <a:solidFill>
            <a:srgbClr val="E2EBF4"/>
          </a:solidFill>
          <a:ln w="9525">
            <a:solidFill>
              <a:srgbClr val="B9CCE0"/>
            </a:solidFill>
            <a:prstDash val="solid"/>
          </a:ln>
        </p:spPr>
      </p:sp>
      <p:sp>
        <p:nvSpPr>
          <p:cNvPr id="41" name="Text 39"/>
          <p:cNvSpPr txBox="1"/>
          <p:nvPr/>
        </p:nvSpPr>
        <p:spPr>
          <a:xfrm>
            <a:off x="7257136" y="4197096"/>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Validar secuencia de sistemas</a:t>
            </a:r>
            <a:endParaRPr lang="en-US" sz="1150" dirty="0"/>
          </a:p>
        </p:txBody>
      </p:sp>
      <p:sp>
        <p:nvSpPr>
          <p:cNvPr id="42" name="Shape 40"/>
          <p:cNvSpPr/>
          <p:nvPr/>
        </p:nvSpPr>
        <p:spPr>
          <a:xfrm>
            <a:off x="548640" y="4864608"/>
            <a:ext cx="11094415" cy="704088"/>
          </a:xfrm>
          <a:prstGeom prst="rect">
            <a:avLst/>
          </a:prstGeom>
          <a:solidFill>
            <a:srgbClr val="F4F7FA"/>
          </a:solidFill>
          <a:ln w="6350">
            <a:solidFill>
              <a:srgbClr val="DDE4EC"/>
            </a:solidFill>
            <a:prstDash val="solid"/>
          </a:ln>
        </p:spPr>
      </p:sp>
      <p:sp>
        <p:nvSpPr>
          <p:cNvPr id="43" name="Shape 41"/>
          <p:cNvSpPr/>
          <p:nvPr/>
        </p:nvSpPr>
        <p:spPr>
          <a:xfrm>
            <a:off x="548640" y="4864608"/>
            <a:ext cx="2011680" cy="704088"/>
          </a:xfrm>
          <a:prstGeom prst="rect">
            <a:avLst/>
          </a:prstGeom>
          <a:solidFill>
            <a:srgbClr val="1F4E79"/>
          </a:solidFill>
          <a:ln w="12700">
            <a:solidFill>
              <a:srgbClr val="1F4E79"/>
            </a:solidFill>
            <a:prstDash val="solid"/>
          </a:ln>
        </p:spPr>
      </p:sp>
      <p:sp>
        <p:nvSpPr>
          <p:cNvPr id="44" name="Text 42"/>
          <p:cNvSpPr txBox="1"/>
          <p:nvPr/>
        </p:nvSpPr>
        <p:spPr>
          <a:xfrm>
            <a:off x="658368" y="4864608"/>
            <a:ext cx="1828800" cy="70408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CTR</a:t>
            </a:r>
            <a:endParaRPr lang="en-US" sz="1300" dirty="0"/>
          </a:p>
          <a:p>
            <a:pPr indent="0" marL="0">
              <a:buNone/>
            </a:pPr>
            <a:r>
              <a:rPr lang="en-US" sz="1100" dirty="0">
                <a:solidFill>
                  <a:srgbClr val="FFFFFF"/>
                </a:solidFill>
                <a:latin typeface="Calibri" pitchFamily="34" charset="0"/>
                <a:ea typeface="Calibri" pitchFamily="34" charset="-122"/>
                <a:cs typeface="Calibri" pitchFamily="34" charset="-120"/>
              </a:rPr>
              <a:t>Controles del proyecto</a:t>
            </a:r>
            <a:endParaRPr lang="en-US" sz="1300" dirty="0"/>
          </a:p>
        </p:txBody>
      </p:sp>
      <p:sp>
        <p:nvSpPr>
          <p:cNvPr id="45" name="Shape 43"/>
          <p:cNvSpPr/>
          <p:nvPr/>
        </p:nvSpPr>
        <p:spPr>
          <a:xfrm>
            <a:off x="8709965" y="4956048"/>
            <a:ext cx="1370533" cy="521208"/>
          </a:xfrm>
          <a:prstGeom prst="roundRect">
            <a:avLst>
              <a:gd name="adj" fmla="val 10526"/>
            </a:avLst>
          </a:prstGeom>
          <a:solidFill>
            <a:srgbClr val="E2EBF4"/>
          </a:solidFill>
          <a:ln w="9525">
            <a:solidFill>
              <a:srgbClr val="B9CCE0"/>
            </a:solidFill>
            <a:prstDash val="solid"/>
          </a:ln>
        </p:spPr>
      </p:sp>
      <p:sp>
        <p:nvSpPr>
          <p:cNvPr id="46" name="Text 44"/>
          <p:cNvSpPr txBox="1"/>
          <p:nvPr/>
        </p:nvSpPr>
        <p:spPr>
          <a:xfrm>
            <a:off x="8755685" y="4956048"/>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Fechas hacia atrás</a:t>
            </a:r>
            <a:endParaRPr lang="en-US" sz="1150" dirty="0"/>
          </a:p>
        </p:txBody>
      </p:sp>
      <p:sp>
        <p:nvSpPr>
          <p:cNvPr id="47" name="Shape 45"/>
          <p:cNvSpPr/>
          <p:nvPr/>
        </p:nvSpPr>
        <p:spPr>
          <a:xfrm>
            <a:off x="10208514" y="4956048"/>
            <a:ext cx="1370533" cy="521208"/>
          </a:xfrm>
          <a:prstGeom prst="roundRect">
            <a:avLst>
              <a:gd name="adj" fmla="val 10526"/>
            </a:avLst>
          </a:prstGeom>
          <a:solidFill>
            <a:srgbClr val="E2EBF4"/>
          </a:solidFill>
          <a:ln w="9525">
            <a:solidFill>
              <a:srgbClr val="B9CCE0"/>
            </a:solidFill>
            <a:prstDash val="solid"/>
          </a:ln>
        </p:spPr>
      </p:sp>
      <p:sp>
        <p:nvSpPr>
          <p:cNvPr id="48" name="Text 46"/>
          <p:cNvSpPr txBox="1"/>
          <p:nvPr/>
        </p:nvSpPr>
        <p:spPr>
          <a:xfrm>
            <a:off x="10254234" y="4956048"/>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Cronograma nivel 3</a:t>
            </a:r>
            <a:endParaRPr lang="en-US" sz="1150" dirty="0"/>
          </a:p>
        </p:txBody>
      </p:sp>
      <p:sp>
        <p:nvSpPr>
          <p:cNvPr id="49" name="Shape 47"/>
          <p:cNvSpPr/>
          <p:nvPr/>
        </p:nvSpPr>
        <p:spPr>
          <a:xfrm>
            <a:off x="548640" y="5623560"/>
            <a:ext cx="11094415" cy="704088"/>
          </a:xfrm>
          <a:prstGeom prst="rect">
            <a:avLst/>
          </a:prstGeom>
          <a:solidFill>
            <a:srgbClr val="FFFFFF"/>
          </a:solidFill>
          <a:ln w="6350">
            <a:solidFill>
              <a:srgbClr val="DDE4EC"/>
            </a:solidFill>
            <a:prstDash val="solid"/>
          </a:ln>
        </p:spPr>
      </p:sp>
      <p:sp>
        <p:nvSpPr>
          <p:cNvPr id="50" name="Shape 48"/>
          <p:cNvSpPr/>
          <p:nvPr/>
        </p:nvSpPr>
        <p:spPr>
          <a:xfrm>
            <a:off x="548640" y="5623560"/>
            <a:ext cx="2011680" cy="704088"/>
          </a:xfrm>
          <a:prstGeom prst="rect">
            <a:avLst/>
          </a:prstGeom>
          <a:solidFill>
            <a:srgbClr val="1F4E79"/>
          </a:solidFill>
          <a:ln w="12700">
            <a:solidFill>
              <a:srgbClr val="1F4E79"/>
            </a:solidFill>
            <a:prstDash val="solid"/>
          </a:ln>
        </p:spPr>
      </p:sp>
      <p:sp>
        <p:nvSpPr>
          <p:cNvPr id="51" name="Text 49"/>
          <p:cNvSpPr txBox="1"/>
          <p:nvPr/>
        </p:nvSpPr>
        <p:spPr>
          <a:xfrm>
            <a:off x="658368" y="5623560"/>
            <a:ext cx="1828800" cy="70408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CLI</a:t>
            </a:r>
            <a:endParaRPr lang="en-US" sz="1300" dirty="0"/>
          </a:p>
          <a:p>
            <a:pPr indent="0" marL="0">
              <a:buNone/>
            </a:pPr>
            <a:r>
              <a:rPr lang="en-US" sz="1100" dirty="0">
                <a:solidFill>
                  <a:srgbClr val="FFFFFF"/>
                </a:solidFill>
                <a:latin typeface="Calibri" pitchFamily="34" charset="0"/>
                <a:ea typeface="Calibri" pitchFamily="34" charset="-122"/>
                <a:cs typeface="Calibri" pitchFamily="34" charset="-120"/>
              </a:rPr>
              <a:t>Cliente</a:t>
            </a:r>
            <a:endParaRPr lang="en-US" sz="1300" dirty="0"/>
          </a:p>
        </p:txBody>
      </p:sp>
      <p:sp>
        <p:nvSpPr>
          <p:cNvPr id="52" name="Shape 50"/>
          <p:cNvSpPr/>
          <p:nvPr/>
        </p:nvSpPr>
        <p:spPr>
          <a:xfrm>
            <a:off x="2715768" y="5715000"/>
            <a:ext cx="1370533" cy="521208"/>
          </a:xfrm>
          <a:prstGeom prst="roundRect">
            <a:avLst>
              <a:gd name="adj" fmla="val 10526"/>
            </a:avLst>
          </a:prstGeom>
          <a:solidFill>
            <a:srgbClr val="E2EBF4"/>
          </a:solidFill>
          <a:ln w="9525">
            <a:solidFill>
              <a:srgbClr val="B9CCE0"/>
            </a:solidFill>
            <a:prstDash val="solid"/>
          </a:ln>
        </p:spPr>
      </p:sp>
      <p:sp>
        <p:nvSpPr>
          <p:cNvPr id="53" name="Text 51"/>
          <p:cNvSpPr txBox="1"/>
          <p:nvPr/>
        </p:nvSpPr>
        <p:spPr>
          <a:xfrm>
            <a:off x="2761488" y="5715000"/>
            <a:ext cx="1279093" cy="521208"/>
          </a:xfrm>
          <a:prstGeom prst="rect">
            <a:avLst/>
          </a:prstGeom>
          <a:noFill/>
          <a:ln/>
        </p:spPr>
        <p:txBody>
          <a:bodyPr wrap="square" lIns="0" tIns="0" rIns="0" bIns="0" rtlCol="0" anchor="ctr"/>
          <a:lstStyle/>
          <a:p>
            <a:pPr algn="ctr" indent="0" marL="0">
              <a:buNone/>
            </a:pPr>
            <a:r>
              <a:rPr lang="en-US" sz="1150" dirty="0">
                <a:solidFill>
                  <a:srgbClr val="1B1F24"/>
                </a:solidFill>
                <a:latin typeface="Calibri" pitchFamily="34" charset="0"/>
                <a:ea typeface="Calibri" pitchFamily="34" charset="-122"/>
                <a:cs typeface="Calibri" pitchFamily="34" charset="-120"/>
              </a:rPr>
              <a:t>Prioridades de operación</a:t>
            </a:r>
            <a:endParaRPr lang="en-US" sz="1150" dirty="0"/>
          </a:p>
        </p:txBody>
      </p:sp>
      <p:sp>
        <p:nvSpPr>
          <p:cNvPr id="54" name="Shape 52"/>
          <p:cNvSpPr/>
          <p:nvPr/>
        </p:nvSpPr>
        <p:spPr>
          <a:xfrm>
            <a:off x="10208514" y="5715000"/>
            <a:ext cx="1370533" cy="521208"/>
          </a:xfrm>
          <a:prstGeom prst="roundRect">
            <a:avLst>
              <a:gd name="adj" fmla="val 10526"/>
            </a:avLst>
          </a:prstGeom>
          <a:solidFill>
            <a:srgbClr val="F5A623"/>
          </a:solidFill>
          <a:ln w="9525">
            <a:solidFill>
              <a:srgbClr val="B9CCE0"/>
            </a:solidFill>
            <a:prstDash val="solid"/>
          </a:ln>
        </p:spPr>
      </p:sp>
      <p:sp>
        <p:nvSpPr>
          <p:cNvPr id="55" name="Text 53"/>
          <p:cNvSpPr txBox="1"/>
          <p:nvPr/>
        </p:nvSpPr>
        <p:spPr>
          <a:xfrm>
            <a:off x="10254234" y="5715000"/>
            <a:ext cx="1279093" cy="52120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Aprobar y congelar (H2)</a:t>
            </a:r>
            <a:endParaRPr lang="en-US" sz="1150" dirty="0"/>
          </a:p>
        </p:txBody>
      </p:sp>
      <p:sp>
        <p:nvSpPr>
          <p:cNvPr id="56" name="Text 54"/>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57" name="Text 55"/>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SIPOC del proceso del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Proveedores, entradas, proceso, salidas y clientes</a:t>
            </a:r>
            <a:endParaRPr lang="en-US" sz="15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011680"/>
                <a:gridCol w="2468880"/>
                <a:gridCol w="2194560"/>
                <a:gridCol w="2286000"/>
                <a:gridCol w="201168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Proveedores</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Entradas</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Proceso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Salidas</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Clientes</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Cliente y operaciones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Prioridades de operación; lista de sistemas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1 · Preparar insumos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Paquete de insumos del taller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Participantes del IPP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Construcción (CON, SUP)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Plano general, CWA, nivel 1</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2 · Secuencia sin restricciones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Borrador del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Ingeniería, procura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Ingeniería, procura, COM</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Plazos de diseño y fabricación; estrategias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3 · Taller IPP con restricciones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PoC ajustado; supuestos y riesgos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CTR, CLI</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Controles (CTR)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PoC ajustado; parámetros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4 · Fechas hacia atrás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EWP, CWP y RAS requeridos; nivel 3</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ING, PRO, LWF</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CHA, CON, CLI</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Acta y plantilla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5 · Aprobar y congelar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PoC congelado (H2); plan de liberación (H3)</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Todo el proyecto; contratos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Proceso detallado para cada fase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Cinco pasos con responsable; después, comunicar el PoC y mantenerlo con control de cambios</a:t>
            </a:r>
            <a:endParaRPr lang="en-US" sz="1500" dirty="0"/>
          </a:p>
        </p:txBody>
      </p:sp>
      <p:sp>
        <p:nvSpPr>
          <p:cNvPr id="4" name="Shape 2"/>
          <p:cNvSpPr/>
          <p:nvPr/>
        </p:nvSpPr>
        <p:spPr>
          <a:xfrm>
            <a:off x="1566642" y="2103120"/>
            <a:ext cx="9058412" cy="0"/>
          </a:xfrm>
          <a:prstGeom prst="line">
            <a:avLst/>
          </a:prstGeom>
          <a:noFill/>
          <a:ln w="31750">
            <a:solidFill>
              <a:srgbClr val="B9CCE0"/>
            </a:solidFill>
            <a:prstDash val="solid"/>
          </a:ln>
        </p:spPr>
      </p:sp>
      <p:sp>
        <p:nvSpPr>
          <p:cNvPr id="5" name="Shape 3"/>
          <p:cNvSpPr/>
          <p:nvPr/>
        </p:nvSpPr>
        <p:spPr>
          <a:xfrm>
            <a:off x="1200882" y="1737360"/>
            <a:ext cx="731520" cy="731520"/>
          </a:xfrm>
          <a:prstGeom prst="ellipse">
            <a:avLst/>
          </a:prstGeom>
          <a:solidFill>
            <a:srgbClr val="1F4E79"/>
          </a:solidFill>
          <a:ln w="38100">
            <a:solidFill>
              <a:srgbClr val="FFFFFF"/>
            </a:solidFill>
            <a:prstDash val="solid"/>
          </a:ln>
        </p:spPr>
      </p:sp>
      <p:sp>
        <p:nvSpPr>
          <p:cNvPr id="6" name="Text 4"/>
          <p:cNvSpPr txBox="1"/>
          <p:nvPr/>
        </p:nvSpPr>
        <p:spPr>
          <a:xfrm>
            <a:off x="1200882"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036003" cy="3291840"/>
          </a:xfrm>
          <a:prstGeom prst="roundRect">
            <a:avLst>
              <a:gd name="adj" fmla="val 4491"/>
            </a:avLst>
          </a:prstGeom>
          <a:solidFill>
            <a:srgbClr val="F4F7FA"/>
          </a:solidFill>
          <a:ln w="9525">
            <a:solidFill>
              <a:srgbClr val="DDE4EC"/>
            </a:solidFill>
            <a:prstDash val="solid"/>
          </a:ln>
        </p:spPr>
      </p:sp>
      <p:sp>
        <p:nvSpPr>
          <p:cNvPr id="8" name="Text 6"/>
          <p:cNvSpPr txBox="1"/>
          <p:nvPr/>
        </p:nvSpPr>
        <p:spPr>
          <a:xfrm>
            <a:off x="731520"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1 · Preparar insumos</a:t>
            </a:r>
            <a:endParaRPr lang="en-US" sz="1350" dirty="0"/>
          </a:p>
        </p:txBody>
      </p:sp>
      <p:sp>
        <p:nvSpPr>
          <p:cNvPr id="9" name="Text 7"/>
          <p:cNvSpPr txBox="1"/>
          <p:nvPr/>
        </p:nvSpPr>
        <p:spPr>
          <a:xfrm>
            <a:off x="731520"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Plano de CWA, lista de sistemas, cronograma nivel 2/3, lecciones de la fase anterior. Resp.: CHA.</a:t>
            </a:r>
            <a:endParaRPr lang="en-US" sz="1450" dirty="0"/>
          </a:p>
        </p:txBody>
      </p:sp>
      <p:sp>
        <p:nvSpPr>
          <p:cNvPr id="10" name="Shape 8"/>
          <p:cNvSpPr/>
          <p:nvPr/>
        </p:nvSpPr>
        <p:spPr>
          <a:xfrm>
            <a:off x="3465485" y="1737360"/>
            <a:ext cx="731520" cy="731520"/>
          </a:xfrm>
          <a:prstGeom prst="ellipse">
            <a:avLst/>
          </a:prstGeom>
          <a:solidFill>
            <a:srgbClr val="1F4E79"/>
          </a:solidFill>
          <a:ln w="38100">
            <a:solidFill>
              <a:srgbClr val="FFFFFF"/>
            </a:solidFill>
            <a:prstDash val="solid"/>
          </a:ln>
        </p:spPr>
      </p:sp>
      <p:sp>
        <p:nvSpPr>
          <p:cNvPr id="11" name="Text 9"/>
          <p:cNvSpPr txBox="1"/>
          <p:nvPr/>
        </p:nvSpPr>
        <p:spPr>
          <a:xfrm>
            <a:off x="346548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2813243" y="2743200"/>
            <a:ext cx="2036003" cy="3291840"/>
          </a:xfrm>
          <a:prstGeom prst="roundRect">
            <a:avLst>
              <a:gd name="adj" fmla="val 4491"/>
            </a:avLst>
          </a:prstGeom>
          <a:solidFill>
            <a:srgbClr val="F4F7FA"/>
          </a:solidFill>
          <a:ln w="9525">
            <a:solidFill>
              <a:srgbClr val="DDE4EC"/>
            </a:solidFill>
            <a:prstDash val="solid"/>
          </a:ln>
        </p:spPr>
      </p:sp>
      <p:sp>
        <p:nvSpPr>
          <p:cNvPr id="13" name="Text 11"/>
          <p:cNvSpPr txBox="1"/>
          <p:nvPr/>
        </p:nvSpPr>
        <p:spPr>
          <a:xfrm>
            <a:off x="2996123"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2 · Secuencia sin restricciones</a:t>
            </a:r>
            <a:endParaRPr lang="en-US" sz="1350" dirty="0"/>
          </a:p>
        </p:txBody>
      </p:sp>
      <p:sp>
        <p:nvSpPr>
          <p:cNvPr id="14" name="Text 12"/>
          <p:cNvSpPr txBox="1"/>
          <p:nvPr/>
        </p:nvSpPr>
        <p:spPr>
          <a:xfrm>
            <a:off x="2996123"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Orden de CWA y CWP desde los sistemas a entregar primero. Resp.: CON.</a:t>
            </a:r>
            <a:endParaRPr lang="en-US" sz="1450" dirty="0"/>
          </a:p>
        </p:txBody>
      </p:sp>
      <p:sp>
        <p:nvSpPr>
          <p:cNvPr id="15" name="Shape 13"/>
          <p:cNvSpPr/>
          <p:nvPr/>
        </p:nvSpPr>
        <p:spPr>
          <a:xfrm>
            <a:off x="5730088" y="1737360"/>
            <a:ext cx="731520" cy="731520"/>
          </a:xfrm>
          <a:prstGeom prst="ellipse">
            <a:avLst/>
          </a:prstGeom>
          <a:solidFill>
            <a:srgbClr val="1F4E79"/>
          </a:solidFill>
          <a:ln w="38100">
            <a:solidFill>
              <a:srgbClr val="FFFFFF"/>
            </a:solidFill>
            <a:prstDash val="solid"/>
          </a:ln>
        </p:spPr>
      </p:sp>
      <p:sp>
        <p:nvSpPr>
          <p:cNvPr id="16" name="Text 14"/>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5077846" y="2743200"/>
            <a:ext cx="2036003" cy="3291840"/>
          </a:xfrm>
          <a:prstGeom prst="roundRect">
            <a:avLst>
              <a:gd name="adj" fmla="val 4491"/>
            </a:avLst>
          </a:prstGeom>
          <a:solidFill>
            <a:srgbClr val="F4F7FA"/>
          </a:solidFill>
          <a:ln w="9525">
            <a:solidFill>
              <a:srgbClr val="DDE4EC"/>
            </a:solidFill>
            <a:prstDash val="solid"/>
          </a:ln>
        </p:spPr>
      </p:sp>
      <p:sp>
        <p:nvSpPr>
          <p:cNvPr id="18" name="Text 16"/>
          <p:cNvSpPr txBox="1"/>
          <p:nvPr/>
        </p:nvSpPr>
        <p:spPr>
          <a:xfrm>
            <a:off x="5260726"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3 · Taller IPP</a:t>
            </a:r>
            <a:endParaRPr lang="en-US" sz="1350" dirty="0"/>
          </a:p>
        </p:txBody>
      </p:sp>
      <p:sp>
        <p:nvSpPr>
          <p:cNvPr id="19" name="Text 17"/>
          <p:cNvSpPr txBox="1"/>
          <p:nvPr/>
        </p:nvSpPr>
        <p:spPr>
          <a:xfrm>
            <a:off x="5260726"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Predecesores, interfaces y recursos críticos; plazos de cada área. Resp.: CHA facilita, CON lidera.</a:t>
            </a:r>
            <a:endParaRPr lang="en-US" sz="1450" dirty="0"/>
          </a:p>
        </p:txBody>
      </p:sp>
      <p:sp>
        <p:nvSpPr>
          <p:cNvPr id="20" name="Shape 18"/>
          <p:cNvSpPr/>
          <p:nvPr/>
        </p:nvSpPr>
        <p:spPr>
          <a:xfrm>
            <a:off x="7994691" y="1737360"/>
            <a:ext cx="731520" cy="731520"/>
          </a:xfrm>
          <a:prstGeom prst="ellipse">
            <a:avLst/>
          </a:prstGeom>
          <a:solidFill>
            <a:srgbClr val="1F4E79"/>
          </a:solidFill>
          <a:ln w="38100">
            <a:solidFill>
              <a:srgbClr val="FFFFFF"/>
            </a:solidFill>
            <a:prstDash val="solid"/>
          </a:ln>
        </p:spPr>
      </p:sp>
      <p:sp>
        <p:nvSpPr>
          <p:cNvPr id="21" name="Text 19"/>
          <p:cNvSpPr txBox="1"/>
          <p:nvPr/>
        </p:nvSpPr>
        <p:spPr>
          <a:xfrm>
            <a:off x="799469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7342449" y="2743200"/>
            <a:ext cx="2036003" cy="3291840"/>
          </a:xfrm>
          <a:prstGeom prst="roundRect">
            <a:avLst>
              <a:gd name="adj" fmla="val 4491"/>
            </a:avLst>
          </a:prstGeom>
          <a:solidFill>
            <a:srgbClr val="F4F7FA"/>
          </a:solidFill>
          <a:ln w="9525">
            <a:solidFill>
              <a:srgbClr val="DDE4EC"/>
            </a:solidFill>
            <a:prstDash val="solid"/>
          </a:ln>
        </p:spPr>
      </p:sp>
      <p:sp>
        <p:nvSpPr>
          <p:cNvPr id="23" name="Text 21"/>
          <p:cNvSpPr txBox="1"/>
          <p:nvPr/>
        </p:nvSpPr>
        <p:spPr>
          <a:xfrm>
            <a:off x="7525329"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4 · Fechas hacia atrás</a:t>
            </a:r>
            <a:endParaRPr lang="en-US" sz="1350" dirty="0"/>
          </a:p>
        </p:txBody>
      </p:sp>
      <p:sp>
        <p:nvSpPr>
          <p:cNvPr id="24" name="Text 22"/>
          <p:cNvSpPr txBox="1"/>
          <p:nvPr/>
        </p:nvSpPr>
        <p:spPr>
          <a:xfrm>
            <a:off x="7525329"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EWP IFC requerido, emisión del CWP y RAS. Resp.: CTR, con ING y PRO.</a:t>
            </a:r>
            <a:endParaRPr lang="en-US" sz="1450" dirty="0"/>
          </a:p>
        </p:txBody>
      </p:sp>
      <p:sp>
        <p:nvSpPr>
          <p:cNvPr id="25" name="Shape 23"/>
          <p:cNvSpPr/>
          <p:nvPr/>
        </p:nvSpPr>
        <p:spPr>
          <a:xfrm>
            <a:off x="10259294" y="1737360"/>
            <a:ext cx="731520" cy="731520"/>
          </a:xfrm>
          <a:prstGeom prst="ellipse">
            <a:avLst/>
          </a:prstGeom>
          <a:solidFill>
            <a:srgbClr val="F5A623"/>
          </a:solidFill>
          <a:ln w="38100">
            <a:solidFill>
              <a:srgbClr val="FFFFFF"/>
            </a:solidFill>
            <a:prstDash val="solid"/>
          </a:ln>
        </p:spPr>
      </p:sp>
      <p:sp>
        <p:nvSpPr>
          <p:cNvPr id="26" name="Text 24"/>
          <p:cNvSpPr txBox="1"/>
          <p:nvPr/>
        </p:nvSpPr>
        <p:spPr>
          <a:xfrm>
            <a:off x="10259294" y="1737360"/>
            <a:ext cx="731520" cy="731520"/>
          </a:xfrm>
          <a:prstGeom prst="rect">
            <a:avLst/>
          </a:prstGeom>
          <a:noFill/>
          <a:ln/>
        </p:spPr>
        <p:txBody>
          <a:bodyPr wrap="square" lIns="0" tIns="0" rIns="0" bIns="0" rtlCol="0" anchor="ctr"/>
          <a:lstStyle/>
          <a:p>
            <a:pPr algn="ctr" indent="0" marL="0">
              <a:buNone/>
            </a:pPr>
            <a:r>
              <a:rPr lang="en-US" sz="2200" b="1" dirty="0">
                <a:solidFill>
                  <a:srgbClr val="0F2A43"/>
                </a:solidFill>
                <a:latin typeface="Calibri" pitchFamily="34" charset="0"/>
                <a:ea typeface="Calibri" pitchFamily="34" charset="-122"/>
                <a:cs typeface="Calibri" pitchFamily="34" charset="-120"/>
              </a:rPr>
              <a:t>5</a:t>
            </a:r>
            <a:endParaRPr lang="en-US" sz="2200" dirty="0"/>
          </a:p>
        </p:txBody>
      </p:sp>
      <p:sp>
        <p:nvSpPr>
          <p:cNvPr id="27" name="Shape 25"/>
          <p:cNvSpPr/>
          <p:nvPr/>
        </p:nvSpPr>
        <p:spPr>
          <a:xfrm>
            <a:off x="9607052" y="2743200"/>
            <a:ext cx="2036003" cy="3291840"/>
          </a:xfrm>
          <a:prstGeom prst="roundRect">
            <a:avLst>
              <a:gd name="adj" fmla="val 4491"/>
            </a:avLst>
          </a:prstGeom>
          <a:solidFill>
            <a:srgbClr val="F4F7FA"/>
          </a:solidFill>
          <a:ln w="9525">
            <a:solidFill>
              <a:srgbClr val="DDE4EC"/>
            </a:solidFill>
            <a:prstDash val="solid"/>
          </a:ln>
        </p:spPr>
      </p:sp>
      <p:sp>
        <p:nvSpPr>
          <p:cNvPr id="28" name="Text 26"/>
          <p:cNvSpPr txBox="1"/>
          <p:nvPr/>
        </p:nvSpPr>
        <p:spPr>
          <a:xfrm>
            <a:off x="9789932"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5 · Aprobar y congelar</a:t>
            </a:r>
            <a:endParaRPr lang="en-US" sz="1350" dirty="0"/>
          </a:p>
        </p:txBody>
      </p:sp>
      <p:sp>
        <p:nvSpPr>
          <p:cNvPr id="29" name="Text 27"/>
          <p:cNvSpPr txBox="1"/>
          <p:nvPr/>
        </p:nvSpPr>
        <p:spPr>
          <a:xfrm>
            <a:off x="9789932"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Acta firmada; PoC congelado (H2); plan de liberación (H3). Resp.: CLI y CON.</a:t>
            </a:r>
            <a:endParaRPr lang="en-US" sz="1450" dirty="0"/>
          </a:p>
        </p:txBody>
      </p:sp>
      <p:sp>
        <p:nvSpPr>
          <p:cNvPr id="30" name="Text 2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31" name="Text 2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Actualizar el PoC: control de cambios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Cuándo y cómo se modifica una ruta congelada</a:t>
            </a:r>
            <a:endParaRPr lang="en-US" sz="1500" dirty="0"/>
          </a:p>
        </p:txBody>
      </p:sp>
      <p:sp>
        <p:nvSpPr>
          <p:cNvPr id="4" name="Shape 2"/>
          <p:cNvSpPr/>
          <p:nvPr/>
        </p:nvSpPr>
        <p:spPr>
          <a:xfrm>
            <a:off x="548640" y="1554480"/>
            <a:ext cx="3291840" cy="4663440"/>
          </a:xfrm>
          <a:prstGeom prst="roundRect">
            <a:avLst>
              <a:gd name="adj" fmla="val 2222"/>
            </a:avLst>
          </a:prstGeom>
          <a:solidFill>
            <a:srgbClr val="FFF3DC"/>
          </a:solidFill>
          <a:ln w="9525">
            <a:solidFill>
              <a:srgbClr val="F2D59B"/>
            </a:solidFill>
            <a:prstDash val="solid"/>
          </a:ln>
        </p:spPr>
      </p:sp>
      <p:sp>
        <p:nvSpPr>
          <p:cNvPr id="5" name="Text 3"/>
          <p:cNvSpPr txBox="1"/>
          <p:nvPr/>
        </p:nvSpPr>
        <p:spPr>
          <a:xfrm>
            <a:off x="777240" y="1691640"/>
            <a:ext cx="2834640" cy="274320"/>
          </a:xfrm>
          <a:prstGeom prst="rect">
            <a:avLst/>
          </a:prstGeom>
          <a:noFill/>
          <a:ln/>
        </p:spPr>
        <p:txBody>
          <a:bodyPr wrap="square" lIns="0" tIns="0" rIns="0" bIns="0" rtlCol="0" anchor="t"/>
          <a:lstStyle/>
          <a:p>
            <a:pPr indent="0" marL="0">
              <a:buNone/>
            </a:pPr>
            <a:r>
              <a:rPr lang="en-US" sz="1200" b="1" spc="100" kern="0" dirty="0">
                <a:solidFill>
                  <a:srgbClr val="B7760B"/>
                </a:solidFill>
                <a:latin typeface="Calibri" pitchFamily="34" charset="0"/>
                <a:ea typeface="Calibri" pitchFamily="34" charset="-122"/>
                <a:cs typeface="Calibri" pitchFamily="34" charset="-120"/>
              </a:rPr>
              <a:t>DISPARADORES</a:t>
            </a:r>
            <a:endParaRPr lang="en-US" sz="1200" dirty="0"/>
          </a:p>
        </p:txBody>
      </p:sp>
      <p:sp>
        <p:nvSpPr>
          <p:cNvPr id="6" name="Text 4"/>
          <p:cNvSpPr txBox="1"/>
          <p:nvPr/>
        </p:nvSpPr>
        <p:spPr>
          <a:xfrm>
            <a:off x="777240" y="2057400"/>
            <a:ext cx="2880360" cy="4023360"/>
          </a:xfrm>
          <a:prstGeom prst="rect">
            <a:avLst/>
          </a:prstGeom>
          <a:noFill/>
          <a:ln/>
        </p:spPr>
        <p:txBody>
          <a:bodyPr wrap="square" lIns="0" tIns="0" rIns="0" bIns="0" rtlCol="0" anchor="t"/>
          <a:lstStyle/>
          <a:p>
            <a:pPr marL="177800" indent="-177800">
              <a:spcAft>
                <a:spcPts val="1000"/>
              </a:spcAft>
              <a:buSzPct val="100000"/>
              <a:buChar char="•"/>
            </a:pPr>
            <a:r>
              <a:rPr lang="en-US" sz="1450" dirty="0">
                <a:solidFill>
                  <a:srgbClr val="1B1F24"/>
                </a:solidFill>
                <a:latin typeface="Calibri" pitchFamily="34" charset="0"/>
                <a:ea typeface="Calibri" pitchFamily="34" charset="-122"/>
                <a:cs typeface="Calibri" pitchFamily="34" charset="-120"/>
              </a:rPr>
              <a:t>Atraso de EWP o PWP que no se puede recuperar</a:t>
            </a:r>
            <a:endParaRPr lang="en-US" sz="1450" dirty="0"/>
          </a:p>
          <a:p>
            <a:pPr marL="177800" indent="-177800">
              <a:spcAft>
                <a:spcPts val="1000"/>
              </a:spcAft>
              <a:buSzPct val="100000"/>
              <a:buChar char="•"/>
            </a:pPr>
            <a:r>
              <a:rPr lang="en-US" sz="1450" dirty="0">
                <a:solidFill>
                  <a:srgbClr val="1B1F24"/>
                </a:solidFill>
                <a:latin typeface="Calibri" pitchFamily="34" charset="0"/>
                <a:ea typeface="Calibri" pitchFamily="34" charset="-122"/>
                <a:cs typeface="Calibri" pitchFamily="34" charset="-120"/>
              </a:rPr>
              <a:t>Cambio de alcance</a:t>
            </a:r>
            <a:endParaRPr lang="en-US" sz="1450" dirty="0"/>
          </a:p>
          <a:p>
            <a:pPr marL="177800" indent="-177800">
              <a:spcAft>
                <a:spcPts val="1000"/>
              </a:spcAft>
              <a:buSzPct val="100000"/>
              <a:buChar char="•"/>
            </a:pPr>
            <a:r>
              <a:rPr lang="en-US" sz="1450" dirty="0">
                <a:solidFill>
                  <a:srgbClr val="1B1F24"/>
                </a:solidFill>
                <a:latin typeface="Calibri" pitchFamily="34" charset="0"/>
                <a:ea typeface="Calibri" pitchFamily="34" charset="-122"/>
                <a:cs typeface="Calibri" pitchFamily="34" charset="-120"/>
              </a:rPr>
              <a:t>Nueva prioridad de puesta en marcha</a:t>
            </a:r>
            <a:endParaRPr lang="en-US" sz="1450" dirty="0"/>
          </a:p>
          <a:p>
            <a:pPr marL="177800" indent="-177800">
              <a:spcAft>
                <a:spcPts val="1000"/>
              </a:spcAft>
              <a:buSzPct val="100000"/>
              <a:buChar char="•"/>
            </a:pPr>
            <a:r>
              <a:rPr lang="en-US" sz="1450" dirty="0">
                <a:solidFill>
                  <a:srgbClr val="1B1F24"/>
                </a:solidFill>
                <a:latin typeface="Calibri" pitchFamily="34" charset="0"/>
                <a:ea typeface="Calibri" pitchFamily="34" charset="-122"/>
                <a:cs typeface="Calibri" pitchFamily="34" charset="-120"/>
              </a:rPr>
              <a:t>Restricción dura nueva (permiso, parada, clima)</a:t>
            </a:r>
            <a:endParaRPr lang="en-US" sz="1450" dirty="0"/>
          </a:p>
          <a:p>
            <a:pPr marL="177800" indent="-177800">
              <a:spcAft>
                <a:spcPts val="1000"/>
              </a:spcAft>
              <a:buSzPct val="100000"/>
              <a:buChar char="•"/>
            </a:pPr>
            <a:r>
              <a:rPr lang="en-US" sz="1450" dirty="0">
                <a:solidFill>
                  <a:srgbClr val="1B1F24"/>
                </a:solidFill>
                <a:latin typeface="Calibri" pitchFamily="34" charset="0"/>
                <a:ea typeface="Calibri" pitchFamily="34" charset="-122"/>
                <a:cs typeface="Calibri" pitchFamily="34" charset="-120"/>
              </a:rPr>
              <a:t>Lecciones de la ejecución</a:t>
            </a:r>
            <a:endParaRPr lang="en-US" sz="1450" dirty="0"/>
          </a:p>
        </p:txBody>
      </p:sp>
      <p:sp>
        <p:nvSpPr>
          <p:cNvPr id="7" name="Shape 5"/>
          <p:cNvSpPr/>
          <p:nvPr/>
        </p:nvSpPr>
        <p:spPr>
          <a:xfrm>
            <a:off x="4206240" y="1709928"/>
            <a:ext cx="512064" cy="512064"/>
          </a:xfrm>
          <a:prstGeom prst="ellipse">
            <a:avLst/>
          </a:prstGeom>
          <a:solidFill>
            <a:srgbClr val="1F4E79"/>
          </a:solidFill>
          <a:ln w="12700">
            <a:solidFill>
              <a:srgbClr val="1F4E79"/>
            </a:solidFill>
            <a:prstDash val="solid"/>
          </a:ln>
        </p:spPr>
      </p:sp>
      <p:sp>
        <p:nvSpPr>
          <p:cNvPr id="8" name="Text 6"/>
          <p:cNvSpPr txBox="1"/>
          <p:nvPr/>
        </p:nvSpPr>
        <p:spPr>
          <a:xfrm>
            <a:off x="4206240" y="170992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Shape 7"/>
          <p:cNvSpPr/>
          <p:nvPr/>
        </p:nvSpPr>
        <p:spPr>
          <a:xfrm>
            <a:off x="4892040" y="1554480"/>
            <a:ext cx="6751015" cy="822960"/>
          </a:xfrm>
          <a:prstGeom prst="roundRect">
            <a:avLst>
              <a:gd name="adj" fmla="val 8889"/>
            </a:avLst>
          </a:prstGeom>
          <a:solidFill>
            <a:srgbClr val="F4F7FA"/>
          </a:solidFill>
          <a:ln w="9525">
            <a:solidFill>
              <a:srgbClr val="DDE4EC"/>
            </a:solidFill>
            <a:prstDash val="solid"/>
          </a:ln>
        </p:spPr>
      </p:sp>
      <p:sp>
        <p:nvSpPr>
          <p:cNvPr id="10" name="Text 8"/>
          <p:cNvSpPr txBox="1"/>
          <p:nvPr/>
        </p:nvSpPr>
        <p:spPr>
          <a:xfrm>
            <a:off x="5074920" y="1554480"/>
            <a:ext cx="6385255" cy="822960"/>
          </a:xfrm>
          <a:prstGeom prst="rect">
            <a:avLst/>
          </a:prstGeom>
          <a:noFill/>
          <a:ln/>
        </p:spPr>
        <p:txBody>
          <a:bodyPr wrap="square" lIns="0" tIns="0" rIns="0" bIns="0" rtlCol="0" anchor="ctr"/>
          <a:lstStyle/>
          <a:p>
            <a:pPr indent="0" marL="0">
              <a:buNone/>
            </a:pPr>
            <a:r>
              <a:rPr lang="en-US" sz="1600" b="1" dirty="0">
                <a:solidFill>
                  <a:srgbClr val="163A5C"/>
                </a:solidFill>
                <a:latin typeface="Calibri" pitchFamily="34" charset="0"/>
                <a:ea typeface="Calibri" pitchFamily="34" charset="-122"/>
                <a:cs typeface="Calibri" pitchFamily="34" charset="-120"/>
              </a:rPr>
              <a:t>Plantear  </a:t>
            </a:r>
            <a:pPr indent="0" marL="0">
              <a:buNone/>
            </a:pPr>
            <a:r>
              <a:rPr lang="en-US" sz="1450" dirty="0">
                <a:solidFill>
                  <a:srgbClr val="1B1F24"/>
                </a:solidFill>
                <a:latin typeface="Calibri" pitchFamily="34" charset="0"/>
                <a:ea typeface="Calibri" pitchFamily="34" charset="-122"/>
                <a:cs typeface="Calibri" pitchFamily="34" charset="-120"/>
              </a:rPr>
              <a:t>Quien detecta la necesidad (cualquier área).</a:t>
            </a:r>
            <a:endParaRPr lang="en-US" sz="1600" dirty="0"/>
          </a:p>
        </p:txBody>
      </p:sp>
      <p:sp>
        <p:nvSpPr>
          <p:cNvPr id="11" name="Shape 9"/>
          <p:cNvSpPr/>
          <p:nvPr/>
        </p:nvSpPr>
        <p:spPr>
          <a:xfrm>
            <a:off x="4462272" y="2221992"/>
            <a:ext cx="0" cy="310896"/>
          </a:xfrm>
          <a:prstGeom prst="line">
            <a:avLst/>
          </a:prstGeom>
          <a:noFill/>
          <a:ln w="25400">
            <a:solidFill>
              <a:srgbClr val="B9CCE0"/>
            </a:solidFill>
            <a:prstDash val="solid"/>
          </a:ln>
        </p:spPr>
      </p:sp>
      <p:sp>
        <p:nvSpPr>
          <p:cNvPr id="12" name="Shape 10"/>
          <p:cNvSpPr/>
          <p:nvPr/>
        </p:nvSpPr>
        <p:spPr>
          <a:xfrm>
            <a:off x="4206240" y="2674620"/>
            <a:ext cx="512064" cy="512064"/>
          </a:xfrm>
          <a:prstGeom prst="ellipse">
            <a:avLst/>
          </a:prstGeom>
          <a:solidFill>
            <a:srgbClr val="1F4E79"/>
          </a:solidFill>
          <a:ln w="12700">
            <a:solidFill>
              <a:srgbClr val="1F4E79"/>
            </a:solidFill>
            <a:prstDash val="solid"/>
          </a:ln>
        </p:spPr>
      </p:sp>
      <p:sp>
        <p:nvSpPr>
          <p:cNvPr id="13" name="Text 11"/>
          <p:cNvSpPr txBox="1"/>
          <p:nvPr/>
        </p:nvSpPr>
        <p:spPr>
          <a:xfrm>
            <a:off x="4206240" y="267462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Shape 12"/>
          <p:cNvSpPr/>
          <p:nvPr/>
        </p:nvSpPr>
        <p:spPr>
          <a:xfrm>
            <a:off x="4892040" y="2519172"/>
            <a:ext cx="6751015" cy="822960"/>
          </a:xfrm>
          <a:prstGeom prst="roundRect">
            <a:avLst>
              <a:gd name="adj" fmla="val 8889"/>
            </a:avLst>
          </a:prstGeom>
          <a:solidFill>
            <a:srgbClr val="F4F7FA"/>
          </a:solidFill>
          <a:ln w="9525">
            <a:solidFill>
              <a:srgbClr val="DDE4EC"/>
            </a:solidFill>
            <a:prstDash val="solid"/>
          </a:ln>
        </p:spPr>
      </p:sp>
      <p:sp>
        <p:nvSpPr>
          <p:cNvPr id="15" name="Text 13"/>
          <p:cNvSpPr txBox="1"/>
          <p:nvPr/>
        </p:nvSpPr>
        <p:spPr>
          <a:xfrm>
            <a:off x="5074920" y="2519172"/>
            <a:ext cx="6385255" cy="822960"/>
          </a:xfrm>
          <a:prstGeom prst="rect">
            <a:avLst/>
          </a:prstGeom>
          <a:noFill/>
          <a:ln/>
        </p:spPr>
        <p:txBody>
          <a:bodyPr wrap="square" lIns="0" tIns="0" rIns="0" bIns="0" rtlCol="0" anchor="ctr"/>
          <a:lstStyle/>
          <a:p>
            <a:pPr indent="0" marL="0">
              <a:buNone/>
            </a:pPr>
            <a:r>
              <a:rPr lang="en-US" sz="1600" b="1" dirty="0">
                <a:solidFill>
                  <a:srgbClr val="163A5C"/>
                </a:solidFill>
                <a:latin typeface="Calibri" pitchFamily="34" charset="0"/>
                <a:ea typeface="Calibri" pitchFamily="34" charset="-122"/>
                <a:cs typeface="Calibri" pitchFamily="34" charset="-120"/>
              </a:rPr>
              <a:t>Evaluar impacto  </a:t>
            </a:r>
            <a:pPr indent="0" marL="0">
              <a:buNone/>
            </a:pPr>
            <a:r>
              <a:rPr lang="en-US" sz="1450" dirty="0">
                <a:solidFill>
                  <a:srgbClr val="1B1F24"/>
                </a:solidFill>
                <a:latin typeface="Calibri" pitchFamily="34" charset="0"/>
                <a:ea typeface="Calibri" pitchFamily="34" charset="-122"/>
                <a:cs typeface="Calibri" pitchFamily="34" charset="-120"/>
              </a:rPr>
              <a:t>CTR: efecto en fechas de EWP, CWP, RAS y en el backlog.</a:t>
            </a:r>
            <a:endParaRPr lang="en-US" sz="1600" dirty="0"/>
          </a:p>
        </p:txBody>
      </p:sp>
      <p:sp>
        <p:nvSpPr>
          <p:cNvPr id="16" name="Shape 14"/>
          <p:cNvSpPr/>
          <p:nvPr/>
        </p:nvSpPr>
        <p:spPr>
          <a:xfrm>
            <a:off x="4462272" y="3186684"/>
            <a:ext cx="0" cy="310896"/>
          </a:xfrm>
          <a:prstGeom prst="line">
            <a:avLst/>
          </a:prstGeom>
          <a:noFill/>
          <a:ln w="25400">
            <a:solidFill>
              <a:srgbClr val="B9CCE0"/>
            </a:solidFill>
            <a:prstDash val="solid"/>
          </a:ln>
        </p:spPr>
      </p:sp>
      <p:sp>
        <p:nvSpPr>
          <p:cNvPr id="17" name="Shape 15"/>
          <p:cNvSpPr/>
          <p:nvPr/>
        </p:nvSpPr>
        <p:spPr>
          <a:xfrm>
            <a:off x="4206240" y="3639312"/>
            <a:ext cx="512064" cy="512064"/>
          </a:xfrm>
          <a:prstGeom prst="ellipse">
            <a:avLst/>
          </a:prstGeom>
          <a:solidFill>
            <a:srgbClr val="1F4E79"/>
          </a:solidFill>
          <a:ln w="12700">
            <a:solidFill>
              <a:srgbClr val="1F4E79"/>
            </a:solidFill>
            <a:prstDash val="solid"/>
          </a:ln>
        </p:spPr>
      </p:sp>
      <p:sp>
        <p:nvSpPr>
          <p:cNvPr id="18" name="Text 16"/>
          <p:cNvSpPr txBox="1"/>
          <p:nvPr/>
        </p:nvSpPr>
        <p:spPr>
          <a:xfrm>
            <a:off x="4206240" y="363931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Shape 17"/>
          <p:cNvSpPr/>
          <p:nvPr/>
        </p:nvSpPr>
        <p:spPr>
          <a:xfrm>
            <a:off x="4892040" y="3483864"/>
            <a:ext cx="6751015" cy="822960"/>
          </a:xfrm>
          <a:prstGeom prst="roundRect">
            <a:avLst>
              <a:gd name="adj" fmla="val 8889"/>
            </a:avLst>
          </a:prstGeom>
          <a:solidFill>
            <a:srgbClr val="F4F7FA"/>
          </a:solidFill>
          <a:ln w="9525">
            <a:solidFill>
              <a:srgbClr val="DDE4EC"/>
            </a:solidFill>
            <a:prstDash val="solid"/>
          </a:ln>
        </p:spPr>
      </p:sp>
      <p:sp>
        <p:nvSpPr>
          <p:cNvPr id="20" name="Text 18"/>
          <p:cNvSpPr txBox="1"/>
          <p:nvPr/>
        </p:nvSpPr>
        <p:spPr>
          <a:xfrm>
            <a:off x="5074920" y="3483864"/>
            <a:ext cx="6385255" cy="822960"/>
          </a:xfrm>
          <a:prstGeom prst="rect">
            <a:avLst/>
          </a:prstGeom>
          <a:noFill/>
          <a:ln/>
        </p:spPr>
        <p:txBody>
          <a:bodyPr wrap="square" lIns="0" tIns="0" rIns="0" bIns="0" rtlCol="0" anchor="ctr"/>
          <a:lstStyle/>
          <a:p>
            <a:pPr indent="0" marL="0">
              <a:buNone/>
            </a:pPr>
            <a:r>
              <a:rPr lang="en-US" sz="1600" b="1" dirty="0">
                <a:solidFill>
                  <a:srgbClr val="163A5C"/>
                </a:solidFill>
                <a:latin typeface="Calibri" pitchFamily="34" charset="0"/>
                <a:ea typeface="Calibri" pitchFamily="34" charset="-122"/>
                <a:cs typeface="Calibri" pitchFamily="34" charset="-120"/>
              </a:rPr>
              <a:t>Taller corto  </a:t>
            </a:r>
            <a:pPr indent="0" marL="0">
              <a:buNone/>
            </a:pPr>
            <a:r>
              <a:rPr lang="en-US" sz="1450" dirty="0">
                <a:solidFill>
                  <a:srgbClr val="1B1F24"/>
                </a:solidFill>
                <a:latin typeface="Calibri" pitchFamily="34" charset="0"/>
                <a:ea typeface="Calibri" pitchFamily="34" charset="-122"/>
                <a:cs typeface="Calibri" pitchFamily="34" charset="-120"/>
              </a:rPr>
              <a:t>CHA facilita con los afectados; CON propone la nueva secuencia.</a:t>
            </a:r>
            <a:endParaRPr lang="en-US" sz="1600" dirty="0"/>
          </a:p>
        </p:txBody>
      </p:sp>
      <p:sp>
        <p:nvSpPr>
          <p:cNvPr id="21" name="Shape 19"/>
          <p:cNvSpPr/>
          <p:nvPr/>
        </p:nvSpPr>
        <p:spPr>
          <a:xfrm>
            <a:off x="4462272" y="4151376"/>
            <a:ext cx="0" cy="310896"/>
          </a:xfrm>
          <a:prstGeom prst="line">
            <a:avLst/>
          </a:prstGeom>
          <a:noFill/>
          <a:ln w="25400">
            <a:solidFill>
              <a:srgbClr val="B9CCE0"/>
            </a:solidFill>
            <a:prstDash val="solid"/>
          </a:ln>
        </p:spPr>
      </p:sp>
      <p:sp>
        <p:nvSpPr>
          <p:cNvPr id="22" name="Shape 20"/>
          <p:cNvSpPr/>
          <p:nvPr/>
        </p:nvSpPr>
        <p:spPr>
          <a:xfrm>
            <a:off x="4206240" y="4604004"/>
            <a:ext cx="512064" cy="512064"/>
          </a:xfrm>
          <a:prstGeom prst="ellipse">
            <a:avLst/>
          </a:prstGeom>
          <a:solidFill>
            <a:srgbClr val="F5A623"/>
          </a:solidFill>
          <a:ln w="12700">
            <a:solidFill>
              <a:srgbClr val="1F4E79"/>
            </a:solidFill>
            <a:prstDash val="solid"/>
          </a:ln>
        </p:spPr>
      </p:sp>
      <p:sp>
        <p:nvSpPr>
          <p:cNvPr id="23" name="Text 21"/>
          <p:cNvSpPr txBox="1"/>
          <p:nvPr/>
        </p:nvSpPr>
        <p:spPr>
          <a:xfrm>
            <a:off x="4206240" y="4604004"/>
            <a:ext cx="512064" cy="512064"/>
          </a:xfrm>
          <a:prstGeom prst="rect">
            <a:avLst/>
          </a:prstGeom>
          <a:noFill/>
          <a:ln/>
        </p:spPr>
        <p:txBody>
          <a:bodyPr wrap="square" lIns="0" tIns="0" rIns="0" bIns="0" rtlCol="0" anchor="ctr"/>
          <a:lstStyle/>
          <a:p>
            <a:pPr algn="ctr" indent="0" marL="0">
              <a:buNone/>
            </a:pPr>
            <a:r>
              <a:rPr lang="en-US" sz="1600" b="1" dirty="0">
                <a:solidFill>
                  <a:srgbClr val="0F2A43"/>
                </a:solidFill>
                <a:latin typeface="Calibri" pitchFamily="34" charset="0"/>
                <a:ea typeface="Calibri" pitchFamily="34" charset="-122"/>
                <a:cs typeface="Calibri" pitchFamily="34" charset="-120"/>
              </a:rPr>
              <a:t>4</a:t>
            </a:r>
            <a:endParaRPr lang="en-US" sz="1600" dirty="0"/>
          </a:p>
        </p:txBody>
      </p:sp>
      <p:sp>
        <p:nvSpPr>
          <p:cNvPr id="24" name="Shape 22"/>
          <p:cNvSpPr/>
          <p:nvPr/>
        </p:nvSpPr>
        <p:spPr>
          <a:xfrm>
            <a:off x="4892040" y="4448556"/>
            <a:ext cx="6751015" cy="822960"/>
          </a:xfrm>
          <a:prstGeom prst="roundRect">
            <a:avLst>
              <a:gd name="adj" fmla="val 8889"/>
            </a:avLst>
          </a:prstGeom>
          <a:solidFill>
            <a:srgbClr val="F4F7FA"/>
          </a:solidFill>
          <a:ln w="9525">
            <a:solidFill>
              <a:srgbClr val="DDE4EC"/>
            </a:solidFill>
            <a:prstDash val="solid"/>
          </a:ln>
        </p:spPr>
      </p:sp>
      <p:sp>
        <p:nvSpPr>
          <p:cNvPr id="25" name="Text 23"/>
          <p:cNvSpPr txBox="1"/>
          <p:nvPr/>
        </p:nvSpPr>
        <p:spPr>
          <a:xfrm>
            <a:off x="5074920" y="4448556"/>
            <a:ext cx="6385255" cy="822960"/>
          </a:xfrm>
          <a:prstGeom prst="rect">
            <a:avLst/>
          </a:prstGeom>
          <a:noFill/>
          <a:ln/>
        </p:spPr>
        <p:txBody>
          <a:bodyPr wrap="square" lIns="0" tIns="0" rIns="0" bIns="0" rtlCol="0" anchor="ctr"/>
          <a:lstStyle/>
          <a:p>
            <a:pPr indent="0" marL="0">
              <a:buNone/>
            </a:pPr>
            <a:r>
              <a:rPr lang="en-US" sz="1600" b="1" dirty="0">
                <a:solidFill>
                  <a:srgbClr val="163A5C"/>
                </a:solidFill>
                <a:latin typeface="Calibri" pitchFamily="34" charset="0"/>
                <a:ea typeface="Calibri" pitchFamily="34" charset="-122"/>
                <a:cs typeface="Calibri" pitchFamily="34" charset="-120"/>
              </a:rPr>
              <a:t>Aprobar  </a:t>
            </a:r>
            <a:pPr indent="0" marL="0">
              <a:buNone/>
            </a:pPr>
            <a:r>
              <a:rPr lang="en-US" sz="1450" dirty="0">
                <a:solidFill>
                  <a:srgbClr val="1B1F24"/>
                </a:solidFill>
                <a:latin typeface="Calibri" pitchFamily="34" charset="0"/>
                <a:ea typeface="Calibri" pitchFamily="34" charset="-122"/>
                <a:cs typeface="Calibri" pitchFamily="34" charset="-120"/>
              </a:rPr>
              <a:t>CON y CLI; en el Comité AWP si es mayor.</a:t>
            </a:r>
            <a:endParaRPr lang="en-US" sz="1600" dirty="0"/>
          </a:p>
        </p:txBody>
      </p:sp>
      <p:sp>
        <p:nvSpPr>
          <p:cNvPr id="26" name="Shape 24"/>
          <p:cNvSpPr/>
          <p:nvPr/>
        </p:nvSpPr>
        <p:spPr>
          <a:xfrm>
            <a:off x="4462272" y="5116068"/>
            <a:ext cx="0" cy="310896"/>
          </a:xfrm>
          <a:prstGeom prst="line">
            <a:avLst/>
          </a:prstGeom>
          <a:noFill/>
          <a:ln w="25400">
            <a:solidFill>
              <a:srgbClr val="B9CCE0"/>
            </a:solidFill>
            <a:prstDash val="solid"/>
          </a:ln>
        </p:spPr>
      </p:sp>
      <p:sp>
        <p:nvSpPr>
          <p:cNvPr id="27" name="Shape 25"/>
          <p:cNvSpPr/>
          <p:nvPr/>
        </p:nvSpPr>
        <p:spPr>
          <a:xfrm>
            <a:off x="4206240" y="5568696"/>
            <a:ext cx="512064" cy="512064"/>
          </a:xfrm>
          <a:prstGeom prst="ellipse">
            <a:avLst/>
          </a:prstGeom>
          <a:solidFill>
            <a:srgbClr val="1F4E79"/>
          </a:solidFill>
          <a:ln w="12700">
            <a:solidFill>
              <a:srgbClr val="1F4E79"/>
            </a:solidFill>
            <a:prstDash val="solid"/>
          </a:ln>
        </p:spPr>
      </p:sp>
      <p:sp>
        <p:nvSpPr>
          <p:cNvPr id="28" name="Text 26"/>
          <p:cNvSpPr txBox="1"/>
          <p:nvPr/>
        </p:nvSpPr>
        <p:spPr>
          <a:xfrm>
            <a:off x="4206240" y="5568696"/>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Shape 27"/>
          <p:cNvSpPr/>
          <p:nvPr/>
        </p:nvSpPr>
        <p:spPr>
          <a:xfrm>
            <a:off x="4892040" y="5413248"/>
            <a:ext cx="6751015" cy="822960"/>
          </a:xfrm>
          <a:prstGeom prst="roundRect">
            <a:avLst>
              <a:gd name="adj" fmla="val 8889"/>
            </a:avLst>
          </a:prstGeom>
          <a:solidFill>
            <a:srgbClr val="F4F7FA"/>
          </a:solidFill>
          <a:ln w="9525">
            <a:solidFill>
              <a:srgbClr val="DDE4EC"/>
            </a:solidFill>
            <a:prstDash val="solid"/>
          </a:ln>
        </p:spPr>
      </p:sp>
      <p:sp>
        <p:nvSpPr>
          <p:cNvPr id="30" name="Text 28"/>
          <p:cNvSpPr txBox="1"/>
          <p:nvPr/>
        </p:nvSpPr>
        <p:spPr>
          <a:xfrm>
            <a:off x="5074920" y="5413248"/>
            <a:ext cx="6385255" cy="822960"/>
          </a:xfrm>
          <a:prstGeom prst="rect">
            <a:avLst/>
          </a:prstGeom>
          <a:noFill/>
          <a:ln/>
        </p:spPr>
        <p:txBody>
          <a:bodyPr wrap="square" lIns="0" tIns="0" rIns="0" bIns="0" rtlCol="0" anchor="ctr"/>
          <a:lstStyle/>
          <a:p>
            <a:pPr indent="0" marL="0">
              <a:buNone/>
            </a:pPr>
            <a:r>
              <a:rPr lang="en-US" sz="1600" b="1" dirty="0">
                <a:solidFill>
                  <a:srgbClr val="163A5C"/>
                </a:solidFill>
                <a:latin typeface="Calibri" pitchFamily="34" charset="0"/>
                <a:ea typeface="Calibri" pitchFamily="34" charset="-122"/>
                <a:cs typeface="Calibri" pitchFamily="34" charset="-120"/>
              </a:rPr>
              <a:t>Publicar  </a:t>
            </a:r>
            <a:pPr indent="0" marL="0">
              <a:buNone/>
            </a:pPr>
            <a:r>
              <a:rPr lang="en-US" sz="1450" dirty="0">
                <a:solidFill>
                  <a:srgbClr val="1B1F24"/>
                </a:solidFill>
                <a:latin typeface="Calibri" pitchFamily="34" charset="0"/>
                <a:ea typeface="Calibri" pitchFamily="34" charset="-122"/>
                <a:cs typeface="Calibri" pitchFamily="34" charset="-120"/>
              </a:rPr>
              <a:t>Nueva revisión del PoC y del plan de liberación; acta registrada.</a:t>
            </a:r>
            <a:endParaRPr lang="en-US" sz="1600" dirty="0"/>
          </a:p>
        </p:txBody>
      </p:sp>
      <p:sp>
        <p:nvSpPr>
          <p:cNvPr id="31" name="Text 2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Proceso de desarrollo en tres pasos</a:t>
            </a:r>
            <a:endParaRPr lang="en-US" sz="1000" dirty="0"/>
          </a:p>
        </p:txBody>
      </p:sp>
      <p:sp>
        <p:nvSpPr>
          <p:cNvPr id="32" name="Text 3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05</a:t>
            </a:r>
            <a:endParaRPr lang="en-US" sz="9600" dirty="0"/>
          </a:p>
        </p:txBody>
      </p:sp>
      <p:sp>
        <p:nvSpPr>
          <p:cNvPr id="3" name="Text 1"/>
          <p:cNvSpPr txBox="1"/>
          <p:nvPr/>
        </p:nvSpPr>
        <p:spPr>
          <a:xfrm>
            <a:off x="548640" y="2697480"/>
            <a:ext cx="5943600" cy="118872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El taller de planificación interactiva</a:t>
            </a:r>
            <a:endParaRPr lang="en-US" sz="30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IPP: donde se construye y se acuerda el PoC</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Qué es un IPP</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Preparación y participantes</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Agenda de cinco puntos</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Dinámica del taller</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El acta del taller (PT-AWP-FOR-IPP)</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Qué es un taller IPP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Interactive Project Planning: planificar juntos, en la misma sala</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Todos en la misma mesa</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Propietario, EPC/EPCM, ingeniería, compras, construcción, comisionamiento y operaciones.</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Interactivo</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La secuencia se construye sobre el plano y una línea de tiempo visible, no se presenta ya hecha.</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Cada uno presenta sus plazos</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Ingeniería, compras y fabricantes explican cuánto tardan y qué necesitan.</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Voz de campo</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La participación temprana de supervisores y trabajadores de oficio aporta constructabilidad.</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Varias sesiones</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El acta prevé el taller N.° «1 de 3»: FEL 2, FEL 3 y actualización en ejecución.</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Termina en acuerdos</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Secuencia, decisiones y acciones con responsable, firmadas en el acta.</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Participantes del taller y su aporte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Según el acta del taller y la matriz RACI del kit</a:t>
            </a:r>
            <a:endParaRPr lang="en-US" sz="15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1828800"/>
                <a:gridCol w="6217920"/>
              </a:tblGrid>
              <a:tr h="5181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Participante</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 en el taller</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Aporte principal</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AWP Champion (CHA)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Facilita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Prepara insumos, conduce la agenda, registra acuerdos, consolida el acta. Es R en la RACI.</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Gerente de Construcción (CON)</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Lidera (A)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Propone y defiende la secuencia; decide ante conflictos; firma el acta.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Líder de Ingeniería (ING)</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Aporta (C)</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Plazos de diseño por EWP; dependencias entre disciplinas; datos de proveedores.</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Líder de Procura (PRO)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Aporta (C)</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Plazos de fabricación y entrega; equipos de largo plazo; estrategia de compras.</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Líder de comisionamiento (COM)</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Aporta (C)</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Sistemas y su prioridad de puesta en marcha.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Gerente del proyecto del cliente (CLI)</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Aporta y aprueba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Prioridades de operación; aprueba el PoC (H2); firma el acta.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Controles del proyecto (CTR)</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Aporta (C)</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Cronograma de nivel 2/3; cálculo de fechas requeridas.</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18160">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Líder de HSE y Líder de WFP</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Aportan (C)</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Riesgos de trabajos simultáneos; factibilidad de planificar los frentes.</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Agenda del taller: cinco objetivos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Tal como figuran en el acta del kit (Acta_Taller_Path_of_Construction.docx)</a:t>
            </a:r>
            <a:endParaRPr lang="en-US" sz="1500" dirty="0"/>
          </a:p>
        </p:txBody>
      </p:sp>
      <p:sp>
        <p:nvSpPr>
          <p:cNvPr id="4" name="Shape 2"/>
          <p:cNvSpPr/>
          <p:nvPr/>
        </p:nvSpPr>
        <p:spPr>
          <a:xfrm>
            <a:off x="1566642" y="2103120"/>
            <a:ext cx="9058412" cy="0"/>
          </a:xfrm>
          <a:prstGeom prst="line">
            <a:avLst/>
          </a:prstGeom>
          <a:noFill/>
          <a:ln w="31750">
            <a:solidFill>
              <a:srgbClr val="B9CCE0"/>
            </a:solidFill>
            <a:prstDash val="solid"/>
          </a:ln>
        </p:spPr>
      </p:sp>
      <p:sp>
        <p:nvSpPr>
          <p:cNvPr id="5" name="Shape 3"/>
          <p:cNvSpPr/>
          <p:nvPr/>
        </p:nvSpPr>
        <p:spPr>
          <a:xfrm>
            <a:off x="1200882" y="1737360"/>
            <a:ext cx="731520" cy="731520"/>
          </a:xfrm>
          <a:prstGeom prst="ellipse">
            <a:avLst/>
          </a:prstGeom>
          <a:solidFill>
            <a:srgbClr val="1F4E79"/>
          </a:solidFill>
          <a:ln w="38100">
            <a:solidFill>
              <a:srgbClr val="FFFFFF"/>
            </a:solidFill>
            <a:prstDash val="solid"/>
          </a:ln>
        </p:spPr>
      </p:sp>
      <p:sp>
        <p:nvSpPr>
          <p:cNvPr id="6" name="Text 4"/>
          <p:cNvSpPr txBox="1"/>
          <p:nvPr/>
        </p:nvSpPr>
        <p:spPr>
          <a:xfrm>
            <a:off x="1200882"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036003" cy="3291840"/>
          </a:xfrm>
          <a:prstGeom prst="roundRect">
            <a:avLst>
              <a:gd name="adj" fmla="val 4491"/>
            </a:avLst>
          </a:prstGeom>
          <a:solidFill>
            <a:srgbClr val="F4F7FA"/>
          </a:solidFill>
          <a:ln w="9525">
            <a:solidFill>
              <a:srgbClr val="DDE4EC"/>
            </a:solidFill>
            <a:prstDash val="solid"/>
          </a:ln>
        </p:spPr>
      </p:sp>
      <p:sp>
        <p:nvSpPr>
          <p:cNvPr id="8" name="Text 6"/>
          <p:cNvSpPr txBox="1"/>
          <p:nvPr/>
        </p:nvSpPr>
        <p:spPr>
          <a:xfrm>
            <a:off x="731520"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Revisar las CWA</a:t>
            </a:r>
            <a:endParaRPr lang="en-US" sz="1350" dirty="0"/>
          </a:p>
        </p:txBody>
      </p:sp>
      <p:sp>
        <p:nvSpPr>
          <p:cNvPr id="9" name="Text 7"/>
          <p:cNvSpPr txBox="1"/>
          <p:nvPr/>
        </p:nvSpPr>
        <p:spPr>
          <a:xfrm>
            <a:off x="731520"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Revisar las CWA y sus límites con Definicion_CWA.xlsx.</a:t>
            </a:r>
            <a:endParaRPr lang="en-US" sz="1450" dirty="0"/>
          </a:p>
        </p:txBody>
      </p:sp>
      <p:sp>
        <p:nvSpPr>
          <p:cNvPr id="10" name="Shape 8"/>
          <p:cNvSpPr/>
          <p:nvPr/>
        </p:nvSpPr>
        <p:spPr>
          <a:xfrm>
            <a:off x="3465485" y="1737360"/>
            <a:ext cx="731520" cy="731520"/>
          </a:xfrm>
          <a:prstGeom prst="ellipse">
            <a:avLst/>
          </a:prstGeom>
          <a:solidFill>
            <a:srgbClr val="1F4E79"/>
          </a:solidFill>
          <a:ln w="38100">
            <a:solidFill>
              <a:srgbClr val="FFFFFF"/>
            </a:solidFill>
            <a:prstDash val="solid"/>
          </a:ln>
        </p:spPr>
      </p:sp>
      <p:sp>
        <p:nvSpPr>
          <p:cNvPr id="11" name="Text 9"/>
          <p:cNvSpPr txBox="1"/>
          <p:nvPr/>
        </p:nvSpPr>
        <p:spPr>
          <a:xfrm>
            <a:off x="346548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2813243" y="2743200"/>
            <a:ext cx="2036003" cy="3291840"/>
          </a:xfrm>
          <a:prstGeom prst="roundRect">
            <a:avLst>
              <a:gd name="adj" fmla="val 4491"/>
            </a:avLst>
          </a:prstGeom>
          <a:solidFill>
            <a:srgbClr val="F4F7FA"/>
          </a:solidFill>
          <a:ln w="9525">
            <a:solidFill>
              <a:srgbClr val="DDE4EC"/>
            </a:solidFill>
            <a:prstDash val="solid"/>
          </a:ln>
        </p:spPr>
      </p:sp>
      <p:sp>
        <p:nvSpPr>
          <p:cNvPr id="13" name="Text 11"/>
          <p:cNvSpPr txBox="1"/>
          <p:nvPr/>
        </p:nvSpPr>
        <p:spPr>
          <a:xfrm>
            <a:off x="2996123"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Acordar la secuencia</a:t>
            </a:r>
            <a:endParaRPr lang="en-US" sz="1350" dirty="0"/>
          </a:p>
        </p:txBody>
      </p:sp>
      <p:sp>
        <p:nvSpPr>
          <p:cNvPr id="14" name="Text 12"/>
          <p:cNvSpPr txBox="1"/>
          <p:nvPr/>
        </p:nvSpPr>
        <p:spPr>
          <a:xfrm>
            <a:off x="2996123"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Secuencia de CWA y CWP, empezando por los sistemas a entregar primero.</a:t>
            </a:r>
            <a:endParaRPr lang="en-US" sz="1450" dirty="0"/>
          </a:p>
        </p:txBody>
      </p:sp>
      <p:sp>
        <p:nvSpPr>
          <p:cNvPr id="15" name="Shape 13"/>
          <p:cNvSpPr/>
          <p:nvPr/>
        </p:nvSpPr>
        <p:spPr>
          <a:xfrm>
            <a:off x="5730088" y="1737360"/>
            <a:ext cx="731520" cy="731520"/>
          </a:xfrm>
          <a:prstGeom prst="ellipse">
            <a:avLst/>
          </a:prstGeom>
          <a:solidFill>
            <a:srgbClr val="1F4E79"/>
          </a:solidFill>
          <a:ln w="38100">
            <a:solidFill>
              <a:srgbClr val="FFFFFF"/>
            </a:solidFill>
            <a:prstDash val="solid"/>
          </a:ln>
        </p:spPr>
      </p:sp>
      <p:sp>
        <p:nvSpPr>
          <p:cNvPr id="16" name="Text 14"/>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5077846" y="2743200"/>
            <a:ext cx="2036003" cy="3291840"/>
          </a:xfrm>
          <a:prstGeom prst="roundRect">
            <a:avLst>
              <a:gd name="adj" fmla="val 4491"/>
            </a:avLst>
          </a:prstGeom>
          <a:solidFill>
            <a:srgbClr val="F4F7FA"/>
          </a:solidFill>
          <a:ln w="9525">
            <a:solidFill>
              <a:srgbClr val="DDE4EC"/>
            </a:solidFill>
            <a:prstDash val="solid"/>
          </a:ln>
        </p:spPr>
      </p:sp>
      <p:sp>
        <p:nvSpPr>
          <p:cNvPr id="18" name="Text 16"/>
          <p:cNvSpPr txBox="1"/>
          <p:nvPr/>
        </p:nvSpPr>
        <p:spPr>
          <a:xfrm>
            <a:off x="5260726"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Predecesores e interfaces</a:t>
            </a:r>
            <a:endParaRPr lang="en-US" sz="1350" dirty="0"/>
          </a:p>
        </p:txBody>
      </p:sp>
      <p:sp>
        <p:nvSpPr>
          <p:cNvPr id="19" name="Text 17"/>
          <p:cNvSpPr txBox="1"/>
          <p:nvPr/>
        </p:nvSpPr>
        <p:spPr>
          <a:xfrm>
            <a:off x="5260726"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Identificar predecesores, interfaces entre fases y recursos críticos (grúas, accesos, acopio).</a:t>
            </a:r>
            <a:endParaRPr lang="en-US" sz="1450" dirty="0"/>
          </a:p>
        </p:txBody>
      </p:sp>
      <p:sp>
        <p:nvSpPr>
          <p:cNvPr id="20" name="Shape 18"/>
          <p:cNvSpPr/>
          <p:nvPr/>
        </p:nvSpPr>
        <p:spPr>
          <a:xfrm>
            <a:off x="7994691" y="1737360"/>
            <a:ext cx="731520" cy="731520"/>
          </a:xfrm>
          <a:prstGeom prst="ellipse">
            <a:avLst/>
          </a:prstGeom>
          <a:solidFill>
            <a:srgbClr val="1F4E79"/>
          </a:solidFill>
          <a:ln w="38100">
            <a:solidFill>
              <a:srgbClr val="FFFFFF"/>
            </a:solidFill>
            <a:prstDash val="solid"/>
          </a:ln>
        </p:spPr>
      </p:sp>
      <p:sp>
        <p:nvSpPr>
          <p:cNvPr id="21" name="Text 19"/>
          <p:cNvSpPr txBox="1"/>
          <p:nvPr/>
        </p:nvSpPr>
        <p:spPr>
          <a:xfrm>
            <a:off x="799469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7342449" y="2743200"/>
            <a:ext cx="2036003" cy="3291840"/>
          </a:xfrm>
          <a:prstGeom prst="roundRect">
            <a:avLst>
              <a:gd name="adj" fmla="val 4491"/>
            </a:avLst>
          </a:prstGeom>
          <a:solidFill>
            <a:srgbClr val="F4F7FA"/>
          </a:solidFill>
          <a:ln w="9525">
            <a:solidFill>
              <a:srgbClr val="DDE4EC"/>
            </a:solidFill>
            <a:prstDash val="solid"/>
          </a:ln>
        </p:spPr>
      </p:sp>
      <p:sp>
        <p:nvSpPr>
          <p:cNvPr id="23" name="Text 21"/>
          <p:cNvSpPr txBox="1"/>
          <p:nvPr/>
        </p:nvSpPr>
        <p:spPr>
          <a:xfrm>
            <a:off x="7525329"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Fechas hacia atrás</a:t>
            </a:r>
            <a:endParaRPr lang="en-US" sz="1350" dirty="0"/>
          </a:p>
        </p:txBody>
      </p:sp>
      <p:sp>
        <p:nvSpPr>
          <p:cNvPr id="24" name="Text 22"/>
          <p:cNvSpPr txBox="1"/>
          <p:nvPr/>
        </p:nvSpPr>
        <p:spPr>
          <a:xfrm>
            <a:off x="7525329"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Calcular las fechas requeridas de EWP, emisión de CWP y RAS de materiales.</a:t>
            </a:r>
            <a:endParaRPr lang="en-US" sz="1450" dirty="0"/>
          </a:p>
        </p:txBody>
      </p:sp>
      <p:sp>
        <p:nvSpPr>
          <p:cNvPr id="25" name="Shape 23"/>
          <p:cNvSpPr/>
          <p:nvPr/>
        </p:nvSpPr>
        <p:spPr>
          <a:xfrm>
            <a:off x="10259294" y="1737360"/>
            <a:ext cx="731520" cy="731520"/>
          </a:xfrm>
          <a:prstGeom prst="ellipse">
            <a:avLst/>
          </a:prstGeom>
          <a:solidFill>
            <a:srgbClr val="F5A623"/>
          </a:solidFill>
          <a:ln w="38100">
            <a:solidFill>
              <a:srgbClr val="FFFFFF"/>
            </a:solidFill>
            <a:prstDash val="solid"/>
          </a:ln>
        </p:spPr>
      </p:sp>
      <p:sp>
        <p:nvSpPr>
          <p:cNvPr id="26" name="Text 24"/>
          <p:cNvSpPr txBox="1"/>
          <p:nvPr/>
        </p:nvSpPr>
        <p:spPr>
          <a:xfrm>
            <a:off x="10259294" y="1737360"/>
            <a:ext cx="731520" cy="731520"/>
          </a:xfrm>
          <a:prstGeom prst="rect">
            <a:avLst/>
          </a:prstGeom>
          <a:noFill/>
          <a:ln/>
        </p:spPr>
        <p:txBody>
          <a:bodyPr wrap="square" lIns="0" tIns="0" rIns="0" bIns="0" rtlCol="0" anchor="ctr"/>
          <a:lstStyle/>
          <a:p>
            <a:pPr algn="ctr" indent="0" marL="0">
              <a:buNone/>
            </a:pPr>
            <a:r>
              <a:rPr lang="en-US" sz="2200" b="1" dirty="0">
                <a:solidFill>
                  <a:srgbClr val="0F2A43"/>
                </a:solidFill>
                <a:latin typeface="Calibri" pitchFamily="34" charset="0"/>
                <a:ea typeface="Calibri" pitchFamily="34" charset="-122"/>
                <a:cs typeface="Calibri" pitchFamily="34" charset="-120"/>
              </a:rPr>
              <a:t>5</a:t>
            </a:r>
            <a:endParaRPr lang="en-US" sz="2200" dirty="0"/>
          </a:p>
        </p:txBody>
      </p:sp>
      <p:sp>
        <p:nvSpPr>
          <p:cNvPr id="27" name="Shape 25"/>
          <p:cNvSpPr/>
          <p:nvPr/>
        </p:nvSpPr>
        <p:spPr>
          <a:xfrm>
            <a:off x="9607052" y="2743200"/>
            <a:ext cx="2036003" cy="3291840"/>
          </a:xfrm>
          <a:prstGeom prst="roundRect">
            <a:avLst>
              <a:gd name="adj" fmla="val 4491"/>
            </a:avLst>
          </a:prstGeom>
          <a:solidFill>
            <a:srgbClr val="F4F7FA"/>
          </a:solidFill>
          <a:ln w="9525">
            <a:solidFill>
              <a:srgbClr val="DDE4EC"/>
            </a:solidFill>
            <a:prstDash val="solid"/>
          </a:ln>
        </p:spPr>
      </p:sp>
      <p:sp>
        <p:nvSpPr>
          <p:cNvPr id="28" name="Text 26"/>
          <p:cNvSpPr txBox="1"/>
          <p:nvPr/>
        </p:nvSpPr>
        <p:spPr>
          <a:xfrm>
            <a:off x="9789932"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Acciones y responsables</a:t>
            </a:r>
            <a:endParaRPr lang="en-US" sz="1350" dirty="0"/>
          </a:p>
        </p:txBody>
      </p:sp>
      <p:sp>
        <p:nvSpPr>
          <p:cNvPr id="29" name="Text 27"/>
          <p:cNvSpPr txBox="1"/>
          <p:nvPr/>
        </p:nvSpPr>
        <p:spPr>
          <a:xfrm>
            <a:off x="9789932"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Acordar acciones con responsable y fecha, y registrar decisiones.</a:t>
            </a:r>
            <a:endParaRPr lang="en-US" sz="1450" dirty="0"/>
          </a:p>
        </p:txBody>
      </p:sp>
      <p:sp>
        <p:nvSpPr>
          <p:cNvPr id="30" name="Text 2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31" name="Text 2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Preparación del taller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Lo que el AWP Champion deja listo antes de la sesión</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Plano de CWA impreso</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En gran formato, con códigos y límites; revisión indicada en el acta.</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Cronograma nivel 2 / 3</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La versión vigente, con hitos de contrato y fechas de puesta en marcha.</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Lista de sistemas</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Con su prioridad de puesta en marcha acordada con operaciones.</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Lecciones de la fase anterior</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Filtradas por categoría «Path of Construction» e «Interfaces entre fases».</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Plantilla Path_​of_​Construction.xlsx</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Con parámetros cargados (M1, anticipaciones) lista para capturar la secuencia.</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Convocatoria</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Participantes con poder de decisión; agenda y objetivos enviados con anticipación.</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Dinámica sugerida del taller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Una jornada de trabajo típica</a:t>
            </a:r>
            <a:endParaRPr lang="en-US" sz="1500" dirty="0"/>
          </a:p>
        </p:txBody>
      </p:sp>
      <p:sp>
        <p:nvSpPr>
          <p:cNvPr id="4" name="Shape 2"/>
          <p:cNvSpPr/>
          <p:nvPr/>
        </p:nvSpPr>
        <p:spPr>
          <a:xfrm>
            <a:off x="1566642" y="2103120"/>
            <a:ext cx="9058412" cy="0"/>
          </a:xfrm>
          <a:prstGeom prst="line">
            <a:avLst/>
          </a:prstGeom>
          <a:noFill/>
          <a:ln w="31750">
            <a:solidFill>
              <a:srgbClr val="B9CCE0"/>
            </a:solidFill>
            <a:prstDash val="solid"/>
          </a:ln>
        </p:spPr>
      </p:sp>
      <p:sp>
        <p:nvSpPr>
          <p:cNvPr id="5" name="Shape 3"/>
          <p:cNvSpPr/>
          <p:nvPr/>
        </p:nvSpPr>
        <p:spPr>
          <a:xfrm>
            <a:off x="1200882" y="1737360"/>
            <a:ext cx="731520" cy="731520"/>
          </a:xfrm>
          <a:prstGeom prst="ellipse">
            <a:avLst/>
          </a:prstGeom>
          <a:solidFill>
            <a:srgbClr val="1F4E79"/>
          </a:solidFill>
          <a:ln w="38100">
            <a:solidFill>
              <a:srgbClr val="FFFFFF"/>
            </a:solidFill>
            <a:prstDash val="solid"/>
          </a:ln>
        </p:spPr>
      </p:sp>
      <p:sp>
        <p:nvSpPr>
          <p:cNvPr id="6" name="Text 4"/>
          <p:cNvSpPr txBox="1"/>
          <p:nvPr/>
        </p:nvSpPr>
        <p:spPr>
          <a:xfrm>
            <a:off x="1200882"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036003" cy="3291840"/>
          </a:xfrm>
          <a:prstGeom prst="roundRect">
            <a:avLst>
              <a:gd name="adj" fmla="val 4491"/>
            </a:avLst>
          </a:prstGeom>
          <a:solidFill>
            <a:srgbClr val="F4F7FA"/>
          </a:solidFill>
          <a:ln w="9525">
            <a:solidFill>
              <a:srgbClr val="DDE4EC"/>
            </a:solidFill>
            <a:prstDash val="solid"/>
          </a:ln>
        </p:spPr>
      </p:sp>
      <p:sp>
        <p:nvSpPr>
          <p:cNvPr id="8" name="Text 6"/>
          <p:cNvSpPr txBox="1"/>
          <p:nvPr/>
        </p:nvSpPr>
        <p:spPr>
          <a:xfrm>
            <a:off x="731520"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Apertura</a:t>
            </a:r>
            <a:endParaRPr lang="en-US" sz="1350" dirty="0"/>
          </a:p>
        </p:txBody>
      </p:sp>
      <p:sp>
        <p:nvSpPr>
          <p:cNvPr id="9" name="Text 7"/>
          <p:cNvSpPr txBox="1"/>
          <p:nvPr/>
        </p:nvSpPr>
        <p:spPr>
          <a:xfrm>
            <a:off x="731520"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Objetivos, reglas, prioridades de puesta en marcha y lecciones relevantes. 30 min.</a:t>
            </a:r>
            <a:endParaRPr lang="en-US" sz="1450" dirty="0"/>
          </a:p>
        </p:txBody>
      </p:sp>
      <p:sp>
        <p:nvSpPr>
          <p:cNvPr id="10" name="Shape 8"/>
          <p:cNvSpPr/>
          <p:nvPr/>
        </p:nvSpPr>
        <p:spPr>
          <a:xfrm>
            <a:off x="3465485" y="1737360"/>
            <a:ext cx="731520" cy="731520"/>
          </a:xfrm>
          <a:prstGeom prst="ellipse">
            <a:avLst/>
          </a:prstGeom>
          <a:solidFill>
            <a:srgbClr val="1F4E79"/>
          </a:solidFill>
          <a:ln w="38100">
            <a:solidFill>
              <a:srgbClr val="FFFFFF"/>
            </a:solidFill>
            <a:prstDash val="solid"/>
          </a:ln>
        </p:spPr>
      </p:sp>
      <p:sp>
        <p:nvSpPr>
          <p:cNvPr id="11" name="Text 9"/>
          <p:cNvSpPr txBox="1"/>
          <p:nvPr/>
        </p:nvSpPr>
        <p:spPr>
          <a:xfrm>
            <a:off x="346548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2813243" y="2743200"/>
            <a:ext cx="2036003" cy="3291840"/>
          </a:xfrm>
          <a:prstGeom prst="roundRect">
            <a:avLst>
              <a:gd name="adj" fmla="val 4491"/>
            </a:avLst>
          </a:prstGeom>
          <a:solidFill>
            <a:srgbClr val="F4F7FA"/>
          </a:solidFill>
          <a:ln w="9525">
            <a:solidFill>
              <a:srgbClr val="DDE4EC"/>
            </a:solidFill>
            <a:prstDash val="solid"/>
          </a:ln>
        </p:spPr>
      </p:sp>
      <p:sp>
        <p:nvSpPr>
          <p:cNvPr id="13" name="Text 11"/>
          <p:cNvSpPr txBox="1"/>
          <p:nvPr/>
        </p:nvSpPr>
        <p:spPr>
          <a:xfrm>
            <a:off x="2996123"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Secuencia en el plano</a:t>
            </a:r>
            <a:endParaRPr lang="en-US" sz="1350" dirty="0"/>
          </a:p>
        </p:txBody>
      </p:sp>
      <p:sp>
        <p:nvSpPr>
          <p:cNvPr id="14" name="Text 12"/>
          <p:cNvSpPr txBox="1"/>
          <p:nvPr/>
        </p:nvSpPr>
        <p:spPr>
          <a:xfrm>
            <a:off x="2996123"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Construcción coloca las CWA en orden sobre el plano y la línea de tiempo. 90 min.</a:t>
            </a:r>
            <a:endParaRPr lang="en-US" sz="1450" dirty="0"/>
          </a:p>
        </p:txBody>
      </p:sp>
      <p:sp>
        <p:nvSpPr>
          <p:cNvPr id="15" name="Shape 13"/>
          <p:cNvSpPr/>
          <p:nvPr/>
        </p:nvSpPr>
        <p:spPr>
          <a:xfrm>
            <a:off x="5730088" y="1737360"/>
            <a:ext cx="731520" cy="731520"/>
          </a:xfrm>
          <a:prstGeom prst="ellipse">
            <a:avLst/>
          </a:prstGeom>
          <a:solidFill>
            <a:srgbClr val="1F4E79"/>
          </a:solidFill>
          <a:ln w="38100">
            <a:solidFill>
              <a:srgbClr val="FFFFFF"/>
            </a:solidFill>
            <a:prstDash val="solid"/>
          </a:ln>
        </p:spPr>
      </p:sp>
      <p:sp>
        <p:nvSpPr>
          <p:cNvPr id="16" name="Text 14"/>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5077846" y="2743200"/>
            <a:ext cx="2036003" cy="3291840"/>
          </a:xfrm>
          <a:prstGeom prst="roundRect">
            <a:avLst>
              <a:gd name="adj" fmla="val 4491"/>
            </a:avLst>
          </a:prstGeom>
          <a:solidFill>
            <a:srgbClr val="F4F7FA"/>
          </a:solidFill>
          <a:ln w="9525">
            <a:solidFill>
              <a:srgbClr val="DDE4EC"/>
            </a:solidFill>
            <a:prstDash val="solid"/>
          </a:ln>
        </p:spPr>
      </p:sp>
      <p:sp>
        <p:nvSpPr>
          <p:cNvPr id="18" name="Text 16"/>
          <p:cNvSpPr txBox="1"/>
          <p:nvPr/>
        </p:nvSpPr>
        <p:spPr>
          <a:xfrm>
            <a:off x="5260726"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Plazos y restricciones</a:t>
            </a:r>
            <a:endParaRPr lang="en-US" sz="1350" dirty="0"/>
          </a:p>
        </p:txBody>
      </p:sp>
      <p:sp>
        <p:nvSpPr>
          <p:cNvPr id="19" name="Text 17"/>
          <p:cNvSpPr txBox="1"/>
          <p:nvPr/>
        </p:nvSpPr>
        <p:spPr>
          <a:xfrm>
            <a:off x="5260726"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Ingeniería, procura y comisionamiento marcan sus plazos y conflictos. 90 min.</a:t>
            </a:r>
            <a:endParaRPr lang="en-US" sz="1450" dirty="0"/>
          </a:p>
        </p:txBody>
      </p:sp>
      <p:sp>
        <p:nvSpPr>
          <p:cNvPr id="20" name="Shape 18"/>
          <p:cNvSpPr/>
          <p:nvPr/>
        </p:nvSpPr>
        <p:spPr>
          <a:xfrm>
            <a:off x="7994691" y="1737360"/>
            <a:ext cx="731520" cy="731520"/>
          </a:xfrm>
          <a:prstGeom prst="ellipse">
            <a:avLst/>
          </a:prstGeom>
          <a:solidFill>
            <a:srgbClr val="1F4E79"/>
          </a:solidFill>
          <a:ln w="38100">
            <a:solidFill>
              <a:srgbClr val="FFFFFF"/>
            </a:solidFill>
            <a:prstDash val="solid"/>
          </a:ln>
        </p:spPr>
      </p:sp>
      <p:sp>
        <p:nvSpPr>
          <p:cNvPr id="21" name="Text 19"/>
          <p:cNvSpPr txBox="1"/>
          <p:nvPr/>
        </p:nvSpPr>
        <p:spPr>
          <a:xfrm>
            <a:off x="799469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7342449" y="2743200"/>
            <a:ext cx="2036003" cy="3291840"/>
          </a:xfrm>
          <a:prstGeom prst="roundRect">
            <a:avLst>
              <a:gd name="adj" fmla="val 4491"/>
            </a:avLst>
          </a:prstGeom>
          <a:solidFill>
            <a:srgbClr val="F4F7FA"/>
          </a:solidFill>
          <a:ln w="9525">
            <a:solidFill>
              <a:srgbClr val="DDE4EC"/>
            </a:solidFill>
            <a:prstDash val="solid"/>
          </a:ln>
        </p:spPr>
      </p:sp>
      <p:sp>
        <p:nvSpPr>
          <p:cNvPr id="23" name="Text 21"/>
          <p:cNvSpPr txBox="1"/>
          <p:nvPr/>
        </p:nvSpPr>
        <p:spPr>
          <a:xfrm>
            <a:off x="7525329"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Ajuste y fechas</a:t>
            </a:r>
            <a:endParaRPr lang="en-US" sz="1350" dirty="0"/>
          </a:p>
        </p:txBody>
      </p:sp>
      <p:sp>
        <p:nvSpPr>
          <p:cNvPr id="24" name="Text 22"/>
          <p:cNvSpPr txBox="1"/>
          <p:nvPr/>
        </p:nvSpPr>
        <p:spPr>
          <a:xfrm>
            <a:off x="7525329"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Se reordena, se registran supuestos y se calculan fechas en la plantilla. 60 min.</a:t>
            </a:r>
            <a:endParaRPr lang="en-US" sz="1450" dirty="0"/>
          </a:p>
        </p:txBody>
      </p:sp>
      <p:sp>
        <p:nvSpPr>
          <p:cNvPr id="25" name="Shape 23"/>
          <p:cNvSpPr/>
          <p:nvPr/>
        </p:nvSpPr>
        <p:spPr>
          <a:xfrm>
            <a:off x="10259294" y="1737360"/>
            <a:ext cx="731520" cy="731520"/>
          </a:xfrm>
          <a:prstGeom prst="ellipse">
            <a:avLst/>
          </a:prstGeom>
          <a:solidFill>
            <a:srgbClr val="F5A623"/>
          </a:solidFill>
          <a:ln w="38100">
            <a:solidFill>
              <a:srgbClr val="FFFFFF"/>
            </a:solidFill>
            <a:prstDash val="solid"/>
          </a:ln>
        </p:spPr>
      </p:sp>
      <p:sp>
        <p:nvSpPr>
          <p:cNvPr id="26" name="Text 24"/>
          <p:cNvSpPr txBox="1"/>
          <p:nvPr/>
        </p:nvSpPr>
        <p:spPr>
          <a:xfrm>
            <a:off x="10259294" y="1737360"/>
            <a:ext cx="731520" cy="731520"/>
          </a:xfrm>
          <a:prstGeom prst="rect">
            <a:avLst/>
          </a:prstGeom>
          <a:noFill/>
          <a:ln/>
        </p:spPr>
        <p:txBody>
          <a:bodyPr wrap="square" lIns="0" tIns="0" rIns="0" bIns="0" rtlCol="0" anchor="ctr"/>
          <a:lstStyle/>
          <a:p>
            <a:pPr algn="ctr" indent="0" marL="0">
              <a:buNone/>
            </a:pPr>
            <a:r>
              <a:rPr lang="en-US" sz="2200" b="1" dirty="0">
                <a:solidFill>
                  <a:srgbClr val="0F2A43"/>
                </a:solidFill>
                <a:latin typeface="Calibri" pitchFamily="34" charset="0"/>
                <a:ea typeface="Calibri" pitchFamily="34" charset="-122"/>
                <a:cs typeface="Calibri" pitchFamily="34" charset="-120"/>
              </a:rPr>
              <a:t>5</a:t>
            </a:r>
            <a:endParaRPr lang="en-US" sz="2200" dirty="0"/>
          </a:p>
        </p:txBody>
      </p:sp>
      <p:sp>
        <p:nvSpPr>
          <p:cNvPr id="27" name="Shape 25"/>
          <p:cNvSpPr/>
          <p:nvPr/>
        </p:nvSpPr>
        <p:spPr>
          <a:xfrm>
            <a:off x="9607052" y="2743200"/>
            <a:ext cx="2036003" cy="3291840"/>
          </a:xfrm>
          <a:prstGeom prst="roundRect">
            <a:avLst>
              <a:gd name="adj" fmla="val 4491"/>
            </a:avLst>
          </a:prstGeom>
          <a:solidFill>
            <a:srgbClr val="F4F7FA"/>
          </a:solidFill>
          <a:ln w="9525">
            <a:solidFill>
              <a:srgbClr val="DDE4EC"/>
            </a:solidFill>
            <a:prstDash val="solid"/>
          </a:ln>
        </p:spPr>
      </p:sp>
      <p:sp>
        <p:nvSpPr>
          <p:cNvPr id="28" name="Text 26"/>
          <p:cNvSpPr txBox="1"/>
          <p:nvPr/>
        </p:nvSpPr>
        <p:spPr>
          <a:xfrm>
            <a:off x="9789932"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Cierre</a:t>
            </a:r>
            <a:endParaRPr lang="en-US" sz="1350" dirty="0"/>
          </a:p>
        </p:txBody>
      </p:sp>
      <p:sp>
        <p:nvSpPr>
          <p:cNvPr id="29" name="Text 27"/>
          <p:cNvSpPr txBox="1"/>
          <p:nvPr/>
        </p:nvSpPr>
        <p:spPr>
          <a:xfrm>
            <a:off x="9789932"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Decisiones, acciones con responsable y estado del PoC en el acta. 30 min.</a:t>
            </a:r>
            <a:endParaRPr lang="en-US" sz="1450" dirty="0"/>
          </a:p>
        </p:txBody>
      </p:sp>
      <p:sp>
        <p:nvSpPr>
          <p:cNvPr id="30" name="Text 2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31" name="Text 2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Preguntas guía para el taller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Para que cada área sea discutida a fondo</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¿Qué sistema completa?</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¿Qué CWP faltan para entregarlo? ¿Es prioritario para la puesta en marcha?</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¿Qué necesita antes?</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¿Qué área o paquete debe terminar antes? ¿Es una restricción dura o blanda?</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¿Llega la ingeniería?</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Con 13 semanas de anticipación, ¿puede emitirse el EWP IFC completo?</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¿Llegan los materiales?</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¿Hay equipos de largo plazo? ¿La RAS es alcanzable con la estrategia de compras?</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¿Qué recursos comparte?</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Grúas, accesos, acopio, rutas de izaje. ¿Con qué otra área o fase?</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¿Qué riesgos trae?</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Trabajos simultáneos, izajes, interfaces. ¿Quién es responsable de mitigarlos?</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El acta del taller (PT-AWP-FOR-IPP)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Plantilla Word del kit: nueve secciones</a:t>
            </a:r>
            <a:endParaRPr lang="en-US" sz="1500" dirty="0"/>
          </a:p>
        </p:txBody>
      </p:sp>
      <p:sp>
        <p:nvSpPr>
          <p:cNvPr id="4" name="Shape 2"/>
          <p:cNvSpPr/>
          <p:nvPr/>
        </p:nvSpPr>
        <p:spPr>
          <a:xfrm>
            <a:off x="548640" y="1508760"/>
            <a:ext cx="3545738" cy="1444752"/>
          </a:xfrm>
          <a:prstGeom prst="roundRect">
            <a:avLst>
              <a:gd name="adj" fmla="val 5063"/>
            </a:avLst>
          </a:prstGeom>
          <a:solidFill>
            <a:srgbClr val="F4F7FA"/>
          </a:solidFill>
          <a:ln w="9525">
            <a:solidFill>
              <a:srgbClr val="DDE4EC"/>
            </a:solidFill>
            <a:prstDash val="solid"/>
          </a:ln>
        </p:spPr>
      </p:sp>
      <p:sp>
        <p:nvSpPr>
          <p:cNvPr id="5" name="Shape 3"/>
          <p:cNvSpPr/>
          <p:nvPr/>
        </p:nvSpPr>
        <p:spPr>
          <a:xfrm>
            <a:off x="713232" y="1673352"/>
            <a:ext cx="420624" cy="420624"/>
          </a:xfrm>
          <a:prstGeom prst="ellipse">
            <a:avLst/>
          </a:prstGeom>
          <a:solidFill>
            <a:srgbClr val="1F4E79"/>
          </a:solidFill>
          <a:ln w="12700">
            <a:solidFill>
              <a:srgbClr val="1F4E79"/>
            </a:solidFill>
            <a:prstDash val="solid"/>
          </a:ln>
        </p:spPr>
      </p:sp>
      <p:sp>
        <p:nvSpPr>
          <p:cNvPr id="6" name="Text 4"/>
          <p:cNvSpPr txBox="1"/>
          <p:nvPr/>
        </p:nvSpPr>
        <p:spPr>
          <a:xfrm>
            <a:off x="713232" y="16733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61872" y="1655064"/>
            <a:ext cx="2677058" cy="45720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Datos del taller</a:t>
            </a:r>
            <a:endParaRPr lang="en-US" sz="1500" dirty="0"/>
          </a:p>
        </p:txBody>
      </p:sp>
      <p:sp>
        <p:nvSpPr>
          <p:cNvPr id="8" name="Text 6"/>
          <p:cNvSpPr txBox="1"/>
          <p:nvPr/>
        </p:nvSpPr>
        <p:spPr>
          <a:xfrm>
            <a:off x="731520" y="2167128"/>
            <a:ext cx="3179978" cy="713232"/>
          </a:xfrm>
          <a:prstGeom prst="rect">
            <a:avLst/>
          </a:prstGeom>
          <a:noFill/>
          <a:ln/>
        </p:spPr>
        <p:txBody>
          <a:bodyPr wrap="square" lIns="0" tIns="0" rIns="0" bIns="0" rtlCol="0" anchor="t">
            <a:normAutofit/>
          </a:bodyPr>
          <a:lstStyle/>
          <a:p>
            <a:pPr indent="0" marL="0">
              <a:buNone/>
            </a:pPr>
            <a:r>
              <a:rPr lang="en-US" sz="1250" dirty="0">
                <a:solidFill>
                  <a:srgbClr val="56606B"/>
                </a:solidFill>
                <a:latin typeface="Calibri" pitchFamily="34" charset="0"/>
                <a:ea typeface="Calibri" pitchFamily="34" charset="-122"/>
                <a:cs typeface="Calibri" pitchFamily="34" charset="-120"/>
              </a:rPr>
              <a:t>Fase, taller N.° (1 de 3), fecha, lugar, facilitador (AWP Champion), etapa: FEL 2 / FEL 3 / actualización.</a:t>
            </a:r>
            <a:endParaRPr lang="en-US" sz="1250" dirty="0"/>
          </a:p>
        </p:txBody>
      </p:sp>
      <p:sp>
        <p:nvSpPr>
          <p:cNvPr id="9" name="Shape 7"/>
          <p:cNvSpPr/>
          <p:nvPr/>
        </p:nvSpPr>
        <p:spPr>
          <a:xfrm>
            <a:off x="4322978" y="1508760"/>
            <a:ext cx="3545738" cy="1444752"/>
          </a:xfrm>
          <a:prstGeom prst="roundRect">
            <a:avLst>
              <a:gd name="adj" fmla="val 5063"/>
            </a:avLst>
          </a:prstGeom>
          <a:solidFill>
            <a:srgbClr val="F4F7FA"/>
          </a:solidFill>
          <a:ln w="9525">
            <a:solidFill>
              <a:srgbClr val="DDE4EC"/>
            </a:solidFill>
            <a:prstDash val="solid"/>
          </a:ln>
        </p:spPr>
      </p:sp>
      <p:sp>
        <p:nvSpPr>
          <p:cNvPr id="10" name="Shape 8"/>
          <p:cNvSpPr/>
          <p:nvPr/>
        </p:nvSpPr>
        <p:spPr>
          <a:xfrm>
            <a:off x="4487570" y="1673352"/>
            <a:ext cx="420624" cy="420624"/>
          </a:xfrm>
          <a:prstGeom prst="ellipse">
            <a:avLst/>
          </a:prstGeom>
          <a:solidFill>
            <a:srgbClr val="1F4E79"/>
          </a:solidFill>
          <a:ln w="12700">
            <a:solidFill>
              <a:srgbClr val="1F4E79"/>
            </a:solidFill>
            <a:prstDash val="solid"/>
          </a:ln>
        </p:spPr>
      </p:sp>
      <p:sp>
        <p:nvSpPr>
          <p:cNvPr id="11" name="Text 9"/>
          <p:cNvSpPr txBox="1"/>
          <p:nvPr/>
        </p:nvSpPr>
        <p:spPr>
          <a:xfrm>
            <a:off x="4487570" y="16733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5036210" y="1655064"/>
            <a:ext cx="2677058" cy="45720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Participantes</a:t>
            </a:r>
            <a:endParaRPr lang="en-US" sz="1500" dirty="0"/>
          </a:p>
        </p:txBody>
      </p:sp>
      <p:sp>
        <p:nvSpPr>
          <p:cNvPr id="13" name="Text 11"/>
          <p:cNvSpPr txBox="1"/>
          <p:nvPr/>
        </p:nvSpPr>
        <p:spPr>
          <a:xfrm>
            <a:off x="4505858" y="2167128"/>
            <a:ext cx="3179978" cy="713232"/>
          </a:xfrm>
          <a:prstGeom prst="rect">
            <a:avLst/>
          </a:prstGeom>
          <a:noFill/>
          <a:ln/>
        </p:spPr>
        <p:txBody>
          <a:bodyPr wrap="square" lIns="0" tIns="0" rIns="0" bIns="0" rtlCol="0" anchor="t">
            <a:normAutofit/>
          </a:bodyPr>
          <a:lstStyle/>
          <a:p>
            <a:pPr indent="0" marL="0">
              <a:buNone/>
            </a:pPr>
            <a:r>
              <a:rPr lang="en-US" sz="1250" dirty="0">
                <a:solidFill>
                  <a:srgbClr val="56606B"/>
                </a:solidFill>
                <a:latin typeface="Calibri" pitchFamily="34" charset="0"/>
                <a:ea typeface="Calibri" pitchFamily="34" charset="-122"/>
                <a:cs typeface="Calibri" pitchFamily="34" charset="-120"/>
              </a:rPr>
              <a:t>CON, ING, PRO, COM, CLI, CTR con organización y asistencia.</a:t>
            </a:r>
            <a:endParaRPr lang="en-US" sz="1250" dirty="0"/>
          </a:p>
        </p:txBody>
      </p:sp>
      <p:sp>
        <p:nvSpPr>
          <p:cNvPr id="14" name="Shape 12"/>
          <p:cNvSpPr/>
          <p:nvPr/>
        </p:nvSpPr>
        <p:spPr>
          <a:xfrm>
            <a:off x="8097317" y="1508760"/>
            <a:ext cx="3545738" cy="1444752"/>
          </a:xfrm>
          <a:prstGeom prst="roundRect">
            <a:avLst>
              <a:gd name="adj" fmla="val 5063"/>
            </a:avLst>
          </a:prstGeom>
          <a:solidFill>
            <a:srgbClr val="F4F7FA"/>
          </a:solidFill>
          <a:ln w="9525">
            <a:solidFill>
              <a:srgbClr val="DDE4EC"/>
            </a:solidFill>
            <a:prstDash val="solid"/>
          </a:ln>
        </p:spPr>
      </p:sp>
      <p:sp>
        <p:nvSpPr>
          <p:cNvPr id="15" name="Shape 13"/>
          <p:cNvSpPr/>
          <p:nvPr/>
        </p:nvSpPr>
        <p:spPr>
          <a:xfrm>
            <a:off x="8261909" y="1673352"/>
            <a:ext cx="420624" cy="420624"/>
          </a:xfrm>
          <a:prstGeom prst="ellipse">
            <a:avLst/>
          </a:prstGeom>
          <a:solidFill>
            <a:srgbClr val="1F4E79"/>
          </a:solidFill>
          <a:ln w="12700">
            <a:solidFill>
              <a:srgbClr val="1F4E79"/>
            </a:solidFill>
            <a:prstDash val="solid"/>
          </a:ln>
        </p:spPr>
      </p:sp>
      <p:sp>
        <p:nvSpPr>
          <p:cNvPr id="16" name="Text 14"/>
          <p:cNvSpPr txBox="1"/>
          <p:nvPr/>
        </p:nvSpPr>
        <p:spPr>
          <a:xfrm>
            <a:off x="8261909" y="16733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8810549" y="1655064"/>
            <a:ext cx="2677058" cy="45720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Objetivos y agenda</a:t>
            </a:r>
            <a:endParaRPr lang="en-US" sz="1500" dirty="0"/>
          </a:p>
        </p:txBody>
      </p:sp>
      <p:sp>
        <p:nvSpPr>
          <p:cNvPr id="18" name="Text 16"/>
          <p:cNvSpPr txBox="1"/>
          <p:nvPr/>
        </p:nvSpPr>
        <p:spPr>
          <a:xfrm>
            <a:off x="8280197" y="2167128"/>
            <a:ext cx="3179978" cy="713232"/>
          </a:xfrm>
          <a:prstGeom prst="rect">
            <a:avLst/>
          </a:prstGeom>
          <a:noFill/>
          <a:ln/>
        </p:spPr>
        <p:txBody>
          <a:bodyPr wrap="square" lIns="0" tIns="0" rIns="0" bIns="0" rtlCol="0" anchor="t">
            <a:normAutofit/>
          </a:bodyPr>
          <a:lstStyle/>
          <a:p>
            <a:pPr indent="0" marL="0">
              <a:buNone/>
            </a:pPr>
            <a:r>
              <a:rPr lang="en-US" sz="1250" dirty="0">
                <a:solidFill>
                  <a:srgbClr val="56606B"/>
                </a:solidFill>
                <a:latin typeface="Calibri" pitchFamily="34" charset="0"/>
                <a:ea typeface="Calibri" pitchFamily="34" charset="-122"/>
                <a:cs typeface="Calibri" pitchFamily="34" charset="-120"/>
              </a:rPr>
              <a:t>Los cinco objetivos: CWA, secuencia, predecesores e interfaces, fechas hacia atrás, acciones.</a:t>
            </a:r>
            <a:endParaRPr lang="en-US" sz="1250" dirty="0"/>
          </a:p>
        </p:txBody>
      </p:sp>
      <p:sp>
        <p:nvSpPr>
          <p:cNvPr id="19" name="Shape 17"/>
          <p:cNvSpPr/>
          <p:nvPr/>
        </p:nvSpPr>
        <p:spPr>
          <a:xfrm>
            <a:off x="548640" y="3108960"/>
            <a:ext cx="3545738" cy="1444752"/>
          </a:xfrm>
          <a:prstGeom prst="roundRect">
            <a:avLst>
              <a:gd name="adj" fmla="val 5063"/>
            </a:avLst>
          </a:prstGeom>
          <a:solidFill>
            <a:srgbClr val="F4F7FA"/>
          </a:solidFill>
          <a:ln w="9525">
            <a:solidFill>
              <a:srgbClr val="DDE4EC"/>
            </a:solidFill>
            <a:prstDash val="solid"/>
          </a:ln>
        </p:spPr>
      </p:sp>
      <p:sp>
        <p:nvSpPr>
          <p:cNvPr id="20" name="Shape 18"/>
          <p:cNvSpPr/>
          <p:nvPr/>
        </p:nvSpPr>
        <p:spPr>
          <a:xfrm>
            <a:off x="713232" y="3273552"/>
            <a:ext cx="420624" cy="420624"/>
          </a:xfrm>
          <a:prstGeom prst="ellipse">
            <a:avLst/>
          </a:prstGeom>
          <a:solidFill>
            <a:srgbClr val="1F4E79"/>
          </a:solidFill>
          <a:ln w="12700">
            <a:solidFill>
              <a:srgbClr val="1F4E79"/>
            </a:solidFill>
            <a:prstDash val="solid"/>
          </a:ln>
        </p:spPr>
      </p:sp>
      <p:sp>
        <p:nvSpPr>
          <p:cNvPr id="21" name="Text 19"/>
          <p:cNvSpPr txBox="1"/>
          <p:nvPr/>
        </p:nvSpPr>
        <p:spPr>
          <a:xfrm>
            <a:off x="713232" y="32735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1261872" y="3255264"/>
            <a:ext cx="2677058" cy="45720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Insumos revisados</a:t>
            </a:r>
            <a:endParaRPr lang="en-US" sz="1500" dirty="0"/>
          </a:p>
        </p:txBody>
      </p:sp>
      <p:sp>
        <p:nvSpPr>
          <p:cNvPr id="23" name="Text 21"/>
          <p:cNvSpPr txBox="1"/>
          <p:nvPr/>
        </p:nvSpPr>
        <p:spPr>
          <a:xfrm>
            <a:off x="731520" y="3767328"/>
            <a:ext cx="3179978" cy="713232"/>
          </a:xfrm>
          <a:prstGeom prst="rect">
            <a:avLst/>
          </a:prstGeom>
          <a:noFill/>
          <a:ln/>
        </p:spPr>
        <p:txBody>
          <a:bodyPr wrap="square" lIns="0" tIns="0" rIns="0" bIns="0" rtlCol="0" anchor="t">
            <a:normAutofit/>
          </a:bodyPr>
          <a:lstStyle/>
          <a:p>
            <a:pPr indent="0" marL="0">
              <a:buNone/>
            </a:pPr>
            <a:r>
              <a:rPr lang="en-US" sz="1250" dirty="0">
                <a:solidFill>
                  <a:srgbClr val="56606B"/>
                </a:solidFill>
                <a:latin typeface="Calibri" pitchFamily="34" charset="0"/>
                <a:ea typeface="Calibri" pitchFamily="34" charset="-122"/>
                <a:cs typeface="Calibri" pitchFamily="34" charset="-120"/>
              </a:rPr>
              <a:t>Plano de CWA, cronograma nivel 2/3, lista de sistemas, lecciones de la fase anterior.</a:t>
            </a:r>
            <a:endParaRPr lang="en-US" sz="1250" dirty="0"/>
          </a:p>
        </p:txBody>
      </p:sp>
      <p:sp>
        <p:nvSpPr>
          <p:cNvPr id="24" name="Shape 22"/>
          <p:cNvSpPr/>
          <p:nvPr/>
        </p:nvSpPr>
        <p:spPr>
          <a:xfrm>
            <a:off x="4322978" y="3108960"/>
            <a:ext cx="3545738" cy="1444752"/>
          </a:xfrm>
          <a:prstGeom prst="roundRect">
            <a:avLst>
              <a:gd name="adj" fmla="val 5063"/>
            </a:avLst>
          </a:prstGeom>
          <a:solidFill>
            <a:srgbClr val="F4F7FA"/>
          </a:solidFill>
          <a:ln w="9525">
            <a:solidFill>
              <a:srgbClr val="DDE4EC"/>
            </a:solidFill>
            <a:prstDash val="solid"/>
          </a:ln>
        </p:spPr>
      </p:sp>
      <p:sp>
        <p:nvSpPr>
          <p:cNvPr id="25" name="Shape 23"/>
          <p:cNvSpPr/>
          <p:nvPr/>
        </p:nvSpPr>
        <p:spPr>
          <a:xfrm>
            <a:off x="4487570" y="3273552"/>
            <a:ext cx="420624" cy="420624"/>
          </a:xfrm>
          <a:prstGeom prst="ellipse">
            <a:avLst/>
          </a:prstGeom>
          <a:solidFill>
            <a:srgbClr val="1F4E79"/>
          </a:solidFill>
          <a:ln w="12700">
            <a:solidFill>
              <a:srgbClr val="1F4E79"/>
            </a:solidFill>
            <a:prstDash val="solid"/>
          </a:ln>
        </p:spPr>
      </p:sp>
      <p:sp>
        <p:nvSpPr>
          <p:cNvPr id="26" name="Text 24"/>
          <p:cNvSpPr txBox="1"/>
          <p:nvPr/>
        </p:nvSpPr>
        <p:spPr>
          <a:xfrm>
            <a:off x="4487570" y="32735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5036210" y="3255264"/>
            <a:ext cx="2677058" cy="45720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Secuencia acordada</a:t>
            </a:r>
            <a:endParaRPr lang="en-US" sz="1500" dirty="0"/>
          </a:p>
        </p:txBody>
      </p:sp>
      <p:sp>
        <p:nvSpPr>
          <p:cNvPr id="28" name="Text 26"/>
          <p:cNvSpPr txBox="1"/>
          <p:nvPr/>
        </p:nvSpPr>
        <p:spPr>
          <a:xfrm>
            <a:off x="4505858" y="3767328"/>
            <a:ext cx="3179978" cy="713232"/>
          </a:xfrm>
          <a:prstGeom prst="rect">
            <a:avLst/>
          </a:prstGeom>
          <a:noFill/>
          <a:ln/>
        </p:spPr>
        <p:txBody>
          <a:bodyPr wrap="square" lIns="0" tIns="0" rIns="0" bIns="0" rtlCol="0" anchor="t">
            <a:normAutofit/>
          </a:bodyPr>
          <a:lstStyle/>
          <a:p>
            <a:pPr indent="0" marL="0">
              <a:buNone/>
            </a:pPr>
            <a:r>
              <a:rPr lang="en-US" sz="1250" dirty="0">
                <a:solidFill>
                  <a:srgbClr val="56606B"/>
                </a:solidFill>
                <a:latin typeface="Calibri" pitchFamily="34" charset="0"/>
                <a:ea typeface="Calibri" pitchFamily="34" charset="-122"/>
                <a:cs typeface="Calibri" pitchFamily="34" charset="-120"/>
              </a:rPr>
              <a:t>Secuencia, CWA, CWP, inicio plan, predecesor y justificación.</a:t>
            </a:r>
            <a:endParaRPr lang="en-US" sz="1250" dirty="0"/>
          </a:p>
        </p:txBody>
      </p:sp>
      <p:sp>
        <p:nvSpPr>
          <p:cNvPr id="29" name="Shape 27"/>
          <p:cNvSpPr/>
          <p:nvPr/>
        </p:nvSpPr>
        <p:spPr>
          <a:xfrm>
            <a:off x="8097317" y="3108960"/>
            <a:ext cx="3545738" cy="1444752"/>
          </a:xfrm>
          <a:prstGeom prst="roundRect">
            <a:avLst>
              <a:gd name="adj" fmla="val 5063"/>
            </a:avLst>
          </a:prstGeom>
          <a:solidFill>
            <a:srgbClr val="F4F7FA"/>
          </a:solidFill>
          <a:ln w="9525">
            <a:solidFill>
              <a:srgbClr val="DDE4EC"/>
            </a:solidFill>
            <a:prstDash val="solid"/>
          </a:ln>
        </p:spPr>
      </p:sp>
      <p:sp>
        <p:nvSpPr>
          <p:cNvPr id="30" name="Shape 28"/>
          <p:cNvSpPr/>
          <p:nvPr/>
        </p:nvSpPr>
        <p:spPr>
          <a:xfrm>
            <a:off x="8261909" y="3273552"/>
            <a:ext cx="420624" cy="420624"/>
          </a:xfrm>
          <a:prstGeom prst="ellipse">
            <a:avLst/>
          </a:prstGeom>
          <a:solidFill>
            <a:srgbClr val="1F4E79"/>
          </a:solidFill>
          <a:ln w="12700">
            <a:solidFill>
              <a:srgbClr val="1F4E79"/>
            </a:solidFill>
            <a:prstDash val="solid"/>
          </a:ln>
        </p:spPr>
      </p:sp>
      <p:sp>
        <p:nvSpPr>
          <p:cNvPr id="31" name="Text 29"/>
          <p:cNvSpPr txBox="1"/>
          <p:nvPr/>
        </p:nvSpPr>
        <p:spPr>
          <a:xfrm>
            <a:off x="8261909" y="32735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8810549" y="3255264"/>
            <a:ext cx="2677058" cy="45720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Supuestos, riesgos e interfaces</a:t>
            </a:r>
            <a:endParaRPr lang="en-US" sz="1500" dirty="0"/>
          </a:p>
        </p:txBody>
      </p:sp>
      <p:sp>
        <p:nvSpPr>
          <p:cNvPr id="33" name="Text 31"/>
          <p:cNvSpPr txBox="1"/>
          <p:nvPr/>
        </p:nvSpPr>
        <p:spPr>
          <a:xfrm>
            <a:off x="8280197" y="3767328"/>
            <a:ext cx="3179978" cy="713232"/>
          </a:xfrm>
          <a:prstGeom prst="rect">
            <a:avLst/>
          </a:prstGeom>
          <a:noFill/>
          <a:ln/>
        </p:spPr>
        <p:txBody>
          <a:bodyPr wrap="square" lIns="0" tIns="0" rIns="0" bIns="0" rtlCol="0" anchor="t">
            <a:normAutofit/>
          </a:bodyPr>
          <a:lstStyle/>
          <a:p>
            <a:pPr indent="0" marL="0">
              <a:buNone/>
            </a:pPr>
            <a:r>
              <a:rPr lang="en-US" sz="1250" dirty="0">
                <a:solidFill>
                  <a:srgbClr val="56606B"/>
                </a:solidFill>
                <a:latin typeface="Calibri" pitchFamily="34" charset="0"/>
                <a:ea typeface="Calibri" pitchFamily="34" charset="-122"/>
                <a:cs typeface="Calibri" pitchFamily="34" charset="-120"/>
              </a:rPr>
              <a:t>Tipo, descripción, fase afectada y responsable.</a:t>
            </a:r>
            <a:endParaRPr lang="en-US" sz="1250" dirty="0"/>
          </a:p>
        </p:txBody>
      </p:sp>
      <p:sp>
        <p:nvSpPr>
          <p:cNvPr id="34" name="Shape 32"/>
          <p:cNvSpPr/>
          <p:nvPr/>
        </p:nvSpPr>
        <p:spPr>
          <a:xfrm>
            <a:off x="548640" y="4709160"/>
            <a:ext cx="3545738" cy="1444752"/>
          </a:xfrm>
          <a:prstGeom prst="roundRect">
            <a:avLst>
              <a:gd name="adj" fmla="val 5063"/>
            </a:avLst>
          </a:prstGeom>
          <a:solidFill>
            <a:srgbClr val="F4F7FA"/>
          </a:solidFill>
          <a:ln w="9525">
            <a:solidFill>
              <a:srgbClr val="DDE4EC"/>
            </a:solidFill>
            <a:prstDash val="solid"/>
          </a:ln>
        </p:spPr>
      </p:sp>
      <p:sp>
        <p:nvSpPr>
          <p:cNvPr id="35" name="Shape 33"/>
          <p:cNvSpPr/>
          <p:nvPr/>
        </p:nvSpPr>
        <p:spPr>
          <a:xfrm>
            <a:off x="713232" y="4873752"/>
            <a:ext cx="420624" cy="420624"/>
          </a:xfrm>
          <a:prstGeom prst="ellipse">
            <a:avLst/>
          </a:prstGeom>
          <a:solidFill>
            <a:srgbClr val="1F4E79"/>
          </a:solidFill>
          <a:ln w="12700">
            <a:solidFill>
              <a:srgbClr val="1F4E79"/>
            </a:solidFill>
            <a:prstDash val="solid"/>
          </a:ln>
        </p:spPr>
      </p:sp>
      <p:sp>
        <p:nvSpPr>
          <p:cNvPr id="36" name="Text 34"/>
          <p:cNvSpPr txBox="1"/>
          <p:nvPr/>
        </p:nvSpPr>
        <p:spPr>
          <a:xfrm>
            <a:off x="713232" y="48737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7" name="Text 35"/>
          <p:cNvSpPr txBox="1"/>
          <p:nvPr/>
        </p:nvSpPr>
        <p:spPr>
          <a:xfrm>
            <a:off x="1261872" y="4855464"/>
            <a:ext cx="2677058" cy="45720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Decisiones</a:t>
            </a:r>
            <a:endParaRPr lang="en-US" sz="1500" dirty="0"/>
          </a:p>
        </p:txBody>
      </p:sp>
      <p:sp>
        <p:nvSpPr>
          <p:cNvPr id="38" name="Text 36"/>
          <p:cNvSpPr txBox="1"/>
          <p:nvPr/>
        </p:nvSpPr>
        <p:spPr>
          <a:xfrm>
            <a:off x="731520" y="5367528"/>
            <a:ext cx="3179978" cy="713232"/>
          </a:xfrm>
          <a:prstGeom prst="rect">
            <a:avLst/>
          </a:prstGeom>
          <a:noFill/>
          <a:ln/>
        </p:spPr>
        <p:txBody>
          <a:bodyPr wrap="square" lIns="0" tIns="0" rIns="0" bIns="0" rtlCol="0" anchor="t">
            <a:normAutofit/>
          </a:bodyPr>
          <a:lstStyle/>
          <a:p>
            <a:pPr indent="0" marL="0">
              <a:buNone/>
            </a:pPr>
            <a:r>
              <a:rPr lang="en-US" sz="1250" dirty="0">
                <a:solidFill>
                  <a:srgbClr val="56606B"/>
                </a:solidFill>
                <a:latin typeface="Calibri" pitchFamily="34" charset="0"/>
                <a:ea typeface="Calibri" pitchFamily="34" charset="-122"/>
                <a:cs typeface="Calibri" pitchFamily="34" charset="-120"/>
              </a:rPr>
              <a:t>N.°, decisión y quién la tomó.</a:t>
            </a:r>
            <a:endParaRPr lang="en-US" sz="1250" dirty="0"/>
          </a:p>
        </p:txBody>
      </p:sp>
      <p:sp>
        <p:nvSpPr>
          <p:cNvPr id="39" name="Shape 37"/>
          <p:cNvSpPr/>
          <p:nvPr/>
        </p:nvSpPr>
        <p:spPr>
          <a:xfrm>
            <a:off x="4322978" y="4709160"/>
            <a:ext cx="3545738" cy="1444752"/>
          </a:xfrm>
          <a:prstGeom prst="roundRect">
            <a:avLst>
              <a:gd name="adj" fmla="val 5063"/>
            </a:avLst>
          </a:prstGeom>
          <a:solidFill>
            <a:srgbClr val="F4F7FA"/>
          </a:solidFill>
          <a:ln w="9525">
            <a:solidFill>
              <a:srgbClr val="DDE4EC"/>
            </a:solidFill>
            <a:prstDash val="solid"/>
          </a:ln>
        </p:spPr>
      </p:sp>
      <p:sp>
        <p:nvSpPr>
          <p:cNvPr id="40" name="Shape 38"/>
          <p:cNvSpPr/>
          <p:nvPr/>
        </p:nvSpPr>
        <p:spPr>
          <a:xfrm>
            <a:off x="4487570" y="4873752"/>
            <a:ext cx="420624" cy="420624"/>
          </a:xfrm>
          <a:prstGeom prst="ellipse">
            <a:avLst/>
          </a:prstGeom>
          <a:solidFill>
            <a:srgbClr val="1F4E79"/>
          </a:solidFill>
          <a:ln w="12700">
            <a:solidFill>
              <a:srgbClr val="1F4E79"/>
            </a:solidFill>
            <a:prstDash val="solid"/>
          </a:ln>
        </p:spPr>
      </p:sp>
      <p:sp>
        <p:nvSpPr>
          <p:cNvPr id="41" name="Text 39"/>
          <p:cNvSpPr txBox="1"/>
          <p:nvPr/>
        </p:nvSpPr>
        <p:spPr>
          <a:xfrm>
            <a:off x="4487570" y="48737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2" name="Text 40"/>
          <p:cNvSpPr txBox="1"/>
          <p:nvPr/>
        </p:nvSpPr>
        <p:spPr>
          <a:xfrm>
            <a:off x="5036210" y="4855464"/>
            <a:ext cx="2677058" cy="45720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Acciones</a:t>
            </a:r>
            <a:endParaRPr lang="en-US" sz="1500" dirty="0"/>
          </a:p>
        </p:txBody>
      </p:sp>
      <p:sp>
        <p:nvSpPr>
          <p:cNvPr id="43" name="Text 41"/>
          <p:cNvSpPr txBox="1"/>
          <p:nvPr/>
        </p:nvSpPr>
        <p:spPr>
          <a:xfrm>
            <a:off x="4505858" y="5367528"/>
            <a:ext cx="3179978" cy="713232"/>
          </a:xfrm>
          <a:prstGeom prst="rect">
            <a:avLst/>
          </a:prstGeom>
          <a:noFill/>
          <a:ln/>
        </p:spPr>
        <p:txBody>
          <a:bodyPr wrap="square" lIns="0" tIns="0" rIns="0" bIns="0" rtlCol="0" anchor="t">
            <a:normAutofit/>
          </a:bodyPr>
          <a:lstStyle/>
          <a:p>
            <a:pPr indent="0" marL="0">
              <a:buNone/>
            </a:pPr>
            <a:r>
              <a:rPr lang="en-US" sz="1250" dirty="0">
                <a:solidFill>
                  <a:srgbClr val="56606B"/>
                </a:solidFill>
                <a:latin typeface="Calibri" pitchFamily="34" charset="0"/>
                <a:ea typeface="Calibri" pitchFamily="34" charset="-122"/>
                <a:cs typeface="Calibri" pitchFamily="34" charset="-120"/>
              </a:rPr>
              <a:t>Acción, responsable (rol), fecha y estado.</a:t>
            </a:r>
            <a:endParaRPr lang="en-US" sz="1250" dirty="0"/>
          </a:p>
        </p:txBody>
      </p:sp>
      <p:sp>
        <p:nvSpPr>
          <p:cNvPr id="44" name="Shape 42"/>
          <p:cNvSpPr/>
          <p:nvPr/>
        </p:nvSpPr>
        <p:spPr>
          <a:xfrm>
            <a:off x="8097317" y="4709160"/>
            <a:ext cx="3545738" cy="1444752"/>
          </a:xfrm>
          <a:prstGeom prst="roundRect">
            <a:avLst>
              <a:gd name="adj" fmla="val 5063"/>
            </a:avLst>
          </a:prstGeom>
          <a:solidFill>
            <a:srgbClr val="FFF3DC"/>
          </a:solidFill>
          <a:ln w="9525">
            <a:solidFill>
              <a:srgbClr val="F2D59B"/>
            </a:solidFill>
            <a:prstDash val="solid"/>
          </a:ln>
        </p:spPr>
      </p:sp>
      <p:sp>
        <p:nvSpPr>
          <p:cNvPr id="45" name="Shape 43"/>
          <p:cNvSpPr/>
          <p:nvPr/>
        </p:nvSpPr>
        <p:spPr>
          <a:xfrm>
            <a:off x="8261909" y="4873752"/>
            <a:ext cx="420624" cy="420624"/>
          </a:xfrm>
          <a:prstGeom prst="ellipse">
            <a:avLst/>
          </a:prstGeom>
          <a:solidFill>
            <a:srgbClr val="F5A623"/>
          </a:solidFill>
          <a:ln w="12700">
            <a:solidFill>
              <a:srgbClr val="1F4E79"/>
            </a:solidFill>
            <a:prstDash val="solid"/>
          </a:ln>
        </p:spPr>
      </p:sp>
      <p:sp>
        <p:nvSpPr>
          <p:cNvPr id="46" name="Text 44"/>
          <p:cNvSpPr txBox="1"/>
          <p:nvPr/>
        </p:nvSpPr>
        <p:spPr>
          <a:xfrm>
            <a:off x="8261909" y="4873752"/>
            <a:ext cx="420624" cy="420624"/>
          </a:xfrm>
          <a:prstGeom prst="rect">
            <a:avLst/>
          </a:prstGeom>
          <a:noFill/>
          <a:ln/>
        </p:spPr>
        <p:txBody>
          <a:bodyPr wrap="square" lIns="0" tIns="0" rIns="0" bIns="0" rtlCol="0" anchor="ctr"/>
          <a:lstStyle/>
          <a:p>
            <a:pPr algn="ctr" indent="0" marL="0">
              <a:buNone/>
            </a:pPr>
            <a:r>
              <a:rPr lang="en-US" sz="1400" b="1" dirty="0">
                <a:solidFill>
                  <a:srgbClr val="0F2A43"/>
                </a:solidFill>
                <a:latin typeface="Calibri" pitchFamily="34" charset="0"/>
                <a:ea typeface="Calibri" pitchFamily="34" charset="-122"/>
                <a:cs typeface="Calibri" pitchFamily="34" charset="-120"/>
              </a:rPr>
              <a:t>9</a:t>
            </a:r>
            <a:endParaRPr lang="en-US" sz="1400" dirty="0"/>
          </a:p>
        </p:txBody>
      </p:sp>
      <p:sp>
        <p:nvSpPr>
          <p:cNvPr id="47" name="Text 45"/>
          <p:cNvSpPr txBox="1"/>
          <p:nvPr/>
        </p:nvSpPr>
        <p:spPr>
          <a:xfrm>
            <a:off x="8810549" y="4855464"/>
            <a:ext cx="2677058" cy="457200"/>
          </a:xfrm>
          <a:prstGeom prst="rect">
            <a:avLst/>
          </a:prstGeom>
          <a:noFill/>
          <a:ln/>
        </p:spPr>
        <p:txBody>
          <a:bodyPr wrap="square" lIns="0" tIns="0" rIns="0" bIns="0" rtlCol="0" anchor="ctr"/>
          <a:lstStyle/>
          <a:p>
            <a:pPr indent="0" marL="0">
              <a:buNone/>
            </a:pPr>
            <a:r>
              <a:rPr lang="en-US" sz="1500" b="1" dirty="0">
                <a:solidFill>
                  <a:srgbClr val="1B1F24"/>
                </a:solidFill>
                <a:latin typeface="Calibri" pitchFamily="34" charset="0"/>
                <a:ea typeface="Calibri" pitchFamily="34" charset="-122"/>
                <a:cs typeface="Calibri" pitchFamily="34" charset="-120"/>
              </a:rPr>
              <a:t>Aprobación del PoC</a:t>
            </a:r>
            <a:endParaRPr lang="en-US" sz="1500" dirty="0"/>
          </a:p>
        </p:txBody>
      </p:sp>
      <p:sp>
        <p:nvSpPr>
          <p:cNvPr id="48" name="Text 46"/>
          <p:cNvSpPr txBox="1"/>
          <p:nvPr/>
        </p:nvSpPr>
        <p:spPr>
          <a:xfrm>
            <a:off x="8280197" y="5367528"/>
            <a:ext cx="3179978" cy="713232"/>
          </a:xfrm>
          <a:prstGeom prst="rect">
            <a:avLst/>
          </a:prstGeom>
          <a:noFill/>
          <a:ln/>
        </p:spPr>
        <p:txBody>
          <a:bodyPr wrap="square" lIns="0" tIns="0" rIns="0" bIns="0" rtlCol="0" anchor="t">
            <a:normAutofit/>
          </a:bodyPr>
          <a:lstStyle/>
          <a:p>
            <a:pPr indent="0" marL="0">
              <a:buNone/>
            </a:pPr>
            <a:r>
              <a:rPr lang="en-US" sz="1250" dirty="0">
                <a:solidFill>
                  <a:srgbClr val="56606B"/>
                </a:solidFill>
                <a:latin typeface="Calibri" pitchFamily="34" charset="0"/>
                <a:ea typeface="Calibri" pitchFamily="34" charset="-122"/>
                <a:cs typeface="Calibri" pitchFamily="34" charset="-120"/>
              </a:rPr>
              <a:t>Borrador / Acordado / Congelado (H2). Firmas: CON, CHA y cliente.</a:t>
            </a:r>
            <a:endParaRPr lang="en-US" sz="1250" dirty="0"/>
          </a:p>
        </p:txBody>
      </p:sp>
      <p:sp>
        <p:nvSpPr>
          <p:cNvPr id="49" name="Text 47"/>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50" name="Text 48"/>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Ejemplo de supuestos, riesgos e interfaces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Sección 6 del acta, con casos del proyecto tipo</a:t>
            </a:r>
            <a:endParaRPr lang="en-US" sz="15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463040"/>
                <a:gridCol w="6035040"/>
                <a:gridCol w="1645920"/>
                <a:gridCol w="182880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Tipo</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Descripción</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Fase afectada</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Responsable</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Supuesto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La estructura del bloque A se fabrica en 12 semanas desde la emisión del EWP IFC.</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Fase 2</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PRO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Supuesto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Las cimentaciones del bloque A alcanzan la resistencia de montaje antes del 25/04/2028.</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Fase 2</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Riesgo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Ingeniería planifica por disciplina y no entrega EWP en la secuencia del PoC (R02).</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Fase 2</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ING</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Riesgo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Documentación del proveedor de tableros tardía (LA-04).</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Fase 2</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PRO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Interfaz</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Empalmes a la galería de servicios solo durante la parada programada de la Fase 2.</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Fases 2 y 3</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Interfaz</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Grúa compartida entre el bloque B y la ampliación (R09).</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Fases 2 y 3</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Buenas y malas señales en un taller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Cómo saber si el taller está funcionando</a:t>
            </a:r>
            <a:endParaRPr lang="en-US" sz="1500" dirty="0"/>
          </a:p>
        </p:txBody>
      </p:sp>
      <p:sp>
        <p:nvSpPr>
          <p:cNvPr id="4" name="Shape 2"/>
          <p:cNvSpPr/>
          <p:nvPr/>
        </p:nvSpPr>
        <p:spPr>
          <a:xfrm>
            <a:off x="548640" y="1554480"/>
            <a:ext cx="5364328" cy="4709160"/>
          </a:xfrm>
          <a:prstGeom prst="roundRect">
            <a:avLst>
              <a:gd name="adj" fmla="val 1942"/>
            </a:avLst>
          </a:prstGeom>
          <a:solidFill>
            <a:srgbClr val="F4F7FA"/>
          </a:solidFill>
          <a:ln w="9525">
            <a:solidFill>
              <a:srgbClr val="DDE4EC"/>
            </a:solidFill>
            <a:prstDash val="solid"/>
          </a:ln>
        </p:spPr>
      </p:sp>
      <p:sp>
        <p:nvSpPr>
          <p:cNvPr id="5" name="Shape 3"/>
          <p:cNvSpPr/>
          <p:nvPr/>
        </p:nvSpPr>
        <p:spPr>
          <a:xfrm>
            <a:off x="822960" y="1810512"/>
            <a:ext cx="566928" cy="56692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50519" y="1938071"/>
            <a:ext cx="311810" cy="311810"/>
          </a:xfrm>
          <a:prstGeom prst="rect">
            <a:avLst/>
          </a:prstGeom>
        </p:spPr>
      </p:pic>
      <p:sp>
        <p:nvSpPr>
          <p:cNvPr id="7" name="Text 4"/>
          <p:cNvSpPr txBox="1"/>
          <p:nvPr/>
        </p:nvSpPr>
        <p:spPr>
          <a:xfrm>
            <a:off x="1554480" y="1810512"/>
            <a:ext cx="4084168" cy="566928"/>
          </a:xfrm>
          <a:prstGeom prst="rect">
            <a:avLst/>
          </a:prstGeom>
          <a:noFill/>
          <a:ln/>
        </p:spPr>
        <p:txBody>
          <a:bodyPr wrap="square" lIns="0" tIns="0" rIns="0" bIns="0" rtlCol="0" anchor="ctr"/>
          <a:lstStyle/>
          <a:p>
            <a:pPr indent="0" marL="0">
              <a:buNone/>
            </a:pPr>
            <a:r>
              <a:rPr lang="en-US" sz="2100" b="1" dirty="0">
                <a:solidFill>
                  <a:srgbClr val="0CA30C"/>
                </a:solidFill>
                <a:latin typeface="Calibri" pitchFamily="34" charset="0"/>
                <a:ea typeface="Calibri" pitchFamily="34" charset="-122"/>
                <a:cs typeface="Calibri" pitchFamily="34" charset="-120"/>
              </a:rPr>
              <a:t>Buenas señales</a:t>
            </a:r>
            <a:endParaRPr lang="en-US" sz="2100" dirty="0"/>
          </a:p>
        </p:txBody>
      </p:sp>
      <p:sp>
        <p:nvSpPr>
          <p:cNvPr id="8" name="Text 5"/>
          <p:cNvSpPr txBox="1"/>
          <p:nvPr/>
        </p:nvSpPr>
        <p:spPr>
          <a:xfrm>
            <a:off x="868680"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Ingeniería y procura discuten fechas concretas por CWP.</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Comisionamiento cambia el orden de un área por una prioridad de sistema.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Se descubren interfaces y recursos compartidos que nadie había visto.</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Cada acuerdo termina con responsable y fecha.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El acta se firma en la misma semana.</a:t>
            </a:r>
            <a:endParaRPr lang="en-US" sz="1600" dirty="0"/>
          </a:p>
        </p:txBody>
      </p:sp>
      <p:sp>
        <p:nvSpPr>
          <p:cNvPr id="9" name="Shape 6"/>
          <p:cNvSpPr/>
          <p:nvPr/>
        </p:nvSpPr>
        <p:spPr>
          <a:xfrm>
            <a:off x="6278728" y="1554480"/>
            <a:ext cx="5364328" cy="4709160"/>
          </a:xfrm>
          <a:prstGeom prst="roundRect">
            <a:avLst>
              <a:gd name="adj" fmla="val 1942"/>
            </a:avLst>
          </a:prstGeom>
          <a:solidFill>
            <a:srgbClr val="F4F7FA"/>
          </a:solidFill>
          <a:ln w="9525">
            <a:solidFill>
              <a:srgbClr val="DDE4EC"/>
            </a:solidFill>
            <a:prstDash val="solid"/>
          </a:ln>
        </p:spPr>
      </p:sp>
      <p:sp>
        <p:nvSpPr>
          <p:cNvPr id="10" name="Shape 7"/>
          <p:cNvSpPr/>
          <p:nvPr/>
        </p:nvSpPr>
        <p:spPr>
          <a:xfrm>
            <a:off x="6553048" y="1810512"/>
            <a:ext cx="566928" cy="56692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80606" y="1938071"/>
            <a:ext cx="311810" cy="311810"/>
          </a:xfrm>
          <a:prstGeom prst="rect">
            <a:avLst/>
          </a:prstGeom>
        </p:spPr>
      </p:pic>
      <p:sp>
        <p:nvSpPr>
          <p:cNvPr id="12" name="Text 8"/>
          <p:cNvSpPr txBox="1"/>
          <p:nvPr/>
        </p:nvSpPr>
        <p:spPr>
          <a:xfrm>
            <a:off x="7284568" y="1810512"/>
            <a:ext cx="4084168" cy="566928"/>
          </a:xfrm>
          <a:prstGeom prst="rect">
            <a:avLst/>
          </a:prstGeom>
          <a:noFill/>
          <a:ln/>
        </p:spPr>
        <p:txBody>
          <a:bodyPr wrap="square" lIns="0" tIns="0" rIns="0" bIns="0" rtlCol="0" anchor="ctr"/>
          <a:lstStyle/>
          <a:p>
            <a:pPr indent="0" marL="0">
              <a:buNone/>
            </a:pPr>
            <a:r>
              <a:rPr lang="en-US" sz="2100" b="1" dirty="0">
                <a:solidFill>
                  <a:srgbClr val="D03B3B"/>
                </a:solidFill>
                <a:latin typeface="Calibri" pitchFamily="34" charset="0"/>
                <a:ea typeface="Calibri" pitchFamily="34" charset="-122"/>
                <a:cs typeface="Calibri" pitchFamily="34" charset="-120"/>
              </a:rPr>
              <a:t>Malas señales</a:t>
            </a:r>
            <a:endParaRPr lang="en-US" sz="2100" dirty="0"/>
          </a:p>
        </p:txBody>
      </p:sp>
      <p:sp>
        <p:nvSpPr>
          <p:cNvPr id="13" name="Text 9"/>
          <p:cNvSpPr txBox="1"/>
          <p:nvPr/>
        </p:nvSpPr>
        <p:spPr>
          <a:xfrm>
            <a:off x="6598768"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Construcción presenta un cronograma cerrado y nadie opina.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Faltan ingeniería, procura o comisionamiento.</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Se discute por disciplina y no por área o sistema.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No se calculan fechas requeridas: «después lo vemos».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Las decisiones no se registran y el PoC queda en un borrador eterno.</a:t>
            </a:r>
            <a:endParaRPr lang="en-US" sz="1600" dirty="0"/>
          </a:p>
        </p:txBody>
      </p:sp>
      <p:sp>
        <p:nvSpPr>
          <p:cNvPr id="14"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El taller de planificación interactiva</a:t>
            </a:r>
            <a:endParaRPr lang="en-US" sz="1000" dirty="0"/>
          </a:p>
        </p:txBody>
      </p:sp>
      <p:sp>
        <p:nvSpPr>
          <p:cNvPr id="15"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06</a:t>
            </a:r>
            <a:endParaRPr lang="en-US" sz="9600" dirty="0"/>
          </a:p>
        </p:txBody>
      </p:sp>
      <p:sp>
        <p:nvSpPr>
          <p:cNvPr id="3" name="Text 1"/>
          <p:cNvSpPr txBox="1"/>
          <p:nvPr/>
        </p:nvSpPr>
        <p:spPr>
          <a:xfrm>
            <a:off x="548640" y="2697480"/>
            <a:ext cx="594360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Responsables y gobierno</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Quién lidera, quién facilita, quién aprueba y quién aporta</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Gobierno del PoC</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Matriz RACI del kit</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Responsabilidades por rol</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Quién firma y aprueba</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Responsables y gobierno</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Gobierno del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Responsabilidad del EPC/EPCM bajo el gobierno del propietario</a:t>
            </a:r>
            <a:endParaRPr lang="en-US" sz="1500" dirty="0"/>
          </a:p>
        </p:txBody>
      </p:sp>
      <p:sp>
        <p:nvSpPr>
          <p:cNvPr id="4" name="Shape 2"/>
          <p:cNvSpPr/>
          <p:nvPr/>
        </p:nvSpPr>
        <p:spPr>
          <a:xfrm>
            <a:off x="548640" y="1554480"/>
            <a:ext cx="541004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Propietario (cliente)</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Gobierna: fija prioridades de operación, aprueba el PoC y los cambios de secuencia; exige AWP en contratos.</a:t>
            </a:r>
            <a:endParaRPr lang="en-US" sz="1700" dirty="0"/>
          </a:p>
        </p:txBody>
      </p:sp>
      <p:sp>
        <p:nvSpPr>
          <p:cNvPr id="9" name="Shape 6"/>
          <p:cNvSpPr/>
          <p:nvPr/>
        </p:nvSpPr>
        <p:spPr>
          <a:xfrm>
            <a:off x="6233008" y="1554480"/>
            <a:ext cx="541004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646160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EPC / EPCM</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Define y mantiene la ruta de construcción; estructura CWA y CWP; coordina ingeniería, compras y construcción.</a:t>
            </a:r>
            <a:endParaRPr lang="en-US" sz="1700" dirty="0"/>
          </a:p>
        </p:txBody>
      </p:sp>
      <p:sp>
        <p:nvSpPr>
          <p:cNvPr id="14" name="Shape 10"/>
          <p:cNvSpPr/>
          <p:nvPr/>
        </p:nvSpPr>
        <p:spPr>
          <a:xfrm>
            <a:off x="548640" y="4046220"/>
            <a:ext cx="541004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777240" y="427482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Gerente sénior del proyecto</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Convoca el proceso del PoC en la planificación temprana, antes de la ingeniería de detalle (procedimiento 1).</a:t>
            </a:r>
            <a:endParaRPr lang="en-US" sz="1700" dirty="0"/>
          </a:p>
        </p:txBody>
      </p:sp>
      <p:sp>
        <p:nvSpPr>
          <p:cNvPr id="19" name="Shape 14"/>
          <p:cNvSpPr/>
          <p:nvPr/>
        </p:nvSpPr>
        <p:spPr>
          <a:xfrm>
            <a:off x="6233008" y="4046220"/>
            <a:ext cx="541004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6461608"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Principio</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La lógica de una construcción optimizada debe ser la influencia dominante en la ruta final.</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Responsables y gobierno</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Matriz RACI del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Matriz_Roles_RACI.xlsx del kit; la última fila, del catálogo de hitos (H2)</a:t>
            </a:r>
            <a:endParaRPr lang="en-US" sz="15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840480"/>
                <a:gridCol w="659449"/>
                <a:gridCol w="659449"/>
                <a:gridCol w="659449"/>
                <a:gridCol w="659449"/>
                <a:gridCol w="659449"/>
                <a:gridCol w="659449"/>
                <a:gridCol w="659449"/>
                <a:gridCol w="659449"/>
                <a:gridCol w="659449"/>
                <a:gridCol w="659449"/>
                <a:gridCol w="659449"/>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Actividad</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CLI</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GP</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CHA</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CON</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ING</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PRO</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COM</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HSE</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LWF</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IM</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F2A43"/>
                    </a:solidFill>
                  </a:tcPr>
                </a:tc>
              </a:tr>
              <a:tr h="45720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Definir las CWA de la fase</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5A62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I</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EEF1F4"/>
                    </a:solidFill>
                  </a:tcPr>
                </a:tc>
              </a:tr>
              <a:tr h="45720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Desarrollar el PoC en talleres IPP</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5A623"/>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Elaborar el plan de liberación CWP/EWP/PWP</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5A62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5720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Planificar la ingeniería por EWP según el PoC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5A623"/>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Emitir EWP completos en la secuencia del PoC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I</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EEF1F4"/>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I</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EEF1F4"/>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5A623"/>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I</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EEF1F4"/>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I</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EEF1F4"/>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5720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Alinear las fechas RAS con el PoC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5A623"/>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Emitir los CWP</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5A623"/>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5720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Aprobar el PoC (hito H2)</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5A623"/>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1F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D6E4F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897880"/>
            <a:ext cx="329184" cy="292608"/>
          </a:xfrm>
          <a:prstGeom prst="rect">
            <a:avLst/>
          </a:prstGeom>
          <a:solidFill>
            <a:srgbClr val="1F4E79"/>
          </a:solidFill>
          <a:ln w="6350">
            <a:solidFill>
              <a:srgbClr val="DDE4EC"/>
            </a:solidFill>
            <a:prstDash val="solid"/>
          </a:ln>
        </p:spPr>
      </p:sp>
      <p:sp>
        <p:nvSpPr>
          <p:cNvPr id="6" name="Text 3"/>
          <p:cNvSpPr txBox="1"/>
          <p:nvPr/>
        </p:nvSpPr>
        <p:spPr>
          <a:xfrm>
            <a:off x="548640" y="5897880"/>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7" name="Text 4"/>
          <p:cNvSpPr txBox="1"/>
          <p:nvPr/>
        </p:nvSpPr>
        <p:spPr>
          <a:xfrm>
            <a:off x="960120" y="5897880"/>
            <a:ext cx="2331720" cy="292608"/>
          </a:xfrm>
          <a:prstGeom prst="rect">
            <a:avLst/>
          </a:prstGeom>
          <a:noFill/>
          <a:ln/>
        </p:spPr>
        <p:txBody>
          <a:bodyPr wrap="square" lIns="0" tIns="0" rIns="0" bIns="0" rtlCol="0" anchor="ctr"/>
          <a:lstStyle/>
          <a:p>
            <a:pPr indent="0" marL="0">
              <a:buNone/>
            </a:pPr>
            <a:r>
              <a:rPr lang="en-US" sz="1200" dirty="0">
                <a:solidFill>
                  <a:srgbClr val="56606B"/>
                </a:solidFill>
                <a:latin typeface="Calibri" pitchFamily="34" charset="0"/>
                <a:ea typeface="Calibri" pitchFamily="34" charset="-122"/>
                <a:cs typeface="Calibri" pitchFamily="34" charset="-120"/>
              </a:rPr>
              <a:t>Responsable: lo hace</a:t>
            </a:r>
            <a:endParaRPr lang="en-US" sz="1200" dirty="0"/>
          </a:p>
        </p:txBody>
      </p:sp>
      <p:sp>
        <p:nvSpPr>
          <p:cNvPr id="8" name="Shape 5"/>
          <p:cNvSpPr/>
          <p:nvPr/>
        </p:nvSpPr>
        <p:spPr>
          <a:xfrm>
            <a:off x="3337560" y="5897880"/>
            <a:ext cx="329184" cy="292608"/>
          </a:xfrm>
          <a:prstGeom prst="rect">
            <a:avLst/>
          </a:prstGeom>
          <a:solidFill>
            <a:srgbClr val="F5A623"/>
          </a:solidFill>
          <a:ln w="6350">
            <a:solidFill>
              <a:srgbClr val="DDE4EC"/>
            </a:solidFill>
            <a:prstDash val="solid"/>
          </a:ln>
        </p:spPr>
      </p:sp>
      <p:sp>
        <p:nvSpPr>
          <p:cNvPr id="9" name="Text 6"/>
          <p:cNvSpPr txBox="1"/>
          <p:nvPr/>
        </p:nvSpPr>
        <p:spPr>
          <a:xfrm>
            <a:off x="3337560" y="5897880"/>
            <a:ext cx="329184" cy="292608"/>
          </a:xfrm>
          <a:prstGeom prst="rect">
            <a:avLst/>
          </a:prstGeom>
          <a:noFill/>
          <a:ln/>
        </p:spPr>
        <p:txBody>
          <a:bodyPr wrap="square" lIns="0" tIns="0" rIns="0" bIns="0" rtlCol="0" anchor="ctr"/>
          <a:lstStyle/>
          <a:p>
            <a:pPr algn="ctr" indent="0" marL="0">
              <a:buNone/>
            </a:pPr>
            <a:r>
              <a:rPr lang="en-US" sz="1200" b="1" dirty="0">
                <a:solidFill>
                  <a:srgbClr val="1B1F24"/>
                </a:solidFill>
                <a:latin typeface="Calibri" pitchFamily="34" charset="0"/>
                <a:ea typeface="Calibri" pitchFamily="34" charset="-122"/>
                <a:cs typeface="Calibri" pitchFamily="34" charset="-120"/>
              </a:rPr>
              <a:t>A</a:t>
            </a:r>
            <a:endParaRPr lang="en-US" sz="1200" dirty="0"/>
          </a:p>
        </p:txBody>
      </p:sp>
      <p:sp>
        <p:nvSpPr>
          <p:cNvPr id="10" name="Text 7"/>
          <p:cNvSpPr txBox="1"/>
          <p:nvPr/>
        </p:nvSpPr>
        <p:spPr>
          <a:xfrm>
            <a:off x="3749040" y="5897880"/>
            <a:ext cx="2331720" cy="292608"/>
          </a:xfrm>
          <a:prstGeom prst="rect">
            <a:avLst/>
          </a:prstGeom>
          <a:noFill/>
          <a:ln/>
        </p:spPr>
        <p:txBody>
          <a:bodyPr wrap="square" lIns="0" tIns="0" rIns="0" bIns="0" rtlCol="0" anchor="ctr"/>
          <a:lstStyle/>
          <a:p>
            <a:pPr indent="0" marL="0">
              <a:buNone/>
            </a:pPr>
            <a:r>
              <a:rPr lang="en-US" sz="1200" dirty="0">
                <a:solidFill>
                  <a:srgbClr val="56606B"/>
                </a:solidFill>
                <a:latin typeface="Calibri" pitchFamily="34" charset="0"/>
                <a:ea typeface="Calibri" pitchFamily="34" charset="-122"/>
                <a:cs typeface="Calibri" pitchFamily="34" charset="-120"/>
              </a:rPr>
              <a:t>Rinde cuentas: una sola por actividad</a:t>
            </a:r>
            <a:endParaRPr lang="en-US" sz="1200" dirty="0"/>
          </a:p>
        </p:txBody>
      </p:sp>
      <p:sp>
        <p:nvSpPr>
          <p:cNvPr id="11" name="Shape 8"/>
          <p:cNvSpPr/>
          <p:nvPr/>
        </p:nvSpPr>
        <p:spPr>
          <a:xfrm>
            <a:off x="6126480" y="5897880"/>
            <a:ext cx="329184" cy="292608"/>
          </a:xfrm>
          <a:prstGeom prst="rect">
            <a:avLst/>
          </a:prstGeom>
          <a:solidFill>
            <a:srgbClr val="D6E4F2"/>
          </a:solidFill>
          <a:ln w="6350">
            <a:solidFill>
              <a:srgbClr val="DDE4EC"/>
            </a:solidFill>
            <a:prstDash val="solid"/>
          </a:ln>
        </p:spPr>
      </p:sp>
      <p:sp>
        <p:nvSpPr>
          <p:cNvPr id="12" name="Text 9"/>
          <p:cNvSpPr txBox="1"/>
          <p:nvPr/>
        </p:nvSpPr>
        <p:spPr>
          <a:xfrm>
            <a:off x="6126480" y="5897880"/>
            <a:ext cx="329184" cy="292608"/>
          </a:xfrm>
          <a:prstGeom prst="rect">
            <a:avLst/>
          </a:prstGeom>
          <a:noFill/>
          <a:ln/>
        </p:spPr>
        <p:txBody>
          <a:bodyPr wrap="square" lIns="0" tIns="0" rIns="0" bIns="0" rtlCol="0" anchor="ctr"/>
          <a:lstStyle/>
          <a:p>
            <a:pPr algn="ctr" indent="0" marL="0">
              <a:buNone/>
            </a:pPr>
            <a:r>
              <a:rPr lang="en-US" sz="1200" b="1" dirty="0">
                <a:solidFill>
                  <a:srgbClr val="1B1F24"/>
                </a:solidFill>
                <a:latin typeface="Calibri" pitchFamily="34" charset="0"/>
                <a:ea typeface="Calibri" pitchFamily="34" charset="-122"/>
                <a:cs typeface="Calibri" pitchFamily="34" charset="-120"/>
              </a:rPr>
              <a:t>C</a:t>
            </a:r>
            <a:endParaRPr lang="en-US" sz="1200" dirty="0"/>
          </a:p>
        </p:txBody>
      </p:sp>
      <p:sp>
        <p:nvSpPr>
          <p:cNvPr id="13" name="Text 10"/>
          <p:cNvSpPr txBox="1"/>
          <p:nvPr/>
        </p:nvSpPr>
        <p:spPr>
          <a:xfrm>
            <a:off x="6537960" y="5897880"/>
            <a:ext cx="2331720" cy="292608"/>
          </a:xfrm>
          <a:prstGeom prst="rect">
            <a:avLst/>
          </a:prstGeom>
          <a:noFill/>
          <a:ln/>
        </p:spPr>
        <p:txBody>
          <a:bodyPr wrap="square" lIns="0" tIns="0" rIns="0" bIns="0" rtlCol="0" anchor="ctr"/>
          <a:lstStyle/>
          <a:p>
            <a:pPr indent="0" marL="0">
              <a:buNone/>
            </a:pPr>
            <a:r>
              <a:rPr lang="en-US" sz="1200" dirty="0">
                <a:solidFill>
                  <a:srgbClr val="56606B"/>
                </a:solidFill>
                <a:latin typeface="Calibri" pitchFamily="34" charset="0"/>
                <a:ea typeface="Calibri" pitchFamily="34" charset="-122"/>
                <a:cs typeface="Calibri" pitchFamily="34" charset="-120"/>
              </a:rPr>
              <a:t>Consultado</a:t>
            </a:r>
            <a:endParaRPr lang="en-US" sz="1200" dirty="0"/>
          </a:p>
        </p:txBody>
      </p:sp>
      <p:sp>
        <p:nvSpPr>
          <p:cNvPr id="14" name="Shape 11"/>
          <p:cNvSpPr/>
          <p:nvPr/>
        </p:nvSpPr>
        <p:spPr>
          <a:xfrm>
            <a:off x="8915400" y="5897880"/>
            <a:ext cx="329184" cy="292608"/>
          </a:xfrm>
          <a:prstGeom prst="rect">
            <a:avLst/>
          </a:prstGeom>
          <a:solidFill>
            <a:srgbClr val="EEF1F4"/>
          </a:solidFill>
          <a:ln w="6350">
            <a:solidFill>
              <a:srgbClr val="DDE4EC"/>
            </a:solidFill>
            <a:prstDash val="solid"/>
          </a:ln>
        </p:spPr>
      </p:sp>
      <p:sp>
        <p:nvSpPr>
          <p:cNvPr id="15" name="Text 12"/>
          <p:cNvSpPr txBox="1"/>
          <p:nvPr/>
        </p:nvSpPr>
        <p:spPr>
          <a:xfrm>
            <a:off x="8915400" y="5897880"/>
            <a:ext cx="329184" cy="292608"/>
          </a:xfrm>
          <a:prstGeom prst="rect">
            <a:avLst/>
          </a:prstGeom>
          <a:noFill/>
          <a:ln/>
        </p:spPr>
        <p:txBody>
          <a:bodyPr wrap="square" lIns="0" tIns="0" rIns="0" bIns="0" rtlCol="0" anchor="ctr"/>
          <a:lstStyle/>
          <a:p>
            <a:pPr algn="ctr" indent="0" marL="0">
              <a:buNone/>
            </a:pPr>
            <a:r>
              <a:rPr lang="en-US" sz="1200" b="1" dirty="0">
                <a:solidFill>
                  <a:srgbClr val="1B1F24"/>
                </a:solidFill>
                <a:latin typeface="Calibri" pitchFamily="34" charset="0"/>
                <a:ea typeface="Calibri" pitchFamily="34" charset="-122"/>
                <a:cs typeface="Calibri" pitchFamily="34" charset="-120"/>
              </a:rPr>
              <a:t>I</a:t>
            </a:r>
            <a:endParaRPr lang="en-US" sz="1200" dirty="0"/>
          </a:p>
        </p:txBody>
      </p:sp>
      <p:sp>
        <p:nvSpPr>
          <p:cNvPr id="16" name="Text 13"/>
          <p:cNvSpPr txBox="1"/>
          <p:nvPr/>
        </p:nvSpPr>
        <p:spPr>
          <a:xfrm>
            <a:off x="9326880" y="5897880"/>
            <a:ext cx="2331720" cy="292608"/>
          </a:xfrm>
          <a:prstGeom prst="rect">
            <a:avLst/>
          </a:prstGeom>
          <a:noFill/>
          <a:ln/>
        </p:spPr>
        <p:txBody>
          <a:bodyPr wrap="square" lIns="0" tIns="0" rIns="0" bIns="0" rtlCol="0" anchor="ctr"/>
          <a:lstStyle/>
          <a:p>
            <a:pPr indent="0" marL="0">
              <a:buNone/>
            </a:pPr>
            <a:r>
              <a:rPr lang="en-US" sz="1200" dirty="0">
                <a:solidFill>
                  <a:srgbClr val="56606B"/>
                </a:solidFill>
                <a:latin typeface="Calibri" pitchFamily="34" charset="0"/>
                <a:ea typeface="Calibri" pitchFamily="34" charset="-122"/>
                <a:cs typeface="Calibri" pitchFamily="34" charset="-120"/>
              </a:rPr>
              <a:t>Informado</a:t>
            </a:r>
            <a:endParaRPr lang="en-US" sz="1200" dirty="0"/>
          </a:p>
        </p:txBody>
      </p:sp>
      <p:sp>
        <p:nvSpPr>
          <p:cNvPr id="17" name="Text 14"/>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Responsables y gobierno</a:t>
            </a:r>
            <a:endParaRPr lang="en-US" sz="1000" dirty="0"/>
          </a:p>
        </p:txBody>
      </p:sp>
      <p:sp>
        <p:nvSpPr>
          <p:cNvPr id="18" name="Text 15"/>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Responsabilidades por rol (1 de 2)</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Qué hace cada rol con el Path of Construction</a:t>
            </a:r>
            <a:endParaRPr lang="en-US" sz="15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017520"/>
                <a:gridCol w="795528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Rol</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Responsabilidades con el PoC</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Gerente de Construcción (CON)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Lidera el PoC; propone y decide la secuencia de ejecución; aprueba los CWP; prioriza restricciones críticas; firma el acta.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AWP Champion (CHA)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Facilita los talleres; prepara insumos y plantillas; consolida el acta; publica el plan de liberación; audita que la ingeniería y la procura sigan 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Cliente (CLI)</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Patrocina AWP; fija prioridades de operación; aprueba el PoC y sus cambios; firma el acta.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Gerente de Proyecto (GP)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Integra el PoC en el plan de ejecución; asigna recursos; resuelve conflictos escalados.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Líder de comisionamiento (COM)</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Define sistemas y su secuencia de puesta en marcha desde FEL para que el PoC termine en sistemas completos.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Responsables y gobierno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Responsabilidades por rol (2 de 2)</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Qué hace cada rol con el Path of Construction</a:t>
            </a:r>
            <a:endParaRPr lang="en-US" sz="15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017520"/>
                <a:gridCol w="795528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Rol</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Responsabilidades con el PoC</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Líder de Ingeniería (ING)</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Planifica y emite los EWP en la secuencia del PoC (Path of Engineering); lidera revisiones de constructabilidad; informa avance por EWP.</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Líder de Procura (PRO)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Estructura los PWP por CWP; fija fechas RAS desde el PoC; asegura que la estrategia de compras respalde la secuencia.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Controles del proyecto (CTR)</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Arma el cronograma de nivel 3 desde el PoC; calcula fechas requeridas; mide K01, K02 y K13.</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Líder de WFP (LWF)</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Verifica que la secuencia permita planificar frentes y un backlog estable; divide CWP en IWP según el PoC.</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Coordinador de IM (IM)</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Codificación común; carga CWA y CWP como atributos del modelo 3D y del cronograma.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Líder de HSE y Líder de calidad</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Evalúan riesgos de trabajos simultáneos, izajes y accesos; requisitos de calidad por área.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Responsables y gobierno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Quién aprueba 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Las firmas del acta y los hitos</a:t>
            </a:r>
            <a:endParaRPr lang="en-US" sz="1500" dirty="0"/>
          </a:p>
        </p:txBody>
      </p:sp>
      <p:sp>
        <p:nvSpPr>
          <p:cNvPr id="4" name="Shape 2"/>
          <p:cNvSpPr/>
          <p:nvPr/>
        </p:nvSpPr>
        <p:spPr>
          <a:xfrm>
            <a:off x="548640" y="1600200"/>
            <a:ext cx="3515258" cy="3108960"/>
          </a:xfrm>
          <a:prstGeom prst="roundRect">
            <a:avLst>
              <a:gd name="adj" fmla="val 2353"/>
            </a:avLst>
          </a:prstGeom>
          <a:solidFill>
            <a:srgbClr val="F4F7FA"/>
          </a:solidFill>
          <a:ln w="9525">
            <a:solidFill>
              <a:srgbClr val="DDE4EC"/>
            </a:solidFill>
            <a:prstDash val="solid"/>
          </a:ln>
        </p:spPr>
      </p:sp>
      <p:sp>
        <p:nvSpPr>
          <p:cNvPr id="5" name="Shape 3"/>
          <p:cNvSpPr/>
          <p:nvPr/>
        </p:nvSpPr>
        <p:spPr>
          <a:xfrm>
            <a:off x="1803349" y="1828800"/>
            <a:ext cx="1005840" cy="1005840"/>
          </a:xfrm>
          <a:prstGeom prst="ellipse">
            <a:avLst/>
          </a:prstGeom>
          <a:solidFill>
            <a:srgbClr val="1F4E79"/>
          </a:solidFill>
          <a:ln w="12700">
            <a:solidFill>
              <a:srgbClr val="1F4E79"/>
            </a:solidFill>
            <a:prstDash val="solid"/>
          </a:ln>
        </p:spPr>
      </p:sp>
      <p:pic>
        <p:nvPicPr>
          <p:cNvPr id="6" name="Image 0" descr="preencoded.png">    </p:cNvPr>
          <p:cNvPicPr>
            <a:picLocks noChangeAspect="1"/>
          </p:cNvPicPr>
          <p:nvPr/>
        </p:nvPicPr>
        <p:blipFill>
          <a:blip r:embed="rId1"/>
          <a:stretch>
            <a:fillRect/>
          </a:stretch>
        </p:blipFill>
        <p:spPr>
          <a:xfrm>
            <a:off x="2029663" y="2055114"/>
            <a:ext cx="553212" cy="553212"/>
          </a:xfrm>
          <a:prstGeom prst="rect">
            <a:avLst/>
          </a:prstGeom>
        </p:spPr>
      </p:pic>
      <p:sp>
        <p:nvSpPr>
          <p:cNvPr id="7" name="Text 4"/>
          <p:cNvSpPr txBox="1"/>
          <p:nvPr/>
        </p:nvSpPr>
        <p:spPr>
          <a:xfrm>
            <a:off x="731520" y="2971800"/>
            <a:ext cx="3149498" cy="548640"/>
          </a:xfrm>
          <a:prstGeom prst="rect">
            <a:avLst/>
          </a:prstGeom>
          <a:noFill/>
          <a:ln/>
        </p:spPr>
        <p:txBody>
          <a:bodyPr wrap="square" lIns="0" tIns="0" rIns="0" bIns="0" rtlCol="0" anchor="t"/>
          <a:lstStyle/>
          <a:p>
            <a:pPr algn="ctr" indent="0" marL="0">
              <a:buNone/>
            </a:pPr>
            <a:r>
              <a:rPr lang="en-US" sz="1800" b="1" dirty="0">
                <a:solidFill>
                  <a:srgbClr val="1B1F24"/>
                </a:solidFill>
                <a:latin typeface="Calibri" pitchFamily="34" charset="0"/>
                <a:ea typeface="Calibri" pitchFamily="34" charset="-122"/>
                <a:cs typeface="Calibri" pitchFamily="34" charset="-120"/>
              </a:rPr>
              <a:t>Gerente de Construcción</a:t>
            </a:r>
            <a:endParaRPr lang="en-US" sz="1800" dirty="0"/>
          </a:p>
        </p:txBody>
      </p:sp>
      <p:sp>
        <p:nvSpPr>
          <p:cNvPr id="8" name="Text 5"/>
          <p:cNvSpPr txBox="1"/>
          <p:nvPr/>
        </p:nvSpPr>
        <p:spPr>
          <a:xfrm>
            <a:off x="731520" y="3520440"/>
            <a:ext cx="3149498" cy="365760"/>
          </a:xfrm>
          <a:prstGeom prst="rect">
            <a:avLst/>
          </a:prstGeom>
          <a:noFill/>
          <a:ln/>
        </p:spPr>
        <p:txBody>
          <a:bodyPr wrap="square" lIns="0" tIns="0" rIns="0" bIns="0" rtlCol="0" anchor="t"/>
          <a:lstStyle/>
          <a:p>
            <a:pPr algn="ctr" indent="0" marL="0">
              <a:buNone/>
            </a:pPr>
            <a:r>
              <a:rPr lang="en-US" sz="1400" b="1" dirty="0">
                <a:solidFill>
                  <a:srgbClr val="163A5C"/>
                </a:solidFill>
                <a:latin typeface="Calibri" pitchFamily="34" charset="0"/>
                <a:ea typeface="Calibri" pitchFamily="34" charset="-122"/>
                <a:cs typeface="Calibri" pitchFamily="34" charset="-120"/>
              </a:rPr>
              <a:t>Lidera el PoC (A)</a:t>
            </a:r>
            <a:endParaRPr lang="en-US" sz="1400" dirty="0"/>
          </a:p>
        </p:txBody>
      </p:sp>
      <p:sp>
        <p:nvSpPr>
          <p:cNvPr id="9" name="Shape 6"/>
          <p:cNvSpPr/>
          <p:nvPr/>
        </p:nvSpPr>
        <p:spPr>
          <a:xfrm>
            <a:off x="1005840" y="4224528"/>
            <a:ext cx="2600858" cy="0"/>
          </a:xfrm>
          <a:prstGeom prst="line">
            <a:avLst/>
          </a:prstGeom>
          <a:noFill/>
          <a:ln w="9525">
            <a:solidFill>
              <a:srgbClr val="56606B"/>
            </a:solidFill>
            <a:prstDash val="dash"/>
          </a:ln>
        </p:spPr>
      </p:sp>
      <p:sp>
        <p:nvSpPr>
          <p:cNvPr id="10" name="Text 7"/>
          <p:cNvSpPr txBox="1"/>
          <p:nvPr/>
        </p:nvSpPr>
        <p:spPr>
          <a:xfrm>
            <a:off x="731520" y="4279392"/>
            <a:ext cx="3149498" cy="365760"/>
          </a:xfrm>
          <a:prstGeom prst="rect">
            <a:avLst/>
          </a:prstGeom>
          <a:noFill/>
          <a:ln/>
        </p:spPr>
        <p:txBody>
          <a:bodyPr wrap="square" lIns="0" tIns="0" rIns="0" bIns="0" rtlCol="0" anchor="t"/>
          <a:lstStyle/>
          <a:p>
            <a:pPr algn="ctr" indent="0" marL="0">
              <a:buNone/>
            </a:pPr>
            <a:r>
              <a:rPr lang="en-US" sz="1250" dirty="0">
                <a:solidFill>
                  <a:srgbClr val="56606B"/>
                </a:solidFill>
                <a:latin typeface="Calibri" pitchFamily="34" charset="0"/>
                <a:ea typeface="Calibri" pitchFamily="34" charset="-122"/>
                <a:cs typeface="Calibri" pitchFamily="34" charset="-120"/>
              </a:rPr>
              <a:t>Firma el acta · aprueba H2</a:t>
            </a:r>
            <a:endParaRPr lang="en-US" sz="1250" dirty="0"/>
          </a:p>
        </p:txBody>
      </p:sp>
      <p:sp>
        <p:nvSpPr>
          <p:cNvPr id="11" name="Shape 8"/>
          <p:cNvSpPr/>
          <p:nvPr/>
        </p:nvSpPr>
        <p:spPr>
          <a:xfrm>
            <a:off x="4338218" y="1600200"/>
            <a:ext cx="3515258" cy="3108960"/>
          </a:xfrm>
          <a:prstGeom prst="roundRect">
            <a:avLst>
              <a:gd name="adj" fmla="val 2353"/>
            </a:avLst>
          </a:prstGeom>
          <a:solidFill>
            <a:srgbClr val="F4F7FA"/>
          </a:solidFill>
          <a:ln w="9525">
            <a:solidFill>
              <a:srgbClr val="DDE4EC"/>
            </a:solidFill>
            <a:prstDash val="solid"/>
          </a:ln>
        </p:spPr>
      </p:sp>
      <p:sp>
        <p:nvSpPr>
          <p:cNvPr id="12" name="Shape 9"/>
          <p:cNvSpPr/>
          <p:nvPr/>
        </p:nvSpPr>
        <p:spPr>
          <a:xfrm>
            <a:off x="5592928" y="1828800"/>
            <a:ext cx="1005840" cy="1005840"/>
          </a:xfrm>
          <a:prstGeom prst="ellipse">
            <a:avLst/>
          </a:prstGeom>
          <a:solidFill>
            <a:srgbClr val="1F4E79"/>
          </a:solidFill>
          <a:ln w="12700">
            <a:solidFill>
              <a:srgbClr val="1F4E79"/>
            </a:solidFill>
            <a:prstDash val="solid"/>
          </a:ln>
        </p:spPr>
      </p:sp>
      <p:pic>
        <p:nvPicPr>
          <p:cNvPr id="13" name="Image 1" descr="preencoded.png">    </p:cNvPr>
          <p:cNvPicPr>
            <a:picLocks noChangeAspect="1"/>
          </p:cNvPicPr>
          <p:nvPr/>
        </p:nvPicPr>
        <p:blipFill>
          <a:blip r:embed="rId2"/>
          <a:stretch>
            <a:fillRect/>
          </a:stretch>
        </p:blipFill>
        <p:spPr>
          <a:xfrm>
            <a:off x="5819242" y="2055114"/>
            <a:ext cx="553212" cy="553212"/>
          </a:xfrm>
          <a:prstGeom prst="rect">
            <a:avLst/>
          </a:prstGeom>
        </p:spPr>
      </p:pic>
      <p:sp>
        <p:nvSpPr>
          <p:cNvPr id="14" name="Text 10"/>
          <p:cNvSpPr txBox="1"/>
          <p:nvPr/>
        </p:nvSpPr>
        <p:spPr>
          <a:xfrm>
            <a:off x="4521098" y="2971800"/>
            <a:ext cx="3149498" cy="548640"/>
          </a:xfrm>
          <a:prstGeom prst="rect">
            <a:avLst/>
          </a:prstGeom>
          <a:noFill/>
          <a:ln/>
        </p:spPr>
        <p:txBody>
          <a:bodyPr wrap="square" lIns="0" tIns="0" rIns="0" bIns="0" rtlCol="0" anchor="t"/>
          <a:lstStyle/>
          <a:p>
            <a:pPr algn="ctr" indent="0" marL="0">
              <a:buNone/>
            </a:pPr>
            <a:r>
              <a:rPr lang="en-US" sz="1800" b="1" dirty="0">
                <a:solidFill>
                  <a:srgbClr val="1B1F24"/>
                </a:solidFill>
                <a:latin typeface="Calibri" pitchFamily="34" charset="0"/>
                <a:ea typeface="Calibri" pitchFamily="34" charset="-122"/>
                <a:cs typeface="Calibri" pitchFamily="34" charset="-120"/>
              </a:rPr>
              <a:t>AWP Champion</a:t>
            </a:r>
            <a:endParaRPr lang="en-US" sz="1800" dirty="0"/>
          </a:p>
        </p:txBody>
      </p:sp>
      <p:sp>
        <p:nvSpPr>
          <p:cNvPr id="15" name="Text 11"/>
          <p:cNvSpPr txBox="1"/>
          <p:nvPr/>
        </p:nvSpPr>
        <p:spPr>
          <a:xfrm>
            <a:off x="4521098" y="3520440"/>
            <a:ext cx="3149498" cy="365760"/>
          </a:xfrm>
          <a:prstGeom prst="rect">
            <a:avLst/>
          </a:prstGeom>
          <a:noFill/>
          <a:ln/>
        </p:spPr>
        <p:txBody>
          <a:bodyPr wrap="square" lIns="0" tIns="0" rIns="0" bIns="0" rtlCol="0" anchor="t"/>
          <a:lstStyle/>
          <a:p>
            <a:pPr algn="ctr" indent="0" marL="0">
              <a:buNone/>
            </a:pPr>
            <a:r>
              <a:rPr lang="en-US" sz="1400" b="1" dirty="0">
                <a:solidFill>
                  <a:srgbClr val="163A5C"/>
                </a:solidFill>
                <a:latin typeface="Calibri" pitchFamily="34" charset="0"/>
                <a:ea typeface="Calibri" pitchFamily="34" charset="-122"/>
                <a:cs typeface="Calibri" pitchFamily="34" charset="-120"/>
              </a:rPr>
              <a:t>Facilita el PoC (R)</a:t>
            </a:r>
            <a:endParaRPr lang="en-US" sz="1400" dirty="0"/>
          </a:p>
        </p:txBody>
      </p:sp>
      <p:sp>
        <p:nvSpPr>
          <p:cNvPr id="16" name="Shape 12"/>
          <p:cNvSpPr/>
          <p:nvPr/>
        </p:nvSpPr>
        <p:spPr>
          <a:xfrm>
            <a:off x="4795418" y="4224528"/>
            <a:ext cx="2600858" cy="0"/>
          </a:xfrm>
          <a:prstGeom prst="line">
            <a:avLst/>
          </a:prstGeom>
          <a:noFill/>
          <a:ln w="9525">
            <a:solidFill>
              <a:srgbClr val="56606B"/>
            </a:solidFill>
            <a:prstDash val="dash"/>
          </a:ln>
        </p:spPr>
      </p:sp>
      <p:sp>
        <p:nvSpPr>
          <p:cNvPr id="17" name="Text 13"/>
          <p:cNvSpPr txBox="1"/>
          <p:nvPr/>
        </p:nvSpPr>
        <p:spPr>
          <a:xfrm>
            <a:off x="4521098" y="4279392"/>
            <a:ext cx="3149498" cy="365760"/>
          </a:xfrm>
          <a:prstGeom prst="rect">
            <a:avLst/>
          </a:prstGeom>
          <a:noFill/>
          <a:ln/>
        </p:spPr>
        <p:txBody>
          <a:bodyPr wrap="square" lIns="0" tIns="0" rIns="0" bIns="0" rtlCol="0" anchor="t"/>
          <a:lstStyle/>
          <a:p>
            <a:pPr algn="ctr" indent="0" marL="0">
              <a:buNone/>
            </a:pPr>
            <a:r>
              <a:rPr lang="en-US" sz="1250" dirty="0">
                <a:solidFill>
                  <a:srgbClr val="56606B"/>
                </a:solidFill>
                <a:latin typeface="Calibri" pitchFamily="34" charset="0"/>
                <a:ea typeface="Calibri" pitchFamily="34" charset="-122"/>
                <a:cs typeface="Calibri" pitchFamily="34" charset="-120"/>
              </a:rPr>
              <a:t>Firma el acta · aprueba H1 y H3</a:t>
            </a:r>
            <a:endParaRPr lang="en-US" sz="1250" dirty="0"/>
          </a:p>
        </p:txBody>
      </p:sp>
      <p:sp>
        <p:nvSpPr>
          <p:cNvPr id="18" name="Shape 14"/>
          <p:cNvSpPr/>
          <p:nvPr/>
        </p:nvSpPr>
        <p:spPr>
          <a:xfrm>
            <a:off x="8127797" y="1600200"/>
            <a:ext cx="3515258" cy="3108960"/>
          </a:xfrm>
          <a:prstGeom prst="roundRect">
            <a:avLst>
              <a:gd name="adj" fmla="val 2353"/>
            </a:avLst>
          </a:prstGeom>
          <a:solidFill>
            <a:srgbClr val="F4F7FA"/>
          </a:solidFill>
          <a:ln w="9525">
            <a:solidFill>
              <a:srgbClr val="DDE4EC"/>
            </a:solidFill>
            <a:prstDash val="solid"/>
          </a:ln>
        </p:spPr>
      </p:sp>
      <p:sp>
        <p:nvSpPr>
          <p:cNvPr id="19" name="Shape 15"/>
          <p:cNvSpPr/>
          <p:nvPr/>
        </p:nvSpPr>
        <p:spPr>
          <a:xfrm>
            <a:off x="9382506" y="1828800"/>
            <a:ext cx="1005840" cy="1005840"/>
          </a:xfrm>
          <a:prstGeom prst="ellipse">
            <a:avLst/>
          </a:prstGeom>
          <a:solidFill>
            <a:srgbClr val="F5A623"/>
          </a:solidFill>
          <a:ln w="12700">
            <a:solidFill>
              <a:srgbClr val="F5A623"/>
            </a:solidFill>
            <a:prstDash val="solid"/>
          </a:ln>
        </p:spPr>
      </p:sp>
      <p:pic>
        <p:nvPicPr>
          <p:cNvPr id="20" name="Image 2" descr="preencoded.png">    </p:cNvPr>
          <p:cNvPicPr>
            <a:picLocks noChangeAspect="1"/>
          </p:cNvPicPr>
          <p:nvPr/>
        </p:nvPicPr>
        <p:blipFill>
          <a:blip r:embed="rId3"/>
          <a:stretch>
            <a:fillRect/>
          </a:stretch>
        </p:blipFill>
        <p:spPr>
          <a:xfrm>
            <a:off x="9608820" y="2055114"/>
            <a:ext cx="553212" cy="553212"/>
          </a:xfrm>
          <a:prstGeom prst="rect">
            <a:avLst/>
          </a:prstGeom>
        </p:spPr>
      </p:pic>
      <p:sp>
        <p:nvSpPr>
          <p:cNvPr id="21" name="Text 16"/>
          <p:cNvSpPr txBox="1"/>
          <p:nvPr/>
        </p:nvSpPr>
        <p:spPr>
          <a:xfrm>
            <a:off x="8310677" y="2971800"/>
            <a:ext cx="3149498" cy="548640"/>
          </a:xfrm>
          <a:prstGeom prst="rect">
            <a:avLst/>
          </a:prstGeom>
          <a:noFill/>
          <a:ln/>
        </p:spPr>
        <p:txBody>
          <a:bodyPr wrap="square" lIns="0" tIns="0" rIns="0" bIns="0" rtlCol="0" anchor="t"/>
          <a:lstStyle/>
          <a:p>
            <a:pPr algn="ctr" indent="0" marL="0">
              <a:buNone/>
            </a:pPr>
            <a:r>
              <a:rPr lang="en-US" sz="1800" b="1" dirty="0">
                <a:solidFill>
                  <a:srgbClr val="1B1F24"/>
                </a:solidFill>
                <a:latin typeface="Calibri" pitchFamily="34" charset="0"/>
                <a:ea typeface="Calibri" pitchFamily="34" charset="-122"/>
                <a:cs typeface="Calibri" pitchFamily="34" charset="-120"/>
              </a:rPr>
              <a:t>Gerente del proyecto del cliente</a:t>
            </a:r>
            <a:endParaRPr lang="en-US" sz="1800" dirty="0"/>
          </a:p>
        </p:txBody>
      </p:sp>
      <p:sp>
        <p:nvSpPr>
          <p:cNvPr id="22" name="Text 17"/>
          <p:cNvSpPr txBox="1"/>
          <p:nvPr/>
        </p:nvSpPr>
        <p:spPr>
          <a:xfrm>
            <a:off x="8310677" y="3520440"/>
            <a:ext cx="3149498" cy="365760"/>
          </a:xfrm>
          <a:prstGeom prst="rect">
            <a:avLst/>
          </a:prstGeom>
          <a:noFill/>
          <a:ln/>
        </p:spPr>
        <p:txBody>
          <a:bodyPr wrap="square" lIns="0" tIns="0" rIns="0" bIns="0" rtlCol="0" anchor="t"/>
          <a:lstStyle/>
          <a:p>
            <a:pPr algn="ctr" indent="0" marL="0">
              <a:buNone/>
            </a:pPr>
            <a:r>
              <a:rPr lang="en-US" sz="1400" b="1" dirty="0">
                <a:solidFill>
                  <a:srgbClr val="163A5C"/>
                </a:solidFill>
                <a:latin typeface="Calibri" pitchFamily="34" charset="0"/>
                <a:ea typeface="Calibri" pitchFamily="34" charset="-122"/>
                <a:cs typeface="Calibri" pitchFamily="34" charset="-120"/>
              </a:rPr>
              <a:t>Gobierna y aprueba</a:t>
            </a:r>
            <a:endParaRPr lang="en-US" sz="1400" dirty="0"/>
          </a:p>
        </p:txBody>
      </p:sp>
      <p:sp>
        <p:nvSpPr>
          <p:cNvPr id="23" name="Shape 18"/>
          <p:cNvSpPr/>
          <p:nvPr/>
        </p:nvSpPr>
        <p:spPr>
          <a:xfrm>
            <a:off x="8584997" y="4224528"/>
            <a:ext cx="2600858" cy="0"/>
          </a:xfrm>
          <a:prstGeom prst="line">
            <a:avLst/>
          </a:prstGeom>
          <a:noFill/>
          <a:ln w="9525">
            <a:solidFill>
              <a:srgbClr val="56606B"/>
            </a:solidFill>
            <a:prstDash val="dash"/>
          </a:ln>
        </p:spPr>
      </p:sp>
      <p:sp>
        <p:nvSpPr>
          <p:cNvPr id="24" name="Text 19"/>
          <p:cNvSpPr txBox="1"/>
          <p:nvPr/>
        </p:nvSpPr>
        <p:spPr>
          <a:xfrm>
            <a:off x="8310677" y="4279392"/>
            <a:ext cx="3149498" cy="365760"/>
          </a:xfrm>
          <a:prstGeom prst="rect">
            <a:avLst/>
          </a:prstGeom>
          <a:noFill/>
          <a:ln/>
        </p:spPr>
        <p:txBody>
          <a:bodyPr wrap="square" lIns="0" tIns="0" rIns="0" bIns="0" rtlCol="0" anchor="t"/>
          <a:lstStyle/>
          <a:p>
            <a:pPr algn="ctr" indent="0" marL="0">
              <a:buNone/>
            </a:pPr>
            <a:r>
              <a:rPr lang="en-US" sz="1250" dirty="0">
                <a:solidFill>
                  <a:srgbClr val="56606B"/>
                </a:solidFill>
                <a:latin typeface="Calibri" pitchFamily="34" charset="0"/>
                <a:ea typeface="Calibri" pitchFamily="34" charset="-122"/>
                <a:cs typeface="Calibri" pitchFamily="34" charset="-120"/>
              </a:rPr>
              <a:t>Firma el acta · aprueba H2</a:t>
            </a:r>
            <a:endParaRPr lang="en-US" sz="1250" dirty="0"/>
          </a:p>
        </p:txBody>
      </p:sp>
      <p:sp>
        <p:nvSpPr>
          <p:cNvPr id="25" name="Shape 20"/>
          <p:cNvSpPr/>
          <p:nvPr/>
        </p:nvSpPr>
        <p:spPr>
          <a:xfrm>
            <a:off x="548640" y="4983480"/>
            <a:ext cx="3515258" cy="1097280"/>
          </a:xfrm>
          <a:prstGeom prst="roundRect">
            <a:avLst>
              <a:gd name="adj" fmla="val 6667"/>
            </a:avLst>
          </a:prstGeom>
          <a:solidFill>
            <a:srgbClr val="E2EBF4"/>
          </a:solidFill>
          <a:ln w="9525">
            <a:solidFill>
              <a:srgbClr val="B9CCE0"/>
            </a:solidFill>
            <a:prstDash val="solid"/>
          </a:ln>
        </p:spPr>
      </p:sp>
      <p:sp>
        <p:nvSpPr>
          <p:cNvPr id="26" name="Shape 21"/>
          <p:cNvSpPr/>
          <p:nvPr/>
        </p:nvSpPr>
        <p:spPr>
          <a:xfrm>
            <a:off x="777240" y="5330952"/>
            <a:ext cx="384048" cy="384048"/>
          </a:xfrm>
          <a:prstGeom prst="diamond">
            <a:avLst/>
          </a:prstGeom>
          <a:solidFill>
            <a:srgbClr val="F5A623"/>
          </a:solidFill>
          <a:ln w="9525">
            <a:solidFill>
              <a:srgbClr val="0F2A43"/>
            </a:solidFill>
            <a:prstDash val="solid"/>
          </a:ln>
        </p:spPr>
      </p:sp>
      <p:sp>
        <p:nvSpPr>
          <p:cNvPr id="27" name="Text 22"/>
          <p:cNvSpPr txBox="1"/>
          <p:nvPr/>
        </p:nvSpPr>
        <p:spPr>
          <a:xfrm>
            <a:off x="1325880" y="4983480"/>
            <a:ext cx="2600858" cy="1097280"/>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H1 · CWA definidas</a:t>
            </a:r>
            <a:endParaRPr lang="en-US" sz="1450" dirty="0"/>
          </a:p>
          <a:p>
            <a:pPr indent="0" marL="0">
              <a:buNone/>
            </a:pPr>
            <a:r>
              <a:rPr lang="en-US" sz="1250" dirty="0">
                <a:solidFill>
                  <a:srgbClr val="56606B"/>
                </a:solidFill>
                <a:latin typeface="Calibri" pitchFamily="34" charset="0"/>
                <a:ea typeface="Calibri" pitchFamily="34" charset="-122"/>
                <a:cs typeface="Calibri" pitchFamily="34" charset="-120"/>
              </a:rPr>
              <a:t>Aprueba: AWP Champion</a:t>
            </a:r>
            <a:endParaRPr lang="en-US" sz="1450" dirty="0"/>
          </a:p>
        </p:txBody>
      </p:sp>
      <p:sp>
        <p:nvSpPr>
          <p:cNvPr id="28" name="Shape 23"/>
          <p:cNvSpPr/>
          <p:nvPr/>
        </p:nvSpPr>
        <p:spPr>
          <a:xfrm>
            <a:off x="4338218" y="4983480"/>
            <a:ext cx="3515258" cy="1097280"/>
          </a:xfrm>
          <a:prstGeom prst="roundRect">
            <a:avLst>
              <a:gd name="adj" fmla="val 6667"/>
            </a:avLst>
          </a:prstGeom>
          <a:solidFill>
            <a:srgbClr val="FFF3DC"/>
          </a:solidFill>
          <a:ln w="9525">
            <a:solidFill>
              <a:srgbClr val="F2D59B"/>
            </a:solidFill>
            <a:prstDash val="solid"/>
          </a:ln>
        </p:spPr>
      </p:sp>
      <p:sp>
        <p:nvSpPr>
          <p:cNvPr id="29" name="Shape 24"/>
          <p:cNvSpPr/>
          <p:nvPr/>
        </p:nvSpPr>
        <p:spPr>
          <a:xfrm>
            <a:off x="4566818" y="5330952"/>
            <a:ext cx="384048" cy="384048"/>
          </a:xfrm>
          <a:prstGeom prst="diamond">
            <a:avLst/>
          </a:prstGeom>
          <a:solidFill>
            <a:srgbClr val="F5A623"/>
          </a:solidFill>
          <a:ln w="9525">
            <a:solidFill>
              <a:srgbClr val="0F2A43"/>
            </a:solidFill>
            <a:prstDash val="solid"/>
          </a:ln>
        </p:spPr>
      </p:sp>
      <p:sp>
        <p:nvSpPr>
          <p:cNvPr id="30" name="Text 25"/>
          <p:cNvSpPr txBox="1"/>
          <p:nvPr/>
        </p:nvSpPr>
        <p:spPr>
          <a:xfrm>
            <a:off x="5115458" y="4983480"/>
            <a:ext cx="2600858" cy="1097280"/>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H2 · PoC aprobado</a:t>
            </a:r>
            <a:endParaRPr lang="en-US" sz="1450" dirty="0"/>
          </a:p>
          <a:p>
            <a:pPr indent="0" marL="0">
              <a:buNone/>
            </a:pPr>
            <a:r>
              <a:rPr lang="en-US" sz="1250" dirty="0">
                <a:solidFill>
                  <a:srgbClr val="56606B"/>
                </a:solidFill>
                <a:latin typeface="Calibri" pitchFamily="34" charset="0"/>
                <a:ea typeface="Calibri" pitchFamily="34" charset="-122"/>
                <a:cs typeface="Calibri" pitchFamily="34" charset="-120"/>
              </a:rPr>
              <a:t>Aprueba: Cliente y Gerente de Construcción</a:t>
            </a:r>
            <a:endParaRPr lang="en-US" sz="1450" dirty="0"/>
          </a:p>
        </p:txBody>
      </p:sp>
      <p:sp>
        <p:nvSpPr>
          <p:cNvPr id="31" name="Shape 26"/>
          <p:cNvSpPr/>
          <p:nvPr/>
        </p:nvSpPr>
        <p:spPr>
          <a:xfrm>
            <a:off x="8127797" y="4983480"/>
            <a:ext cx="3515258" cy="1097280"/>
          </a:xfrm>
          <a:prstGeom prst="roundRect">
            <a:avLst>
              <a:gd name="adj" fmla="val 6667"/>
            </a:avLst>
          </a:prstGeom>
          <a:solidFill>
            <a:srgbClr val="E2EBF4"/>
          </a:solidFill>
          <a:ln w="9525">
            <a:solidFill>
              <a:srgbClr val="B9CCE0"/>
            </a:solidFill>
            <a:prstDash val="solid"/>
          </a:ln>
        </p:spPr>
      </p:sp>
      <p:sp>
        <p:nvSpPr>
          <p:cNvPr id="32" name="Shape 27"/>
          <p:cNvSpPr/>
          <p:nvPr/>
        </p:nvSpPr>
        <p:spPr>
          <a:xfrm>
            <a:off x="8356397" y="5330952"/>
            <a:ext cx="384048" cy="384048"/>
          </a:xfrm>
          <a:prstGeom prst="diamond">
            <a:avLst/>
          </a:prstGeom>
          <a:solidFill>
            <a:srgbClr val="F5A623"/>
          </a:solidFill>
          <a:ln w="9525">
            <a:solidFill>
              <a:srgbClr val="0F2A43"/>
            </a:solidFill>
            <a:prstDash val="solid"/>
          </a:ln>
        </p:spPr>
      </p:sp>
      <p:sp>
        <p:nvSpPr>
          <p:cNvPr id="33" name="Text 28"/>
          <p:cNvSpPr txBox="1"/>
          <p:nvPr/>
        </p:nvSpPr>
        <p:spPr>
          <a:xfrm>
            <a:off x="8905037" y="4983480"/>
            <a:ext cx="2600858" cy="1097280"/>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H3 · CWP, EWP y PWP definidos</a:t>
            </a:r>
            <a:endParaRPr lang="en-US" sz="1450" dirty="0"/>
          </a:p>
          <a:p>
            <a:pPr indent="0" marL="0">
              <a:buNone/>
            </a:pPr>
            <a:r>
              <a:rPr lang="en-US" sz="1250" dirty="0">
                <a:solidFill>
                  <a:srgbClr val="56606B"/>
                </a:solidFill>
                <a:latin typeface="Calibri" pitchFamily="34" charset="0"/>
                <a:ea typeface="Calibri" pitchFamily="34" charset="-122"/>
                <a:cs typeface="Calibri" pitchFamily="34" charset="-120"/>
              </a:rPr>
              <a:t>Aprueba: AWP Champion</a:t>
            </a:r>
            <a:endParaRPr lang="en-US" sz="1450" dirty="0"/>
          </a:p>
        </p:txBody>
      </p:sp>
      <p:sp>
        <p:nvSpPr>
          <p:cNvPr id="34" name="Text 2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Responsables y gobierno</a:t>
            </a:r>
            <a:endParaRPr lang="en-US" sz="1000" dirty="0"/>
          </a:p>
        </p:txBody>
      </p:sp>
      <p:sp>
        <p:nvSpPr>
          <p:cNvPr id="35" name="Text 3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Responsables a lo largo del ciclo de vida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Quién tiene la iniciativa en cada momento del PoC</a:t>
            </a:r>
            <a:endParaRPr lang="en-US" sz="15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2011680"/>
                <a:gridCol w="2194560"/>
                <a:gridCol w="2743200"/>
                <a:gridCol w="182880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Momento</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Lidera</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Facilita / calcula</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Aporta</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Aprueba</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Definir CWA (H1)</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 (R)</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CHA (A)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ING, COM, CTR, CLI</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CHA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Paso 1 · sin restricciones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CHA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SUP, LWF</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Paso 2 · taller IPP</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 (A)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CHA (R)</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ING, PRO, COM, CTR, HSE, LWF, CLI</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Paso 3 · PoC final (H2)</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CHA; CTR calcula fechas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Todos los interesados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CLI y CON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Plan de liberación (H3)</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 ING, PRO, CTR (R)</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CHA (A)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LWF</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CHA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Ejecución y cambios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CHA; CTR evalúa impacto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Afectados por el cambio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CLI y CON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Responsables y gobierno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Instancias de gobierno donde vive 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Estructura de gobierno AWP del plan de implementación</a:t>
            </a:r>
            <a:endParaRPr lang="en-US" sz="15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560320"/>
                <a:gridCol w="1828800"/>
                <a:gridCol w="2926080"/>
                <a:gridCol w="365760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Instancia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Frecuencia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Participantes</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Qué se hace con el PoC</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Taller de planificación interactiva (IPP)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Al inicio de cada fase y en cambios mayores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CHA, CON, ING, PRO, COM, CLI</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Desarrollar y actualizar 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Comité AWP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Mensual</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CLI, GP, CHA, CON, ING, PRO, CTR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Revisar K01, K02, K13 e hitos; aprobar cambios de secuencia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Reunión de lookahead de 3 semanas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Semanal (conjunta si hay superposición)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CON, SUP, LWF, WFP, SUB</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Seleccionar IWP del backlog en el orden del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Reunión de restricciones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Semanal por fase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LWF, WFP, ING, PRO, MAT, HSE, CAL, SUP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Levantar lo que bloquea la secuencia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Revisión de lecciones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Trimestral y al cierre de fase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CHA, LWF, líderes funcionales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Llevar lecciones al PoC de la fase siguiente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Responsables y gobierno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07</a:t>
            </a:r>
            <a:endParaRPr lang="en-US" sz="9600" dirty="0"/>
          </a:p>
        </p:txBody>
      </p:sp>
      <p:sp>
        <p:nvSpPr>
          <p:cNvPr id="3" name="Text 1"/>
          <p:cNvSpPr txBox="1"/>
          <p:nvPr/>
        </p:nvSpPr>
        <p:spPr>
          <a:xfrm>
            <a:off x="548640" y="2697480"/>
            <a:ext cx="594360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Secuenciar CWA y CWP</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El PoC del proyecto tipo: 10 áreas y 10 paquetes</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Las 10 CWA del proyecto tipo</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Red de precedencias</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Criterios de secuencia</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Los 10 CWP del PoC</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Justificación de cada posición</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Secuenciar CWA y CWP</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Las 10 CWA del proyecto tipo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Plantilla Definicion_CWA.xlsx: fase, HH, secuencia y predecesora</a:t>
            </a:r>
            <a:endParaRPr lang="en-US" sz="15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005840"/>
                <a:gridCol w="777240"/>
                <a:gridCol w="2468880"/>
                <a:gridCol w="1325880"/>
                <a:gridCol w="868680"/>
                <a:gridCol w="502920"/>
                <a:gridCol w="1097280"/>
                <a:gridCol w="3044952"/>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CWA</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Fase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Nombre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Disciplinas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HH</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Sec.</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Predecesora</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Límites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402336">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CWA-1.01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Plataformas y movimiento de tierras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CIV</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120 000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Plataformas norte y sur, taludes y drenaje superficial</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CWA-1.02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Redes enterradas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CIV, TUB, ELE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110 000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CWA-1.01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Redes de agua, desagüe y bancos de ductos en todo el terreno</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CWA-1.03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Vías de acceso e instalaciones temporales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CIV, ELE, ARQ</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70 000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Vía de acceso principal, patio de acopio y oficinas de obra</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CWA-2.01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Instalación principal – bloque A</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Todas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380 000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CWA-2.03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Ejes A1–A12 de la instalación principal</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CWA-2.02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Instalación principal – bloque B</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Todas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360 000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CWA-2.01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Ejes B1–B10 de la instalación principal</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CWA-2.03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Sala eléctrica y de servicios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CIV, EST, ELE, INS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160 000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CWA-1.02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Edificio de sala eléctrica y cuarto de servicios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CWA-2.04</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Galería de servicios e interconexiones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EST, TUB, ELE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200 000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CWA-2.01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Galería elevada entre bloques y sala eléctrica</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1BAF7A"/>
                          </a:solidFill>
                          <a:latin typeface="Calibri" pitchFamily="34" charset="0"/>
                          <a:ea typeface="Calibri" pitchFamily="34" charset="-122"/>
                          <a:cs typeface="Calibri" pitchFamily="34" charset="-120"/>
                        </a:rPr>
                        <a:t>CWA-3.01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Edificaciones complementarias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CIV, EST, ARQ, ELE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180 000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CWA-1.02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Almacén, oficinas y talleres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BAF7A"/>
                          </a:solidFill>
                          <a:latin typeface="Calibri" pitchFamily="34" charset="0"/>
                          <a:ea typeface="Calibri" pitchFamily="34" charset="-122"/>
                          <a:cs typeface="Calibri" pitchFamily="34" charset="-120"/>
                        </a:rPr>
                        <a:t>CWA-3.02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Ampliación de la instalación principal</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Todas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200 000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CWA-2.04</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Ejes C1–C6, contiguos al bloque B</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1BAF7A"/>
                          </a:solidFill>
                          <a:latin typeface="Calibri" pitchFamily="34" charset="0"/>
                          <a:ea typeface="Calibri" pitchFamily="34" charset="-122"/>
                          <a:cs typeface="Calibri" pitchFamily="34" charset="-120"/>
                        </a:rPr>
                        <a:t>CWA-3.03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Urbanización y obras exteriores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CIV, ELE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70 000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CWA-3.01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Pavimentos, veredas, alumbrado y cercos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Secuenciar CWA y CWP</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Red de precedencias de las CWA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Cada flecha es «debe avanzar antes que»</a:t>
            </a:r>
            <a:endParaRPr lang="en-US" sz="1500" dirty="0"/>
          </a:p>
        </p:txBody>
      </p:sp>
      <p:sp>
        <p:nvSpPr>
          <p:cNvPr id="4" name="Shape 2"/>
          <p:cNvSpPr/>
          <p:nvPr/>
        </p:nvSpPr>
        <p:spPr>
          <a:xfrm>
            <a:off x="2331720" y="3520440"/>
            <a:ext cx="201168" cy="914"/>
          </a:xfrm>
          <a:prstGeom prst="line">
            <a:avLst/>
          </a:prstGeom>
          <a:noFill/>
          <a:ln w="15875">
            <a:solidFill>
              <a:srgbClr val="56606B"/>
            </a:solidFill>
            <a:prstDash val="solid"/>
            <a:tailEnd type="triangle"/>
          </a:ln>
        </p:spPr>
      </p:sp>
      <p:sp>
        <p:nvSpPr>
          <p:cNvPr id="5" name="Shape 3"/>
          <p:cNvSpPr/>
          <p:nvPr/>
        </p:nvSpPr>
        <p:spPr>
          <a:xfrm>
            <a:off x="6117336" y="2948940"/>
            <a:ext cx="201168" cy="914"/>
          </a:xfrm>
          <a:prstGeom prst="line">
            <a:avLst/>
          </a:prstGeom>
          <a:noFill/>
          <a:ln w="15875">
            <a:solidFill>
              <a:srgbClr val="56606B"/>
            </a:solidFill>
            <a:prstDash val="solid"/>
            <a:tailEnd type="triangle"/>
          </a:ln>
        </p:spPr>
      </p:sp>
      <p:sp>
        <p:nvSpPr>
          <p:cNvPr id="6" name="Shape 4"/>
          <p:cNvSpPr/>
          <p:nvPr/>
        </p:nvSpPr>
        <p:spPr>
          <a:xfrm flipV="1">
            <a:off x="8010144" y="2263140"/>
            <a:ext cx="201168" cy="685800"/>
          </a:xfrm>
          <a:prstGeom prst="line">
            <a:avLst/>
          </a:prstGeom>
          <a:noFill/>
          <a:ln w="15875">
            <a:solidFill>
              <a:srgbClr val="56606B"/>
            </a:solidFill>
            <a:prstDash val="solid"/>
            <a:tailEnd type="triangle"/>
          </a:ln>
        </p:spPr>
      </p:sp>
      <p:sp>
        <p:nvSpPr>
          <p:cNvPr id="7" name="Shape 5"/>
          <p:cNvSpPr/>
          <p:nvPr/>
        </p:nvSpPr>
        <p:spPr>
          <a:xfrm flipV="1">
            <a:off x="4224528" y="2948940"/>
            <a:ext cx="201168" cy="571500"/>
          </a:xfrm>
          <a:prstGeom prst="line">
            <a:avLst/>
          </a:prstGeom>
          <a:noFill/>
          <a:ln w="25400">
            <a:solidFill>
              <a:srgbClr val="F5A623"/>
            </a:solidFill>
            <a:prstDash val="solid"/>
            <a:tailEnd type="triangle"/>
          </a:ln>
        </p:spPr>
      </p:sp>
      <p:sp>
        <p:nvSpPr>
          <p:cNvPr id="8" name="Shape 6"/>
          <p:cNvSpPr/>
          <p:nvPr/>
        </p:nvSpPr>
        <p:spPr>
          <a:xfrm>
            <a:off x="8010144" y="2948940"/>
            <a:ext cx="201168" cy="914400"/>
          </a:xfrm>
          <a:prstGeom prst="line">
            <a:avLst/>
          </a:prstGeom>
          <a:noFill/>
          <a:ln w="15875">
            <a:solidFill>
              <a:srgbClr val="56606B"/>
            </a:solidFill>
            <a:prstDash val="solid"/>
            <a:tailEnd type="triangle"/>
          </a:ln>
        </p:spPr>
      </p:sp>
      <p:sp>
        <p:nvSpPr>
          <p:cNvPr id="9" name="Shape 7"/>
          <p:cNvSpPr/>
          <p:nvPr/>
        </p:nvSpPr>
        <p:spPr>
          <a:xfrm>
            <a:off x="4224528" y="3520440"/>
            <a:ext cx="201168" cy="2057400"/>
          </a:xfrm>
          <a:prstGeom prst="line">
            <a:avLst/>
          </a:prstGeom>
          <a:noFill/>
          <a:ln w="25400">
            <a:solidFill>
              <a:srgbClr val="F5A623"/>
            </a:solidFill>
            <a:prstDash val="solid"/>
            <a:tailEnd type="triangle"/>
          </a:ln>
        </p:spPr>
      </p:sp>
      <p:sp>
        <p:nvSpPr>
          <p:cNvPr id="10" name="Shape 8"/>
          <p:cNvSpPr/>
          <p:nvPr/>
        </p:nvSpPr>
        <p:spPr>
          <a:xfrm>
            <a:off x="9902952" y="3863340"/>
            <a:ext cx="201168" cy="914"/>
          </a:xfrm>
          <a:prstGeom prst="line">
            <a:avLst/>
          </a:prstGeom>
          <a:noFill/>
          <a:ln w="25400">
            <a:solidFill>
              <a:srgbClr val="F5A623"/>
            </a:solidFill>
            <a:prstDash val="solid"/>
            <a:tailEnd type="triangle"/>
          </a:ln>
        </p:spPr>
      </p:sp>
      <p:sp>
        <p:nvSpPr>
          <p:cNvPr id="11" name="Shape 9"/>
          <p:cNvSpPr/>
          <p:nvPr/>
        </p:nvSpPr>
        <p:spPr>
          <a:xfrm>
            <a:off x="6117336" y="5577840"/>
            <a:ext cx="201168" cy="914"/>
          </a:xfrm>
          <a:prstGeom prst="line">
            <a:avLst/>
          </a:prstGeom>
          <a:noFill/>
          <a:ln w="15875">
            <a:solidFill>
              <a:srgbClr val="56606B"/>
            </a:solidFill>
            <a:prstDash val="solid"/>
            <a:tailEnd type="triangle"/>
          </a:ln>
        </p:spPr>
      </p:sp>
      <p:sp>
        <p:nvSpPr>
          <p:cNvPr id="12" name="Shape 10"/>
          <p:cNvSpPr/>
          <p:nvPr/>
        </p:nvSpPr>
        <p:spPr>
          <a:xfrm>
            <a:off x="640080" y="3086100"/>
            <a:ext cx="1691640" cy="868680"/>
          </a:xfrm>
          <a:prstGeom prst="roundRect">
            <a:avLst>
              <a:gd name="adj" fmla="val 8421"/>
            </a:avLst>
          </a:prstGeom>
          <a:solidFill>
            <a:srgbClr val="FFFFFF"/>
          </a:solidFill>
          <a:ln w="25400">
            <a:solidFill>
              <a:srgbClr val="2A78D6"/>
            </a:solidFill>
            <a:prstDash val="solid"/>
          </a:ln>
        </p:spPr>
      </p:sp>
      <p:sp>
        <p:nvSpPr>
          <p:cNvPr id="13" name="Shape 11"/>
          <p:cNvSpPr/>
          <p:nvPr/>
        </p:nvSpPr>
        <p:spPr>
          <a:xfrm>
            <a:off x="640080" y="3086100"/>
            <a:ext cx="1691640" cy="274320"/>
          </a:xfrm>
          <a:prstGeom prst="rect">
            <a:avLst/>
          </a:prstGeom>
          <a:solidFill>
            <a:srgbClr val="2A78D6"/>
          </a:solidFill>
          <a:ln w="12700">
            <a:solidFill>
              <a:srgbClr val="2A78D6"/>
            </a:solidFill>
            <a:prstDash val="solid"/>
          </a:ln>
        </p:spPr>
      </p:sp>
      <p:sp>
        <p:nvSpPr>
          <p:cNvPr id="14" name="Text 12"/>
          <p:cNvSpPr txBox="1"/>
          <p:nvPr/>
        </p:nvSpPr>
        <p:spPr>
          <a:xfrm>
            <a:off x="694944" y="30861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CWA-1.01 · Fase 1</a:t>
            </a:r>
            <a:endParaRPr lang="en-US" sz="1050" dirty="0"/>
          </a:p>
        </p:txBody>
      </p:sp>
      <p:sp>
        <p:nvSpPr>
          <p:cNvPr id="15" name="Text 13"/>
          <p:cNvSpPr txBox="1"/>
          <p:nvPr/>
        </p:nvSpPr>
        <p:spPr>
          <a:xfrm>
            <a:off x="713232" y="33787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Plataformas y movimiento de tierras</a:t>
            </a:r>
            <a:endParaRPr lang="en-US" sz="1050" dirty="0"/>
          </a:p>
        </p:txBody>
      </p:sp>
      <p:sp>
        <p:nvSpPr>
          <p:cNvPr id="16" name="Shape 14"/>
          <p:cNvSpPr/>
          <p:nvPr/>
        </p:nvSpPr>
        <p:spPr>
          <a:xfrm>
            <a:off x="2532888" y="3086100"/>
            <a:ext cx="1691640" cy="868680"/>
          </a:xfrm>
          <a:prstGeom prst="roundRect">
            <a:avLst>
              <a:gd name="adj" fmla="val 8421"/>
            </a:avLst>
          </a:prstGeom>
          <a:solidFill>
            <a:srgbClr val="FFFFFF"/>
          </a:solidFill>
          <a:ln w="25400">
            <a:solidFill>
              <a:srgbClr val="2A78D6"/>
            </a:solidFill>
            <a:prstDash val="solid"/>
          </a:ln>
        </p:spPr>
      </p:sp>
      <p:sp>
        <p:nvSpPr>
          <p:cNvPr id="17" name="Shape 15"/>
          <p:cNvSpPr/>
          <p:nvPr/>
        </p:nvSpPr>
        <p:spPr>
          <a:xfrm>
            <a:off x="2532888" y="3086100"/>
            <a:ext cx="1691640" cy="274320"/>
          </a:xfrm>
          <a:prstGeom prst="rect">
            <a:avLst/>
          </a:prstGeom>
          <a:solidFill>
            <a:srgbClr val="2A78D6"/>
          </a:solidFill>
          <a:ln w="12700">
            <a:solidFill>
              <a:srgbClr val="2A78D6"/>
            </a:solidFill>
            <a:prstDash val="solid"/>
          </a:ln>
        </p:spPr>
      </p:sp>
      <p:sp>
        <p:nvSpPr>
          <p:cNvPr id="18" name="Text 16"/>
          <p:cNvSpPr txBox="1"/>
          <p:nvPr/>
        </p:nvSpPr>
        <p:spPr>
          <a:xfrm>
            <a:off x="2587752" y="30861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CWA-1.02 · Fase 1</a:t>
            </a:r>
            <a:endParaRPr lang="en-US" sz="1050" dirty="0"/>
          </a:p>
        </p:txBody>
      </p:sp>
      <p:sp>
        <p:nvSpPr>
          <p:cNvPr id="19" name="Text 17"/>
          <p:cNvSpPr txBox="1"/>
          <p:nvPr/>
        </p:nvSpPr>
        <p:spPr>
          <a:xfrm>
            <a:off x="2606040" y="33787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Redes enterradas</a:t>
            </a:r>
            <a:endParaRPr lang="en-US" sz="1050" dirty="0"/>
          </a:p>
        </p:txBody>
      </p:sp>
      <p:sp>
        <p:nvSpPr>
          <p:cNvPr id="20" name="Shape 18"/>
          <p:cNvSpPr/>
          <p:nvPr/>
        </p:nvSpPr>
        <p:spPr>
          <a:xfrm>
            <a:off x="640080" y="5143500"/>
            <a:ext cx="1691640" cy="868680"/>
          </a:xfrm>
          <a:prstGeom prst="roundRect">
            <a:avLst>
              <a:gd name="adj" fmla="val 8421"/>
            </a:avLst>
          </a:prstGeom>
          <a:solidFill>
            <a:srgbClr val="FFFFFF"/>
          </a:solidFill>
          <a:ln w="25400">
            <a:solidFill>
              <a:srgbClr val="2A78D6"/>
            </a:solidFill>
            <a:prstDash val="solid"/>
          </a:ln>
        </p:spPr>
      </p:sp>
      <p:sp>
        <p:nvSpPr>
          <p:cNvPr id="21" name="Shape 19"/>
          <p:cNvSpPr/>
          <p:nvPr/>
        </p:nvSpPr>
        <p:spPr>
          <a:xfrm>
            <a:off x="640080" y="5143500"/>
            <a:ext cx="1691640" cy="274320"/>
          </a:xfrm>
          <a:prstGeom prst="rect">
            <a:avLst/>
          </a:prstGeom>
          <a:solidFill>
            <a:srgbClr val="2A78D6"/>
          </a:solidFill>
          <a:ln w="12700">
            <a:solidFill>
              <a:srgbClr val="2A78D6"/>
            </a:solidFill>
            <a:prstDash val="solid"/>
          </a:ln>
        </p:spPr>
      </p:sp>
      <p:sp>
        <p:nvSpPr>
          <p:cNvPr id="22" name="Text 20"/>
          <p:cNvSpPr txBox="1"/>
          <p:nvPr/>
        </p:nvSpPr>
        <p:spPr>
          <a:xfrm>
            <a:off x="694944" y="51435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CWA-1.03 · Fase 1</a:t>
            </a:r>
            <a:endParaRPr lang="en-US" sz="1050" dirty="0"/>
          </a:p>
        </p:txBody>
      </p:sp>
      <p:sp>
        <p:nvSpPr>
          <p:cNvPr id="23" name="Text 21"/>
          <p:cNvSpPr txBox="1"/>
          <p:nvPr/>
        </p:nvSpPr>
        <p:spPr>
          <a:xfrm>
            <a:off x="713232" y="54361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Vías de acceso e instalaciones temporales</a:t>
            </a:r>
            <a:endParaRPr lang="en-US" sz="1050" dirty="0"/>
          </a:p>
        </p:txBody>
      </p:sp>
      <p:sp>
        <p:nvSpPr>
          <p:cNvPr id="24" name="Shape 22"/>
          <p:cNvSpPr/>
          <p:nvPr/>
        </p:nvSpPr>
        <p:spPr>
          <a:xfrm>
            <a:off x="6318504" y="2514600"/>
            <a:ext cx="1691640" cy="868680"/>
          </a:xfrm>
          <a:prstGeom prst="roundRect">
            <a:avLst>
              <a:gd name="adj" fmla="val 8421"/>
            </a:avLst>
          </a:prstGeom>
          <a:solidFill>
            <a:srgbClr val="FFFFFF"/>
          </a:solidFill>
          <a:ln w="25400">
            <a:solidFill>
              <a:srgbClr val="EB6834"/>
            </a:solidFill>
            <a:prstDash val="solid"/>
          </a:ln>
        </p:spPr>
      </p:sp>
      <p:sp>
        <p:nvSpPr>
          <p:cNvPr id="25" name="Shape 23"/>
          <p:cNvSpPr/>
          <p:nvPr/>
        </p:nvSpPr>
        <p:spPr>
          <a:xfrm>
            <a:off x="6318504" y="2514600"/>
            <a:ext cx="1691640" cy="274320"/>
          </a:xfrm>
          <a:prstGeom prst="rect">
            <a:avLst/>
          </a:prstGeom>
          <a:solidFill>
            <a:srgbClr val="EB6834"/>
          </a:solidFill>
          <a:ln w="12700">
            <a:solidFill>
              <a:srgbClr val="EB6834"/>
            </a:solidFill>
            <a:prstDash val="solid"/>
          </a:ln>
        </p:spPr>
      </p:sp>
      <p:sp>
        <p:nvSpPr>
          <p:cNvPr id="26" name="Text 24"/>
          <p:cNvSpPr txBox="1"/>
          <p:nvPr/>
        </p:nvSpPr>
        <p:spPr>
          <a:xfrm>
            <a:off x="6373368" y="25146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CWA-2.01 · Fase 2</a:t>
            </a:r>
            <a:endParaRPr lang="en-US" sz="1050" dirty="0"/>
          </a:p>
        </p:txBody>
      </p:sp>
      <p:sp>
        <p:nvSpPr>
          <p:cNvPr id="27" name="Text 25"/>
          <p:cNvSpPr txBox="1"/>
          <p:nvPr/>
        </p:nvSpPr>
        <p:spPr>
          <a:xfrm>
            <a:off x="6391656" y="28072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Instalación principal – bloque A</a:t>
            </a:r>
            <a:endParaRPr lang="en-US" sz="1050" dirty="0"/>
          </a:p>
        </p:txBody>
      </p:sp>
      <p:sp>
        <p:nvSpPr>
          <p:cNvPr id="28" name="Shape 26"/>
          <p:cNvSpPr/>
          <p:nvPr/>
        </p:nvSpPr>
        <p:spPr>
          <a:xfrm>
            <a:off x="8211312" y="1828800"/>
            <a:ext cx="1691640" cy="868680"/>
          </a:xfrm>
          <a:prstGeom prst="roundRect">
            <a:avLst>
              <a:gd name="adj" fmla="val 8421"/>
            </a:avLst>
          </a:prstGeom>
          <a:solidFill>
            <a:srgbClr val="FFFFFF"/>
          </a:solidFill>
          <a:ln w="25400">
            <a:solidFill>
              <a:srgbClr val="EB6834"/>
            </a:solidFill>
            <a:prstDash val="solid"/>
          </a:ln>
        </p:spPr>
      </p:sp>
      <p:sp>
        <p:nvSpPr>
          <p:cNvPr id="29" name="Shape 27"/>
          <p:cNvSpPr/>
          <p:nvPr/>
        </p:nvSpPr>
        <p:spPr>
          <a:xfrm>
            <a:off x="8211312" y="1828800"/>
            <a:ext cx="1691640" cy="274320"/>
          </a:xfrm>
          <a:prstGeom prst="rect">
            <a:avLst/>
          </a:prstGeom>
          <a:solidFill>
            <a:srgbClr val="EB6834"/>
          </a:solidFill>
          <a:ln w="12700">
            <a:solidFill>
              <a:srgbClr val="EB6834"/>
            </a:solidFill>
            <a:prstDash val="solid"/>
          </a:ln>
        </p:spPr>
      </p:sp>
      <p:sp>
        <p:nvSpPr>
          <p:cNvPr id="30" name="Text 28"/>
          <p:cNvSpPr txBox="1"/>
          <p:nvPr/>
        </p:nvSpPr>
        <p:spPr>
          <a:xfrm>
            <a:off x="8266176" y="18288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CWA-2.02 · Fase 2</a:t>
            </a:r>
            <a:endParaRPr lang="en-US" sz="1050" dirty="0"/>
          </a:p>
        </p:txBody>
      </p:sp>
      <p:sp>
        <p:nvSpPr>
          <p:cNvPr id="31" name="Text 29"/>
          <p:cNvSpPr txBox="1"/>
          <p:nvPr/>
        </p:nvSpPr>
        <p:spPr>
          <a:xfrm>
            <a:off x="8284464" y="21214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Instalación principal – bloque B</a:t>
            </a:r>
            <a:endParaRPr lang="en-US" sz="1050" dirty="0"/>
          </a:p>
        </p:txBody>
      </p:sp>
      <p:sp>
        <p:nvSpPr>
          <p:cNvPr id="32" name="Shape 30"/>
          <p:cNvSpPr/>
          <p:nvPr/>
        </p:nvSpPr>
        <p:spPr>
          <a:xfrm>
            <a:off x="4425696" y="2514600"/>
            <a:ext cx="1691640" cy="868680"/>
          </a:xfrm>
          <a:prstGeom prst="roundRect">
            <a:avLst>
              <a:gd name="adj" fmla="val 8421"/>
            </a:avLst>
          </a:prstGeom>
          <a:solidFill>
            <a:srgbClr val="FFFFFF"/>
          </a:solidFill>
          <a:ln w="25400">
            <a:solidFill>
              <a:srgbClr val="EB6834"/>
            </a:solidFill>
            <a:prstDash val="solid"/>
          </a:ln>
        </p:spPr>
      </p:sp>
      <p:sp>
        <p:nvSpPr>
          <p:cNvPr id="33" name="Shape 31"/>
          <p:cNvSpPr/>
          <p:nvPr/>
        </p:nvSpPr>
        <p:spPr>
          <a:xfrm>
            <a:off x="4425696" y="2514600"/>
            <a:ext cx="1691640" cy="274320"/>
          </a:xfrm>
          <a:prstGeom prst="rect">
            <a:avLst/>
          </a:prstGeom>
          <a:solidFill>
            <a:srgbClr val="EB6834"/>
          </a:solidFill>
          <a:ln w="12700">
            <a:solidFill>
              <a:srgbClr val="EB6834"/>
            </a:solidFill>
            <a:prstDash val="solid"/>
          </a:ln>
        </p:spPr>
      </p:sp>
      <p:sp>
        <p:nvSpPr>
          <p:cNvPr id="34" name="Text 32"/>
          <p:cNvSpPr txBox="1"/>
          <p:nvPr/>
        </p:nvSpPr>
        <p:spPr>
          <a:xfrm>
            <a:off x="4480560" y="25146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CWA-2.03 · Fase 2</a:t>
            </a:r>
            <a:endParaRPr lang="en-US" sz="1050" dirty="0"/>
          </a:p>
        </p:txBody>
      </p:sp>
      <p:sp>
        <p:nvSpPr>
          <p:cNvPr id="35" name="Text 33"/>
          <p:cNvSpPr txBox="1"/>
          <p:nvPr/>
        </p:nvSpPr>
        <p:spPr>
          <a:xfrm>
            <a:off x="4498848" y="28072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Sala eléctrica y de servicios</a:t>
            </a:r>
            <a:endParaRPr lang="en-US" sz="1050" dirty="0"/>
          </a:p>
        </p:txBody>
      </p:sp>
      <p:sp>
        <p:nvSpPr>
          <p:cNvPr id="36" name="Shape 34"/>
          <p:cNvSpPr/>
          <p:nvPr/>
        </p:nvSpPr>
        <p:spPr>
          <a:xfrm>
            <a:off x="8211312" y="3429000"/>
            <a:ext cx="1691640" cy="868680"/>
          </a:xfrm>
          <a:prstGeom prst="roundRect">
            <a:avLst>
              <a:gd name="adj" fmla="val 8421"/>
            </a:avLst>
          </a:prstGeom>
          <a:solidFill>
            <a:srgbClr val="FFFFFF"/>
          </a:solidFill>
          <a:ln w="25400">
            <a:solidFill>
              <a:srgbClr val="EB6834"/>
            </a:solidFill>
            <a:prstDash val="solid"/>
          </a:ln>
        </p:spPr>
      </p:sp>
      <p:sp>
        <p:nvSpPr>
          <p:cNvPr id="37" name="Shape 35"/>
          <p:cNvSpPr/>
          <p:nvPr/>
        </p:nvSpPr>
        <p:spPr>
          <a:xfrm>
            <a:off x="8211312" y="3429000"/>
            <a:ext cx="1691640" cy="274320"/>
          </a:xfrm>
          <a:prstGeom prst="rect">
            <a:avLst/>
          </a:prstGeom>
          <a:solidFill>
            <a:srgbClr val="EB6834"/>
          </a:solidFill>
          <a:ln w="12700">
            <a:solidFill>
              <a:srgbClr val="EB6834"/>
            </a:solidFill>
            <a:prstDash val="solid"/>
          </a:ln>
        </p:spPr>
      </p:sp>
      <p:sp>
        <p:nvSpPr>
          <p:cNvPr id="38" name="Text 36"/>
          <p:cNvSpPr txBox="1"/>
          <p:nvPr/>
        </p:nvSpPr>
        <p:spPr>
          <a:xfrm>
            <a:off x="8266176" y="34290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CWA-2.04 · Fase 2</a:t>
            </a:r>
            <a:endParaRPr lang="en-US" sz="1050" dirty="0"/>
          </a:p>
        </p:txBody>
      </p:sp>
      <p:sp>
        <p:nvSpPr>
          <p:cNvPr id="39" name="Text 37"/>
          <p:cNvSpPr txBox="1"/>
          <p:nvPr/>
        </p:nvSpPr>
        <p:spPr>
          <a:xfrm>
            <a:off x="8284464" y="37216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Galería de servicios e interconexiones</a:t>
            </a:r>
            <a:endParaRPr lang="en-US" sz="1050" dirty="0"/>
          </a:p>
        </p:txBody>
      </p:sp>
      <p:sp>
        <p:nvSpPr>
          <p:cNvPr id="40" name="Shape 38"/>
          <p:cNvSpPr/>
          <p:nvPr/>
        </p:nvSpPr>
        <p:spPr>
          <a:xfrm>
            <a:off x="4425696" y="5143500"/>
            <a:ext cx="1691640" cy="868680"/>
          </a:xfrm>
          <a:prstGeom prst="roundRect">
            <a:avLst>
              <a:gd name="adj" fmla="val 8421"/>
            </a:avLst>
          </a:prstGeom>
          <a:solidFill>
            <a:srgbClr val="FFFFFF"/>
          </a:solidFill>
          <a:ln w="25400">
            <a:solidFill>
              <a:srgbClr val="1BAF7A"/>
            </a:solidFill>
            <a:prstDash val="solid"/>
          </a:ln>
        </p:spPr>
      </p:sp>
      <p:sp>
        <p:nvSpPr>
          <p:cNvPr id="41" name="Shape 39"/>
          <p:cNvSpPr/>
          <p:nvPr/>
        </p:nvSpPr>
        <p:spPr>
          <a:xfrm>
            <a:off x="4425696" y="5143500"/>
            <a:ext cx="1691640" cy="274320"/>
          </a:xfrm>
          <a:prstGeom prst="rect">
            <a:avLst/>
          </a:prstGeom>
          <a:solidFill>
            <a:srgbClr val="1BAF7A"/>
          </a:solidFill>
          <a:ln w="12700">
            <a:solidFill>
              <a:srgbClr val="1BAF7A"/>
            </a:solidFill>
            <a:prstDash val="solid"/>
          </a:ln>
        </p:spPr>
      </p:sp>
      <p:sp>
        <p:nvSpPr>
          <p:cNvPr id="42" name="Text 40"/>
          <p:cNvSpPr txBox="1"/>
          <p:nvPr/>
        </p:nvSpPr>
        <p:spPr>
          <a:xfrm>
            <a:off x="4480560" y="51435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CWA-3.01 · Fase 3</a:t>
            </a:r>
            <a:endParaRPr lang="en-US" sz="1050" dirty="0"/>
          </a:p>
        </p:txBody>
      </p:sp>
      <p:sp>
        <p:nvSpPr>
          <p:cNvPr id="43" name="Text 41"/>
          <p:cNvSpPr txBox="1"/>
          <p:nvPr/>
        </p:nvSpPr>
        <p:spPr>
          <a:xfrm>
            <a:off x="4498848" y="54361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Edificaciones complementarias</a:t>
            </a:r>
            <a:endParaRPr lang="en-US" sz="1050" dirty="0"/>
          </a:p>
        </p:txBody>
      </p:sp>
      <p:sp>
        <p:nvSpPr>
          <p:cNvPr id="44" name="Shape 42"/>
          <p:cNvSpPr/>
          <p:nvPr/>
        </p:nvSpPr>
        <p:spPr>
          <a:xfrm>
            <a:off x="10104120" y="3429000"/>
            <a:ext cx="1691640" cy="868680"/>
          </a:xfrm>
          <a:prstGeom prst="roundRect">
            <a:avLst>
              <a:gd name="adj" fmla="val 8421"/>
            </a:avLst>
          </a:prstGeom>
          <a:solidFill>
            <a:srgbClr val="FFFFFF"/>
          </a:solidFill>
          <a:ln w="25400">
            <a:solidFill>
              <a:srgbClr val="1BAF7A"/>
            </a:solidFill>
            <a:prstDash val="solid"/>
          </a:ln>
        </p:spPr>
      </p:sp>
      <p:sp>
        <p:nvSpPr>
          <p:cNvPr id="45" name="Shape 43"/>
          <p:cNvSpPr/>
          <p:nvPr/>
        </p:nvSpPr>
        <p:spPr>
          <a:xfrm>
            <a:off x="10104120" y="3429000"/>
            <a:ext cx="1691640" cy="274320"/>
          </a:xfrm>
          <a:prstGeom prst="rect">
            <a:avLst/>
          </a:prstGeom>
          <a:solidFill>
            <a:srgbClr val="1BAF7A"/>
          </a:solidFill>
          <a:ln w="12700">
            <a:solidFill>
              <a:srgbClr val="1BAF7A"/>
            </a:solidFill>
            <a:prstDash val="solid"/>
          </a:ln>
        </p:spPr>
      </p:sp>
      <p:sp>
        <p:nvSpPr>
          <p:cNvPr id="46" name="Text 44"/>
          <p:cNvSpPr txBox="1"/>
          <p:nvPr/>
        </p:nvSpPr>
        <p:spPr>
          <a:xfrm>
            <a:off x="10158984" y="34290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CWA-3.02 · Fase 3</a:t>
            </a:r>
            <a:endParaRPr lang="en-US" sz="1050" dirty="0"/>
          </a:p>
        </p:txBody>
      </p:sp>
      <p:sp>
        <p:nvSpPr>
          <p:cNvPr id="47" name="Text 45"/>
          <p:cNvSpPr txBox="1"/>
          <p:nvPr/>
        </p:nvSpPr>
        <p:spPr>
          <a:xfrm>
            <a:off x="10177272" y="37216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Ampliación de la instalación principal</a:t>
            </a:r>
            <a:endParaRPr lang="en-US" sz="1050" dirty="0"/>
          </a:p>
        </p:txBody>
      </p:sp>
      <p:sp>
        <p:nvSpPr>
          <p:cNvPr id="48" name="Shape 46"/>
          <p:cNvSpPr/>
          <p:nvPr/>
        </p:nvSpPr>
        <p:spPr>
          <a:xfrm>
            <a:off x="6318504" y="5143500"/>
            <a:ext cx="1691640" cy="868680"/>
          </a:xfrm>
          <a:prstGeom prst="roundRect">
            <a:avLst>
              <a:gd name="adj" fmla="val 8421"/>
            </a:avLst>
          </a:prstGeom>
          <a:solidFill>
            <a:srgbClr val="FFFFFF"/>
          </a:solidFill>
          <a:ln w="25400">
            <a:solidFill>
              <a:srgbClr val="1BAF7A"/>
            </a:solidFill>
            <a:prstDash val="solid"/>
          </a:ln>
        </p:spPr>
      </p:sp>
      <p:sp>
        <p:nvSpPr>
          <p:cNvPr id="49" name="Shape 47"/>
          <p:cNvSpPr/>
          <p:nvPr/>
        </p:nvSpPr>
        <p:spPr>
          <a:xfrm>
            <a:off x="6318504" y="5143500"/>
            <a:ext cx="1691640" cy="274320"/>
          </a:xfrm>
          <a:prstGeom prst="rect">
            <a:avLst/>
          </a:prstGeom>
          <a:solidFill>
            <a:srgbClr val="1BAF7A"/>
          </a:solidFill>
          <a:ln w="12700">
            <a:solidFill>
              <a:srgbClr val="1BAF7A"/>
            </a:solidFill>
            <a:prstDash val="solid"/>
          </a:ln>
        </p:spPr>
      </p:sp>
      <p:sp>
        <p:nvSpPr>
          <p:cNvPr id="50" name="Text 48"/>
          <p:cNvSpPr txBox="1"/>
          <p:nvPr/>
        </p:nvSpPr>
        <p:spPr>
          <a:xfrm>
            <a:off x="6373368" y="5143500"/>
            <a:ext cx="1581912"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CWA-3.03 · Fase 3</a:t>
            </a:r>
            <a:endParaRPr lang="en-US" sz="1050" dirty="0"/>
          </a:p>
        </p:txBody>
      </p:sp>
      <p:sp>
        <p:nvSpPr>
          <p:cNvPr id="51" name="Text 49"/>
          <p:cNvSpPr txBox="1"/>
          <p:nvPr/>
        </p:nvSpPr>
        <p:spPr>
          <a:xfrm>
            <a:off x="6391656" y="5436108"/>
            <a:ext cx="1545336" cy="539496"/>
          </a:xfrm>
          <a:prstGeom prst="rect">
            <a:avLst/>
          </a:prstGeom>
          <a:noFill/>
          <a:ln/>
        </p:spPr>
        <p:txBody>
          <a:bodyPr wrap="square" lIns="0" tIns="0" rIns="0" bIns="0" rtlCol="0" anchor="ctr">
            <a:normAutofit/>
          </a:bodyPr>
          <a:lstStyle/>
          <a:p>
            <a:pPr indent="0" marL="0">
              <a:buNone/>
            </a:pPr>
            <a:r>
              <a:rPr lang="en-US" sz="1050" dirty="0">
                <a:solidFill>
                  <a:srgbClr val="1B1F24"/>
                </a:solidFill>
                <a:latin typeface="Calibri" pitchFamily="34" charset="0"/>
                <a:ea typeface="Calibri" pitchFamily="34" charset="-122"/>
                <a:cs typeface="Calibri" pitchFamily="34" charset="-120"/>
              </a:rPr>
              <a:t>Urbanización y obras exteriores</a:t>
            </a:r>
            <a:endParaRPr lang="en-US" sz="1050" dirty="0"/>
          </a:p>
        </p:txBody>
      </p:sp>
      <p:sp>
        <p:nvSpPr>
          <p:cNvPr id="52" name="Text 50"/>
          <p:cNvSpPr txBox="1"/>
          <p:nvPr/>
        </p:nvSpPr>
        <p:spPr>
          <a:xfrm>
            <a:off x="548640" y="6035040"/>
            <a:ext cx="7315200" cy="292608"/>
          </a:xfrm>
          <a:prstGeom prst="rect">
            <a:avLst/>
          </a:prstGeom>
          <a:noFill/>
          <a:ln/>
        </p:spPr>
        <p:txBody>
          <a:bodyPr wrap="square" lIns="0" tIns="0" rIns="0" bIns="0" rtlCol="0" anchor="t"/>
          <a:lstStyle/>
          <a:p>
            <a:pPr indent="0" marL="0">
              <a:buNone/>
            </a:pPr>
            <a:r>
              <a:rPr lang="en-US" sz="1250" b="1" dirty="0">
                <a:solidFill>
                  <a:srgbClr val="56606B"/>
                </a:solidFill>
                <a:latin typeface="Calibri" pitchFamily="34" charset="0"/>
                <a:ea typeface="Calibri" pitchFamily="34" charset="-122"/>
                <a:cs typeface="Calibri" pitchFamily="34" charset="-120"/>
              </a:rPr>
              <a:t>→ </a:t>
            </a:r>
            <a:pPr indent="0" marL="0">
              <a:buNone/>
            </a:pPr>
            <a:r>
              <a:rPr lang="en-US" sz="1250" dirty="0">
                <a:solidFill>
                  <a:srgbClr val="56606B"/>
                </a:solidFill>
                <a:latin typeface="Calibri" pitchFamily="34" charset="0"/>
                <a:ea typeface="Calibri" pitchFamily="34" charset="-122"/>
                <a:cs typeface="Calibri" pitchFamily="34" charset="-120"/>
              </a:rPr>
              <a:t>precedencia dentro de la fase    </a:t>
            </a:r>
            <a:pPr indent="0" marL="0">
              <a:buNone/>
            </a:pPr>
            <a:r>
              <a:rPr lang="en-US" sz="1250" b="1" dirty="0">
                <a:solidFill>
                  <a:srgbClr val="F5A623"/>
                </a:solidFill>
                <a:latin typeface="Calibri" pitchFamily="34" charset="0"/>
                <a:ea typeface="Calibri" pitchFamily="34" charset="-122"/>
                <a:cs typeface="Calibri" pitchFamily="34" charset="-120"/>
              </a:rPr>
              <a:t>→ </a:t>
            </a:r>
            <a:pPr indent="0" marL="0">
              <a:buNone/>
            </a:pPr>
            <a:r>
              <a:rPr lang="en-US" sz="1250" dirty="0">
                <a:solidFill>
                  <a:srgbClr val="56606B"/>
                </a:solidFill>
                <a:latin typeface="Calibri" pitchFamily="34" charset="0"/>
                <a:ea typeface="Calibri" pitchFamily="34" charset="-122"/>
                <a:cs typeface="Calibri" pitchFamily="34" charset="-120"/>
              </a:rPr>
              <a:t>interfaz entre fases</a:t>
            </a:r>
            <a:endParaRPr lang="en-US" sz="1250" dirty="0"/>
          </a:p>
        </p:txBody>
      </p:sp>
      <p:sp>
        <p:nvSpPr>
          <p:cNvPr id="53" name="Text 5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Secuenciar CWA y CWP</a:t>
            </a:r>
            <a:endParaRPr lang="en-US" sz="1000" dirty="0"/>
          </a:p>
        </p:txBody>
      </p:sp>
      <p:sp>
        <p:nvSpPr>
          <p:cNvPr id="54" name="Text 5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Criterios para ordenar la secuencia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Aplicados en el PoC del proyecto tipo</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Sistemas primero</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La sala eléctrica (CWA-2.03, secuencia 1 de la Fase 2) para energizar temprano los bloques A y B.</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De abajo hacia arriba</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Redes enterradas antes de cimentaciones, para evitar interferencias y reexcavaciones.</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Liberar el terreno</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Movimiento de tierras de la plataforma norte libera la huella de la instalación principal.</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Por niveles</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Tuberías montadas sobre estructura terminada por niveles.</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Accesos al inicio</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Vía principal, patio de acopio y oficinas (CWA-1.03) con secuencia 1.</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Entregas tempranas</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Edificios independientes (oficinas) pueden adelantarse para entregarse antes.</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Secuenciar CWA y CWP</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Los 10 CWP del Path of Construction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Plantilla Path_of_Construction.xlsx: inicio plan, duración y predecesor</a:t>
            </a:r>
            <a:endParaRPr lang="en-US" sz="15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691640"/>
                <a:gridCol w="2971800"/>
                <a:gridCol w="731520"/>
                <a:gridCol w="594360"/>
                <a:gridCol w="777240"/>
                <a:gridCol w="1051560"/>
                <a:gridCol w="502920"/>
                <a:gridCol w="1051560"/>
                <a:gridCol w="1719072"/>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CWP</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Descripción</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Fase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Disc.</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HH</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Inicio plan</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Sem.</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Fin plan</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Predecesor</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402336">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CWP-1.01-CIV-01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Movimiento de tierras plataforma norte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CIV</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42 000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07/06/2027</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26/07/2027</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CWP-1.02-TUB-01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Redes de agua y desagüe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TUB</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26 000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02/08/2027</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06/12/2027</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CWP-1.01-CIV-01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CWP-1.02-ELE-01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Bancos de ductos eléctricos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ELE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18 000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16/08/2027</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06/12/2027</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CWP-1.01-CIV-01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CWP-2.03-ELE-01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Equipos y cableado de sala eléctrica</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ELE</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30 000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06/03/2028</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02/10/2028</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CWP-1.02-ELE-01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CWP-2.01-CIV-01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Cimentaciones bloque A</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CIV</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36 000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07/02/2028</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24/04/2028</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CWP-1.01-CIV-01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CWP-2.01-EST-01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Estructura metálica bloque A</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EST</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9 600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25/04/2028</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22/08/2028</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CWP-2.01-CIV-01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CWP-2.01-TUB-01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Tuberías de servicios bloque A</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TUB</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34 000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28/08/2028</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26/02/2029</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CWP-2.01-EST-01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1BAF7A"/>
                          </a:solidFill>
                          <a:latin typeface="Calibri" pitchFamily="34" charset="0"/>
                          <a:ea typeface="Calibri" pitchFamily="34" charset="-122"/>
                          <a:cs typeface="Calibri" pitchFamily="34" charset="-120"/>
                        </a:rPr>
                        <a:t>CWP-3.01-ARQ-01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Arquitectura edificio de oficinas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ARQ</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22 000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05/03/2029</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23/07/2029</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CWP-1.02-TUB-01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1BAF7A"/>
                          </a:solidFill>
                          <a:latin typeface="Calibri" pitchFamily="34" charset="0"/>
                          <a:ea typeface="Calibri" pitchFamily="34" charset="-122"/>
                          <a:cs typeface="Calibri" pitchFamily="34" charset="-120"/>
                        </a:rPr>
                        <a:t>CWP-3.02-CIV-01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Cimentaciones de la ampliación</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CIV</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28 000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05/02/2029</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14/05/2029</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CWP-2.01-CIV-01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02336">
                <a:tc>
                  <a:txBody>
                    <a:bodyPr/>
                    <a:lstStyle/>
                    <a:p>
                      <a:pPr indent="0" marL="0">
                        <a:buNone/>
                      </a:pPr>
                      <a:r>
                        <a:rPr lang="en-US" sz="1150" b="1" dirty="0">
                          <a:solidFill>
                            <a:srgbClr val="1BAF7A"/>
                          </a:solidFill>
                          <a:latin typeface="Calibri" pitchFamily="34" charset="0"/>
                          <a:ea typeface="Calibri" pitchFamily="34" charset="-122"/>
                          <a:cs typeface="Calibri" pitchFamily="34" charset="-120"/>
                        </a:rPr>
                        <a:t>CWP-3.02-TUB-01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Empalmes a la galería de servicios</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Fase 3</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TUB</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12 000</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02/07/2029</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24/09/2029</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CWP-2.01-TUB-01</a:t>
                      </a:r>
                      <a:endParaRPr lang="en-US" sz="1150" dirty="0">
                        <a:latin typeface="Calibri" charset="0"/>
                        <a:ea typeface="Calibri" charset="0"/>
                        <a:cs typeface="Calibri" charset="0"/>
                      </a:endParaRPr>
                    </a:p>
                  </a:txBody>
                  <a:tcPr marL="63500" marR="635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Secuenciar CWA y CWP</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67</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Por qué cada CWP está en su lugar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La columna «Justificación» del PoC: la razón de cada decisión de secuencia</a:t>
            </a:r>
            <a:endParaRPr lang="en-US" sz="15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017520"/>
                <a:gridCol w="2286000"/>
                <a:gridCol w="5669280"/>
              </a:tblGrid>
              <a:tr h="423949">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CWP</a:t>
                      </a:r>
                      <a:endParaRPr lang="en-US" sz="12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Sistema</a:t>
                      </a:r>
                      <a:endParaRPr lang="en-US" sz="12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Justificación</a:t>
                      </a:r>
                      <a:endParaRPr lang="en-US" sz="12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CWP-1.01-CIV-01 Movimiento de tierras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Plataformas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Libera la plataforma de la instalación principal para la Fase 2.</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CWP-1.02-TUB-01 Redes de agua y desagüe</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Agua y desagüe</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Redes enterradas antes de cimentaciones para evitar interferencias.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CWP-1.02-ELE-01 Bancos de ductos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Energía de obra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Alimenta la subestación de obra y la futura sala eléctrica.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CWP-2.03-ELE-01 Sala eléctrica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Distribución eléctrica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Energización temprana para pruebas de los bloques A y B.</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CWP-2.01-CIV-01 Cimentaciones bloque 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Estructura bloque 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Primer frente de la instalación principal.</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CWP-2.01-EST-01 Estructura metálica bloque 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Estructura bloque 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Requiere cimentaciones curadas y estructura fabricada (RAS).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CWP-2.01-TUB-01 Tuberías de servicios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Agua de servicio</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Tuberías montadas sobre estructura terminada por niveles.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CWP-3.01-ARQ-01 Oficinas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Edificio de oficinas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Edificio independiente; permite adelantar su entrega.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CWP-3.02-CIV-01 Cimentaciones ampliación</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Estructura ampliación</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Inicia cuando la Fase 2 libera el acceso lateral del bloque B.</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23949">
                <a:tc>
                  <a:txBody>
                    <a:bodyPr/>
                    <a:lstStyle/>
                    <a:p>
                      <a:pPr indent="0" marL="0">
                        <a:buNone/>
                      </a:pPr>
                      <a:r>
                        <a:rPr lang="en-US" sz="1150" b="1" dirty="0">
                          <a:solidFill>
                            <a:srgbClr val="1B1F24"/>
                          </a:solidFill>
                          <a:latin typeface="Calibri" pitchFamily="34" charset="0"/>
                          <a:ea typeface="Calibri" pitchFamily="34" charset="-122"/>
                          <a:cs typeface="Calibri" pitchFamily="34" charset="-120"/>
                        </a:rPr>
                        <a:t>CWP-3.02-TUB-01 Empalmes a la galería</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Agua de servicio</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Empalmes durante parada programada de la Fase 2 (interfaz entre fases).</a:t>
                      </a:r>
                      <a:endParaRPr lang="en-US" sz="11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Secuenciar CWA y CWP</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Secuencia dentro de una CWA: el bloque 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De abajo hacia arriba, disciplina por disciplina</a:t>
            </a:r>
            <a:endParaRPr lang="en-US" sz="1500" dirty="0"/>
          </a:p>
        </p:txBody>
      </p:sp>
      <p:sp>
        <p:nvSpPr>
          <p:cNvPr id="4" name="Shape 2"/>
          <p:cNvSpPr/>
          <p:nvPr/>
        </p:nvSpPr>
        <p:spPr>
          <a:xfrm>
            <a:off x="1849717" y="2103120"/>
            <a:ext cx="8492261" cy="0"/>
          </a:xfrm>
          <a:prstGeom prst="line">
            <a:avLst/>
          </a:prstGeom>
          <a:noFill/>
          <a:ln w="31750">
            <a:solidFill>
              <a:srgbClr val="B9CCE0"/>
            </a:solidFill>
            <a:prstDash val="solid"/>
          </a:ln>
        </p:spPr>
      </p:sp>
      <p:sp>
        <p:nvSpPr>
          <p:cNvPr id="5" name="Shape 3"/>
          <p:cNvSpPr/>
          <p:nvPr/>
        </p:nvSpPr>
        <p:spPr>
          <a:xfrm>
            <a:off x="1483957" y="1737360"/>
            <a:ext cx="731520" cy="731520"/>
          </a:xfrm>
          <a:prstGeom prst="ellipse">
            <a:avLst/>
          </a:prstGeom>
          <a:solidFill>
            <a:srgbClr val="1F4E79"/>
          </a:solidFill>
          <a:ln w="38100">
            <a:solidFill>
              <a:srgbClr val="FFFFFF"/>
            </a:solidFill>
            <a:prstDash val="solid"/>
          </a:ln>
        </p:spPr>
      </p:sp>
      <p:sp>
        <p:nvSpPr>
          <p:cNvPr id="6" name="Text 4"/>
          <p:cNvSpPr txBox="1"/>
          <p:nvPr/>
        </p:nvSpPr>
        <p:spPr>
          <a:xfrm>
            <a:off x="1483957"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602154" cy="3291840"/>
          </a:xfrm>
          <a:prstGeom prst="roundRect">
            <a:avLst>
              <a:gd name="adj" fmla="val 3514"/>
            </a:avLst>
          </a:prstGeom>
          <a:solidFill>
            <a:srgbClr val="F4F7FA"/>
          </a:solidFill>
          <a:ln w="9525">
            <a:solidFill>
              <a:srgbClr val="DDE4EC"/>
            </a:solidFill>
            <a:prstDash val="solid"/>
          </a:ln>
        </p:spPr>
      </p:sp>
      <p:sp>
        <p:nvSpPr>
          <p:cNvPr id="8" name="Text 6"/>
          <p:cNvSpPr txBox="1"/>
          <p:nvPr/>
        </p:nvSpPr>
        <p:spPr>
          <a:xfrm>
            <a:off x="731520"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163A5C"/>
                </a:solidFill>
                <a:latin typeface="Calibri" pitchFamily="34" charset="0"/>
                <a:ea typeface="Calibri" pitchFamily="34" charset="-122"/>
                <a:cs typeface="Calibri" pitchFamily="34" charset="-120"/>
              </a:rPr>
              <a:t>CWP-2.01-CIV-01</a:t>
            </a:r>
            <a:endParaRPr lang="en-US" sz="1700" dirty="0"/>
          </a:p>
        </p:txBody>
      </p:sp>
      <p:sp>
        <p:nvSpPr>
          <p:cNvPr id="9" name="Text 7"/>
          <p:cNvSpPr txBox="1"/>
          <p:nvPr/>
        </p:nvSpPr>
        <p:spPr>
          <a:xfrm>
            <a:off x="731520"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F24"/>
                </a:solidFill>
                <a:latin typeface="Calibri" pitchFamily="34" charset="0"/>
                <a:ea typeface="Calibri" pitchFamily="34" charset="-122"/>
                <a:cs typeface="Calibri" pitchFamily="34" charset="-120"/>
              </a:rPr>
              <a:t>Cimentaciones · 36 000 HH · 07/02/2028 → 24/04/2028 (11 sem). Predecesor: movimiento de tierras (Fase 1).</a:t>
            </a:r>
            <a:endParaRPr lang="en-US" sz="1600" dirty="0"/>
          </a:p>
        </p:txBody>
      </p:sp>
      <p:sp>
        <p:nvSpPr>
          <p:cNvPr id="10" name="Shape 8"/>
          <p:cNvSpPr/>
          <p:nvPr/>
        </p:nvSpPr>
        <p:spPr>
          <a:xfrm>
            <a:off x="4314711" y="1737360"/>
            <a:ext cx="731520" cy="731520"/>
          </a:xfrm>
          <a:prstGeom prst="ellipse">
            <a:avLst/>
          </a:prstGeom>
          <a:solidFill>
            <a:srgbClr val="1F4E79"/>
          </a:solidFill>
          <a:ln w="38100">
            <a:solidFill>
              <a:srgbClr val="FFFFFF"/>
            </a:solidFill>
            <a:prstDash val="solid"/>
          </a:ln>
        </p:spPr>
      </p:sp>
      <p:sp>
        <p:nvSpPr>
          <p:cNvPr id="11" name="Text 9"/>
          <p:cNvSpPr txBox="1"/>
          <p:nvPr/>
        </p:nvSpPr>
        <p:spPr>
          <a:xfrm>
            <a:off x="431471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3379394" y="2743200"/>
            <a:ext cx="2602154" cy="3291840"/>
          </a:xfrm>
          <a:prstGeom prst="roundRect">
            <a:avLst>
              <a:gd name="adj" fmla="val 3514"/>
            </a:avLst>
          </a:prstGeom>
          <a:solidFill>
            <a:srgbClr val="F4F7FA"/>
          </a:solidFill>
          <a:ln w="9525">
            <a:solidFill>
              <a:srgbClr val="DDE4EC"/>
            </a:solidFill>
            <a:prstDash val="solid"/>
          </a:ln>
        </p:spPr>
      </p:sp>
      <p:sp>
        <p:nvSpPr>
          <p:cNvPr id="13" name="Text 11"/>
          <p:cNvSpPr txBox="1"/>
          <p:nvPr/>
        </p:nvSpPr>
        <p:spPr>
          <a:xfrm>
            <a:off x="3562274"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163A5C"/>
                </a:solidFill>
                <a:latin typeface="Calibri" pitchFamily="34" charset="0"/>
                <a:ea typeface="Calibri" pitchFamily="34" charset="-122"/>
                <a:cs typeface="Calibri" pitchFamily="34" charset="-120"/>
              </a:rPr>
              <a:t>CWP-2.01-EST-01</a:t>
            </a:r>
            <a:endParaRPr lang="en-US" sz="1700" dirty="0"/>
          </a:p>
        </p:txBody>
      </p:sp>
      <p:sp>
        <p:nvSpPr>
          <p:cNvPr id="14" name="Text 12"/>
          <p:cNvSpPr txBox="1"/>
          <p:nvPr/>
        </p:nvSpPr>
        <p:spPr>
          <a:xfrm>
            <a:off x="3562274"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F24"/>
                </a:solidFill>
                <a:latin typeface="Calibri" pitchFamily="34" charset="0"/>
                <a:ea typeface="Calibri" pitchFamily="34" charset="-122"/>
                <a:cs typeface="Calibri" pitchFamily="34" charset="-120"/>
              </a:rPr>
              <a:t>Estructura metálica · 9 600 HH · 25/04/2028 → 22/08/2028 (17 sem). Requiere cimentaciones curadas y RAS 15/04.</a:t>
            </a:r>
            <a:endParaRPr lang="en-US" sz="1600" dirty="0"/>
          </a:p>
        </p:txBody>
      </p:sp>
      <p:sp>
        <p:nvSpPr>
          <p:cNvPr id="15" name="Shape 13"/>
          <p:cNvSpPr/>
          <p:nvPr/>
        </p:nvSpPr>
        <p:spPr>
          <a:xfrm>
            <a:off x="7145465" y="1737360"/>
            <a:ext cx="731520" cy="731520"/>
          </a:xfrm>
          <a:prstGeom prst="ellipse">
            <a:avLst/>
          </a:prstGeom>
          <a:solidFill>
            <a:srgbClr val="1F4E79"/>
          </a:solidFill>
          <a:ln w="38100">
            <a:solidFill>
              <a:srgbClr val="FFFFFF"/>
            </a:solidFill>
            <a:prstDash val="solid"/>
          </a:ln>
        </p:spPr>
      </p:sp>
      <p:sp>
        <p:nvSpPr>
          <p:cNvPr id="16" name="Text 14"/>
          <p:cNvSpPr txBox="1"/>
          <p:nvPr/>
        </p:nvSpPr>
        <p:spPr>
          <a:xfrm>
            <a:off x="714546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6210148" y="2743200"/>
            <a:ext cx="2602154" cy="3291840"/>
          </a:xfrm>
          <a:prstGeom prst="roundRect">
            <a:avLst>
              <a:gd name="adj" fmla="val 3514"/>
            </a:avLst>
          </a:prstGeom>
          <a:solidFill>
            <a:srgbClr val="F4F7FA"/>
          </a:solidFill>
          <a:ln w="9525">
            <a:solidFill>
              <a:srgbClr val="DDE4EC"/>
            </a:solidFill>
            <a:prstDash val="solid"/>
          </a:ln>
        </p:spPr>
      </p:sp>
      <p:sp>
        <p:nvSpPr>
          <p:cNvPr id="18" name="Text 16"/>
          <p:cNvSpPr txBox="1"/>
          <p:nvPr/>
        </p:nvSpPr>
        <p:spPr>
          <a:xfrm>
            <a:off x="6393028"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163A5C"/>
                </a:solidFill>
                <a:latin typeface="Calibri" pitchFamily="34" charset="0"/>
                <a:ea typeface="Calibri" pitchFamily="34" charset="-122"/>
                <a:cs typeface="Calibri" pitchFamily="34" charset="-120"/>
              </a:rPr>
              <a:t>CWP-2.01-TUB-01</a:t>
            </a:r>
            <a:endParaRPr lang="en-US" sz="1700" dirty="0"/>
          </a:p>
        </p:txBody>
      </p:sp>
      <p:sp>
        <p:nvSpPr>
          <p:cNvPr id="19" name="Text 17"/>
          <p:cNvSpPr txBox="1"/>
          <p:nvPr/>
        </p:nvSpPr>
        <p:spPr>
          <a:xfrm>
            <a:off x="6393028"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F24"/>
                </a:solidFill>
                <a:latin typeface="Calibri" pitchFamily="34" charset="0"/>
                <a:ea typeface="Calibri" pitchFamily="34" charset="-122"/>
                <a:cs typeface="Calibri" pitchFamily="34" charset="-120"/>
              </a:rPr>
              <a:t>Tuberías de servicios · 34 000 HH · 28/08/2028 → 26/02/2029 (26 sem). Sobre estructura terminada por niveles.</a:t>
            </a:r>
            <a:endParaRPr lang="en-US" sz="1600" dirty="0"/>
          </a:p>
        </p:txBody>
      </p:sp>
      <p:sp>
        <p:nvSpPr>
          <p:cNvPr id="20" name="Shape 18"/>
          <p:cNvSpPr/>
          <p:nvPr/>
        </p:nvSpPr>
        <p:spPr>
          <a:xfrm>
            <a:off x="9976218" y="1737360"/>
            <a:ext cx="731520" cy="731520"/>
          </a:xfrm>
          <a:prstGeom prst="ellipse">
            <a:avLst/>
          </a:prstGeom>
          <a:solidFill>
            <a:srgbClr val="F5A623"/>
          </a:solidFill>
          <a:ln w="38100">
            <a:solidFill>
              <a:srgbClr val="FFFFFF"/>
            </a:solidFill>
            <a:prstDash val="solid"/>
          </a:ln>
        </p:spPr>
      </p:sp>
      <p:sp>
        <p:nvSpPr>
          <p:cNvPr id="21" name="Text 19"/>
          <p:cNvSpPr txBox="1"/>
          <p:nvPr/>
        </p:nvSpPr>
        <p:spPr>
          <a:xfrm>
            <a:off x="9976218" y="1737360"/>
            <a:ext cx="731520" cy="731520"/>
          </a:xfrm>
          <a:prstGeom prst="rect">
            <a:avLst/>
          </a:prstGeom>
          <a:noFill/>
          <a:ln/>
        </p:spPr>
        <p:txBody>
          <a:bodyPr wrap="square" lIns="0" tIns="0" rIns="0" bIns="0" rtlCol="0" anchor="ctr"/>
          <a:lstStyle/>
          <a:p>
            <a:pPr algn="ctr" indent="0" marL="0">
              <a:buNone/>
            </a:pPr>
            <a:r>
              <a:rPr lang="en-US" sz="2200" b="1" dirty="0">
                <a:solidFill>
                  <a:srgbClr val="0F2A43"/>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9040901" y="2743200"/>
            <a:ext cx="2602154" cy="3291840"/>
          </a:xfrm>
          <a:prstGeom prst="roundRect">
            <a:avLst>
              <a:gd name="adj" fmla="val 3514"/>
            </a:avLst>
          </a:prstGeom>
          <a:solidFill>
            <a:srgbClr val="F4F7FA"/>
          </a:solidFill>
          <a:ln w="9525">
            <a:solidFill>
              <a:srgbClr val="DDE4EC"/>
            </a:solidFill>
            <a:prstDash val="solid"/>
          </a:ln>
        </p:spPr>
      </p:sp>
      <p:sp>
        <p:nvSpPr>
          <p:cNvPr id="23" name="Text 21"/>
          <p:cNvSpPr txBox="1"/>
          <p:nvPr/>
        </p:nvSpPr>
        <p:spPr>
          <a:xfrm>
            <a:off x="9223781"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163A5C"/>
                </a:solidFill>
                <a:latin typeface="Calibri" pitchFamily="34" charset="0"/>
                <a:ea typeface="Calibri" pitchFamily="34" charset="-122"/>
                <a:cs typeface="Calibri" pitchFamily="34" charset="-120"/>
              </a:rPr>
              <a:t>Sistemas</a:t>
            </a:r>
            <a:endParaRPr lang="en-US" sz="1700" dirty="0"/>
          </a:p>
        </p:txBody>
      </p:sp>
      <p:sp>
        <p:nvSpPr>
          <p:cNvPr id="24" name="Text 22"/>
          <p:cNvSpPr txBox="1"/>
          <p:nvPr/>
        </p:nvSpPr>
        <p:spPr>
          <a:xfrm>
            <a:off x="9223781"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F24"/>
                </a:solidFill>
                <a:latin typeface="Calibri" pitchFamily="34" charset="0"/>
                <a:ea typeface="Calibri" pitchFamily="34" charset="-122"/>
                <a:cs typeface="Calibri" pitchFamily="34" charset="-120"/>
              </a:rPr>
              <a:t>Estructura bloque A; agua de servicio → SWP cuando los IWP del sistema estén cerrados.</a:t>
            </a:r>
            <a:endParaRPr lang="en-US" sz="1600" dirty="0"/>
          </a:p>
        </p:txBody>
      </p:sp>
      <p:sp>
        <p:nvSpPr>
          <p:cNvPr id="25" name="Text 2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Secuenciar CWA y CWP</a:t>
            </a:r>
            <a:endParaRPr lang="en-US" sz="1000" dirty="0"/>
          </a:p>
        </p:txBody>
      </p:sp>
      <p:sp>
        <p:nvSpPr>
          <p:cNvPr id="26" name="Text 2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Ficha: CWP-2.03-ELE-01 · Sala eléctrica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El caso de «sistemas primero»</a:t>
            </a:r>
            <a:endParaRPr lang="en-US" sz="1500" dirty="0"/>
          </a:p>
        </p:txBody>
      </p:sp>
      <p:sp>
        <p:nvSpPr>
          <p:cNvPr id="4" name="Shape 2"/>
          <p:cNvSpPr/>
          <p:nvPr/>
        </p:nvSpPr>
        <p:spPr>
          <a:xfrm>
            <a:off x="548640" y="1572768"/>
            <a:ext cx="822960" cy="82296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733806" y="1757934"/>
            <a:ext cx="452628" cy="452628"/>
          </a:xfrm>
          <a:prstGeom prst="rect">
            <a:avLst/>
          </a:prstGeom>
        </p:spPr>
      </p:pic>
      <p:sp>
        <p:nvSpPr>
          <p:cNvPr id="6" name="Shape 3"/>
          <p:cNvSpPr/>
          <p:nvPr/>
        </p:nvSpPr>
        <p:spPr>
          <a:xfrm>
            <a:off x="1645920" y="1554480"/>
            <a:ext cx="4861408" cy="1447800"/>
          </a:xfrm>
          <a:prstGeom prst="roundRect">
            <a:avLst>
              <a:gd name="adj" fmla="val 5053"/>
            </a:avLst>
          </a:prstGeom>
          <a:solidFill>
            <a:srgbClr val="F4F7FA"/>
          </a:solidFill>
          <a:ln w="9525">
            <a:solidFill>
              <a:srgbClr val="DDE4EC"/>
            </a:solidFill>
            <a:prstDash val="solid"/>
          </a:ln>
        </p:spPr>
      </p:sp>
      <p:sp>
        <p:nvSpPr>
          <p:cNvPr id="7" name="Text 4"/>
          <p:cNvSpPr txBox="1"/>
          <p:nvPr/>
        </p:nvSpPr>
        <p:spPr>
          <a:xfrm>
            <a:off x="1847088"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Alcance</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Equipos y cableado de la sala eléctrica · disciplina ELE · 30 000 HH · CWA-2.03 (secuencia 1 de la Fase 2).</a:t>
            </a:r>
            <a:endParaRPr lang="en-US" sz="1500" dirty="0"/>
          </a:p>
        </p:txBody>
      </p:sp>
      <p:sp>
        <p:nvSpPr>
          <p:cNvPr id="8" name="Shape 5"/>
          <p:cNvSpPr/>
          <p:nvPr/>
        </p:nvSpPr>
        <p:spPr>
          <a:xfrm>
            <a:off x="6781648" y="1554480"/>
            <a:ext cx="4861408" cy="1447800"/>
          </a:xfrm>
          <a:prstGeom prst="roundRect">
            <a:avLst>
              <a:gd name="adj" fmla="val 5053"/>
            </a:avLst>
          </a:prstGeom>
          <a:solidFill>
            <a:srgbClr val="F4F7FA"/>
          </a:solidFill>
          <a:ln w="9525">
            <a:solidFill>
              <a:srgbClr val="DDE4EC"/>
            </a:solidFill>
            <a:prstDash val="solid"/>
          </a:ln>
        </p:spPr>
      </p:sp>
      <p:sp>
        <p:nvSpPr>
          <p:cNvPr id="9" name="Text 6"/>
          <p:cNvSpPr txBox="1"/>
          <p:nvPr/>
        </p:nvSpPr>
        <p:spPr>
          <a:xfrm>
            <a:off x="6982816" y="168249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Fechas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Inicio 06/03/2028 · 30 semanas · fin 02/10/2028.</a:t>
            </a:r>
            <a:endParaRPr lang="en-US" sz="1500" dirty="0"/>
          </a:p>
        </p:txBody>
      </p:sp>
      <p:sp>
        <p:nvSpPr>
          <p:cNvPr id="10" name="Shape 7"/>
          <p:cNvSpPr/>
          <p:nvPr/>
        </p:nvSpPr>
        <p:spPr>
          <a:xfrm>
            <a:off x="1645920" y="3185160"/>
            <a:ext cx="4861408" cy="1447800"/>
          </a:xfrm>
          <a:prstGeom prst="roundRect">
            <a:avLst>
              <a:gd name="adj" fmla="val 5053"/>
            </a:avLst>
          </a:prstGeom>
          <a:solidFill>
            <a:srgbClr val="F4F7FA"/>
          </a:solidFill>
          <a:ln w="9525">
            <a:solidFill>
              <a:srgbClr val="DDE4EC"/>
            </a:solidFill>
            <a:prstDash val="solid"/>
          </a:ln>
        </p:spPr>
      </p:sp>
      <p:sp>
        <p:nvSpPr>
          <p:cNvPr id="11" name="Text 8"/>
          <p:cNvSpPr txBox="1"/>
          <p:nvPr/>
        </p:nvSpPr>
        <p:spPr>
          <a:xfrm>
            <a:off x="1847088"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Fechas requeridas</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EWP IFC 06/12/2027 · emisión del CWP 27/12/2027 · RAS 25/02/2028.</a:t>
            </a:r>
            <a:endParaRPr lang="en-US" sz="1500" dirty="0"/>
          </a:p>
        </p:txBody>
      </p:sp>
      <p:sp>
        <p:nvSpPr>
          <p:cNvPr id="12" name="Shape 9"/>
          <p:cNvSpPr/>
          <p:nvPr/>
        </p:nvSpPr>
        <p:spPr>
          <a:xfrm>
            <a:off x="6781648" y="3185160"/>
            <a:ext cx="4861408" cy="1447800"/>
          </a:xfrm>
          <a:prstGeom prst="roundRect">
            <a:avLst>
              <a:gd name="adj" fmla="val 5053"/>
            </a:avLst>
          </a:prstGeom>
          <a:solidFill>
            <a:srgbClr val="F4F7FA"/>
          </a:solidFill>
          <a:ln w="9525">
            <a:solidFill>
              <a:srgbClr val="DDE4EC"/>
            </a:solidFill>
            <a:prstDash val="solid"/>
          </a:ln>
        </p:spPr>
      </p:sp>
      <p:sp>
        <p:nvSpPr>
          <p:cNvPr id="13" name="Text 10"/>
          <p:cNvSpPr txBox="1"/>
          <p:nvPr/>
        </p:nvSpPr>
        <p:spPr>
          <a:xfrm>
            <a:off x="6982816" y="331317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Predecesor</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CWP-1.02-ELE-01, bancos de ductos (Fase 1), terminado el 06/12/2027: interfaz entre fases.</a:t>
            </a:r>
            <a:endParaRPr lang="en-US" sz="1500" dirty="0"/>
          </a:p>
        </p:txBody>
      </p:sp>
      <p:sp>
        <p:nvSpPr>
          <p:cNvPr id="14" name="Shape 11"/>
          <p:cNvSpPr/>
          <p:nvPr/>
        </p:nvSpPr>
        <p:spPr>
          <a:xfrm>
            <a:off x="1645920" y="4815840"/>
            <a:ext cx="4861408" cy="1447800"/>
          </a:xfrm>
          <a:prstGeom prst="roundRect">
            <a:avLst>
              <a:gd name="adj" fmla="val 5053"/>
            </a:avLst>
          </a:prstGeom>
          <a:solidFill>
            <a:srgbClr val="F4F7FA"/>
          </a:solidFill>
          <a:ln w="9525">
            <a:solidFill>
              <a:srgbClr val="DDE4EC"/>
            </a:solidFill>
            <a:prstDash val="solid"/>
          </a:ln>
        </p:spPr>
      </p:sp>
      <p:sp>
        <p:nvSpPr>
          <p:cNvPr id="15" name="Text 12"/>
          <p:cNvSpPr txBox="1"/>
          <p:nvPr/>
        </p:nvSpPr>
        <p:spPr>
          <a:xfrm>
            <a:off x="1847088"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Por qué aquí</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Energización temprana para pruebas de los bloques A y B: el sistema de distribución eléctrica habilita el comisionamiento.</a:t>
            </a:r>
            <a:endParaRPr lang="en-US" sz="1500" dirty="0"/>
          </a:p>
        </p:txBody>
      </p:sp>
      <p:sp>
        <p:nvSpPr>
          <p:cNvPr id="16" name="Shape 13"/>
          <p:cNvSpPr/>
          <p:nvPr/>
        </p:nvSpPr>
        <p:spPr>
          <a:xfrm>
            <a:off x="6781648" y="4815840"/>
            <a:ext cx="4861408" cy="1447800"/>
          </a:xfrm>
          <a:prstGeom prst="roundRect">
            <a:avLst>
              <a:gd name="adj" fmla="val 5053"/>
            </a:avLst>
          </a:prstGeom>
          <a:solidFill>
            <a:srgbClr val="F4F7FA"/>
          </a:solidFill>
          <a:ln w="9525">
            <a:solidFill>
              <a:srgbClr val="DDE4EC"/>
            </a:solidFill>
            <a:prstDash val="solid"/>
          </a:ln>
        </p:spPr>
      </p:sp>
      <p:sp>
        <p:nvSpPr>
          <p:cNvPr id="17" name="Text 14"/>
          <p:cNvSpPr txBox="1"/>
          <p:nvPr/>
        </p:nvSpPr>
        <p:spPr>
          <a:xfrm>
            <a:off x="6982816" y="4943856"/>
            <a:ext cx="4459072" cy="1228344"/>
          </a:xfrm>
          <a:prstGeom prst="rect">
            <a:avLst/>
          </a:prstGeom>
          <a:noFill/>
          <a:ln/>
        </p:spPr>
        <p:txBody>
          <a:bodyPr wrap="square" lIns="0" tIns="0" rIns="0" bIns="0" rtlCol="0" anchor="t">
            <a:normAutofit/>
          </a:bodyPr>
          <a:lstStyle/>
          <a:p>
            <a:pPr indent="0" marL="0">
              <a:spcAft>
                <a:spcPts val="400"/>
              </a:spcAft>
              <a:buNone/>
            </a:pPr>
            <a:r>
              <a:rPr lang="en-US" sz="1500" b="1" dirty="0">
                <a:solidFill>
                  <a:srgbClr val="163A5C"/>
                </a:solidFill>
                <a:latin typeface="Calibri" pitchFamily="34" charset="0"/>
                <a:ea typeface="Calibri" pitchFamily="34" charset="-122"/>
                <a:cs typeface="Calibri" pitchFamily="34" charset="-120"/>
              </a:rPr>
              <a:t>Riesgo asociado</a:t>
            </a:r>
            <a:endParaRPr lang="en-US" sz="1500" dirty="0"/>
          </a:p>
          <a:p>
            <a:pPr indent="0" marL="0">
              <a:spcAft>
                <a:spcPts val="400"/>
              </a:spcAft>
              <a:buNone/>
            </a:pPr>
            <a:r>
              <a:rPr lang="en-US" sz="1350" dirty="0">
                <a:solidFill>
                  <a:srgbClr val="1B1F24"/>
                </a:solidFill>
                <a:latin typeface="Calibri" pitchFamily="34" charset="0"/>
                <a:ea typeface="Calibri" pitchFamily="34" charset="-122"/>
                <a:cs typeface="Calibri" pitchFamily="34" charset="-120"/>
              </a:rPr>
              <a:t>Documentación del proveedor de tableros (LA-04): fecha propia en el PWP-2.03-ELE-01.</a:t>
            </a:r>
            <a:endParaRPr lang="en-US" sz="1500" dirty="0"/>
          </a:p>
        </p:txBody>
      </p:sp>
      <p:sp>
        <p:nvSpPr>
          <p:cNvPr id="18"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Secuenciar CWA y CWP</a:t>
            </a:r>
            <a:endParaRPr lang="en-US" sz="1000" dirty="0"/>
          </a:p>
        </p:txBody>
      </p:sp>
      <p:sp>
        <p:nvSpPr>
          <p:cNvPr id="19"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70</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Reglas para los CWP del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Del flujo de paquetes del kit</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Una disciplina</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Cada CWP es parte de una CWA y de una sola disciplina (CIV, EST, ARQ, MEC, TUB, ELE, INS).</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Menos de 40 000 HH</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Y una sola actividad de nivel 3 en el cronograma. Sin superposición entre CWP.</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1 EWP = 1 PWP = 1 CWP</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Con el mismo sufijo de código: EWP-2.01-EST-01 y PWP-2.01-EST-01.</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Límite contractual</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Un CWP puede coincidir con el alcance de un contratista o subcontratista.</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Código</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CWP-&lt;fase&gt;.&lt;nn&gt;-&lt;disciplina&gt;-&lt;nn&gt;, con los mismos dígitos que su CWA.</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Sistema</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Cada CWP indica el sistema al que aporta, para cerrar sistemas completos.</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Secuenciar CWA y CWP</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08</a:t>
            </a:r>
            <a:endParaRPr lang="en-US" sz="9600" dirty="0"/>
          </a:p>
        </p:txBody>
      </p:sp>
      <p:sp>
        <p:nvSpPr>
          <p:cNvPr id="3" name="Text 1"/>
          <p:cNvSpPr txBox="1"/>
          <p:nvPr/>
        </p:nvSpPr>
        <p:spPr>
          <a:xfrm>
            <a:off x="548640" y="2697480"/>
            <a:ext cx="594360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Programar hacia atrás</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De la fecha de inicio del CWP a las fechas de ingeniería, procura y construcción</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La lógica «hacia atrás»</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Los tres parámetros del kit</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Ejemplo: estructura metálica del bloque A</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Fechas requeridas de los 10 CWP</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Control de secuencia</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Programar hacia atrás</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72</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Hacia adelante vs. hacia atrás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La pregunta cambia: no «cuándo termina ingeniería», sino «cuándo la necesita construcción»</a:t>
            </a:r>
            <a:endParaRPr lang="en-US" sz="1500" dirty="0"/>
          </a:p>
        </p:txBody>
      </p:sp>
      <p:sp>
        <p:nvSpPr>
          <p:cNvPr id="4" name="Shape 2"/>
          <p:cNvSpPr/>
          <p:nvPr/>
        </p:nvSpPr>
        <p:spPr>
          <a:xfrm>
            <a:off x="548640" y="1554480"/>
            <a:ext cx="5364328" cy="4709160"/>
          </a:xfrm>
          <a:prstGeom prst="roundRect">
            <a:avLst>
              <a:gd name="adj" fmla="val 1942"/>
            </a:avLst>
          </a:prstGeom>
          <a:solidFill>
            <a:srgbClr val="F4F7FA"/>
          </a:solidFill>
          <a:ln w="9525">
            <a:solidFill>
              <a:srgbClr val="DDE4EC"/>
            </a:solidFill>
            <a:prstDash val="solid"/>
          </a:ln>
        </p:spPr>
      </p:sp>
      <p:sp>
        <p:nvSpPr>
          <p:cNvPr id="5" name="Shape 3"/>
          <p:cNvSpPr/>
          <p:nvPr/>
        </p:nvSpPr>
        <p:spPr>
          <a:xfrm>
            <a:off x="822960" y="1810512"/>
            <a:ext cx="566928" cy="56692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50519" y="1938071"/>
            <a:ext cx="311810" cy="311810"/>
          </a:xfrm>
          <a:prstGeom prst="rect">
            <a:avLst/>
          </a:prstGeom>
        </p:spPr>
      </p:pic>
      <p:sp>
        <p:nvSpPr>
          <p:cNvPr id="7" name="Text 4"/>
          <p:cNvSpPr txBox="1"/>
          <p:nvPr/>
        </p:nvSpPr>
        <p:spPr>
          <a:xfrm>
            <a:off x="1554480" y="1810512"/>
            <a:ext cx="4084168" cy="566928"/>
          </a:xfrm>
          <a:prstGeom prst="rect">
            <a:avLst/>
          </a:prstGeom>
          <a:noFill/>
          <a:ln/>
        </p:spPr>
        <p:txBody>
          <a:bodyPr wrap="square" lIns="0" tIns="0" rIns="0" bIns="0" rtlCol="0" anchor="ctr"/>
          <a:lstStyle/>
          <a:p>
            <a:pPr indent="0" marL="0">
              <a:buNone/>
            </a:pPr>
            <a:r>
              <a:rPr lang="en-US" sz="2100" b="1" dirty="0">
                <a:solidFill>
                  <a:srgbClr val="D03B3B"/>
                </a:solidFill>
                <a:latin typeface="Calibri" pitchFamily="34" charset="0"/>
                <a:ea typeface="Calibri" pitchFamily="34" charset="-122"/>
                <a:cs typeface="Calibri" pitchFamily="34" charset="-120"/>
              </a:rPr>
              <a:t>Programar hacia adelante</a:t>
            </a:r>
            <a:endParaRPr lang="en-US" sz="2100" dirty="0"/>
          </a:p>
        </p:txBody>
      </p:sp>
      <p:sp>
        <p:nvSpPr>
          <p:cNvPr id="8" name="Text 5"/>
          <p:cNvSpPr txBox="1"/>
          <p:nvPr/>
        </p:nvSpPr>
        <p:spPr>
          <a:xfrm>
            <a:off x="868680"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Ingeniería estima cuándo termina cada disciplina.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Procura compra cuando recibe la ingeniería.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Construcción empieza cuando llega todo.</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El resultado: fechas de construcción que dependen del ritmo de otros.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Los frentes esperan planos o materiales.</a:t>
            </a:r>
            <a:endParaRPr lang="en-US" sz="1600" dirty="0"/>
          </a:p>
        </p:txBody>
      </p:sp>
      <p:sp>
        <p:nvSpPr>
          <p:cNvPr id="9" name="Shape 6"/>
          <p:cNvSpPr/>
          <p:nvPr/>
        </p:nvSpPr>
        <p:spPr>
          <a:xfrm>
            <a:off x="6278728" y="1554480"/>
            <a:ext cx="5364328" cy="4709160"/>
          </a:xfrm>
          <a:prstGeom prst="roundRect">
            <a:avLst>
              <a:gd name="adj" fmla="val 1942"/>
            </a:avLst>
          </a:prstGeom>
          <a:solidFill>
            <a:srgbClr val="F4F7FA"/>
          </a:solidFill>
          <a:ln w="9525">
            <a:solidFill>
              <a:srgbClr val="DDE4EC"/>
            </a:solidFill>
            <a:prstDash val="solid"/>
          </a:ln>
        </p:spPr>
      </p:sp>
      <p:sp>
        <p:nvSpPr>
          <p:cNvPr id="10" name="Shape 7"/>
          <p:cNvSpPr/>
          <p:nvPr/>
        </p:nvSpPr>
        <p:spPr>
          <a:xfrm>
            <a:off x="6553048" y="1810512"/>
            <a:ext cx="566928" cy="56692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80606" y="1938071"/>
            <a:ext cx="311810" cy="311810"/>
          </a:xfrm>
          <a:prstGeom prst="rect">
            <a:avLst/>
          </a:prstGeom>
        </p:spPr>
      </p:pic>
      <p:sp>
        <p:nvSpPr>
          <p:cNvPr id="12" name="Text 8"/>
          <p:cNvSpPr txBox="1"/>
          <p:nvPr/>
        </p:nvSpPr>
        <p:spPr>
          <a:xfrm>
            <a:off x="7284568" y="1810512"/>
            <a:ext cx="4084168" cy="566928"/>
          </a:xfrm>
          <a:prstGeom prst="rect">
            <a:avLst/>
          </a:prstGeom>
          <a:noFill/>
          <a:ln/>
        </p:spPr>
        <p:txBody>
          <a:bodyPr wrap="square" lIns="0" tIns="0" rIns="0" bIns="0" rtlCol="0" anchor="ctr"/>
          <a:lstStyle/>
          <a:p>
            <a:pPr indent="0" marL="0">
              <a:buNone/>
            </a:pPr>
            <a:r>
              <a:rPr lang="en-US" sz="2100" b="1" dirty="0">
                <a:solidFill>
                  <a:srgbClr val="0CA30C"/>
                </a:solidFill>
                <a:latin typeface="Calibri" pitchFamily="34" charset="0"/>
                <a:ea typeface="Calibri" pitchFamily="34" charset="-122"/>
                <a:cs typeface="Calibri" pitchFamily="34" charset="-120"/>
              </a:rPr>
              <a:t>Programar hacia atrás (AWP)</a:t>
            </a:r>
            <a:endParaRPr lang="en-US" sz="2100" dirty="0"/>
          </a:p>
        </p:txBody>
      </p:sp>
      <p:sp>
        <p:nvSpPr>
          <p:cNvPr id="13" name="Text 9"/>
          <p:cNvSpPr txBox="1"/>
          <p:nvPr/>
        </p:nvSpPr>
        <p:spPr>
          <a:xfrm>
            <a:off x="6598768"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El PoC fija la fecha de inicio de cada CWP.</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Desde esa fecha se restan las anticipaciones necesarias.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Resultan las fechas requeridas: EWP IFC, emisión del CWP y RAS.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Esas fechas entran al contrato y al plan de ingeniería y procura (R02).</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Se miden con K01 (EWP a tiempo) y K02 (materiales al liberar).</a:t>
            </a:r>
            <a:endParaRPr lang="en-US" sz="1600" dirty="0"/>
          </a:p>
        </p:txBody>
      </p:sp>
      <p:sp>
        <p:nvSpPr>
          <p:cNvPr id="14"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Programar hacia atrás</a:t>
            </a:r>
            <a:endParaRPr lang="en-US" sz="1000" dirty="0"/>
          </a:p>
        </p:txBody>
      </p:sp>
      <p:sp>
        <p:nvSpPr>
          <p:cNvPr id="15"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Los tres parámetros del kit</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Fila 3 de Path_of_Construction.xlsx: se ajustan por proyecto</a:t>
            </a:r>
            <a:endParaRPr lang="en-US" sz="1500" dirty="0"/>
          </a:p>
        </p:txBody>
      </p:sp>
      <p:sp>
        <p:nvSpPr>
          <p:cNvPr id="4" name="Shape 2"/>
          <p:cNvSpPr/>
          <p:nvPr/>
        </p:nvSpPr>
        <p:spPr>
          <a:xfrm>
            <a:off x="548640" y="1600200"/>
            <a:ext cx="2567864" cy="4526280"/>
          </a:xfrm>
          <a:prstGeom prst="roundRect">
            <a:avLst>
              <a:gd name="adj" fmla="val 2849"/>
            </a:avLst>
          </a:prstGeom>
          <a:solidFill>
            <a:srgbClr val="F4F7FA"/>
          </a:solidFill>
          <a:ln w="9525">
            <a:solidFill>
              <a:srgbClr val="DDE4EC"/>
            </a:solidFill>
            <a:prstDash val="solid"/>
          </a:ln>
        </p:spPr>
      </p:sp>
      <p:sp>
        <p:nvSpPr>
          <p:cNvPr id="5" name="Shape 3"/>
          <p:cNvSpPr/>
          <p:nvPr/>
        </p:nvSpPr>
        <p:spPr>
          <a:xfrm>
            <a:off x="777240" y="1828800"/>
            <a:ext cx="640080" cy="640080"/>
          </a:xfrm>
          <a:prstGeom prst="ellipse">
            <a:avLst/>
          </a:prstGeom>
          <a:solidFill>
            <a:srgbClr val="1F4E79"/>
          </a:solidFill>
          <a:ln w="12700">
            <a:solidFill>
              <a:srgbClr val="1F4E79"/>
            </a:solidFill>
            <a:prstDash val="solid"/>
          </a:ln>
        </p:spPr>
      </p:sp>
      <p:pic>
        <p:nvPicPr>
          <p:cNvPr id="6" name="Image 0" descr="preencoded.png">    </p:cNvPr>
          <p:cNvPicPr>
            <a:picLocks noChangeAspect="1"/>
          </p:cNvPicPr>
          <p:nvPr/>
        </p:nvPicPr>
        <p:blipFill>
          <a:blip r:embed="rId1"/>
          <a:stretch>
            <a:fillRect/>
          </a:stretch>
        </p:blipFill>
        <p:spPr>
          <a:xfrm>
            <a:off x="921258" y="1972818"/>
            <a:ext cx="352044" cy="352044"/>
          </a:xfrm>
          <a:prstGeom prst="rect">
            <a:avLst/>
          </a:prstGeom>
        </p:spPr>
      </p:pic>
      <p:sp>
        <p:nvSpPr>
          <p:cNvPr id="7" name="Text 4"/>
          <p:cNvSpPr txBox="1"/>
          <p:nvPr/>
        </p:nvSpPr>
        <p:spPr>
          <a:xfrm>
            <a:off x="777240" y="2606040"/>
            <a:ext cx="2110664" cy="1005840"/>
          </a:xfrm>
          <a:prstGeom prst="rect">
            <a:avLst/>
          </a:prstGeom>
          <a:noFill/>
          <a:ln/>
        </p:spPr>
        <p:txBody>
          <a:bodyPr wrap="square" lIns="0" tIns="0" rIns="0" bIns="0" rtlCol="0" anchor="ctr"/>
          <a:lstStyle/>
          <a:p>
            <a:pPr indent="0" marL="0">
              <a:buNone/>
            </a:pPr>
            <a:r>
              <a:rPr lang="en-US" sz="5600" b="1" dirty="0">
                <a:solidFill>
                  <a:srgbClr val="163A5C"/>
                </a:solidFill>
                <a:latin typeface="Calibri" pitchFamily="34" charset="0"/>
                <a:ea typeface="Calibri" pitchFamily="34" charset="-122"/>
                <a:cs typeface="Calibri" pitchFamily="34" charset="-120"/>
              </a:rPr>
              <a:t>13</a:t>
            </a:r>
            <a:pPr indent="0" marL="0">
              <a:buNone/>
            </a:pPr>
            <a:r>
              <a:rPr lang="en-US" sz="1800" dirty="0">
                <a:solidFill>
                  <a:srgbClr val="56606B"/>
                </a:solidFill>
                <a:latin typeface="Calibri" pitchFamily="34" charset="0"/>
                <a:ea typeface="Calibri" pitchFamily="34" charset="-122"/>
                <a:cs typeface="Calibri" pitchFamily="34" charset="-120"/>
              </a:rPr>
              <a:t> semanas</a:t>
            </a:r>
            <a:endParaRPr lang="en-US" sz="5600" dirty="0"/>
          </a:p>
        </p:txBody>
      </p:sp>
      <p:sp>
        <p:nvSpPr>
          <p:cNvPr id="8" name="Text 5"/>
          <p:cNvSpPr txBox="1"/>
          <p:nvPr/>
        </p:nvSpPr>
        <p:spPr>
          <a:xfrm>
            <a:off x="777240" y="3657600"/>
            <a:ext cx="2110664" cy="411480"/>
          </a:xfrm>
          <a:prstGeom prst="rect">
            <a:avLst/>
          </a:prstGeom>
          <a:noFill/>
          <a:ln/>
        </p:spPr>
        <p:txBody>
          <a:bodyPr wrap="square" lIns="0" tIns="0" rIns="0" bIns="0" rtlCol="0" anchor="t"/>
          <a:lstStyle/>
          <a:p>
            <a:pPr indent="0" marL="0">
              <a:buNone/>
            </a:pPr>
            <a:r>
              <a:rPr lang="en-US" sz="1700" b="1" dirty="0">
                <a:solidFill>
                  <a:srgbClr val="1B1F24"/>
                </a:solidFill>
                <a:latin typeface="Calibri" pitchFamily="34" charset="0"/>
                <a:ea typeface="Calibri" pitchFamily="34" charset="-122"/>
                <a:cs typeface="Calibri" pitchFamily="34" charset="-120"/>
              </a:rPr>
              <a:t>Anticipación EWP</a:t>
            </a:r>
            <a:endParaRPr lang="en-US" sz="1700" dirty="0"/>
          </a:p>
        </p:txBody>
      </p:sp>
      <p:sp>
        <p:nvSpPr>
          <p:cNvPr id="9" name="Text 6"/>
          <p:cNvSpPr txBox="1"/>
          <p:nvPr/>
        </p:nvSpPr>
        <p:spPr>
          <a:xfrm>
            <a:off x="777240" y="4114800"/>
            <a:ext cx="2110664" cy="1828800"/>
          </a:xfrm>
          <a:prstGeom prst="rect">
            <a:avLst/>
          </a:prstGeom>
          <a:noFill/>
          <a:ln/>
        </p:spPr>
        <p:txBody>
          <a:bodyPr wrap="square" lIns="0" tIns="0" rIns="0" bIns="0" rtlCol="0" anchor="t"/>
          <a:lstStyle/>
          <a:p>
            <a:pPr indent="0" marL="0">
              <a:buNone/>
            </a:pPr>
            <a:r>
              <a:rPr lang="en-US" sz="1450" dirty="0">
                <a:solidFill>
                  <a:srgbClr val="56606B"/>
                </a:solidFill>
                <a:latin typeface="Calibri" pitchFamily="34" charset="0"/>
                <a:ea typeface="Calibri" pitchFamily="34" charset="-122"/>
                <a:cs typeface="Calibri" pitchFamily="34" charset="-120"/>
              </a:rPr>
              <a:t>EWP IFC requerido = inicio del CWP − 13 semanas (≈ 3 meses para fabricar).</a:t>
            </a:r>
            <a:endParaRPr lang="en-US" sz="1450" dirty="0"/>
          </a:p>
        </p:txBody>
      </p:sp>
      <p:sp>
        <p:nvSpPr>
          <p:cNvPr id="10" name="Shape 7"/>
          <p:cNvSpPr/>
          <p:nvPr/>
        </p:nvSpPr>
        <p:spPr>
          <a:xfrm>
            <a:off x="3390824" y="1600200"/>
            <a:ext cx="2567864" cy="4526280"/>
          </a:xfrm>
          <a:prstGeom prst="roundRect">
            <a:avLst>
              <a:gd name="adj" fmla="val 2849"/>
            </a:avLst>
          </a:prstGeom>
          <a:solidFill>
            <a:srgbClr val="F4F7FA"/>
          </a:solidFill>
          <a:ln w="9525">
            <a:solidFill>
              <a:srgbClr val="DDE4EC"/>
            </a:solidFill>
            <a:prstDash val="solid"/>
          </a:ln>
        </p:spPr>
      </p:sp>
      <p:sp>
        <p:nvSpPr>
          <p:cNvPr id="11" name="Shape 8"/>
          <p:cNvSpPr/>
          <p:nvPr/>
        </p:nvSpPr>
        <p:spPr>
          <a:xfrm>
            <a:off x="3619424" y="1828800"/>
            <a:ext cx="640080" cy="640080"/>
          </a:xfrm>
          <a:prstGeom prst="ellipse">
            <a:avLst/>
          </a:prstGeom>
          <a:solidFill>
            <a:srgbClr val="2A78D6"/>
          </a:solidFill>
          <a:ln w="12700">
            <a:solidFill>
              <a:srgbClr val="2A78D6"/>
            </a:solidFill>
            <a:prstDash val="solid"/>
          </a:ln>
        </p:spPr>
      </p:sp>
      <p:pic>
        <p:nvPicPr>
          <p:cNvPr id="12" name="Image 1" descr="preencoded.png">    </p:cNvPr>
          <p:cNvPicPr>
            <a:picLocks noChangeAspect="1"/>
          </p:cNvPicPr>
          <p:nvPr/>
        </p:nvPicPr>
        <p:blipFill>
          <a:blip r:embed="rId2"/>
          <a:stretch>
            <a:fillRect/>
          </a:stretch>
        </p:blipFill>
        <p:spPr>
          <a:xfrm>
            <a:off x="3763442" y="1972818"/>
            <a:ext cx="352044" cy="352044"/>
          </a:xfrm>
          <a:prstGeom prst="rect">
            <a:avLst/>
          </a:prstGeom>
        </p:spPr>
      </p:pic>
      <p:sp>
        <p:nvSpPr>
          <p:cNvPr id="13" name="Text 9"/>
          <p:cNvSpPr txBox="1"/>
          <p:nvPr/>
        </p:nvSpPr>
        <p:spPr>
          <a:xfrm>
            <a:off x="3619424" y="2606040"/>
            <a:ext cx="2110664" cy="1005840"/>
          </a:xfrm>
          <a:prstGeom prst="rect">
            <a:avLst/>
          </a:prstGeom>
          <a:noFill/>
          <a:ln/>
        </p:spPr>
        <p:txBody>
          <a:bodyPr wrap="square" lIns="0" tIns="0" rIns="0" bIns="0" rtlCol="0" anchor="ctr"/>
          <a:lstStyle/>
          <a:p>
            <a:pPr indent="0" marL="0">
              <a:buNone/>
            </a:pPr>
            <a:r>
              <a:rPr lang="en-US" sz="5600" b="1" dirty="0">
                <a:solidFill>
                  <a:srgbClr val="163A5C"/>
                </a:solidFill>
                <a:latin typeface="Calibri" pitchFamily="34" charset="0"/>
                <a:ea typeface="Calibri" pitchFamily="34" charset="-122"/>
                <a:cs typeface="Calibri" pitchFamily="34" charset="-120"/>
              </a:rPr>
              <a:t>10</a:t>
            </a:r>
            <a:pPr indent="0" marL="0">
              <a:buNone/>
            </a:pPr>
            <a:r>
              <a:rPr lang="en-US" sz="1800" dirty="0">
                <a:solidFill>
                  <a:srgbClr val="56606B"/>
                </a:solidFill>
                <a:latin typeface="Calibri" pitchFamily="34" charset="0"/>
                <a:ea typeface="Calibri" pitchFamily="34" charset="-122"/>
                <a:cs typeface="Calibri" pitchFamily="34" charset="-120"/>
              </a:rPr>
              <a:t> semanas</a:t>
            </a:r>
            <a:endParaRPr lang="en-US" sz="5600" dirty="0"/>
          </a:p>
        </p:txBody>
      </p:sp>
      <p:sp>
        <p:nvSpPr>
          <p:cNvPr id="14" name="Text 10"/>
          <p:cNvSpPr txBox="1"/>
          <p:nvPr/>
        </p:nvSpPr>
        <p:spPr>
          <a:xfrm>
            <a:off x="3619424" y="3657600"/>
            <a:ext cx="2110664" cy="411480"/>
          </a:xfrm>
          <a:prstGeom prst="rect">
            <a:avLst/>
          </a:prstGeom>
          <a:noFill/>
          <a:ln/>
        </p:spPr>
        <p:txBody>
          <a:bodyPr wrap="square" lIns="0" tIns="0" rIns="0" bIns="0" rtlCol="0" anchor="t"/>
          <a:lstStyle/>
          <a:p>
            <a:pPr indent="0" marL="0">
              <a:buNone/>
            </a:pPr>
            <a:r>
              <a:rPr lang="en-US" sz="1700" b="1" dirty="0">
                <a:solidFill>
                  <a:srgbClr val="1B1F24"/>
                </a:solidFill>
                <a:latin typeface="Calibri" pitchFamily="34" charset="0"/>
                <a:ea typeface="Calibri" pitchFamily="34" charset="-122"/>
                <a:cs typeface="Calibri" pitchFamily="34" charset="-120"/>
              </a:rPr>
              <a:t>Anticipación CWP</a:t>
            </a:r>
            <a:endParaRPr lang="en-US" sz="1700" dirty="0"/>
          </a:p>
        </p:txBody>
      </p:sp>
      <p:sp>
        <p:nvSpPr>
          <p:cNvPr id="15" name="Text 11"/>
          <p:cNvSpPr txBox="1"/>
          <p:nvPr/>
        </p:nvSpPr>
        <p:spPr>
          <a:xfrm>
            <a:off x="3619424" y="4114800"/>
            <a:ext cx="2110664" cy="1828800"/>
          </a:xfrm>
          <a:prstGeom prst="rect">
            <a:avLst/>
          </a:prstGeom>
          <a:noFill/>
          <a:ln/>
        </p:spPr>
        <p:txBody>
          <a:bodyPr wrap="square" lIns="0" tIns="0" rIns="0" bIns="0" rtlCol="0" anchor="t"/>
          <a:lstStyle/>
          <a:p>
            <a:pPr indent="0" marL="0">
              <a:buNone/>
            </a:pPr>
            <a:r>
              <a:rPr lang="en-US" sz="1450" dirty="0">
                <a:solidFill>
                  <a:srgbClr val="56606B"/>
                </a:solidFill>
                <a:latin typeface="Calibri" pitchFamily="34" charset="0"/>
                <a:ea typeface="Calibri" pitchFamily="34" charset="-122"/>
                <a:cs typeface="Calibri" pitchFamily="34" charset="-120"/>
              </a:rPr>
              <a:t>Emisión del CWP = inicio − 10 semanas: tiempo para armar IWP y levantar restricciones.</a:t>
            </a:r>
            <a:endParaRPr lang="en-US" sz="1450" dirty="0"/>
          </a:p>
        </p:txBody>
      </p:sp>
      <p:sp>
        <p:nvSpPr>
          <p:cNvPr id="16" name="Shape 12"/>
          <p:cNvSpPr/>
          <p:nvPr/>
        </p:nvSpPr>
        <p:spPr>
          <a:xfrm>
            <a:off x="6233008" y="1600200"/>
            <a:ext cx="2567864" cy="4526280"/>
          </a:xfrm>
          <a:prstGeom prst="roundRect">
            <a:avLst>
              <a:gd name="adj" fmla="val 2849"/>
            </a:avLst>
          </a:prstGeom>
          <a:solidFill>
            <a:srgbClr val="F4F7FA"/>
          </a:solidFill>
          <a:ln w="9525">
            <a:solidFill>
              <a:srgbClr val="DDE4EC"/>
            </a:solidFill>
            <a:prstDash val="solid"/>
          </a:ln>
        </p:spPr>
      </p:sp>
      <p:sp>
        <p:nvSpPr>
          <p:cNvPr id="17" name="Shape 13"/>
          <p:cNvSpPr/>
          <p:nvPr/>
        </p:nvSpPr>
        <p:spPr>
          <a:xfrm>
            <a:off x="6461608" y="1828800"/>
            <a:ext cx="640080" cy="640080"/>
          </a:xfrm>
          <a:prstGeom prst="ellipse">
            <a:avLst/>
          </a:prstGeom>
          <a:solidFill>
            <a:srgbClr val="1BAF7A"/>
          </a:solidFill>
          <a:ln w="12700">
            <a:solidFill>
              <a:srgbClr val="1BAF7A"/>
            </a:solidFill>
            <a:prstDash val="solid"/>
          </a:ln>
        </p:spPr>
      </p:sp>
      <p:pic>
        <p:nvPicPr>
          <p:cNvPr id="18" name="Image 2" descr="preencoded.png">    </p:cNvPr>
          <p:cNvPicPr>
            <a:picLocks noChangeAspect="1"/>
          </p:cNvPicPr>
          <p:nvPr/>
        </p:nvPicPr>
        <p:blipFill>
          <a:blip r:embed="rId3"/>
          <a:stretch>
            <a:fillRect/>
          </a:stretch>
        </p:blipFill>
        <p:spPr>
          <a:xfrm>
            <a:off x="6605626" y="1972818"/>
            <a:ext cx="352044" cy="352044"/>
          </a:xfrm>
          <a:prstGeom prst="rect">
            <a:avLst/>
          </a:prstGeom>
        </p:spPr>
      </p:pic>
      <p:sp>
        <p:nvSpPr>
          <p:cNvPr id="19" name="Text 14"/>
          <p:cNvSpPr txBox="1"/>
          <p:nvPr/>
        </p:nvSpPr>
        <p:spPr>
          <a:xfrm>
            <a:off x="6461608" y="2606040"/>
            <a:ext cx="2110664" cy="1005840"/>
          </a:xfrm>
          <a:prstGeom prst="rect">
            <a:avLst/>
          </a:prstGeom>
          <a:noFill/>
          <a:ln/>
        </p:spPr>
        <p:txBody>
          <a:bodyPr wrap="square" lIns="0" tIns="0" rIns="0" bIns="0" rtlCol="0" anchor="ctr"/>
          <a:lstStyle/>
          <a:p>
            <a:pPr indent="0" marL="0">
              <a:buNone/>
            </a:pPr>
            <a:r>
              <a:rPr lang="en-US" sz="5600" b="1" dirty="0">
                <a:solidFill>
                  <a:srgbClr val="163A5C"/>
                </a:solidFill>
                <a:latin typeface="Calibri" pitchFamily="34" charset="0"/>
                <a:ea typeface="Calibri" pitchFamily="34" charset="-122"/>
                <a:cs typeface="Calibri" pitchFamily="34" charset="-120"/>
              </a:rPr>
              <a:t>10</a:t>
            </a:r>
            <a:pPr indent="0" marL="0">
              <a:buNone/>
            </a:pPr>
            <a:r>
              <a:rPr lang="en-US" sz="1800" dirty="0">
                <a:solidFill>
                  <a:srgbClr val="56606B"/>
                </a:solidFill>
                <a:latin typeface="Calibri" pitchFamily="34" charset="0"/>
                <a:ea typeface="Calibri" pitchFamily="34" charset="-122"/>
                <a:cs typeface="Calibri" pitchFamily="34" charset="-120"/>
              </a:rPr>
              <a:t> días</a:t>
            </a:r>
            <a:endParaRPr lang="en-US" sz="5600" dirty="0"/>
          </a:p>
        </p:txBody>
      </p:sp>
      <p:sp>
        <p:nvSpPr>
          <p:cNvPr id="20" name="Text 15"/>
          <p:cNvSpPr txBox="1"/>
          <p:nvPr/>
        </p:nvSpPr>
        <p:spPr>
          <a:xfrm>
            <a:off x="6461608" y="3657600"/>
            <a:ext cx="2110664" cy="411480"/>
          </a:xfrm>
          <a:prstGeom prst="rect">
            <a:avLst/>
          </a:prstGeom>
          <a:noFill/>
          <a:ln/>
        </p:spPr>
        <p:txBody>
          <a:bodyPr wrap="square" lIns="0" tIns="0" rIns="0" bIns="0" rtlCol="0" anchor="t"/>
          <a:lstStyle/>
          <a:p>
            <a:pPr indent="0" marL="0">
              <a:buNone/>
            </a:pPr>
            <a:r>
              <a:rPr lang="en-US" sz="1700" b="1" dirty="0">
                <a:solidFill>
                  <a:srgbClr val="1B1F24"/>
                </a:solidFill>
                <a:latin typeface="Calibri" pitchFamily="34" charset="0"/>
                <a:ea typeface="Calibri" pitchFamily="34" charset="-122"/>
                <a:cs typeface="Calibri" pitchFamily="34" charset="-120"/>
              </a:rPr>
              <a:t>Anticipación RAS</a:t>
            </a:r>
            <a:endParaRPr lang="en-US" sz="1700" dirty="0"/>
          </a:p>
        </p:txBody>
      </p:sp>
      <p:sp>
        <p:nvSpPr>
          <p:cNvPr id="21" name="Text 16"/>
          <p:cNvSpPr txBox="1"/>
          <p:nvPr/>
        </p:nvSpPr>
        <p:spPr>
          <a:xfrm>
            <a:off x="6461608" y="4114800"/>
            <a:ext cx="2110664" cy="1828800"/>
          </a:xfrm>
          <a:prstGeom prst="rect">
            <a:avLst/>
          </a:prstGeom>
          <a:noFill/>
          <a:ln/>
        </p:spPr>
        <p:txBody>
          <a:bodyPr wrap="square" lIns="0" tIns="0" rIns="0" bIns="0" rtlCol="0" anchor="t"/>
          <a:lstStyle/>
          <a:p>
            <a:pPr indent="0" marL="0">
              <a:buNone/>
            </a:pPr>
            <a:r>
              <a:rPr lang="en-US" sz="1450" dirty="0">
                <a:solidFill>
                  <a:srgbClr val="56606B"/>
                </a:solidFill>
                <a:latin typeface="Calibri" pitchFamily="34" charset="0"/>
                <a:ea typeface="Calibri" pitchFamily="34" charset="-122"/>
                <a:cs typeface="Calibri" pitchFamily="34" charset="-120"/>
              </a:rPr>
              <a:t>Materiales en obra = inicio − 10 días antes del primer IWP.</a:t>
            </a:r>
            <a:endParaRPr lang="en-US" sz="1450" dirty="0"/>
          </a:p>
        </p:txBody>
      </p:sp>
      <p:sp>
        <p:nvSpPr>
          <p:cNvPr id="22" name="Shape 17"/>
          <p:cNvSpPr/>
          <p:nvPr/>
        </p:nvSpPr>
        <p:spPr>
          <a:xfrm>
            <a:off x="9075191" y="1600200"/>
            <a:ext cx="2567864" cy="4526280"/>
          </a:xfrm>
          <a:prstGeom prst="roundRect">
            <a:avLst>
              <a:gd name="adj" fmla="val 2849"/>
            </a:avLst>
          </a:prstGeom>
          <a:solidFill>
            <a:srgbClr val="F4F7FA"/>
          </a:solidFill>
          <a:ln w="9525">
            <a:solidFill>
              <a:srgbClr val="DDE4EC"/>
            </a:solidFill>
            <a:prstDash val="solid"/>
          </a:ln>
        </p:spPr>
      </p:sp>
      <p:sp>
        <p:nvSpPr>
          <p:cNvPr id="23" name="Shape 18"/>
          <p:cNvSpPr/>
          <p:nvPr/>
        </p:nvSpPr>
        <p:spPr>
          <a:xfrm>
            <a:off x="9303791" y="1828800"/>
            <a:ext cx="640080" cy="640080"/>
          </a:xfrm>
          <a:prstGeom prst="ellipse">
            <a:avLst/>
          </a:prstGeom>
          <a:solidFill>
            <a:srgbClr val="F5A623"/>
          </a:solidFill>
          <a:ln w="12700">
            <a:solidFill>
              <a:srgbClr val="F5A623"/>
            </a:solidFill>
            <a:prstDash val="solid"/>
          </a:ln>
        </p:spPr>
      </p:sp>
      <p:pic>
        <p:nvPicPr>
          <p:cNvPr id="24" name="Image 3" descr="preencoded.png">    </p:cNvPr>
          <p:cNvPicPr>
            <a:picLocks noChangeAspect="1"/>
          </p:cNvPicPr>
          <p:nvPr/>
        </p:nvPicPr>
        <p:blipFill>
          <a:blip r:embed="rId4"/>
          <a:stretch>
            <a:fillRect/>
          </a:stretch>
        </p:blipFill>
        <p:spPr>
          <a:xfrm>
            <a:off x="9447809" y="1972818"/>
            <a:ext cx="352044" cy="352044"/>
          </a:xfrm>
          <a:prstGeom prst="rect">
            <a:avLst/>
          </a:prstGeom>
        </p:spPr>
      </p:pic>
      <p:sp>
        <p:nvSpPr>
          <p:cNvPr id="25" name="Text 19"/>
          <p:cNvSpPr txBox="1"/>
          <p:nvPr/>
        </p:nvSpPr>
        <p:spPr>
          <a:xfrm>
            <a:off x="9303791" y="2606040"/>
            <a:ext cx="2110664" cy="1005840"/>
          </a:xfrm>
          <a:prstGeom prst="rect">
            <a:avLst/>
          </a:prstGeom>
          <a:noFill/>
          <a:ln/>
        </p:spPr>
        <p:txBody>
          <a:bodyPr wrap="square" lIns="0" tIns="0" rIns="0" bIns="0" rtlCol="0" anchor="ctr"/>
          <a:lstStyle/>
          <a:p>
            <a:pPr indent="0" marL="0">
              <a:buNone/>
            </a:pPr>
            <a:r>
              <a:rPr lang="en-US" sz="5600" b="1" dirty="0">
                <a:solidFill>
                  <a:srgbClr val="163A5C"/>
                </a:solidFill>
                <a:latin typeface="Calibri" pitchFamily="34" charset="0"/>
                <a:ea typeface="Calibri" pitchFamily="34" charset="-122"/>
                <a:cs typeface="Calibri" pitchFamily="34" charset="-120"/>
              </a:rPr>
              <a:t>M1</a:t>
            </a:r>
            <a:pPr indent="0" marL="0">
              <a:buNone/>
            </a:pPr>
            <a:r>
              <a:rPr lang="en-US" sz="1800" dirty="0">
                <a:solidFill>
                  <a:srgbClr val="56606B"/>
                </a:solidFill>
                <a:latin typeface="Calibri" pitchFamily="34" charset="0"/>
                <a:ea typeface="Calibri" pitchFamily="34" charset="-122"/>
                <a:cs typeface="Calibri" pitchFamily="34" charset="-120"/>
              </a:rPr>
              <a:t> 01/2027</a:t>
            </a:r>
            <a:endParaRPr lang="en-US" sz="5600" dirty="0"/>
          </a:p>
        </p:txBody>
      </p:sp>
      <p:sp>
        <p:nvSpPr>
          <p:cNvPr id="26" name="Text 20"/>
          <p:cNvSpPr txBox="1"/>
          <p:nvPr/>
        </p:nvSpPr>
        <p:spPr>
          <a:xfrm>
            <a:off x="9303791" y="3657600"/>
            <a:ext cx="2110664" cy="411480"/>
          </a:xfrm>
          <a:prstGeom prst="rect">
            <a:avLst/>
          </a:prstGeom>
          <a:noFill/>
          <a:ln/>
        </p:spPr>
        <p:txBody>
          <a:bodyPr wrap="square" lIns="0" tIns="0" rIns="0" bIns="0" rtlCol="0" anchor="t"/>
          <a:lstStyle/>
          <a:p>
            <a:pPr indent="0" marL="0">
              <a:buNone/>
            </a:pPr>
            <a:r>
              <a:rPr lang="en-US" sz="1700" b="1" dirty="0">
                <a:solidFill>
                  <a:srgbClr val="1B1F24"/>
                </a:solidFill>
                <a:latin typeface="Calibri" pitchFamily="34" charset="0"/>
                <a:ea typeface="Calibri" pitchFamily="34" charset="-122"/>
                <a:cs typeface="Calibri" pitchFamily="34" charset="-120"/>
              </a:rPr>
              <a:t>Mes M1 del proyecto</a:t>
            </a:r>
            <a:endParaRPr lang="en-US" sz="1700" dirty="0"/>
          </a:p>
        </p:txBody>
      </p:sp>
      <p:sp>
        <p:nvSpPr>
          <p:cNvPr id="27" name="Text 21"/>
          <p:cNvSpPr txBox="1"/>
          <p:nvPr/>
        </p:nvSpPr>
        <p:spPr>
          <a:xfrm>
            <a:off x="9303791" y="4114800"/>
            <a:ext cx="2110664" cy="1828800"/>
          </a:xfrm>
          <a:prstGeom prst="rect">
            <a:avLst/>
          </a:prstGeom>
          <a:noFill/>
          <a:ln/>
        </p:spPr>
        <p:txBody>
          <a:bodyPr wrap="square" lIns="0" tIns="0" rIns="0" bIns="0" rtlCol="0" anchor="t"/>
          <a:lstStyle/>
          <a:p>
            <a:pPr indent="0" marL="0">
              <a:buNone/>
            </a:pPr>
            <a:r>
              <a:rPr lang="en-US" sz="1450" dirty="0">
                <a:solidFill>
                  <a:srgbClr val="56606B"/>
                </a:solidFill>
                <a:latin typeface="Calibri" pitchFamily="34" charset="0"/>
                <a:ea typeface="Calibri" pitchFamily="34" charset="-122"/>
                <a:cs typeface="Calibri" pitchFamily="34" charset="-120"/>
              </a:rPr>
              <a:t>Fija el calendario de las columnas M1…M36 del diagrama de barras.</a:t>
            </a:r>
            <a:endParaRPr lang="en-US" sz="1450" dirty="0"/>
          </a:p>
        </p:txBody>
      </p:sp>
      <p:sp>
        <p:nvSpPr>
          <p:cNvPr id="28" name="Text 2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Programar hacia atrás</a:t>
            </a:r>
            <a:endParaRPr lang="en-US" sz="1000" dirty="0"/>
          </a:p>
        </p:txBody>
      </p:sp>
      <p:sp>
        <p:nvSpPr>
          <p:cNvPr id="29" name="Text 2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74</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Las fórmulas de la plantilla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Columnas calculadas de Path_of_Construction.xlsx</a:t>
            </a:r>
            <a:endParaRPr lang="en-US" sz="1500" dirty="0"/>
          </a:p>
        </p:txBody>
      </p:sp>
      <p:sp>
        <p:nvSpPr>
          <p:cNvPr id="4" name="Shape 2"/>
          <p:cNvSpPr/>
          <p:nvPr/>
        </p:nvSpPr>
        <p:spPr>
          <a:xfrm>
            <a:off x="548640" y="1600200"/>
            <a:ext cx="11094415" cy="1234440"/>
          </a:xfrm>
          <a:prstGeom prst="roundRect">
            <a:avLst>
              <a:gd name="adj" fmla="val 8889"/>
            </a:avLst>
          </a:prstGeom>
          <a:solidFill>
            <a:srgbClr val="0F2A43"/>
          </a:solidFill>
          <a:ln w="12700">
            <a:solidFill>
              <a:srgbClr val="0F2A43"/>
            </a:solidFill>
            <a:prstDash val="solid"/>
          </a:ln>
        </p:spPr>
      </p:sp>
      <p:sp>
        <p:nvSpPr>
          <p:cNvPr id="5" name="Text 3"/>
          <p:cNvSpPr txBox="1"/>
          <p:nvPr/>
        </p:nvSpPr>
        <p:spPr>
          <a:xfrm>
            <a:off x="822960" y="1600200"/>
            <a:ext cx="10545775" cy="12344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Fecha requerida = Inicio plan del CWP − anticipación</a:t>
            </a:r>
            <a:endParaRPr lang="en-US" sz="2800" dirty="0"/>
          </a:p>
        </p:txBody>
      </p:sp>
      <p:sp>
        <p:nvSpPr>
          <p:cNvPr id="6" name="Shape 4"/>
          <p:cNvSpPr/>
          <p:nvPr/>
        </p:nvSpPr>
        <p:spPr>
          <a:xfrm>
            <a:off x="548640" y="3108960"/>
            <a:ext cx="5410048" cy="1417320"/>
          </a:xfrm>
          <a:prstGeom prst="roundRect">
            <a:avLst>
              <a:gd name="adj" fmla="val 6452"/>
            </a:avLst>
          </a:prstGeom>
          <a:solidFill>
            <a:srgbClr val="F4F7FA"/>
          </a:solidFill>
          <a:ln w="9525">
            <a:solidFill>
              <a:srgbClr val="DDE4EC"/>
            </a:solidFill>
            <a:prstDash val="solid"/>
          </a:ln>
        </p:spPr>
      </p:sp>
      <p:sp>
        <p:nvSpPr>
          <p:cNvPr id="7" name="Text 5"/>
          <p:cNvSpPr txBox="1"/>
          <p:nvPr/>
        </p:nvSpPr>
        <p:spPr>
          <a:xfrm>
            <a:off x="822960" y="3291840"/>
            <a:ext cx="4861408" cy="1097280"/>
          </a:xfrm>
          <a:prstGeom prst="rect">
            <a:avLst/>
          </a:prstGeom>
          <a:noFill/>
          <a:ln/>
        </p:spPr>
        <p:txBody>
          <a:bodyPr wrap="square" lIns="0" tIns="0" rIns="0" bIns="0" rtlCol="0" anchor="t"/>
          <a:lstStyle/>
          <a:p>
            <a:pPr indent="0" marL="0">
              <a:spcAft>
                <a:spcPts val="400"/>
              </a:spcAft>
              <a:buNone/>
            </a:pPr>
            <a:r>
              <a:rPr lang="en-US" sz="1600" b="1" dirty="0">
                <a:solidFill>
                  <a:srgbClr val="163A5C"/>
                </a:solidFill>
                <a:latin typeface="Calibri" pitchFamily="34" charset="0"/>
                <a:ea typeface="Calibri" pitchFamily="34" charset="-122"/>
                <a:cs typeface="Calibri" pitchFamily="34" charset="-120"/>
              </a:rPr>
              <a:t>Fin plan</a:t>
            </a:r>
            <a:endParaRPr lang="en-US" sz="1600" dirty="0"/>
          </a:p>
          <a:p>
            <a:pPr indent="0" marL="0">
              <a:spcAft>
                <a:spcPts val="400"/>
              </a:spcAft>
              <a:buNone/>
            </a:pPr>
            <a:r>
              <a:rPr lang="en-US" sz="1400" dirty="0">
                <a:solidFill>
                  <a:srgbClr val="1B1F24"/>
                </a:solidFill>
                <a:latin typeface="Calibri" pitchFamily="34" charset="0"/>
                <a:ea typeface="Calibri" pitchFamily="34" charset="-122"/>
                <a:cs typeface="Calibri" pitchFamily="34" charset="-120"/>
              </a:rPr>
              <a:t>Inicio plan + duración (semanas) × 7 días.</a:t>
            </a:r>
            <a:endParaRPr lang="en-US" sz="1600" dirty="0"/>
          </a:p>
        </p:txBody>
      </p:sp>
      <p:sp>
        <p:nvSpPr>
          <p:cNvPr id="8" name="Shape 6"/>
          <p:cNvSpPr/>
          <p:nvPr/>
        </p:nvSpPr>
        <p:spPr>
          <a:xfrm>
            <a:off x="6233008" y="3108960"/>
            <a:ext cx="5410048" cy="1417320"/>
          </a:xfrm>
          <a:prstGeom prst="roundRect">
            <a:avLst>
              <a:gd name="adj" fmla="val 6452"/>
            </a:avLst>
          </a:prstGeom>
          <a:solidFill>
            <a:srgbClr val="F4F7FA"/>
          </a:solidFill>
          <a:ln w="9525">
            <a:solidFill>
              <a:srgbClr val="DDE4EC"/>
            </a:solidFill>
            <a:prstDash val="solid"/>
          </a:ln>
        </p:spPr>
      </p:sp>
      <p:sp>
        <p:nvSpPr>
          <p:cNvPr id="9" name="Text 7"/>
          <p:cNvSpPr txBox="1"/>
          <p:nvPr/>
        </p:nvSpPr>
        <p:spPr>
          <a:xfrm>
            <a:off x="6507328" y="3291840"/>
            <a:ext cx="4861408" cy="1097280"/>
          </a:xfrm>
          <a:prstGeom prst="rect">
            <a:avLst/>
          </a:prstGeom>
          <a:noFill/>
          <a:ln/>
        </p:spPr>
        <p:txBody>
          <a:bodyPr wrap="square" lIns="0" tIns="0" rIns="0" bIns="0" rtlCol="0" anchor="t"/>
          <a:lstStyle/>
          <a:p>
            <a:pPr indent="0" marL="0">
              <a:spcAft>
                <a:spcPts val="400"/>
              </a:spcAft>
              <a:buNone/>
            </a:pPr>
            <a:r>
              <a:rPr lang="en-US" sz="1600" b="1" dirty="0">
                <a:solidFill>
                  <a:srgbClr val="163A5C"/>
                </a:solidFill>
                <a:latin typeface="Calibri" pitchFamily="34" charset="0"/>
                <a:ea typeface="Calibri" pitchFamily="34" charset="-122"/>
                <a:cs typeface="Calibri" pitchFamily="34" charset="-120"/>
              </a:rPr>
              <a:t>EWP IFC requerido</a:t>
            </a:r>
            <a:endParaRPr lang="en-US" sz="1600" dirty="0"/>
          </a:p>
          <a:p>
            <a:pPr indent="0" marL="0">
              <a:spcAft>
                <a:spcPts val="400"/>
              </a:spcAft>
              <a:buNone/>
            </a:pPr>
            <a:r>
              <a:rPr lang="en-US" sz="1400" dirty="0">
                <a:solidFill>
                  <a:srgbClr val="1B1F24"/>
                </a:solidFill>
                <a:latin typeface="Calibri" pitchFamily="34" charset="0"/>
                <a:ea typeface="Calibri" pitchFamily="34" charset="-122"/>
                <a:cs typeface="Calibri" pitchFamily="34" charset="-120"/>
              </a:rPr>
              <a:t>Inicio plan − 13 semanas (anticipación EWP).</a:t>
            </a:r>
            <a:endParaRPr lang="en-US" sz="1600" dirty="0"/>
          </a:p>
        </p:txBody>
      </p:sp>
      <p:sp>
        <p:nvSpPr>
          <p:cNvPr id="10" name="Shape 8"/>
          <p:cNvSpPr/>
          <p:nvPr/>
        </p:nvSpPr>
        <p:spPr>
          <a:xfrm>
            <a:off x="548640" y="4709160"/>
            <a:ext cx="5410048" cy="1417320"/>
          </a:xfrm>
          <a:prstGeom prst="roundRect">
            <a:avLst>
              <a:gd name="adj" fmla="val 6452"/>
            </a:avLst>
          </a:prstGeom>
          <a:solidFill>
            <a:srgbClr val="F4F7FA"/>
          </a:solidFill>
          <a:ln w="9525">
            <a:solidFill>
              <a:srgbClr val="DDE4EC"/>
            </a:solidFill>
            <a:prstDash val="solid"/>
          </a:ln>
        </p:spPr>
      </p:sp>
      <p:sp>
        <p:nvSpPr>
          <p:cNvPr id="11" name="Text 9"/>
          <p:cNvSpPr txBox="1"/>
          <p:nvPr/>
        </p:nvSpPr>
        <p:spPr>
          <a:xfrm>
            <a:off x="822960" y="4892040"/>
            <a:ext cx="4861408" cy="1097280"/>
          </a:xfrm>
          <a:prstGeom prst="rect">
            <a:avLst/>
          </a:prstGeom>
          <a:noFill/>
          <a:ln/>
        </p:spPr>
        <p:txBody>
          <a:bodyPr wrap="square" lIns="0" tIns="0" rIns="0" bIns="0" rtlCol="0" anchor="t"/>
          <a:lstStyle/>
          <a:p>
            <a:pPr indent="0" marL="0">
              <a:spcAft>
                <a:spcPts val="400"/>
              </a:spcAft>
              <a:buNone/>
            </a:pPr>
            <a:r>
              <a:rPr lang="en-US" sz="1600" b="1" dirty="0">
                <a:solidFill>
                  <a:srgbClr val="163A5C"/>
                </a:solidFill>
                <a:latin typeface="Calibri" pitchFamily="34" charset="0"/>
                <a:ea typeface="Calibri" pitchFamily="34" charset="-122"/>
                <a:cs typeface="Calibri" pitchFamily="34" charset="-120"/>
              </a:rPr>
              <a:t>Emisión del CWP</a:t>
            </a:r>
            <a:endParaRPr lang="en-US" sz="1600" dirty="0"/>
          </a:p>
          <a:p>
            <a:pPr indent="0" marL="0">
              <a:spcAft>
                <a:spcPts val="400"/>
              </a:spcAft>
              <a:buNone/>
            </a:pPr>
            <a:r>
              <a:rPr lang="en-US" sz="1400" dirty="0">
                <a:solidFill>
                  <a:srgbClr val="1B1F24"/>
                </a:solidFill>
                <a:latin typeface="Calibri" pitchFamily="34" charset="0"/>
                <a:ea typeface="Calibri" pitchFamily="34" charset="-122"/>
                <a:cs typeface="Calibri" pitchFamily="34" charset="-120"/>
              </a:rPr>
              <a:t>Inicio plan − 10 semanas (anticipación CWP).</a:t>
            </a:r>
            <a:endParaRPr lang="en-US" sz="1600" dirty="0"/>
          </a:p>
        </p:txBody>
      </p:sp>
      <p:sp>
        <p:nvSpPr>
          <p:cNvPr id="12" name="Shape 10"/>
          <p:cNvSpPr/>
          <p:nvPr/>
        </p:nvSpPr>
        <p:spPr>
          <a:xfrm>
            <a:off x="6233008" y="4709160"/>
            <a:ext cx="5410048" cy="1417320"/>
          </a:xfrm>
          <a:prstGeom prst="roundRect">
            <a:avLst>
              <a:gd name="adj" fmla="val 6452"/>
            </a:avLst>
          </a:prstGeom>
          <a:solidFill>
            <a:srgbClr val="F4F7FA"/>
          </a:solidFill>
          <a:ln w="9525">
            <a:solidFill>
              <a:srgbClr val="DDE4EC"/>
            </a:solidFill>
            <a:prstDash val="solid"/>
          </a:ln>
        </p:spPr>
      </p:sp>
      <p:sp>
        <p:nvSpPr>
          <p:cNvPr id="13" name="Text 11"/>
          <p:cNvSpPr txBox="1"/>
          <p:nvPr/>
        </p:nvSpPr>
        <p:spPr>
          <a:xfrm>
            <a:off x="6507328" y="4892040"/>
            <a:ext cx="4861408" cy="1097280"/>
          </a:xfrm>
          <a:prstGeom prst="rect">
            <a:avLst/>
          </a:prstGeom>
          <a:noFill/>
          <a:ln/>
        </p:spPr>
        <p:txBody>
          <a:bodyPr wrap="square" lIns="0" tIns="0" rIns="0" bIns="0" rtlCol="0" anchor="t"/>
          <a:lstStyle/>
          <a:p>
            <a:pPr indent="0" marL="0">
              <a:spcAft>
                <a:spcPts val="400"/>
              </a:spcAft>
              <a:buNone/>
            </a:pPr>
            <a:r>
              <a:rPr lang="en-US" sz="1600" b="1" dirty="0">
                <a:solidFill>
                  <a:srgbClr val="163A5C"/>
                </a:solidFill>
                <a:latin typeface="Calibri" pitchFamily="34" charset="0"/>
                <a:ea typeface="Calibri" pitchFamily="34" charset="-122"/>
                <a:cs typeface="Calibri" pitchFamily="34" charset="-120"/>
              </a:rPr>
              <a:t>Materiales en obra (RAS)</a:t>
            </a:r>
            <a:endParaRPr lang="en-US" sz="1600" dirty="0"/>
          </a:p>
          <a:p>
            <a:pPr indent="0" marL="0">
              <a:spcAft>
                <a:spcPts val="400"/>
              </a:spcAft>
              <a:buNone/>
            </a:pPr>
            <a:r>
              <a:rPr lang="en-US" sz="1400" dirty="0">
                <a:solidFill>
                  <a:srgbClr val="1B1F24"/>
                </a:solidFill>
                <a:latin typeface="Calibri" pitchFamily="34" charset="0"/>
                <a:ea typeface="Calibri" pitchFamily="34" charset="-122"/>
                <a:cs typeface="Calibri" pitchFamily="34" charset="-120"/>
              </a:rPr>
              <a:t>Inicio plan − 10 días (anticipación RAS).</a:t>
            </a:r>
            <a:endParaRPr lang="en-US" sz="1600" dirty="0"/>
          </a:p>
        </p:txBody>
      </p:sp>
      <p:sp>
        <p:nvSpPr>
          <p:cNvPr id="14" name="Text 1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Programar hacia atrás</a:t>
            </a:r>
            <a:endParaRPr lang="en-US" sz="1000" dirty="0"/>
          </a:p>
        </p:txBody>
      </p:sp>
      <p:sp>
        <p:nvSpPr>
          <p:cNvPr id="15" name="Text 1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75</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Ejemplo: CWP-2.01-EST-01</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Estructura metálica del bloque A · 9 600 HH · inicio de montaje 25/04/2028 · 17 semanas</a:t>
            </a:r>
            <a:endParaRPr lang="en-US" sz="1500" dirty="0"/>
          </a:p>
        </p:txBody>
      </p:sp>
      <p:sp>
        <p:nvSpPr>
          <p:cNvPr id="4" name="Shape 2"/>
          <p:cNvSpPr/>
          <p:nvPr/>
        </p:nvSpPr>
        <p:spPr>
          <a:xfrm>
            <a:off x="2028191" y="1755648"/>
            <a:ext cx="0" cy="2834640"/>
          </a:xfrm>
          <a:prstGeom prst="line">
            <a:avLst/>
          </a:prstGeom>
          <a:noFill/>
          <a:ln w="6350">
            <a:solidFill>
              <a:srgbClr val="E9EEF3"/>
            </a:solidFill>
            <a:prstDash val="solid"/>
          </a:ln>
        </p:spPr>
      </p:sp>
      <p:sp>
        <p:nvSpPr>
          <p:cNvPr id="5" name="Text 3"/>
          <p:cNvSpPr txBox="1"/>
          <p:nvPr/>
        </p:nvSpPr>
        <p:spPr>
          <a:xfrm>
            <a:off x="2009903"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feb</a:t>
            </a:r>
            <a:endParaRPr lang="en-US" sz="1000" dirty="0"/>
          </a:p>
        </p:txBody>
      </p:sp>
      <p:sp>
        <p:nvSpPr>
          <p:cNvPr id="6" name="Shape 4"/>
          <p:cNvSpPr/>
          <p:nvPr/>
        </p:nvSpPr>
        <p:spPr>
          <a:xfrm>
            <a:off x="3276467" y="1755648"/>
            <a:ext cx="0" cy="2834640"/>
          </a:xfrm>
          <a:prstGeom prst="line">
            <a:avLst/>
          </a:prstGeom>
          <a:noFill/>
          <a:ln w="6350">
            <a:solidFill>
              <a:srgbClr val="E9EEF3"/>
            </a:solidFill>
            <a:prstDash val="solid"/>
          </a:ln>
        </p:spPr>
      </p:sp>
      <p:sp>
        <p:nvSpPr>
          <p:cNvPr id="7" name="Text 5"/>
          <p:cNvSpPr txBox="1"/>
          <p:nvPr/>
        </p:nvSpPr>
        <p:spPr>
          <a:xfrm>
            <a:off x="3258179"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mar</a:t>
            </a:r>
            <a:endParaRPr lang="en-US" sz="1000" dirty="0"/>
          </a:p>
        </p:txBody>
      </p:sp>
      <p:sp>
        <p:nvSpPr>
          <p:cNvPr id="8" name="Shape 6"/>
          <p:cNvSpPr/>
          <p:nvPr/>
        </p:nvSpPr>
        <p:spPr>
          <a:xfrm>
            <a:off x="4610830" y="1755648"/>
            <a:ext cx="0" cy="2834640"/>
          </a:xfrm>
          <a:prstGeom prst="line">
            <a:avLst/>
          </a:prstGeom>
          <a:noFill/>
          <a:ln w="6350">
            <a:solidFill>
              <a:srgbClr val="E9EEF3"/>
            </a:solidFill>
            <a:prstDash val="solid"/>
          </a:ln>
        </p:spPr>
      </p:sp>
      <p:sp>
        <p:nvSpPr>
          <p:cNvPr id="9" name="Text 7"/>
          <p:cNvSpPr txBox="1"/>
          <p:nvPr/>
        </p:nvSpPr>
        <p:spPr>
          <a:xfrm>
            <a:off x="4592542"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abr</a:t>
            </a:r>
            <a:endParaRPr lang="en-US" sz="1000" dirty="0"/>
          </a:p>
        </p:txBody>
      </p:sp>
      <p:sp>
        <p:nvSpPr>
          <p:cNvPr id="10" name="Shape 8"/>
          <p:cNvSpPr/>
          <p:nvPr/>
        </p:nvSpPr>
        <p:spPr>
          <a:xfrm>
            <a:off x="5902150" y="1755648"/>
            <a:ext cx="0" cy="2834640"/>
          </a:xfrm>
          <a:prstGeom prst="line">
            <a:avLst/>
          </a:prstGeom>
          <a:noFill/>
          <a:ln w="6350">
            <a:solidFill>
              <a:srgbClr val="E9EEF3"/>
            </a:solidFill>
            <a:prstDash val="solid"/>
          </a:ln>
        </p:spPr>
      </p:sp>
      <p:sp>
        <p:nvSpPr>
          <p:cNvPr id="11" name="Text 9"/>
          <p:cNvSpPr txBox="1"/>
          <p:nvPr/>
        </p:nvSpPr>
        <p:spPr>
          <a:xfrm>
            <a:off x="5883862"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may</a:t>
            </a:r>
            <a:endParaRPr lang="en-US" sz="1000" dirty="0"/>
          </a:p>
        </p:txBody>
      </p:sp>
      <p:sp>
        <p:nvSpPr>
          <p:cNvPr id="12" name="Shape 10"/>
          <p:cNvSpPr/>
          <p:nvPr/>
        </p:nvSpPr>
        <p:spPr>
          <a:xfrm>
            <a:off x="7236513" y="1755648"/>
            <a:ext cx="0" cy="2834640"/>
          </a:xfrm>
          <a:prstGeom prst="line">
            <a:avLst/>
          </a:prstGeom>
          <a:noFill/>
          <a:ln w="6350">
            <a:solidFill>
              <a:srgbClr val="E9EEF3"/>
            </a:solidFill>
            <a:prstDash val="solid"/>
          </a:ln>
        </p:spPr>
      </p:sp>
      <p:sp>
        <p:nvSpPr>
          <p:cNvPr id="13" name="Text 11"/>
          <p:cNvSpPr txBox="1"/>
          <p:nvPr/>
        </p:nvSpPr>
        <p:spPr>
          <a:xfrm>
            <a:off x="7218225"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jun</a:t>
            </a:r>
            <a:endParaRPr lang="en-US" sz="1000" dirty="0"/>
          </a:p>
        </p:txBody>
      </p:sp>
      <p:sp>
        <p:nvSpPr>
          <p:cNvPr id="14" name="Shape 12"/>
          <p:cNvSpPr/>
          <p:nvPr/>
        </p:nvSpPr>
        <p:spPr>
          <a:xfrm>
            <a:off x="8527832" y="1755648"/>
            <a:ext cx="0" cy="2834640"/>
          </a:xfrm>
          <a:prstGeom prst="line">
            <a:avLst/>
          </a:prstGeom>
          <a:noFill/>
          <a:ln w="6350">
            <a:solidFill>
              <a:srgbClr val="E9EEF3"/>
            </a:solidFill>
            <a:prstDash val="solid"/>
          </a:ln>
        </p:spPr>
      </p:sp>
      <p:sp>
        <p:nvSpPr>
          <p:cNvPr id="15" name="Text 13"/>
          <p:cNvSpPr txBox="1"/>
          <p:nvPr/>
        </p:nvSpPr>
        <p:spPr>
          <a:xfrm>
            <a:off x="8509544"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jul</a:t>
            </a:r>
            <a:endParaRPr lang="en-US" sz="1000" dirty="0"/>
          </a:p>
        </p:txBody>
      </p:sp>
      <p:sp>
        <p:nvSpPr>
          <p:cNvPr id="16" name="Shape 14"/>
          <p:cNvSpPr/>
          <p:nvPr/>
        </p:nvSpPr>
        <p:spPr>
          <a:xfrm>
            <a:off x="9862196" y="1755648"/>
            <a:ext cx="0" cy="2834640"/>
          </a:xfrm>
          <a:prstGeom prst="line">
            <a:avLst/>
          </a:prstGeom>
          <a:noFill/>
          <a:ln w="6350">
            <a:solidFill>
              <a:srgbClr val="E9EEF3"/>
            </a:solidFill>
            <a:prstDash val="solid"/>
          </a:ln>
        </p:spPr>
      </p:sp>
      <p:sp>
        <p:nvSpPr>
          <p:cNvPr id="17" name="Text 15"/>
          <p:cNvSpPr txBox="1"/>
          <p:nvPr/>
        </p:nvSpPr>
        <p:spPr>
          <a:xfrm>
            <a:off x="9843908"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ago</a:t>
            </a:r>
            <a:endParaRPr lang="en-US" sz="1000" dirty="0"/>
          </a:p>
        </p:txBody>
      </p:sp>
      <p:sp>
        <p:nvSpPr>
          <p:cNvPr id="18" name="Shape 16"/>
          <p:cNvSpPr/>
          <p:nvPr/>
        </p:nvSpPr>
        <p:spPr>
          <a:xfrm>
            <a:off x="11196559" y="1755648"/>
            <a:ext cx="0" cy="2834640"/>
          </a:xfrm>
          <a:prstGeom prst="line">
            <a:avLst/>
          </a:prstGeom>
          <a:noFill/>
          <a:ln w="6350">
            <a:solidFill>
              <a:srgbClr val="E9EEF3"/>
            </a:solidFill>
            <a:prstDash val="solid"/>
          </a:ln>
        </p:spPr>
      </p:sp>
      <p:sp>
        <p:nvSpPr>
          <p:cNvPr id="19" name="Text 17"/>
          <p:cNvSpPr txBox="1"/>
          <p:nvPr/>
        </p:nvSpPr>
        <p:spPr>
          <a:xfrm>
            <a:off x="11178271"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sep</a:t>
            </a:r>
            <a:endParaRPr lang="en-US" sz="1000" dirty="0"/>
          </a:p>
        </p:txBody>
      </p:sp>
      <p:sp>
        <p:nvSpPr>
          <p:cNvPr id="20" name="Shape 18"/>
          <p:cNvSpPr/>
          <p:nvPr/>
        </p:nvSpPr>
        <p:spPr>
          <a:xfrm>
            <a:off x="822960" y="3246120"/>
            <a:ext cx="10545775" cy="0"/>
          </a:xfrm>
          <a:prstGeom prst="line">
            <a:avLst/>
          </a:prstGeom>
          <a:noFill/>
          <a:ln w="38100">
            <a:solidFill>
              <a:srgbClr val="B9CCE0"/>
            </a:solidFill>
            <a:prstDash val="solid"/>
          </a:ln>
        </p:spPr>
      </p:sp>
      <p:sp>
        <p:nvSpPr>
          <p:cNvPr id="21" name="Shape 19"/>
          <p:cNvSpPr/>
          <p:nvPr/>
        </p:nvSpPr>
        <p:spPr>
          <a:xfrm>
            <a:off x="1726884" y="1874520"/>
            <a:ext cx="0" cy="1371600"/>
          </a:xfrm>
          <a:prstGeom prst="line">
            <a:avLst/>
          </a:prstGeom>
          <a:noFill/>
          <a:ln w="15875">
            <a:solidFill>
              <a:srgbClr val="1F4E79"/>
            </a:solidFill>
            <a:prstDash val="dash"/>
          </a:ln>
        </p:spPr>
      </p:sp>
      <p:sp>
        <p:nvSpPr>
          <p:cNvPr id="22" name="Shape 20"/>
          <p:cNvSpPr/>
          <p:nvPr/>
        </p:nvSpPr>
        <p:spPr>
          <a:xfrm>
            <a:off x="1571436" y="3090672"/>
            <a:ext cx="310896" cy="310896"/>
          </a:xfrm>
          <a:prstGeom prst="diamond">
            <a:avLst/>
          </a:prstGeom>
          <a:solidFill>
            <a:srgbClr val="1F4E79"/>
          </a:solidFill>
          <a:ln w="9525">
            <a:solidFill>
              <a:srgbClr val="0F2A43"/>
            </a:solidFill>
            <a:prstDash val="solid"/>
          </a:ln>
        </p:spPr>
      </p:sp>
      <p:sp>
        <p:nvSpPr>
          <p:cNvPr id="23" name="Text 21"/>
          <p:cNvSpPr txBox="1"/>
          <p:nvPr/>
        </p:nvSpPr>
        <p:spPr>
          <a:xfrm>
            <a:off x="583884" y="3520440"/>
            <a:ext cx="2286000" cy="868680"/>
          </a:xfrm>
          <a:prstGeom prst="rect">
            <a:avLst/>
          </a:prstGeom>
          <a:noFill/>
          <a:ln/>
        </p:spPr>
        <p:txBody>
          <a:bodyPr wrap="square" lIns="0" tIns="0" rIns="0" bIns="0" rtlCol="0" anchor="t"/>
          <a:lstStyle/>
          <a:p>
            <a:pPr algn="ctr" indent="0" marL="0">
              <a:buNone/>
            </a:pPr>
            <a:r>
              <a:rPr lang="en-US" sz="1500" b="1" dirty="0">
                <a:solidFill>
                  <a:srgbClr val="163A5C"/>
                </a:solidFill>
                <a:latin typeface="Calibri" pitchFamily="34" charset="0"/>
                <a:ea typeface="Calibri" pitchFamily="34" charset="-122"/>
                <a:cs typeface="Calibri" pitchFamily="34" charset="-120"/>
              </a:rPr>
              <a:t>25/01/2028</a:t>
            </a:r>
            <a:endParaRPr lang="en-US" sz="1500" dirty="0"/>
          </a:p>
          <a:p>
            <a:pPr algn="ctr" indent="0" marL="0">
              <a:buNone/>
            </a:pPr>
            <a:r>
              <a:rPr lang="en-US" sz="1300" b="1" dirty="0">
                <a:solidFill>
                  <a:srgbClr val="1B1F24"/>
                </a:solidFill>
                <a:latin typeface="Calibri" pitchFamily="34" charset="0"/>
                <a:ea typeface="Calibri" pitchFamily="34" charset="-122"/>
                <a:cs typeface="Calibri" pitchFamily="34" charset="-120"/>
              </a:rPr>
              <a:t>EWP IFC requerido</a:t>
            </a:r>
            <a:endParaRPr lang="en-US" sz="1500" dirty="0"/>
          </a:p>
          <a:p>
            <a:pPr algn="ctr" indent="0" marL="0">
              <a:buNone/>
            </a:pPr>
            <a:r>
              <a:rPr lang="en-US" sz="1150" dirty="0">
                <a:solidFill>
                  <a:srgbClr val="56606B"/>
                </a:solidFill>
                <a:latin typeface="Calibri" pitchFamily="34" charset="0"/>
                <a:ea typeface="Calibri" pitchFamily="34" charset="-122"/>
                <a:cs typeface="Calibri" pitchFamily="34" charset="-120"/>
              </a:rPr>
              <a:t>−13 semanas · ING</a:t>
            </a:r>
            <a:endParaRPr lang="en-US" sz="1500" dirty="0"/>
          </a:p>
        </p:txBody>
      </p:sp>
      <p:sp>
        <p:nvSpPr>
          <p:cNvPr id="24" name="Shape 22"/>
          <p:cNvSpPr/>
          <p:nvPr/>
        </p:nvSpPr>
        <p:spPr>
          <a:xfrm>
            <a:off x="2630807" y="1874520"/>
            <a:ext cx="0" cy="1371600"/>
          </a:xfrm>
          <a:prstGeom prst="line">
            <a:avLst/>
          </a:prstGeom>
          <a:noFill/>
          <a:ln w="15875">
            <a:solidFill>
              <a:srgbClr val="F5A623"/>
            </a:solidFill>
            <a:prstDash val="dash"/>
          </a:ln>
        </p:spPr>
      </p:sp>
      <p:sp>
        <p:nvSpPr>
          <p:cNvPr id="25" name="Shape 23"/>
          <p:cNvSpPr/>
          <p:nvPr/>
        </p:nvSpPr>
        <p:spPr>
          <a:xfrm>
            <a:off x="2475359" y="3090672"/>
            <a:ext cx="310896" cy="310896"/>
          </a:xfrm>
          <a:prstGeom prst="triangle">
            <a:avLst/>
          </a:prstGeom>
          <a:solidFill>
            <a:srgbClr val="F5A623"/>
          </a:solidFill>
          <a:ln w="9525">
            <a:solidFill>
              <a:srgbClr val="0F2A43"/>
            </a:solidFill>
            <a:prstDash val="solid"/>
          </a:ln>
        </p:spPr>
      </p:sp>
      <p:sp>
        <p:nvSpPr>
          <p:cNvPr id="26" name="Text 24"/>
          <p:cNvSpPr txBox="1"/>
          <p:nvPr/>
        </p:nvSpPr>
        <p:spPr>
          <a:xfrm>
            <a:off x="1487807" y="4389120"/>
            <a:ext cx="2286000" cy="868680"/>
          </a:xfrm>
          <a:prstGeom prst="rect">
            <a:avLst/>
          </a:prstGeom>
          <a:noFill/>
          <a:ln/>
        </p:spPr>
        <p:txBody>
          <a:bodyPr wrap="square" lIns="0" tIns="0" rIns="0" bIns="0" rtlCol="0" anchor="t"/>
          <a:lstStyle/>
          <a:p>
            <a:pPr algn="ctr" indent="0" marL="0">
              <a:buNone/>
            </a:pPr>
            <a:r>
              <a:rPr lang="en-US" sz="1500" b="1" dirty="0">
                <a:solidFill>
                  <a:srgbClr val="163A5C"/>
                </a:solidFill>
                <a:latin typeface="Calibri" pitchFamily="34" charset="0"/>
                <a:ea typeface="Calibri" pitchFamily="34" charset="-122"/>
                <a:cs typeface="Calibri" pitchFamily="34" charset="-120"/>
              </a:rPr>
              <a:t>15/02/2028</a:t>
            </a:r>
            <a:endParaRPr lang="en-US" sz="1500" dirty="0"/>
          </a:p>
          <a:p>
            <a:pPr algn="ctr" indent="0" marL="0">
              <a:buNone/>
            </a:pPr>
            <a:r>
              <a:rPr lang="en-US" sz="1300" b="1" dirty="0">
                <a:solidFill>
                  <a:srgbClr val="1B1F24"/>
                </a:solidFill>
                <a:latin typeface="Calibri" pitchFamily="34" charset="0"/>
                <a:ea typeface="Calibri" pitchFamily="34" charset="-122"/>
                <a:cs typeface="Calibri" pitchFamily="34" charset="-120"/>
              </a:rPr>
              <a:t>Emisión del CWP</a:t>
            </a:r>
            <a:endParaRPr lang="en-US" sz="1500" dirty="0"/>
          </a:p>
          <a:p>
            <a:pPr algn="ctr" indent="0" marL="0">
              <a:buNone/>
            </a:pPr>
            <a:r>
              <a:rPr lang="en-US" sz="1150" dirty="0">
                <a:solidFill>
                  <a:srgbClr val="56606B"/>
                </a:solidFill>
                <a:latin typeface="Calibri" pitchFamily="34" charset="0"/>
                <a:ea typeface="Calibri" pitchFamily="34" charset="-122"/>
                <a:cs typeface="Calibri" pitchFamily="34" charset="-120"/>
              </a:rPr>
              <a:t>−10 semanas · CON / LWF</a:t>
            </a:r>
            <a:endParaRPr lang="en-US" sz="1500" dirty="0"/>
          </a:p>
        </p:txBody>
      </p:sp>
      <p:sp>
        <p:nvSpPr>
          <p:cNvPr id="27" name="Shape 25"/>
          <p:cNvSpPr/>
          <p:nvPr/>
        </p:nvSpPr>
        <p:spPr>
          <a:xfrm>
            <a:off x="5213446" y="1874520"/>
            <a:ext cx="0" cy="1371600"/>
          </a:xfrm>
          <a:prstGeom prst="line">
            <a:avLst/>
          </a:prstGeom>
          <a:noFill/>
          <a:ln w="15875">
            <a:solidFill>
              <a:srgbClr val="1BAF7A"/>
            </a:solidFill>
            <a:prstDash val="dash"/>
          </a:ln>
        </p:spPr>
      </p:sp>
      <p:sp>
        <p:nvSpPr>
          <p:cNvPr id="28" name="Shape 26"/>
          <p:cNvSpPr/>
          <p:nvPr/>
        </p:nvSpPr>
        <p:spPr>
          <a:xfrm>
            <a:off x="5057998" y="3090672"/>
            <a:ext cx="310896" cy="310896"/>
          </a:xfrm>
          <a:prstGeom prst="ellipse">
            <a:avLst/>
          </a:prstGeom>
          <a:solidFill>
            <a:srgbClr val="1BAF7A"/>
          </a:solidFill>
          <a:ln w="9525">
            <a:solidFill>
              <a:srgbClr val="0F2A43"/>
            </a:solidFill>
            <a:prstDash val="solid"/>
          </a:ln>
        </p:spPr>
      </p:sp>
      <p:sp>
        <p:nvSpPr>
          <p:cNvPr id="29" name="Text 27"/>
          <p:cNvSpPr txBox="1"/>
          <p:nvPr/>
        </p:nvSpPr>
        <p:spPr>
          <a:xfrm>
            <a:off x="4070446" y="3520440"/>
            <a:ext cx="2286000" cy="868680"/>
          </a:xfrm>
          <a:prstGeom prst="rect">
            <a:avLst/>
          </a:prstGeom>
          <a:noFill/>
          <a:ln/>
        </p:spPr>
        <p:txBody>
          <a:bodyPr wrap="square" lIns="0" tIns="0" rIns="0" bIns="0" rtlCol="0" anchor="t"/>
          <a:lstStyle/>
          <a:p>
            <a:pPr algn="ctr" indent="0" marL="0">
              <a:buNone/>
            </a:pPr>
            <a:r>
              <a:rPr lang="en-US" sz="1500" b="1" dirty="0">
                <a:solidFill>
                  <a:srgbClr val="163A5C"/>
                </a:solidFill>
                <a:latin typeface="Calibri" pitchFamily="34" charset="0"/>
                <a:ea typeface="Calibri" pitchFamily="34" charset="-122"/>
                <a:cs typeface="Calibri" pitchFamily="34" charset="-120"/>
              </a:rPr>
              <a:t>15/04/2028</a:t>
            </a:r>
            <a:endParaRPr lang="en-US" sz="1500" dirty="0"/>
          </a:p>
          <a:p>
            <a:pPr algn="ctr" indent="0" marL="0">
              <a:buNone/>
            </a:pPr>
            <a:r>
              <a:rPr lang="en-US" sz="1300" b="1" dirty="0">
                <a:solidFill>
                  <a:srgbClr val="1B1F24"/>
                </a:solidFill>
                <a:latin typeface="Calibri" pitchFamily="34" charset="0"/>
                <a:ea typeface="Calibri" pitchFamily="34" charset="-122"/>
                <a:cs typeface="Calibri" pitchFamily="34" charset="-120"/>
              </a:rPr>
              <a:t>Materiales en obra (RAS)</a:t>
            </a:r>
            <a:endParaRPr lang="en-US" sz="1500" dirty="0"/>
          </a:p>
          <a:p>
            <a:pPr algn="ctr" indent="0" marL="0">
              <a:buNone/>
            </a:pPr>
            <a:r>
              <a:rPr lang="en-US" sz="1150" dirty="0">
                <a:solidFill>
                  <a:srgbClr val="56606B"/>
                </a:solidFill>
                <a:latin typeface="Calibri" pitchFamily="34" charset="0"/>
                <a:ea typeface="Calibri" pitchFamily="34" charset="-122"/>
                <a:cs typeface="Calibri" pitchFamily="34" charset="-120"/>
              </a:rPr>
              <a:t>−10 días · PRO / MAT</a:t>
            </a:r>
            <a:endParaRPr lang="en-US" sz="1500" dirty="0"/>
          </a:p>
        </p:txBody>
      </p:sp>
      <p:sp>
        <p:nvSpPr>
          <p:cNvPr id="30" name="Shape 28"/>
          <p:cNvSpPr/>
          <p:nvPr/>
        </p:nvSpPr>
        <p:spPr>
          <a:xfrm>
            <a:off x="5643886" y="1874520"/>
            <a:ext cx="0" cy="1371600"/>
          </a:xfrm>
          <a:prstGeom prst="line">
            <a:avLst/>
          </a:prstGeom>
          <a:noFill/>
          <a:ln w="15875">
            <a:solidFill>
              <a:srgbClr val="EB6834"/>
            </a:solidFill>
            <a:prstDash val="dash"/>
          </a:ln>
        </p:spPr>
      </p:sp>
      <p:sp>
        <p:nvSpPr>
          <p:cNvPr id="31" name="Shape 29"/>
          <p:cNvSpPr/>
          <p:nvPr/>
        </p:nvSpPr>
        <p:spPr>
          <a:xfrm>
            <a:off x="5488438" y="3090672"/>
            <a:ext cx="310896" cy="310896"/>
          </a:xfrm>
          <a:prstGeom prst="rect">
            <a:avLst/>
          </a:prstGeom>
          <a:solidFill>
            <a:srgbClr val="EB6834"/>
          </a:solidFill>
          <a:ln w="9525">
            <a:solidFill>
              <a:srgbClr val="0F2A43"/>
            </a:solidFill>
            <a:prstDash val="solid"/>
          </a:ln>
        </p:spPr>
      </p:sp>
      <p:sp>
        <p:nvSpPr>
          <p:cNvPr id="32" name="Text 30"/>
          <p:cNvSpPr txBox="1"/>
          <p:nvPr/>
        </p:nvSpPr>
        <p:spPr>
          <a:xfrm>
            <a:off x="4500886" y="4389120"/>
            <a:ext cx="2286000" cy="868680"/>
          </a:xfrm>
          <a:prstGeom prst="rect">
            <a:avLst/>
          </a:prstGeom>
          <a:noFill/>
          <a:ln/>
        </p:spPr>
        <p:txBody>
          <a:bodyPr wrap="square" lIns="0" tIns="0" rIns="0" bIns="0" rtlCol="0" anchor="t"/>
          <a:lstStyle/>
          <a:p>
            <a:pPr algn="ctr" indent="0" marL="0">
              <a:buNone/>
            </a:pPr>
            <a:r>
              <a:rPr lang="en-US" sz="1500" b="1" dirty="0">
                <a:solidFill>
                  <a:srgbClr val="163A5C"/>
                </a:solidFill>
                <a:latin typeface="Calibri" pitchFamily="34" charset="0"/>
                <a:ea typeface="Calibri" pitchFamily="34" charset="-122"/>
                <a:cs typeface="Calibri" pitchFamily="34" charset="-120"/>
              </a:rPr>
              <a:t>25/04/2028</a:t>
            </a:r>
            <a:endParaRPr lang="en-US" sz="1500" dirty="0"/>
          </a:p>
          <a:p>
            <a:pPr algn="ctr" indent="0" marL="0">
              <a:buNone/>
            </a:pPr>
            <a:r>
              <a:rPr lang="en-US" sz="1300" b="1" dirty="0">
                <a:solidFill>
                  <a:srgbClr val="1B1F24"/>
                </a:solidFill>
                <a:latin typeface="Calibri" pitchFamily="34" charset="0"/>
                <a:ea typeface="Calibri" pitchFamily="34" charset="-122"/>
                <a:cs typeface="Calibri" pitchFamily="34" charset="-120"/>
              </a:rPr>
              <a:t>Inicio de construcción</a:t>
            </a:r>
            <a:endParaRPr lang="en-US" sz="1500" dirty="0"/>
          </a:p>
          <a:p>
            <a:pPr algn="ctr" indent="0" marL="0">
              <a:buNone/>
            </a:pPr>
            <a:r>
              <a:rPr lang="en-US" sz="1150" dirty="0">
                <a:solidFill>
                  <a:srgbClr val="56606B"/>
                </a:solidFill>
                <a:latin typeface="Calibri" pitchFamily="34" charset="0"/>
                <a:ea typeface="Calibri" pitchFamily="34" charset="-122"/>
                <a:cs typeface="Calibri" pitchFamily="34" charset="-120"/>
              </a:rPr>
              <a:t>Fijado por el PoC</a:t>
            </a:r>
            <a:endParaRPr lang="en-US" sz="1500" dirty="0"/>
          </a:p>
        </p:txBody>
      </p:sp>
      <p:sp>
        <p:nvSpPr>
          <p:cNvPr id="33" name="Shape 31"/>
          <p:cNvSpPr/>
          <p:nvPr/>
        </p:nvSpPr>
        <p:spPr>
          <a:xfrm>
            <a:off x="5643886" y="3063240"/>
            <a:ext cx="5122234" cy="365760"/>
          </a:xfrm>
          <a:prstGeom prst="roundRect">
            <a:avLst>
              <a:gd name="adj" fmla="val 12500"/>
            </a:avLst>
          </a:prstGeom>
          <a:solidFill>
            <a:srgbClr val="EB6834"/>
          </a:solidFill>
          <a:ln w="12700">
            <a:solidFill>
              <a:srgbClr val="EB6834"/>
            </a:solidFill>
            <a:prstDash val="solid"/>
          </a:ln>
        </p:spPr>
      </p:sp>
      <p:sp>
        <p:nvSpPr>
          <p:cNvPr id="34" name="Text 32"/>
          <p:cNvSpPr txBox="1"/>
          <p:nvPr/>
        </p:nvSpPr>
        <p:spPr>
          <a:xfrm>
            <a:off x="5643886" y="3063240"/>
            <a:ext cx="512223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Construcción 17 semanas → fin 22/08/2028</a:t>
            </a:r>
            <a:endParaRPr lang="en-US" sz="1200" dirty="0"/>
          </a:p>
        </p:txBody>
      </p:sp>
      <p:sp>
        <p:nvSpPr>
          <p:cNvPr id="35" name="Shape 33"/>
          <p:cNvSpPr/>
          <p:nvPr/>
        </p:nvSpPr>
        <p:spPr>
          <a:xfrm>
            <a:off x="548640" y="5440680"/>
            <a:ext cx="11094415" cy="777240"/>
          </a:xfrm>
          <a:prstGeom prst="roundRect">
            <a:avLst>
              <a:gd name="adj" fmla="val 9412"/>
            </a:avLst>
          </a:prstGeom>
          <a:solidFill>
            <a:srgbClr val="E7F6E7"/>
          </a:solidFill>
          <a:ln w="9525">
            <a:solidFill>
              <a:srgbClr val="9ED69E"/>
            </a:solidFill>
            <a:prstDash val="solid"/>
          </a:ln>
        </p:spPr>
      </p:sp>
      <p:sp>
        <p:nvSpPr>
          <p:cNvPr id="36" name="Text 34"/>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400" b="1" dirty="0">
                <a:solidFill>
                  <a:srgbClr val="0A7A0A"/>
                </a:solidFill>
                <a:latin typeface="Calibri" pitchFamily="34" charset="0"/>
                <a:ea typeface="Calibri" pitchFamily="34" charset="-122"/>
                <a:cs typeface="Calibri" pitchFamily="34" charset="-120"/>
              </a:rPr>
              <a:t>Control de secuencia: OK.  </a:t>
            </a:r>
            <a:pPr indent="0" marL="0">
              <a:buNone/>
            </a:pPr>
            <a:r>
              <a:rPr lang="en-US" sz="1400" dirty="0">
                <a:solidFill>
                  <a:srgbClr val="1B1F24"/>
                </a:solidFill>
                <a:latin typeface="Calibri" pitchFamily="34" charset="0"/>
                <a:ea typeface="Calibri" pitchFamily="34" charset="-122"/>
                <a:cs typeface="Calibri" pitchFamily="34" charset="-120"/>
              </a:rPr>
              <a:t>El predecesor CWP-2.01-CIV-01 (cimentaciones bloque a) termina el 24/04/2028, antes del inicio del CWP-2.01-EST-01 (25/04/2028).</a:t>
            </a:r>
            <a:endParaRPr lang="en-US" sz="1400" dirty="0"/>
          </a:p>
        </p:txBody>
      </p:sp>
      <p:sp>
        <p:nvSpPr>
          <p:cNvPr id="37" name="Text 3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Programar hacia atrás</a:t>
            </a:r>
            <a:endParaRPr lang="en-US" sz="1000" dirty="0"/>
          </a:p>
        </p:txBody>
      </p:sp>
      <p:sp>
        <p:nvSpPr>
          <p:cNvPr id="38" name="Text 3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76</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Segundo ejemplo: CWP-1.01-CIV-01</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Movimiento de tierras plataforma norte · 42 000 HH · inicio 07/06/2027 · 7 semanas</a:t>
            </a:r>
            <a:endParaRPr lang="en-US" sz="1500" dirty="0"/>
          </a:p>
        </p:txBody>
      </p:sp>
      <p:sp>
        <p:nvSpPr>
          <p:cNvPr id="4" name="Shape 2"/>
          <p:cNvSpPr/>
          <p:nvPr/>
        </p:nvSpPr>
        <p:spPr>
          <a:xfrm>
            <a:off x="1666622" y="1755648"/>
            <a:ext cx="0" cy="2834640"/>
          </a:xfrm>
          <a:prstGeom prst="line">
            <a:avLst/>
          </a:prstGeom>
          <a:noFill/>
          <a:ln w="6350">
            <a:solidFill>
              <a:srgbClr val="E9EEF3"/>
            </a:solidFill>
            <a:prstDash val="solid"/>
          </a:ln>
        </p:spPr>
      </p:sp>
      <p:sp>
        <p:nvSpPr>
          <p:cNvPr id="5" name="Text 3"/>
          <p:cNvSpPr txBox="1"/>
          <p:nvPr/>
        </p:nvSpPr>
        <p:spPr>
          <a:xfrm>
            <a:off x="1648334"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mar</a:t>
            </a:r>
            <a:endParaRPr lang="en-US" sz="1000" dirty="0"/>
          </a:p>
        </p:txBody>
      </p:sp>
      <p:sp>
        <p:nvSpPr>
          <p:cNvPr id="6" name="Shape 4"/>
          <p:cNvSpPr/>
          <p:nvPr/>
        </p:nvSpPr>
        <p:spPr>
          <a:xfrm>
            <a:off x="3534731" y="1755648"/>
            <a:ext cx="0" cy="2834640"/>
          </a:xfrm>
          <a:prstGeom prst="line">
            <a:avLst/>
          </a:prstGeom>
          <a:noFill/>
          <a:ln w="6350">
            <a:solidFill>
              <a:srgbClr val="E9EEF3"/>
            </a:solidFill>
            <a:prstDash val="solid"/>
          </a:ln>
        </p:spPr>
      </p:sp>
      <p:sp>
        <p:nvSpPr>
          <p:cNvPr id="7" name="Text 5"/>
          <p:cNvSpPr txBox="1"/>
          <p:nvPr/>
        </p:nvSpPr>
        <p:spPr>
          <a:xfrm>
            <a:off x="3516443"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abr</a:t>
            </a:r>
            <a:endParaRPr lang="en-US" sz="1000" dirty="0"/>
          </a:p>
        </p:txBody>
      </p:sp>
      <p:sp>
        <p:nvSpPr>
          <p:cNvPr id="8" name="Shape 6"/>
          <p:cNvSpPr/>
          <p:nvPr/>
        </p:nvSpPr>
        <p:spPr>
          <a:xfrm>
            <a:off x="5342578" y="1755648"/>
            <a:ext cx="0" cy="2834640"/>
          </a:xfrm>
          <a:prstGeom prst="line">
            <a:avLst/>
          </a:prstGeom>
          <a:noFill/>
          <a:ln w="6350">
            <a:solidFill>
              <a:srgbClr val="E9EEF3"/>
            </a:solidFill>
            <a:prstDash val="solid"/>
          </a:ln>
        </p:spPr>
      </p:sp>
      <p:sp>
        <p:nvSpPr>
          <p:cNvPr id="9" name="Text 7"/>
          <p:cNvSpPr txBox="1"/>
          <p:nvPr/>
        </p:nvSpPr>
        <p:spPr>
          <a:xfrm>
            <a:off x="5324290"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may</a:t>
            </a:r>
            <a:endParaRPr lang="en-US" sz="1000" dirty="0"/>
          </a:p>
        </p:txBody>
      </p:sp>
      <p:sp>
        <p:nvSpPr>
          <p:cNvPr id="10" name="Shape 8"/>
          <p:cNvSpPr/>
          <p:nvPr/>
        </p:nvSpPr>
        <p:spPr>
          <a:xfrm>
            <a:off x="7210687" y="1755648"/>
            <a:ext cx="0" cy="2834640"/>
          </a:xfrm>
          <a:prstGeom prst="line">
            <a:avLst/>
          </a:prstGeom>
          <a:noFill/>
          <a:ln w="6350">
            <a:solidFill>
              <a:srgbClr val="E9EEF3"/>
            </a:solidFill>
            <a:prstDash val="solid"/>
          </a:ln>
        </p:spPr>
      </p:sp>
      <p:sp>
        <p:nvSpPr>
          <p:cNvPr id="11" name="Text 9"/>
          <p:cNvSpPr txBox="1"/>
          <p:nvPr/>
        </p:nvSpPr>
        <p:spPr>
          <a:xfrm>
            <a:off x="7192399"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jun</a:t>
            </a:r>
            <a:endParaRPr lang="en-US" sz="1000" dirty="0"/>
          </a:p>
        </p:txBody>
      </p:sp>
      <p:sp>
        <p:nvSpPr>
          <p:cNvPr id="12" name="Shape 10"/>
          <p:cNvSpPr/>
          <p:nvPr/>
        </p:nvSpPr>
        <p:spPr>
          <a:xfrm>
            <a:off x="9018534" y="1755648"/>
            <a:ext cx="0" cy="2834640"/>
          </a:xfrm>
          <a:prstGeom prst="line">
            <a:avLst/>
          </a:prstGeom>
          <a:noFill/>
          <a:ln w="6350">
            <a:solidFill>
              <a:srgbClr val="E9EEF3"/>
            </a:solidFill>
            <a:prstDash val="solid"/>
          </a:ln>
        </p:spPr>
      </p:sp>
      <p:sp>
        <p:nvSpPr>
          <p:cNvPr id="13" name="Text 11"/>
          <p:cNvSpPr txBox="1"/>
          <p:nvPr/>
        </p:nvSpPr>
        <p:spPr>
          <a:xfrm>
            <a:off x="9000246"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jul</a:t>
            </a:r>
            <a:endParaRPr lang="en-US" sz="1000" dirty="0"/>
          </a:p>
        </p:txBody>
      </p:sp>
      <p:sp>
        <p:nvSpPr>
          <p:cNvPr id="14" name="Shape 12"/>
          <p:cNvSpPr/>
          <p:nvPr/>
        </p:nvSpPr>
        <p:spPr>
          <a:xfrm>
            <a:off x="10886643" y="1755648"/>
            <a:ext cx="0" cy="2834640"/>
          </a:xfrm>
          <a:prstGeom prst="line">
            <a:avLst/>
          </a:prstGeom>
          <a:noFill/>
          <a:ln w="6350">
            <a:solidFill>
              <a:srgbClr val="E9EEF3"/>
            </a:solidFill>
            <a:prstDash val="solid"/>
          </a:ln>
        </p:spPr>
      </p:sp>
      <p:sp>
        <p:nvSpPr>
          <p:cNvPr id="15" name="Text 13"/>
          <p:cNvSpPr txBox="1"/>
          <p:nvPr/>
        </p:nvSpPr>
        <p:spPr>
          <a:xfrm>
            <a:off x="10868355" y="146304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ago</a:t>
            </a:r>
            <a:endParaRPr lang="en-US" sz="1000" dirty="0"/>
          </a:p>
        </p:txBody>
      </p:sp>
      <p:sp>
        <p:nvSpPr>
          <p:cNvPr id="16" name="Shape 14"/>
          <p:cNvSpPr/>
          <p:nvPr/>
        </p:nvSpPr>
        <p:spPr>
          <a:xfrm>
            <a:off x="822960" y="3246120"/>
            <a:ext cx="10545775" cy="0"/>
          </a:xfrm>
          <a:prstGeom prst="line">
            <a:avLst/>
          </a:prstGeom>
          <a:noFill/>
          <a:ln w="38100">
            <a:solidFill>
              <a:srgbClr val="B9CCE0"/>
            </a:solidFill>
            <a:prstDash val="solid"/>
          </a:ln>
        </p:spPr>
      </p:sp>
      <p:sp>
        <p:nvSpPr>
          <p:cNvPr id="17" name="Shape 15"/>
          <p:cNvSpPr/>
          <p:nvPr/>
        </p:nvSpPr>
        <p:spPr>
          <a:xfrm>
            <a:off x="2088453" y="1874520"/>
            <a:ext cx="0" cy="1371600"/>
          </a:xfrm>
          <a:prstGeom prst="line">
            <a:avLst/>
          </a:prstGeom>
          <a:noFill/>
          <a:ln w="15875">
            <a:solidFill>
              <a:srgbClr val="1F4E79"/>
            </a:solidFill>
            <a:prstDash val="dash"/>
          </a:ln>
        </p:spPr>
      </p:sp>
      <p:sp>
        <p:nvSpPr>
          <p:cNvPr id="18" name="Shape 16"/>
          <p:cNvSpPr/>
          <p:nvPr/>
        </p:nvSpPr>
        <p:spPr>
          <a:xfrm>
            <a:off x="1933005" y="3090672"/>
            <a:ext cx="310896" cy="310896"/>
          </a:xfrm>
          <a:prstGeom prst="diamond">
            <a:avLst/>
          </a:prstGeom>
          <a:solidFill>
            <a:srgbClr val="1F4E79"/>
          </a:solidFill>
          <a:ln w="9525">
            <a:solidFill>
              <a:srgbClr val="0F2A43"/>
            </a:solidFill>
            <a:prstDash val="solid"/>
          </a:ln>
        </p:spPr>
      </p:sp>
      <p:sp>
        <p:nvSpPr>
          <p:cNvPr id="19" name="Text 17"/>
          <p:cNvSpPr txBox="1"/>
          <p:nvPr/>
        </p:nvSpPr>
        <p:spPr>
          <a:xfrm>
            <a:off x="945453" y="3520440"/>
            <a:ext cx="2286000" cy="868680"/>
          </a:xfrm>
          <a:prstGeom prst="rect">
            <a:avLst/>
          </a:prstGeom>
          <a:noFill/>
          <a:ln/>
        </p:spPr>
        <p:txBody>
          <a:bodyPr wrap="square" lIns="0" tIns="0" rIns="0" bIns="0" rtlCol="0" anchor="t"/>
          <a:lstStyle/>
          <a:p>
            <a:pPr algn="ctr" indent="0" marL="0">
              <a:buNone/>
            </a:pPr>
            <a:r>
              <a:rPr lang="en-US" sz="1500" b="1" dirty="0">
                <a:solidFill>
                  <a:srgbClr val="163A5C"/>
                </a:solidFill>
                <a:latin typeface="Calibri" pitchFamily="34" charset="0"/>
                <a:ea typeface="Calibri" pitchFamily="34" charset="-122"/>
                <a:cs typeface="Calibri" pitchFamily="34" charset="-120"/>
              </a:rPr>
              <a:t>08/03/2027</a:t>
            </a:r>
            <a:endParaRPr lang="en-US" sz="1500" dirty="0"/>
          </a:p>
          <a:p>
            <a:pPr algn="ctr" indent="0" marL="0">
              <a:buNone/>
            </a:pPr>
            <a:r>
              <a:rPr lang="en-US" sz="1300" b="1" dirty="0">
                <a:solidFill>
                  <a:srgbClr val="1B1F24"/>
                </a:solidFill>
                <a:latin typeface="Calibri" pitchFamily="34" charset="0"/>
                <a:ea typeface="Calibri" pitchFamily="34" charset="-122"/>
                <a:cs typeface="Calibri" pitchFamily="34" charset="-120"/>
              </a:rPr>
              <a:t>EWP IFC requerido</a:t>
            </a:r>
            <a:endParaRPr lang="en-US" sz="1500" dirty="0"/>
          </a:p>
          <a:p>
            <a:pPr algn="ctr" indent="0" marL="0">
              <a:buNone/>
            </a:pPr>
            <a:r>
              <a:rPr lang="en-US" sz="1150" dirty="0">
                <a:solidFill>
                  <a:srgbClr val="56606B"/>
                </a:solidFill>
                <a:latin typeface="Calibri" pitchFamily="34" charset="0"/>
                <a:ea typeface="Calibri" pitchFamily="34" charset="-122"/>
                <a:cs typeface="Calibri" pitchFamily="34" charset="-120"/>
              </a:rPr>
              <a:t>−13 semanas · ING</a:t>
            </a:r>
            <a:endParaRPr lang="en-US" sz="1500" dirty="0"/>
          </a:p>
        </p:txBody>
      </p:sp>
      <p:sp>
        <p:nvSpPr>
          <p:cNvPr id="20" name="Shape 18"/>
          <p:cNvSpPr/>
          <p:nvPr/>
        </p:nvSpPr>
        <p:spPr>
          <a:xfrm>
            <a:off x="3353946" y="1874520"/>
            <a:ext cx="0" cy="1371600"/>
          </a:xfrm>
          <a:prstGeom prst="line">
            <a:avLst/>
          </a:prstGeom>
          <a:noFill/>
          <a:ln w="15875">
            <a:solidFill>
              <a:srgbClr val="F5A623"/>
            </a:solidFill>
            <a:prstDash val="dash"/>
          </a:ln>
        </p:spPr>
      </p:sp>
      <p:sp>
        <p:nvSpPr>
          <p:cNvPr id="21" name="Shape 19"/>
          <p:cNvSpPr/>
          <p:nvPr/>
        </p:nvSpPr>
        <p:spPr>
          <a:xfrm>
            <a:off x="3198498" y="3090672"/>
            <a:ext cx="310896" cy="310896"/>
          </a:xfrm>
          <a:prstGeom prst="triangle">
            <a:avLst/>
          </a:prstGeom>
          <a:solidFill>
            <a:srgbClr val="F5A623"/>
          </a:solidFill>
          <a:ln w="9525">
            <a:solidFill>
              <a:srgbClr val="0F2A43"/>
            </a:solidFill>
            <a:prstDash val="solid"/>
          </a:ln>
        </p:spPr>
      </p:sp>
      <p:sp>
        <p:nvSpPr>
          <p:cNvPr id="22" name="Text 20"/>
          <p:cNvSpPr txBox="1"/>
          <p:nvPr/>
        </p:nvSpPr>
        <p:spPr>
          <a:xfrm>
            <a:off x="2210946" y="4389120"/>
            <a:ext cx="2286000" cy="868680"/>
          </a:xfrm>
          <a:prstGeom prst="rect">
            <a:avLst/>
          </a:prstGeom>
          <a:noFill/>
          <a:ln/>
        </p:spPr>
        <p:txBody>
          <a:bodyPr wrap="square" lIns="0" tIns="0" rIns="0" bIns="0" rtlCol="0" anchor="t"/>
          <a:lstStyle/>
          <a:p>
            <a:pPr algn="ctr" indent="0" marL="0">
              <a:buNone/>
            </a:pPr>
            <a:r>
              <a:rPr lang="en-US" sz="1500" b="1" dirty="0">
                <a:solidFill>
                  <a:srgbClr val="163A5C"/>
                </a:solidFill>
                <a:latin typeface="Calibri" pitchFamily="34" charset="0"/>
                <a:ea typeface="Calibri" pitchFamily="34" charset="-122"/>
                <a:cs typeface="Calibri" pitchFamily="34" charset="-120"/>
              </a:rPr>
              <a:t>29/03/2027</a:t>
            </a:r>
            <a:endParaRPr lang="en-US" sz="1500" dirty="0"/>
          </a:p>
          <a:p>
            <a:pPr algn="ctr" indent="0" marL="0">
              <a:buNone/>
            </a:pPr>
            <a:r>
              <a:rPr lang="en-US" sz="1300" b="1" dirty="0">
                <a:solidFill>
                  <a:srgbClr val="1B1F24"/>
                </a:solidFill>
                <a:latin typeface="Calibri" pitchFamily="34" charset="0"/>
                <a:ea typeface="Calibri" pitchFamily="34" charset="-122"/>
                <a:cs typeface="Calibri" pitchFamily="34" charset="-120"/>
              </a:rPr>
              <a:t>Emisión del CWP</a:t>
            </a:r>
            <a:endParaRPr lang="en-US" sz="1500" dirty="0"/>
          </a:p>
          <a:p>
            <a:pPr algn="ctr" indent="0" marL="0">
              <a:buNone/>
            </a:pPr>
            <a:r>
              <a:rPr lang="en-US" sz="1150" dirty="0">
                <a:solidFill>
                  <a:srgbClr val="56606B"/>
                </a:solidFill>
                <a:latin typeface="Calibri" pitchFamily="34" charset="0"/>
                <a:ea typeface="Calibri" pitchFamily="34" charset="-122"/>
                <a:cs typeface="Calibri" pitchFamily="34" charset="-120"/>
              </a:rPr>
              <a:t>−10 semanas · CON / LWF</a:t>
            </a:r>
            <a:endParaRPr lang="en-US" sz="1500" dirty="0"/>
          </a:p>
        </p:txBody>
      </p:sp>
      <p:sp>
        <p:nvSpPr>
          <p:cNvPr id="23" name="Shape 21"/>
          <p:cNvSpPr/>
          <p:nvPr/>
        </p:nvSpPr>
        <p:spPr>
          <a:xfrm>
            <a:off x="6969640" y="1874520"/>
            <a:ext cx="0" cy="1371600"/>
          </a:xfrm>
          <a:prstGeom prst="line">
            <a:avLst/>
          </a:prstGeom>
          <a:noFill/>
          <a:ln w="15875">
            <a:solidFill>
              <a:srgbClr val="1BAF7A"/>
            </a:solidFill>
            <a:prstDash val="dash"/>
          </a:ln>
        </p:spPr>
      </p:sp>
      <p:sp>
        <p:nvSpPr>
          <p:cNvPr id="24" name="Shape 22"/>
          <p:cNvSpPr/>
          <p:nvPr/>
        </p:nvSpPr>
        <p:spPr>
          <a:xfrm>
            <a:off x="6814192" y="3090672"/>
            <a:ext cx="310896" cy="310896"/>
          </a:xfrm>
          <a:prstGeom prst="ellipse">
            <a:avLst/>
          </a:prstGeom>
          <a:solidFill>
            <a:srgbClr val="1BAF7A"/>
          </a:solidFill>
          <a:ln w="9525">
            <a:solidFill>
              <a:srgbClr val="0F2A43"/>
            </a:solidFill>
            <a:prstDash val="solid"/>
          </a:ln>
        </p:spPr>
      </p:sp>
      <p:sp>
        <p:nvSpPr>
          <p:cNvPr id="25" name="Text 23"/>
          <p:cNvSpPr txBox="1"/>
          <p:nvPr/>
        </p:nvSpPr>
        <p:spPr>
          <a:xfrm>
            <a:off x="5826640" y="3520440"/>
            <a:ext cx="2286000" cy="868680"/>
          </a:xfrm>
          <a:prstGeom prst="rect">
            <a:avLst/>
          </a:prstGeom>
          <a:noFill/>
          <a:ln/>
        </p:spPr>
        <p:txBody>
          <a:bodyPr wrap="square" lIns="0" tIns="0" rIns="0" bIns="0" rtlCol="0" anchor="t"/>
          <a:lstStyle/>
          <a:p>
            <a:pPr algn="ctr" indent="0" marL="0">
              <a:buNone/>
            </a:pPr>
            <a:r>
              <a:rPr lang="en-US" sz="1500" b="1" dirty="0">
                <a:solidFill>
                  <a:srgbClr val="163A5C"/>
                </a:solidFill>
                <a:latin typeface="Calibri" pitchFamily="34" charset="0"/>
                <a:ea typeface="Calibri" pitchFamily="34" charset="-122"/>
                <a:cs typeface="Calibri" pitchFamily="34" charset="-120"/>
              </a:rPr>
              <a:t>28/05/2027</a:t>
            </a:r>
            <a:endParaRPr lang="en-US" sz="1500" dirty="0"/>
          </a:p>
          <a:p>
            <a:pPr algn="ctr" indent="0" marL="0">
              <a:buNone/>
            </a:pPr>
            <a:r>
              <a:rPr lang="en-US" sz="1300" b="1" dirty="0">
                <a:solidFill>
                  <a:srgbClr val="1B1F24"/>
                </a:solidFill>
                <a:latin typeface="Calibri" pitchFamily="34" charset="0"/>
                <a:ea typeface="Calibri" pitchFamily="34" charset="-122"/>
                <a:cs typeface="Calibri" pitchFamily="34" charset="-120"/>
              </a:rPr>
              <a:t>Materiales en obra (RAS)</a:t>
            </a:r>
            <a:endParaRPr lang="en-US" sz="1500" dirty="0"/>
          </a:p>
          <a:p>
            <a:pPr algn="ctr" indent="0" marL="0">
              <a:buNone/>
            </a:pPr>
            <a:r>
              <a:rPr lang="en-US" sz="1150" dirty="0">
                <a:solidFill>
                  <a:srgbClr val="56606B"/>
                </a:solidFill>
                <a:latin typeface="Calibri" pitchFamily="34" charset="0"/>
                <a:ea typeface="Calibri" pitchFamily="34" charset="-122"/>
                <a:cs typeface="Calibri" pitchFamily="34" charset="-120"/>
              </a:rPr>
              <a:t>−10 días · PRO / MAT</a:t>
            </a:r>
            <a:endParaRPr lang="en-US" sz="1500" dirty="0"/>
          </a:p>
        </p:txBody>
      </p:sp>
      <p:sp>
        <p:nvSpPr>
          <p:cNvPr id="26" name="Shape 24"/>
          <p:cNvSpPr/>
          <p:nvPr/>
        </p:nvSpPr>
        <p:spPr>
          <a:xfrm>
            <a:off x="7572256" y="1874520"/>
            <a:ext cx="0" cy="1371600"/>
          </a:xfrm>
          <a:prstGeom prst="line">
            <a:avLst/>
          </a:prstGeom>
          <a:noFill/>
          <a:ln w="15875">
            <a:solidFill>
              <a:srgbClr val="2A78D6"/>
            </a:solidFill>
            <a:prstDash val="dash"/>
          </a:ln>
        </p:spPr>
      </p:sp>
      <p:sp>
        <p:nvSpPr>
          <p:cNvPr id="27" name="Shape 25"/>
          <p:cNvSpPr/>
          <p:nvPr/>
        </p:nvSpPr>
        <p:spPr>
          <a:xfrm>
            <a:off x="7416808" y="3090672"/>
            <a:ext cx="310896" cy="310896"/>
          </a:xfrm>
          <a:prstGeom prst="rect">
            <a:avLst/>
          </a:prstGeom>
          <a:solidFill>
            <a:srgbClr val="2A78D6"/>
          </a:solidFill>
          <a:ln w="9525">
            <a:solidFill>
              <a:srgbClr val="0F2A43"/>
            </a:solidFill>
            <a:prstDash val="solid"/>
          </a:ln>
        </p:spPr>
      </p:sp>
      <p:sp>
        <p:nvSpPr>
          <p:cNvPr id="28" name="Text 26"/>
          <p:cNvSpPr txBox="1"/>
          <p:nvPr/>
        </p:nvSpPr>
        <p:spPr>
          <a:xfrm>
            <a:off x="6429256" y="4389120"/>
            <a:ext cx="2286000" cy="868680"/>
          </a:xfrm>
          <a:prstGeom prst="rect">
            <a:avLst/>
          </a:prstGeom>
          <a:noFill/>
          <a:ln/>
        </p:spPr>
        <p:txBody>
          <a:bodyPr wrap="square" lIns="0" tIns="0" rIns="0" bIns="0" rtlCol="0" anchor="t"/>
          <a:lstStyle/>
          <a:p>
            <a:pPr algn="ctr" indent="0" marL="0">
              <a:buNone/>
            </a:pPr>
            <a:r>
              <a:rPr lang="en-US" sz="1500" b="1" dirty="0">
                <a:solidFill>
                  <a:srgbClr val="163A5C"/>
                </a:solidFill>
                <a:latin typeface="Calibri" pitchFamily="34" charset="0"/>
                <a:ea typeface="Calibri" pitchFamily="34" charset="-122"/>
                <a:cs typeface="Calibri" pitchFamily="34" charset="-120"/>
              </a:rPr>
              <a:t>07/06/2027</a:t>
            </a:r>
            <a:endParaRPr lang="en-US" sz="1500" dirty="0"/>
          </a:p>
          <a:p>
            <a:pPr algn="ctr" indent="0" marL="0">
              <a:buNone/>
            </a:pPr>
            <a:r>
              <a:rPr lang="en-US" sz="1300" b="1" dirty="0">
                <a:solidFill>
                  <a:srgbClr val="1B1F24"/>
                </a:solidFill>
                <a:latin typeface="Calibri" pitchFamily="34" charset="0"/>
                <a:ea typeface="Calibri" pitchFamily="34" charset="-122"/>
                <a:cs typeface="Calibri" pitchFamily="34" charset="-120"/>
              </a:rPr>
              <a:t>Inicio de construcción</a:t>
            </a:r>
            <a:endParaRPr lang="en-US" sz="1500" dirty="0"/>
          </a:p>
          <a:p>
            <a:pPr algn="ctr" indent="0" marL="0">
              <a:buNone/>
            </a:pPr>
            <a:r>
              <a:rPr lang="en-US" sz="1150" dirty="0">
                <a:solidFill>
                  <a:srgbClr val="56606B"/>
                </a:solidFill>
                <a:latin typeface="Calibri" pitchFamily="34" charset="0"/>
                <a:ea typeface="Calibri" pitchFamily="34" charset="-122"/>
                <a:cs typeface="Calibri" pitchFamily="34" charset="-120"/>
              </a:rPr>
              <a:t>Fijado por el PoC</a:t>
            </a:r>
            <a:endParaRPr lang="en-US" sz="1500" dirty="0"/>
          </a:p>
        </p:txBody>
      </p:sp>
      <p:sp>
        <p:nvSpPr>
          <p:cNvPr id="29" name="Shape 27"/>
          <p:cNvSpPr/>
          <p:nvPr/>
        </p:nvSpPr>
        <p:spPr>
          <a:xfrm>
            <a:off x="7572256" y="3063240"/>
            <a:ext cx="2952817" cy="365760"/>
          </a:xfrm>
          <a:prstGeom prst="roundRect">
            <a:avLst>
              <a:gd name="adj" fmla="val 12500"/>
            </a:avLst>
          </a:prstGeom>
          <a:solidFill>
            <a:srgbClr val="2A78D6"/>
          </a:solidFill>
          <a:ln w="12700">
            <a:solidFill>
              <a:srgbClr val="2A78D6"/>
            </a:solidFill>
            <a:prstDash val="solid"/>
          </a:ln>
        </p:spPr>
      </p:sp>
      <p:sp>
        <p:nvSpPr>
          <p:cNvPr id="30" name="Text 28"/>
          <p:cNvSpPr txBox="1"/>
          <p:nvPr/>
        </p:nvSpPr>
        <p:spPr>
          <a:xfrm>
            <a:off x="7572256" y="3063240"/>
            <a:ext cx="2952817"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Construcción 7 semanas → fin 26/07/2027</a:t>
            </a:r>
            <a:endParaRPr lang="en-US" sz="1200" dirty="0"/>
          </a:p>
        </p:txBody>
      </p:sp>
      <p:sp>
        <p:nvSpPr>
          <p:cNvPr id="31" name="Shape 29"/>
          <p:cNvSpPr/>
          <p:nvPr/>
        </p:nvSpPr>
        <p:spPr>
          <a:xfrm>
            <a:off x="548640" y="5440680"/>
            <a:ext cx="11094415" cy="777240"/>
          </a:xfrm>
          <a:prstGeom prst="roundRect">
            <a:avLst>
              <a:gd name="adj" fmla="val 9412"/>
            </a:avLst>
          </a:prstGeom>
          <a:solidFill>
            <a:srgbClr val="E7F6E7"/>
          </a:solidFill>
          <a:ln w="9525">
            <a:solidFill>
              <a:srgbClr val="9ED69E"/>
            </a:solidFill>
            <a:prstDash val="solid"/>
          </a:ln>
        </p:spPr>
      </p:sp>
      <p:sp>
        <p:nvSpPr>
          <p:cNvPr id="32" name="Text 30"/>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400" b="1" dirty="0">
                <a:solidFill>
                  <a:srgbClr val="0A7A0A"/>
                </a:solidFill>
                <a:latin typeface="Calibri" pitchFamily="34" charset="0"/>
                <a:ea typeface="Calibri" pitchFamily="34" charset="-122"/>
                <a:cs typeface="Calibri" pitchFamily="34" charset="-120"/>
              </a:rPr>
              <a:t>Control de secuencia: OK.  </a:t>
            </a:r>
            <a:pPr indent="0" marL="0">
              <a:buNone/>
            </a:pPr>
            <a:r>
              <a:rPr lang="en-US" sz="1400" dirty="0">
                <a:solidFill>
                  <a:srgbClr val="1B1F24"/>
                </a:solidFill>
                <a:latin typeface="Calibri" pitchFamily="34" charset="0"/>
                <a:ea typeface="Calibri" pitchFamily="34" charset="-122"/>
                <a:cs typeface="Calibri" pitchFamily="34" charset="-120"/>
              </a:rPr>
              <a:t>Sin predecesor: es el primer CWP de la secuencia.</a:t>
            </a:r>
            <a:endParaRPr lang="en-US" sz="1400" dirty="0"/>
          </a:p>
        </p:txBody>
      </p:sp>
      <p:sp>
        <p:nvSpPr>
          <p:cNvPr id="33" name="Text 3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Programar hacia atrás</a:t>
            </a:r>
            <a:endParaRPr lang="en-US" sz="1000" dirty="0"/>
          </a:p>
        </p:txBody>
      </p:sp>
      <p:sp>
        <p:nvSpPr>
          <p:cNvPr id="34" name="Text 3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77</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Fechas requeridas de los 10 CWP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Calculadas por la plantilla con 13 semanas (EWP), 10 semanas (CWP) y 10 días (RAS)</a:t>
            </a:r>
            <a:endParaRPr lang="en-US" sz="15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1188720"/>
                <a:gridCol w="1188720"/>
                <a:gridCol w="1508760"/>
                <a:gridCol w="1463040"/>
                <a:gridCol w="1188720"/>
                <a:gridCol w="1828800"/>
                <a:gridCol w="896112"/>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CWP</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Inicio plan</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Fin plan</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EWP IFC requerido</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Emisión del CWP</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RAS</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Predecesor</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402336">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CWP-1.01-CIV-01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07/06/2027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26/07/2027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08/03/2027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29/03/2027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28/05/2027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r h="402336">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CWP-1.02-TUB-01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02/08/2027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06/12/2027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03/05/2027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24/05/2027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23/07/2027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CWP-1.01-CIV-01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r h="402336">
                <a:tc>
                  <a:txBody>
                    <a:bodyPr/>
                    <a:lstStyle/>
                    <a:p>
                      <a:pPr indent="0" marL="0">
                        <a:buNone/>
                      </a:pPr>
                      <a:r>
                        <a:rPr lang="en-US" sz="1200" b="1" dirty="0">
                          <a:solidFill>
                            <a:srgbClr val="2A78D6"/>
                          </a:solidFill>
                          <a:latin typeface="Calibri" pitchFamily="34" charset="0"/>
                          <a:ea typeface="Calibri" pitchFamily="34" charset="-122"/>
                          <a:cs typeface="Calibri" pitchFamily="34" charset="-120"/>
                        </a:rPr>
                        <a:t>CWP-1.02-ELE-01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16/08/2027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06/12/2027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17/05/2027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07/06/2027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06/08/2027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CWP-1.01-CIV-01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r h="402336">
                <a:tc>
                  <a:txBody>
                    <a:bodyPr/>
                    <a:lstStyle/>
                    <a:p>
                      <a:pPr indent="0" marL="0">
                        <a:buNone/>
                      </a:pPr>
                      <a:r>
                        <a:rPr lang="en-US" sz="1200" b="1" dirty="0">
                          <a:solidFill>
                            <a:srgbClr val="EB6834"/>
                          </a:solidFill>
                          <a:latin typeface="Calibri" pitchFamily="34" charset="0"/>
                          <a:ea typeface="Calibri" pitchFamily="34" charset="-122"/>
                          <a:cs typeface="Calibri" pitchFamily="34" charset="-120"/>
                        </a:rPr>
                        <a:t>CWP-2.01-CIV-01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07/02/2028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24/04/2028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08/11/2027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29/11/2027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28/01/2028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CWP-1.01-CIV-01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r h="402336">
                <a:tc>
                  <a:txBody>
                    <a:bodyPr/>
                    <a:lstStyle/>
                    <a:p>
                      <a:pPr indent="0" marL="0">
                        <a:buNone/>
                      </a:pPr>
                      <a:r>
                        <a:rPr lang="en-US" sz="1200" b="1" dirty="0">
                          <a:solidFill>
                            <a:srgbClr val="EB6834"/>
                          </a:solidFill>
                          <a:latin typeface="Calibri" pitchFamily="34" charset="0"/>
                          <a:ea typeface="Calibri" pitchFamily="34" charset="-122"/>
                          <a:cs typeface="Calibri" pitchFamily="34" charset="-120"/>
                        </a:rPr>
                        <a:t>CWP-2.03-ELE-01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06/03/2028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02/10/2028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06/12/2027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27/12/2027</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25/02/2028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CWP-1.02-ELE-01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r h="402336">
                <a:tc>
                  <a:txBody>
                    <a:bodyPr/>
                    <a:lstStyle/>
                    <a:p>
                      <a:pPr indent="0" marL="0">
                        <a:buNone/>
                      </a:pPr>
                      <a:r>
                        <a:rPr lang="en-US" sz="1200" b="1" dirty="0">
                          <a:solidFill>
                            <a:srgbClr val="EB6834"/>
                          </a:solidFill>
                          <a:latin typeface="Calibri" pitchFamily="34" charset="0"/>
                          <a:ea typeface="Calibri" pitchFamily="34" charset="-122"/>
                          <a:cs typeface="Calibri" pitchFamily="34" charset="-120"/>
                        </a:rPr>
                        <a:t>CWP-2.01-EST-01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25/04/2028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22/08/2028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25/01/2028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15/02/2028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15/04/2028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CWP-2.01-CIV-01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r h="402336">
                <a:tc>
                  <a:txBody>
                    <a:bodyPr/>
                    <a:lstStyle/>
                    <a:p>
                      <a:pPr indent="0" marL="0">
                        <a:buNone/>
                      </a:pPr>
                      <a:r>
                        <a:rPr lang="en-US" sz="1200" b="1" dirty="0">
                          <a:solidFill>
                            <a:srgbClr val="EB6834"/>
                          </a:solidFill>
                          <a:latin typeface="Calibri" pitchFamily="34" charset="0"/>
                          <a:ea typeface="Calibri" pitchFamily="34" charset="-122"/>
                          <a:cs typeface="Calibri" pitchFamily="34" charset="-120"/>
                        </a:rPr>
                        <a:t>CWP-2.01-TUB-01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28/08/2028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26/02/2029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29/05/2028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19/06/2028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18/08/2028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CWP-2.01-EST-01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r h="402336">
                <a:tc>
                  <a:txBody>
                    <a:bodyPr/>
                    <a:lstStyle/>
                    <a:p>
                      <a:pPr indent="0" marL="0">
                        <a:buNone/>
                      </a:pPr>
                      <a:r>
                        <a:rPr lang="en-US" sz="1200" b="1" dirty="0">
                          <a:solidFill>
                            <a:srgbClr val="1BAF7A"/>
                          </a:solidFill>
                          <a:latin typeface="Calibri" pitchFamily="34" charset="0"/>
                          <a:ea typeface="Calibri" pitchFamily="34" charset="-122"/>
                          <a:cs typeface="Calibri" pitchFamily="34" charset="-120"/>
                        </a:rPr>
                        <a:t>CWP-3.02-CIV-01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05/02/2029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14/05/2029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06/11/2028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27/11/2028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26/01/2029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CWP-2.01-CIV-01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r h="402336">
                <a:tc>
                  <a:txBody>
                    <a:bodyPr/>
                    <a:lstStyle/>
                    <a:p>
                      <a:pPr indent="0" marL="0">
                        <a:buNone/>
                      </a:pPr>
                      <a:r>
                        <a:rPr lang="en-US" sz="1200" b="1" dirty="0">
                          <a:solidFill>
                            <a:srgbClr val="1BAF7A"/>
                          </a:solidFill>
                          <a:latin typeface="Calibri" pitchFamily="34" charset="0"/>
                          <a:ea typeface="Calibri" pitchFamily="34" charset="-122"/>
                          <a:cs typeface="Calibri" pitchFamily="34" charset="-120"/>
                        </a:rPr>
                        <a:t>CWP-3.01-ARQ-01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05/03/2029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23/07/2029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04/12/2028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25/12/2028</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23/02/2029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CWP-1.02-TUB-01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r h="402336">
                <a:tc>
                  <a:txBody>
                    <a:bodyPr/>
                    <a:lstStyle/>
                    <a:p>
                      <a:pPr indent="0" marL="0">
                        <a:buNone/>
                      </a:pPr>
                      <a:r>
                        <a:rPr lang="en-US" sz="1200" b="1" dirty="0">
                          <a:solidFill>
                            <a:srgbClr val="1BAF7A"/>
                          </a:solidFill>
                          <a:latin typeface="Calibri" pitchFamily="34" charset="0"/>
                          <a:ea typeface="Calibri" pitchFamily="34" charset="-122"/>
                          <a:cs typeface="Calibri" pitchFamily="34" charset="-120"/>
                        </a:rPr>
                        <a:t>CWP-3.02-TUB-01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02/07/2029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24/09/2029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1F4E79"/>
                          </a:solidFill>
                          <a:latin typeface="Calibri" pitchFamily="34" charset="0"/>
                          <a:ea typeface="Calibri" pitchFamily="34" charset="-122"/>
                          <a:cs typeface="Calibri" pitchFamily="34" charset="-120"/>
                        </a:rPr>
                        <a:t>02/04/2029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B7760B"/>
                          </a:solidFill>
                          <a:latin typeface="Calibri" pitchFamily="34" charset="0"/>
                          <a:ea typeface="Calibri" pitchFamily="34" charset="-122"/>
                          <a:cs typeface="Calibri" pitchFamily="34" charset="-120"/>
                        </a:rPr>
                        <a:t>23/04/2029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b="1" dirty="0">
                          <a:solidFill>
                            <a:srgbClr val="0E7F57"/>
                          </a:solidFill>
                          <a:latin typeface="Calibri" pitchFamily="34" charset="0"/>
                          <a:ea typeface="Calibri" pitchFamily="34" charset="-122"/>
                          <a:cs typeface="Calibri" pitchFamily="34" charset="-120"/>
                        </a:rPr>
                        <a:t>22/06/2029</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CWP-2.01-TUB-01</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latin typeface="Calibri" charset="0"/>
                        <a:ea typeface="Calibri" charset="0"/>
                        <a:cs typeface="Calibri" charset="0"/>
                      </a:endParaRPr>
                    </a:p>
                  </a:txBody>
                  <a:tcPr marL="76200" marR="76200" marT="38100" marB="381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0CA30C"/>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Programar hacia atrás</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78</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Qué pasa si una fecha requerida no se cumple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El efecto dominó de romper la secuencia</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EWP tarde</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No hay planos IFC al emitir el CWP; la fabricación se retrasa; la RAS se pierde. Se mide con K01.</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CWP tarde</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Menos de 10 semanas para armar IWP y levantar restricciones: se liberan IWP incompletos (riesgo R06).</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RAS tarde</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IWP liberados sin 100 % de materiales (K02); cuadrillas esperando.</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Backlog insuficiente</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Riesgo R08: se proyecta el backlog a 8 semanas y se activa el trabajo de «plan B».</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Respuesta</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Evaluar si se recupera la fecha o se cambia la secuencia con control de cambios; nunca ignorar la desviación.</a:t>
            </a:r>
            <a:endParaRPr lang="en-US" sz="1500" dirty="0"/>
          </a:p>
        </p:txBody>
      </p:sp>
      <p:sp>
        <p:nvSpPr>
          <p:cNvPr id="29" name="Text 2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Programar hacia atrás</a:t>
            </a:r>
            <a:endParaRPr lang="en-US" sz="1000" dirty="0"/>
          </a:p>
        </p:txBody>
      </p:sp>
      <p:sp>
        <p:nvSpPr>
          <p:cNvPr id="30" name="Text 2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79</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Path of Engineering y plan de procura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Las fechas requeridas ordenan a ingeniería y procura</a:t>
            </a:r>
            <a:endParaRPr lang="en-US" sz="1500" dirty="0"/>
          </a:p>
        </p:txBody>
      </p:sp>
      <p:sp>
        <p:nvSpPr>
          <p:cNvPr id="4" name="Shape 2"/>
          <p:cNvSpPr/>
          <p:nvPr/>
        </p:nvSpPr>
        <p:spPr>
          <a:xfrm>
            <a:off x="548640" y="1554480"/>
            <a:ext cx="541004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Path of Engineering</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La lista de EWP ordenada por su fecha requerida: primero los que alimentan los CWP tempranos y las compras de largo plazo (ING-02).</a:t>
            </a:r>
            <a:endParaRPr lang="en-US" sz="1700" dirty="0"/>
          </a:p>
        </p:txBody>
      </p:sp>
      <p:sp>
        <p:nvSpPr>
          <p:cNvPr id="9" name="Shape 6"/>
          <p:cNvSpPr/>
          <p:nvPr/>
        </p:nvSpPr>
        <p:spPr>
          <a:xfrm>
            <a:off x="6233008" y="1554480"/>
            <a:ext cx="541004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646160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Plan de procura</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Cada PWP con fecha RAS; la estructura fabricada de EST-01 debe llegar el 15/04/2028.</a:t>
            </a:r>
            <a:endParaRPr lang="en-US" sz="1700" dirty="0"/>
          </a:p>
        </p:txBody>
      </p:sp>
      <p:sp>
        <p:nvSpPr>
          <p:cNvPr id="14" name="Shape 10"/>
          <p:cNvSpPr/>
          <p:nvPr/>
        </p:nvSpPr>
        <p:spPr>
          <a:xfrm>
            <a:off x="548640" y="4046220"/>
            <a:ext cx="541004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777240" y="427482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Documentación del proveedor</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Lección LA-04: darle fecha propia en el PWP; si llega tarde, retrasa los IWP de montaje.</a:t>
            </a:r>
            <a:endParaRPr lang="en-US" sz="1700" dirty="0"/>
          </a:p>
        </p:txBody>
      </p:sp>
      <p:sp>
        <p:nvSpPr>
          <p:cNvPr id="19" name="Shape 14"/>
          <p:cNvSpPr/>
          <p:nvPr/>
        </p:nvSpPr>
        <p:spPr>
          <a:xfrm>
            <a:off x="6233008" y="4046220"/>
            <a:ext cx="541004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6461608"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En el contrato</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Riesgo R02: fechas de EWP derivadas del PoC en el contrato de ingeniería; revisión quincenal del plan de liberación.</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Programar hacia atrás</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80</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Del CWP a los plazos de liberación de IWP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El PoC fija el inicio; los plazos de la fase ordenan el trabajo del planificador</a:t>
            </a:r>
            <a:endParaRPr lang="en-US" sz="1500" dirty="0"/>
          </a:p>
        </p:txBody>
      </p:sp>
      <p:sp>
        <p:nvSpPr>
          <p:cNvPr id="4" name="Shape 2"/>
          <p:cNvSpPr/>
          <p:nvPr/>
        </p:nvSpPr>
        <p:spPr>
          <a:xfrm>
            <a:off x="548640" y="1554480"/>
            <a:ext cx="541004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Fase 2: 12 / 10 / 8 / 4 / 2</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Semanas antes de la ejecución del IWP: iniciado, restricciones identificadas, asignadas, levantadas y liberación.</a:t>
            </a:r>
            <a:endParaRPr lang="en-US" sz="1700" dirty="0"/>
          </a:p>
        </p:txBody>
      </p:sp>
      <p:sp>
        <p:nvSpPr>
          <p:cNvPr id="9" name="Shape 6"/>
          <p:cNvSpPr/>
          <p:nvPr/>
        </p:nvSpPr>
        <p:spPr>
          <a:xfrm>
            <a:off x="6233008" y="1554480"/>
            <a:ext cx="541004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646160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Fases 1 y 3: 8 / 6 / 5 / 3 / 2</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Plazos más cortos en la fase piloto y en la última fase.</a:t>
            </a:r>
            <a:endParaRPr lang="en-US" sz="1700" dirty="0"/>
          </a:p>
        </p:txBody>
      </p:sp>
      <p:sp>
        <p:nvSpPr>
          <p:cNvPr id="14" name="Shape 10"/>
          <p:cNvSpPr/>
          <p:nvPr/>
        </p:nvSpPr>
        <p:spPr>
          <a:xfrm>
            <a:off x="548640" y="4046220"/>
            <a:ext cx="541004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777240" y="427482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Emisión del CWP (−10 sem)</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Coincide con el inicio de la ventana de planificación: da tiempo a dividir en IWP y levantar restricciones.</a:t>
            </a:r>
            <a:endParaRPr lang="en-US" sz="1700" dirty="0"/>
          </a:p>
        </p:txBody>
      </p:sp>
      <p:sp>
        <p:nvSpPr>
          <p:cNvPr id="19" name="Shape 14"/>
          <p:cNvSpPr/>
          <p:nvPr/>
        </p:nvSpPr>
        <p:spPr>
          <a:xfrm>
            <a:off x="6233008" y="4046220"/>
            <a:ext cx="541004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6461608"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Backlog</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Meta de 2 a 3 semanas de IWP liberados; el hito H8 exige mantenerla 4 semanas seguidas.</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Programar hacia atrás</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81</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09</a:t>
            </a:r>
            <a:endParaRPr lang="en-US" sz="9600" dirty="0"/>
          </a:p>
        </p:txBody>
      </p:sp>
      <p:sp>
        <p:nvSpPr>
          <p:cNvPr id="3" name="Text 1"/>
          <p:cNvSpPr txBox="1"/>
          <p:nvPr/>
        </p:nvSpPr>
        <p:spPr>
          <a:xfrm>
            <a:off x="548640" y="2697480"/>
            <a:ext cx="5943600" cy="118872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Línea de tiempo del PoC del proyecto tipo</a:t>
            </a:r>
            <a:endParaRPr lang="en-US" sz="30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Los 10 CWP con sus fechas de EWP, CWP y RAS, de 2027 a 2029</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Línea de tiempo completa</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Fase 1 en detalle</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Fase 2 en detalle</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Fase 3 en detalle</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Carga de horas por mes</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Línea de tiempo del PoC del proyecto tipo</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82</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Línea de tiempo completa del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Barra = construcción del CWP · ◆ EWP IFC requerido · ▲ emisión del CWP · ● RAS · flecha = predecesor</a:t>
            </a:r>
            <a:endParaRPr lang="en-US" sz="1500" dirty="0"/>
          </a:p>
        </p:txBody>
      </p:sp>
      <p:sp>
        <p:nvSpPr>
          <p:cNvPr id="4" name="Shape 2"/>
          <p:cNvSpPr/>
          <p:nvPr/>
        </p:nvSpPr>
        <p:spPr>
          <a:xfrm>
            <a:off x="3566160" y="1709928"/>
            <a:ext cx="0" cy="4023360"/>
          </a:xfrm>
          <a:prstGeom prst="line">
            <a:avLst/>
          </a:prstGeom>
          <a:noFill/>
          <a:ln w="12700">
            <a:solidFill>
              <a:srgbClr val="B9CCE0"/>
            </a:solidFill>
            <a:prstDash val="solid"/>
          </a:ln>
        </p:spPr>
      </p:sp>
      <p:sp>
        <p:nvSpPr>
          <p:cNvPr id="5" name="Text 3"/>
          <p:cNvSpPr txBox="1"/>
          <p:nvPr/>
        </p:nvSpPr>
        <p:spPr>
          <a:xfrm>
            <a:off x="3547872" y="1417320"/>
            <a:ext cx="731520" cy="256032"/>
          </a:xfrm>
          <a:prstGeom prst="rect">
            <a:avLst/>
          </a:prstGeom>
          <a:noFill/>
          <a:ln/>
        </p:spPr>
        <p:txBody>
          <a:bodyPr wrap="square" lIns="0" tIns="0" rIns="0" bIns="0" rtlCol="0" anchor="t"/>
          <a:lstStyle/>
          <a:p>
            <a:pPr indent="0" marL="0">
              <a:buNone/>
            </a:pPr>
            <a:r>
              <a:rPr lang="en-US" sz="1100" b="1" dirty="0">
                <a:solidFill>
                  <a:srgbClr val="163A5C"/>
                </a:solidFill>
                <a:latin typeface="Calibri" pitchFamily="34" charset="0"/>
                <a:ea typeface="Calibri" pitchFamily="34" charset="-122"/>
                <a:cs typeface="Calibri" pitchFamily="34" charset="-120"/>
              </a:rPr>
              <a:t>2027</a:t>
            </a:r>
            <a:endParaRPr lang="en-US" sz="1100" dirty="0"/>
          </a:p>
        </p:txBody>
      </p:sp>
      <p:sp>
        <p:nvSpPr>
          <p:cNvPr id="6" name="Shape 4"/>
          <p:cNvSpPr/>
          <p:nvPr/>
        </p:nvSpPr>
        <p:spPr>
          <a:xfrm>
            <a:off x="4222499" y="1709928"/>
            <a:ext cx="0" cy="4023360"/>
          </a:xfrm>
          <a:prstGeom prst="line">
            <a:avLst/>
          </a:prstGeom>
          <a:noFill/>
          <a:ln w="6350">
            <a:solidFill>
              <a:srgbClr val="E9EEF3"/>
            </a:solidFill>
            <a:prstDash val="solid"/>
          </a:ln>
        </p:spPr>
      </p:sp>
      <p:sp>
        <p:nvSpPr>
          <p:cNvPr id="7" name="Text 5"/>
          <p:cNvSpPr txBox="1"/>
          <p:nvPr/>
        </p:nvSpPr>
        <p:spPr>
          <a:xfrm>
            <a:off x="4204211" y="1417320"/>
            <a:ext cx="73152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abr</a:t>
            </a:r>
            <a:endParaRPr lang="en-US" sz="1000" dirty="0"/>
          </a:p>
        </p:txBody>
      </p:sp>
      <p:sp>
        <p:nvSpPr>
          <p:cNvPr id="8" name="Shape 6"/>
          <p:cNvSpPr/>
          <p:nvPr/>
        </p:nvSpPr>
        <p:spPr>
          <a:xfrm>
            <a:off x="4886130" y="1709928"/>
            <a:ext cx="0" cy="4023360"/>
          </a:xfrm>
          <a:prstGeom prst="line">
            <a:avLst/>
          </a:prstGeom>
          <a:noFill/>
          <a:ln w="6350">
            <a:solidFill>
              <a:srgbClr val="E9EEF3"/>
            </a:solidFill>
            <a:prstDash val="solid"/>
          </a:ln>
        </p:spPr>
      </p:sp>
      <p:sp>
        <p:nvSpPr>
          <p:cNvPr id="9" name="Text 7"/>
          <p:cNvSpPr txBox="1"/>
          <p:nvPr/>
        </p:nvSpPr>
        <p:spPr>
          <a:xfrm>
            <a:off x="4867842" y="1417320"/>
            <a:ext cx="73152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jul</a:t>
            </a:r>
            <a:endParaRPr lang="en-US" sz="1000" dirty="0"/>
          </a:p>
        </p:txBody>
      </p:sp>
      <p:sp>
        <p:nvSpPr>
          <p:cNvPr id="10" name="Shape 8"/>
          <p:cNvSpPr/>
          <p:nvPr/>
        </p:nvSpPr>
        <p:spPr>
          <a:xfrm>
            <a:off x="5557054" y="1709928"/>
            <a:ext cx="0" cy="4023360"/>
          </a:xfrm>
          <a:prstGeom prst="line">
            <a:avLst/>
          </a:prstGeom>
          <a:noFill/>
          <a:ln w="6350">
            <a:solidFill>
              <a:srgbClr val="E9EEF3"/>
            </a:solidFill>
            <a:prstDash val="solid"/>
          </a:ln>
        </p:spPr>
      </p:sp>
      <p:sp>
        <p:nvSpPr>
          <p:cNvPr id="11" name="Text 9"/>
          <p:cNvSpPr txBox="1"/>
          <p:nvPr/>
        </p:nvSpPr>
        <p:spPr>
          <a:xfrm>
            <a:off x="5538766" y="1417320"/>
            <a:ext cx="73152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oct</a:t>
            </a:r>
            <a:endParaRPr lang="en-US" sz="1000" dirty="0"/>
          </a:p>
        </p:txBody>
      </p:sp>
      <p:sp>
        <p:nvSpPr>
          <p:cNvPr id="12" name="Shape 10"/>
          <p:cNvSpPr/>
          <p:nvPr/>
        </p:nvSpPr>
        <p:spPr>
          <a:xfrm>
            <a:off x="6227978" y="1709928"/>
            <a:ext cx="0" cy="4023360"/>
          </a:xfrm>
          <a:prstGeom prst="line">
            <a:avLst/>
          </a:prstGeom>
          <a:noFill/>
          <a:ln w="12700">
            <a:solidFill>
              <a:srgbClr val="B9CCE0"/>
            </a:solidFill>
            <a:prstDash val="solid"/>
          </a:ln>
        </p:spPr>
      </p:sp>
      <p:sp>
        <p:nvSpPr>
          <p:cNvPr id="13" name="Text 11"/>
          <p:cNvSpPr txBox="1"/>
          <p:nvPr/>
        </p:nvSpPr>
        <p:spPr>
          <a:xfrm>
            <a:off x="6209690" y="1417320"/>
            <a:ext cx="731520" cy="256032"/>
          </a:xfrm>
          <a:prstGeom prst="rect">
            <a:avLst/>
          </a:prstGeom>
          <a:noFill/>
          <a:ln/>
        </p:spPr>
        <p:txBody>
          <a:bodyPr wrap="square" lIns="0" tIns="0" rIns="0" bIns="0" rtlCol="0" anchor="t"/>
          <a:lstStyle/>
          <a:p>
            <a:pPr indent="0" marL="0">
              <a:buNone/>
            </a:pPr>
            <a:r>
              <a:rPr lang="en-US" sz="1100" b="1" dirty="0">
                <a:solidFill>
                  <a:srgbClr val="163A5C"/>
                </a:solidFill>
                <a:latin typeface="Calibri" pitchFamily="34" charset="0"/>
                <a:ea typeface="Calibri" pitchFamily="34" charset="-122"/>
                <a:cs typeface="Calibri" pitchFamily="34" charset="-120"/>
              </a:rPr>
              <a:t>2028</a:t>
            </a:r>
            <a:endParaRPr lang="en-US" sz="1100" dirty="0"/>
          </a:p>
        </p:txBody>
      </p:sp>
      <p:sp>
        <p:nvSpPr>
          <p:cNvPr id="14" name="Shape 12"/>
          <p:cNvSpPr/>
          <p:nvPr/>
        </p:nvSpPr>
        <p:spPr>
          <a:xfrm>
            <a:off x="6891610" y="1709928"/>
            <a:ext cx="0" cy="4023360"/>
          </a:xfrm>
          <a:prstGeom prst="line">
            <a:avLst/>
          </a:prstGeom>
          <a:noFill/>
          <a:ln w="6350">
            <a:solidFill>
              <a:srgbClr val="E9EEF3"/>
            </a:solidFill>
            <a:prstDash val="solid"/>
          </a:ln>
        </p:spPr>
      </p:sp>
      <p:sp>
        <p:nvSpPr>
          <p:cNvPr id="15" name="Text 13"/>
          <p:cNvSpPr txBox="1"/>
          <p:nvPr/>
        </p:nvSpPr>
        <p:spPr>
          <a:xfrm>
            <a:off x="6873322" y="1417320"/>
            <a:ext cx="73152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abr</a:t>
            </a:r>
            <a:endParaRPr lang="en-US" sz="1000" dirty="0"/>
          </a:p>
        </p:txBody>
      </p:sp>
      <p:sp>
        <p:nvSpPr>
          <p:cNvPr id="16" name="Shape 14"/>
          <p:cNvSpPr/>
          <p:nvPr/>
        </p:nvSpPr>
        <p:spPr>
          <a:xfrm>
            <a:off x="7555241" y="1709928"/>
            <a:ext cx="0" cy="4023360"/>
          </a:xfrm>
          <a:prstGeom prst="line">
            <a:avLst/>
          </a:prstGeom>
          <a:noFill/>
          <a:ln w="6350">
            <a:solidFill>
              <a:srgbClr val="E9EEF3"/>
            </a:solidFill>
            <a:prstDash val="solid"/>
          </a:ln>
        </p:spPr>
      </p:sp>
      <p:sp>
        <p:nvSpPr>
          <p:cNvPr id="17" name="Text 15"/>
          <p:cNvSpPr txBox="1"/>
          <p:nvPr/>
        </p:nvSpPr>
        <p:spPr>
          <a:xfrm>
            <a:off x="7536953" y="1417320"/>
            <a:ext cx="73152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jul</a:t>
            </a:r>
            <a:endParaRPr lang="en-US" sz="1000" dirty="0"/>
          </a:p>
        </p:txBody>
      </p:sp>
      <p:sp>
        <p:nvSpPr>
          <p:cNvPr id="18" name="Shape 16"/>
          <p:cNvSpPr/>
          <p:nvPr/>
        </p:nvSpPr>
        <p:spPr>
          <a:xfrm>
            <a:off x="8226165" y="1709928"/>
            <a:ext cx="0" cy="4023360"/>
          </a:xfrm>
          <a:prstGeom prst="line">
            <a:avLst/>
          </a:prstGeom>
          <a:noFill/>
          <a:ln w="6350">
            <a:solidFill>
              <a:srgbClr val="E9EEF3"/>
            </a:solidFill>
            <a:prstDash val="solid"/>
          </a:ln>
        </p:spPr>
      </p:sp>
      <p:sp>
        <p:nvSpPr>
          <p:cNvPr id="19" name="Text 17"/>
          <p:cNvSpPr txBox="1"/>
          <p:nvPr/>
        </p:nvSpPr>
        <p:spPr>
          <a:xfrm>
            <a:off x="8207877" y="1417320"/>
            <a:ext cx="73152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oct</a:t>
            </a:r>
            <a:endParaRPr lang="en-US" sz="1000" dirty="0"/>
          </a:p>
        </p:txBody>
      </p:sp>
      <p:sp>
        <p:nvSpPr>
          <p:cNvPr id="20" name="Shape 18"/>
          <p:cNvSpPr/>
          <p:nvPr/>
        </p:nvSpPr>
        <p:spPr>
          <a:xfrm>
            <a:off x="8897089" y="1709928"/>
            <a:ext cx="0" cy="4023360"/>
          </a:xfrm>
          <a:prstGeom prst="line">
            <a:avLst/>
          </a:prstGeom>
          <a:noFill/>
          <a:ln w="12700">
            <a:solidFill>
              <a:srgbClr val="B9CCE0"/>
            </a:solidFill>
            <a:prstDash val="solid"/>
          </a:ln>
        </p:spPr>
      </p:sp>
      <p:sp>
        <p:nvSpPr>
          <p:cNvPr id="21" name="Text 19"/>
          <p:cNvSpPr txBox="1"/>
          <p:nvPr/>
        </p:nvSpPr>
        <p:spPr>
          <a:xfrm>
            <a:off x="8878801" y="1417320"/>
            <a:ext cx="731520" cy="256032"/>
          </a:xfrm>
          <a:prstGeom prst="rect">
            <a:avLst/>
          </a:prstGeom>
          <a:noFill/>
          <a:ln/>
        </p:spPr>
        <p:txBody>
          <a:bodyPr wrap="square" lIns="0" tIns="0" rIns="0" bIns="0" rtlCol="0" anchor="t"/>
          <a:lstStyle/>
          <a:p>
            <a:pPr indent="0" marL="0">
              <a:buNone/>
            </a:pPr>
            <a:r>
              <a:rPr lang="en-US" sz="1100" b="1" dirty="0">
                <a:solidFill>
                  <a:srgbClr val="163A5C"/>
                </a:solidFill>
                <a:latin typeface="Calibri" pitchFamily="34" charset="0"/>
                <a:ea typeface="Calibri" pitchFamily="34" charset="-122"/>
                <a:cs typeface="Calibri" pitchFamily="34" charset="-120"/>
              </a:rPr>
              <a:t>2029</a:t>
            </a:r>
            <a:endParaRPr lang="en-US" sz="1100" dirty="0"/>
          </a:p>
        </p:txBody>
      </p:sp>
      <p:sp>
        <p:nvSpPr>
          <p:cNvPr id="22" name="Shape 20"/>
          <p:cNvSpPr/>
          <p:nvPr/>
        </p:nvSpPr>
        <p:spPr>
          <a:xfrm>
            <a:off x="9553428" y="1709928"/>
            <a:ext cx="0" cy="4023360"/>
          </a:xfrm>
          <a:prstGeom prst="line">
            <a:avLst/>
          </a:prstGeom>
          <a:noFill/>
          <a:ln w="6350">
            <a:solidFill>
              <a:srgbClr val="E9EEF3"/>
            </a:solidFill>
            <a:prstDash val="solid"/>
          </a:ln>
        </p:spPr>
      </p:sp>
      <p:sp>
        <p:nvSpPr>
          <p:cNvPr id="23" name="Text 21"/>
          <p:cNvSpPr txBox="1"/>
          <p:nvPr/>
        </p:nvSpPr>
        <p:spPr>
          <a:xfrm>
            <a:off x="9535140" y="1417320"/>
            <a:ext cx="73152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abr</a:t>
            </a:r>
            <a:endParaRPr lang="en-US" sz="1000" dirty="0"/>
          </a:p>
        </p:txBody>
      </p:sp>
      <p:sp>
        <p:nvSpPr>
          <p:cNvPr id="24" name="Shape 22"/>
          <p:cNvSpPr/>
          <p:nvPr/>
        </p:nvSpPr>
        <p:spPr>
          <a:xfrm>
            <a:off x="10217060" y="1709928"/>
            <a:ext cx="0" cy="4023360"/>
          </a:xfrm>
          <a:prstGeom prst="line">
            <a:avLst/>
          </a:prstGeom>
          <a:noFill/>
          <a:ln w="6350">
            <a:solidFill>
              <a:srgbClr val="E9EEF3"/>
            </a:solidFill>
            <a:prstDash val="solid"/>
          </a:ln>
        </p:spPr>
      </p:sp>
      <p:sp>
        <p:nvSpPr>
          <p:cNvPr id="25" name="Text 23"/>
          <p:cNvSpPr txBox="1"/>
          <p:nvPr/>
        </p:nvSpPr>
        <p:spPr>
          <a:xfrm>
            <a:off x="10198772" y="1417320"/>
            <a:ext cx="73152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jul</a:t>
            </a:r>
            <a:endParaRPr lang="en-US" sz="1000" dirty="0"/>
          </a:p>
        </p:txBody>
      </p:sp>
      <p:sp>
        <p:nvSpPr>
          <p:cNvPr id="26" name="Shape 24"/>
          <p:cNvSpPr/>
          <p:nvPr/>
        </p:nvSpPr>
        <p:spPr>
          <a:xfrm>
            <a:off x="10887984" y="1709928"/>
            <a:ext cx="0" cy="4023360"/>
          </a:xfrm>
          <a:prstGeom prst="line">
            <a:avLst/>
          </a:prstGeom>
          <a:noFill/>
          <a:ln w="6350">
            <a:solidFill>
              <a:srgbClr val="E9EEF3"/>
            </a:solidFill>
            <a:prstDash val="solid"/>
          </a:ln>
        </p:spPr>
      </p:sp>
      <p:sp>
        <p:nvSpPr>
          <p:cNvPr id="27" name="Text 25"/>
          <p:cNvSpPr txBox="1"/>
          <p:nvPr/>
        </p:nvSpPr>
        <p:spPr>
          <a:xfrm>
            <a:off x="10869696" y="1417320"/>
            <a:ext cx="73152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oct</a:t>
            </a:r>
            <a:endParaRPr lang="en-US" sz="1000" dirty="0"/>
          </a:p>
        </p:txBody>
      </p:sp>
      <p:sp>
        <p:nvSpPr>
          <p:cNvPr id="28" name="Shape 26"/>
          <p:cNvSpPr/>
          <p:nvPr/>
        </p:nvSpPr>
        <p:spPr>
          <a:xfrm>
            <a:off x="548640" y="1828800"/>
            <a:ext cx="11094415" cy="393192"/>
          </a:xfrm>
          <a:prstGeom prst="rect">
            <a:avLst/>
          </a:prstGeom>
          <a:solidFill>
            <a:srgbClr val="F4F7FA">
              <a:alpha val="70000"/>
            </a:srgbClr>
          </a:solidFill>
          <a:ln w="12700">
            <a:solidFill>
              <a:srgbClr val="F4F7FA"/>
            </a:solidFill>
            <a:prstDash val="solid"/>
          </a:ln>
        </p:spPr>
      </p:sp>
      <p:sp>
        <p:nvSpPr>
          <p:cNvPr id="29" name="Text 27"/>
          <p:cNvSpPr txBox="1"/>
          <p:nvPr/>
        </p:nvSpPr>
        <p:spPr>
          <a:xfrm>
            <a:off x="594360" y="1828800"/>
            <a:ext cx="2926080" cy="393192"/>
          </a:xfrm>
          <a:prstGeom prst="rect">
            <a:avLst/>
          </a:prstGeom>
          <a:noFill/>
          <a:ln/>
        </p:spPr>
        <p:txBody>
          <a:bodyPr wrap="square" lIns="0" tIns="0" rIns="0" bIns="0" rtlCol="0" anchor="ctr">
            <a:normAutofit/>
          </a:bodyPr>
          <a:lstStyle/>
          <a:p>
            <a:pPr indent="0" marL="0">
              <a:buNone/>
            </a:pPr>
            <a:r>
              <a:rPr lang="en-US" sz="1100" b="1" dirty="0">
                <a:solidFill>
                  <a:srgbClr val="2A78D6"/>
                </a:solidFill>
                <a:latin typeface="Calibri" pitchFamily="34" charset="0"/>
                <a:ea typeface="Calibri" pitchFamily="34" charset="-122"/>
                <a:cs typeface="Calibri" pitchFamily="34" charset="-120"/>
              </a:rPr>
              <a:t>CWP-1.01-CIV-01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Movimiento de tierras plataforma norte</a:t>
            </a:r>
            <a:endParaRPr lang="en-US" sz="1100" dirty="0"/>
          </a:p>
        </p:txBody>
      </p:sp>
      <p:sp>
        <p:nvSpPr>
          <p:cNvPr id="30" name="Shape 28"/>
          <p:cNvSpPr/>
          <p:nvPr/>
        </p:nvSpPr>
        <p:spPr>
          <a:xfrm>
            <a:off x="4047475" y="2025396"/>
            <a:ext cx="663631" cy="0"/>
          </a:xfrm>
          <a:prstGeom prst="line">
            <a:avLst/>
          </a:prstGeom>
          <a:noFill/>
          <a:ln w="12700">
            <a:solidFill>
              <a:srgbClr val="B9CCE0"/>
            </a:solidFill>
            <a:prstDash val="dash"/>
          </a:ln>
        </p:spPr>
      </p:sp>
      <p:sp>
        <p:nvSpPr>
          <p:cNvPr id="31" name="Shape 29"/>
          <p:cNvSpPr/>
          <p:nvPr/>
        </p:nvSpPr>
        <p:spPr>
          <a:xfrm>
            <a:off x="4711107" y="1915302"/>
            <a:ext cx="357340" cy="220188"/>
          </a:xfrm>
          <a:prstGeom prst="roundRect">
            <a:avLst>
              <a:gd name="adj" fmla="val 16611"/>
            </a:avLst>
          </a:prstGeom>
          <a:solidFill>
            <a:srgbClr val="2A78D6"/>
          </a:solidFill>
          <a:ln w="12700">
            <a:solidFill>
              <a:srgbClr val="2A78D6"/>
            </a:solidFill>
            <a:prstDash val="solid"/>
          </a:ln>
        </p:spPr>
      </p:sp>
      <p:sp>
        <p:nvSpPr>
          <p:cNvPr id="32" name="Shape 30"/>
          <p:cNvSpPr/>
          <p:nvPr/>
        </p:nvSpPr>
        <p:spPr>
          <a:xfrm>
            <a:off x="3956035" y="1933956"/>
            <a:ext cx="182880" cy="182880"/>
          </a:xfrm>
          <a:prstGeom prst="diamond">
            <a:avLst/>
          </a:prstGeom>
          <a:solidFill>
            <a:srgbClr val="1F4E79"/>
          </a:solidFill>
          <a:ln w="6350">
            <a:solidFill>
              <a:srgbClr val="FFFFFF"/>
            </a:solidFill>
            <a:prstDash val="solid"/>
          </a:ln>
        </p:spPr>
      </p:sp>
      <p:sp>
        <p:nvSpPr>
          <p:cNvPr id="33" name="Shape 31"/>
          <p:cNvSpPr/>
          <p:nvPr/>
        </p:nvSpPr>
        <p:spPr>
          <a:xfrm>
            <a:off x="4109181" y="1933956"/>
            <a:ext cx="182880" cy="182880"/>
          </a:xfrm>
          <a:prstGeom prst="triangle">
            <a:avLst/>
          </a:prstGeom>
          <a:solidFill>
            <a:srgbClr val="F5A623"/>
          </a:solidFill>
          <a:ln w="6350">
            <a:solidFill>
              <a:srgbClr val="0F2A43"/>
            </a:solidFill>
            <a:prstDash val="solid"/>
          </a:ln>
        </p:spPr>
      </p:sp>
      <p:sp>
        <p:nvSpPr>
          <p:cNvPr id="34" name="Shape 32"/>
          <p:cNvSpPr/>
          <p:nvPr/>
        </p:nvSpPr>
        <p:spPr>
          <a:xfrm>
            <a:off x="4546740" y="1933956"/>
            <a:ext cx="182880" cy="182880"/>
          </a:xfrm>
          <a:prstGeom prst="ellipse">
            <a:avLst/>
          </a:prstGeom>
          <a:solidFill>
            <a:srgbClr val="1BAF7A"/>
          </a:solidFill>
          <a:ln w="6350">
            <a:solidFill>
              <a:srgbClr val="FFFFFF"/>
            </a:solidFill>
            <a:prstDash val="solid"/>
          </a:ln>
        </p:spPr>
      </p:sp>
      <p:sp>
        <p:nvSpPr>
          <p:cNvPr id="35" name="Text 33"/>
          <p:cNvSpPr txBox="1"/>
          <p:nvPr/>
        </p:nvSpPr>
        <p:spPr>
          <a:xfrm>
            <a:off x="594360" y="2221992"/>
            <a:ext cx="2926080" cy="393192"/>
          </a:xfrm>
          <a:prstGeom prst="rect">
            <a:avLst/>
          </a:prstGeom>
          <a:noFill/>
          <a:ln/>
        </p:spPr>
        <p:txBody>
          <a:bodyPr wrap="square" lIns="0" tIns="0" rIns="0" bIns="0" rtlCol="0" anchor="ctr">
            <a:normAutofit/>
          </a:bodyPr>
          <a:lstStyle/>
          <a:p>
            <a:pPr indent="0" marL="0">
              <a:buNone/>
            </a:pPr>
            <a:r>
              <a:rPr lang="en-US" sz="1100" b="1" dirty="0">
                <a:solidFill>
                  <a:srgbClr val="2A78D6"/>
                </a:solidFill>
                <a:latin typeface="Calibri" pitchFamily="34" charset="0"/>
                <a:ea typeface="Calibri" pitchFamily="34" charset="-122"/>
                <a:cs typeface="Calibri" pitchFamily="34" charset="-120"/>
              </a:rPr>
              <a:t>CWP-1.02-TUB-01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Redes de agua y desagüe</a:t>
            </a:r>
            <a:endParaRPr lang="en-US" sz="1100" dirty="0"/>
          </a:p>
        </p:txBody>
      </p:sp>
      <p:sp>
        <p:nvSpPr>
          <p:cNvPr id="36" name="Shape 34"/>
          <p:cNvSpPr/>
          <p:nvPr/>
        </p:nvSpPr>
        <p:spPr>
          <a:xfrm>
            <a:off x="4455864" y="2418588"/>
            <a:ext cx="663631" cy="0"/>
          </a:xfrm>
          <a:prstGeom prst="line">
            <a:avLst/>
          </a:prstGeom>
          <a:noFill/>
          <a:ln w="12700">
            <a:solidFill>
              <a:srgbClr val="B9CCE0"/>
            </a:solidFill>
            <a:prstDash val="dash"/>
          </a:ln>
        </p:spPr>
      </p:sp>
      <p:sp>
        <p:nvSpPr>
          <p:cNvPr id="37" name="Shape 35"/>
          <p:cNvSpPr/>
          <p:nvPr/>
        </p:nvSpPr>
        <p:spPr>
          <a:xfrm>
            <a:off x="5119495" y="2308494"/>
            <a:ext cx="918874" cy="220188"/>
          </a:xfrm>
          <a:prstGeom prst="roundRect">
            <a:avLst>
              <a:gd name="adj" fmla="val 16611"/>
            </a:avLst>
          </a:prstGeom>
          <a:solidFill>
            <a:srgbClr val="2A78D6"/>
          </a:solidFill>
          <a:ln w="12700">
            <a:solidFill>
              <a:srgbClr val="2A78D6"/>
            </a:solidFill>
            <a:prstDash val="solid"/>
          </a:ln>
        </p:spPr>
      </p:sp>
      <p:sp>
        <p:nvSpPr>
          <p:cNvPr id="38" name="Text 36"/>
          <p:cNvSpPr txBox="1"/>
          <p:nvPr/>
        </p:nvSpPr>
        <p:spPr>
          <a:xfrm>
            <a:off x="5119495" y="2308494"/>
            <a:ext cx="918874" cy="2201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18 sem</a:t>
            </a:r>
            <a:endParaRPr lang="en-US" sz="950" dirty="0"/>
          </a:p>
        </p:txBody>
      </p:sp>
      <p:sp>
        <p:nvSpPr>
          <p:cNvPr id="39" name="Shape 37"/>
          <p:cNvSpPr/>
          <p:nvPr/>
        </p:nvSpPr>
        <p:spPr>
          <a:xfrm>
            <a:off x="4364424" y="2327148"/>
            <a:ext cx="182880" cy="182880"/>
          </a:xfrm>
          <a:prstGeom prst="diamond">
            <a:avLst/>
          </a:prstGeom>
          <a:solidFill>
            <a:srgbClr val="1F4E79"/>
          </a:solidFill>
          <a:ln w="6350">
            <a:solidFill>
              <a:srgbClr val="FFFFFF"/>
            </a:solidFill>
            <a:prstDash val="solid"/>
          </a:ln>
        </p:spPr>
      </p:sp>
      <p:sp>
        <p:nvSpPr>
          <p:cNvPr id="40" name="Shape 38"/>
          <p:cNvSpPr/>
          <p:nvPr/>
        </p:nvSpPr>
        <p:spPr>
          <a:xfrm>
            <a:off x="4517569" y="2327148"/>
            <a:ext cx="182880" cy="182880"/>
          </a:xfrm>
          <a:prstGeom prst="triangle">
            <a:avLst/>
          </a:prstGeom>
          <a:solidFill>
            <a:srgbClr val="F5A623"/>
          </a:solidFill>
          <a:ln w="6350">
            <a:solidFill>
              <a:srgbClr val="0F2A43"/>
            </a:solidFill>
            <a:prstDash val="solid"/>
          </a:ln>
        </p:spPr>
      </p:sp>
      <p:sp>
        <p:nvSpPr>
          <p:cNvPr id="41" name="Shape 39"/>
          <p:cNvSpPr/>
          <p:nvPr/>
        </p:nvSpPr>
        <p:spPr>
          <a:xfrm>
            <a:off x="4955129" y="2327148"/>
            <a:ext cx="182880" cy="182880"/>
          </a:xfrm>
          <a:prstGeom prst="ellipse">
            <a:avLst/>
          </a:prstGeom>
          <a:solidFill>
            <a:srgbClr val="1BAF7A"/>
          </a:solidFill>
          <a:ln w="6350">
            <a:solidFill>
              <a:srgbClr val="FFFFFF"/>
            </a:solidFill>
            <a:prstDash val="solid"/>
          </a:ln>
        </p:spPr>
      </p:sp>
      <p:sp>
        <p:nvSpPr>
          <p:cNvPr id="42" name="Shape 40"/>
          <p:cNvSpPr/>
          <p:nvPr/>
        </p:nvSpPr>
        <p:spPr>
          <a:xfrm>
            <a:off x="548640" y="2615184"/>
            <a:ext cx="11094415" cy="393192"/>
          </a:xfrm>
          <a:prstGeom prst="rect">
            <a:avLst/>
          </a:prstGeom>
          <a:solidFill>
            <a:srgbClr val="F4F7FA">
              <a:alpha val="70000"/>
            </a:srgbClr>
          </a:solidFill>
          <a:ln w="12700">
            <a:solidFill>
              <a:srgbClr val="F4F7FA"/>
            </a:solidFill>
            <a:prstDash val="solid"/>
          </a:ln>
        </p:spPr>
      </p:sp>
      <p:sp>
        <p:nvSpPr>
          <p:cNvPr id="43" name="Text 41"/>
          <p:cNvSpPr txBox="1"/>
          <p:nvPr/>
        </p:nvSpPr>
        <p:spPr>
          <a:xfrm>
            <a:off x="594360" y="2615184"/>
            <a:ext cx="2926080" cy="393192"/>
          </a:xfrm>
          <a:prstGeom prst="rect">
            <a:avLst/>
          </a:prstGeom>
          <a:noFill/>
          <a:ln/>
        </p:spPr>
        <p:txBody>
          <a:bodyPr wrap="square" lIns="0" tIns="0" rIns="0" bIns="0" rtlCol="0" anchor="ctr">
            <a:normAutofit/>
          </a:bodyPr>
          <a:lstStyle/>
          <a:p>
            <a:pPr indent="0" marL="0">
              <a:buNone/>
            </a:pPr>
            <a:r>
              <a:rPr lang="en-US" sz="1100" b="1" dirty="0">
                <a:solidFill>
                  <a:srgbClr val="2A78D6"/>
                </a:solidFill>
                <a:latin typeface="Calibri" pitchFamily="34" charset="0"/>
                <a:ea typeface="Calibri" pitchFamily="34" charset="-122"/>
                <a:cs typeface="Calibri" pitchFamily="34" charset="-120"/>
              </a:rPr>
              <a:t>CWP-1.02-ELE-01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Bancos de ductos eléctricos</a:t>
            </a:r>
            <a:endParaRPr lang="en-US" sz="1100" dirty="0"/>
          </a:p>
        </p:txBody>
      </p:sp>
      <p:sp>
        <p:nvSpPr>
          <p:cNvPr id="44" name="Shape 42"/>
          <p:cNvSpPr/>
          <p:nvPr/>
        </p:nvSpPr>
        <p:spPr>
          <a:xfrm>
            <a:off x="4557961" y="2811780"/>
            <a:ext cx="663631" cy="0"/>
          </a:xfrm>
          <a:prstGeom prst="line">
            <a:avLst/>
          </a:prstGeom>
          <a:noFill/>
          <a:ln w="12700">
            <a:solidFill>
              <a:srgbClr val="B9CCE0"/>
            </a:solidFill>
            <a:prstDash val="dash"/>
          </a:ln>
        </p:spPr>
      </p:sp>
      <p:sp>
        <p:nvSpPr>
          <p:cNvPr id="45" name="Shape 43"/>
          <p:cNvSpPr/>
          <p:nvPr/>
        </p:nvSpPr>
        <p:spPr>
          <a:xfrm>
            <a:off x="5221592" y="2701686"/>
            <a:ext cx="816777" cy="220188"/>
          </a:xfrm>
          <a:prstGeom prst="roundRect">
            <a:avLst>
              <a:gd name="adj" fmla="val 16611"/>
            </a:avLst>
          </a:prstGeom>
          <a:solidFill>
            <a:srgbClr val="2A78D6"/>
          </a:solidFill>
          <a:ln w="12700">
            <a:solidFill>
              <a:srgbClr val="2A78D6"/>
            </a:solidFill>
            <a:prstDash val="solid"/>
          </a:ln>
        </p:spPr>
      </p:sp>
      <p:sp>
        <p:nvSpPr>
          <p:cNvPr id="46" name="Text 44"/>
          <p:cNvSpPr txBox="1"/>
          <p:nvPr/>
        </p:nvSpPr>
        <p:spPr>
          <a:xfrm>
            <a:off x="5221592" y="2701686"/>
            <a:ext cx="816777" cy="2201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16 sem</a:t>
            </a:r>
            <a:endParaRPr lang="en-US" sz="950" dirty="0"/>
          </a:p>
        </p:txBody>
      </p:sp>
      <p:sp>
        <p:nvSpPr>
          <p:cNvPr id="47" name="Shape 45"/>
          <p:cNvSpPr/>
          <p:nvPr/>
        </p:nvSpPr>
        <p:spPr>
          <a:xfrm>
            <a:off x="4466521" y="2720340"/>
            <a:ext cx="182880" cy="182880"/>
          </a:xfrm>
          <a:prstGeom prst="diamond">
            <a:avLst/>
          </a:prstGeom>
          <a:solidFill>
            <a:srgbClr val="1F4E79"/>
          </a:solidFill>
          <a:ln w="6350">
            <a:solidFill>
              <a:srgbClr val="FFFFFF"/>
            </a:solidFill>
            <a:prstDash val="solid"/>
          </a:ln>
        </p:spPr>
      </p:sp>
      <p:sp>
        <p:nvSpPr>
          <p:cNvPr id="48" name="Shape 46"/>
          <p:cNvSpPr/>
          <p:nvPr/>
        </p:nvSpPr>
        <p:spPr>
          <a:xfrm>
            <a:off x="4619667" y="2720340"/>
            <a:ext cx="182880" cy="182880"/>
          </a:xfrm>
          <a:prstGeom prst="triangle">
            <a:avLst/>
          </a:prstGeom>
          <a:solidFill>
            <a:srgbClr val="F5A623"/>
          </a:solidFill>
          <a:ln w="6350">
            <a:solidFill>
              <a:srgbClr val="0F2A43"/>
            </a:solidFill>
            <a:prstDash val="solid"/>
          </a:ln>
        </p:spPr>
      </p:sp>
      <p:sp>
        <p:nvSpPr>
          <p:cNvPr id="49" name="Shape 47"/>
          <p:cNvSpPr/>
          <p:nvPr/>
        </p:nvSpPr>
        <p:spPr>
          <a:xfrm>
            <a:off x="5057226" y="2720340"/>
            <a:ext cx="182880" cy="182880"/>
          </a:xfrm>
          <a:prstGeom prst="ellipse">
            <a:avLst/>
          </a:prstGeom>
          <a:solidFill>
            <a:srgbClr val="1BAF7A"/>
          </a:solidFill>
          <a:ln w="6350">
            <a:solidFill>
              <a:srgbClr val="FFFFFF"/>
            </a:solidFill>
            <a:prstDash val="solid"/>
          </a:ln>
        </p:spPr>
      </p:sp>
      <p:sp>
        <p:nvSpPr>
          <p:cNvPr id="50" name="Text 48"/>
          <p:cNvSpPr txBox="1"/>
          <p:nvPr/>
        </p:nvSpPr>
        <p:spPr>
          <a:xfrm>
            <a:off x="594360" y="3008376"/>
            <a:ext cx="2926080" cy="393192"/>
          </a:xfrm>
          <a:prstGeom prst="rect">
            <a:avLst/>
          </a:prstGeom>
          <a:noFill/>
          <a:ln/>
        </p:spPr>
        <p:txBody>
          <a:bodyPr wrap="square" lIns="0" tIns="0" rIns="0" bIns="0" rtlCol="0" anchor="ctr">
            <a:normAutofit/>
          </a:bodyPr>
          <a:lstStyle/>
          <a:p>
            <a:pPr indent="0" marL="0">
              <a:buNone/>
            </a:pPr>
            <a:r>
              <a:rPr lang="en-US" sz="1100" b="1" dirty="0">
                <a:solidFill>
                  <a:srgbClr val="EB6834"/>
                </a:solidFill>
                <a:latin typeface="Calibri" pitchFamily="34" charset="0"/>
                <a:ea typeface="Calibri" pitchFamily="34" charset="-122"/>
                <a:cs typeface="Calibri" pitchFamily="34" charset="-120"/>
              </a:rPr>
              <a:t>CWP-2.01-CIV-01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Cimentaciones bloque A</a:t>
            </a:r>
            <a:endParaRPr lang="en-US" sz="1100" dirty="0"/>
          </a:p>
        </p:txBody>
      </p:sp>
      <p:sp>
        <p:nvSpPr>
          <p:cNvPr id="51" name="Shape 49"/>
          <p:cNvSpPr/>
          <p:nvPr/>
        </p:nvSpPr>
        <p:spPr>
          <a:xfrm>
            <a:off x="5834175" y="3204972"/>
            <a:ext cx="663631" cy="0"/>
          </a:xfrm>
          <a:prstGeom prst="line">
            <a:avLst/>
          </a:prstGeom>
          <a:noFill/>
          <a:ln w="12700">
            <a:solidFill>
              <a:srgbClr val="B9CCE0"/>
            </a:solidFill>
            <a:prstDash val="dash"/>
          </a:ln>
        </p:spPr>
      </p:sp>
      <p:sp>
        <p:nvSpPr>
          <p:cNvPr id="52" name="Shape 50"/>
          <p:cNvSpPr/>
          <p:nvPr/>
        </p:nvSpPr>
        <p:spPr>
          <a:xfrm>
            <a:off x="6497807" y="3094878"/>
            <a:ext cx="561534" cy="220188"/>
          </a:xfrm>
          <a:prstGeom prst="roundRect">
            <a:avLst>
              <a:gd name="adj" fmla="val 16611"/>
            </a:avLst>
          </a:prstGeom>
          <a:solidFill>
            <a:srgbClr val="EB6834"/>
          </a:solidFill>
          <a:ln w="12700">
            <a:solidFill>
              <a:srgbClr val="EB6834"/>
            </a:solidFill>
            <a:prstDash val="solid"/>
          </a:ln>
        </p:spPr>
      </p:sp>
      <p:sp>
        <p:nvSpPr>
          <p:cNvPr id="53" name="Shape 51"/>
          <p:cNvSpPr/>
          <p:nvPr/>
        </p:nvSpPr>
        <p:spPr>
          <a:xfrm>
            <a:off x="5742735" y="3113532"/>
            <a:ext cx="182880" cy="182880"/>
          </a:xfrm>
          <a:prstGeom prst="diamond">
            <a:avLst/>
          </a:prstGeom>
          <a:solidFill>
            <a:srgbClr val="1F4E79"/>
          </a:solidFill>
          <a:ln w="6350">
            <a:solidFill>
              <a:srgbClr val="FFFFFF"/>
            </a:solidFill>
            <a:prstDash val="solid"/>
          </a:ln>
        </p:spPr>
      </p:sp>
      <p:sp>
        <p:nvSpPr>
          <p:cNvPr id="54" name="Shape 52"/>
          <p:cNvSpPr/>
          <p:nvPr/>
        </p:nvSpPr>
        <p:spPr>
          <a:xfrm>
            <a:off x="5895881" y="3113532"/>
            <a:ext cx="182880" cy="182880"/>
          </a:xfrm>
          <a:prstGeom prst="triangle">
            <a:avLst/>
          </a:prstGeom>
          <a:solidFill>
            <a:srgbClr val="F5A623"/>
          </a:solidFill>
          <a:ln w="6350">
            <a:solidFill>
              <a:srgbClr val="0F2A43"/>
            </a:solidFill>
            <a:prstDash val="solid"/>
          </a:ln>
        </p:spPr>
      </p:sp>
      <p:sp>
        <p:nvSpPr>
          <p:cNvPr id="55" name="Shape 53"/>
          <p:cNvSpPr/>
          <p:nvPr/>
        </p:nvSpPr>
        <p:spPr>
          <a:xfrm>
            <a:off x="6333440" y="3113532"/>
            <a:ext cx="182880" cy="182880"/>
          </a:xfrm>
          <a:prstGeom prst="ellipse">
            <a:avLst/>
          </a:prstGeom>
          <a:solidFill>
            <a:srgbClr val="1BAF7A"/>
          </a:solidFill>
          <a:ln w="6350">
            <a:solidFill>
              <a:srgbClr val="FFFFFF"/>
            </a:solidFill>
            <a:prstDash val="solid"/>
          </a:ln>
        </p:spPr>
      </p:sp>
      <p:sp>
        <p:nvSpPr>
          <p:cNvPr id="56" name="Shape 54"/>
          <p:cNvSpPr/>
          <p:nvPr/>
        </p:nvSpPr>
        <p:spPr>
          <a:xfrm>
            <a:off x="548640" y="3401568"/>
            <a:ext cx="11094415" cy="393192"/>
          </a:xfrm>
          <a:prstGeom prst="rect">
            <a:avLst/>
          </a:prstGeom>
          <a:solidFill>
            <a:srgbClr val="F4F7FA">
              <a:alpha val="70000"/>
            </a:srgbClr>
          </a:solidFill>
          <a:ln w="12700">
            <a:solidFill>
              <a:srgbClr val="F4F7FA"/>
            </a:solidFill>
            <a:prstDash val="solid"/>
          </a:ln>
        </p:spPr>
      </p:sp>
      <p:sp>
        <p:nvSpPr>
          <p:cNvPr id="57" name="Text 55"/>
          <p:cNvSpPr txBox="1"/>
          <p:nvPr/>
        </p:nvSpPr>
        <p:spPr>
          <a:xfrm>
            <a:off x="594360" y="3401568"/>
            <a:ext cx="2926080" cy="393192"/>
          </a:xfrm>
          <a:prstGeom prst="rect">
            <a:avLst/>
          </a:prstGeom>
          <a:noFill/>
          <a:ln/>
        </p:spPr>
        <p:txBody>
          <a:bodyPr wrap="square" lIns="0" tIns="0" rIns="0" bIns="0" rtlCol="0" anchor="ctr">
            <a:normAutofit/>
          </a:bodyPr>
          <a:lstStyle/>
          <a:p>
            <a:pPr indent="0" marL="0">
              <a:buNone/>
            </a:pPr>
            <a:r>
              <a:rPr lang="en-US" sz="1100" b="1" dirty="0">
                <a:solidFill>
                  <a:srgbClr val="EB6834"/>
                </a:solidFill>
                <a:latin typeface="Calibri" pitchFamily="34" charset="0"/>
                <a:ea typeface="Calibri" pitchFamily="34" charset="-122"/>
                <a:cs typeface="Calibri" pitchFamily="34" charset="-120"/>
              </a:rPr>
              <a:t>CWP-2.03-ELE-01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Equipos y cableado de sala eléctrica</a:t>
            </a:r>
            <a:endParaRPr lang="en-US" sz="1100" dirty="0"/>
          </a:p>
        </p:txBody>
      </p:sp>
      <p:sp>
        <p:nvSpPr>
          <p:cNvPr id="58" name="Shape 56"/>
          <p:cNvSpPr/>
          <p:nvPr/>
        </p:nvSpPr>
        <p:spPr>
          <a:xfrm>
            <a:off x="6038369" y="3598164"/>
            <a:ext cx="663631" cy="0"/>
          </a:xfrm>
          <a:prstGeom prst="line">
            <a:avLst/>
          </a:prstGeom>
          <a:noFill/>
          <a:ln w="12700">
            <a:solidFill>
              <a:srgbClr val="B9CCE0"/>
            </a:solidFill>
            <a:prstDash val="dash"/>
          </a:ln>
        </p:spPr>
      </p:sp>
      <p:sp>
        <p:nvSpPr>
          <p:cNvPr id="59" name="Shape 57"/>
          <p:cNvSpPr/>
          <p:nvPr/>
        </p:nvSpPr>
        <p:spPr>
          <a:xfrm>
            <a:off x="6702001" y="3488070"/>
            <a:ext cx="1531457" cy="220188"/>
          </a:xfrm>
          <a:prstGeom prst="roundRect">
            <a:avLst>
              <a:gd name="adj" fmla="val 16611"/>
            </a:avLst>
          </a:prstGeom>
          <a:solidFill>
            <a:srgbClr val="EB6834"/>
          </a:solidFill>
          <a:ln w="12700">
            <a:solidFill>
              <a:srgbClr val="EB6834"/>
            </a:solidFill>
            <a:prstDash val="solid"/>
          </a:ln>
        </p:spPr>
      </p:sp>
      <p:sp>
        <p:nvSpPr>
          <p:cNvPr id="60" name="Text 58"/>
          <p:cNvSpPr txBox="1"/>
          <p:nvPr/>
        </p:nvSpPr>
        <p:spPr>
          <a:xfrm>
            <a:off x="6702001" y="3488070"/>
            <a:ext cx="1531457" cy="2201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30 sem</a:t>
            </a:r>
            <a:endParaRPr lang="en-US" sz="950" dirty="0"/>
          </a:p>
        </p:txBody>
      </p:sp>
      <p:sp>
        <p:nvSpPr>
          <p:cNvPr id="61" name="Shape 59"/>
          <p:cNvSpPr/>
          <p:nvPr/>
        </p:nvSpPr>
        <p:spPr>
          <a:xfrm>
            <a:off x="5946929" y="3506724"/>
            <a:ext cx="182880" cy="182880"/>
          </a:xfrm>
          <a:prstGeom prst="diamond">
            <a:avLst/>
          </a:prstGeom>
          <a:solidFill>
            <a:srgbClr val="1F4E79"/>
          </a:solidFill>
          <a:ln w="6350">
            <a:solidFill>
              <a:srgbClr val="FFFFFF"/>
            </a:solidFill>
            <a:prstDash val="solid"/>
          </a:ln>
        </p:spPr>
      </p:sp>
      <p:sp>
        <p:nvSpPr>
          <p:cNvPr id="62" name="Shape 60"/>
          <p:cNvSpPr/>
          <p:nvPr/>
        </p:nvSpPr>
        <p:spPr>
          <a:xfrm>
            <a:off x="6100075" y="3506724"/>
            <a:ext cx="182880" cy="182880"/>
          </a:xfrm>
          <a:prstGeom prst="triangle">
            <a:avLst/>
          </a:prstGeom>
          <a:solidFill>
            <a:srgbClr val="F5A623"/>
          </a:solidFill>
          <a:ln w="6350">
            <a:solidFill>
              <a:srgbClr val="0F2A43"/>
            </a:solidFill>
            <a:prstDash val="solid"/>
          </a:ln>
        </p:spPr>
      </p:sp>
      <p:sp>
        <p:nvSpPr>
          <p:cNvPr id="63" name="Shape 61"/>
          <p:cNvSpPr/>
          <p:nvPr/>
        </p:nvSpPr>
        <p:spPr>
          <a:xfrm>
            <a:off x="6537634" y="3506724"/>
            <a:ext cx="182880" cy="182880"/>
          </a:xfrm>
          <a:prstGeom prst="ellipse">
            <a:avLst/>
          </a:prstGeom>
          <a:solidFill>
            <a:srgbClr val="1BAF7A"/>
          </a:solidFill>
          <a:ln w="6350">
            <a:solidFill>
              <a:srgbClr val="FFFFFF"/>
            </a:solidFill>
            <a:prstDash val="solid"/>
          </a:ln>
        </p:spPr>
      </p:sp>
      <p:sp>
        <p:nvSpPr>
          <p:cNvPr id="64" name="Text 62"/>
          <p:cNvSpPr txBox="1"/>
          <p:nvPr/>
        </p:nvSpPr>
        <p:spPr>
          <a:xfrm>
            <a:off x="594360" y="3794760"/>
            <a:ext cx="2926080" cy="393192"/>
          </a:xfrm>
          <a:prstGeom prst="rect">
            <a:avLst/>
          </a:prstGeom>
          <a:noFill/>
          <a:ln/>
        </p:spPr>
        <p:txBody>
          <a:bodyPr wrap="square" lIns="0" tIns="0" rIns="0" bIns="0" rtlCol="0" anchor="ctr">
            <a:normAutofit/>
          </a:bodyPr>
          <a:lstStyle/>
          <a:p>
            <a:pPr indent="0" marL="0">
              <a:buNone/>
            </a:pPr>
            <a:r>
              <a:rPr lang="en-US" sz="1100" b="1" dirty="0">
                <a:solidFill>
                  <a:srgbClr val="EB6834"/>
                </a:solidFill>
                <a:latin typeface="Calibri" pitchFamily="34" charset="0"/>
                <a:ea typeface="Calibri" pitchFamily="34" charset="-122"/>
                <a:cs typeface="Calibri" pitchFamily="34" charset="-120"/>
              </a:rPr>
              <a:t>CWP-2.01-EST-01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Estructura metálica bloque A</a:t>
            </a:r>
            <a:endParaRPr lang="en-US" sz="1100" dirty="0"/>
          </a:p>
        </p:txBody>
      </p:sp>
      <p:sp>
        <p:nvSpPr>
          <p:cNvPr id="65" name="Shape 63"/>
          <p:cNvSpPr/>
          <p:nvPr/>
        </p:nvSpPr>
        <p:spPr>
          <a:xfrm>
            <a:off x="6403002" y="3991356"/>
            <a:ext cx="663631" cy="0"/>
          </a:xfrm>
          <a:prstGeom prst="line">
            <a:avLst/>
          </a:prstGeom>
          <a:noFill/>
          <a:ln w="12700">
            <a:solidFill>
              <a:srgbClr val="B9CCE0"/>
            </a:solidFill>
            <a:prstDash val="dash"/>
          </a:ln>
        </p:spPr>
      </p:sp>
      <p:sp>
        <p:nvSpPr>
          <p:cNvPr id="66" name="Shape 64"/>
          <p:cNvSpPr/>
          <p:nvPr/>
        </p:nvSpPr>
        <p:spPr>
          <a:xfrm>
            <a:off x="7066634" y="3881262"/>
            <a:ext cx="867826" cy="220188"/>
          </a:xfrm>
          <a:prstGeom prst="roundRect">
            <a:avLst>
              <a:gd name="adj" fmla="val 16611"/>
            </a:avLst>
          </a:prstGeom>
          <a:solidFill>
            <a:srgbClr val="EB6834"/>
          </a:solidFill>
          <a:ln w="12700">
            <a:solidFill>
              <a:srgbClr val="EB6834"/>
            </a:solidFill>
            <a:prstDash val="solid"/>
          </a:ln>
        </p:spPr>
      </p:sp>
      <p:sp>
        <p:nvSpPr>
          <p:cNvPr id="67" name="Text 65"/>
          <p:cNvSpPr txBox="1"/>
          <p:nvPr/>
        </p:nvSpPr>
        <p:spPr>
          <a:xfrm>
            <a:off x="7066634" y="3881262"/>
            <a:ext cx="867826" cy="2201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17 sem</a:t>
            </a:r>
            <a:endParaRPr lang="en-US" sz="950" dirty="0"/>
          </a:p>
        </p:txBody>
      </p:sp>
      <p:sp>
        <p:nvSpPr>
          <p:cNvPr id="68" name="Shape 66"/>
          <p:cNvSpPr/>
          <p:nvPr/>
        </p:nvSpPr>
        <p:spPr>
          <a:xfrm>
            <a:off x="6311562" y="3899916"/>
            <a:ext cx="182880" cy="182880"/>
          </a:xfrm>
          <a:prstGeom prst="diamond">
            <a:avLst/>
          </a:prstGeom>
          <a:solidFill>
            <a:srgbClr val="1F4E79"/>
          </a:solidFill>
          <a:ln w="6350">
            <a:solidFill>
              <a:srgbClr val="FFFFFF"/>
            </a:solidFill>
            <a:prstDash val="solid"/>
          </a:ln>
        </p:spPr>
      </p:sp>
      <p:sp>
        <p:nvSpPr>
          <p:cNvPr id="69" name="Shape 67"/>
          <p:cNvSpPr/>
          <p:nvPr/>
        </p:nvSpPr>
        <p:spPr>
          <a:xfrm>
            <a:off x="6464708" y="3899916"/>
            <a:ext cx="182880" cy="182880"/>
          </a:xfrm>
          <a:prstGeom prst="triangle">
            <a:avLst/>
          </a:prstGeom>
          <a:solidFill>
            <a:srgbClr val="F5A623"/>
          </a:solidFill>
          <a:ln w="6350">
            <a:solidFill>
              <a:srgbClr val="0F2A43"/>
            </a:solidFill>
            <a:prstDash val="solid"/>
          </a:ln>
        </p:spPr>
      </p:sp>
      <p:sp>
        <p:nvSpPr>
          <p:cNvPr id="70" name="Shape 68"/>
          <p:cNvSpPr/>
          <p:nvPr/>
        </p:nvSpPr>
        <p:spPr>
          <a:xfrm>
            <a:off x="6902267" y="3899916"/>
            <a:ext cx="182880" cy="182880"/>
          </a:xfrm>
          <a:prstGeom prst="ellipse">
            <a:avLst/>
          </a:prstGeom>
          <a:solidFill>
            <a:srgbClr val="1BAF7A"/>
          </a:solidFill>
          <a:ln w="6350">
            <a:solidFill>
              <a:srgbClr val="FFFFFF"/>
            </a:solidFill>
            <a:prstDash val="solid"/>
          </a:ln>
        </p:spPr>
      </p:sp>
      <p:sp>
        <p:nvSpPr>
          <p:cNvPr id="71" name="Shape 69"/>
          <p:cNvSpPr/>
          <p:nvPr/>
        </p:nvSpPr>
        <p:spPr>
          <a:xfrm>
            <a:off x="548640" y="4187952"/>
            <a:ext cx="11094415" cy="393192"/>
          </a:xfrm>
          <a:prstGeom prst="rect">
            <a:avLst/>
          </a:prstGeom>
          <a:solidFill>
            <a:srgbClr val="F4F7FA">
              <a:alpha val="70000"/>
            </a:srgbClr>
          </a:solidFill>
          <a:ln w="12700">
            <a:solidFill>
              <a:srgbClr val="F4F7FA"/>
            </a:solidFill>
            <a:prstDash val="solid"/>
          </a:ln>
        </p:spPr>
      </p:sp>
      <p:sp>
        <p:nvSpPr>
          <p:cNvPr id="72" name="Text 70"/>
          <p:cNvSpPr txBox="1"/>
          <p:nvPr/>
        </p:nvSpPr>
        <p:spPr>
          <a:xfrm>
            <a:off x="594360" y="4187952"/>
            <a:ext cx="2926080" cy="393192"/>
          </a:xfrm>
          <a:prstGeom prst="rect">
            <a:avLst/>
          </a:prstGeom>
          <a:noFill/>
          <a:ln/>
        </p:spPr>
        <p:txBody>
          <a:bodyPr wrap="square" lIns="0" tIns="0" rIns="0" bIns="0" rtlCol="0" anchor="ctr">
            <a:normAutofit/>
          </a:bodyPr>
          <a:lstStyle/>
          <a:p>
            <a:pPr indent="0" marL="0">
              <a:buNone/>
            </a:pPr>
            <a:r>
              <a:rPr lang="en-US" sz="1100" b="1" dirty="0">
                <a:solidFill>
                  <a:srgbClr val="EB6834"/>
                </a:solidFill>
                <a:latin typeface="Calibri" pitchFamily="34" charset="0"/>
                <a:ea typeface="Calibri" pitchFamily="34" charset="-122"/>
                <a:cs typeface="Calibri" pitchFamily="34" charset="-120"/>
              </a:rPr>
              <a:t>CWP-2.01-TUB-01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Tuberías de servicios bloque A</a:t>
            </a:r>
            <a:endParaRPr lang="en-US" sz="1100" dirty="0"/>
          </a:p>
        </p:txBody>
      </p:sp>
      <p:sp>
        <p:nvSpPr>
          <p:cNvPr id="73" name="Shape 71"/>
          <p:cNvSpPr/>
          <p:nvPr/>
        </p:nvSpPr>
        <p:spPr>
          <a:xfrm>
            <a:off x="7314584" y="4384548"/>
            <a:ext cx="663631" cy="0"/>
          </a:xfrm>
          <a:prstGeom prst="line">
            <a:avLst/>
          </a:prstGeom>
          <a:noFill/>
          <a:ln w="12700">
            <a:solidFill>
              <a:srgbClr val="B9CCE0"/>
            </a:solidFill>
            <a:prstDash val="dash"/>
          </a:ln>
        </p:spPr>
      </p:sp>
      <p:sp>
        <p:nvSpPr>
          <p:cNvPr id="74" name="Shape 72"/>
          <p:cNvSpPr/>
          <p:nvPr/>
        </p:nvSpPr>
        <p:spPr>
          <a:xfrm>
            <a:off x="7978215" y="4274454"/>
            <a:ext cx="1327263" cy="220188"/>
          </a:xfrm>
          <a:prstGeom prst="roundRect">
            <a:avLst>
              <a:gd name="adj" fmla="val 16611"/>
            </a:avLst>
          </a:prstGeom>
          <a:solidFill>
            <a:srgbClr val="EB6834"/>
          </a:solidFill>
          <a:ln w="12700">
            <a:solidFill>
              <a:srgbClr val="EB6834"/>
            </a:solidFill>
            <a:prstDash val="solid"/>
          </a:ln>
        </p:spPr>
      </p:sp>
      <p:sp>
        <p:nvSpPr>
          <p:cNvPr id="75" name="Text 73"/>
          <p:cNvSpPr txBox="1"/>
          <p:nvPr/>
        </p:nvSpPr>
        <p:spPr>
          <a:xfrm>
            <a:off x="7978215" y="4274454"/>
            <a:ext cx="1327263" cy="2201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26 sem</a:t>
            </a:r>
            <a:endParaRPr lang="en-US" sz="950" dirty="0"/>
          </a:p>
        </p:txBody>
      </p:sp>
      <p:sp>
        <p:nvSpPr>
          <p:cNvPr id="76" name="Shape 74"/>
          <p:cNvSpPr/>
          <p:nvPr/>
        </p:nvSpPr>
        <p:spPr>
          <a:xfrm>
            <a:off x="7223144" y="4293108"/>
            <a:ext cx="182880" cy="182880"/>
          </a:xfrm>
          <a:prstGeom prst="diamond">
            <a:avLst/>
          </a:prstGeom>
          <a:solidFill>
            <a:srgbClr val="1F4E79"/>
          </a:solidFill>
          <a:ln w="6350">
            <a:solidFill>
              <a:srgbClr val="FFFFFF"/>
            </a:solidFill>
            <a:prstDash val="solid"/>
          </a:ln>
        </p:spPr>
      </p:sp>
      <p:sp>
        <p:nvSpPr>
          <p:cNvPr id="77" name="Shape 75"/>
          <p:cNvSpPr/>
          <p:nvPr/>
        </p:nvSpPr>
        <p:spPr>
          <a:xfrm>
            <a:off x="7376289" y="4293108"/>
            <a:ext cx="182880" cy="182880"/>
          </a:xfrm>
          <a:prstGeom prst="triangle">
            <a:avLst/>
          </a:prstGeom>
          <a:solidFill>
            <a:srgbClr val="F5A623"/>
          </a:solidFill>
          <a:ln w="6350">
            <a:solidFill>
              <a:srgbClr val="0F2A43"/>
            </a:solidFill>
            <a:prstDash val="solid"/>
          </a:ln>
        </p:spPr>
      </p:sp>
      <p:sp>
        <p:nvSpPr>
          <p:cNvPr id="78" name="Shape 76"/>
          <p:cNvSpPr/>
          <p:nvPr/>
        </p:nvSpPr>
        <p:spPr>
          <a:xfrm>
            <a:off x="7813849" y="4293108"/>
            <a:ext cx="182880" cy="182880"/>
          </a:xfrm>
          <a:prstGeom prst="ellipse">
            <a:avLst/>
          </a:prstGeom>
          <a:solidFill>
            <a:srgbClr val="1BAF7A"/>
          </a:solidFill>
          <a:ln w="6350">
            <a:solidFill>
              <a:srgbClr val="FFFFFF"/>
            </a:solidFill>
            <a:prstDash val="solid"/>
          </a:ln>
        </p:spPr>
      </p:sp>
      <p:sp>
        <p:nvSpPr>
          <p:cNvPr id="79" name="Text 77"/>
          <p:cNvSpPr txBox="1"/>
          <p:nvPr/>
        </p:nvSpPr>
        <p:spPr>
          <a:xfrm>
            <a:off x="594360" y="4581144"/>
            <a:ext cx="2926080" cy="393192"/>
          </a:xfrm>
          <a:prstGeom prst="rect">
            <a:avLst/>
          </a:prstGeom>
          <a:noFill/>
          <a:ln/>
        </p:spPr>
        <p:txBody>
          <a:bodyPr wrap="square" lIns="0" tIns="0" rIns="0" bIns="0" rtlCol="0" anchor="ctr">
            <a:normAutofit/>
          </a:bodyPr>
          <a:lstStyle/>
          <a:p>
            <a:pPr indent="0" marL="0">
              <a:buNone/>
            </a:pPr>
            <a:r>
              <a:rPr lang="en-US" sz="1100" b="1" dirty="0">
                <a:solidFill>
                  <a:srgbClr val="1BAF7A"/>
                </a:solidFill>
                <a:latin typeface="Calibri" pitchFamily="34" charset="0"/>
                <a:ea typeface="Calibri" pitchFamily="34" charset="-122"/>
                <a:cs typeface="Calibri" pitchFamily="34" charset="-120"/>
              </a:rPr>
              <a:t>CWP-3.02-CIV-01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Cimentaciones de la ampliación</a:t>
            </a:r>
            <a:endParaRPr lang="en-US" sz="1100" dirty="0"/>
          </a:p>
        </p:txBody>
      </p:sp>
      <p:sp>
        <p:nvSpPr>
          <p:cNvPr id="80" name="Shape 78"/>
          <p:cNvSpPr/>
          <p:nvPr/>
        </p:nvSpPr>
        <p:spPr>
          <a:xfrm>
            <a:off x="8488701" y="4777740"/>
            <a:ext cx="663631" cy="0"/>
          </a:xfrm>
          <a:prstGeom prst="line">
            <a:avLst/>
          </a:prstGeom>
          <a:noFill/>
          <a:ln w="12700">
            <a:solidFill>
              <a:srgbClr val="B9CCE0"/>
            </a:solidFill>
            <a:prstDash val="dash"/>
          </a:ln>
        </p:spPr>
      </p:sp>
      <p:sp>
        <p:nvSpPr>
          <p:cNvPr id="81" name="Shape 79"/>
          <p:cNvSpPr/>
          <p:nvPr/>
        </p:nvSpPr>
        <p:spPr>
          <a:xfrm>
            <a:off x="9152332" y="4667646"/>
            <a:ext cx="714680" cy="220188"/>
          </a:xfrm>
          <a:prstGeom prst="roundRect">
            <a:avLst>
              <a:gd name="adj" fmla="val 16611"/>
            </a:avLst>
          </a:prstGeom>
          <a:solidFill>
            <a:srgbClr val="1BAF7A"/>
          </a:solidFill>
          <a:ln w="12700">
            <a:solidFill>
              <a:srgbClr val="1BAF7A"/>
            </a:solidFill>
            <a:prstDash val="solid"/>
          </a:ln>
        </p:spPr>
      </p:sp>
      <p:sp>
        <p:nvSpPr>
          <p:cNvPr id="82" name="Text 80"/>
          <p:cNvSpPr txBox="1"/>
          <p:nvPr/>
        </p:nvSpPr>
        <p:spPr>
          <a:xfrm>
            <a:off x="9152332" y="4667646"/>
            <a:ext cx="714680" cy="2201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14 sem</a:t>
            </a:r>
            <a:endParaRPr lang="en-US" sz="950" dirty="0"/>
          </a:p>
        </p:txBody>
      </p:sp>
      <p:sp>
        <p:nvSpPr>
          <p:cNvPr id="83" name="Shape 81"/>
          <p:cNvSpPr/>
          <p:nvPr/>
        </p:nvSpPr>
        <p:spPr>
          <a:xfrm>
            <a:off x="8397261" y="4686300"/>
            <a:ext cx="182880" cy="182880"/>
          </a:xfrm>
          <a:prstGeom prst="diamond">
            <a:avLst/>
          </a:prstGeom>
          <a:solidFill>
            <a:srgbClr val="1F4E79"/>
          </a:solidFill>
          <a:ln w="6350">
            <a:solidFill>
              <a:srgbClr val="FFFFFF"/>
            </a:solidFill>
            <a:prstDash val="solid"/>
          </a:ln>
        </p:spPr>
      </p:sp>
      <p:sp>
        <p:nvSpPr>
          <p:cNvPr id="84" name="Shape 82"/>
          <p:cNvSpPr/>
          <p:nvPr/>
        </p:nvSpPr>
        <p:spPr>
          <a:xfrm>
            <a:off x="8550407" y="4686300"/>
            <a:ext cx="182880" cy="182880"/>
          </a:xfrm>
          <a:prstGeom prst="triangle">
            <a:avLst/>
          </a:prstGeom>
          <a:solidFill>
            <a:srgbClr val="F5A623"/>
          </a:solidFill>
          <a:ln w="6350">
            <a:solidFill>
              <a:srgbClr val="0F2A43"/>
            </a:solidFill>
            <a:prstDash val="solid"/>
          </a:ln>
        </p:spPr>
      </p:sp>
      <p:sp>
        <p:nvSpPr>
          <p:cNvPr id="85" name="Shape 83"/>
          <p:cNvSpPr/>
          <p:nvPr/>
        </p:nvSpPr>
        <p:spPr>
          <a:xfrm>
            <a:off x="8987966" y="4686300"/>
            <a:ext cx="182880" cy="182880"/>
          </a:xfrm>
          <a:prstGeom prst="ellipse">
            <a:avLst/>
          </a:prstGeom>
          <a:solidFill>
            <a:srgbClr val="1BAF7A"/>
          </a:solidFill>
          <a:ln w="6350">
            <a:solidFill>
              <a:srgbClr val="FFFFFF"/>
            </a:solidFill>
            <a:prstDash val="solid"/>
          </a:ln>
        </p:spPr>
      </p:sp>
      <p:sp>
        <p:nvSpPr>
          <p:cNvPr id="86" name="Shape 84"/>
          <p:cNvSpPr/>
          <p:nvPr/>
        </p:nvSpPr>
        <p:spPr>
          <a:xfrm>
            <a:off x="548640" y="4974336"/>
            <a:ext cx="11094415" cy="393192"/>
          </a:xfrm>
          <a:prstGeom prst="rect">
            <a:avLst/>
          </a:prstGeom>
          <a:solidFill>
            <a:srgbClr val="F4F7FA">
              <a:alpha val="70000"/>
            </a:srgbClr>
          </a:solidFill>
          <a:ln w="12700">
            <a:solidFill>
              <a:srgbClr val="F4F7FA"/>
            </a:solidFill>
            <a:prstDash val="solid"/>
          </a:ln>
        </p:spPr>
      </p:sp>
      <p:sp>
        <p:nvSpPr>
          <p:cNvPr id="87" name="Text 85"/>
          <p:cNvSpPr txBox="1"/>
          <p:nvPr/>
        </p:nvSpPr>
        <p:spPr>
          <a:xfrm>
            <a:off x="594360" y="4974336"/>
            <a:ext cx="2926080" cy="393192"/>
          </a:xfrm>
          <a:prstGeom prst="rect">
            <a:avLst/>
          </a:prstGeom>
          <a:noFill/>
          <a:ln/>
        </p:spPr>
        <p:txBody>
          <a:bodyPr wrap="square" lIns="0" tIns="0" rIns="0" bIns="0" rtlCol="0" anchor="ctr">
            <a:normAutofit/>
          </a:bodyPr>
          <a:lstStyle/>
          <a:p>
            <a:pPr indent="0" marL="0">
              <a:buNone/>
            </a:pPr>
            <a:r>
              <a:rPr lang="en-US" sz="1100" b="1" dirty="0">
                <a:solidFill>
                  <a:srgbClr val="1BAF7A"/>
                </a:solidFill>
                <a:latin typeface="Calibri" pitchFamily="34" charset="0"/>
                <a:ea typeface="Calibri" pitchFamily="34" charset="-122"/>
                <a:cs typeface="Calibri" pitchFamily="34" charset="-120"/>
              </a:rPr>
              <a:t>CWP-3.01-ARQ-01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Arquitectura edificio de oficinas</a:t>
            </a:r>
            <a:endParaRPr lang="en-US" sz="1100" dirty="0"/>
          </a:p>
        </p:txBody>
      </p:sp>
      <p:sp>
        <p:nvSpPr>
          <p:cNvPr id="88" name="Shape 86"/>
          <p:cNvSpPr/>
          <p:nvPr/>
        </p:nvSpPr>
        <p:spPr>
          <a:xfrm>
            <a:off x="8692895" y="5170932"/>
            <a:ext cx="663631" cy="0"/>
          </a:xfrm>
          <a:prstGeom prst="line">
            <a:avLst/>
          </a:prstGeom>
          <a:noFill/>
          <a:ln w="12700">
            <a:solidFill>
              <a:srgbClr val="B9CCE0"/>
            </a:solidFill>
            <a:prstDash val="dash"/>
          </a:ln>
        </p:spPr>
      </p:sp>
      <p:sp>
        <p:nvSpPr>
          <p:cNvPr id="89" name="Shape 87"/>
          <p:cNvSpPr/>
          <p:nvPr/>
        </p:nvSpPr>
        <p:spPr>
          <a:xfrm>
            <a:off x="9356527" y="5060838"/>
            <a:ext cx="1020971" cy="220188"/>
          </a:xfrm>
          <a:prstGeom prst="roundRect">
            <a:avLst>
              <a:gd name="adj" fmla="val 16611"/>
            </a:avLst>
          </a:prstGeom>
          <a:solidFill>
            <a:srgbClr val="1BAF7A"/>
          </a:solidFill>
          <a:ln w="12700">
            <a:solidFill>
              <a:srgbClr val="1BAF7A"/>
            </a:solidFill>
            <a:prstDash val="solid"/>
          </a:ln>
        </p:spPr>
      </p:sp>
      <p:sp>
        <p:nvSpPr>
          <p:cNvPr id="90" name="Text 88"/>
          <p:cNvSpPr txBox="1"/>
          <p:nvPr/>
        </p:nvSpPr>
        <p:spPr>
          <a:xfrm>
            <a:off x="9356527" y="5060838"/>
            <a:ext cx="1020971" cy="2201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 sem</a:t>
            </a:r>
            <a:endParaRPr lang="en-US" sz="950" dirty="0"/>
          </a:p>
        </p:txBody>
      </p:sp>
      <p:sp>
        <p:nvSpPr>
          <p:cNvPr id="91" name="Shape 89"/>
          <p:cNvSpPr/>
          <p:nvPr/>
        </p:nvSpPr>
        <p:spPr>
          <a:xfrm>
            <a:off x="8601455" y="5079492"/>
            <a:ext cx="182880" cy="182880"/>
          </a:xfrm>
          <a:prstGeom prst="diamond">
            <a:avLst/>
          </a:prstGeom>
          <a:solidFill>
            <a:srgbClr val="1F4E79"/>
          </a:solidFill>
          <a:ln w="6350">
            <a:solidFill>
              <a:srgbClr val="FFFFFF"/>
            </a:solidFill>
            <a:prstDash val="solid"/>
          </a:ln>
        </p:spPr>
      </p:sp>
      <p:sp>
        <p:nvSpPr>
          <p:cNvPr id="92" name="Shape 90"/>
          <p:cNvSpPr/>
          <p:nvPr/>
        </p:nvSpPr>
        <p:spPr>
          <a:xfrm>
            <a:off x="8754601" y="5079492"/>
            <a:ext cx="182880" cy="182880"/>
          </a:xfrm>
          <a:prstGeom prst="triangle">
            <a:avLst/>
          </a:prstGeom>
          <a:solidFill>
            <a:srgbClr val="F5A623"/>
          </a:solidFill>
          <a:ln w="6350">
            <a:solidFill>
              <a:srgbClr val="0F2A43"/>
            </a:solidFill>
            <a:prstDash val="solid"/>
          </a:ln>
        </p:spPr>
      </p:sp>
      <p:sp>
        <p:nvSpPr>
          <p:cNvPr id="93" name="Shape 91"/>
          <p:cNvSpPr/>
          <p:nvPr/>
        </p:nvSpPr>
        <p:spPr>
          <a:xfrm>
            <a:off x="9192160" y="5079492"/>
            <a:ext cx="182880" cy="182880"/>
          </a:xfrm>
          <a:prstGeom prst="ellipse">
            <a:avLst/>
          </a:prstGeom>
          <a:solidFill>
            <a:srgbClr val="1BAF7A"/>
          </a:solidFill>
          <a:ln w="6350">
            <a:solidFill>
              <a:srgbClr val="FFFFFF"/>
            </a:solidFill>
            <a:prstDash val="solid"/>
          </a:ln>
        </p:spPr>
      </p:sp>
      <p:sp>
        <p:nvSpPr>
          <p:cNvPr id="94" name="Text 92"/>
          <p:cNvSpPr txBox="1"/>
          <p:nvPr/>
        </p:nvSpPr>
        <p:spPr>
          <a:xfrm>
            <a:off x="594360" y="5367528"/>
            <a:ext cx="2926080" cy="393192"/>
          </a:xfrm>
          <a:prstGeom prst="rect">
            <a:avLst/>
          </a:prstGeom>
          <a:noFill/>
          <a:ln/>
        </p:spPr>
        <p:txBody>
          <a:bodyPr wrap="square" lIns="0" tIns="0" rIns="0" bIns="0" rtlCol="0" anchor="ctr">
            <a:normAutofit/>
          </a:bodyPr>
          <a:lstStyle/>
          <a:p>
            <a:pPr indent="0" marL="0">
              <a:buNone/>
            </a:pPr>
            <a:r>
              <a:rPr lang="en-US" sz="1100" b="1" dirty="0">
                <a:solidFill>
                  <a:srgbClr val="1BAF7A"/>
                </a:solidFill>
                <a:latin typeface="Calibri" pitchFamily="34" charset="0"/>
                <a:ea typeface="Calibri" pitchFamily="34" charset="-122"/>
                <a:cs typeface="Calibri" pitchFamily="34" charset="-120"/>
              </a:rPr>
              <a:t>CWP-3.02-TUB-01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Empalmes a la galería de servicios</a:t>
            </a:r>
            <a:endParaRPr lang="en-US" sz="1100" dirty="0"/>
          </a:p>
        </p:txBody>
      </p:sp>
      <p:sp>
        <p:nvSpPr>
          <p:cNvPr id="95" name="Shape 93"/>
          <p:cNvSpPr/>
          <p:nvPr/>
        </p:nvSpPr>
        <p:spPr>
          <a:xfrm>
            <a:off x="9560721" y="5564124"/>
            <a:ext cx="663631" cy="0"/>
          </a:xfrm>
          <a:prstGeom prst="line">
            <a:avLst/>
          </a:prstGeom>
          <a:noFill/>
          <a:ln w="12700">
            <a:solidFill>
              <a:srgbClr val="B9CCE0"/>
            </a:solidFill>
            <a:prstDash val="dash"/>
          </a:ln>
        </p:spPr>
      </p:sp>
      <p:sp>
        <p:nvSpPr>
          <p:cNvPr id="96" name="Shape 94"/>
          <p:cNvSpPr/>
          <p:nvPr/>
        </p:nvSpPr>
        <p:spPr>
          <a:xfrm>
            <a:off x="10224352" y="5454030"/>
            <a:ext cx="612583" cy="220188"/>
          </a:xfrm>
          <a:prstGeom prst="roundRect">
            <a:avLst>
              <a:gd name="adj" fmla="val 16611"/>
            </a:avLst>
          </a:prstGeom>
          <a:solidFill>
            <a:srgbClr val="1BAF7A"/>
          </a:solidFill>
          <a:ln w="12700">
            <a:solidFill>
              <a:srgbClr val="1BAF7A"/>
            </a:solidFill>
            <a:prstDash val="solid"/>
          </a:ln>
        </p:spPr>
      </p:sp>
      <p:sp>
        <p:nvSpPr>
          <p:cNvPr id="97" name="Shape 95"/>
          <p:cNvSpPr/>
          <p:nvPr/>
        </p:nvSpPr>
        <p:spPr>
          <a:xfrm>
            <a:off x="9469281" y="5472684"/>
            <a:ext cx="182880" cy="182880"/>
          </a:xfrm>
          <a:prstGeom prst="diamond">
            <a:avLst/>
          </a:prstGeom>
          <a:solidFill>
            <a:srgbClr val="1F4E79"/>
          </a:solidFill>
          <a:ln w="6350">
            <a:solidFill>
              <a:srgbClr val="FFFFFF"/>
            </a:solidFill>
            <a:prstDash val="solid"/>
          </a:ln>
        </p:spPr>
      </p:sp>
      <p:sp>
        <p:nvSpPr>
          <p:cNvPr id="98" name="Shape 96"/>
          <p:cNvSpPr/>
          <p:nvPr/>
        </p:nvSpPr>
        <p:spPr>
          <a:xfrm>
            <a:off x="9622427" y="5472684"/>
            <a:ext cx="182880" cy="182880"/>
          </a:xfrm>
          <a:prstGeom prst="triangle">
            <a:avLst/>
          </a:prstGeom>
          <a:solidFill>
            <a:srgbClr val="F5A623"/>
          </a:solidFill>
          <a:ln w="6350">
            <a:solidFill>
              <a:srgbClr val="0F2A43"/>
            </a:solidFill>
            <a:prstDash val="solid"/>
          </a:ln>
        </p:spPr>
      </p:sp>
      <p:sp>
        <p:nvSpPr>
          <p:cNvPr id="99" name="Shape 97"/>
          <p:cNvSpPr/>
          <p:nvPr/>
        </p:nvSpPr>
        <p:spPr>
          <a:xfrm>
            <a:off x="10059986" y="5472684"/>
            <a:ext cx="182880" cy="182880"/>
          </a:xfrm>
          <a:prstGeom prst="ellipse">
            <a:avLst/>
          </a:prstGeom>
          <a:solidFill>
            <a:srgbClr val="1BAF7A"/>
          </a:solidFill>
          <a:ln w="6350">
            <a:solidFill>
              <a:srgbClr val="FFFFFF"/>
            </a:solidFill>
            <a:prstDash val="solid"/>
          </a:ln>
        </p:spPr>
      </p:sp>
      <p:sp>
        <p:nvSpPr>
          <p:cNvPr id="100" name="Shape 98"/>
          <p:cNvSpPr/>
          <p:nvPr/>
        </p:nvSpPr>
        <p:spPr>
          <a:xfrm>
            <a:off x="5068447" y="2135490"/>
            <a:ext cx="51049" cy="173004"/>
          </a:xfrm>
          <a:prstGeom prst="line">
            <a:avLst/>
          </a:prstGeom>
          <a:noFill/>
          <a:ln w="12700">
            <a:solidFill>
              <a:srgbClr val="0F2A43"/>
            </a:solidFill>
            <a:prstDash val="solid"/>
            <a:tailEnd type="triangle"/>
          </a:ln>
        </p:spPr>
      </p:sp>
      <p:sp>
        <p:nvSpPr>
          <p:cNvPr id="101" name="Shape 99"/>
          <p:cNvSpPr/>
          <p:nvPr/>
        </p:nvSpPr>
        <p:spPr>
          <a:xfrm>
            <a:off x="5068447" y="2135490"/>
            <a:ext cx="153146" cy="566196"/>
          </a:xfrm>
          <a:prstGeom prst="line">
            <a:avLst/>
          </a:prstGeom>
          <a:noFill/>
          <a:ln w="12700">
            <a:solidFill>
              <a:srgbClr val="0F2A43"/>
            </a:solidFill>
            <a:prstDash val="solid"/>
            <a:tailEnd type="triangle"/>
          </a:ln>
        </p:spPr>
      </p:sp>
      <p:sp>
        <p:nvSpPr>
          <p:cNvPr id="102" name="Shape 100"/>
          <p:cNvSpPr/>
          <p:nvPr/>
        </p:nvSpPr>
        <p:spPr>
          <a:xfrm>
            <a:off x="5068447" y="2135490"/>
            <a:ext cx="1429360" cy="959388"/>
          </a:xfrm>
          <a:prstGeom prst="line">
            <a:avLst/>
          </a:prstGeom>
          <a:noFill/>
          <a:ln w="12700">
            <a:solidFill>
              <a:srgbClr val="0F2A43"/>
            </a:solidFill>
            <a:prstDash val="solid"/>
            <a:tailEnd type="triangle"/>
          </a:ln>
        </p:spPr>
      </p:sp>
      <p:sp>
        <p:nvSpPr>
          <p:cNvPr id="103" name="Shape 101"/>
          <p:cNvSpPr/>
          <p:nvPr/>
        </p:nvSpPr>
        <p:spPr>
          <a:xfrm>
            <a:off x="6038369" y="2921874"/>
            <a:ext cx="663631" cy="566196"/>
          </a:xfrm>
          <a:prstGeom prst="line">
            <a:avLst/>
          </a:prstGeom>
          <a:noFill/>
          <a:ln w="12700">
            <a:solidFill>
              <a:srgbClr val="0F2A43"/>
            </a:solidFill>
            <a:prstDash val="solid"/>
            <a:tailEnd type="triangle"/>
          </a:ln>
        </p:spPr>
      </p:sp>
      <p:sp>
        <p:nvSpPr>
          <p:cNvPr id="104" name="Shape 102"/>
          <p:cNvSpPr/>
          <p:nvPr/>
        </p:nvSpPr>
        <p:spPr>
          <a:xfrm>
            <a:off x="7059341" y="3315066"/>
            <a:ext cx="7293" cy="566196"/>
          </a:xfrm>
          <a:prstGeom prst="line">
            <a:avLst/>
          </a:prstGeom>
          <a:noFill/>
          <a:ln w="12700">
            <a:solidFill>
              <a:srgbClr val="0F2A43"/>
            </a:solidFill>
            <a:prstDash val="solid"/>
            <a:tailEnd type="triangle"/>
          </a:ln>
        </p:spPr>
      </p:sp>
      <p:sp>
        <p:nvSpPr>
          <p:cNvPr id="105" name="Shape 103"/>
          <p:cNvSpPr/>
          <p:nvPr/>
        </p:nvSpPr>
        <p:spPr>
          <a:xfrm>
            <a:off x="7934459" y="4101450"/>
            <a:ext cx="43756" cy="173004"/>
          </a:xfrm>
          <a:prstGeom prst="line">
            <a:avLst/>
          </a:prstGeom>
          <a:noFill/>
          <a:ln w="12700">
            <a:solidFill>
              <a:srgbClr val="0F2A43"/>
            </a:solidFill>
            <a:prstDash val="solid"/>
            <a:tailEnd type="triangle"/>
          </a:ln>
        </p:spPr>
      </p:sp>
      <p:sp>
        <p:nvSpPr>
          <p:cNvPr id="106" name="Shape 104"/>
          <p:cNvSpPr/>
          <p:nvPr/>
        </p:nvSpPr>
        <p:spPr>
          <a:xfrm>
            <a:off x="7059341" y="3315066"/>
            <a:ext cx="2092991" cy="1352580"/>
          </a:xfrm>
          <a:prstGeom prst="line">
            <a:avLst/>
          </a:prstGeom>
          <a:noFill/>
          <a:ln w="12700">
            <a:solidFill>
              <a:srgbClr val="0F2A43"/>
            </a:solidFill>
            <a:prstDash val="solid"/>
            <a:tailEnd type="triangle"/>
          </a:ln>
        </p:spPr>
      </p:sp>
      <p:sp>
        <p:nvSpPr>
          <p:cNvPr id="107" name="Shape 105"/>
          <p:cNvSpPr/>
          <p:nvPr/>
        </p:nvSpPr>
        <p:spPr>
          <a:xfrm>
            <a:off x="6038369" y="2528682"/>
            <a:ext cx="3318157" cy="2532156"/>
          </a:xfrm>
          <a:prstGeom prst="line">
            <a:avLst/>
          </a:prstGeom>
          <a:noFill/>
          <a:ln w="12700">
            <a:solidFill>
              <a:srgbClr val="0F2A43"/>
            </a:solidFill>
            <a:prstDash val="solid"/>
            <a:tailEnd type="triangle"/>
          </a:ln>
        </p:spPr>
      </p:sp>
      <p:sp>
        <p:nvSpPr>
          <p:cNvPr id="108" name="Shape 106"/>
          <p:cNvSpPr/>
          <p:nvPr/>
        </p:nvSpPr>
        <p:spPr>
          <a:xfrm>
            <a:off x="9305478" y="4494642"/>
            <a:ext cx="918874" cy="959388"/>
          </a:xfrm>
          <a:prstGeom prst="line">
            <a:avLst/>
          </a:prstGeom>
          <a:noFill/>
          <a:ln w="12700">
            <a:solidFill>
              <a:srgbClr val="0F2A43"/>
            </a:solidFill>
            <a:prstDash val="solid"/>
            <a:tailEnd type="triangle"/>
          </a:ln>
        </p:spPr>
      </p:sp>
      <p:sp>
        <p:nvSpPr>
          <p:cNvPr id="109" name="Shape 107"/>
          <p:cNvSpPr/>
          <p:nvPr/>
        </p:nvSpPr>
        <p:spPr>
          <a:xfrm>
            <a:off x="548640" y="6053328"/>
            <a:ext cx="182880" cy="182880"/>
          </a:xfrm>
          <a:prstGeom prst="diamond">
            <a:avLst/>
          </a:prstGeom>
          <a:solidFill>
            <a:srgbClr val="1F4E79"/>
          </a:solidFill>
          <a:ln w="6350">
            <a:solidFill>
              <a:srgbClr val="0F2A43"/>
            </a:solidFill>
            <a:prstDash val="solid"/>
          </a:ln>
        </p:spPr>
      </p:sp>
      <p:sp>
        <p:nvSpPr>
          <p:cNvPr id="110" name="Text 108"/>
          <p:cNvSpPr txBox="1"/>
          <p:nvPr/>
        </p:nvSpPr>
        <p:spPr>
          <a:xfrm>
            <a:off x="82296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EWP IFC requerido (−13 sem)</a:t>
            </a:r>
            <a:endParaRPr lang="en-US" sz="1150" dirty="0"/>
          </a:p>
        </p:txBody>
      </p:sp>
      <p:sp>
        <p:nvSpPr>
          <p:cNvPr id="111" name="Shape 109"/>
          <p:cNvSpPr/>
          <p:nvPr/>
        </p:nvSpPr>
        <p:spPr>
          <a:xfrm>
            <a:off x="3566160" y="6053328"/>
            <a:ext cx="182880" cy="182880"/>
          </a:xfrm>
          <a:prstGeom prst="triangle">
            <a:avLst/>
          </a:prstGeom>
          <a:solidFill>
            <a:srgbClr val="F5A623"/>
          </a:solidFill>
          <a:ln w="6350">
            <a:solidFill>
              <a:srgbClr val="0F2A43"/>
            </a:solidFill>
            <a:prstDash val="solid"/>
          </a:ln>
        </p:spPr>
      </p:sp>
      <p:sp>
        <p:nvSpPr>
          <p:cNvPr id="112" name="Text 110"/>
          <p:cNvSpPr txBox="1"/>
          <p:nvPr/>
        </p:nvSpPr>
        <p:spPr>
          <a:xfrm>
            <a:off x="384048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Emisión del CWP (−10 sem)</a:t>
            </a:r>
            <a:endParaRPr lang="en-US" sz="1150" dirty="0"/>
          </a:p>
        </p:txBody>
      </p:sp>
      <p:sp>
        <p:nvSpPr>
          <p:cNvPr id="113" name="Shape 111"/>
          <p:cNvSpPr/>
          <p:nvPr/>
        </p:nvSpPr>
        <p:spPr>
          <a:xfrm>
            <a:off x="6583680" y="6053328"/>
            <a:ext cx="182880" cy="182880"/>
          </a:xfrm>
          <a:prstGeom prst="ellipse">
            <a:avLst/>
          </a:prstGeom>
          <a:solidFill>
            <a:srgbClr val="1BAF7A"/>
          </a:solidFill>
          <a:ln w="6350">
            <a:solidFill>
              <a:srgbClr val="0F2A43"/>
            </a:solidFill>
            <a:prstDash val="solid"/>
          </a:ln>
        </p:spPr>
      </p:sp>
      <p:sp>
        <p:nvSpPr>
          <p:cNvPr id="114" name="Text 112"/>
          <p:cNvSpPr txBox="1"/>
          <p:nvPr/>
        </p:nvSpPr>
        <p:spPr>
          <a:xfrm>
            <a:off x="685800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Materiales en obra RAS (−10 días)</a:t>
            </a:r>
            <a:endParaRPr lang="en-US" sz="1150" dirty="0"/>
          </a:p>
        </p:txBody>
      </p:sp>
      <p:sp>
        <p:nvSpPr>
          <p:cNvPr id="115" name="Shape 113"/>
          <p:cNvSpPr/>
          <p:nvPr/>
        </p:nvSpPr>
        <p:spPr>
          <a:xfrm>
            <a:off x="9601200" y="6053328"/>
            <a:ext cx="274320" cy="182880"/>
          </a:xfrm>
          <a:prstGeom prst="roundRect">
            <a:avLst>
              <a:gd name="adj" fmla="val 15000"/>
            </a:avLst>
          </a:prstGeom>
          <a:solidFill>
            <a:srgbClr val="2A78D6"/>
          </a:solidFill>
          <a:ln w="12700">
            <a:solidFill>
              <a:srgbClr val="2A78D6"/>
            </a:solidFill>
            <a:prstDash val="solid"/>
          </a:ln>
        </p:spPr>
      </p:sp>
      <p:sp>
        <p:nvSpPr>
          <p:cNvPr id="116" name="Text 114"/>
          <p:cNvSpPr txBox="1"/>
          <p:nvPr/>
        </p:nvSpPr>
        <p:spPr>
          <a:xfrm>
            <a:off x="9921240" y="5989320"/>
            <a:ext cx="594360" cy="310896"/>
          </a:xfrm>
          <a:prstGeom prst="rect">
            <a:avLst/>
          </a:prstGeom>
          <a:noFill/>
          <a:ln/>
        </p:spPr>
        <p:txBody>
          <a:bodyPr wrap="square" lIns="0" tIns="0" rIns="0" bIns="0" rtlCol="0" anchor="ctr"/>
          <a:lstStyle/>
          <a:p>
            <a:pPr indent="0" marL="0">
              <a:buNone/>
            </a:pPr>
            <a:r>
              <a:rPr lang="en-US" sz="1100" dirty="0">
                <a:solidFill>
                  <a:srgbClr val="56606B"/>
                </a:solidFill>
                <a:latin typeface="Calibri" pitchFamily="34" charset="0"/>
                <a:ea typeface="Calibri" pitchFamily="34" charset="-122"/>
                <a:cs typeface="Calibri" pitchFamily="34" charset="-120"/>
              </a:rPr>
              <a:t>Fase 1</a:t>
            </a:r>
            <a:endParaRPr lang="en-US" sz="1100" dirty="0"/>
          </a:p>
        </p:txBody>
      </p:sp>
      <p:sp>
        <p:nvSpPr>
          <p:cNvPr id="117" name="Shape 115"/>
          <p:cNvSpPr/>
          <p:nvPr/>
        </p:nvSpPr>
        <p:spPr>
          <a:xfrm>
            <a:off x="10469880" y="6053328"/>
            <a:ext cx="274320" cy="182880"/>
          </a:xfrm>
          <a:prstGeom prst="roundRect">
            <a:avLst>
              <a:gd name="adj" fmla="val 15000"/>
            </a:avLst>
          </a:prstGeom>
          <a:solidFill>
            <a:srgbClr val="EB6834"/>
          </a:solidFill>
          <a:ln w="12700">
            <a:solidFill>
              <a:srgbClr val="EB6834"/>
            </a:solidFill>
            <a:prstDash val="solid"/>
          </a:ln>
        </p:spPr>
      </p:sp>
      <p:sp>
        <p:nvSpPr>
          <p:cNvPr id="118" name="Text 116"/>
          <p:cNvSpPr txBox="1"/>
          <p:nvPr/>
        </p:nvSpPr>
        <p:spPr>
          <a:xfrm>
            <a:off x="10789920" y="5989320"/>
            <a:ext cx="594360" cy="310896"/>
          </a:xfrm>
          <a:prstGeom prst="rect">
            <a:avLst/>
          </a:prstGeom>
          <a:noFill/>
          <a:ln/>
        </p:spPr>
        <p:txBody>
          <a:bodyPr wrap="square" lIns="0" tIns="0" rIns="0" bIns="0" rtlCol="0" anchor="ctr"/>
          <a:lstStyle/>
          <a:p>
            <a:pPr indent="0" marL="0">
              <a:buNone/>
            </a:pPr>
            <a:r>
              <a:rPr lang="en-US" sz="1100" dirty="0">
                <a:solidFill>
                  <a:srgbClr val="56606B"/>
                </a:solidFill>
                <a:latin typeface="Calibri" pitchFamily="34" charset="0"/>
                <a:ea typeface="Calibri" pitchFamily="34" charset="-122"/>
                <a:cs typeface="Calibri" pitchFamily="34" charset="-120"/>
              </a:rPr>
              <a:t>Fase 2</a:t>
            </a:r>
            <a:endParaRPr lang="en-US" sz="1100" dirty="0"/>
          </a:p>
        </p:txBody>
      </p:sp>
      <p:sp>
        <p:nvSpPr>
          <p:cNvPr id="119" name="Shape 117"/>
          <p:cNvSpPr/>
          <p:nvPr/>
        </p:nvSpPr>
        <p:spPr>
          <a:xfrm>
            <a:off x="11338560" y="6053328"/>
            <a:ext cx="274320" cy="182880"/>
          </a:xfrm>
          <a:prstGeom prst="roundRect">
            <a:avLst>
              <a:gd name="adj" fmla="val 15000"/>
            </a:avLst>
          </a:prstGeom>
          <a:solidFill>
            <a:srgbClr val="1BAF7A"/>
          </a:solidFill>
          <a:ln w="12700">
            <a:solidFill>
              <a:srgbClr val="1BAF7A"/>
            </a:solidFill>
            <a:prstDash val="solid"/>
          </a:ln>
        </p:spPr>
      </p:sp>
      <p:sp>
        <p:nvSpPr>
          <p:cNvPr id="120" name="Text 118"/>
          <p:cNvSpPr txBox="1"/>
          <p:nvPr/>
        </p:nvSpPr>
        <p:spPr>
          <a:xfrm>
            <a:off x="11658600" y="5989320"/>
            <a:ext cx="594360" cy="310896"/>
          </a:xfrm>
          <a:prstGeom prst="rect">
            <a:avLst/>
          </a:prstGeom>
          <a:noFill/>
          <a:ln/>
        </p:spPr>
        <p:txBody>
          <a:bodyPr wrap="square" lIns="0" tIns="0" rIns="0" bIns="0" rtlCol="0" anchor="ctr"/>
          <a:lstStyle/>
          <a:p>
            <a:pPr indent="0" marL="0">
              <a:buNone/>
            </a:pPr>
            <a:r>
              <a:rPr lang="en-US" sz="1100" dirty="0">
                <a:solidFill>
                  <a:srgbClr val="56606B"/>
                </a:solidFill>
                <a:latin typeface="Calibri" pitchFamily="34" charset="0"/>
                <a:ea typeface="Calibri" pitchFamily="34" charset="-122"/>
                <a:cs typeface="Calibri" pitchFamily="34" charset="-120"/>
              </a:rPr>
              <a:t>Fase 3</a:t>
            </a:r>
            <a:endParaRPr lang="en-US" sz="1100" dirty="0"/>
          </a:p>
        </p:txBody>
      </p:sp>
      <p:sp>
        <p:nvSpPr>
          <p:cNvPr id="121" name="Text 11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Línea de tiempo del PoC del proyecto tipo</a:t>
            </a:r>
            <a:endParaRPr lang="en-US" sz="1000" dirty="0"/>
          </a:p>
        </p:txBody>
      </p:sp>
      <p:sp>
        <p:nvSpPr>
          <p:cNvPr id="122" name="Text 12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83</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Fase 1 · Infraestructura y obras tempranas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PoC desarrollado en M3–M4 · construcción de M6 a M12</a:t>
            </a:r>
            <a:endParaRPr lang="en-US" sz="1500" dirty="0"/>
          </a:p>
        </p:txBody>
      </p:sp>
      <p:sp>
        <p:nvSpPr>
          <p:cNvPr id="4" name="Shape 2"/>
          <p:cNvSpPr/>
          <p:nvPr/>
        </p:nvSpPr>
        <p:spPr>
          <a:xfrm>
            <a:off x="3566160" y="1709928"/>
            <a:ext cx="0" cy="2971800"/>
          </a:xfrm>
          <a:prstGeom prst="line">
            <a:avLst/>
          </a:prstGeom>
          <a:noFill/>
          <a:ln w="12700">
            <a:solidFill>
              <a:srgbClr val="B9CCE0"/>
            </a:solidFill>
            <a:prstDash val="solid"/>
          </a:ln>
        </p:spPr>
      </p:sp>
      <p:sp>
        <p:nvSpPr>
          <p:cNvPr id="5" name="Text 3"/>
          <p:cNvSpPr txBox="1"/>
          <p:nvPr/>
        </p:nvSpPr>
        <p:spPr>
          <a:xfrm>
            <a:off x="3547872" y="1417320"/>
            <a:ext cx="548640" cy="256032"/>
          </a:xfrm>
          <a:prstGeom prst="rect">
            <a:avLst/>
          </a:prstGeom>
          <a:noFill/>
          <a:ln/>
        </p:spPr>
        <p:txBody>
          <a:bodyPr wrap="square" lIns="0" tIns="0" rIns="0" bIns="0" rtlCol="0" anchor="t"/>
          <a:lstStyle/>
          <a:p>
            <a:pPr indent="0" marL="0">
              <a:buNone/>
            </a:pPr>
            <a:r>
              <a:rPr lang="en-US" sz="1100" b="1" dirty="0">
                <a:solidFill>
                  <a:srgbClr val="163A5C"/>
                </a:solidFill>
                <a:latin typeface="Calibri" pitchFamily="34" charset="0"/>
                <a:ea typeface="Calibri" pitchFamily="34" charset="-122"/>
                <a:cs typeface="Calibri" pitchFamily="34" charset="-120"/>
              </a:rPr>
              <a:t>ene 27</a:t>
            </a:r>
            <a:endParaRPr lang="en-US" sz="1100" dirty="0"/>
          </a:p>
        </p:txBody>
      </p:sp>
      <p:sp>
        <p:nvSpPr>
          <p:cNvPr id="6" name="Shape 4"/>
          <p:cNvSpPr/>
          <p:nvPr/>
        </p:nvSpPr>
        <p:spPr>
          <a:xfrm>
            <a:off x="4192867" y="1709928"/>
            <a:ext cx="0" cy="2971800"/>
          </a:xfrm>
          <a:prstGeom prst="line">
            <a:avLst/>
          </a:prstGeom>
          <a:noFill/>
          <a:ln w="6350">
            <a:solidFill>
              <a:srgbClr val="E9EEF3"/>
            </a:solidFill>
            <a:prstDash val="solid"/>
          </a:ln>
        </p:spPr>
      </p:sp>
      <p:sp>
        <p:nvSpPr>
          <p:cNvPr id="7" name="Text 5"/>
          <p:cNvSpPr txBox="1"/>
          <p:nvPr/>
        </p:nvSpPr>
        <p:spPr>
          <a:xfrm>
            <a:off x="4174579"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feb</a:t>
            </a:r>
            <a:endParaRPr lang="en-US" sz="1000" dirty="0"/>
          </a:p>
        </p:txBody>
      </p:sp>
      <p:sp>
        <p:nvSpPr>
          <p:cNvPr id="8" name="Shape 6"/>
          <p:cNvSpPr/>
          <p:nvPr/>
        </p:nvSpPr>
        <p:spPr>
          <a:xfrm>
            <a:off x="4758924" y="1709928"/>
            <a:ext cx="0" cy="2971800"/>
          </a:xfrm>
          <a:prstGeom prst="line">
            <a:avLst/>
          </a:prstGeom>
          <a:noFill/>
          <a:ln w="6350">
            <a:solidFill>
              <a:srgbClr val="E9EEF3"/>
            </a:solidFill>
            <a:prstDash val="solid"/>
          </a:ln>
        </p:spPr>
      </p:sp>
      <p:sp>
        <p:nvSpPr>
          <p:cNvPr id="9" name="Text 7"/>
          <p:cNvSpPr txBox="1"/>
          <p:nvPr/>
        </p:nvSpPr>
        <p:spPr>
          <a:xfrm>
            <a:off x="4740636"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mar</a:t>
            </a:r>
            <a:endParaRPr lang="en-US" sz="1000" dirty="0"/>
          </a:p>
        </p:txBody>
      </p:sp>
      <p:sp>
        <p:nvSpPr>
          <p:cNvPr id="10" name="Shape 8"/>
          <p:cNvSpPr/>
          <p:nvPr/>
        </p:nvSpPr>
        <p:spPr>
          <a:xfrm>
            <a:off x="5385631" y="1709928"/>
            <a:ext cx="0" cy="2971800"/>
          </a:xfrm>
          <a:prstGeom prst="line">
            <a:avLst/>
          </a:prstGeom>
          <a:noFill/>
          <a:ln w="6350">
            <a:solidFill>
              <a:srgbClr val="E9EEF3"/>
            </a:solidFill>
            <a:prstDash val="solid"/>
          </a:ln>
        </p:spPr>
      </p:sp>
      <p:sp>
        <p:nvSpPr>
          <p:cNvPr id="11" name="Text 9"/>
          <p:cNvSpPr txBox="1"/>
          <p:nvPr/>
        </p:nvSpPr>
        <p:spPr>
          <a:xfrm>
            <a:off x="5367343"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abr</a:t>
            </a:r>
            <a:endParaRPr lang="en-US" sz="1000" dirty="0"/>
          </a:p>
        </p:txBody>
      </p:sp>
      <p:sp>
        <p:nvSpPr>
          <p:cNvPr id="12" name="Shape 10"/>
          <p:cNvSpPr/>
          <p:nvPr/>
        </p:nvSpPr>
        <p:spPr>
          <a:xfrm>
            <a:off x="5992121" y="1709928"/>
            <a:ext cx="0" cy="2971800"/>
          </a:xfrm>
          <a:prstGeom prst="line">
            <a:avLst/>
          </a:prstGeom>
          <a:noFill/>
          <a:ln w="6350">
            <a:solidFill>
              <a:srgbClr val="E9EEF3"/>
            </a:solidFill>
            <a:prstDash val="solid"/>
          </a:ln>
        </p:spPr>
      </p:sp>
      <p:sp>
        <p:nvSpPr>
          <p:cNvPr id="13" name="Text 11"/>
          <p:cNvSpPr txBox="1"/>
          <p:nvPr/>
        </p:nvSpPr>
        <p:spPr>
          <a:xfrm>
            <a:off x="5973833"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may</a:t>
            </a:r>
            <a:endParaRPr lang="en-US" sz="1000" dirty="0"/>
          </a:p>
        </p:txBody>
      </p:sp>
      <p:sp>
        <p:nvSpPr>
          <p:cNvPr id="14" name="Shape 12"/>
          <p:cNvSpPr/>
          <p:nvPr/>
        </p:nvSpPr>
        <p:spPr>
          <a:xfrm>
            <a:off x="6618828" y="1709928"/>
            <a:ext cx="0" cy="2971800"/>
          </a:xfrm>
          <a:prstGeom prst="line">
            <a:avLst/>
          </a:prstGeom>
          <a:noFill/>
          <a:ln w="6350">
            <a:solidFill>
              <a:srgbClr val="E9EEF3"/>
            </a:solidFill>
            <a:prstDash val="solid"/>
          </a:ln>
        </p:spPr>
      </p:sp>
      <p:sp>
        <p:nvSpPr>
          <p:cNvPr id="15" name="Text 13"/>
          <p:cNvSpPr txBox="1"/>
          <p:nvPr/>
        </p:nvSpPr>
        <p:spPr>
          <a:xfrm>
            <a:off x="6600540"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jun</a:t>
            </a:r>
            <a:endParaRPr lang="en-US" sz="1000" dirty="0"/>
          </a:p>
        </p:txBody>
      </p:sp>
      <p:sp>
        <p:nvSpPr>
          <p:cNvPr id="16" name="Shape 14"/>
          <p:cNvSpPr/>
          <p:nvPr/>
        </p:nvSpPr>
        <p:spPr>
          <a:xfrm>
            <a:off x="7225318" y="1709928"/>
            <a:ext cx="0" cy="2971800"/>
          </a:xfrm>
          <a:prstGeom prst="line">
            <a:avLst/>
          </a:prstGeom>
          <a:noFill/>
          <a:ln w="6350">
            <a:solidFill>
              <a:srgbClr val="E9EEF3"/>
            </a:solidFill>
            <a:prstDash val="solid"/>
          </a:ln>
        </p:spPr>
      </p:sp>
      <p:sp>
        <p:nvSpPr>
          <p:cNvPr id="17" name="Text 15"/>
          <p:cNvSpPr txBox="1"/>
          <p:nvPr/>
        </p:nvSpPr>
        <p:spPr>
          <a:xfrm>
            <a:off x="7207030"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jul</a:t>
            </a:r>
            <a:endParaRPr lang="en-US" sz="1000" dirty="0"/>
          </a:p>
        </p:txBody>
      </p:sp>
      <p:sp>
        <p:nvSpPr>
          <p:cNvPr id="18" name="Shape 16"/>
          <p:cNvSpPr/>
          <p:nvPr/>
        </p:nvSpPr>
        <p:spPr>
          <a:xfrm>
            <a:off x="7852025" y="1709928"/>
            <a:ext cx="0" cy="2971800"/>
          </a:xfrm>
          <a:prstGeom prst="line">
            <a:avLst/>
          </a:prstGeom>
          <a:noFill/>
          <a:ln w="6350">
            <a:solidFill>
              <a:srgbClr val="E9EEF3"/>
            </a:solidFill>
            <a:prstDash val="solid"/>
          </a:ln>
        </p:spPr>
      </p:sp>
      <p:sp>
        <p:nvSpPr>
          <p:cNvPr id="19" name="Text 17"/>
          <p:cNvSpPr txBox="1"/>
          <p:nvPr/>
        </p:nvSpPr>
        <p:spPr>
          <a:xfrm>
            <a:off x="7833737"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ago</a:t>
            </a:r>
            <a:endParaRPr lang="en-US" sz="1000" dirty="0"/>
          </a:p>
        </p:txBody>
      </p:sp>
      <p:sp>
        <p:nvSpPr>
          <p:cNvPr id="20" name="Shape 18"/>
          <p:cNvSpPr/>
          <p:nvPr/>
        </p:nvSpPr>
        <p:spPr>
          <a:xfrm>
            <a:off x="8478731" y="1709928"/>
            <a:ext cx="0" cy="2971800"/>
          </a:xfrm>
          <a:prstGeom prst="line">
            <a:avLst/>
          </a:prstGeom>
          <a:noFill/>
          <a:ln w="6350">
            <a:solidFill>
              <a:srgbClr val="E9EEF3"/>
            </a:solidFill>
            <a:prstDash val="solid"/>
          </a:ln>
        </p:spPr>
      </p:sp>
      <p:sp>
        <p:nvSpPr>
          <p:cNvPr id="21" name="Text 19"/>
          <p:cNvSpPr txBox="1"/>
          <p:nvPr/>
        </p:nvSpPr>
        <p:spPr>
          <a:xfrm>
            <a:off x="8460443"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sep</a:t>
            </a:r>
            <a:endParaRPr lang="en-US" sz="1000" dirty="0"/>
          </a:p>
        </p:txBody>
      </p:sp>
      <p:sp>
        <p:nvSpPr>
          <p:cNvPr id="22" name="Shape 20"/>
          <p:cNvSpPr/>
          <p:nvPr/>
        </p:nvSpPr>
        <p:spPr>
          <a:xfrm>
            <a:off x="9085221" y="1709928"/>
            <a:ext cx="0" cy="2971800"/>
          </a:xfrm>
          <a:prstGeom prst="line">
            <a:avLst/>
          </a:prstGeom>
          <a:noFill/>
          <a:ln w="6350">
            <a:solidFill>
              <a:srgbClr val="E9EEF3"/>
            </a:solidFill>
            <a:prstDash val="solid"/>
          </a:ln>
        </p:spPr>
      </p:sp>
      <p:sp>
        <p:nvSpPr>
          <p:cNvPr id="23" name="Text 21"/>
          <p:cNvSpPr txBox="1"/>
          <p:nvPr/>
        </p:nvSpPr>
        <p:spPr>
          <a:xfrm>
            <a:off x="9066933"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oct</a:t>
            </a:r>
            <a:endParaRPr lang="en-US" sz="1000" dirty="0"/>
          </a:p>
        </p:txBody>
      </p:sp>
      <p:sp>
        <p:nvSpPr>
          <p:cNvPr id="24" name="Shape 22"/>
          <p:cNvSpPr/>
          <p:nvPr/>
        </p:nvSpPr>
        <p:spPr>
          <a:xfrm>
            <a:off x="9711928" y="1709928"/>
            <a:ext cx="0" cy="2971800"/>
          </a:xfrm>
          <a:prstGeom prst="line">
            <a:avLst/>
          </a:prstGeom>
          <a:noFill/>
          <a:ln w="6350">
            <a:solidFill>
              <a:srgbClr val="E9EEF3"/>
            </a:solidFill>
            <a:prstDash val="solid"/>
          </a:ln>
        </p:spPr>
      </p:sp>
      <p:sp>
        <p:nvSpPr>
          <p:cNvPr id="25" name="Text 23"/>
          <p:cNvSpPr txBox="1"/>
          <p:nvPr/>
        </p:nvSpPr>
        <p:spPr>
          <a:xfrm>
            <a:off x="9693640"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nov</a:t>
            </a:r>
            <a:endParaRPr lang="en-US" sz="1000" dirty="0"/>
          </a:p>
        </p:txBody>
      </p:sp>
      <p:sp>
        <p:nvSpPr>
          <p:cNvPr id="26" name="Shape 24"/>
          <p:cNvSpPr/>
          <p:nvPr/>
        </p:nvSpPr>
        <p:spPr>
          <a:xfrm>
            <a:off x="10318418" y="1709928"/>
            <a:ext cx="0" cy="2971800"/>
          </a:xfrm>
          <a:prstGeom prst="line">
            <a:avLst/>
          </a:prstGeom>
          <a:noFill/>
          <a:ln w="6350">
            <a:solidFill>
              <a:srgbClr val="E9EEF3"/>
            </a:solidFill>
            <a:prstDash val="solid"/>
          </a:ln>
        </p:spPr>
      </p:sp>
      <p:sp>
        <p:nvSpPr>
          <p:cNvPr id="27" name="Text 25"/>
          <p:cNvSpPr txBox="1"/>
          <p:nvPr/>
        </p:nvSpPr>
        <p:spPr>
          <a:xfrm>
            <a:off x="10300130"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dic</a:t>
            </a:r>
            <a:endParaRPr lang="en-US" sz="1000" dirty="0"/>
          </a:p>
        </p:txBody>
      </p:sp>
      <p:sp>
        <p:nvSpPr>
          <p:cNvPr id="28" name="Shape 26"/>
          <p:cNvSpPr/>
          <p:nvPr/>
        </p:nvSpPr>
        <p:spPr>
          <a:xfrm>
            <a:off x="10945125" y="1709928"/>
            <a:ext cx="0" cy="2971800"/>
          </a:xfrm>
          <a:prstGeom prst="line">
            <a:avLst/>
          </a:prstGeom>
          <a:noFill/>
          <a:ln w="12700">
            <a:solidFill>
              <a:srgbClr val="B9CCE0"/>
            </a:solidFill>
            <a:prstDash val="solid"/>
          </a:ln>
        </p:spPr>
      </p:sp>
      <p:sp>
        <p:nvSpPr>
          <p:cNvPr id="29" name="Text 27"/>
          <p:cNvSpPr txBox="1"/>
          <p:nvPr/>
        </p:nvSpPr>
        <p:spPr>
          <a:xfrm>
            <a:off x="10926837" y="1417320"/>
            <a:ext cx="548640" cy="256032"/>
          </a:xfrm>
          <a:prstGeom prst="rect">
            <a:avLst/>
          </a:prstGeom>
          <a:noFill/>
          <a:ln/>
        </p:spPr>
        <p:txBody>
          <a:bodyPr wrap="square" lIns="0" tIns="0" rIns="0" bIns="0" rtlCol="0" anchor="t"/>
          <a:lstStyle/>
          <a:p>
            <a:pPr indent="0" marL="0">
              <a:buNone/>
            </a:pPr>
            <a:r>
              <a:rPr lang="en-US" sz="1100" b="1" dirty="0">
                <a:solidFill>
                  <a:srgbClr val="163A5C"/>
                </a:solidFill>
                <a:latin typeface="Calibri" pitchFamily="34" charset="0"/>
                <a:ea typeface="Calibri" pitchFamily="34" charset="-122"/>
                <a:cs typeface="Calibri" pitchFamily="34" charset="-120"/>
              </a:rPr>
              <a:t>ene 28</a:t>
            </a:r>
            <a:endParaRPr lang="en-US" sz="1100" dirty="0"/>
          </a:p>
        </p:txBody>
      </p:sp>
      <p:sp>
        <p:nvSpPr>
          <p:cNvPr id="30" name="Shape 28"/>
          <p:cNvSpPr/>
          <p:nvPr/>
        </p:nvSpPr>
        <p:spPr>
          <a:xfrm>
            <a:off x="548640" y="1828800"/>
            <a:ext cx="11094415" cy="960120"/>
          </a:xfrm>
          <a:prstGeom prst="rect">
            <a:avLst/>
          </a:prstGeom>
          <a:solidFill>
            <a:srgbClr val="F4F7FA">
              <a:alpha val="70000"/>
            </a:srgbClr>
          </a:solidFill>
          <a:ln w="12700">
            <a:solidFill>
              <a:srgbClr val="F4F7FA"/>
            </a:solidFill>
            <a:prstDash val="solid"/>
          </a:ln>
        </p:spPr>
      </p:sp>
      <p:sp>
        <p:nvSpPr>
          <p:cNvPr id="31" name="Text 29"/>
          <p:cNvSpPr txBox="1"/>
          <p:nvPr/>
        </p:nvSpPr>
        <p:spPr>
          <a:xfrm>
            <a:off x="594360" y="1828800"/>
            <a:ext cx="2926080" cy="960120"/>
          </a:xfrm>
          <a:prstGeom prst="rect">
            <a:avLst/>
          </a:prstGeom>
          <a:noFill/>
          <a:ln/>
        </p:spPr>
        <p:txBody>
          <a:bodyPr wrap="square" lIns="0" tIns="0" rIns="0" bIns="0" rtlCol="0" anchor="ctr">
            <a:normAutofit/>
          </a:bodyPr>
          <a:lstStyle/>
          <a:p>
            <a:pPr indent="0" marL="0">
              <a:buNone/>
            </a:pPr>
            <a:r>
              <a:rPr lang="en-US" sz="1100" b="1" dirty="0">
                <a:solidFill>
                  <a:srgbClr val="2A78D6"/>
                </a:solidFill>
                <a:latin typeface="Calibri" pitchFamily="34" charset="0"/>
                <a:ea typeface="Calibri" pitchFamily="34" charset="-122"/>
                <a:cs typeface="Calibri" pitchFamily="34" charset="-120"/>
              </a:rPr>
              <a:t>CWP-1.01-CIV-01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Movimiento de tierras plataforma norte</a:t>
            </a:r>
            <a:endParaRPr lang="en-US" sz="1100" dirty="0"/>
          </a:p>
        </p:txBody>
      </p:sp>
      <p:sp>
        <p:nvSpPr>
          <p:cNvPr id="32" name="Shape 30"/>
          <p:cNvSpPr/>
          <p:nvPr/>
        </p:nvSpPr>
        <p:spPr>
          <a:xfrm>
            <a:off x="4900439" y="2308860"/>
            <a:ext cx="1839687" cy="0"/>
          </a:xfrm>
          <a:prstGeom prst="line">
            <a:avLst/>
          </a:prstGeom>
          <a:noFill/>
          <a:ln w="12700">
            <a:solidFill>
              <a:srgbClr val="B9CCE0"/>
            </a:solidFill>
            <a:prstDash val="dash"/>
          </a:ln>
        </p:spPr>
      </p:sp>
      <p:sp>
        <p:nvSpPr>
          <p:cNvPr id="33" name="Shape 31"/>
          <p:cNvSpPr/>
          <p:nvPr/>
        </p:nvSpPr>
        <p:spPr>
          <a:xfrm>
            <a:off x="6740126" y="2040026"/>
            <a:ext cx="990601" cy="537667"/>
          </a:xfrm>
          <a:prstGeom prst="roundRect">
            <a:avLst>
              <a:gd name="adj" fmla="val 6803"/>
            </a:avLst>
          </a:prstGeom>
          <a:solidFill>
            <a:srgbClr val="2A78D6"/>
          </a:solidFill>
          <a:ln w="12700">
            <a:solidFill>
              <a:srgbClr val="2A78D6"/>
            </a:solidFill>
            <a:prstDash val="solid"/>
          </a:ln>
        </p:spPr>
      </p:sp>
      <p:sp>
        <p:nvSpPr>
          <p:cNvPr id="34" name="Text 32"/>
          <p:cNvSpPr txBox="1"/>
          <p:nvPr/>
        </p:nvSpPr>
        <p:spPr>
          <a:xfrm>
            <a:off x="6740126" y="2040026"/>
            <a:ext cx="990601"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sem</a:t>
            </a:r>
            <a:endParaRPr lang="en-US" sz="950" dirty="0"/>
          </a:p>
        </p:txBody>
      </p:sp>
      <p:sp>
        <p:nvSpPr>
          <p:cNvPr id="35" name="Shape 33"/>
          <p:cNvSpPr/>
          <p:nvPr/>
        </p:nvSpPr>
        <p:spPr>
          <a:xfrm>
            <a:off x="4808999" y="2217420"/>
            <a:ext cx="182880" cy="182880"/>
          </a:xfrm>
          <a:prstGeom prst="diamond">
            <a:avLst/>
          </a:prstGeom>
          <a:solidFill>
            <a:srgbClr val="1F4E79"/>
          </a:solidFill>
          <a:ln w="6350">
            <a:solidFill>
              <a:srgbClr val="FFFFFF"/>
            </a:solidFill>
            <a:prstDash val="solid"/>
          </a:ln>
        </p:spPr>
      </p:sp>
      <p:sp>
        <p:nvSpPr>
          <p:cNvPr id="36" name="Shape 34"/>
          <p:cNvSpPr/>
          <p:nvPr/>
        </p:nvSpPr>
        <p:spPr>
          <a:xfrm>
            <a:off x="5233542" y="2217420"/>
            <a:ext cx="182880" cy="182880"/>
          </a:xfrm>
          <a:prstGeom prst="triangle">
            <a:avLst/>
          </a:prstGeom>
          <a:solidFill>
            <a:srgbClr val="F5A623"/>
          </a:solidFill>
          <a:ln w="6350">
            <a:solidFill>
              <a:srgbClr val="0F2A43"/>
            </a:solidFill>
            <a:prstDash val="solid"/>
          </a:ln>
        </p:spPr>
      </p:sp>
      <p:sp>
        <p:nvSpPr>
          <p:cNvPr id="37" name="Shape 35"/>
          <p:cNvSpPr/>
          <p:nvPr/>
        </p:nvSpPr>
        <p:spPr>
          <a:xfrm>
            <a:off x="6446522" y="2217420"/>
            <a:ext cx="182880" cy="182880"/>
          </a:xfrm>
          <a:prstGeom prst="ellipse">
            <a:avLst/>
          </a:prstGeom>
          <a:solidFill>
            <a:srgbClr val="1BAF7A"/>
          </a:solidFill>
          <a:ln w="6350">
            <a:solidFill>
              <a:srgbClr val="FFFFFF"/>
            </a:solidFill>
            <a:prstDash val="solid"/>
          </a:ln>
        </p:spPr>
      </p:sp>
      <p:sp>
        <p:nvSpPr>
          <p:cNvPr id="38" name="Text 36"/>
          <p:cNvSpPr txBox="1"/>
          <p:nvPr/>
        </p:nvSpPr>
        <p:spPr>
          <a:xfrm>
            <a:off x="6173198" y="255940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07/06</a:t>
            </a:r>
            <a:endParaRPr lang="en-US" sz="850" dirty="0"/>
          </a:p>
        </p:txBody>
      </p:sp>
      <p:sp>
        <p:nvSpPr>
          <p:cNvPr id="39" name="Text 37"/>
          <p:cNvSpPr txBox="1"/>
          <p:nvPr/>
        </p:nvSpPr>
        <p:spPr>
          <a:xfrm>
            <a:off x="594360" y="2788920"/>
            <a:ext cx="2926080" cy="960120"/>
          </a:xfrm>
          <a:prstGeom prst="rect">
            <a:avLst/>
          </a:prstGeom>
          <a:noFill/>
          <a:ln/>
        </p:spPr>
        <p:txBody>
          <a:bodyPr wrap="square" lIns="0" tIns="0" rIns="0" bIns="0" rtlCol="0" anchor="ctr">
            <a:normAutofit/>
          </a:bodyPr>
          <a:lstStyle/>
          <a:p>
            <a:pPr indent="0" marL="0">
              <a:buNone/>
            </a:pPr>
            <a:r>
              <a:rPr lang="en-US" sz="1100" b="1" dirty="0">
                <a:solidFill>
                  <a:srgbClr val="2A78D6"/>
                </a:solidFill>
                <a:latin typeface="Calibri" pitchFamily="34" charset="0"/>
                <a:ea typeface="Calibri" pitchFamily="34" charset="-122"/>
                <a:cs typeface="Calibri" pitchFamily="34" charset="-120"/>
              </a:rPr>
              <a:t>CWP-1.02-TUB-01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Redes de agua y desagüe</a:t>
            </a:r>
            <a:endParaRPr lang="en-US" sz="1100" dirty="0"/>
          </a:p>
        </p:txBody>
      </p:sp>
      <p:sp>
        <p:nvSpPr>
          <p:cNvPr id="40" name="Shape 38"/>
          <p:cNvSpPr/>
          <p:nvPr/>
        </p:nvSpPr>
        <p:spPr>
          <a:xfrm>
            <a:off x="6032554" y="3268980"/>
            <a:ext cx="1839687" cy="0"/>
          </a:xfrm>
          <a:prstGeom prst="line">
            <a:avLst/>
          </a:prstGeom>
          <a:noFill/>
          <a:ln w="12700">
            <a:solidFill>
              <a:srgbClr val="B9CCE0"/>
            </a:solidFill>
            <a:prstDash val="dash"/>
          </a:ln>
        </p:spPr>
      </p:sp>
      <p:sp>
        <p:nvSpPr>
          <p:cNvPr id="41" name="Shape 39"/>
          <p:cNvSpPr/>
          <p:nvPr/>
        </p:nvSpPr>
        <p:spPr>
          <a:xfrm>
            <a:off x="7872241" y="3000146"/>
            <a:ext cx="2547259" cy="537667"/>
          </a:xfrm>
          <a:prstGeom prst="roundRect">
            <a:avLst>
              <a:gd name="adj" fmla="val 6803"/>
            </a:avLst>
          </a:prstGeom>
          <a:solidFill>
            <a:srgbClr val="2A78D6"/>
          </a:solidFill>
          <a:ln w="12700">
            <a:solidFill>
              <a:srgbClr val="2A78D6"/>
            </a:solidFill>
            <a:prstDash val="solid"/>
          </a:ln>
        </p:spPr>
      </p:sp>
      <p:sp>
        <p:nvSpPr>
          <p:cNvPr id="42" name="Text 40"/>
          <p:cNvSpPr txBox="1"/>
          <p:nvPr/>
        </p:nvSpPr>
        <p:spPr>
          <a:xfrm>
            <a:off x="7872241" y="3000146"/>
            <a:ext cx="2547259"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18 sem</a:t>
            </a:r>
            <a:endParaRPr lang="en-US" sz="950" dirty="0"/>
          </a:p>
        </p:txBody>
      </p:sp>
      <p:sp>
        <p:nvSpPr>
          <p:cNvPr id="43" name="Shape 41"/>
          <p:cNvSpPr/>
          <p:nvPr/>
        </p:nvSpPr>
        <p:spPr>
          <a:xfrm>
            <a:off x="5941114" y="3177540"/>
            <a:ext cx="182880" cy="182880"/>
          </a:xfrm>
          <a:prstGeom prst="diamond">
            <a:avLst/>
          </a:prstGeom>
          <a:solidFill>
            <a:srgbClr val="1F4E79"/>
          </a:solidFill>
          <a:ln w="6350">
            <a:solidFill>
              <a:srgbClr val="FFFFFF"/>
            </a:solidFill>
            <a:prstDash val="solid"/>
          </a:ln>
        </p:spPr>
      </p:sp>
      <p:sp>
        <p:nvSpPr>
          <p:cNvPr id="44" name="Shape 42"/>
          <p:cNvSpPr/>
          <p:nvPr/>
        </p:nvSpPr>
        <p:spPr>
          <a:xfrm>
            <a:off x="6365657" y="3177540"/>
            <a:ext cx="182880" cy="182880"/>
          </a:xfrm>
          <a:prstGeom prst="triangle">
            <a:avLst/>
          </a:prstGeom>
          <a:solidFill>
            <a:srgbClr val="F5A623"/>
          </a:solidFill>
          <a:ln w="6350">
            <a:solidFill>
              <a:srgbClr val="0F2A43"/>
            </a:solidFill>
            <a:prstDash val="solid"/>
          </a:ln>
        </p:spPr>
      </p:sp>
      <p:sp>
        <p:nvSpPr>
          <p:cNvPr id="45" name="Shape 43"/>
          <p:cNvSpPr/>
          <p:nvPr/>
        </p:nvSpPr>
        <p:spPr>
          <a:xfrm>
            <a:off x="7578637" y="3177540"/>
            <a:ext cx="182880" cy="182880"/>
          </a:xfrm>
          <a:prstGeom prst="ellipse">
            <a:avLst/>
          </a:prstGeom>
          <a:solidFill>
            <a:srgbClr val="1BAF7A"/>
          </a:solidFill>
          <a:ln w="6350">
            <a:solidFill>
              <a:srgbClr val="FFFFFF"/>
            </a:solidFill>
            <a:prstDash val="solid"/>
          </a:ln>
        </p:spPr>
      </p:sp>
      <p:sp>
        <p:nvSpPr>
          <p:cNvPr id="46" name="Text 44"/>
          <p:cNvSpPr txBox="1"/>
          <p:nvPr/>
        </p:nvSpPr>
        <p:spPr>
          <a:xfrm>
            <a:off x="7305313" y="351952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02/08</a:t>
            </a:r>
            <a:endParaRPr lang="en-US" sz="850" dirty="0"/>
          </a:p>
        </p:txBody>
      </p:sp>
      <p:sp>
        <p:nvSpPr>
          <p:cNvPr id="47" name="Shape 45"/>
          <p:cNvSpPr/>
          <p:nvPr/>
        </p:nvSpPr>
        <p:spPr>
          <a:xfrm>
            <a:off x="548640" y="3749040"/>
            <a:ext cx="11094415" cy="960120"/>
          </a:xfrm>
          <a:prstGeom prst="rect">
            <a:avLst/>
          </a:prstGeom>
          <a:solidFill>
            <a:srgbClr val="F4F7FA">
              <a:alpha val="70000"/>
            </a:srgbClr>
          </a:solidFill>
          <a:ln w="12700">
            <a:solidFill>
              <a:srgbClr val="F4F7FA"/>
            </a:solidFill>
            <a:prstDash val="solid"/>
          </a:ln>
        </p:spPr>
      </p:sp>
      <p:sp>
        <p:nvSpPr>
          <p:cNvPr id="48" name="Text 46"/>
          <p:cNvSpPr txBox="1"/>
          <p:nvPr/>
        </p:nvSpPr>
        <p:spPr>
          <a:xfrm>
            <a:off x="594360" y="3749040"/>
            <a:ext cx="2926080" cy="960120"/>
          </a:xfrm>
          <a:prstGeom prst="rect">
            <a:avLst/>
          </a:prstGeom>
          <a:noFill/>
          <a:ln/>
        </p:spPr>
        <p:txBody>
          <a:bodyPr wrap="square" lIns="0" tIns="0" rIns="0" bIns="0" rtlCol="0" anchor="ctr">
            <a:normAutofit/>
          </a:bodyPr>
          <a:lstStyle/>
          <a:p>
            <a:pPr indent="0" marL="0">
              <a:buNone/>
            </a:pPr>
            <a:r>
              <a:rPr lang="en-US" sz="1100" b="1" dirty="0">
                <a:solidFill>
                  <a:srgbClr val="2A78D6"/>
                </a:solidFill>
                <a:latin typeface="Calibri" pitchFamily="34" charset="0"/>
                <a:ea typeface="Calibri" pitchFamily="34" charset="-122"/>
                <a:cs typeface="Calibri" pitchFamily="34" charset="-120"/>
              </a:rPr>
              <a:t>CWP-1.02-ELE-01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Bancos de ductos eléctricos</a:t>
            </a:r>
            <a:endParaRPr lang="en-US" sz="1100" dirty="0"/>
          </a:p>
        </p:txBody>
      </p:sp>
      <p:sp>
        <p:nvSpPr>
          <p:cNvPr id="49" name="Shape 47"/>
          <p:cNvSpPr/>
          <p:nvPr/>
        </p:nvSpPr>
        <p:spPr>
          <a:xfrm>
            <a:off x="6315583" y="4229100"/>
            <a:ext cx="1839687" cy="0"/>
          </a:xfrm>
          <a:prstGeom prst="line">
            <a:avLst/>
          </a:prstGeom>
          <a:noFill/>
          <a:ln w="12700">
            <a:solidFill>
              <a:srgbClr val="B9CCE0"/>
            </a:solidFill>
            <a:prstDash val="dash"/>
          </a:ln>
        </p:spPr>
      </p:sp>
      <p:sp>
        <p:nvSpPr>
          <p:cNvPr id="50" name="Shape 48"/>
          <p:cNvSpPr/>
          <p:nvPr/>
        </p:nvSpPr>
        <p:spPr>
          <a:xfrm>
            <a:off x="8155270" y="3960266"/>
            <a:ext cx="2264230" cy="537667"/>
          </a:xfrm>
          <a:prstGeom prst="roundRect">
            <a:avLst>
              <a:gd name="adj" fmla="val 6803"/>
            </a:avLst>
          </a:prstGeom>
          <a:solidFill>
            <a:srgbClr val="2A78D6"/>
          </a:solidFill>
          <a:ln w="12700">
            <a:solidFill>
              <a:srgbClr val="2A78D6"/>
            </a:solidFill>
            <a:prstDash val="solid"/>
          </a:ln>
        </p:spPr>
      </p:sp>
      <p:sp>
        <p:nvSpPr>
          <p:cNvPr id="51" name="Text 49"/>
          <p:cNvSpPr txBox="1"/>
          <p:nvPr/>
        </p:nvSpPr>
        <p:spPr>
          <a:xfrm>
            <a:off x="8155270" y="3960266"/>
            <a:ext cx="2264230"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16 sem</a:t>
            </a:r>
            <a:endParaRPr lang="en-US" sz="950" dirty="0"/>
          </a:p>
        </p:txBody>
      </p:sp>
      <p:sp>
        <p:nvSpPr>
          <p:cNvPr id="52" name="Shape 50"/>
          <p:cNvSpPr/>
          <p:nvPr/>
        </p:nvSpPr>
        <p:spPr>
          <a:xfrm>
            <a:off x="6224143" y="4137660"/>
            <a:ext cx="182880" cy="182880"/>
          </a:xfrm>
          <a:prstGeom prst="diamond">
            <a:avLst/>
          </a:prstGeom>
          <a:solidFill>
            <a:srgbClr val="1F4E79"/>
          </a:solidFill>
          <a:ln w="6350">
            <a:solidFill>
              <a:srgbClr val="FFFFFF"/>
            </a:solidFill>
            <a:prstDash val="solid"/>
          </a:ln>
        </p:spPr>
      </p:sp>
      <p:sp>
        <p:nvSpPr>
          <p:cNvPr id="53" name="Shape 51"/>
          <p:cNvSpPr/>
          <p:nvPr/>
        </p:nvSpPr>
        <p:spPr>
          <a:xfrm>
            <a:off x="6648686" y="4137660"/>
            <a:ext cx="182880" cy="182880"/>
          </a:xfrm>
          <a:prstGeom prst="triangle">
            <a:avLst/>
          </a:prstGeom>
          <a:solidFill>
            <a:srgbClr val="F5A623"/>
          </a:solidFill>
          <a:ln w="6350">
            <a:solidFill>
              <a:srgbClr val="0F2A43"/>
            </a:solidFill>
            <a:prstDash val="solid"/>
          </a:ln>
        </p:spPr>
      </p:sp>
      <p:sp>
        <p:nvSpPr>
          <p:cNvPr id="54" name="Shape 52"/>
          <p:cNvSpPr/>
          <p:nvPr/>
        </p:nvSpPr>
        <p:spPr>
          <a:xfrm>
            <a:off x="7861666" y="4137660"/>
            <a:ext cx="182880" cy="182880"/>
          </a:xfrm>
          <a:prstGeom prst="ellipse">
            <a:avLst/>
          </a:prstGeom>
          <a:solidFill>
            <a:srgbClr val="1BAF7A"/>
          </a:solidFill>
          <a:ln w="6350">
            <a:solidFill>
              <a:srgbClr val="FFFFFF"/>
            </a:solidFill>
            <a:prstDash val="solid"/>
          </a:ln>
        </p:spPr>
      </p:sp>
      <p:sp>
        <p:nvSpPr>
          <p:cNvPr id="55" name="Text 53"/>
          <p:cNvSpPr txBox="1"/>
          <p:nvPr/>
        </p:nvSpPr>
        <p:spPr>
          <a:xfrm>
            <a:off x="7588342" y="447964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16/08</a:t>
            </a:r>
            <a:endParaRPr lang="en-US" sz="850" dirty="0"/>
          </a:p>
        </p:txBody>
      </p:sp>
      <p:sp>
        <p:nvSpPr>
          <p:cNvPr id="56" name="Shape 54"/>
          <p:cNvSpPr/>
          <p:nvPr/>
        </p:nvSpPr>
        <p:spPr>
          <a:xfrm>
            <a:off x="7730727" y="2577694"/>
            <a:ext cx="141514" cy="422453"/>
          </a:xfrm>
          <a:prstGeom prst="line">
            <a:avLst/>
          </a:prstGeom>
          <a:noFill/>
          <a:ln w="12700">
            <a:solidFill>
              <a:srgbClr val="0F2A43"/>
            </a:solidFill>
            <a:prstDash val="solid"/>
            <a:tailEnd type="triangle"/>
          </a:ln>
        </p:spPr>
      </p:sp>
      <p:sp>
        <p:nvSpPr>
          <p:cNvPr id="57" name="Shape 55"/>
          <p:cNvSpPr/>
          <p:nvPr/>
        </p:nvSpPr>
        <p:spPr>
          <a:xfrm>
            <a:off x="7730727" y="2577694"/>
            <a:ext cx="424543" cy="1382573"/>
          </a:xfrm>
          <a:prstGeom prst="line">
            <a:avLst/>
          </a:prstGeom>
          <a:noFill/>
          <a:ln w="12700">
            <a:solidFill>
              <a:srgbClr val="0F2A43"/>
            </a:solidFill>
            <a:prstDash val="solid"/>
            <a:tailEnd type="triangle"/>
          </a:ln>
        </p:spPr>
      </p:sp>
      <p:sp>
        <p:nvSpPr>
          <p:cNvPr id="58" name="Shape 56"/>
          <p:cNvSpPr/>
          <p:nvPr/>
        </p:nvSpPr>
        <p:spPr>
          <a:xfrm>
            <a:off x="548640" y="6053328"/>
            <a:ext cx="182880" cy="182880"/>
          </a:xfrm>
          <a:prstGeom prst="diamond">
            <a:avLst/>
          </a:prstGeom>
          <a:solidFill>
            <a:srgbClr val="1F4E79"/>
          </a:solidFill>
          <a:ln w="6350">
            <a:solidFill>
              <a:srgbClr val="0F2A43"/>
            </a:solidFill>
            <a:prstDash val="solid"/>
          </a:ln>
        </p:spPr>
      </p:sp>
      <p:sp>
        <p:nvSpPr>
          <p:cNvPr id="59" name="Text 57"/>
          <p:cNvSpPr txBox="1"/>
          <p:nvPr/>
        </p:nvSpPr>
        <p:spPr>
          <a:xfrm>
            <a:off x="82296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EWP IFC requerido (−13 sem)</a:t>
            </a:r>
            <a:endParaRPr lang="en-US" sz="1150" dirty="0"/>
          </a:p>
        </p:txBody>
      </p:sp>
      <p:sp>
        <p:nvSpPr>
          <p:cNvPr id="60" name="Shape 58"/>
          <p:cNvSpPr/>
          <p:nvPr/>
        </p:nvSpPr>
        <p:spPr>
          <a:xfrm>
            <a:off x="3566160" y="6053328"/>
            <a:ext cx="182880" cy="182880"/>
          </a:xfrm>
          <a:prstGeom prst="triangle">
            <a:avLst/>
          </a:prstGeom>
          <a:solidFill>
            <a:srgbClr val="F5A623"/>
          </a:solidFill>
          <a:ln w="6350">
            <a:solidFill>
              <a:srgbClr val="0F2A43"/>
            </a:solidFill>
            <a:prstDash val="solid"/>
          </a:ln>
        </p:spPr>
      </p:sp>
      <p:sp>
        <p:nvSpPr>
          <p:cNvPr id="61" name="Text 59"/>
          <p:cNvSpPr txBox="1"/>
          <p:nvPr/>
        </p:nvSpPr>
        <p:spPr>
          <a:xfrm>
            <a:off x="384048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Emisión del CWP (−10 sem)</a:t>
            </a:r>
            <a:endParaRPr lang="en-US" sz="1150" dirty="0"/>
          </a:p>
        </p:txBody>
      </p:sp>
      <p:sp>
        <p:nvSpPr>
          <p:cNvPr id="62" name="Shape 60"/>
          <p:cNvSpPr/>
          <p:nvPr/>
        </p:nvSpPr>
        <p:spPr>
          <a:xfrm>
            <a:off x="6583680" y="6053328"/>
            <a:ext cx="182880" cy="182880"/>
          </a:xfrm>
          <a:prstGeom prst="ellipse">
            <a:avLst/>
          </a:prstGeom>
          <a:solidFill>
            <a:srgbClr val="1BAF7A"/>
          </a:solidFill>
          <a:ln w="6350">
            <a:solidFill>
              <a:srgbClr val="0F2A43"/>
            </a:solidFill>
            <a:prstDash val="solid"/>
          </a:ln>
        </p:spPr>
      </p:sp>
      <p:sp>
        <p:nvSpPr>
          <p:cNvPr id="63" name="Text 61"/>
          <p:cNvSpPr txBox="1"/>
          <p:nvPr/>
        </p:nvSpPr>
        <p:spPr>
          <a:xfrm>
            <a:off x="685800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Materiales en obra RAS (−10 días)</a:t>
            </a:r>
            <a:endParaRPr lang="en-US" sz="1150" dirty="0"/>
          </a:p>
        </p:txBody>
      </p:sp>
      <p:sp>
        <p:nvSpPr>
          <p:cNvPr id="64" name="Shape 62"/>
          <p:cNvSpPr/>
          <p:nvPr/>
        </p:nvSpPr>
        <p:spPr>
          <a:xfrm>
            <a:off x="9601200" y="6053328"/>
            <a:ext cx="274320" cy="182880"/>
          </a:xfrm>
          <a:prstGeom prst="roundRect">
            <a:avLst>
              <a:gd name="adj" fmla="val 15000"/>
            </a:avLst>
          </a:prstGeom>
          <a:solidFill>
            <a:srgbClr val="2A78D6"/>
          </a:solidFill>
          <a:ln w="12700">
            <a:solidFill>
              <a:srgbClr val="2A78D6"/>
            </a:solidFill>
            <a:prstDash val="solid"/>
          </a:ln>
        </p:spPr>
      </p:sp>
      <p:sp>
        <p:nvSpPr>
          <p:cNvPr id="65" name="Text 63"/>
          <p:cNvSpPr txBox="1"/>
          <p:nvPr/>
        </p:nvSpPr>
        <p:spPr>
          <a:xfrm>
            <a:off x="9921240" y="5989320"/>
            <a:ext cx="594360" cy="310896"/>
          </a:xfrm>
          <a:prstGeom prst="rect">
            <a:avLst/>
          </a:prstGeom>
          <a:noFill/>
          <a:ln/>
        </p:spPr>
        <p:txBody>
          <a:bodyPr wrap="square" lIns="0" tIns="0" rIns="0" bIns="0" rtlCol="0" anchor="ctr"/>
          <a:lstStyle/>
          <a:p>
            <a:pPr indent="0" marL="0">
              <a:buNone/>
            </a:pPr>
            <a:r>
              <a:rPr lang="en-US" sz="1100" dirty="0">
                <a:solidFill>
                  <a:srgbClr val="56606B"/>
                </a:solidFill>
                <a:latin typeface="Calibri" pitchFamily="34" charset="0"/>
                <a:ea typeface="Calibri" pitchFamily="34" charset="-122"/>
                <a:cs typeface="Calibri" pitchFamily="34" charset="-120"/>
              </a:rPr>
              <a:t>Fase 1</a:t>
            </a:r>
            <a:endParaRPr lang="en-US" sz="1100" dirty="0"/>
          </a:p>
        </p:txBody>
      </p:sp>
      <p:sp>
        <p:nvSpPr>
          <p:cNvPr id="66" name="Text 64"/>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Línea de tiempo del PoC del proyecto tipo</a:t>
            </a:r>
            <a:endParaRPr lang="en-US" sz="1000" dirty="0"/>
          </a:p>
        </p:txBody>
      </p:sp>
      <p:sp>
        <p:nvSpPr>
          <p:cNvPr id="67" name="Text 65"/>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84</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Fase 2 · Instalación principal</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PoC por sistemas desarrollado en M6–M9 · construcción de M14 a M26</a:t>
            </a:r>
            <a:endParaRPr lang="en-US" sz="1500" dirty="0"/>
          </a:p>
        </p:txBody>
      </p:sp>
      <p:sp>
        <p:nvSpPr>
          <p:cNvPr id="4" name="Shape 2"/>
          <p:cNvSpPr/>
          <p:nvPr/>
        </p:nvSpPr>
        <p:spPr>
          <a:xfrm>
            <a:off x="3566160" y="1709928"/>
            <a:ext cx="0" cy="3931920"/>
          </a:xfrm>
          <a:prstGeom prst="line">
            <a:avLst/>
          </a:prstGeom>
          <a:noFill/>
          <a:ln w="6350">
            <a:solidFill>
              <a:srgbClr val="E9EEF3"/>
            </a:solidFill>
            <a:prstDash val="solid"/>
          </a:ln>
        </p:spPr>
      </p:sp>
      <p:sp>
        <p:nvSpPr>
          <p:cNvPr id="5" name="Text 3"/>
          <p:cNvSpPr txBox="1"/>
          <p:nvPr/>
        </p:nvSpPr>
        <p:spPr>
          <a:xfrm>
            <a:off x="3547872"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oct 27</a:t>
            </a:r>
            <a:endParaRPr lang="en-US" sz="1000" dirty="0"/>
          </a:p>
        </p:txBody>
      </p:sp>
      <p:sp>
        <p:nvSpPr>
          <p:cNvPr id="6" name="Shape 4"/>
          <p:cNvSpPr/>
          <p:nvPr/>
        </p:nvSpPr>
        <p:spPr>
          <a:xfrm>
            <a:off x="4018718" y="1709928"/>
            <a:ext cx="0" cy="3931920"/>
          </a:xfrm>
          <a:prstGeom prst="line">
            <a:avLst/>
          </a:prstGeom>
          <a:noFill/>
          <a:ln w="6350">
            <a:solidFill>
              <a:srgbClr val="E9EEF3"/>
            </a:solidFill>
            <a:prstDash val="solid"/>
          </a:ln>
        </p:spPr>
      </p:sp>
      <p:sp>
        <p:nvSpPr>
          <p:cNvPr id="7" name="Text 5"/>
          <p:cNvSpPr txBox="1"/>
          <p:nvPr/>
        </p:nvSpPr>
        <p:spPr>
          <a:xfrm>
            <a:off x="4000430"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nov</a:t>
            </a:r>
            <a:endParaRPr lang="en-US" sz="1000" dirty="0"/>
          </a:p>
        </p:txBody>
      </p:sp>
      <p:sp>
        <p:nvSpPr>
          <p:cNvPr id="8" name="Shape 6"/>
          <p:cNvSpPr/>
          <p:nvPr/>
        </p:nvSpPr>
        <p:spPr>
          <a:xfrm>
            <a:off x="4456677" y="1709928"/>
            <a:ext cx="0" cy="3931920"/>
          </a:xfrm>
          <a:prstGeom prst="line">
            <a:avLst/>
          </a:prstGeom>
          <a:noFill/>
          <a:ln w="6350">
            <a:solidFill>
              <a:srgbClr val="E9EEF3"/>
            </a:solidFill>
            <a:prstDash val="solid"/>
          </a:ln>
        </p:spPr>
      </p:sp>
      <p:sp>
        <p:nvSpPr>
          <p:cNvPr id="9" name="Text 7"/>
          <p:cNvSpPr txBox="1"/>
          <p:nvPr/>
        </p:nvSpPr>
        <p:spPr>
          <a:xfrm>
            <a:off x="4438389"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dic</a:t>
            </a:r>
            <a:endParaRPr lang="en-US" sz="1000" dirty="0"/>
          </a:p>
        </p:txBody>
      </p:sp>
      <p:sp>
        <p:nvSpPr>
          <p:cNvPr id="10" name="Shape 8"/>
          <p:cNvSpPr/>
          <p:nvPr/>
        </p:nvSpPr>
        <p:spPr>
          <a:xfrm>
            <a:off x="4909235" y="1709928"/>
            <a:ext cx="0" cy="3931920"/>
          </a:xfrm>
          <a:prstGeom prst="line">
            <a:avLst/>
          </a:prstGeom>
          <a:noFill/>
          <a:ln w="12700">
            <a:solidFill>
              <a:srgbClr val="B9CCE0"/>
            </a:solidFill>
            <a:prstDash val="solid"/>
          </a:ln>
        </p:spPr>
      </p:sp>
      <p:sp>
        <p:nvSpPr>
          <p:cNvPr id="11" name="Text 9"/>
          <p:cNvSpPr txBox="1"/>
          <p:nvPr/>
        </p:nvSpPr>
        <p:spPr>
          <a:xfrm>
            <a:off x="4890947" y="1417320"/>
            <a:ext cx="548640" cy="256032"/>
          </a:xfrm>
          <a:prstGeom prst="rect">
            <a:avLst/>
          </a:prstGeom>
          <a:noFill/>
          <a:ln/>
        </p:spPr>
        <p:txBody>
          <a:bodyPr wrap="square" lIns="0" tIns="0" rIns="0" bIns="0" rtlCol="0" anchor="t"/>
          <a:lstStyle/>
          <a:p>
            <a:pPr indent="0" marL="0">
              <a:buNone/>
            </a:pPr>
            <a:r>
              <a:rPr lang="en-US" sz="1100" b="1" dirty="0">
                <a:solidFill>
                  <a:srgbClr val="163A5C"/>
                </a:solidFill>
                <a:latin typeface="Calibri" pitchFamily="34" charset="0"/>
                <a:ea typeface="Calibri" pitchFamily="34" charset="-122"/>
                <a:cs typeface="Calibri" pitchFamily="34" charset="-120"/>
              </a:rPr>
              <a:t>ene 28</a:t>
            </a:r>
            <a:endParaRPr lang="en-US" sz="1100" dirty="0"/>
          </a:p>
        </p:txBody>
      </p:sp>
      <p:sp>
        <p:nvSpPr>
          <p:cNvPr id="12" name="Shape 10"/>
          <p:cNvSpPr/>
          <p:nvPr/>
        </p:nvSpPr>
        <p:spPr>
          <a:xfrm>
            <a:off x="5361793" y="1709928"/>
            <a:ext cx="0" cy="3931920"/>
          </a:xfrm>
          <a:prstGeom prst="line">
            <a:avLst/>
          </a:prstGeom>
          <a:noFill/>
          <a:ln w="6350">
            <a:solidFill>
              <a:srgbClr val="E9EEF3"/>
            </a:solidFill>
            <a:prstDash val="solid"/>
          </a:ln>
        </p:spPr>
      </p:sp>
      <p:sp>
        <p:nvSpPr>
          <p:cNvPr id="13" name="Text 11"/>
          <p:cNvSpPr txBox="1"/>
          <p:nvPr/>
        </p:nvSpPr>
        <p:spPr>
          <a:xfrm>
            <a:off x="5343505"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feb</a:t>
            </a:r>
            <a:endParaRPr lang="en-US" sz="1000" dirty="0"/>
          </a:p>
        </p:txBody>
      </p:sp>
      <p:sp>
        <p:nvSpPr>
          <p:cNvPr id="14" name="Shape 12"/>
          <p:cNvSpPr/>
          <p:nvPr/>
        </p:nvSpPr>
        <p:spPr>
          <a:xfrm>
            <a:off x="5785153" y="1709928"/>
            <a:ext cx="0" cy="3931920"/>
          </a:xfrm>
          <a:prstGeom prst="line">
            <a:avLst/>
          </a:prstGeom>
          <a:noFill/>
          <a:ln w="6350">
            <a:solidFill>
              <a:srgbClr val="E9EEF3"/>
            </a:solidFill>
            <a:prstDash val="solid"/>
          </a:ln>
        </p:spPr>
      </p:sp>
      <p:sp>
        <p:nvSpPr>
          <p:cNvPr id="15" name="Text 13"/>
          <p:cNvSpPr txBox="1"/>
          <p:nvPr/>
        </p:nvSpPr>
        <p:spPr>
          <a:xfrm>
            <a:off x="5766865"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mar</a:t>
            </a:r>
            <a:endParaRPr lang="en-US" sz="1000" dirty="0"/>
          </a:p>
        </p:txBody>
      </p:sp>
      <p:sp>
        <p:nvSpPr>
          <p:cNvPr id="16" name="Shape 14"/>
          <p:cNvSpPr/>
          <p:nvPr/>
        </p:nvSpPr>
        <p:spPr>
          <a:xfrm>
            <a:off x="6237711" y="1709928"/>
            <a:ext cx="0" cy="3931920"/>
          </a:xfrm>
          <a:prstGeom prst="line">
            <a:avLst/>
          </a:prstGeom>
          <a:noFill/>
          <a:ln w="6350">
            <a:solidFill>
              <a:srgbClr val="E9EEF3"/>
            </a:solidFill>
            <a:prstDash val="solid"/>
          </a:ln>
        </p:spPr>
      </p:sp>
      <p:sp>
        <p:nvSpPr>
          <p:cNvPr id="17" name="Text 15"/>
          <p:cNvSpPr txBox="1"/>
          <p:nvPr/>
        </p:nvSpPr>
        <p:spPr>
          <a:xfrm>
            <a:off x="6219423"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abr</a:t>
            </a:r>
            <a:endParaRPr lang="en-US" sz="1000" dirty="0"/>
          </a:p>
        </p:txBody>
      </p:sp>
      <p:sp>
        <p:nvSpPr>
          <p:cNvPr id="18" name="Shape 16"/>
          <p:cNvSpPr/>
          <p:nvPr/>
        </p:nvSpPr>
        <p:spPr>
          <a:xfrm>
            <a:off x="6675670" y="1709928"/>
            <a:ext cx="0" cy="3931920"/>
          </a:xfrm>
          <a:prstGeom prst="line">
            <a:avLst/>
          </a:prstGeom>
          <a:noFill/>
          <a:ln w="6350">
            <a:solidFill>
              <a:srgbClr val="E9EEF3"/>
            </a:solidFill>
            <a:prstDash val="solid"/>
          </a:ln>
        </p:spPr>
      </p:sp>
      <p:sp>
        <p:nvSpPr>
          <p:cNvPr id="19" name="Text 17"/>
          <p:cNvSpPr txBox="1"/>
          <p:nvPr/>
        </p:nvSpPr>
        <p:spPr>
          <a:xfrm>
            <a:off x="6657382"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may</a:t>
            </a:r>
            <a:endParaRPr lang="en-US" sz="1000" dirty="0"/>
          </a:p>
        </p:txBody>
      </p:sp>
      <p:sp>
        <p:nvSpPr>
          <p:cNvPr id="20" name="Shape 18"/>
          <p:cNvSpPr/>
          <p:nvPr/>
        </p:nvSpPr>
        <p:spPr>
          <a:xfrm>
            <a:off x="7128228" y="1709928"/>
            <a:ext cx="0" cy="3931920"/>
          </a:xfrm>
          <a:prstGeom prst="line">
            <a:avLst/>
          </a:prstGeom>
          <a:noFill/>
          <a:ln w="6350">
            <a:solidFill>
              <a:srgbClr val="E9EEF3"/>
            </a:solidFill>
            <a:prstDash val="solid"/>
          </a:ln>
        </p:spPr>
      </p:sp>
      <p:sp>
        <p:nvSpPr>
          <p:cNvPr id="21" name="Text 19"/>
          <p:cNvSpPr txBox="1"/>
          <p:nvPr/>
        </p:nvSpPr>
        <p:spPr>
          <a:xfrm>
            <a:off x="7109940"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jun</a:t>
            </a:r>
            <a:endParaRPr lang="en-US" sz="1000" dirty="0"/>
          </a:p>
        </p:txBody>
      </p:sp>
      <p:sp>
        <p:nvSpPr>
          <p:cNvPr id="22" name="Shape 20"/>
          <p:cNvSpPr/>
          <p:nvPr/>
        </p:nvSpPr>
        <p:spPr>
          <a:xfrm>
            <a:off x="7566187" y="1709928"/>
            <a:ext cx="0" cy="3931920"/>
          </a:xfrm>
          <a:prstGeom prst="line">
            <a:avLst/>
          </a:prstGeom>
          <a:noFill/>
          <a:ln w="6350">
            <a:solidFill>
              <a:srgbClr val="E9EEF3"/>
            </a:solidFill>
            <a:prstDash val="solid"/>
          </a:ln>
        </p:spPr>
      </p:sp>
      <p:sp>
        <p:nvSpPr>
          <p:cNvPr id="23" name="Text 21"/>
          <p:cNvSpPr txBox="1"/>
          <p:nvPr/>
        </p:nvSpPr>
        <p:spPr>
          <a:xfrm>
            <a:off x="7547899"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jul</a:t>
            </a:r>
            <a:endParaRPr lang="en-US" sz="1000" dirty="0"/>
          </a:p>
        </p:txBody>
      </p:sp>
      <p:sp>
        <p:nvSpPr>
          <p:cNvPr id="24" name="Shape 22"/>
          <p:cNvSpPr/>
          <p:nvPr/>
        </p:nvSpPr>
        <p:spPr>
          <a:xfrm>
            <a:off x="8018745" y="1709928"/>
            <a:ext cx="0" cy="3931920"/>
          </a:xfrm>
          <a:prstGeom prst="line">
            <a:avLst/>
          </a:prstGeom>
          <a:noFill/>
          <a:ln w="6350">
            <a:solidFill>
              <a:srgbClr val="E9EEF3"/>
            </a:solidFill>
            <a:prstDash val="solid"/>
          </a:ln>
        </p:spPr>
      </p:sp>
      <p:sp>
        <p:nvSpPr>
          <p:cNvPr id="25" name="Text 23"/>
          <p:cNvSpPr txBox="1"/>
          <p:nvPr/>
        </p:nvSpPr>
        <p:spPr>
          <a:xfrm>
            <a:off x="8000457"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ago</a:t>
            </a:r>
            <a:endParaRPr lang="en-US" sz="1000" dirty="0"/>
          </a:p>
        </p:txBody>
      </p:sp>
      <p:sp>
        <p:nvSpPr>
          <p:cNvPr id="26" name="Shape 24"/>
          <p:cNvSpPr/>
          <p:nvPr/>
        </p:nvSpPr>
        <p:spPr>
          <a:xfrm>
            <a:off x="8471302" y="1709928"/>
            <a:ext cx="0" cy="3931920"/>
          </a:xfrm>
          <a:prstGeom prst="line">
            <a:avLst/>
          </a:prstGeom>
          <a:noFill/>
          <a:ln w="6350">
            <a:solidFill>
              <a:srgbClr val="E9EEF3"/>
            </a:solidFill>
            <a:prstDash val="solid"/>
          </a:ln>
        </p:spPr>
      </p:sp>
      <p:sp>
        <p:nvSpPr>
          <p:cNvPr id="27" name="Text 25"/>
          <p:cNvSpPr txBox="1"/>
          <p:nvPr/>
        </p:nvSpPr>
        <p:spPr>
          <a:xfrm>
            <a:off x="8453014"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sep</a:t>
            </a:r>
            <a:endParaRPr lang="en-US" sz="1000" dirty="0"/>
          </a:p>
        </p:txBody>
      </p:sp>
      <p:sp>
        <p:nvSpPr>
          <p:cNvPr id="28" name="Shape 26"/>
          <p:cNvSpPr/>
          <p:nvPr/>
        </p:nvSpPr>
        <p:spPr>
          <a:xfrm>
            <a:off x="8909262" y="1709928"/>
            <a:ext cx="0" cy="3931920"/>
          </a:xfrm>
          <a:prstGeom prst="line">
            <a:avLst/>
          </a:prstGeom>
          <a:noFill/>
          <a:ln w="6350">
            <a:solidFill>
              <a:srgbClr val="E9EEF3"/>
            </a:solidFill>
            <a:prstDash val="solid"/>
          </a:ln>
        </p:spPr>
      </p:sp>
      <p:sp>
        <p:nvSpPr>
          <p:cNvPr id="29" name="Text 27"/>
          <p:cNvSpPr txBox="1"/>
          <p:nvPr/>
        </p:nvSpPr>
        <p:spPr>
          <a:xfrm>
            <a:off x="8890974"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oct</a:t>
            </a:r>
            <a:endParaRPr lang="en-US" sz="1000" dirty="0"/>
          </a:p>
        </p:txBody>
      </p:sp>
      <p:sp>
        <p:nvSpPr>
          <p:cNvPr id="30" name="Shape 28"/>
          <p:cNvSpPr/>
          <p:nvPr/>
        </p:nvSpPr>
        <p:spPr>
          <a:xfrm>
            <a:off x="9361819" y="1709928"/>
            <a:ext cx="0" cy="3931920"/>
          </a:xfrm>
          <a:prstGeom prst="line">
            <a:avLst/>
          </a:prstGeom>
          <a:noFill/>
          <a:ln w="6350">
            <a:solidFill>
              <a:srgbClr val="E9EEF3"/>
            </a:solidFill>
            <a:prstDash val="solid"/>
          </a:ln>
        </p:spPr>
      </p:sp>
      <p:sp>
        <p:nvSpPr>
          <p:cNvPr id="31" name="Text 29"/>
          <p:cNvSpPr txBox="1"/>
          <p:nvPr/>
        </p:nvSpPr>
        <p:spPr>
          <a:xfrm>
            <a:off x="9343531"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nov</a:t>
            </a:r>
            <a:endParaRPr lang="en-US" sz="1000" dirty="0"/>
          </a:p>
        </p:txBody>
      </p:sp>
      <p:sp>
        <p:nvSpPr>
          <p:cNvPr id="32" name="Shape 30"/>
          <p:cNvSpPr/>
          <p:nvPr/>
        </p:nvSpPr>
        <p:spPr>
          <a:xfrm>
            <a:off x="9799779" y="1709928"/>
            <a:ext cx="0" cy="3931920"/>
          </a:xfrm>
          <a:prstGeom prst="line">
            <a:avLst/>
          </a:prstGeom>
          <a:noFill/>
          <a:ln w="6350">
            <a:solidFill>
              <a:srgbClr val="E9EEF3"/>
            </a:solidFill>
            <a:prstDash val="solid"/>
          </a:ln>
        </p:spPr>
      </p:sp>
      <p:sp>
        <p:nvSpPr>
          <p:cNvPr id="33" name="Text 31"/>
          <p:cNvSpPr txBox="1"/>
          <p:nvPr/>
        </p:nvSpPr>
        <p:spPr>
          <a:xfrm>
            <a:off x="9781491"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dic</a:t>
            </a:r>
            <a:endParaRPr lang="en-US" sz="1000" dirty="0"/>
          </a:p>
        </p:txBody>
      </p:sp>
      <p:sp>
        <p:nvSpPr>
          <p:cNvPr id="34" name="Shape 32"/>
          <p:cNvSpPr/>
          <p:nvPr/>
        </p:nvSpPr>
        <p:spPr>
          <a:xfrm>
            <a:off x="10252336" y="1709928"/>
            <a:ext cx="0" cy="3931920"/>
          </a:xfrm>
          <a:prstGeom prst="line">
            <a:avLst/>
          </a:prstGeom>
          <a:noFill/>
          <a:ln w="12700">
            <a:solidFill>
              <a:srgbClr val="B9CCE0"/>
            </a:solidFill>
            <a:prstDash val="solid"/>
          </a:ln>
        </p:spPr>
      </p:sp>
      <p:sp>
        <p:nvSpPr>
          <p:cNvPr id="35" name="Text 33"/>
          <p:cNvSpPr txBox="1"/>
          <p:nvPr/>
        </p:nvSpPr>
        <p:spPr>
          <a:xfrm>
            <a:off x="10234048" y="1417320"/>
            <a:ext cx="548640" cy="256032"/>
          </a:xfrm>
          <a:prstGeom prst="rect">
            <a:avLst/>
          </a:prstGeom>
          <a:noFill/>
          <a:ln/>
        </p:spPr>
        <p:txBody>
          <a:bodyPr wrap="square" lIns="0" tIns="0" rIns="0" bIns="0" rtlCol="0" anchor="t"/>
          <a:lstStyle/>
          <a:p>
            <a:pPr indent="0" marL="0">
              <a:buNone/>
            </a:pPr>
            <a:r>
              <a:rPr lang="en-US" sz="1100" b="1" dirty="0">
                <a:solidFill>
                  <a:srgbClr val="163A5C"/>
                </a:solidFill>
                <a:latin typeface="Calibri" pitchFamily="34" charset="0"/>
                <a:ea typeface="Calibri" pitchFamily="34" charset="-122"/>
                <a:cs typeface="Calibri" pitchFamily="34" charset="-120"/>
              </a:rPr>
              <a:t>ene 29</a:t>
            </a:r>
            <a:endParaRPr lang="en-US" sz="1100" dirty="0"/>
          </a:p>
        </p:txBody>
      </p:sp>
      <p:sp>
        <p:nvSpPr>
          <p:cNvPr id="36" name="Shape 34"/>
          <p:cNvSpPr/>
          <p:nvPr/>
        </p:nvSpPr>
        <p:spPr>
          <a:xfrm>
            <a:off x="10704894" y="1709928"/>
            <a:ext cx="0" cy="3931920"/>
          </a:xfrm>
          <a:prstGeom prst="line">
            <a:avLst/>
          </a:prstGeom>
          <a:noFill/>
          <a:ln w="6350">
            <a:solidFill>
              <a:srgbClr val="E9EEF3"/>
            </a:solidFill>
            <a:prstDash val="solid"/>
          </a:ln>
        </p:spPr>
      </p:sp>
      <p:sp>
        <p:nvSpPr>
          <p:cNvPr id="37" name="Text 35"/>
          <p:cNvSpPr txBox="1"/>
          <p:nvPr/>
        </p:nvSpPr>
        <p:spPr>
          <a:xfrm>
            <a:off x="10686606"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feb</a:t>
            </a:r>
            <a:endParaRPr lang="en-US" sz="1000" dirty="0"/>
          </a:p>
        </p:txBody>
      </p:sp>
      <p:sp>
        <p:nvSpPr>
          <p:cNvPr id="38" name="Shape 36"/>
          <p:cNvSpPr/>
          <p:nvPr/>
        </p:nvSpPr>
        <p:spPr>
          <a:xfrm>
            <a:off x="11113656" y="1709928"/>
            <a:ext cx="0" cy="3931920"/>
          </a:xfrm>
          <a:prstGeom prst="line">
            <a:avLst/>
          </a:prstGeom>
          <a:noFill/>
          <a:ln w="6350">
            <a:solidFill>
              <a:srgbClr val="E9EEF3"/>
            </a:solidFill>
            <a:prstDash val="solid"/>
          </a:ln>
        </p:spPr>
      </p:sp>
      <p:sp>
        <p:nvSpPr>
          <p:cNvPr id="39" name="Text 37"/>
          <p:cNvSpPr txBox="1"/>
          <p:nvPr/>
        </p:nvSpPr>
        <p:spPr>
          <a:xfrm>
            <a:off x="11095368"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mar</a:t>
            </a:r>
            <a:endParaRPr lang="en-US" sz="1000" dirty="0"/>
          </a:p>
        </p:txBody>
      </p:sp>
      <p:sp>
        <p:nvSpPr>
          <p:cNvPr id="40" name="Shape 38"/>
          <p:cNvSpPr/>
          <p:nvPr/>
        </p:nvSpPr>
        <p:spPr>
          <a:xfrm>
            <a:off x="548640" y="1828800"/>
            <a:ext cx="11094415" cy="960120"/>
          </a:xfrm>
          <a:prstGeom prst="rect">
            <a:avLst/>
          </a:prstGeom>
          <a:solidFill>
            <a:srgbClr val="F4F7FA">
              <a:alpha val="70000"/>
            </a:srgbClr>
          </a:solidFill>
          <a:ln w="12700">
            <a:solidFill>
              <a:srgbClr val="F4F7FA"/>
            </a:solidFill>
            <a:prstDash val="solid"/>
          </a:ln>
        </p:spPr>
      </p:sp>
      <p:sp>
        <p:nvSpPr>
          <p:cNvPr id="41" name="Text 39"/>
          <p:cNvSpPr txBox="1"/>
          <p:nvPr/>
        </p:nvSpPr>
        <p:spPr>
          <a:xfrm>
            <a:off x="594360" y="1828800"/>
            <a:ext cx="2926080" cy="960120"/>
          </a:xfrm>
          <a:prstGeom prst="rect">
            <a:avLst/>
          </a:prstGeom>
          <a:noFill/>
          <a:ln/>
        </p:spPr>
        <p:txBody>
          <a:bodyPr wrap="square" lIns="0" tIns="0" rIns="0" bIns="0" rtlCol="0" anchor="ctr">
            <a:normAutofit/>
          </a:bodyPr>
          <a:lstStyle/>
          <a:p>
            <a:pPr indent="0" marL="0">
              <a:buNone/>
            </a:pPr>
            <a:r>
              <a:rPr lang="en-US" sz="1100" b="1" dirty="0">
                <a:solidFill>
                  <a:srgbClr val="EB6834"/>
                </a:solidFill>
                <a:latin typeface="Calibri" pitchFamily="34" charset="0"/>
                <a:ea typeface="Calibri" pitchFamily="34" charset="-122"/>
                <a:cs typeface="Calibri" pitchFamily="34" charset="-120"/>
              </a:rPr>
              <a:t>CWP-2.01-CIV-01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Cimentaciones bloque A</a:t>
            </a:r>
            <a:endParaRPr lang="en-US" sz="1100" dirty="0"/>
          </a:p>
        </p:txBody>
      </p:sp>
      <p:sp>
        <p:nvSpPr>
          <p:cNvPr id="42" name="Shape 40"/>
          <p:cNvSpPr/>
          <p:nvPr/>
        </p:nvSpPr>
        <p:spPr>
          <a:xfrm>
            <a:off x="4120908" y="2308860"/>
            <a:ext cx="1328476" cy="0"/>
          </a:xfrm>
          <a:prstGeom prst="line">
            <a:avLst/>
          </a:prstGeom>
          <a:noFill/>
          <a:ln w="12700">
            <a:solidFill>
              <a:srgbClr val="B9CCE0"/>
            </a:solidFill>
            <a:prstDash val="dash"/>
          </a:ln>
        </p:spPr>
      </p:sp>
      <p:sp>
        <p:nvSpPr>
          <p:cNvPr id="43" name="Shape 41"/>
          <p:cNvSpPr/>
          <p:nvPr/>
        </p:nvSpPr>
        <p:spPr>
          <a:xfrm>
            <a:off x="5449384" y="2040026"/>
            <a:ext cx="1124095" cy="537667"/>
          </a:xfrm>
          <a:prstGeom prst="roundRect">
            <a:avLst>
              <a:gd name="adj" fmla="val 6803"/>
            </a:avLst>
          </a:prstGeom>
          <a:solidFill>
            <a:srgbClr val="EB6834"/>
          </a:solidFill>
          <a:ln w="12700">
            <a:solidFill>
              <a:srgbClr val="EB6834"/>
            </a:solidFill>
            <a:prstDash val="solid"/>
          </a:ln>
        </p:spPr>
      </p:sp>
      <p:sp>
        <p:nvSpPr>
          <p:cNvPr id="44" name="Text 42"/>
          <p:cNvSpPr txBox="1"/>
          <p:nvPr/>
        </p:nvSpPr>
        <p:spPr>
          <a:xfrm>
            <a:off x="5449384" y="2040026"/>
            <a:ext cx="1124095"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11 sem</a:t>
            </a:r>
            <a:endParaRPr lang="en-US" sz="950" dirty="0"/>
          </a:p>
        </p:txBody>
      </p:sp>
      <p:sp>
        <p:nvSpPr>
          <p:cNvPr id="45" name="Shape 43"/>
          <p:cNvSpPr/>
          <p:nvPr/>
        </p:nvSpPr>
        <p:spPr>
          <a:xfrm>
            <a:off x="4029468" y="2217420"/>
            <a:ext cx="182880" cy="182880"/>
          </a:xfrm>
          <a:prstGeom prst="diamond">
            <a:avLst/>
          </a:prstGeom>
          <a:solidFill>
            <a:srgbClr val="1F4E79"/>
          </a:solidFill>
          <a:ln w="6350">
            <a:solidFill>
              <a:srgbClr val="FFFFFF"/>
            </a:solidFill>
            <a:prstDash val="solid"/>
          </a:ln>
        </p:spPr>
      </p:sp>
      <p:sp>
        <p:nvSpPr>
          <p:cNvPr id="46" name="Shape 44"/>
          <p:cNvSpPr/>
          <p:nvPr/>
        </p:nvSpPr>
        <p:spPr>
          <a:xfrm>
            <a:off x="4336040" y="2217420"/>
            <a:ext cx="182880" cy="182880"/>
          </a:xfrm>
          <a:prstGeom prst="triangle">
            <a:avLst/>
          </a:prstGeom>
          <a:solidFill>
            <a:srgbClr val="F5A623"/>
          </a:solidFill>
          <a:ln w="6350">
            <a:solidFill>
              <a:srgbClr val="0F2A43"/>
            </a:solidFill>
            <a:prstDash val="solid"/>
          </a:ln>
        </p:spPr>
      </p:sp>
      <p:sp>
        <p:nvSpPr>
          <p:cNvPr id="47" name="Shape 45"/>
          <p:cNvSpPr/>
          <p:nvPr/>
        </p:nvSpPr>
        <p:spPr>
          <a:xfrm>
            <a:off x="5211958" y="2217420"/>
            <a:ext cx="182880" cy="182880"/>
          </a:xfrm>
          <a:prstGeom prst="ellipse">
            <a:avLst/>
          </a:prstGeom>
          <a:solidFill>
            <a:srgbClr val="1BAF7A"/>
          </a:solidFill>
          <a:ln w="6350">
            <a:solidFill>
              <a:srgbClr val="FFFFFF"/>
            </a:solidFill>
            <a:prstDash val="solid"/>
          </a:ln>
        </p:spPr>
      </p:sp>
      <p:sp>
        <p:nvSpPr>
          <p:cNvPr id="48" name="Text 46"/>
          <p:cNvSpPr txBox="1"/>
          <p:nvPr/>
        </p:nvSpPr>
        <p:spPr>
          <a:xfrm>
            <a:off x="4882456" y="255940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07/02</a:t>
            </a:r>
            <a:endParaRPr lang="en-US" sz="850" dirty="0"/>
          </a:p>
        </p:txBody>
      </p:sp>
      <p:sp>
        <p:nvSpPr>
          <p:cNvPr id="49" name="Text 47"/>
          <p:cNvSpPr txBox="1"/>
          <p:nvPr/>
        </p:nvSpPr>
        <p:spPr>
          <a:xfrm>
            <a:off x="594360" y="2788920"/>
            <a:ext cx="2926080" cy="960120"/>
          </a:xfrm>
          <a:prstGeom prst="rect">
            <a:avLst/>
          </a:prstGeom>
          <a:noFill/>
          <a:ln/>
        </p:spPr>
        <p:txBody>
          <a:bodyPr wrap="square" lIns="0" tIns="0" rIns="0" bIns="0" rtlCol="0" anchor="ctr">
            <a:normAutofit/>
          </a:bodyPr>
          <a:lstStyle/>
          <a:p>
            <a:pPr indent="0" marL="0">
              <a:buNone/>
            </a:pPr>
            <a:r>
              <a:rPr lang="en-US" sz="1100" b="1" dirty="0">
                <a:solidFill>
                  <a:srgbClr val="EB6834"/>
                </a:solidFill>
                <a:latin typeface="Calibri" pitchFamily="34" charset="0"/>
                <a:ea typeface="Calibri" pitchFamily="34" charset="-122"/>
                <a:cs typeface="Calibri" pitchFamily="34" charset="-120"/>
              </a:rPr>
              <a:t>CWP-2.03-ELE-01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Equipos y cableado de sala eléctrica</a:t>
            </a:r>
            <a:endParaRPr lang="en-US" sz="1100" dirty="0"/>
          </a:p>
        </p:txBody>
      </p:sp>
      <p:sp>
        <p:nvSpPr>
          <p:cNvPr id="50" name="Shape 48"/>
          <p:cNvSpPr/>
          <p:nvPr/>
        </p:nvSpPr>
        <p:spPr>
          <a:xfrm>
            <a:off x="4529670" y="3268980"/>
            <a:ext cx="1328476" cy="0"/>
          </a:xfrm>
          <a:prstGeom prst="line">
            <a:avLst/>
          </a:prstGeom>
          <a:noFill/>
          <a:ln w="12700">
            <a:solidFill>
              <a:srgbClr val="B9CCE0"/>
            </a:solidFill>
            <a:prstDash val="dash"/>
          </a:ln>
        </p:spPr>
      </p:sp>
      <p:sp>
        <p:nvSpPr>
          <p:cNvPr id="51" name="Shape 49"/>
          <p:cNvSpPr/>
          <p:nvPr/>
        </p:nvSpPr>
        <p:spPr>
          <a:xfrm>
            <a:off x="5858146" y="3000146"/>
            <a:ext cx="3065714" cy="537667"/>
          </a:xfrm>
          <a:prstGeom prst="roundRect">
            <a:avLst>
              <a:gd name="adj" fmla="val 6803"/>
            </a:avLst>
          </a:prstGeom>
          <a:solidFill>
            <a:srgbClr val="EB6834"/>
          </a:solidFill>
          <a:ln w="12700">
            <a:solidFill>
              <a:srgbClr val="EB6834"/>
            </a:solidFill>
            <a:prstDash val="solid"/>
          </a:ln>
        </p:spPr>
      </p:sp>
      <p:sp>
        <p:nvSpPr>
          <p:cNvPr id="52" name="Text 50"/>
          <p:cNvSpPr txBox="1"/>
          <p:nvPr/>
        </p:nvSpPr>
        <p:spPr>
          <a:xfrm>
            <a:off x="5858146" y="3000146"/>
            <a:ext cx="3065714"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30 sem</a:t>
            </a:r>
            <a:endParaRPr lang="en-US" sz="950" dirty="0"/>
          </a:p>
        </p:txBody>
      </p:sp>
      <p:sp>
        <p:nvSpPr>
          <p:cNvPr id="53" name="Shape 51"/>
          <p:cNvSpPr/>
          <p:nvPr/>
        </p:nvSpPr>
        <p:spPr>
          <a:xfrm>
            <a:off x="4438230" y="3177540"/>
            <a:ext cx="182880" cy="182880"/>
          </a:xfrm>
          <a:prstGeom prst="diamond">
            <a:avLst/>
          </a:prstGeom>
          <a:solidFill>
            <a:srgbClr val="1F4E79"/>
          </a:solidFill>
          <a:ln w="6350">
            <a:solidFill>
              <a:srgbClr val="FFFFFF"/>
            </a:solidFill>
            <a:prstDash val="solid"/>
          </a:ln>
        </p:spPr>
      </p:sp>
      <p:sp>
        <p:nvSpPr>
          <p:cNvPr id="54" name="Shape 52"/>
          <p:cNvSpPr/>
          <p:nvPr/>
        </p:nvSpPr>
        <p:spPr>
          <a:xfrm>
            <a:off x="4744802" y="3177540"/>
            <a:ext cx="182880" cy="182880"/>
          </a:xfrm>
          <a:prstGeom prst="triangle">
            <a:avLst/>
          </a:prstGeom>
          <a:solidFill>
            <a:srgbClr val="F5A623"/>
          </a:solidFill>
          <a:ln w="6350">
            <a:solidFill>
              <a:srgbClr val="0F2A43"/>
            </a:solidFill>
            <a:prstDash val="solid"/>
          </a:ln>
        </p:spPr>
      </p:sp>
      <p:sp>
        <p:nvSpPr>
          <p:cNvPr id="55" name="Shape 53"/>
          <p:cNvSpPr/>
          <p:nvPr/>
        </p:nvSpPr>
        <p:spPr>
          <a:xfrm>
            <a:off x="5620720" y="3177540"/>
            <a:ext cx="182880" cy="182880"/>
          </a:xfrm>
          <a:prstGeom prst="ellipse">
            <a:avLst/>
          </a:prstGeom>
          <a:solidFill>
            <a:srgbClr val="1BAF7A"/>
          </a:solidFill>
          <a:ln w="6350">
            <a:solidFill>
              <a:srgbClr val="FFFFFF"/>
            </a:solidFill>
            <a:prstDash val="solid"/>
          </a:ln>
        </p:spPr>
      </p:sp>
      <p:sp>
        <p:nvSpPr>
          <p:cNvPr id="56" name="Text 54"/>
          <p:cNvSpPr txBox="1"/>
          <p:nvPr/>
        </p:nvSpPr>
        <p:spPr>
          <a:xfrm>
            <a:off x="5291218" y="351952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06/03</a:t>
            </a:r>
            <a:endParaRPr lang="en-US" sz="850" dirty="0"/>
          </a:p>
        </p:txBody>
      </p:sp>
      <p:sp>
        <p:nvSpPr>
          <p:cNvPr id="57" name="Shape 55"/>
          <p:cNvSpPr/>
          <p:nvPr/>
        </p:nvSpPr>
        <p:spPr>
          <a:xfrm>
            <a:off x="548640" y="3749040"/>
            <a:ext cx="11094415" cy="960120"/>
          </a:xfrm>
          <a:prstGeom prst="rect">
            <a:avLst/>
          </a:prstGeom>
          <a:solidFill>
            <a:srgbClr val="F4F7FA">
              <a:alpha val="70000"/>
            </a:srgbClr>
          </a:solidFill>
          <a:ln w="12700">
            <a:solidFill>
              <a:srgbClr val="F4F7FA"/>
            </a:solidFill>
            <a:prstDash val="solid"/>
          </a:ln>
        </p:spPr>
      </p:sp>
      <p:sp>
        <p:nvSpPr>
          <p:cNvPr id="58" name="Text 56"/>
          <p:cNvSpPr txBox="1"/>
          <p:nvPr/>
        </p:nvSpPr>
        <p:spPr>
          <a:xfrm>
            <a:off x="594360" y="3749040"/>
            <a:ext cx="2926080" cy="960120"/>
          </a:xfrm>
          <a:prstGeom prst="rect">
            <a:avLst/>
          </a:prstGeom>
          <a:noFill/>
          <a:ln/>
        </p:spPr>
        <p:txBody>
          <a:bodyPr wrap="square" lIns="0" tIns="0" rIns="0" bIns="0" rtlCol="0" anchor="ctr">
            <a:normAutofit/>
          </a:bodyPr>
          <a:lstStyle/>
          <a:p>
            <a:pPr indent="0" marL="0">
              <a:buNone/>
            </a:pPr>
            <a:r>
              <a:rPr lang="en-US" sz="1100" b="1" dirty="0">
                <a:solidFill>
                  <a:srgbClr val="EB6834"/>
                </a:solidFill>
                <a:latin typeface="Calibri" pitchFamily="34" charset="0"/>
                <a:ea typeface="Calibri" pitchFamily="34" charset="-122"/>
                <a:cs typeface="Calibri" pitchFamily="34" charset="-120"/>
              </a:rPr>
              <a:t>CWP-2.01-EST-01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Estructura metálica bloque A</a:t>
            </a:r>
            <a:endParaRPr lang="en-US" sz="1100" dirty="0"/>
          </a:p>
        </p:txBody>
      </p:sp>
      <p:sp>
        <p:nvSpPr>
          <p:cNvPr id="59" name="Shape 57"/>
          <p:cNvSpPr/>
          <p:nvPr/>
        </p:nvSpPr>
        <p:spPr>
          <a:xfrm>
            <a:off x="5259602" y="4229100"/>
            <a:ext cx="1328476" cy="0"/>
          </a:xfrm>
          <a:prstGeom prst="line">
            <a:avLst/>
          </a:prstGeom>
          <a:noFill/>
          <a:ln w="12700">
            <a:solidFill>
              <a:srgbClr val="B9CCE0"/>
            </a:solidFill>
            <a:prstDash val="dash"/>
          </a:ln>
        </p:spPr>
      </p:sp>
      <p:sp>
        <p:nvSpPr>
          <p:cNvPr id="60" name="Shape 58"/>
          <p:cNvSpPr/>
          <p:nvPr/>
        </p:nvSpPr>
        <p:spPr>
          <a:xfrm>
            <a:off x="6588078" y="3960266"/>
            <a:ext cx="1737238" cy="537667"/>
          </a:xfrm>
          <a:prstGeom prst="roundRect">
            <a:avLst>
              <a:gd name="adj" fmla="val 6803"/>
            </a:avLst>
          </a:prstGeom>
          <a:solidFill>
            <a:srgbClr val="EB6834"/>
          </a:solidFill>
          <a:ln w="12700">
            <a:solidFill>
              <a:srgbClr val="EB6834"/>
            </a:solidFill>
            <a:prstDash val="solid"/>
          </a:ln>
        </p:spPr>
      </p:sp>
      <p:sp>
        <p:nvSpPr>
          <p:cNvPr id="61" name="Text 59"/>
          <p:cNvSpPr txBox="1"/>
          <p:nvPr/>
        </p:nvSpPr>
        <p:spPr>
          <a:xfrm>
            <a:off x="6588078" y="3960266"/>
            <a:ext cx="1737238"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17 sem</a:t>
            </a:r>
            <a:endParaRPr lang="en-US" sz="950" dirty="0"/>
          </a:p>
        </p:txBody>
      </p:sp>
      <p:sp>
        <p:nvSpPr>
          <p:cNvPr id="62" name="Shape 60"/>
          <p:cNvSpPr/>
          <p:nvPr/>
        </p:nvSpPr>
        <p:spPr>
          <a:xfrm>
            <a:off x="5168162" y="4137660"/>
            <a:ext cx="182880" cy="182880"/>
          </a:xfrm>
          <a:prstGeom prst="diamond">
            <a:avLst/>
          </a:prstGeom>
          <a:solidFill>
            <a:srgbClr val="1F4E79"/>
          </a:solidFill>
          <a:ln w="6350">
            <a:solidFill>
              <a:srgbClr val="FFFFFF"/>
            </a:solidFill>
            <a:prstDash val="solid"/>
          </a:ln>
        </p:spPr>
      </p:sp>
      <p:sp>
        <p:nvSpPr>
          <p:cNvPr id="63" name="Shape 61"/>
          <p:cNvSpPr/>
          <p:nvPr/>
        </p:nvSpPr>
        <p:spPr>
          <a:xfrm>
            <a:off x="5474733" y="4137660"/>
            <a:ext cx="182880" cy="182880"/>
          </a:xfrm>
          <a:prstGeom prst="triangle">
            <a:avLst/>
          </a:prstGeom>
          <a:solidFill>
            <a:srgbClr val="F5A623"/>
          </a:solidFill>
          <a:ln w="6350">
            <a:solidFill>
              <a:srgbClr val="0F2A43"/>
            </a:solidFill>
            <a:prstDash val="solid"/>
          </a:ln>
        </p:spPr>
      </p:sp>
      <p:sp>
        <p:nvSpPr>
          <p:cNvPr id="64" name="Shape 62"/>
          <p:cNvSpPr/>
          <p:nvPr/>
        </p:nvSpPr>
        <p:spPr>
          <a:xfrm>
            <a:off x="6350652" y="4137660"/>
            <a:ext cx="182880" cy="182880"/>
          </a:xfrm>
          <a:prstGeom prst="ellipse">
            <a:avLst/>
          </a:prstGeom>
          <a:solidFill>
            <a:srgbClr val="1BAF7A"/>
          </a:solidFill>
          <a:ln w="6350">
            <a:solidFill>
              <a:srgbClr val="FFFFFF"/>
            </a:solidFill>
            <a:prstDash val="solid"/>
          </a:ln>
        </p:spPr>
      </p:sp>
      <p:sp>
        <p:nvSpPr>
          <p:cNvPr id="65" name="Text 63"/>
          <p:cNvSpPr txBox="1"/>
          <p:nvPr/>
        </p:nvSpPr>
        <p:spPr>
          <a:xfrm>
            <a:off x="6021150" y="447964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25/04</a:t>
            </a:r>
            <a:endParaRPr lang="en-US" sz="850" dirty="0"/>
          </a:p>
        </p:txBody>
      </p:sp>
      <p:sp>
        <p:nvSpPr>
          <p:cNvPr id="66" name="Text 64"/>
          <p:cNvSpPr txBox="1"/>
          <p:nvPr/>
        </p:nvSpPr>
        <p:spPr>
          <a:xfrm>
            <a:off x="594360" y="4709160"/>
            <a:ext cx="2926080" cy="960120"/>
          </a:xfrm>
          <a:prstGeom prst="rect">
            <a:avLst/>
          </a:prstGeom>
          <a:noFill/>
          <a:ln/>
        </p:spPr>
        <p:txBody>
          <a:bodyPr wrap="square" lIns="0" tIns="0" rIns="0" bIns="0" rtlCol="0" anchor="ctr">
            <a:normAutofit/>
          </a:bodyPr>
          <a:lstStyle/>
          <a:p>
            <a:pPr indent="0" marL="0">
              <a:buNone/>
            </a:pPr>
            <a:r>
              <a:rPr lang="en-US" sz="1100" b="1" dirty="0">
                <a:solidFill>
                  <a:srgbClr val="EB6834"/>
                </a:solidFill>
                <a:latin typeface="Calibri" pitchFamily="34" charset="0"/>
                <a:ea typeface="Calibri" pitchFamily="34" charset="-122"/>
                <a:cs typeface="Calibri" pitchFamily="34" charset="-120"/>
              </a:rPr>
              <a:t>CWP-2.01-TUB-01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Tuberías de servicios bloque A</a:t>
            </a:r>
            <a:endParaRPr lang="en-US" sz="1100" dirty="0"/>
          </a:p>
        </p:txBody>
      </p:sp>
      <p:sp>
        <p:nvSpPr>
          <p:cNvPr id="67" name="Shape 65"/>
          <p:cNvSpPr/>
          <p:nvPr/>
        </p:nvSpPr>
        <p:spPr>
          <a:xfrm>
            <a:off x="7084432" y="5189220"/>
            <a:ext cx="1328476" cy="0"/>
          </a:xfrm>
          <a:prstGeom prst="line">
            <a:avLst/>
          </a:prstGeom>
          <a:noFill/>
          <a:ln w="12700">
            <a:solidFill>
              <a:srgbClr val="B9CCE0"/>
            </a:solidFill>
            <a:prstDash val="dash"/>
          </a:ln>
        </p:spPr>
      </p:sp>
      <p:sp>
        <p:nvSpPr>
          <p:cNvPr id="68" name="Shape 66"/>
          <p:cNvSpPr/>
          <p:nvPr/>
        </p:nvSpPr>
        <p:spPr>
          <a:xfrm>
            <a:off x="8412908" y="4920386"/>
            <a:ext cx="2656952" cy="537667"/>
          </a:xfrm>
          <a:prstGeom prst="roundRect">
            <a:avLst>
              <a:gd name="adj" fmla="val 6803"/>
            </a:avLst>
          </a:prstGeom>
          <a:solidFill>
            <a:srgbClr val="EB6834"/>
          </a:solidFill>
          <a:ln w="12700">
            <a:solidFill>
              <a:srgbClr val="EB6834"/>
            </a:solidFill>
            <a:prstDash val="solid"/>
          </a:ln>
        </p:spPr>
      </p:sp>
      <p:sp>
        <p:nvSpPr>
          <p:cNvPr id="69" name="Text 67"/>
          <p:cNvSpPr txBox="1"/>
          <p:nvPr/>
        </p:nvSpPr>
        <p:spPr>
          <a:xfrm>
            <a:off x="8412908" y="4920386"/>
            <a:ext cx="2656952"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26 sem</a:t>
            </a:r>
            <a:endParaRPr lang="en-US" sz="950" dirty="0"/>
          </a:p>
        </p:txBody>
      </p:sp>
      <p:sp>
        <p:nvSpPr>
          <p:cNvPr id="70" name="Shape 68"/>
          <p:cNvSpPr/>
          <p:nvPr/>
        </p:nvSpPr>
        <p:spPr>
          <a:xfrm>
            <a:off x="6992992" y="5097780"/>
            <a:ext cx="182880" cy="182880"/>
          </a:xfrm>
          <a:prstGeom prst="diamond">
            <a:avLst/>
          </a:prstGeom>
          <a:solidFill>
            <a:srgbClr val="1F4E79"/>
          </a:solidFill>
          <a:ln w="6350">
            <a:solidFill>
              <a:srgbClr val="FFFFFF"/>
            </a:solidFill>
            <a:prstDash val="solid"/>
          </a:ln>
        </p:spPr>
      </p:sp>
      <p:sp>
        <p:nvSpPr>
          <p:cNvPr id="71" name="Shape 69"/>
          <p:cNvSpPr/>
          <p:nvPr/>
        </p:nvSpPr>
        <p:spPr>
          <a:xfrm>
            <a:off x="7299563" y="5097780"/>
            <a:ext cx="182880" cy="182880"/>
          </a:xfrm>
          <a:prstGeom prst="triangle">
            <a:avLst/>
          </a:prstGeom>
          <a:solidFill>
            <a:srgbClr val="F5A623"/>
          </a:solidFill>
          <a:ln w="6350">
            <a:solidFill>
              <a:srgbClr val="0F2A43"/>
            </a:solidFill>
            <a:prstDash val="solid"/>
          </a:ln>
        </p:spPr>
      </p:sp>
      <p:sp>
        <p:nvSpPr>
          <p:cNvPr id="72" name="Shape 70"/>
          <p:cNvSpPr/>
          <p:nvPr/>
        </p:nvSpPr>
        <p:spPr>
          <a:xfrm>
            <a:off x="8175482" y="5097780"/>
            <a:ext cx="182880" cy="182880"/>
          </a:xfrm>
          <a:prstGeom prst="ellipse">
            <a:avLst/>
          </a:prstGeom>
          <a:solidFill>
            <a:srgbClr val="1BAF7A"/>
          </a:solidFill>
          <a:ln w="6350">
            <a:solidFill>
              <a:srgbClr val="FFFFFF"/>
            </a:solidFill>
            <a:prstDash val="solid"/>
          </a:ln>
        </p:spPr>
      </p:sp>
      <p:sp>
        <p:nvSpPr>
          <p:cNvPr id="73" name="Text 71"/>
          <p:cNvSpPr txBox="1"/>
          <p:nvPr/>
        </p:nvSpPr>
        <p:spPr>
          <a:xfrm>
            <a:off x="7845980" y="543976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28/08</a:t>
            </a:r>
            <a:endParaRPr lang="en-US" sz="850" dirty="0"/>
          </a:p>
        </p:txBody>
      </p:sp>
      <p:sp>
        <p:nvSpPr>
          <p:cNvPr id="74" name="Shape 72"/>
          <p:cNvSpPr/>
          <p:nvPr/>
        </p:nvSpPr>
        <p:spPr>
          <a:xfrm>
            <a:off x="6573480" y="2577694"/>
            <a:ext cx="14599" cy="1382573"/>
          </a:xfrm>
          <a:prstGeom prst="line">
            <a:avLst/>
          </a:prstGeom>
          <a:noFill/>
          <a:ln w="12700">
            <a:solidFill>
              <a:srgbClr val="0F2A43"/>
            </a:solidFill>
            <a:prstDash val="solid"/>
            <a:tailEnd type="triangle"/>
          </a:ln>
        </p:spPr>
      </p:sp>
      <p:sp>
        <p:nvSpPr>
          <p:cNvPr id="75" name="Shape 73"/>
          <p:cNvSpPr/>
          <p:nvPr/>
        </p:nvSpPr>
        <p:spPr>
          <a:xfrm>
            <a:off x="8325316" y="4497934"/>
            <a:ext cx="87592" cy="422453"/>
          </a:xfrm>
          <a:prstGeom prst="line">
            <a:avLst/>
          </a:prstGeom>
          <a:noFill/>
          <a:ln w="12700">
            <a:solidFill>
              <a:srgbClr val="0F2A43"/>
            </a:solidFill>
            <a:prstDash val="solid"/>
            <a:tailEnd type="triangle"/>
          </a:ln>
        </p:spPr>
      </p:sp>
      <p:sp>
        <p:nvSpPr>
          <p:cNvPr id="76" name="Shape 74"/>
          <p:cNvSpPr/>
          <p:nvPr/>
        </p:nvSpPr>
        <p:spPr>
          <a:xfrm>
            <a:off x="548640" y="6053328"/>
            <a:ext cx="182880" cy="182880"/>
          </a:xfrm>
          <a:prstGeom prst="diamond">
            <a:avLst/>
          </a:prstGeom>
          <a:solidFill>
            <a:srgbClr val="1F4E79"/>
          </a:solidFill>
          <a:ln w="6350">
            <a:solidFill>
              <a:srgbClr val="0F2A43"/>
            </a:solidFill>
            <a:prstDash val="solid"/>
          </a:ln>
        </p:spPr>
      </p:sp>
      <p:sp>
        <p:nvSpPr>
          <p:cNvPr id="77" name="Text 75"/>
          <p:cNvSpPr txBox="1"/>
          <p:nvPr/>
        </p:nvSpPr>
        <p:spPr>
          <a:xfrm>
            <a:off x="82296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EWP IFC requerido (−13 sem)</a:t>
            </a:r>
            <a:endParaRPr lang="en-US" sz="1150" dirty="0"/>
          </a:p>
        </p:txBody>
      </p:sp>
      <p:sp>
        <p:nvSpPr>
          <p:cNvPr id="78" name="Shape 76"/>
          <p:cNvSpPr/>
          <p:nvPr/>
        </p:nvSpPr>
        <p:spPr>
          <a:xfrm>
            <a:off x="3566160" y="6053328"/>
            <a:ext cx="182880" cy="182880"/>
          </a:xfrm>
          <a:prstGeom prst="triangle">
            <a:avLst/>
          </a:prstGeom>
          <a:solidFill>
            <a:srgbClr val="F5A623"/>
          </a:solidFill>
          <a:ln w="6350">
            <a:solidFill>
              <a:srgbClr val="0F2A43"/>
            </a:solidFill>
            <a:prstDash val="solid"/>
          </a:ln>
        </p:spPr>
      </p:sp>
      <p:sp>
        <p:nvSpPr>
          <p:cNvPr id="79" name="Text 77"/>
          <p:cNvSpPr txBox="1"/>
          <p:nvPr/>
        </p:nvSpPr>
        <p:spPr>
          <a:xfrm>
            <a:off x="384048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Emisión del CWP (−10 sem)</a:t>
            </a:r>
            <a:endParaRPr lang="en-US" sz="1150" dirty="0"/>
          </a:p>
        </p:txBody>
      </p:sp>
      <p:sp>
        <p:nvSpPr>
          <p:cNvPr id="80" name="Shape 78"/>
          <p:cNvSpPr/>
          <p:nvPr/>
        </p:nvSpPr>
        <p:spPr>
          <a:xfrm>
            <a:off x="6583680" y="6053328"/>
            <a:ext cx="182880" cy="182880"/>
          </a:xfrm>
          <a:prstGeom prst="ellipse">
            <a:avLst/>
          </a:prstGeom>
          <a:solidFill>
            <a:srgbClr val="1BAF7A"/>
          </a:solidFill>
          <a:ln w="6350">
            <a:solidFill>
              <a:srgbClr val="0F2A43"/>
            </a:solidFill>
            <a:prstDash val="solid"/>
          </a:ln>
        </p:spPr>
      </p:sp>
      <p:sp>
        <p:nvSpPr>
          <p:cNvPr id="81" name="Text 79"/>
          <p:cNvSpPr txBox="1"/>
          <p:nvPr/>
        </p:nvSpPr>
        <p:spPr>
          <a:xfrm>
            <a:off x="685800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Materiales en obra RAS (−10 días)</a:t>
            </a:r>
            <a:endParaRPr lang="en-US" sz="1150" dirty="0"/>
          </a:p>
        </p:txBody>
      </p:sp>
      <p:sp>
        <p:nvSpPr>
          <p:cNvPr id="82" name="Shape 80"/>
          <p:cNvSpPr/>
          <p:nvPr/>
        </p:nvSpPr>
        <p:spPr>
          <a:xfrm>
            <a:off x="9601200" y="6053328"/>
            <a:ext cx="274320" cy="182880"/>
          </a:xfrm>
          <a:prstGeom prst="roundRect">
            <a:avLst>
              <a:gd name="adj" fmla="val 15000"/>
            </a:avLst>
          </a:prstGeom>
          <a:solidFill>
            <a:srgbClr val="EB6834"/>
          </a:solidFill>
          <a:ln w="12700">
            <a:solidFill>
              <a:srgbClr val="EB6834"/>
            </a:solidFill>
            <a:prstDash val="solid"/>
          </a:ln>
        </p:spPr>
      </p:sp>
      <p:sp>
        <p:nvSpPr>
          <p:cNvPr id="83" name="Text 81"/>
          <p:cNvSpPr txBox="1"/>
          <p:nvPr/>
        </p:nvSpPr>
        <p:spPr>
          <a:xfrm>
            <a:off x="9921240" y="5989320"/>
            <a:ext cx="594360" cy="310896"/>
          </a:xfrm>
          <a:prstGeom prst="rect">
            <a:avLst/>
          </a:prstGeom>
          <a:noFill/>
          <a:ln/>
        </p:spPr>
        <p:txBody>
          <a:bodyPr wrap="square" lIns="0" tIns="0" rIns="0" bIns="0" rtlCol="0" anchor="ctr"/>
          <a:lstStyle/>
          <a:p>
            <a:pPr indent="0" marL="0">
              <a:buNone/>
            </a:pPr>
            <a:r>
              <a:rPr lang="en-US" sz="1100" dirty="0">
                <a:solidFill>
                  <a:srgbClr val="56606B"/>
                </a:solidFill>
                <a:latin typeface="Calibri" pitchFamily="34" charset="0"/>
                <a:ea typeface="Calibri" pitchFamily="34" charset="-122"/>
                <a:cs typeface="Calibri" pitchFamily="34" charset="-120"/>
              </a:rPr>
              <a:t>Fase 2</a:t>
            </a:r>
            <a:endParaRPr lang="en-US" sz="1100" dirty="0"/>
          </a:p>
        </p:txBody>
      </p:sp>
      <p:sp>
        <p:nvSpPr>
          <p:cNvPr id="84" name="Text 8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Línea de tiempo del PoC del proyecto tipo</a:t>
            </a:r>
            <a:endParaRPr lang="en-US" sz="1000" dirty="0"/>
          </a:p>
        </p:txBody>
      </p:sp>
      <p:sp>
        <p:nvSpPr>
          <p:cNvPr id="85" name="Text 8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85</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Fase 3 · Complementarias y ampliación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PoC integrado con comisionamiento, desarrollado en M16–M21 · construcción de M26 a M33</a:t>
            </a:r>
            <a:endParaRPr lang="en-US" sz="1500" dirty="0"/>
          </a:p>
        </p:txBody>
      </p:sp>
      <p:sp>
        <p:nvSpPr>
          <p:cNvPr id="4" name="Shape 2"/>
          <p:cNvSpPr/>
          <p:nvPr/>
        </p:nvSpPr>
        <p:spPr>
          <a:xfrm>
            <a:off x="3566160" y="1709928"/>
            <a:ext cx="0" cy="2971800"/>
          </a:xfrm>
          <a:prstGeom prst="line">
            <a:avLst/>
          </a:prstGeom>
          <a:noFill/>
          <a:ln w="6350">
            <a:solidFill>
              <a:srgbClr val="E9EEF3"/>
            </a:solidFill>
            <a:prstDash val="solid"/>
          </a:ln>
        </p:spPr>
      </p:sp>
      <p:sp>
        <p:nvSpPr>
          <p:cNvPr id="5" name="Text 3"/>
          <p:cNvSpPr txBox="1"/>
          <p:nvPr/>
        </p:nvSpPr>
        <p:spPr>
          <a:xfrm>
            <a:off x="3547872"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oct 28</a:t>
            </a:r>
            <a:endParaRPr lang="en-US" sz="1000" dirty="0"/>
          </a:p>
        </p:txBody>
      </p:sp>
      <p:sp>
        <p:nvSpPr>
          <p:cNvPr id="6" name="Shape 4"/>
          <p:cNvSpPr/>
          <p:nvPr/>
        </p:nvSpPr>
        <p:spPr>
          <a:xfrm>
            <a:off x="4192867" y="1709928"/>
            <a:ext cx="0" cy="2971800"/>
          </a:xfrm>
          <a:prstGeom prst="line">
            <a:avLst/>
          </a:prstGeom>
          <a:noFill/>
          <a:ln w="6350">
            <a:solidFill>
              <a:srgbClr val="E9EEF3"/>
            </a:solidFill>
            <a:prstDash val="solid"/>
          </a:ln>
        </p:spPr>
      </p:sp>
      <p:sp>
        <p:nvSpPr>
          <p:cNvPr id="7" name="Text 5"/>
          <p:cNvSpPr txBox="1"/>
          <p:nvPr/>
        </p:nvSpPr>
        <p:spPr>
          <a:xfrm>
            <a:off x="4174579"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nov</a:t>
            </a:r>
            <a:endParaRPr lang="en-US" sz="1000" dirty="0"/>
          </a:p>
        </p:txBody>
      </p:sp>
      <p:sp>
        <p:nvSpPr>
          <p:cNvPr id="8" name="Shape 6"/>
          <p:cNvSpPr/>
          <p:nvPr/>
        </p:nvSpPr>
        <p:spPr>
          <a:xfrm>
            <a:off x="4799357" y="1709928"/>
            <a:ext cx="0" cy="2971800"/>
          </a:xfrm>
          <a:prstGeom prst="line">
            <a:avLst/>
          </a:prstGeom>
          <a:noFill/>
          <a:ln w="6350">
            <a:solidFill>
              <a:srgbClr val="E9EEF3"/>
            </a:solidFill>
            <a:prstDash val="solid"/>
          </a:ln>
        </p:spPr>
      </p:sp>
      <p:sp>
        <p:nvSpPr>
          <p:cNvPr id="9" name="Text 7"/>
          <p:cNvSpPr txBox="1"/>
          <p:nvPr/>
        </p:nvSpPr>
        <p:spPr>
          <a:xfrm>
            <a:off x="4781069"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dic</a:t>
            </a:r>
            <a:endParaRPr lang="en-US" sz="1000" dirty="0"/>
          </a:p>
        </p:txBody>
      </p:sp>
      <p:sp>
        <p:nvSpPr>
          <p:cNvPr id="10" name="Shape 8"/>
          <p:cNvSpPr/>
          <p:nvPr/>
        </p:nvSpPr>
        <p:spPr>
          <a:xfrm>
            <a:off x="5426063" y="1709928"/>
            <a:ext cx="0" cy="2971800"/>
          </a:xfrm>
          <a:prstGeom prst="line">
            <a:avLst/>
          </a:prstGeom>
          <a:noFill/>
          <a:ln w="12700">
            <a:solidFill>
              <a:srgbClr val="B9CCE0"/>
            </a:solidFill>
            <a:prstDash val="solid"/>
          </a:ln>
        </p:spPr>
      </p:sp>
      <p:sp>
        <p:nvSpPr>
          <p:cNvPr id="11" name="Text 9"/>
          <p:cNvSpPr txBox="1"/>
          <p:nvPr/>
        </p:nvSpPr>
        <p:spPr>
          <a:xfrm>
            <a:off x="5407775" y="1417320"/>
            <a:ext cx="548640" cy="256032"/>
          </a:xfrm>
          <a:prstGeom prst="rect">
            <a:avLst/>
          </a:prstGeom>
          <a:noFill/>
          <a:ln/>
        </p:spPr>
        <p:txBody>
          <a:bodyPr wrap="square" lIns="0" tIns="0" rIns="0" bIns="0" rtlCol="0" anchor="t"/>
          <a:lstStyle/>
          <a:p>
            <a:pPr indent="0" marL="0">
              <a:buNone/>
            </a:pPr>
            <a:r>
              <a:rPr lang="en-US" sz="1100" b="1" dirty="0">
                <a:solidFill>
                  <a:srgbClr val="163A5C"/>
                </a:solidFill>
                <a:latin typeface="Calibri" pitchFamily="34" charset="0"/>
                <a:ea typeface="Calibri" pitchFamily="34" charset="-122"/>
                <a:cs typeface="Calibri" pitchFamily="34" charset="-120"/>
              </a:rPr>
              <a:t>ene 29</a:t>
            </a:r>
            <a:endParaRPr lang="en-US" sz="1100" dirty="0"/>
          </a:p>
        </p:txBody>
      </p:sp>
      <p:sp>
        <p:nvSpPr>
          <p:cNvPr id="12" name="Shape 10"/>
          <p:cNvSpPr/>
          <p:nvPr/>
        </p:nvSpPr>
        <p:spPr>
          <a:xfrm>
            <a:off x="6052770" y="1709928"/>
            <a:ext cx="0" cy="2971800"/>
          </a:xfrm>
          <a:prstGeom prst="line">
            <a:avLst/>
          </a:prstGeom>
          <a:noFill/>
          <a:ln w="6350">
            <a:solidFill>
              <a:srgbClr val="E9EEF3"/>
            </a:solidFill>
            <a:prstDash val="solid"/>
          </a:ln>
        </p:spPr>
      </p:sp>
      <p:sp>
        <p:nvSpPr>
          <p:cNvPr id="13" name="Text 11"/>
          <p:cNvSpPr txBox="1"/>
          <p:nvPr/>
        </p:nvSpPr>
        <p:spPr>
          <a:xfrm>
            <a:off x="6034482"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feb</a:t>
            </a:r>
            <a:endParaRPr lang="en-US" sz="1000" dirty="0"/>
          </a:p>
        </p:txBody>
      </p:sp>
      <p:sp>
        <p:nvSpPr>
          <p:cNvPr id="14" name="Shape 12"/>
          <p:cNvSpPr/>
          <p:nvPr/>
        </p:nvSpPr>
        <p:spPr>
          <a:xfrm>
            <a:off x="6618828" y="1709928"/>
            <a:ext cx="0" cy="2971800"/>
          </a:xfrm>
          <a:prstGeom prst="line">
            <a:avLst/>
          </a:prstGeom>
          <a:noFill/>
          <a:ln w="6350">
            <a:solidFill>
              <a:srgbClr val="E9EEF3"/>
            </a:solidFill>
            <a:prstDash val="solid"/>
          </a:ln>
        </p:spPr>
      </p:sp>
      <p:sp>
        <p:nvSpPr>
          <p:cNvPr id="15" name="Text 13"/>
          <p:cNvSpPr txBox="1"/>
          <p:nvPr/>
        </p:nvSpPr>
        <p:spPr>
          <a:xfrm>
            <a:off x="6600540"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mar</a:t>
            </a:r>
            <a:endParaRPr lang="en-US" sz="1000" dirty="0"/>
          </a:p>
        </p:txBody>
      </p:sp>
      <p:sp>
        <p:nvSpPr>
          <p:cNvPr id="16" name="Shape 14"/>
          <p:cNvSpPr/>
          <p:nvPr/>
        </p:nvSpPr>
        <p:spPr>
          <a:xfrm>
            <a:off x="7245534" y="1709928"/>
            <a:ext cx="0" cy="2971800"/>
          </a:xfrm>
          <a:prstGeom prst="line">
            <a:avLst/>
          </a:prstGeom>
          <a:noFill/>
          <a:ln w="6350">
            <a:solidFill>
              <a:srgbClr val="E9EEF3"/>
            </a:solidFill>
            <a:prstDash val="solid"/>
          </a:ln>
        </p:spPr>
      </p:sp>
      <p:sp>
        <p:nvSpPr>
          <p:cNvPr id="17" name="Text 15"/>
          <p:cNvSpPr txBox="1"/>
          <p:nvPr/>
        </p:nvSpPr>
        <p:spPr>
          <a:xfrm>
            <a:off x="7227246"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abr</a:t>
            </a:r>
            <a:endParaRPr lang="en-US" sz="1000" dirty="0"/>
          </a:p>
        </p:txBody>
      </p:sp>
      <p:sp>
        <p:nvSpPr>
          <p:cNvPr id="18" name="Shape 16"/>
          <p:cNvSpPr/>
          <p:nvPr/>
        </p:nvSpPr>
        <p:spPr>
          <a:xfrm>
            <a:off x="7852025" y="1709928"/>
            <a:ext cx="0" cy="2971800"/>
          </a:xfrm>
          <a:prstGeom prst="line">
            <a:avLst/>
          </a:prstGeom>
          <a:noFill/>
          <a:ln w="6350">
            <a:solidFill>
              <a:srgbClr val="E9EEF3"/>
            </a:solidFill>
            <a:prstDash val="solid"/>
          </a:ln>
        </p:spPr>
      </p:sp>
      <p:sp>
        <p:nvSpPr>
          <p:cNvPr id="19" name="Text 17"/>
          <p:cNvSpPr txBox="1"/>
          <p:nvPr/>
        </p:nvSpPr>
        <p:spPr>
          <a:xfrm>
            <a:off x="7833737"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may</a:t>
            </a:r>
            <a:endParaRPr lang="en-US" sz="1000" dirty="0"/>
          </a:p>
        </p:txBody>
      </p:sp>
      <p:sp>
        <p:nvSpPr>
          <p:cNvPr id="20" name="Shape 18"/>
          <p:cNvSpPr/>
          <p:nvPr/>
        </p:nvSpPr>
        <p:spPr>
          <a:xfrm>
            <a:off x="8478731" y="1709928"/>
            <a:ext cx="0" cy="2971800"/>
          </a:xfrm>
          <a:prstGeom prst="line">
            <a:avLst/>
          </a:prstGeom>
          <a:noFill/>
          <a:ln w="6350">
            <a:solidFill>
              <a:srgbClr val="E9EEF3"/>
            </a:solidFill>
            <a:prstDash val="solid"/>
          </a:ln>
        </p:spPr>
      </p:sp>
      <p:sp>
        <p:nvSpPr>
          <p:cNvPr id="21" name="Text 19"/>
          <p:cNvSpPr txBox="1"/>
          <p:nvPr/>
        </p:nvSpPr>
        <p:spPr>
          <a:xfrm>
            <a:off x="8460443"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jun</a:t>
            </a:r>
            <a:endParaRPr lang="en-US" sz="1000" dirty="0"/>
          </a:p>
        </p:txBody>
      </p:sp>
      <p:sp>
        <p:nvSpPr>
          <p:cNvPr id="22" name="Shape 20"/>
          <p:cNvSpPr/>
          <p:nvPr/>
        </p:nvSpPr>
        <p:spPr>
          <a:xfrm>
            <a:off x="9085221" y="1709928"/>
            <a:ext cx="0" cy="2971800"/>
          </a:xfrm>
          <a:prstGeom prst="line">
            <a:avLst/>
          </a:prstGeom>
          <a:noFill/>
          <a:ln w="6350">
            <a:solidFill>
              <a:srgbClr val="E9EEF3"/>
            </a:solidFill>
            <a:prstDash val="solid"/>
          </a:ln>
        </p:spPr>
      </p:sp>
      <p:sp>
        <p:nvSpPr>
          <p:cNvPr id="23" name="Text 21"/>
          <p:cNvSpPr txBox="1"/>
          <p:nvPr/>
        </p:nvSpPr>
        <p:spPr>
          <a:xfrm>
            <a:off x="9066933"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jul</a:t>
            </a:r>
            <a:endParaRPr lang="en-US" sz="1000" dirty="0"/>
          </a:p>
        </p:txBody>
      </p:sp>
      <p:sp>
        <p:nvSpPr>
          <p:cNvPr id="24" name="Shape 22"/>
          <p:cNvSpPr/>
          <p:nvPr/>
        </p:nvSpPr>
        <p:spPr>
          <a:xfrm>
            <a:off x="9711928" y="1709928"/>
            <a:ext cx="0" cy="2971800"/>
          </a:xfrm>
          <a:prstGeom prst="line">
            <a:avLst/>
          </a:prstGeom>
          <a:noFill/>
          <a:ln w="6350">
            <a:solidFill>
              <a:srgbClr val="E9EEF3"/>
            </a:solidFill>
            <a:prstDash val="solid"/>
          </a:ln>
        </p:spPr>
      </p:sp>
      <p:sp>
        <p:nvSpPr>
          <p:cNvPr id="25" name="Text 23"/>
          <p:cNvSpPr txBox="1"/>
          <p:nvPr/>
        </p:nvSpPr>
        <p:spPr>
          <a:xfrm>
            <a:off x="9693640"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ago</a:t>
            </a:r>
            <a:endParaRPr lang="en-US" sz="1000" dirty="0"/>
          </a:p>
        </p:txBody>
      </p:sp>
      <p:sp>
        <p:nvSpPr>
          <p:cNvPr id="26" name="Shape 24"/>
          <p:cNvSpPr/>
          <p:nvPr/>
        </p:nvSpPr>
        <p:spPr>
          <a:xfrm>
            <a:off x="10338635" y="1709928"/>
            <a:ext cx="0" cy="2971800"/>
          </a:xfrm>
          <a:prstGeom prst="line">
            <a:avLst/>
          </a:prstGeom>
          <a:noFill/>
          <a:ln w="6350">
            <a:solidFill>
              <a:srgbClr val="E9EEF3"/>
            </a:solidFill>
            <a:prstDash val="solid"/>
          </a:ln>
        </p:spPr>
      </p:sp>
      <p:sp>
        <p:nvSpPr>
          <p:cNvPr id="27" name="Text 25"/>
          <p:cNvSpPr txBox="1"/>
          <p:nvPr/>
        </p:nvSpPr>
        <p:spPr>
          <a:xfrm>
            <a:off x="10320347"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sep</a:t>
            </a:r>
            <a:endParaRPr lang="en-US" sz="1000" dirty="0"/>
          </a:p>
        </p:txBody>
      </p:sp>
      <p:sp>
        <p:nvSpPr>
          <p:cNvPr id="28" name="Shape 26"/>
          <p:cNvSpPr/>
          <p:nvPr/>
        </p:nvSpPr>
        <p:spPr>
          <a:xfrm>
            <a:off x="10945125" y="1709928"/>
            <a:ext cx="0" cy="2971800"/>
          </a:xfrm>
          <a:prstGeom prst="line">
            <a:avLst/>
          </a:prstGeom>
          <a:noFill/>
          <a:ln w="6350">
            <a:solidFill>
              <a:srgbClr val="E9EEF3"/>
            </a:solidFill>
            <a:prstDash val="solid"/>
          </a:ln>
        </p:spPr>
      </p:sp>
      <p:sp>
        <p:nvSpPr>
          <p:cNvPr id="29" name="Text 27"/>
          <p:cNvSpPr txBox="1"/>
          <p:nvPr/>
        </p:nvSpPr>
        <p:spPr>
          <a:xfrm>
            <a:off x="10926837" y="1417320"/>
            <a:ext cx="548640" cy="256032"/>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oct</a:t>
            </a:r>
            <a:endParaRPr lang="en-US" sz="1000" dirty="0"/>
          </a:p>
        </p:txBody>
      </p:sp>
      <p:sp>
        <p:nvSpPr>
          <p:cNvPr id="30" name="Shape 28"/>
          <p:cNvSpPr/>
          <p:nvPr/>
        </p:nvSpPr>
        <p:spPr>
          <a:xfrm>
            <a:off x="548640" y="1828800"/>
            <a:ext cx="11094415" cy="960120"/>
          </a:xfrm>
          <a:prstGeom prst="rect">
            <a:avLst/>
          </a:prstGeom>
          <a:solidFill>
            <a:srgbClr val="F4F7FA">
              <a:alpha val="70000"/>
            </a:srgbClr>
          </a:solidFill>
          <a:ln w="12700">
            <a:solidFill>
              <a:srgbClr val="F4F7FA"/>
            </a:solidFill>
            <a:prstDash val="solid"/>
          </a:ln>
        </p:spPr>
      </p:sp>
      <p:sp>
        <p:nvSpPr>
          <p:cNvPr id="31" name="Text 29"/>
          <p:cNvSpPr txBox="1"/>
          <p:nvPr/>
        </p:nvSpPr>
        <p:spPr>
          <a:xfrm>
            <a:off x="594360" y="1828800"/>
            <a:ext cx="2926080" cy="960120"/>
          </a:xfrm>
          <a:prstGeom prst="rect">
            <a:avLst/>
          </a:prstGeom>
          <a:noFill/>
          <a:ln/>
        </p:spPr>
        <p:txBody>
          <a:bodyPr wrap="square" lIns="0" tIns="0" rIns="0" bIns="0" rtlCol="0" anchor="ctr">
            <a:normAutofit/>
          </a:bodyPr>
          <a:lstStyle/>
          <a:p>
            <a:pPr indent="0" marL="0">
              <a:buNone/>
            </a:pPr>
            <a:r>
              <a:rPr lang="en-US" sz="1100" b="1" dirty="0">
                <a:solidFill>
                  <a:srgbClr val="1BAF7A"/>
                </a:solidFill>
                <a:latin typeface="Calibri" pitchFamily="34" charset="0"/>
                <a:ea typeface="Calibri" pitchFamily="34" charset="-122"/>
                <a:cs typeface="Calibri" pitchFamily="34" charset="-120"/>
              </a:rPr>
              <a:t>CWP-3.02-CIV-01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Cimentaciones de la ampliación</a:t>
            </a:r>
            <a:endParaRPr lang="en-US" sz="1100" dirty="0"/>
          </a:p>
        </p:txBody>
      </p:sp>
      <p:sp>
        <p:nvSpPr>
          <p:cNvPr id="32" name="Shape 30"/>
          <p:cNvSpPr/>
          <p:nvPr/>
        </p:nvSpPr>
        <p:spPr>
          <a:xfrm>
            <a:off x="4293948" y="2308860"/>
            <a:ext cx="1839687" cy="0"/>
          </a:xfrm>
          <a:prstGeom prst="line">
            <a:avLst/>
          </a:prstGeom>
          <a:noFill/>
          <a:ln w="12700">
            <a:solidFill>
              <a:srgbClr val="B9CCE0"/>
            </a:solidFill>
            <a:prstDash val="dash"/>
          </a:ln>
        </p:spPr>
      </p:sp>
      <p:sp>
        <p:nvSpPr>
          <p:cNvPr id="33" name="Shape 31"/>
          <p:cNvSpPr/>
          <p:nvPr/>
        </p:nvSpPr>
        <p:spPr>
          <a:xfrm>
            <a:off x="6133635" y="2040026"/>
            <a:ext cx="1981202" cy="537667"/>
          </a:xfrm>
          <a:prstGeom prst="roundRect">
            <a:avLst>
              <a:gd name="adj" fmla="val 6803"/>
            </a:avLst>
          </a:prstGeom>
          <a:solidFill>
            <a:srgbClr val="1BAF7A"/>
          </a:solidFill>
          <a:ln w="12700">
            <a:solidFill>
              <a:srgbClr val="1BAF7A"/>
            </a:solidFill>
            <a:prstDash val="solid"/>
          </a:ln>
        </p:spPr>
      </p:sp>
      <p:sp>
        <p:nvSpPr>
          <p:cNvPr id="34" name="Text 32"/>
          <p:cNvSpPr txBox="1"/>
          <p:nvPr/>
        </p:nvSpPr>
        <p:spPr>
          <a:xfrm>
            <a:off x="6133635" y="2040026"/>
            <a:ext cx="1981202"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14 sem</a:t>
            </a:r>
            <a:endParaRPr lang="en-US" sz="950" dirty="0"/>
          </a:p>
        </p:txBody>
      </p:sp>
      <p:sp>
        <p:nvSpPr>
          <p:cNvPr id="35" name="Shape 33"/>
          <p:cNvSpPr/>
          <p:nvPr/>
        </p:nvSpPr>
        <p:spPr>
          <a:xfrm>
            <a:off x="4202508" y="2217420"/>
            <a:ext cx="182880" cy="182880"/>
          </a:xfrm>
          <a:prstGeom prst="diamond">
            <a:avLst/>
          </a:prstGeom>
          <a:solidFill>
            <a:srgbClr val="1F4E79"/>
          </a:solidFill>
          <a:ln w="6350">
            <a:solidFill>
              <a:srgbClr val="FFFFFF"/>
            </a:solidFill>
            <a:prstDash val="solid"/>
          </a:ln>
        </p:spPr>
      </p:sp>
      <p:sp>
        <p:nvSpPr>
          <p:cNvPr id="36" name="Shape 34"/>
          <p:cNvSpPr/>
          <p:nvPr/>
        </p:nvSpPr>
        <p:spPr>
          <a:xfrm>
            <a:off x="4627052" y="2217420"/>
            <a:ext cx="182880" cy="182880"/>
          </a:xfrm>
          <a:prstGeom prst="triangle">
            <a:avLst/>
          </a:prstGeom>
          <a:solidFill>
            <a:srgbClr val="F5A623"/>
          </a:solidFill>
          <a:ln w="6350">
            <a:solidFill>
              <a:srgbClr val="0F2A43"/>
            </a:solidFill>
            <a:prstDash val="solid"/>
          </a:ln>
        </p:spPr>
      </p:sp>
      <p:sp>
        <p:nvSpPr>
          <p:cNvPr id="37" name="Shape 35"/>
          <p:cNvSpPr/>
          <p:nvPr/>
        </p:nvSpPr>
        <p:spPr>
          <a:xfrm>
            <a:off x="5840032" y="2217420"/>
            <a:ext cx="182880" cy="182880"/>
          </a:xfrm>
          <a:prstGeom prst="ellipse">
            <a:avLst/>
          </a:prstGeom>
          <a:solidFill>
            <a:srgbClr val="1BAF7A"/>
          </a:solidFill>
          <a:ln w="6350">
            <a:solidFill>
              <a:srgbClr val="FFFFFF"/>
            </a:solidFill>
            <a:prstDash val="solid"/>
          </a:ln>
        </p:spPr>
      </p:sp>
      <p:sp>
        <p:nvSpPr>
          <p:cNvPr id="38" name="Text 36"/>
          <p:cNvSpPr txBox="1"/>
          <p:nvPr/>
        </p:nvSpPr>
        <p:spPr>
          <a:xfrm>
            <a:off x="5566707" y="255940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05/02</a:t>
            </a:r>
            <a:endParaRPr lang="en-US" sz="850" dirty="0"/>
          </a:p>
        </p:txBody>
      </p:sp>
      <p:sp>
        <p:nvSpPr>
          <p:cNvPr id="39" name="Text 37"/>
          <p:cNvSpPr txBox="1"/>
          <p:nvPr/>
        </p:nvSpPr>
        <p:spPr>
          <a:xfrm>
            <a:off x="594360" y="2788920"/>
            <a:ext cx="2926080" cy="960120"/>
          </a:xfrm>
          <a:prstGeom prst="rect">
            <a:avLst/>
          </a:prstGeom>
          <a:noFill/>
          <a:ln/>
        </p:spPr>
        <p:txBody>
          <a:bodyPr wrap="square" lIns="0" tIns="0" rIns="0" bIns="0" rtlCol="0" anchor="ctr">
            <a:normAutofit/>
          </a:bodyPr>
          <a:lstStyle/>
          <a:p>
            <a:pPr indent="0" marL="0">
              <a:buNone/>
            </a:pPr>
            <a:r>
              <a:rPr lang="en-US" sz="1100" b="1" dirty="0">
                <a:solidFill>
                  <a:srgbClr val="1BAF7A"/>
                </a:solidFill>
                <a:latin typeface="Calibri" pitchFamily="34" charset="0"/>
                <a:ea typeface="Calibri" pitchFamily="34" charset="-122"/>
                <a:cs typeface="Calibri" pitchFamily="34" charset="-120"/>
              </a:rPr>
              <a:t>CWP-3.01-ARQ-01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Arquitectura edificio de oficinas</a:t>
            </a:r>
            <a:endParaRPr lang="en-US" sz="1100" dirty="0"/>
          </a:p>
        </p:txBody>
      </p:sp>
      <p:sp>
        <p:nvSpPr>
          <p:cNvPr id="40" name="Shape 38"/>
          <p:cNvSpPr/>
          <p:nvPr/>
        </p:nvSpPr>
        <p:spPr>
          <a:xfrm>
            <a:off x="4860006" y="3268980"/>
            <a:ext cx="1839687" cy="0"/>
          </a:xfrm>
          <a:prstGeom prst="line">
            <a:avLst/>
          </a:prstGeom>
          <a:noFill/>
          <a:ln w="12700">
            <a:solidFill>
              <a:srgbClr val="B9CCE0"/>
            </a:solidFill>
            <a:prstDash val="dash"/>
          </a:ln>
        </p:spPr>
      </p:sp>
      <p:sp>
        <p:nvSpPr>
          <p:cNvPr id="41" name="Shape 39"/>
          <p:cNvSpPr/>
          <p:nvPr/>
        </p:nvSpPr>
        <p:spPr>
          <a:xfrm>
            <a:off x="6699693" y="3000146"/>
            <a:ext cx="2830288" cy="537667"/>
          </a:xfrm>
          <a:prstGeom prst="roundRect">
            <a:avLst>
              <a:gd name="adj" fmla="val 6803"/>
            </a:avLst>
          </a:prstGeom>
          <a:solidFill>
            <a:srgbClr val="1BAF7A"/>
          </a:solidFill>
          <a:ln w="12700">
            <a:solidFill>
              <a:srgbClr val="1BAF7A"/>
            </a:solidFill>
            <a:prstDash val="solid"/>
          </a:ln>
        </p:spPr>
      </p:sp>
      <p:sp>
        <p:nvSpPr>
          <p:cNvPr id="42" name="Text 40"/>
          <p:cNvSpPr txBox="1"/>
          <p:nvPr/>
        </p:nvSpPr>
        <p:spPr>
          <a:xfrm>
            <a:off x="6699693" y="3000146"/>
            <a:ext cx="2830288"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 sem</a:t>
            </a:r>
            <a:endParaRPr lang="en-US" sz="950" dirty="0"/>
          </a:p>
        </p:txBody>
      </p:sp>
      <p:sp>
        <p:nvSpPr>
          <p:cNvPr id="43" name="Shape 41"/>
          <p:cNvSpPr/>
          <p:nvPr/>
        </p:nvSpPr>
        <p:spPr>
          <a:xfrm>
            <a:off x="4768566" y="3177540"/>
            <a:ext cx="182880" cy="182880"/>
          </a:xfrm>
          <a:prstGeom prst="diamond">
            <a:avLst/>
          </a:prstGeom>
          <a:solidFill>
            <a:srgbClr val="1F4E79"/>
          </a:solidFill>
          <a:ln w="6350">
            <a:solidFill>
              <a:srgbClr val="FFFFFF"/>
            </a:solidFill>
            <a:prstDash val="solid"/>
          </a:ln>
        </p:spPr>
      </p:sp>
      <p:sp>
        <p:nvSpPr>
          <p:cNvPr id="44" name="Shape 42"/>
          <p:cNvSpPr/>
          <p:nvPr/>
        </p:nvSpPr>
        <p:spPr>
          <a:xfrm>
            <a:off x="5193109" y="3177540"/>
            <a:ext cx="182880" cy="182880"/>
          </a:xfrm>
          <a:prstGeom prst="triangle">
            <a:avLst/>
          </a:prstGeom>
          <a:solidFill>
            <a:srgbClr val="F5A623"/>
          </a:solidFill>
          <a:ln w="6350">
            <a:solidFill>
              <a:srgbClr val="0F2A43"/>
            </a:solidFill>
            <a:prstDash val="solid"/>
          </a:ln>
        </p:spPr>
      </p:sp>
      <p:sp>
        <p:nvSpPr>
          <p:cNvPr id="45" name="Shape 43"/>
          <p:cNvSpPr/>
          <p:nvPr/>
        </p:nvSpPr>
        <p:spPr>
          <a:xfrm>
            <a:off x="6406090" y="3177540"/>
            <a:ext cx="182880" cy="182880"/>
          </a:xfrm>
          <a:prstGeom prst="ellipse">
            <a:avLst/>
          </a:prstGeom>
          <a:solidFill>
            <a:srgbClr val="1BAF7A"/>
          </a:solidFill>
          <a:ln w="6350">
            <a:solidFill>
              <a:srgbClr val="FFFFFF"/>
            </a:solidFill>
            <a:prstDash val="solid"/>
          </a:ln>
        </p:spPr>
      </p:sp>
      <p:sp>
        <p:nvSpPr>
          <p:cNvPr id="46" name="Text 44"/>
          <p:cNvSpPr txBox="1"/>
          <p:nvPr/>
        </p:nvSpPr>
        <p:spPr>
          <a:xfrm>
            <a:off x="6132765" y="351952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05/03</a:t>
            </a:r>
            <a:endParaRPr lang="en-US" sz="850" dirty="0"/>
          </a:p>
        </p:txBody>
      </p:sp>
      <p:sp>
        <p:nvSpPr>
          <p:cNvPr id="47" name="Shape 45"/>
          <p:cNvSpPr/>
          <p:nvPr/>
        </p:nvSpPr>
        <p:spPr>
          <a:xfrm>
            <a:off x="548640" y="3749040"/>
            <a:ext cx="11094415" cy="960120"/>
          </a:xfrm>
          <a:prstGeom prst="rect">
            <a:avLst/>
          </a:prstGeom>
          <a:solidFill>
            <a:srgbClr val="F4F7FA">
              <a:alpha val="70000"/>
            </a:srgbClr>
          </a:solidFill>
          <a:ln w="12700">
            <a:solidFill>
              <a:srgbClr val="F4F7FA"/>
            </a:solidFill>
            <a:prstDash val="solid"/>
          </a:ln>
        </p:spPr>
      </p:sp>
      <p:sp>
        <p:nvSpPr>
          <p:cNvPr id="48" name="Text 46"/>
          <p:cNvSpPr txBox="1"/>
          <p:nvPr/>
        </p:nvSpPr>
        <p:spPr>
          <a:xfrm>
            <a:off x="594360" y="3749040"/>
            <a:ext cx="2926080" cy="960120"/>
          </a:xfrm>
          <a:prstGeom prst="rect">
            <a:avLst/>
          </a:prstGeom>
          <a:noFill/>
          <a:ln/>
        </p:spPr>
        <p:txBody>
          <a:bodyPr wrap="square" lIns="0" tIns="0" rIns="0" bIns="0" rtlCol="0" anchor="ctr">
            <a:normAutofit/>
          </a:bodyPr>
          <a:lstStyle/>
          <a:p>
            <a:pPr indent="0" marL="0">
              <a:buNone/>
            </a:pPr>
            <a:r>
              <a:rPr lang="en-US" sz="1100" b="1" dirty="0">
                <a:solidFill>
                  <a:srgbClr val="1BAF7A"/>
                </a:solidFill>
                <a:latin typeface="Calibri" pitchFamily="34" charset="0"/>
                <a:ea typeface="Calibri" pitchFamily="34" charset="-122"/>
                <a:cs typeface="Calibri" pitchFamily="34" charset="-120"/>
              </a:rPr>
              <a:t>CWP-3.02-TUB-01</a:t>
            </a:r>
            <a:endParaRPr lang="en-US" sz="1100" dirty="0"/>
          </a:p>
          <a:p>
            <a:pPr indent="0" marL="0">
              <a:buNone/>
            </a:pPr>
            <a:r>
              <a:rPr lang="en-US" sz="1000" dirty="0">
                <a:solidFill>
                  <a:srgbClr val="56606B"/>
                </a:solidFill>
                <a:latin typeface="Calibri" pitchFamily="34" charset="0"/>
                <a:ea typeface="Calibri" pitchFamily="34" charset="-122"/>
                <a:cs typeface="Calibri" pitchFamily="34" charset="-120"/>
              </a:rPr>
              <a:t>Empalmes a la galería de servicios</a:t>
            </a:r>
            <a:endParaRPr lang="en-US" sz="1100" dirty="0"/>
          </a:p>
        </p:txBody>
      </p:sp>
      <p:sp>
        <p:nvSpPr>
          <p:cNvPr id="49" name="Shape 47"/>
          <p:cNvSpPr/>
          <p:nvPr/>
        </p:nvSpPr>
        <p:spPr>
          <a:xfrm>
            <a:off x="7265751" y="4229100"/>
            <a:ext cx="1839687" cy="0"/>
          </a:xfrm>
          <a:prstGeom prst="line">
            <a:avLst/>
          </a:prstGeom>
          <a:noFill/>
          <a:ln w="12700">
            <a:solidFill>
              <a:srgbClr val="B9CCE0"/>
            </a:solidFill>
            <a:prstDash val="dash"/>
          </a:ln>
        </p:spPr>
      </p:sp>
      <p:sp>
        <p:nvSpPr>
          <p:cNvPr id="50" name="Shape 48"/>
          <p:cNvSpPr/>
          <p:nvPr/>
        </p:nvSpPr>
        <p:spPr>
          <a:xfrm>
            <a:off x="9105438" y="3960266"/>
            <a:ext cx="1698173" cy="537667"/>
          </a:xfrm>
          <a:prstGeom prst="roundRect">
            <a:avLst>
              <a:gd name="adj" fmla="val 6803"/>
            </a:avLst>
          </a:prstGeom>
          <a:solidFill>
            <a:srgbClr val="1BAF7A"/>
          </a:solidFill>
          <a:ln w="12700">
            <a:solidFill>
              <a:srgbClr val="1BAF7A"/>
            </a:solidFill>
            <a:prstDash val="solid"/>
          </a:ln>
        </p:spPr>
      </p:sp>
      <p:sp>
        <p:nvSpPr>
          <p:cNvPr id="51" name="Text 49"/>
          <p:cNvSpPr txBox="1"/>
          <p:nvPr/>
        </p:nvSpPr>
        <p:spPr>
          <a:xfrm>
            <a:off x="9105438" y="3960266"/>
            <a:ext cx="1698173" cy="537667"/>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12 sem</a:t>
            </a:r>
            <a:endParaRPr lang="en-US" sz="950" dirty="0"/>
          </a:p>
        </p:txBody>
      </p:sp>
      <p:sp>
        <p:nvSpPr>
          <p:cNvPr id="52" name="Shape 50"/>
          <p:cNvSpPr/>
          <p:nvPr/>
        </p:nvSpPr>
        <p:spPr>
          <a:xfrm>
            <a:off x="7174311" y="4137660"/>
            <a:ext cx="182880" cy="182880"/>
          </a:xfrm>
          <a:prstGeom prst="diamond">
            <a:avLst/>
          </a:prstGeom>
          <a:solidFill>
            <a:srgbClr val="1F4E79"/>
          </a:solidFill>
          <a:ln w="6350">
            <a:solidFill>
              <a:srgbClr val="FFFFFF"/>
            </a:solidFill>
            <a:prstDash val="solid"/>
          </a:ln>
        </p:spPr>
      </p:sp>
      <p:sp>
        <p:nvSpPr>
          <p:cNvPr id="53" name="Shape 51"/>
          <p:cNvSpPr/>
          <p:nvPr/>
        </p:nvSpPr>
        <p:spPr>
          <a:xfrm>
            <a:off x="7598854" y="4137660"/>
            <a:ext cx="182880" cy="182880"/>
          </a:xfrm>
          <a:prstGeom prst="triangle">
            <a:avLst/>
          </a:prstGeom>
          <a:solidFill>
            <a:srgbClr val="F5A623"/>
          </a:solidFill>
          <a:ln w="6350">
            <a:solidFill>
              <a:srgbClr val="0F2A43"/>
            </a:solidFill>
            <a:prstDash val="solid"/>
          </a:ln>
        </p:spPr>
      </p:sp>
      <p:sp>
        <p:nvSpPr>
          <p:cNvPr id="54" name="Shape 52"/>
          <p:cNvSpPr/>
          <p:nvPr/>
        </p:nvSpPr>
        <p:spPr>
          <a:xfrm>
            <a:off x="8811834" y="4137660"/>
            <a:ext cx="182880" cy="182880"/>
          </a:xfrm>
          <a:prstGeom prst="ellipse">
            <a:avLst/>
          </a:prstGeom>
          <a:solidFill>
            <a:srgbClr val="1BAF7A"/>
          </a:solidFill>
          <a:ln w="6350">
            <a:solidFill>
              <a:srgbClr val="FFFFFF"/>
            </a:solidFill>
            <a:prstDash val="solid"/>
          </a:ln>
        </p:spPr>
      </p:sp>
      <p:sp>
        <p:nvSpPr>
          <p:cNvPr id="55" name="Text 53"/>
          <p:cNvSpPr txBox="1"/>
          <p:nvPr/>
        </p:nvSpPr>
        <p:spPr>
          <a:xfrm>
            <a:off x="8538510" y="4479646"/>
            <a:ext cx="548640" cy="201168"/>
          </a:xfrm>
          <a:prstGeom prst="rect">
            <a:avLst/>
          </a:prstGeom>
          <a:noFill/>
          <a:ln/>
        </p:spPr>
        <p:txBody>
          <a:bodyPr wrap="square" lIns="0" tIns="0" rIns="0" bIns="0" rtlCol="0" anchor="t"/>
          <a:lstStyle/>
          <a:p>
            <a:pPr algn="r" indent="0" marL="0">
              <a:buNone/>
            </a:pPr>
            <a:r>
              <a:rPr lang="en-US" sz="850" dirty="0">
                <a:solidFill>
                  <a:srgbClr val="56606B"/>
                </a:solidFill>
                <a:latin typeface="Calibri" pitchFamily="34" charset="0"/>
                <a:ea typeface="Calibri" pitchFamily="34" charset="-122"/>
                <a:cs typeface="Calibri" pitchFamily="34" charset="-120"/>
              </a:rPr>
              <a:t>02/07</a:t>
            </a:r>
            <a:endParaRPr lang="en-US" sz="850" dirty="0"/>
          </a:p>
        </p:txBody>
      </p:sp>
      <p:sp>
        <p:nvSpPr>
          <p:cNvPr id="56" name="Shape 54"/>
          <p:cNvSpPr/>
          <p:nvPr/>
        </p:nvSpPr>
        <p:spPr>
          <a:xfrm>
            <a:off x="548640" y="6053328"/>
            <a:ext cx="182880" cy="182880"/>
          </a:xfrm>
          <a:prstGeom prst="diamond">
            <a:avLst/>
          </a:prstGeom>
          <a:solidFill>
            <a:srgbClr val="1F4E79"/>
          </a:solidFill>
          <a:ln w="6350">
            <a:solidFill>
              <a:srgbClr val="0F2A43"/>
            </a:solidFill>
            <a:prstDash val="solid"/>
          </a:ln>
        </p:spPr>
      </p:sp>
      <p:sp>
        <p:nvSpPr>
          <p:cNvPr id="57" name="Text 55"/>
          <p:cNvSpPr txBox="1"/>
          <p:nvPr/>
        </p:nvSpPr>
        <p:spPr>
          <a:xfrm>
            <a:off x="82296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EWP IFC requerido (−13 sem)</a:t>
            </a:r>
            <a:endParaRPr lang="en-US" sz="1150" dirty="0"/>
          </a:p>
        </p:txBody>
      </p:sp>
      <p:sp>
        <p:nvSpPr>
          <p:cNvPr id="58" name="Shape 56"/>
          <p:cNvSpPr/>
          <p:nvPr/>
        </p:nvSpPr>
        <p:spPr>
          <a:xfrm>
            <a:off x="3566160" y="6053328"/>
            <a:ext cx="182880" cy="182880"/>
          </a:xfrm>
          <a:prstGeom prst="triangle">
            <a:avLst/>
          </a:prstGeom>
          <a:solidFill>
            <a:srgbClr val="F5A623"/>
          </a:solidFill>
          <a:ln w="6350">
            <a:solidFill>
              <a:srgbClr val="0F2A43"/>
            </a:solidFill>
            <a:prstDash val="solid"/>
          </a:ln>
        </p:spPr>
      </p:sp>
      <p:sp>
        <p:nvSpPr>
          <p:cNvPr id="59" name="Text 57"/>
          <p:cNvSpPr txBox="1"/>
          <p:nvPr/>
        </p:nvSpPr>
        <p:spPr>
          <a:xfrm>
            <a:off x="384048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Emisión del CWP (−10 sem)</a:t>
            </a:r>
            <a:endParaRPr lang="en-US" sz="1150" dirty="0"/>
          </a:p>
        </p:txBody>
      </p:sp>
      <p:sp>
        <p:nvSpPr>
          <p:cNvPr id="60" name="Shape 58"/>
          <p:cNvSpPr/>
          <p:nvPr/>
        </p:nvSpPr>
        <p:spPr>
          <a:xfrm>
            <a:off x="6583680" y="6053328"/>
            <a:ext cx="182880" cy="182880"/>
          </a:xfrm>
          <a:prstGeom prst="ellipse">
            <a:avLst/>
          </a:prstGeom>
          <a:solidFill>
            <a:srgbClr val="1BAF7A"/>
          </a:solidFill>
          <a:ln w="6350">
            <a:solidFill>
              <a:srgbClr val="0F2A43"/>
            </a:solidFill>
            <a:prstDash val="solid"/>
          </a:ln>
        </p:spPr>
      </p:sp>
      <p:sp>
        <p:nvSpPr>
          <p:cNvPr id="61" name="Text 59"/>
          <p:cNvSpPr txBox="1"/>
          <p:nvPr/>
        </p:nvSpPr>
        <p:spPr>
          <a:xfrm>
            <a:off x="6858000" y="5989320"/>
            <a:ext cx="2651760" cy="310896"/>
          </a:xfrm>
          <a:prstGeom prst="rect">
            <a:avLst/>
          </a:prstGeom>
          <a:noFill/>
          <a:ln/>
        </p:spPr>
        <p:txBody>
          <a:bodyPr wrap="square" lIns="0" tIns="0" rIns="0" bIns="0" rtlCol="0" anchor="ctr"/>
          <a:lstStyle/>
          <a:p>
            <a:pPr indent="0" marL="0">
              <a:buNone/>
            </a:pPr>
            <a:r>
              <a:rPr lang="en-US" sz="1150" dirty="0">
                <a:solidFill>
                  <a:srgbClr val="56606B"/>
                </a:solidFill>
                <a:latin typeface="Calibri" pitchFamily="34" charset="0"/>
                <a:ea typeface="Calibri" pitchFamily="34" charset="-122"/>
                <a:cs typeface="Calibri" pitchFamily="34" charset="-120"/>
              </a:rPr>
              <a:t>Materiales en obra RAS (−10 días)</a:t>
            </a:r>
            <a:endParaRPr lang="en-US" sz="1150" dirty="0"/>
          </a:p>
        </p:txBody>
      </p:sp>
      <p:sp>
        <p:nvSpPr>
          <p:cNvPr id="62" name="Shape 60"/>
          <p:cNvSpPr/>
          <p:nvPr/>
        </p:nvSpPr>
        <p:spPr>
          <a:xfrm>
            <a:off x="9601200" y="6053328"/>
            <a:ext cx="274320" cy="182880"/>
          </a:xfrm>
          <a:prstGeom prst="roundRect">
            <a:avLst>
              <a:gd name="adj" fmla="val 15000"/>
            </a:avLst>
          </a:prstGeom>
          <a:solidFill>
            <a:srgbClr val="1BAF7A"/>
          </a:solidFill>
          <a:ln w="12700">
            <a:solidFill>
              <a:srgbClr val="1BAF7A"/>
            </a:solidFill>
            <a:prstDash val="solid"/>
          </a:ln>
        </p:spPr>
      </p:sp>
      <p:sp>
        <p:nvSpPr>
          <p:cNvPr id="63" name="Text 61"/>
          <p:cNvSpPr txBox="1"/>
          <p:nvPr/>
        </p:nvSpPr>
        <p:spPr>
          <a:xfrm>
            <a:off x="9921240" y="5989320"/>
            <a:ext cx="594360" cy="310896"/>
          </a:xfrm>
          <a:prstGeom prst="rect">
            <a:avLst/>
          </a:prstGeom>
          <a:noFill/>
          <a:ln/>
        </p:spPr>
        <p:txBody>
          <a:bodyPr wrap="square" lIns="0" tIns="0" rIns="0" bIns="0" rtlCol="0" anchor="ctr"/>
          <a:lstStyle/>
          <a:p>
            <a:pPr indent="0" marL="0">
              <a:buNone/>
            </a:pPr>
            <a:r>
              <a:rPr lang="en-US" sz="1100" dirty="0">
                <a:solidFill>
                  <a:srgbClr val="56606B"/>
                </a:solidFill>
                <a:latin typeface="Calibri" pitchFamily="34" charset="0"/>
                <a:ea typeface="Calibri" pitchFamily="34" charset="-122"/>
                <a:cs typeface="Calibri" pitchFamily="34" charset="-120"/>
              </a:rPr>
              <a:t>Fase 3</a:t>
            </a:r>
            <a:endParaRPr lang="en-US" sz="1100" dirty="0"/>
          </a:p>
        </p:txBody>
      </p:sp>
      <p:sp>
        <p:nvSpPr>
          <p:cNvPr id="64" name="Text 6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Línea de tiempo del PoC del proyecto tipo</a:t>
            </a:r>
            <a:endParaRPr lang="en-US" sz="1000" dirty="0"/>
          </a:p>
        </p:txBody>
      </p:sp>
      <p:sp>
        <p:nvSpPr>
          <p:cNvPr id="65" name="Text 6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86</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Carga de horas-hombre por mes según 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HH de los 10 CWP de ejemplo repartidas uniformemente en su duración</a:t>
            </a:r>
            <a:endParaRPr lang="en-US" sz="1500" dirty="0"/>
          </a:p>
        </p:txBody>
      </p:sp>
      <p:graphicFrame>
        <p:nvGraphicFramePr>
          <p:cNvPr id="4" name="Chart 0" descr=""/>
          <p:cNvGraphicFramePr/>
          <p:nvPr/>
        </p:nvGraphicFramePr>
        <p:xfrm>
          <a:off x="548640" y="1417320"/>
          <a:ext cx="11094415" cy="4800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Línea de tiempo del PoC del proyecto tipo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87</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 cadena de precedencias más larga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Del movimiento de tierras (Fase 1) a los empalmes de la Fase 3</a:t>
            </a:r>
            <a:endParaRPr lang="en-US" sz="1500" dirty="0"/>
          </a:p>
        </p:txBody>
      </p:sp>
      <p:sp>
        <p:nvSpPr>
          <p:cNvPr id="4" name="Shape 2"/>
          <p:cNvSpPr/>
          <p:nvPr/>
        </p:nvSpPr>
        <p:spPr>
          <a:xfrm>
            <a:off x="1554480" y="2743200"/>
            <a:ext cx="9082735" cy="0"/>
          </a:xfrm>
          <a:prstGeom prst="line">
            <a:avLst/>
          </a:prstGeom>
          <a:noFill/>
          <a:ln w="50800">
            <a:solidFill>
              <a:srgbClr val="B9CCE0"/>
            </a:solidFill>
            <a:prstDash val="solid"/>
          </a:ln>
        </p:spPr>
      </p:sp>
      <p:sp>
        <p:nvSpPr>
          <p:cNvPr id="5" name="Shape 3"/>
          <p:cNvSpPr/>
          <p:nvPr/>
        </p:nvSpPr>
        <p:spPr>
          <a:xfrm>
            <a:off x="1280160" y="2468880"/>
            <a:ext cx="548640" cy="548640"/>
          </a:xfrm>
          <a:prstGeom prst="ellipse">
            <a:avLst/>
          </a:prstGeom>
          <a:solidFill>
            <a:srgbClr val="1F4E79"/>
          </a:solidFill>
          <a:ln w="38100">
            <a:solidFill>
              <a:srgbClr val="FFFFFF"/>
            </a:solidFill>
            <a:prstDash val="solid"/>
          </a:ln>
        </p:spPr>
      </p:sp>
      <p:sp>
        <p:nvSpPr>
          <p:cNvPr id="6" name="Text 4"/>
          <p:cNvSpPr txBox="1"/>
          <p:nvPr/>
        </p:nvSpPr>
        <p:spPr>
          <a:xfrm>
            <a:off x="548640"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Jun 2027</a:t>
            </a:r>
            <a:endParaRPr lang="en-US" sz="1800" dirty="0"/>
          </a:p>
        </p:txBody>
      </p:sp>
      <p:sp>
        <p:nvSpPr>
          <p:cNvPr id="7" name="Shape 5"/>
          <p:cNvSpPr/>
          <p:nvPr/>
        </p:nvSpPr>
        <p:spPr>
          <a:xfrm>
            <a:off x="548640" y="3291840"/>
            <a:ext cx="2011680" cy="2468880"/>
          </a:xfrm>
          <a:prstGeom prst="roundRect">
            <a:avLst>
              <a:gd name="adj" fmla="val 4545"/>
            </a:avLst>
          </a:prstGeom>
          <a:solidFill>
            <a:srgbClr val="F4F7FA"/>
          </a:solidFill>
          <a:ln w="9525">
            <a:solidFill>
              <a:srgbClr val="DDE4EC"/>
            </a:solidFill>
            <a:prstDash val="solid"/>
          </a:ln>
        </p:spPr>
      </p:sp>
      <p:sp>
        <p:nvSpPr>
          <p:cNvPr id="8" name="Text 6"/>
          <p:cNvSpPr txBox="1"/>
          <p:nvPr/>
        </p:nvSpPr>
        <p:spPr>
          <a:xfrm>
            <a:off x="685800"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CWP-1.01-CIV-01 · Movimiento de tierras plataforma norte (7 sem).</a:t>
            </a:r>
            <a:endParaRPr lang="en-US" sz="1550" dirty="0"/>
          </a:p>
        </p:txBody>
      </p:sp>
      <p:sp>
        <p:nvSpPr>
          <p:cNvPr id="9" name="Shape 7"/>
          <p:cNvSpPr/>
          <p:nvPr/>
        </p:nvSpPr>
        <p:spPr>
          <a:xfrm>
            <a:off x="3550844" y="2468880"/>
            <a:ext cx="548640" cy="548640"/>
          </a:xfrm>
          <a:prstGeom prst="ellipse">
            <a:avLst/>
          </a:prstGeom>
          <a:solidFill>
            <a:srgbClr val="1F4E79"/>
          </a:solidFill>
          <a:ln w="38100">
            <a:solidFill>
              <a:srgbClr val="FFFFFF"/>
            </a:solidFill>
            <a:prstDash val="solid"/>
          </a:ln>
        </p:spPr>
      </p:sp>
      <p:sp>
        <p:nvSpPr>
          <p:cNvPr id="10" name="Text 8"/>
          <p:cNvSpPr txBox="1"/>
          <p:nvPr/>
        </p:nvSpPr>
        <p:spPr>
          <a:xfrm>
            <a:off x="2819324"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Feb 2028</a:t>
            </a:r>
            <a:endParaRPr lang="en-US" sz="1800" dirty="0"/>
          </a:p>
        </p:txBody>
      </p:sp>
      <p:sp>
        <p:nvSpPr>
          <p:cNvPr id="11" name="Shape 9"/>
          <p:cNvSpPr/>
          <p:nvPr/>
        </p:nvSpPr>
        <p:spPr>
          <a:xfrm>
            <a:off x="2819324" y="3291840"/>
            <a:ext cx="2011680" cy="2468880"/>
          </a:xfrm>
          <a:prstGeom prst="roundRect">
            <a:avLst>
              <a:gd name="adj" fmla="val 4545"/>
            </a:avLst>
          </a:prstGeom>
          <a:solidFill>
            <a:srgbClr val="F4F7FA"/>
          </a:solidFill>
          <a:ln w="9525">
            <a:solidFill>
              <a:srgbClr val="DDE4EC"/>
            </a:solidFill>
            <a:prstDash val="solid"/>
          </a:ln>
        </p:spPr>
      </p:sp>
      <p:sp>
        <p:nvSpPr>
          <p:cNvPr id="12" name="Text 10"/>
          <p:cNvSpPr txBox="1"/>
          <p:nvPr/>
        </p:nvSpPr>
        <p:spPr>
          <a:xfrm>
            <a:off x="2956484"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CWP-2.01-CIV-01 · Cimentaciones bloque A (11 sem).</a:t>
            </a:r>
            <a:endParaRPr lang="en-US" sz="1550" dirty="0"/>
          </a:p>
        </p:txBody>
      </p:sp>
      <p:sp>
        <p:nvSpPr>
          <p:cNvPr id="13" name="Shape 11"/>
          <p:cNvSpPr/>
          <p:nvPr/>
        </p:nvSpPr>
        <p:spPr>
          <a:xfrm>
            <a:off x="5821528" y="2468880"/>
            <a:ext cx="548640" cy="548640"/>
          </a:xfrm>
          <a:prstGeom prst="ellipse">
            <a:avLst/>
          </a:prstGeom>
          <a:solidFill>
            <a:srgbClr val="1F4E79"/>
          </a:solidFill>
          <a:ln w="38100">
            <a:solidFill>
              <a:srgbClr val="FFFFFF"/>
            </a:solidFill>
            <a:prstDash val="solid"/>
          </a:ln>
        </p:spPr>
      </p:sp>
      <p:sp>
        <p:nvSpPr>
          <p:cNvPr id="14" name="Text 12"/>
          <p:cNvSpPr txBox="1"/>
          <p:nvPr/>
        </p:nvSpPr>
        <p:spPr>
          <a:xfrm>
            <a:off x="5090008"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Abr 2028</a:t>
            </a:r>
            <a:endParaRPr lang="en-US" sz="1800" dirty="0"/>
          </a:p>
        </p:txBody>
      </p:sp>
      <p:sp>
        <p:nvSpPr>
          <p:cNvPr id="15" name="Shape 13"/>
          <p:cNvSpPr/>
          <p:nvPr/>
        </p:nvSpPr>
        <p:spPr>
          <a:xfrm>
            <a:off x="5090008" y="3291840"/>
            <a:ext cx="2011680" cy="2468880"/>
          </a:xfrm>
          <a:prstGeom prst="roundRect">
            <a:avLst>
              <a:gd name="adj" fmla="val 4545"/>
            </a:avLst>
          </a:prstGeom>
          <a:solidFill>
            <a:srgbClr val="F4F7FA"/>
          </a:solidFill>
          <a:ln w="9525">
            <a:solidFill>
              <a:srgbClr val="DDE4EC"/>
            </a:solidFill>
            <a:prstDash val="solid"/>
          </a:ln>
        </p:spPr>
      </p:sp>
      <p:sp>
        <p:nvSpPr>
          <p:cNvPr id="16" name="Text 14"/>
          <p:cNvSpPr txBox="1"/>
          <p:nvPr/>
        </p:nvSpPr>
        <p:spPr>
          <a:xfrm>
            <a:off x="5227168"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CWP-2.01-EST-01 · Estructura metálica bloque A (17 sem).</a:t>
            </a:r>
            <a:endParaRPr lang="en-US" sz="1550" dirty="0"/>
          </a:p>
        </p:txBody>
      </p:sp>
      <p:sp>
        <p:nvSpPr>
          <p:cNvPr id="17" name="Shape 15"/>
          <p:cNvSpPr/>
          <p:nvPr/>
        </p:nvSpPr>
        <p:spPr>
          <a:xfrm>
            <a:off x="8092211" y="2468880"/>
            <a:ext cx="548640" cy="548640"/>
          </a:xfrm>
          <a:prstGeom prst="ellipse">
            <a:avLst/>
          </a:prstGeom>
          <a:solidFill>
            <a:srgbClr val="1F4E79"/>
          </a:solidFill>
          <a:ln w="38100">
            <a:solidFill>
              <a:srgbClr val="FFFFFF"/>
            </a:solidFill>
            <a:prstDash val="solid"/>
          </a:ln>
        </p:spPr>
      </p:sp>
      <p:sp>
        <p:nvSpPr>
          <p:cNvPr id="18" name="Text 16"/>
          <p:cNvSpPr txBox="1"/>
          <p:nvPr/>
        </p:nvSpPr>
        <p:spPr>
          <a:xfrm>
            <a:off x="7360691"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Ago 2028</a:t>
            </a:r>
            <a:endParaRPr lang="en-US" sz="1800" dirty="0"/>
          </a:p>
        </p:txBody>
      </p:sp>
      <p:sp>
        <p:nvSpPr>
          <p:cNvPr id="19" name="Shape 17"/>
          <p:cNvSpPr/>
          <p:nvPr/>
        </p:nvSpPr>
        <p:spPr>
          <a:xfrm>
            <a:off x="7360691" y="3291840"/>
            <a:ext cx="2011680" cy="2468880"/>
          </a:xfrm>
          <a:prstGeom prst="roundRect">
            <a:avLst>
              <a:gd name="adj" fmla="val 4545"/>
            </a:avLst>
          </a:prstGeom>
          <a:solidFill>
            <a:srgbClr val="F4F7FA"/>
          </a:solidFill>
          <a:ln w="9525">
            <a:solidFill>
              <a:srgbClr val="DDE4EC"/>
            </a:solidFill>
            <a:prstDash val="solid"/>
          </a:ln>
        </p:spPr>
      </p:sp>
      <p:sp>
        <p:nvSpPr>
          <p:cNvPr id="20" name="Text 18"/>
          <p:cNvSpPr txBox="1"/>
          <p:nvPr/>
        </p:nvSpPr>
        <p:spPr>
          <a:xfrm>
            <a:off x="7497851"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CWP-2.01-TUB-01 · Tuberías de servicios bloque A (26 sem).</a:t>
            </a:r>
            <a:endParaRPr lang="en-US" sz="1550" dirty="0"/>
          </a:p>
        </p:txBody>
      </p:sp>
      <p:sp>
        <p:nvSpPr>
          <p:cNvPr id="21" name="Shape 19"/>
          <p:cNvSpPr/>
          <p:nvPr/>
        </p:nvSpPr>
        <p:spPr>
          <a:xfrm>
            <a:off x="10362895" y="2468880"/>
            <a:ext cx="548640" cy="548640"/>
          </a:xfrm>
          <a:prstGeom prst="ellipse">
            <a:avLst/>
          </a:prstGeom>
          <a:solidFill>
            <a:srgbClr val="F5A623"/>
          </a:solidFill>
          <a:ln w="38100">
            <a:solidFill>
              <a:srgbClr val="FFFFFF"/>
            </a:solidFill>
            <a:prstDash val="solid"/>
          </a:ln>
        </p:spPr>
      </p:sp>
      <p:sp>
        <p:nvSpPr>
          <p:cNvPr id="22" name="Text 20"/>
          <p:cNvSpPr txBox="1"/>
          <p:nvPr/>
        </p:nvSpPr>
        <p:spPr>
          <a:xfrm>
            <a:off x="9631375"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Jul 2029</a:t>
            </a:r>
            <a:endParaRPr lang="en-US" sz="1800" dirty="0"/>
          </a:p>
        </p:txBody>
      </p:sp>
      <p:sp>
        <p:nvSpPr>
          <p:cNvPr id="23" name="Shape 21"/>
          <p:cNvSpPr/>
          <p:nvPr/>
        </p:nvSpPr>
        <p:spPr>
          <a:xfrm>
            <a:off x="9631375" y="3291840"/>
            <a:ext cx="2011680" cy="2468880"/>
          </a:xfrm>
          <a:prstGeom prst="roundRect">
            <a:avLst>
              <a:gd name="adj" fmla="val 4545"/>
            </a:avLst>
          </a:prstGeom>
          <a:solidFill>
            <a:srgbClr val="F4F7FA"/>
          </a:solidFill>
          <a:ln w="9525">
            <a:solidFill>
              <a:srgbClr val="DDE4EC"/>
            </a:solidFill>
            <a:prstDash val="solid"/>
          </a:ln>
        </p:spPr>
      </p:sp>
      <p:sp>
        <p:nvSpPr>
          <p:cNvPr id="24" name="Text 22"/>
          <p:cNvSpPr txBox="1"/>
          <p:nvPr/>
        </p:nvSpPr>
        <p:spPr>
          <a:xfrm>
            <a:off x="9768535"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CWP-3.02-TUB-01 · Empalmes a la galería, en parada de la Fase 2 (12 sem).</a:t>
            </a:r>
            <a:endParaRPr lang="en-US" sz="1550" dirty="0"/>
          </a:p>
        </p:txBody>
      </p:sp>
      <p:sp>
        <p:nvSpPr>
          <p:cNvPr id="25" name="Text 2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Línea de tiempo del PoC del proyecto tipo</a:t>
            </a:r>
            <a:endParaRPr lang="en-US" sz="1000" dirty="0"/>
          </a:p>
        </p:txBody>
      </p:sp>
      <p:sp>
        <p:nvSpPr>
          <p:cNvPr id="26" name="Text 2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88</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Hitos del PoC en la línea de tiempo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H1, H2 y H3 de cada fase antes de su construcción</a:t>
            </a:r>
            <a:endParaRPr lang="en-US" sz="1500" dirty="0"/>
          </a:p>
        </p:txBody>
      </p:sp>
      <p:sp>
        <p:nvSpPr>
          <p:cNvPr id="4" name="Text 2"/>
          <p:cNvSpPr txBox="1"/>
          <p:nvPr/>
        </p:nvSpPr>
        <p:spPr>
          <a:xfrm>
            <a:off x="2286000"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a:t>
            </a:r>
            <a:endParaRPr lang="en-US" sz="1000" dirty="0"/>
          </a:p>
        </p:txBody>
      </p:sp>
      <p:sp>
        <p:nvSpPr>
          <p:cNvPr id="5" name="Shape 3"/>
          <p:cNvSpPr/>
          <p:nvPr/>
        </p:nvSpPr>
        <p:spPr>
          <a:xfrm>
            <a:off x="2286000" y="1691640"/>
            <a:ext cx="0" cy="3931920"/>
          </a:xfrm>
          <a:prstGeom prst="line">
            <a:avLst/>
          </a:prstGeom>
          <a:noFill/>
          <a:ln w="6350">
            <a:solidFill>
              <a:srgbClr val="EEF2F6"/>
            </a:solidFill>
            <a:prstDash val="solid"/>
          </a:ln>
        </p:spPr>
      </p:sp>
      <p:sp>
        <p:nvSpPr>
          <p:cNvPr id="6" name="Shape 4"/>
          <p:cNvSpPr/>
          <p:nvPr/>
        </p:nvSpPr>
        <p:spPr>
          <a:xfrm>
            <a:off x="2545918" y="1691640"/>
            <a:ext cx="0" cy="3931920"/>
          </a:xfrm>
          <a:prstGeom prst="line">
            <a:avLst/>
          </a:prstGeom>
          <a:noFill/>
          <a:ln w="6350">
            <a:solidFill>
              <a:srgbClr val="EEF2F6"/>
            </a:solidFill>
            <a:prstDash val="solid"/>
          </a:ln>
        </p:spPr>
      </p:sp>
      <p:sp>
        <p:nvSpPr>
          <p:cNvPr id="7" name="Shape 5"/>
          <p:cNvSpPr/>
          <p:nvPr/>
        </p:nvSpPr>
        <p:spPr>
          <a:xfrm>
            <a:off x="2805836" y="1691640"/>
            <a:ext cx="0" cy="3931920"/>
          </a:xfrm>
          <a:prstGeom prst="line">
            <a:avLst/>
          </a:prstGeom>
          <a:noFill/>
          <a:ln w="6350">
            <a:solidFill>
              <a:srgbClr val="EEF2F6"/>
            </a:solidFill>
            <a:prstDash val="solid"/>
          </a:ln>
        </p:spPr>
      </p:sp>
      <p:sp>
        <p:nvSpPr>
          <p:cNvPr id="8" name="Text 6"/>
          <p:cNvSpPr txBox="1"/>
          <p:nvPr/>
        </p:nvSpPr>
        <p:spPr>
          <a:xfrm>
            <a:off x="3065755"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M4</a:t>
            </a:r>
            <a:endParaRPr lang="en-US" sz="1000" dirty="0"/>
          </a:p>
        </p:txBody>
      </p:sp>
      <p:sp>
        <p:nvSpPr>
          <p:cNvPr id="9" name="Shape 7"/>
          <p:cNvSpPr/>
          <p:nvPr/>
        </p:nvSpPr>
        <p:spPr>
          <a:xfrm>
            <a:off x="3065755" y="1691640"/>
            <a:ext cx="0" cy="3931920"/>
          </a:xfrm>
          <a:prstGeom prst="line">
            <a:avLst/>
          </a:prstGeom>
          <a:noFill/>
          <a:ln w="6350">
            <a:solidFill>
              <a:srgbClr val="EEF2F6"/>
            </a:solidFill>
            <a:prstDash val="solid"/>
          </a:ln>
        </p:spPr>
      </p:sp>
      <p:sp>
        <p:nvSpPr>
          <p:cNvPr id="10" name="Shape 8"/>
          <p:cNvSpPr/>
          <p:nvPr/>
        </p:nvSpPr>
        <p:spPr>
          <a:xfrm>
            <a:off x="3325673" y="1691640"/>
            <a:ext cx="0" cy="3931920"/>
          </a:xfrm>
          <a:prstGeom prst="line">
            <a:avLst/>
          </a:prstGeom>
          <a:noFill/>
          <a:ln w="6350">
            <a:solidFill>
              <a:srgbClr val="EEF2F6"/>
            </a:solidFill>
            <a:prstDash val="solid"/>
          </a:ln>
        </p:spPr>
      </p:sp>
      <p:sp>
        <p:nvSpPr>
          <p:cNvPr id="11" name="Shape 9"/>
          <p:cNvSpPr/>
          <p:nvPr/>
        </p:nvSpPr>
        <p:spPr>
          <a:xfrm>
            <a:off x="3585591" y="1691640"/>
            <a:ext cx="0" cy="3931920"/>
          </a:xfrm>
          <a:prstGeom prst="line">
            <a:avLst/>
          </a:prstGeom>
          <a:noFill/>
          <a:ln w="6350">
            <a:solidFill>
              <a:srgbClr val="EEF2F6"/>
            </a:solidFill>
            <a:prstDash val="solid"/>
          </a:ln>
        </p:spPr>
      </p:sp>
      <p:sp>
        <p:nvSpPr>
          <p:cNvPr id="12" name="Text 10"/>
          <p:cNvSpPr txBox="1"/>
          <p:nvPr/>
        </p:nvSpPr>
        <p:spPr>
          <a:xfrm>
            <a:off x="3845509"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M7</a:t>
            </a:r>
            <a:endParaRPr lang="en-US" sz="1000" dirty="0"/>
          </a:p>
        </p:txBody>
      </p:sp>
      <p:sp>
        <p:nvSpPr>
          <p:cNvPr id="13" name="Shape 11"/>
          <p:cNvSpPr/>
          <p:nvPr/>
        </p:nvSpPr>
        <p:spPr>
          <a:xfrm>
            <a:off x="3845509" y="1691640"/>
            <a:ext cx="0" cy="3931920"/>
          </a:xfrm>
          <a:prstGeom prst="line">
            <a:avLst/>
          </a:prstGeom>
          <a:noFill/>
          <a:ln w="6350">
            <a:solidFill>
              <a:srgbClr val="EEF2F6"/>
            </a:solidFill>
            <a:prstDash val="solid"/>
          </a:ln>
        </p:spPr>
      </p:sp>
      <p:sp>
        <p:nvSpPr>
          <p:cNvPr id="14" name="Shape 12"/>
          <p:cNvSpPr/>
          <p:nvPr/>
        </p:nvSpPr>
        <p:spPr>
          <a:xfrm>
            <a:off x="4105427" y="1691640"/>
            <a:ext cx="0" cy="3931920"/>
          </a:xfrm>
          <a:prstGeom prst="line">
            <a:avLst/>
          </a:prstGeom>
          <a:noFill/>
          <a:ln w="6350">
            <a:solidFill>
              <a:srgbClr val="EEF2F6"/>
            </a:solidFill>
            <a:prstDash val="solid"/>
          </a:ln>
        </p:spPr>
      </p:sp>
      <p:sp>
        <p:nvSpPr>
          <p:cNvPr id="15" name="Shape 13"/>
          <p:cNvSpPr/>
          <p:nvPr/>
        </p:nvSpPr>
        <p:spPr>
          <a:xfrm>
            <a:off x="4365346" y="1691640"/>
            <a:ext cx="0" cy="3931920"/>
          </a:xfrm>
          <a:prstGeom prst="line">
            <a:avLst/>
          </a:prstGeom>
          <a:noFill/>
          <a:ln w="6350">
            <a:solidFill>
              <a:srgbClr val="EEF2F6"/>
            </a:solidFill>
            <a:prstDash val="solid"/>
          </a:ln>
        </p:spPr>
      </p:sp>
      <p:sp>
        <p:nvSpPr>
          <p:cNvPr id="16" name="Text 14"/>
          <p:cNvSpPr txBox="1"/>
          <p:nvPr/>
        </p:nvSpPr>
        <p:spPr>
          <a:xfrm>
            <a:off x="4625264"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M10</a:t>
            </a:r>
            <a:endParaRPr lang="en-US" sz="1000" dirty="0"/>
          </a:p>
        </p:txBody>
      </p:sp>
      <p:sp>
        <p:nvSpPr>
          <p:cNvPr id="17" name="Shape 15"/>
          <p:cNvSpPr/>
          <p:nvPr/>
        </p:nvSpPr>
        <p:spPr>
          <a:xfrm>
            <a:off x="4625264" y="1691640"/>
            <a:ext cx="0" cy="3931920"/>
          </a:xfrm>
          <a:prstGeom prst="line">
            <a:avLst/>
          </a:prstGeom>
          <a:noFill/>
          <a:ln w="6350">
            <a:solidFill>
              <a:srgbClr val="EEF2F6"/>
            </a:solidFill>
            <a:prstDash val="solid"/>
          </a:ln>
        </p:spPr>
      </p:sp>
      <p:sp>
        <p:nvSpPr>
          <p:cNvPr id="18" name="Shape 16"/>
          <p:cNvSpPr/>
          <p:nvPr/>
        </p:nvSpPr>
        <p:spPr>
          <a:xfrm>
            <a:off x="4885182" y="1691640"/>
            <a:ext cx="0" cy="3931920"/>
          </a:xfrm>
          <a:prstGeom prst="line">
            <a:avLst/>
          </a:prstGeom>
          <a:noFill/>
          <a:ln w="6350">
            <a:solidFill>
              <a:srgbClr val="EEF2F6"/>
            </a:solidFill>
            <a:prstDash val="solid"/>
          </a:ln>
        </p:spPr>
      </p:sp>
      <p:sp>
        <p:nvSpPr>
          <p:cNvPr id="19" name="Shape 17"/>
          <p:cNvSpPr/>
          <p:nvPr/>
        </p:nvSpPr>
        <p:spPr>
          <a:xfrm>
            <a:off x="5145100" y="1691640"/>
            <a:ext cx="0" cy="3931920"/>
          </a:xfrm>
          <a:prstGeom prst="line">
            <a:avLst/>
          </a:prstGeom>
          <a:noFill/>
          <a:ln w="6350">
            <a:solidFill>
              <a:srgbClr val="EEF2F6"/>
            </a:solidFill>
            <a:prstDash val="solid"/>
          </a:ln>
        </p:spPr>
      </p:sp>
      <p:sp>
        <p:nvSpPr>
          <p:cNvPr id="20" name="Text 18"/>
          <p:cNvSpPr txBox="1"/>
          <p:nvPr/>
        </p:nvSpPr>
        <p:spPr>
          <a:xfrm>
            <a:off x="5405018"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M13</a:t>
            </a:r>
            <a:endParaRPr lang="en-US" sz="1000" dirty="0"/>
          </a:p>
        </p:txBody>
      </p:sp>
      <p:sp>
        <p:nvSpPr>
          <p:cNvPr id="21" name="Shape 19"/>
          <p:cNvSpPr/>
          <p:nvPr/>
        </p:nvSpPr>
        <p:spPr>
          <a:xfrm>
            <a:off x="5405018" y="1691640"/>
            <a:ext cx="0" cy="3931920"/>
          </a:xfrm>
          <a:prstGeom prst="line">
            <a:avLst/>
          </a:prstGeom>
          <a:noFill/>
          <a:ln w="6350">
            <a:solidFill>
              <a:srgbClr val="EEF2F6"/>
            </a:solidFill>
            <a:prstDash val="solid"/>
          </a:ln>
        </p:spPr>
      </p:sp>
      <p:sp>
        <p:nvSpPr>
          <p:cNvPr id="22" name="Shape 20"/>
          <p:cNvSpPr/>
          <p:nvPr/>
        </p:nvSpPr>
        <p:spPr>
          <a:xfrm>
            <a:off x="5664937" y="1691640"/>
            <a:ext cx="0" cy="3931920"/>
          </a:xfrm>
          <a:prstGeom prst="line">
            <a:avLst/>
          </a:prstGeom>
          <a:noFill/>
          <a:ln w="6350">
            <a:solidFill>
              <a:srgbClr val="EEF2F6"/>
            </a:solidFill>
            <a:prstDash val="solid"/>
          </a:ln>
        </p:spPr>
      </p:sp>
      <p:sp>
        <p:nvSpPr>
          <p:cNvPr id="23" name="Shape 21"/>
          <p:cNvSpPr/>
          <p:nvPr/>
        </p:nvSpPr>
        <p:spPr>
          <a:xfrm>
            <a:off x="5924855" y="1691640"/>
            <a:ext cx="0" cy="3931920"/>
          </a:xfrm>
          <a:prstGeom prst="line">
            <a:avLst/>
          </a:prstGeom>
          <a:noFill/>
          <a:ln w="6350">
            <a:solidFill>
              <a:srgbClr val="EEF2F6"/>
            </a:solidFill>
            <a:prstDash val="solid"/>
          </a:ln>
        </p:spPr>
      </p:sp>
      <p:sp>
        <p:nvSpPr>
          <p:cNvPr id="24" name="Text 22"/>
          <p:cNvSpPr txBox="1"/>
          <p:nvPr/>
        </p:nvSpPr>
        <p:spPr>
          <a:xfrm>
            <a:off x="6184773"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M16</a:t>
            </a:r>
            <a:endParaRPr lang="en-US" sz="1000" dirty="0"/>
          </a:p>
        </p:txBody>
      </p:sp>
      <p:sp>
        <p:nvSpPr>
          <p:cNvPr id="25" name="Shape 23"/>
          <p:cNvSpPr/>
          <p:nvPr/>
        </p:nvSpPr>
        <p:spPr>
          <a:xfrm>
            <a:off x="6184773" y="1691640"/>
            <a:ext cx="0" cy="3931920"/>
          </a:xfrm>
          <a:prstGeom prst="line">
            <a:avLst/>
          </a:prstGeom>
          <a:noFill/>
          <a:ln w="6350">
            <a:solidFill>
              <a:srgbClr val="EEF2F6"/>
            </a:solidFill>
            <a:prstDash val="solid"/>
          </a:ln>
        </p:spPr>
      </p:sp>
      <p:sp>
        <p:nvSpPr>
          <p:cNvPr id="26" name="Shape 24"/>
          <p:cNvSpPr/>
          <p:nvPr/>
        </p:nvSpPr>
        <p:spPr>
          <a:xfrm>
            <a:off x="6444691" y="1691640"/>
            <a:ext cx="0" cy="3931920"/>
          </a:xfrm>
          <a:prstGeom prst="line">
            <a:avLst/>
          </a:prstGeom>
          <a:noFill/>
          <a:ln w="6350">
            <a:solidFill>
              <a:srgbClr val="EEF2F6"/>
            </a:solidFill>
            <a:prstDash val="solid"/>
          </a:ln>
        </p:spPr>
      </p:sp>
      <p:sp>
        <p:nvSpPr>
          <p:cNvPr id="27" name="Shape 25"/>
          <p:cNvSpPr/>
          <p:nvPr/>
        </p:nvSpPr>
        <p:spPr>
          <a:xfrm>
            <a:off x="6704609" y="1691640"/>
            <a:ext cx="0" cy="3931920"/>
          </a:xfrm>
          <a:prstGeom prst="line">
            <a:avLst/>
          </a:prstGeom>
          <a:noFill/>
          <a:ln w="6350">
            <a:solidFill>
              <a:srgbClr val="EEF2F6"/>
            </a:solidFill>
            <a:prstDash val="solid"/>
          </a:ln>
        </p:spPr>
      </p:sp>
      <p:sp>
        <p:nvSpPr>
          <p:cNvPr id="28" name="Text 26"/>
          <p:cNvSpPr txBox="1"/>
          <p:nvPr/>
        </p:nvSpPr>
        <p:spPr>
          <a:xfrm>
            <a:off x="6964528"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M19</a:t>
            </a:r>
            <a:endParaRPr lang="en-US" sz="1000" dirty="0"/>
          </a:p>
        </p:txBody>
      </p:sp>
      <p:sp>
        <p:nvSpPr>
          <p:cNvPr id="29" name="Shape 27"/>
          <p:cNvSpPr/>
          <p:nvPr/>
        </p:nvSpPr>
        <p:spPr>
          <a:xfrm>
            <a:off x="6964528" y="1691640"/>
            <a:ext cx="0" cy="3931920"/>
          </a:xfrm>
          <a:prstGeom prst="line">
            <a:avLst/>
          </a:prstGeom>
          <a:noFill/>
          <a:ln w="6350">
            <a:solidFill>
              <a:srgbClr val="EEF2F6"/>
            </a:solidFill>
            <a:prstDash val="solid"/>
          </a:ln>
        </p:spPr>
      </p:sp>
      <p:sp>
        <p:nvSpPr>
          <p:cNvPr id="30" name="Shape 28"/>
          <p:cNvSpPr/>
          <p:nvPr/>
        </p:nvSpPr>
        <p:spPr>
          <a:xfrm>
            <a:off x="7224446" y="1691640"/>
            <a:ext cx="0" cy="3931920"/>
          </a:xfrm>
          <a:prstGeom prst="line">
            <a:avLst/>
          </a:prstGeom>
          <a:noFill/>
          <a:ln w="6350">
            <a:solidFill>
              <a:srgbClr val="EEF2F6"/>
            </a:solidFill>
            <a:prstDash val="solid"/>
          </a:ln>
        </p:spPr>
      </p:sp>
      <p:sp>
        <p:nvSpPr>
          <p:cNvPr id="31" name="Shape 29"/>
          <p:cNvSpPr/>
          <p:nvPr/>
        </p:nvSpPr>
        <p:spPr>
          <a:xfrm>
            <a:off x="7484364" y="1691640"/>
            <a:ext cx="0" cy="3931920"/>
          </a:xfrm>
          <a:prstGeom prst="line">
            <a:avLst/>
          </a:prstGeom>
          <a:noFill/>
          <a:ln w="6350">
            <a:solidFill>
              <a:srgbClr val="EEF2F6"/>
            </a:solidFill>
            <a:prstDash val="solid"/>
          </a:ln>
        </p:spPr>
      </p:sp>
      <p:sp>
        <p:nvSpPr>
          <p:cNvPr id="32" name="Text 30"/>
          <p:cNvSpPr txBox="1"/>
          <p:nvPr/>
        </p:nvSpPr>
        <p:spPr>
          <a:xfrm>
            <a:off x="7744282"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M22</a:t>
            </a:r>
            <a:endParaRPr lang="en-US" sz="1000" dirty="0"/>
          </a:p>
        </p:txBody>
      </p:sp>
      <p:sp>
        <p:nvSpPr>
          <p:cNvPr id="33" name="Shape 31"/>
          <p:cNvSpPr/>
          <p:nvPr/>
        </p:nvSpPr>
        <p:spPr>
          <a:xfrm>
            <a:off x="7744282" y="1691640"/>
            <a:ext cx="0" cy="3931920"/>
          </a:xfrm>
          <a:prstGeom prst="line">
            <a:avLst/>
          </a:prstGeom>
          <a:noFill/>
          <a:ln w="6350">
            <a:solidFill>
              <a:srgbClr val="EEF2F6"/>
            </a:solidFill>
            <a:prstDash val="solid"/>
          </a:ln>
        </p:spPr>
      </p:sp>
      <p:sp>
        <p:nvSpPr>
          <p:cNvPr id="34" name="Shape 32"/>
          <p:cNvSpPr/>
          <p:nvPr/>
        </p:nvSpPr>
        <p:spPr>
          <a:xfrm>
            <a:off x="8004200" y="1691640"/>
            <a:ext cx="0" cy="3931920"/>
          </a:xfrm>
          <a:prstGeom prst="line">
            <a:avLst/>
          </a:prstGeom>
          <a:noFill/>
          <a:ln w="6350">
            <a:solidFill>
              <a:srgbClr val="EEF2F6"/>
            </a:solidFill>
            <a:prstDash val="solid"/>
          </a:ln>
        </p:spPr>
      </p:sp>
      <p:sp>
        <p:nvSpPr>
          <p:cNvPr id="35" name="Shape 33"/>
          <p:cNvSpPr/>
          <p:nvPr/>
        </p:nvSpPr>
        <p:spPr>
          <a:xfrm>
            <a:off x="8264119" y="1691640"/>
            <a:ext cx="0" cy="3931920"/>
          </a:xfrm>
          <a:prstGeom prst="line">
            <a:avLst/>
          </a:prstGeom>
          <a:noFill/>
          <a:ln w="6350">
            <a:solidFill>
              <a:srgbClr val="EEF2F6"/>
            </a:solidFill>
            <a:prstDash val="solid"/>
          </a:ln>
        </p:spPr>
      </p:sp>
      <p:sp>
        <p:nvSpPr>
          <p:cNvPr id="36" name="Text 34"/>
          <p:cNvSpPr txBox="1"/>
          <p:nvPr/>
        </p:nvSpPr>
        <p:spPr>
          <a:xfrm>
            <a:off x="8524037"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M25</a:t>
            </a:r>
            <a:endParaRPr lang="en-US" sz="1000" dirty="0"/>
          </a:p>
        </p:txBody>
      </p:sp>
      <p:sp>
        <p:nvSpPr>
          <p:cNvPr id="37" name="Shape 35"/>
          <p:cNvSpPr/>
          <p:nvPr/>
        </p:nvSpPr>
        <p:spPr>
          <a:xfrm>
            <a:off x="8524037" y="1691640"/>
            <a:ext cx="0" cy="3931920"/>
          </a:xfrm>
          <a:prstGeom prst="line">
            <a:avLst/>
          </a:prstGeom>
          <a:noFill/>
          <a:ln w="6350">
            <a:solidFill>
              <a:srgbClr val="EEF2F6"/>
            </a:solidFill>
            <a:prstDash val="solid"/>
          </a:ln>
        </p:spPr>
      </p:sp>
      <p:sp>
        <p:nvSpPr>
          <p:cNvPr id="38" name="Shape 36"/>
          <p:cNvSpPr/>
          <p:nvPr/>
        </p:nvSpPr>
        <p:spPr>
          <a:xfrm>
            <a:off x="8783955" y="1691640"/>
            <a:ext cx="0" cy="3931920"/>
          </a:xfrm>
          <a:prstGeom prst="line">
            <a:avLst/>
          </a:prstGeom>
          <a:noFill/>
          <a:ln w="6350">
            <a:solidFill>
              <a:srgbClr val="EEF2F6"/>
            </a:solidFill>
            <a:prstDash val="solid"/>
          </a:ln>
        </p:spPr>
      </p:sp>
      <p:sp>
        <p:nvSpPr>
          <p:cNvPr id="39" name="Shape 37"/>
          <p:cNvSpPr/>
          <p:nvPr/>
        </p:nvSpPr>
        <p:spPr>
          <a:xfrm>
            <a:off x="9043873" y="1691640"/>
            <a:ext cx="0" cy="3931920"/>
          </a:xfrm>
          <a:prstGeom prst="line">
            <a:avLst/>
          </a:prstGeom>
          <a:noFill/>
          <a:ln w="6350">
            <a:solidFill>
              <a:srgbClr val="EEF2F6"/>
            </a:solidFill>
            <a:prstDash val="solid"/>
          </a:ln>
        </p:spPr>
      </p:sp>
      <p:sp>
        <p:nvSpPr>
          <p:cNvPr id="40" name="Text 38"/>
          <p:cNvSpPr txBox="1"/>
          <p:nvPr/>
        </p:nvSpPr>
        <p:spPr>
          <a:xfrm>
            <a:off x="9303791"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M28</a:t>
            </a:r>
            <a:endParaRPr lang="en-US" sz="1000" dirty="0"/>
          </a:p>
        </p:txBody>
      </p:sp>
      <p:sp>
        <p:nvSpPr>
          <p:cNvPr id="41" name="Shape 39"/>
          <p:cNvSpPr/>
          <p:nvPr/>
        </p:nvSpPr>
        <p:spPr>
          <a:xfrm>
            <a:off x="9303791" y="1691640"/>
            <a:ext cx="0" cy="3931920"/>
          </a:xfrm>
          <a:prstGeom prst="line">
            <a:avLst/>
          </a:prstGeom>
          <a:noFill/>
          <a:ln w="6350">
            <a:solidFill>
              <a:srgbClr val="EEF2F6"/>
            </a:solidFill>
            <a:prstDash val="solid"/>
          </a:ln>
        </p:spPr>
      </p:sp>
      <p:sp>
        <p:nvSpPr>
          <p:cNvPr id="42" name="Shape 40"/>
          <p:cNvSpPr/>
          <p:nvPr/>
        </p:nvSpPr>
        <p:spPr>
          <a:xfrm>
            <a:off x="9563710" y="1691640"/>
            <a:ext cx="0" cy="3931920"/>
          </a:xfrm>
          <a:prstGeom prst="line">
            <a:avLst/>
          </a:prstGeom>
          <a:noFill/>
          <a:ln w="6350">
            <a:solidFill>
              <a:srgbClr val="EEF2F6"/>
            </a:solidFill>
            <a:prstDash val="solid"/>
          </a:ln>
        </p:spPr>
      </p:sp>
      <p:sp>
        <p:nvSpPr>
          <p:cNvPr id="43" name="Shape 41"/>
          <p:cNvSpPr/>
          <p:nvPr/>
        </p:nvSpPr>
        <p:spPr>
          <a:xfrm>
            <a:off x="9823628" y="1691640"/>
            <a:ext cx="0" cy="3931920"/>
          </a:xfrm>
          <a:prstGeom prst="line">
            <a:avLst/>
          </a:prstGeom>
          <a:noFill/>
          <a:ln w="6350">
            <a:solidFill>
              <a:srgbClr val="EEF2F6"/>
            </a:solidFill>
            <a:prstDash val="solid"/>
          </a:ln>
        </p:spPr>
      </p:sp>
      <p:sp>
        <p:nvSpPr>
          <p:cNvPr id="44" name="Text 42"/>
          <p:cNvSpPr txBox="1"/>
          <p:nvPr/>
        </p:nvSpPr>
        <p:spPr>
          <a:xfrm>
            <a:off x="10083546"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M31</a:t>
            </a:r>
            <a:endParaRPr lang="en-US" sz="1000" dirty="0"/>
          </a:p>
        </p:txBody>
      </p:sp>
      <p:sp>
        <p:nvSpPr>
          <p:cNvPr id="45" name="Shape 43"/>
          <p:cNvSpPr/>
          <p:nvPr/>
        </p:nvSpPr>
        <p:spPr>
          <a:xfrm>
            <a:off x="10083546" y="1691640"/>
            <a:ext cx="0" cy="3931920"/>
          </a:xfrm>
          <a:prstGeom prst="line">
            <a:avLst/>
          </a:prstGeom>
          <a:noFill/>
          <a:ln w="6350">
            <a:solidFill>
              <a:srgbClr val="EEF2F6"/>
            </a:solidFill>
            <a:prstDash val="solid"/>
          </a:ln>
        </p:spPr>
      </p:sp>
      <p:sp>
        <p:nvSpPr>
          <p:cNvPr id="46" name="Shape 44"/>
          <p:cNvSpPr/>
          <p:nvPr/>
        </p:nvSpPr>
        <p:spPr>
          <a:xfrm>
            <a:off x="10343464" y="1691640"/>
            <a:ext cx="0" cy="3931920"/>
          </a:xfrm>
          <a:prstGeom prst="line">
            <a:avLst/>
          </a:prstGeom>
          <a:noFill/>
          <a:ln w="6350">
            <a:solidFill>
              <a:srgbClr val="EEF2F6"/>
            </a:solidFill>
            <a:prstDash val="solid"/>
          </a:ln>
        </p:spPr>
      </p:sp>
      <p:sp>
        <p:nvSpPr>
          <p:cNvPr id="47" name="Shape 45"/>
          <p:cNvSpPr/>
          <p:nvPr/>
        </p:nvSpPr>
        <p:spPr>
          <a:xfrm>
            <a:off x="10603382" y="1691640"/>
            <a:ext cx="0" cy="3931920"/>
          </a:xfrm>
          <a:prstGeom prst="line">
            <a:avLst/>
          </a:prstGeom>
          <a:noFill/>
          <a:ln w="6350">
            <a:solidFill>
              <a:srgbClr val="EEF2F6"/>
            </a:solidFill>
            <a:prstDash val="solid"/>
          </a:ln>
        </p:spPr>
      </p:sp>
      <p:sp>
        <p:nvSpPr>
          <p:cNvPr id="48" name="Text 46"/>
          <p:cNvSpPr txBox="1"/>
          <p:nvPr/>
        </p:nvSpPr>
        <p:spPr>
          <a:xfrm>
            <a:off x="10863301"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M34</a:t>
            </a:r>
            <a:endParaRPr lang="en-US" sz="1000" dirty="0"/>
          </a:p>
        </p:txBody>
      </p:sp>
      <p:sp>
        <p:nvSpPr>
          <p:cNvPr id="49" name="Shape 47"/>
          <p:cNvSpPr/>
          <p:nvPr/>
        </p:nvSpPr>
        <p:spPr>
          <a:xfrm>
            <a:off x="10863301" y="1691640"/>
            <a:ext cx="0" cy="3931920"/>
          </a:xfrm>
          <a:prstGeom prst="line">
            <a:avLst/>
          </a:prstGeom>
          <a:noFill/>
          <a:ln w="6350">
            <a:solidFill>
              <a:srgbClr val="EEF2F6"/>
            </a:solidFill>
            <a:prstDash val="solid"/>
          </a:ln>
        </p:spPr>
      </p:sp>
      <p:sp>
        <p:nvSpPr>
          <p:cNvPr id="50" name="Shape 48"/>
          <p:cNvSpPr/>
          <p:nvPr/>
        </p:nvSpPr>
        <p:spPr>
          <a:xfrm>
            <a:off x="11123219" y="1691640"/>
            <a:ext cx="0" cy="3931920"/>
          </a:xfrm>
          <a:prstGeom prst="line">
            <a:avLst/>
          </a:prstGeom>
          <a:noFill/>
          <a:ln w="6350">
            <a:solidFill>
              <a:srgbClr val="EEF2F6"/>
            </a:solidFill>
            <a:prstDash val="solid"/>
          </a:ln>
        </p:spPr>
      </p:sp>
      <p:sp>
        <p:nvSpPr>
          <p:cNvPr id="51" name="Text 49"/>
          <p:cNvSpPr txBox="1"/>
          <p:nvPr/>
        </p:nvSpPr>
        <p:spPr>
          <a:xfrm>
            <a:off x="11383137" y="1417320"/>
            <a:ext cx="457200" cy="228600"/>
          </a:xfrm>
          <a:prstGeom prst="rect">
            <a:avLst/>
          </a:prstGeom>
          <a:noFill/>
          <a:ln/>
        </p:spPr>
        <p:txBody>
          <a:bodyPr wrap="square" lIns="0" tIns="0" rIns="0" bIns="0" rtlCol="0" anchor="t"/>
          <a:lstStyle/>
          <a:p>
            <a:pPr indent="0" marL="0">
              <a:buNone/>
            </a:pPr>
            <a:r>
              <a:rPr lang="en-US" sz="1000" dirty="0">
                <a:solidFill>
                  <a:srgbClr val="56606B"/>
                </a:solidFill>
                <a:latin typeface="Calibri" pitchFamily="34" charset="0"/>
                <a:ea typeface="Calibri" pitchFamily="34" charset="-122"/>
                <a:cs typeface="Calibri" pitchFamily="34" charset="-120"/>
              </a:rPr>
              <a:t>M36</a:t>
            </a:r>
            <a:endParaRPr lang="en-US" sz="1000" dirty="0"/>
          </a:p>
        </p:txBody>
      </p:sp>
      <p:sp>
        <p:nvSpPr>
          <p:cNvPr id="52" name="Shape 50"/>
          <p:cNvSpPr/>
          <p:nvPr/>
        </p:nvSpPr>
        <p:spPr>
          <a:xfrm>
            <a:off x="11383137" y="1691640"/>
            <a:ext cx="0" cy="3931920"/>
          </a:xfrm>
          <a:prstGeom prst="line">
            <a:avLst/>
          </a:prstGeom>
          <a:noFill/>
          <a:ln w="6350">
            <a:solidFill>
              <a:srgbClr val="EEF2F6"/>
            </a:solidFill>
            <a:prstDash val="solid"/>
          </a:ln>
        </p:spPr>
      </p:sp>
      <p:sp>
        <p:nvSpPr>
          <p:cNvPr id="53" name="Text 51"/>
          <p:cNvSpPr txBox="1"/>
          <p:nvPr/>
        </p:nvSpPr>
        <p:spPr>
          <a:xfrm>
            <a:off x="548640" y="1874520"/>
            <a:ext cx="1645920" cy="457200"/>
          </a:xfrm>
          <a:prstGeom prst="rect">
            <a:avLst/>
          </a:prstGeom>
          <a:noFill/>
          <a:ln/>
        </p:spPr>
        <p:txBody>
          <a:bodyPr wrap="square" lIns="0" tIns="0" rIns="0" bIns="0" rtlCol="0" anchor="ctr"/>
          <a:lstStyle/>
          <a:p>
            <a:pPr indent="0" marL="0">
              <a:buNone/>
            </a:pPr>
            <a:r>
              <a:rPr lang="en-US" sz="1600" b="1" dirty="0">
                <a:solidFill>
                  <a:srgbClr val="2A78D6"/>
                </a:solidFill>
                <a:latin typeface="Calibri" pitchFamily="34" charset="0"/>
                <a:ea typeface="Calibri" pitchFamily="34" charset="-122"/>
                <a:cs typeface="Calibri" pitchFamily="34" charset="-120"/>
              </a:rPr>
              <a:t>Fase 1</a:t>
            </a:r>
            <a:endParaRPr lang="en-US" sz="1600" dirty="0"/>
          </a:p>
        </p:txBody>
      </p:sp>
      <p:sp>
        <p:nvSpPr>
          <p:cNvPr id="54" name="Shape 52"/>
          <p:cNvSpPr/>
          <p:nvPr/>
        </p:nvSpPr>
        <p:spPr>
          <a:xfrm>
            <a:off x="2805836" y="1947672"/>
            <a:ext cx="519836" cy="329184"/>
          </a:xfrm>
          <a:prstGeom prst="roundRect">
            <a:avLst>
              <a:gd name="adj" fmla="val 13889"/>
            </a:avLst>
          </a:prstGeom>
          <a:solidFill>
            <a:srgbClr val="FFF3DC"/>
          </a:solidFill>
          <a:ln w="12700">
            <a:solidFill>
              <a:srgbClr val="F5A623"/>
            </a:solidFill>
            <a:prstDash val="solid"/>
          </a:ln>
        </p:spPr>
      </p:sp>
      <p:sp>
        <p:nvSpPr>
          <p:cNvPr id="55" name="Text 53"/>
          <p:cNvSpPr txBox="1"/>
          <p:nvPr/>
        </p:nvSpPr>
        <p:spPr>
          <a:xfrm>
            <a:off x="2805836" y="1947672"/>
            <a:ext cx="519836" cy="329184"/>
          </a:xfrm>
          <a:prstGeom prst="rect">
            <a:avLst/>
          </a:prstGeom>
          <a:noFill/>
          <a:ln/>
        </p:spPr>
        <p:txBody>
          <a:bodyPr wrap="square" lIns="0" tIns="0" rIns="0" bIns="0" rtlCol="0" anchor="ctr"/>
          <a:lstStyle/>
          <a:p>
            <a:pPr algn="ctr" indent="0" marL="0">
              <a:buNone/>
            </a:pPr>
            <a:r>
              <a:rPr lang="en-US" sz="1050" b="1" dirty="0">
                <a:solidFill>
                  <a:srgbClr val="B7760B"/>
                </a:solidFill>
                <a:latin typeface="Calibri" pitchFamily="34" charset="0"/>
                <a:ea typeface="Calibri" pitchFamily="34" charset="-122"/>
                <a:cs typeface="Calibri" pitchFamily="34" charset="-120"/>
              </a:rPr>
              <a:t>PoC</a:t>
            </a:r>
            <a:endParaRPr lang="en-US" sz="1050" dirty="0"/>
          </a:p>
        </p:txBody>
      </p:sp>
      <p:sp>
        <p:nvSpPr>
          <p:cNvPr id="56" name="Shape 54"/>
          <p:cNvSpPr/>
          <p:nvPr/>
        </p:nvSpPr>
        <p:spPr>
          <a:xfrm>
            <a:off x="2686964" y="2377440"/>
            <a:ext cx="237744" cy="237744"/>
          </a:xfrm>
          <a:prstGeom prst="diamond">
            <a:avLst/>
          </a:prstGeom>
          <a:solidFill>
            <a:srgbClr val="F5A623"/>
          </a:solidFill>
          <a:ln w="9525">
            <a:solidFill>
              <a:srgbClr val="0F2A43"/>
            </a:solidFill>
            <a:prstDash val="solid"/>
          </a:ln>
        </p:spPr>
      </p:sp>
      <p:sp>
        <p:nvSpPr>
          <p:cNvPr id="57" name="Text 55"/>
          <p:cNvSpPr txBox="1"/>
          <p:nvPr/>
        </p:nvSpPr>
        <p:spPr>
          <a:xfrm>
            <a:off x="2595524" y="2606040"/>
            <a:ext cx="420624" cy="219456"/>
          </a:xfrm>
          <a:prstGeom prst="rect">
            <a:avLst/>
          </a:prstGeom>
          <a:noFill/>
          <a:ln/>
        </p:spPr>
        <p:txBody>
          <a:bodyPr wrap="square" lIns="0" tIns="0" rIns="0" bIns="0" rtlCol="0" anchor="t"/>
          <a:lstStyle/>
          <a:p>
            <a:pPr algn="ctr" indent="0" marL="0">
              <a:buNone/>
            </a:pPr>
            <a:r>
              <a:rPr lang="en-US" sz="950" b="1" dirty="0">
                <a:solidFill>
                  <a:srgbClr val="1B1F24"/>
                </a:solidFill>
                <a:latin typeface="Calibri" pitchFamily="34" charset="0"/>
                <a:ea typeface="Calibri" pitchFamily="34" charset="-122"/>
                <a:cs typeface="Calibri" pitchFamily="34" charset="-120"/>
              </a:rPr>
              <a:t>H1</a:t>
            </a:r>
            <a:endParaRPr lang="en-US" sz="950" dirty="0"/>
          </a:p>
        </p:txBody>
      </p:sp>
      <p:sp>
        <p:nvSpPr>
          <p:cNvPr id="58" name="Shape 56"/>
          <p:cNvSpPr/>
          <p:nvPr/>
        </p:nvSpPr>
        <p:spPr>
          <a:xfrm>
            <a:off x="3206801" y="2377440"/>
            <a:ext cx="237744" cy="237744"/>
          </a:xfrm>
          <a:prstGeom prst="diamond">
            <a:avLst/>
          </a:prstGeom>
          <a:solidFill>
            <a:srgbClr val="F5A623"/>
          </a:solidFill>
          <a:ln w="9525">
            <a:solidFill>
              <a:srgbClr val="0F2A43"/>
            </a:solidFill>
            <a:prstDash val="solid"/>
          </a:ln>
        </p:spPr>
      </p:sp>
      <p:sp>
        <p:nvSpPr>
          <p:cNvPr id="59" name="Text 57"/>
          <p:cNvSpPr txBox="1"/>
          <p:nvPr/>
        </p:nvSpPr>
        <p:spPr>
          <a:xfrm>
            <a:off x="3115361" y="2606040"/>
            <a:ext cx="420624" cy="219456"/>
          </a:xfrm>
          <a:prstGeom prst="rect">
            <a:avLst/>
          </a:prstGeom>
          <a:noFill/>
          <a:ln/>
        </p:spPr>
        <p:txBody>
          <a:bodyPr wrap="square" lIns="0" tIns="0" rIns="0" bIns="0" rtlCol="0" anchor="t"/>
          <a:lstStyle/>
          <a:p>
            <a:pPr algn="ctr" indent="0" marL="0">
              <a:buNone/>
            </a:pPr>
            <a:r>
              <a:rPr lang="en-US" sz="950" b="1" dirty="0">
                <a:solidFill>
                  <a:srgbClr val="1B1F24"/>
                </a:solidFill>
                <a:latin typeface="Calibri" pitchFamily="34" charset="0"/>
                <a:ea typeface="Calibri" pitchFamily="34" charset="-122"/>
                <a:cs typeface="Calibri" pitchFamily="34" charset="-120"/>
              </a:rPr>
              <a:t>H2</a:t>
            </a:r>
            <a:endParaRPr lang="en-US" sz="950" dirty="0"/>
          </a:p>
        </p:txBody>
      </p:sp>
      <p:sp>
        <p:nvSpPr>
          <p:cNvPr id="60" name="Shape 58"/>
          <p:cNvSpPr/>
          <p:nvPr/>
        </p:nvSpPr>
        <p:spPr>
          <a:xfrm>
            <a:off x="3466719" y="2377440"/>
            <a:ext cx="237744" cy="237744"/>
          </a:xfrm>
          <a:prstGeom prst="diamond">
            <a:avLst/>
          </a:prstGeom>
          <a:solidFill>
            <a:srgbClr val="F5A623"/>
          </a:solidFill>
          <a:ln w="9525">
            <a:solidFill>
              <a:srgbClr val="0F2A43"/>
            </a:solidFill>
            <a:prstDash val="solid"/>
          </a:ln>
        </p:spPr>
      </p:sp>
      <p:sp>
        <p:nvSpPr>
          <p:cNvPr id="61" name="Text 59"/>
          <p:cNvSpPr txBox="1"/>
          <p:nvPr/>
        </p:nvSpPr>
        <p:spPr>
          <a:xfrm>
            <a:off x="3375279" y="2606040"/>
            <a:ext cx="420624" cy="219456"/>
          </a:xfrm>
          <a:prstGeom prst="rect">
            <a:avLst/>
          </a:prstGeom>
          <a:noFill/>
          <a:ln/>
        </p:spPr>
        <p:txBody>
          <a:bodyPr wrap="square" lIns="0" tIns="0" rIns="0" bIns="0" rtlCol="0" anchor="t"/>
          <a:lstStyle/>
          <a:p>
            <a:pPr algn="ctr" indent="0" marL="0">
              <a:buNone/>
            </a:pPr>
            <a:r>
              <a:rPr lang="en-US" sz="950" b="1" dirty="0">
                <a:solidFill>
                  <a:srgbClr val="1B1F24"/>
                </a:solidFill>
                <a:latin typeface="Calibri" pitchFamily="34" charset="0"/>
                <a:ea typeface="Calibri" pitchFamily="34" charset="-122"/>
                <a:cs typeface="Calibri" pitchFamily="34" charset="-120"/>
              </a:rPr>
              <a:t>H3</a:t>
            </a:r>
            <a:endParaRPr lang="en-US" sz="950" dirty="0"/>
          </a:p>
        </p:txBody>
      </p:sp>
      <p:sp>
        <p:nvSpPr>
          <p:cNvPr id="62" name="Shape 60"/>
          <p:cNvSpPr/>
          <p:nvPr/>
        </p:nvSpPr>
        <p:spPr>
          <a:xfrm>
            <a:off x="3585591" y="1947672"/>
            <a:ext cx="2339264" cy="329184"/>
          </a:xfrm>
          <a:prstGeom prst="roundRect">
            <a:avLst>
              <a:gd name="adj" fmla="val 13889"/>
            </a:avLst>
          </a:prstGeom>
          <a:solidFill>
            <a:srgbClr val="2A78D6"/>
          </a:solidFill>
          <a:ln w="12700">
            <a:solidFill>
              <a:srgbClr val="2A78D6"/>
            </a:solidFill>
            <a:prstDash val="solid"/>
          </a:ln>
        </p:spPr>
      </p:sp>
      <p:sp>
        <p:nvSpPr>
          <p:cNvPr id="63" name="Text 61"/>
          <p:cNvSpPr txBox="1"/>
          <p:nvPr/>
        </p:nvSpPr>
        <p:spPr>
          <a:xfrm>
            <a:off x="3585591" y="1947672"/>
            <a:ext cx="233926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Construcción desde M6</a:t>
            </a:r>
            <a:endParaRPr lang="en-US" sz="1050" dirty="0"/>
          </a:p>
        </p:txBody>
      </p:sp>
      <p:sp>
        <p:nvSpPr>
          <p:cNvPr id="64" name="Shape 62"/>
          <p:cNvSpPr/>
          <p:nvPr/>
        </p:nvSpPr>
        <p:spPr>
          <a:xfrm>
            <a:off x="3417113" y="2112264"/>
            <a:ext cx="122758" cy="914"/>
          </a:xfrm>
          <a:prstGeom prst="line">
            <a:avLst/>
          </a:prstGeom>
          <a:noFill/>
          <a:ln w="12700">
            <a:solidFill>
              <a:srgbClr val="56606B"/>
            </a:solidFill>
            <a:prstDash val="solid"/>
            <a:tailEnd type="triangle"/>
          </a:ln>
        </p:spPr>
      </p:sp>
      <p:sp>
        <p:nvSpPr>
          <p:cNvPr id="65" name="Text 63"/>
          <p:cNvSpPr txBox="1"/>
          <p:nvPr/>
        </p:nvSpPr>
        <p:spPr>
          <a:xfrm>
            <a:off x="2286000" y="2807208"/>
            <a:ext cx="9357055" cy="274320"/>
          </a:xfrm>
          <a:prstGeom prst="rect">
            <a:avLst/>
          </a:prstGeom>
          <a:noFill/>
          <a:ln/>
        </p:spPr>
        <p:txBody>
          <a:bodyPr wrap="square" lIns="0" tIns="0" rIns="0" bIns="0" rtlCol="0" anchor="t"/>
          <a:lstStyle/>
          <a:p>
            <a:pPr indent="0" marL="0">
              <a:buNone/>
            </a:pPr>
            <a:r>
              <a:rPr lang="en-US" sz="1150" i="1" dirty="0">
                <a:solidFill>
                  <a:srgbClr val="56606B"/>
                </a:solidFill>
                <a:latin typeface="Calibri" pitchFamily="34" charset="0"/>
                <a:ea typeface="Calibri" pitchFamily="34" charset="-122"/>
                <a:cs typeface="Calibri" pitchFamily="34" charset="-120"/>
              </a:rPr>
              <a:t>Obras tempranas: PoC y construcción casi en paralelo</a:t>
            </a:r>
            <a:endParaRPr lang="en-US" sz="1150" dirty="0"/>
          </a:p>
        </p:txBody>
      </p:sp>
      <p:sp>
        <p:nvSpPr>
          <p:cNvPr id="66" name="Text 64"/>
          <p:cNvSpPr txBox="1"/>
          <p:nvPr/>
        </p:nvSpPr>
        <p:spPr>
          <a:xfrm>
            <a:off x="548640" y="3154680"/>
            <a:ext cx="1645920" cy="457200"/>
          </a:xfrm>
          <a:prstGeom prst="rect">
            <a:avLst/>
          </a:prstGeom>
          <a:noFill/>
          <a:ln/>
        </p:spPr>
        <p:txBody>
          <a:bodyPr wrap="square" lIns="0" tIns="0" rIns="0" bIns="0" rtlCol="0" anchor="ctr"/>
          <a:lstStyle/>
          <a:p>
            <a:pPr indent="0" marL="0">
              <a:buNone/>
            </a:pPr>
            <a:r>
              <a:rPr lang="en-US" sz="1600" b="1" dirty="0">
                <a:solidFill>
                  <a:srgbClr val="EB6834"/>
                </a:solidFill>
                <a:latin typeface="Calibri" pitchFamily="34" charset="0"/>
                <a:ea typeface="Calibri" pitchFamily="34" charset="-122"/>
                <a:cs typeface="Calibri" pitchFamily="34" charset="-120"/>
              </a:rPr>
              <a:t>Fase 2</a:t>
            </a:r>
            <a:endParaRPr lang="en-US" sz="1600" dirty="0"/>
          </a:p>
        </p:txBody>
      </p:sp>
      <p:sp>
        <p:nvSpPr>
          <p:cNvPr id="67" name="Shape 65"/>
          <p:cNvSpPr/>
          <p:nvPr/>
        </p:nvSpPr>
        <p:spPr>
          <a:xfrm>
            <a:off x="3585591" y="3227832"/>
            <a:ext cx="1039673" cy="329184"/>
          </a:xfrm>
          <a:prstGeom prst="roundRect">
            <a:avLst>
              <a:gd name="adj" fmla="val 13889"/>
            </a:avLst>
          </a:prstGeom>
          <a:solidFill>
            <a:srgbClr val="FFF3DC"/>
          </a:solidFill>
          <a:ln w="12700">
            <a:solidFill>
              <a:srgbClr val="F5A623"/>
            </a:solidFill>
            <a:prstDash val="solid"/>
          </a:ln>
        </p:spPr>
      </p:sp>
      <p:sp>
        <p:nvSpPr>
          <p:cNvPr id="68" name="Text 66"/>
          <p:cNvSpPr txBox="1"/>
          <p:nvPr/>
        </p:nvSpPr>
        <p:spPr>
          <a:xfrm>
            <a:off x="3585591" y="3227832"/>
            <a:ext cx="1039673" cy="329184"/>
          </a:xfrm>
          <a:prstGeom prst="rect">
            <a:avLst/>
          </a:prstGeom>
          <a:noFill/>
          <a:ln/>
        </p:spPr>
        <p:txBody>
          <a:bodyPr wrap="square" lIns="0" tIns="0" rIns="0" bIns="0" rtlCol="0" anchor="ctr"/>
          <a:lstStyle/>
          <a:p>
            <a:pPr algn="ctr" indent="0" marL="0">
              <a:buNone/>
            </a:pPr>
            <a:r>
              <a:rPr lang="en-US" sz="1050" b="1" dirty="0">
                <a:solidFill>
                  <a:srgbClr val="B7760B"/>
                </a:solidFill>
                <a:latin typeface="Calibri" pitchFamily="34" charset="0"/>
                <a:ea typeface="Calibri" pitchFamily="34" charset="-122"/>
                <a:cs typeface="Calibri" pitchFamily="34" charset="-120"/>
              </a:rPr>
              <a:t>PoC</a:t>
            </a:r>
            <a:endParaRPr lang="en-US" sz="1050" dirty="0"/>
          </a:p>
        </p:txBody>
      </p:sp>
      <p:sp>
        <p:nvSpPr>
          <p:cNvPr id="69" name="Shape 67"/>
          <p:cNvSpPr/>
          <p:nvPr/>
        </p:nvSpPr>
        <p:spPr>
          <a:xfrm>
            <a:off x="3466719" y="3657600"/>
            <a:ext cx="237744" cy="237744"/>
          </a:xfrm>
          <a:prstGeom prst="diamond">
            <a:avLst/>
          </a:prstGeom>
          <a:solidFill>
            <a:srgbClr val="F5A623"/>
          </a:solidFill>
          <a:ln w="9525">
            <a:solidFill>
              <a:srgbClr val="0F2A43"/>
            </a:solidFill>
            <a:prstDash val="solid"/>
          </a:ln>
        </p:spPr>
      </p:sp>
      <p:sp>
        <p:nvSpPr>
          <p:cNvPr id="70" name="Text 68"/>
          <p:cNvSpPr txBox="1"/>
          <p:nvPr/>
        </p:nvSpPr>
        <p:spPr>
          <a:xfrm>
            <a:off x="3375279" y="3886200"/>
            <a:ext cx="420624" cy="219456"/>
          </a:xfrm>
          <a:prstGeom prst="rect">
            <a:avLst/>
          </a:prstGeom>
          <a:noFill/>
          <a:ln/>
        </p:spPr>
        <p:txBody>
          <a:bodyPr wrap="square" lIns="0" tIns="0" rIns="0" bIns="0" rtlCol="0" anchor="t"/>
          <a:lstStyle/>
          <a:p>
            <a:pPr algn="ctr" indent="0" marL="0">
              <a:buNone/>
            </a:pPr>
            <a:r>
              <a:rPr lang="en-US" sz="950" b="1" dirty="0">
                <a:solidFill>
                  <a:srgbClr val="1B1F24"/>
                </a:solidFill>
                <a:latin typeface="Calibri" pitchFamily="34" charset="0"/>
                <a:ea typeface="Calibri" pitchFamily="34" charset="-122"/>
                <a:cs typeface="Calibri" pitchFamily="34" charset="-120"/>
              </a:rPr>
              <a:t>H1</a:t>
            </a:r>
            <a:endParaRPr lang="en-US" sz="950" dirty="0"/>
          </a:p>
        </p:txBody>
      </p:sp>
      <p:sp>
        <p:nvSpPr>
          <p:cNvPr id="71" name="Shape 69"/>
          <p:cNvSpPr/>
          <p:nvPr/>
        </p:nvSpPr>
        <p:spPr>
          <a:xfrm>
            <a:off x="4506392" y="3657600"/>
            <a:ext cx="237744" cy="237744"/>
          </a:xfrm>
          <a:prstGeom prst="diamond">
            <a:avLst/>
          </a:prstGeom>
          <a:solidFill>
            <a:srgbClr val="F5A623"/>
          </a:solidFill>
          <a:ln w="9525">
            <a:solidFill>
              <a:srgbClr val="0F2A43"/>
            </a:solidFill>
            <a:prstDash val="solid"/>
          </a:ln>
        </p:spPr>
      </p:sp>
      <p:sp>
        <p:nvSpPr>
          <p:cNvPr id="72" name="Text 70"/>
          <p:cNvSpPr txBox="1"/>
          <p:nvPr/>
        </p:nvSpPr>
        <p:spPr>
          <a:xfrm>
            <a:off x="4414952" y="3886200"/>
            <a:ext cx="420624" cy="219456"/>
          </a:xfrm>
          <a:prstGeom prst="rect">
            <a:avLst/>
          </a:prstGeom>
          <a:noFill/>
          <a:ln/>
        </p:spPr>
        <p:txBody>
          <a:bodyPr wrap="square" lIns="0" tIns="0" rIns="0" bIns="0" rtlCol="0" anchor="t"/>
          <a:lstStyle/>
          <a:p>
            <a:pPr algn="ctr" indent="0" marL="0">
              <a:buNone/>
            </a:pPr>
            <a:r>
              <a:rPr lang="en-US" sz="950" b="1" dirty="0">
                <a:solidFill>
                  <a:srgbClr val="1B1F24"/>
                </a:solidFill>
                <a:latin typeface="Calibri" pitchFamily="34" charset="0"/>
                <a:ea typeface="Calibri" pitchFamily="34" charset="-122"/>
                <a:cs typeface="Calibri" pitchFamily="34" charset="-120"/>
              </a:rPr>
              <a:t>H2</a:t>
            </a:r>
            <a:endParaRPr lang="en-US" sz="950" dirty="0"/>
          </a:p>
        </p:txBody>
      </p:sp>
      <p:sp>
        <p:nvSpPr>
          <p:cNvPr id="73" name="Shape 71"/>
          <p:cNvSpPr/>
          <p:nvPr/>
        </p:nvSpPr>
        <p:spPr>
          <a:xfrm>
            <a:off x="4766310" y="3657600"/>
            <a:ext cx="237744" cy="237744"/>
          </a:xfrm>
          <a:prstGeom prst="diamond">
            <a:avLst/>
          </a:prstGeom>
          <a:solidFill>
            <a:srgbClr val="F5A623"/>
          </a:solidFill>
          <a:ln w="9525">
            <a:solidFill>
              <a:srgbClr val="0F2A43"/>
            </a:solidFill>
            <a:prstDash val="solid"/>
          </a:ln>
        </p:spPr>
      </p:sp>
      <p:sp>
        <p:nvSpPr>
          <p:cNvPr id="74" name="Text 72"/>
          <p:cNvSpPr txBox="1"/>
          <p:nvPr/>
        </p:nvSpPr>
        <p:spPr>
          <a:xfrm>
            <a:off x="4674870" y="3886200"/>
            <a:ext cx="420624" cy="219456"/>
          </a:xfrm>
          <a:prstGeom prst="rect">
            <a:avLst/>
          </a:prstGeom>
          <a:noFill/>
          <a:ln/>
        </p:spPr>
        <p:txBody>
          <a:bodyPr wrap="square" lIns="0" tIns="0" rIns="0" bIns="0" rtlCol="0" anchor="t"/>
          <a:lstStyle/>
          <a:p>
            <a:pPr algn="ctr" indent="0" marL="0">
              <a:buNone/>
            </a:pPr>
            <a:r>
              <a:rPr lang="en-US" sz="950" b="1" dirty="0">
                <a:solidFill>
                  <a:srgbClr val="1B1F24"/>
                </a:solidFill>
                <a:latin typeface="Calibri" pitchFamily="34" charset="0"/>
                <a:ea typeface="Calibri" pitchFamily="34" charset="-122"/>
                <a:cs typeface="Calibri" pitchFamily="34" charset="-120"/>
              </a:rPr>
              <a:t>H3</a:t>
            </a:r>
            <a:endParaRPr lang="en-US" sz="950" dirty="0"/>
          </a:p>
        </p:txBody>
      </p:sp>
      <p:sp>
        <p:nvSpPr>
          <p:cNvPr id="75" name="Shape 73"/>
          <p:cNvSpPr/>
          <p:nvPr/>
        </p:nvSpPr>
        <p:spPr>
          <a:xfrm>
            <a:off x="5664937" y="3227832"/>
            <a:ext cx="2339264" cy="329184"/>
          </a:xfrm>
          <a:prstGeom prst="roundRect">
            <a:avLst>
              <a:gd name="adj" fmla="val 13889"/>
            </a:avLst>
          </a:prstGeom>
          <a:solidFill>
            <a:srgbClr val="EB6834"/>
          </a:solidFill>
          <a:ln w="12700">
            <a:solidFill>
              <a:srgbClr val="EB6834"/>
            </a:solidFill>
            <a:prstDash val="solid"/>
          </a:ln>
        </p:spPr>
      </p:sp>
      <p:sp>
        <p:nvSpPr>
          <p:cNvPr id="76" name="Text 74"/>
          <p:cNvSpPr txBox="1"/>
          <p:nvPr/>
        </p:nvSpPr>
        <p:spPr>
          <a:xfrm>
            <a:off x="5664937" y="3227832"/>
            <a:ext cx="233926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Construcción desde M14</a:t>
            </a:r>
            <a:endParaRPr lang="en-US" sz="1050" dirty="0"/>
          </a:p>
        </p:txBody>
      </p:sp>
      <p:sp>
        <p:nvSpPr>
          <p:cNvPr id="77" name="Shape 75"/>
          <p:cNvSpPr/>
          <p:nvPr/>
        </p:nvSpPr>
        <p:spPr>
          <a:xfrm>
            <a:off x="4716704" y="3392424"/>
            <a:ext cx="902513" cy="914"/>
          </a:xfrm>
          <a:prstGeom prst="line">
            <a:avLst/>
          </a:prstGeom>
          <a:noFill/>
          <a:ln w="12700">
            <a:solidFill>
              <a:srgbClr val="56606B"/>
            </a:solidFill>
            <a:prstDash val="solid"/>
            <a:tailEnd type="triangle"/>
          </a:ln>
        </p:spPr>
      </p:sp>
      <p:sp>
        <p:nvSpPr>
          <p:cNvPr id="78" name="Text 76"/>
          <p:cNvSpPr txBox="1"/>
          <p:nvPr/>
        </p:nvSpPr>
        <p:spPr>
          <a:xfrm>
            <a:off x="2286000" y="4087368"/>
            <a:ext cx="9357055" cy="274320"/>
          </a:xfrm>
          <a:prstGeom prst="rect">
            <a:avLst/>
          </a:prstGeom>
          <a:noFill/>
          <a:ln/>
        </p:spPr>
        <p:txBody>
          <a:bodyPr wrap="square" lIns="0" tIns="0" rIns="0" bIns="0" rtlCol="0" anchor="t"/>
          <a:lstStyle/>
          <a:p>
            <a:pPr indent="0" marL="0">
              <a:buNone/>
            </a:pPr>
            <a:r>
              <a:rPr lang="en-US" sz="1150" i="1" dirty="0">
                <a:solidFill>
                  <a:srgbClr val="56606B"/>
                </a:solidFill>
                <a:latin typeface="Calibri" pitchFamily="34" charset="0"/>
                <a:ea typeface="Calibri" pitchFamily="34" charset="-122"/>
                <a:cs typeface="Calibri" pitchFamily="34" charset="-120"/>
              </a:rPr>
              <a:t>PoC por sistemas: 5 meses entre H3 y el inicio de obra</a:t>
            </a:r>
            <a:endParaRPr lang="en-US" sz="1150" dirty="0"/>
          </a:p>
        </p:txBody>
      </p:sp>
      <p:sp>
        <p:nvSpPr>
          <p:cNvPr id="79" name="Text 77"/>
          <p:cNvSpPr txBox="1"/>
          <p:nvPr/>
        </p:nvSpPr>
        <p:spPr>
          <a:xfrm>
            <a:off x="548640" y="4434840"/>
            <a:ext cx="1645920" cy="457200"/>
          </a:xfrm>
          <a:prstGeom prst="rect">
            <a:avLst/>
          </a:prstGeom>
          <a:noFill/>
          <a:ln/>
        </p:spPr>
        <p:txBody>
          <a:bodyPr wrap="square" lIns="0" tIns="0" rIns="0" bIns="0" rtlCol="0" anchor="ctr"/>
          <a:lstStyle/>
          <a:p>
            <a:pPr indent="0" marL="0">
              <a:buNone/>
            </a:pPr>
            <a:r>
              <a:rPr lang="en-US" sz="1600" b="1" dirty="0">
                <a:solidFill>
                  <a:srgbClr val="1BAF7A"/>
                </a:solidFill>
                <a:latin typeface="Calibri" pitchFamily="34" charset="0"/>
                <a:ea typeface="Calibri" pitchFamily="34" charset="-122"/>
                <a:cs typeface="Calibri" pitchFamily="34" charset="-120"/>
              </a:rPr>
              <a:t>Fase 3</a:t>
            </a:r>
            <a:endParaRPr lang="en-US" sz="1600" dirty="0"/>
          </a:p>
        </p:txBody>
      </p:sp>
      <p:sp>
        <p:nvSpPr>
          <p:cNvPr id="80" name="Shape 78"/>
          <p:cNvSpPr/>
          <p:nvPr/>
        </p:nvSpPr>
        <p:spPr>
          <a:xfrm>
            <a:off x="6184773" y="4507992"/>
            <a:ext cx="1559509" cy="329184"/>
          </a:xfrm>
          <a:prstGeom prst="roundRect">
            <a:avLst>
              <a:gd name="adj" fmla="val 13889"/>
            </a:avLst>
          </a:prstGeom>
          <a:solidFill>
            <a:srgbClr val="FFF3DC"/>
          </a:solidFill>
          <a:ln w="12700">
            <a:solidFill>
              <a:srgbClr val="F5A623"/>
            </a:solidFill>
            <a:prstDash val="solid"/>
          </a:ln>
        </p:spPr>
      </p:sp>
      <p:sp>
        <p:nvSpPr>
          <p:cNvPr id="81" name="Text 79"/>
          <p:cNvSpPr txBox="1"/>
          <p:nvPr/>
        </p:nvSpPr>
        <p:spPr>
          <a:xfrm>
            <a:off x="6184773" y="4507992"/>
            <a:ext cx="1559509" cy="329184"/>
          </a:xfrm>
          <a:prstGeom prst="rect">
            <a:avLst/>
          </a:prstGeom>
          <a:noFill/>
          <a:ln/>
        </p:spPr>
        <p:txBody>
          <a:bodyPr wrap="square" lIns="0" tIns="0" rIns="0" bIns="0" rtlCol="0" anchor="ctr"/>
          <a:lstStyle/>
          <a:p>
            <a:pPr algn="ctr" indent="0" marL="0">
              <a:buNone/>
            </a:pPr>
            <a:r>
              <a:rPr lang="en-US" sz="1050" b="1" dirty="0">
                <a:solidFill>
                  <a:srgbClr val="B7760B"/>
                </a:solidFill>
                <a:latin typeface="Calibri" pitchFamily="34" charset="0"/>
                <a:ea typeface="Calibri" pitchFamily="34" charset="-122"/>
                <a:cs typeface="Calibri" pitchFamily="34" charset="-120"/>
              </a:rPr>
              <a:t>PoC</a:t>
            </a:r>
            <a:endParaRPr lang="en-US" sz="1050" dirty="0"/>
          </a:p>
        </p:txBody>
      </p:sp>
      <p:sp>
        <p:nvSpPr>
          <p:cNvPr id="82" name="Shape 80"/>
          <p:cNvSpPr/>
          <p:nvPr/>
        </p:nvSpPr>
        <p:spPr>
          <a:xfrm>
            <a:off x="6065901" y="4937760"/>
            <a:ext cx="237744" cy="237744"/>
          </a:xfrm>
          <a:prstGeom prst="diamond">
            <a:avLst/>
          </a:prstGeom>
          <a:solidFill>
            <a:srgbClr val="F5A623"/>
          </a:solidFill>
          <a:ln w="9525">
            <a:solidFill>
              <a:srgbClr val="0F2A43"/>
            </a:solidFill>
            <a:prstDash val="solid"/>
          </a:ln>
        </p:spPr>
      </p:sp>
      <p:sp>
        <p:nvSpPr>
          <p:cNvPr id="83" name="Text 81"/>
          <p:cNvSpPr txBox="1"/>
          <p:nvPr/>
        </p:nvSpPr>
        <p:spPr>
          <a:xfrm>
            <a:off x="5974461" y="5166360"/>
            <a:ext cx="420624" cy="219456"/>
          </a:xfrm>
          <a:prstGeom prst="rect">
            <a:avLst/>
          </a:prstGeom>
          <a:noFill/>
          <a:ln/>
        </p:spPr>
        <p:txBody>
          <a:bodyPr wrap="square" lIns="0" tIns="0" rIns="0" bIns="0" rtlCol="0" anchor="t"/>
          <a:lstStyle/>
          <a:p>
            <a:pPr algn="ctr" indent="0" marL="0">
              <a:buNone/>
            </a:pPr>
            <a:r>
              <a:rPr lang="en-US" sz="950" b="1" dirty="0">
                <a:solidFill>
                  <a:srgbClr val="1B1F24"/>
                </a:solidFill>
                <a:latin typeface="Calibri" pitchFamily="34" charset="0"/>
                <a:ea typeface="Calibri" pitchFamily="34" charset="-122"/>
                <a:cs typeface="Calibri" pitchFamily="34" charset="-120"/>
              </a:rPr>
              <a:t>H1</a:t>
            </a:r>
            <a:endParaRPr lang="en-US" sz="950" dirty="0"/>
          </a:p>
        </p:txBody>
      </p:sp>
      <p:sp>
        <p:nvSpPr>
          <p:cNvPr id="84" name="Shape 82"/>
          <p:cNvSpPr/>
          <p:nvPr/>
        </p:nvSpPr>
        <p:spPr>
          <a:xfrm>
            <a:off x="7625410" y="4937760"/>
            <a:ext cx="237744" cy="237744"/>
          </a:xfrm>
          <a:prstGeom prst="diamond">
            <a:avLst/>
          </a:prstGeom>
          <a:solidFill>
            <a:srgbClr val="F5A623"/>
          </a:solidFill>
          <a:ln w="9525">
            <a:solidFill>
              <a:srgbClr val="0F2A43"/>
            </a:solidFill>
            <a:prstDash val="solid"/>
          </a:ln>
        </p:spPr>
      </p:sp>
      <p:sp>
        <p:nvSpPr>
          <p:cNvPr id="85" name="Text 83"/>
          <p:cNvSpPr txBox="1"/>
          <p:nvPr/>
        </p:nvSpPr>
        <p:spPr>
          <a:xfrm>
            <a:off x="7533970" y="5166360"/>
            <a:ext cx="420624" cy="219456"/>
          </a:xfrm>
          <a:prstGeom prst="rect">
            <a:avLst/>
          </a:prstGeom>
          <a:noFill/>
          <a:ln/>
        </p:spPr>
        <p:txBody>
          <a:bodyPr wrap="square" lIns="0" tIns="0" rIns="0" bIns="0" rtlCol="0" anchor="t"/>
          <a:lstStyle/>
          <a:p>
            <a:pPr algn="ctr" indent="0" marL="0">
              <a:buNone/>
            </a:pPr>
            <a:r>
              <a:rPr lang="en-US" sz="950" b="1" dirty="0">
                <a:solidFill>
                  <a:srgbClr val="1B1F24"/>
                </a:solidFill>
                <a:latin typeface="Calibri" pitchFamily="34" charset="0"/>
                <a:ea typeface="Calibri" pitchFamily="34" charset="-122"/>
                <a:cs typeface="Calibri" pitchFamily="34" charset="-120"/>
              </a:rPr>
              <a:t>H2</a:t>
            </a:r>
            <a:endParaRPr lang="en-US" sz="950" dirty="0"/>
          </a:p>
        </p:txBody>
      </p:sp>
      <p:sp>
        <p:nvSpPr>
          <p:cNvPr id="86" name="Shape 84"/>
          <p:cNvSpPr/>
          <p:nvPr/>
        </p:nvSpPr>
        <p:spPr>
          <a:xfrm>
            <a:off x="7885328" y="4937760"/>
            <a:ext cx="237744" cy="237744"/>
          </a:xfrm>
          <a:prstGeom prst="diamond">
            <a:avLst/>
          </a:prstGeom>
          <a:solidFill>
            <a:srgbClr val="F5A623"/>
          </a:solidFill>
          <a:ln w="9525">
            <a:solidFill>
              <a:srgbClr val="0F2A43"/>
            </a:solidFill>
            <a:prstDash val="solid"/>
          </a:ln>
        </p:spPr>
      </p:sp>
      <p:sp>
        <p:nvSpPr>
          <p:cNvPr id="87" name="Text 85"/>
          <p:cNvSpPr txBox="1"/>
          <p:nvPr/>
        </p:nvSpPr>
        <p:spPr>
          <a:xfrm>
            <a:off x="7793888" y="5166360"/>
            <a:ext cx="420624" cy="219456"/>
          </a:xfrm>
          <a:prstGeom prst="rect">
            <a:avLst/>
          </a:prstGeom>
          <a:noFill/>
          <a:ln/>
        </p:spPr>
        <p:txBody>
          <a:bodyPr wrap="square" lIns="0" tIns="0" rIns="0" bIns="0" rtlCol="0" anchor="t"/>
          <a:lstStyle/>
          <a:p>
            <a:pPr algn="ctr" indent="0" marL="0">
              <a:buNone/>
            </a:pPr>
            <a:r>
              <a:rPr lang="en-US" sz="950" b="1" dirty="0">
                <a:solidFill>
                  <a:srgbClr val="1B1F24"/>
                </a:solidFill>
                <a:latin typeface="Calibri" pitchFamily="34" charset="0"/>
                <a:ea typeface="Calibri" pitchFamily="34" charset="-122"/>
                <a:cs typeface="Calibri" pitchFamily="34" charset="-120"/>
              </a:rPr>
              <a:t>H3</a:t>
            </a:r>
            <a:endParaRPr lang="en-US" sz="950" dirty="0"/>
          </a:p>
        </p:txBody>
      </p:sp>
      <p:sp>
        <p:nvSpPr>
          <p:cNvPr id="88" name="Shape 86"/>
          <p:cNvSpPr/>
          <p:nvPr/>
        </p:nvSpPr>
        <p:spPr>
          <a:xfrm>
            <a:off x="8783955" y="4507992"/>
            <a:ext cx="2339264" cy="329184"/>
          </a:xfrm>
          <a:prstGeom prst="roundRect">
            <a:avLst>
              <a:gd name="adj" fmla="val 13889"/>
            </a:avLst>
          </a:prstGeom>
          <a:solidFill>
            <a:srgbClr val="1BAF7A"/>
          </a:solidFill>
          <a:ln w="12700">
            <a:solidFill>
              <a:srgbClr val="1BAF7A"/>
            </a:solidFill>
            <a:prstDash val="solid"/>
          </a:ln>
        </p:spPr>
      </p:sp>
      <p:sp>
        <p:nvSpPr>
          <p:cNvPr id="89" name="Text 87"/>
          <p:cNvSpPr txBox="1"/>
          <p:nvPr/>
        </p:nvSpPr>
        <p:spPr>
          <a:xfrm>
            <a:off x="8783955" y="4507992"/>
            <a:ext cx="233926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Construcción desde M26</a:t>
            </a:r>
            <a:endParaRPr lang="en-US" sz="1050" dirty="0"/>
          </a:p>
        </p:txBody>
      </p:sp>
      <p:sp>
        <p:nvSpPr>
          <p:cNvPr id="90" name="Shape 88"/>
          <p:cNvSpPr/>
          <p:nvPr/>
        </p:nvSpPr>
        <p:spPr>
          <a:xfrm>
            <a:off x="7835722" y="4672584"/>
            <a:ext cx="902513" cy="914"/>
          </a:xfrm>
          <a:prstGeom prst="line">
            <a:avLst/>
          </a:prstGeom>
          <a:noFill/>
          <a:ln w="12700">
            <a:solidFill>
              <a:srgbClr val="56606B"/>
            </a:solidFill>
            <a:prstDash val="solid"/>
            <a:tailEnd type="triangle"/>
          </a:ln>
        </p:spPr>
      </p:sp>
      <p:sp>
        <p:nvSpPr>
          <p:cNvPr id="91" name="Text 89"/>
          <p:cNvSpPr txBox="1"/>
          <p:nvPr/>
        </p:nvSpPr>
        <p:spPr>
          <a:xfrm>
            <a:off x="2286000" y="5367528"/>
            <a:ext cx="9357055" cy="274320"/>
          </a:xfrm>
          <a:prstGeom prst="rect">
            <a:avLst/>
          </a:prstGeom>
          <a:noFill/>
          <a:ln/>
        </p:spPr>
        <p:txBody>
          <a:bodyPr wrap="square" lIns="0" tIns="0" rIns="0" bIns="0" rtlCol="0" anchor="t"/>
          <a:lstStyle/>
          <a:p>
            <a:pPr indent="0" marL="0">
              <a:buNone/>
            </a:pPr>
            <a:r>
              <a:rPr lang="en-US" sz="1150" i="1" dirty="0">
                <a:solidFill>
                  <a:srgbClr val="56606B"/>
                </a:solidFill>
                <a:latin typeface="Calibri" pitchFamily="34" charset="0"/>
                <a:ea typeface="Calibri" pitchFamily="34" charset="-122"/>
                <a:cs typeface="Calibri" pitchFamily="34" charset="-120"/>
              </a:rPr>
              <a:t>PoC integrado con comisionamiento; interfaces con la Fase 2</a:t>
            </a:r>
            <a:endParaRPr lang="en-US" sz="1150" dirty="0"/>
          </a:p>
        </p:txBody>
      </p:sp>
      <p:sp>
        <p:nvSpPr>
          <p:cNvPr id="92" name="Shape 90"/>
          <p:cNvSpPr/>
          <p:nvPr/>
        </p:nvSpPr>
        <p:spPr>
          <a:xfrm>
            <a:off x="548640" y="5715000"/>
            <a:ext cx="11094415" cy="548640"/>
          </a:xfrm>
          <a:prstGeom prst="roundRect">
            <a:avLst>
              <a:gd name="adj" fmla="val 13333"/>
            </a:avLst>
          </a:prstGeom>
          <a:solidFill>
            <a:srgbClr val="E2EBF4"/>
          </a:solidFill>
          <a:ln w="9525">
            <a:solidFill>
              <a:srgbClr val="E2EBF4"/>
            </a:solidFill>
            <a:prstDash val="solid"/>
          </a:ln>
        </p:spPr>
      </p:sp>
      <p:sp>
        <p:nvSpPr>
          <p:cNvPr id="93" name="Text 91"/>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400" b="1" dirty="0">
                <a:solidFill>
                  <a:srgbClr val="163A5C"/>
                </a:solidFill>
                <a:latin typeface="Calibri" pitchFamily="34" charset="0"/>
                <a:ea typeface="Calibri" pitchFamily="34" charset="-122"/>
                <a:cs typeface="Calibri" pitchFamily="34" charset="-120"/>
              </a:rPr>
              <a:t>Regla: ninguna fase inicia su construcción sin su PoC congelado (H2) y su plan de liberación publicado (H3).</a:t>
            </a:r>
            <a:endParaRPr lang="en-US" sz="1400" dirty="0"/>
          </a:p>
        </p:txBody>
      </p:sp>
      <p:sp>
        <p:nvSpPr>
          <p:cNvPr id="94" name="Text 9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Línea de tiempo del PoC del proyecto tipo</a:t>
            </a:r>
            <a:endParaRPr lang="en-US" sz="1000" dirty="0"/>
          </a:p>
        </p:txBody>
      </p:sp>
      <p:sp>
        <p:nvSpPr>
          <p:cNvPr id="95" name="Text 9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89</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Interfaces entre fases en 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Las flechas que cruzan de una fase a otra</a:t>
            </a:r>
            <a:endParaRPr lang="en-US" sz="15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2011680"/>
                <a:gridCol w="3108960"/>
                <a:gridCol w="292608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Interfaz</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De → 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Qué se entrega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Cómo se gestiona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Plataforma norte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Fase 1 → Fase 2</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Terreno nivelado para la instalación principal</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Acta de entrega de área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Bancos de ductos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Fase 1 → Fase 2</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Alimentación de la futura sala eléctrica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Predecesor de CWP-2.03-ELE-01</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Redes de agua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Fase 1 → Fase 3</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Redes para edificaciones complementarias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Predecesor de CWP-3.01-ARQ-01</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Acceso lateral bloque B</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Fase 2 → Fase 3</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Área libre para la ampliación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Restricción tipo «Interfaz entre fases»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Galería de servicios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Fase 2 → Fase 3</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Empalmes en parada programada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Lookahead conjunto (LA-05); riesgo R09</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Línea de tiempo del PoC del proyecto tipo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90</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10</a:t>
            </a:r>
            <a:endParaRPr lang="en-US" sz="9600" dirty="0"/>
          </a:p>
        </p:txBody>
      </p:sp>
      <p:sp>
        <p:nvSpPr>
          <p:cNvPr id="3" name="Text 1"/>
          <p:cNvSpPr txBox="1"/>
          <p:nvPr/>
        </p:nvSpPr>
        <p:spPr>
          <a:xfrm>
            <a:off x="548640" y="2697480"/>
            <a:ext cx="5943600" cy="118872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La plantilla Path_of_Construction.xlsx</a:t>
            </a:r>
            <a:endParaRPr lang="en-US" sz="30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Cómo se documenta el PoC en el kit</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Estructura y columnas</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Parámetros y columnas calculadas</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Diagrama de barras M1–M36</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Cómo llenarla paso a paso</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Relación con otras plantillas</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La plantilla Path_of_Construction.xlsx</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91</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Columnas de la plantilla (1 de 2)</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Columnas que se ingresan</a:t>
            </a:r>
            <a:endParaRPr lang="en-US" sz="15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560320"/>
                <a:gridCol w="7040880"/>
                <a:gridCol w="1371600"/>
              </a:tblGrid>
              <a:tr h="46634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Columna</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Qué se escribe</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Tipo</a:t>
                      </a:r>
                      <a:endParaRPr lang="en-US" sz="13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466344">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Secuencia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Orden del CWP dentro del PoC de su fase.</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Número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66344">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Fase del proyecto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Fase 1, 2 o 3 (lista).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Lista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66344">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CWP</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Código del CWP: CWP-&lt;fase&gt;.&lt;nn&gt;-&lt;disciplina&gt;-&lt;nn&gt;.</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Texto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66344">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Descripción</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Alcance resumido del CWP.</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Texto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66344">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Disciplina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CIV, EST, ARQ, MEC, TUB, ELE, INS, VAR (lista).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Lista</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66344">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HH estimadas</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Horas-hombre directas estimadas.</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Número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66344">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Predecesor</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CWP que debe terminar antes (fin–comienzo); «—» si no tiene.</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Texto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466344">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Inicio plan · Duración</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Fecha de inicio de construcción y duración en semanas.</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Fecha · número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466344">
                <a:tc>
                  <a:txBody>
                    <a:bodyPr/>
                    <a:lstStyle/>
                    <a:p>
                      <a:pPr indent="0" marL="0">
                        <a:buNone/>
                      </a:pPr>
                      <a:r>
                        <a:rPr lang="en-US" sz="1250" b="1" dirty="0">
                          <a:solidFill>
                            <a:srgbClr val="1B1F24"/>
                          </a:solidFill>
                          <a:latin typeface="Calibri" pitchFamily="34" charset="0"/>
                          <a:ea typeface="Calibri" pitchFamily="34" charset="-122"/>
                          <a:cs typeface="Calibri" pitchFamily="34" charset="-120"/>
                        </a:rPr>
                        <a:t>Sistema · Justificación</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Sistema de comisionamiento que completa; por qué va en esa posición (acuerdo del IPP).</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Texto</a:t>
                      </a:r>
                      <a:endParaRPr lang="en-US" sz="12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La plantilla Path_of_Construction.xlsx</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92</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Columnas de la plantilla (2 de 2)</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Columnas calculadas (no se editan)</a:t>
            </a:r>
            <a:endParaRPr lang="en-US" sz="15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560320"/>
                <a:gridCol w="4937760"/>
                <a:gridCol w="347472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Columna</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Cálculo</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Uso</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CWA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A partir del código del CWP.</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Agrupar por área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Fin plan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Inicio + duración.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Predecesores y carga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EWP IFC requerido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Inicio − anticipación de EWP (13 sem).</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Plan de ingeniería; K01</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Emisión del CWP</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Inicio − anticipación de CWP (10 sem).</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Ventana de planificación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Materiales en obra (RAS)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Inicio − anticipación RAS (10 días).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Plan de procura; K02</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Control de secuencia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«Conflicto» si el predecesor termina después del inicio; «OK» si no.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Verde u rojo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M1 … M36</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1 si el CWP se construye en ese mes: barra azul.</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Diagrama de barras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La plantilla Path_of_Construction.xlsx</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93</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Cómo llenar la plantilla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Instrucciones del kit (hoja Instrucciones)</a:t>
            </a:r>
            <a:endParaRPr lang="en-US" sz="1500" dirty="0"/>
          </a:p>
        </p:txBody>
      </p:sp>
      <p:sp>
        <p:nvSpPr>
          <p:cNvPr id="4" name="Shape 2"/>
          <p:cNvSpPr/>
          <p:nvPr/>
        </p:nvSpPr>
        <p:spPr>
          <a:xfrm>
            <a:off x="1566642" y="2103120"/>
            <a:ext cx="9058412" cy="0"/>
          </a:xfrm>
          <a:prstGeom prst="line">
            <a:avLst/>
          </a:prstGeom>
          <a:noFill/>
          <a:ln w="31750">
            <a:solidFill>
              <a:srgbClr val="B9CCE0"/>
            </a:solidFill>
            <a:prstDash val="solid"/>
          </a:ln>
        </p:spPr>
      </p:sp>
      <p:sp>
        <p:nvSpPr>
          <p:cNvPr id="5" name="Shape 3"/>
          <p:cNvSpPr/>
          <p:nvPr/>
        </p:nvSpPr>
        <p:spPr>
          <a:xfrm>
            <a:off x="1200882" y="1737360"/>
            <a:ext cx="731520" cy="731520"/>
          </a:xfrm>
          <a:prstGeom prst="ellipse">
            <a:avLst/>
          </a:prstGeom>
          <a:solidFill>
            <a:srgbClr val="1F4E79"/>
          </a:solidFill>
          <a:ln w="38100">
            <a:solidFill>
              <a:srgbClr val="FFFFFF"/>
            </a:solidFill>
            <a:prstDash val="solid"/>
          </a:ln>
        </p:spPr>
      </p:sp>
      <p:sp>
        <p:nvSpPr>
          <p:cNvPr id="6" name="Text 4"/>
          <p:cNvSpPr txBox="1"/>
          <p:nvPr/>
        </p:nvSpPr>
        <p:spPr>
          <a:xfrm>
            <a:off x="1200882"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036003" cy="3291840"/>
          </a:xfrm>
          <a:prstGeom prst="roundRect">
            <a:avLst>
              <a:gd name="adj" fmla="val 4491"/>
            </a:avLst>
          </a:prstGeom>
          <a:solidFill>
            <a:srgbClr val="F4F7FA"/>
          </a:solidFill>
          <a:ln w="9525">
            <a:solidFill>
              <a:srgbClr val="DDE4EC"/>
            </a:solidFill>
            <a:prstDash val="solid"/>
          </a:ln>
        </p:spPr>
      </p:sp>
      <p:sp>
        <p:nvSpPr>
          <p:cNvPr id="8" name="Text 6"/>
          <p:cNvSpPr txBox="1"/>
          <p:nvPr/>
        </p:nvSpPr>
        <p:spPr>
          <a:xfrm>
            <a:off x="731520"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Parámetros</a:t>
            </a:r>
            <a:endParaRPr lang="en-US" sz="1350" dirty="0"/>
          </a:p>
        </p:txBody>
      </p:sp>
      <p:sp>
        <p:nvSpPr>
          <p:cNvPr id="9" name="Text 7"/>
          <p:cNvSpPr txBox="1"/>
          <p:nvPr/>
        </p:nvSpPr>
        <p:spPr>
          <a:xfrm>
            <a:off x="731520"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Ajustar en la fila 3 el mes M1 y las anticipaciones de EWP, CWP y RAS.</a:t>
            </a:r>
            <a:endParaRPr lang="en-US" sz="1450" dirty="0"/>
          </a:p>
        </p:txBody>
      </p:sp>
      <p:sp>
        <p:nvSpPr>
          <p:cNvPr id="10" name="Shape 8"/>
          <p:cNvSpPr/>
          <p:nvPr/>
        </p:nvSpPr>
        <p:spPr>
          <a:xfrm>
            <a:off x="3465485" y="1737360"/>
            <a:ext cx="731520" cy="731520"/>
          </a:xfrm>
          <a:prstGeom prst="ellipse">
            <a:avLst/>
          </a:prstGeom>
          <a:solidFill>
            <a:srgbClr val="1F4E79"/>
          </a:solidFill>
          <a:ln w="38100">
            <a:solidFill>
              <a:srgbClr val="FFFFFF"/>
            </a:solidFill>
            <a:prstDash val="solid"/>
          </a:ln>
        </p:spPr>
      </p:sp>
      <p:sp>
        <p:nvSpPr>
          <p:cNvPr id="11" name="Text 9"/>
          <p:cNvSpPr txBox="1"/>
          <p:nvPr/>
        </p:nvSpPr>
        <p:spPr>
          <a:xfrm>
            <a:off x="346548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2813243" y="2743200"/>
            <a:ext cx="2036003" cy="3291840"/>
          </a:xfrm>
          <a:prstGeom prst="roundRect">
            <a:avLst>
              <a:gd name="adj" fmla="val 4491"/>
            </a:avLst>
          </a:prstGeom>
          <a:solidFill>
            <a:srgbClr val="F4F7FA"/>
          </a:solidFill>
          <a:ln w="9525">
            <a:solidFill>
              <a:srgbClr val="DDE4EC"/>
            </a:solidFill>
            <a:prstDash val="solid"/>
          </a:ln>
        </p:spPr>
      </p:sp>
      <p:sp>
        <p:nvSpPr>
          <p:cNvPr id="13" name="Text 11"/>
          <p:cNvSpPr txBox="1"/>
          <p:nvPr/>
        </p:nvSpPr>
        <p:spPr>
          <a:xfrm>
            <a:off x="2996123"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Limpiar</a:t>
            </a:r>
            <a:endParaRPr lang="en-US" sz="1350" dirty="0"/>
          </a:p>
        </p:txBody>
      </p:sp>
      <p:sp>
        <p:nvSpPr>
          <p:cNvPr id="14" name="Text 12"/>
          <p:cNvSpPr txBox="1"/>
          <p:nvPr/>
        </p:nvSpPr>
        <p:spPr>
          <a:xfrm>
            <a:off x="2996123"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Borrar las filas amarillas de ejemplo.</a:t>
            </a:r>
            <a:endParaRPr lang="en-US" sz="1450" dirty="0"/>
          </a:p>
        </p:txBody>
      </p:sp>
      <p:sp>
        <p:nvSpPr>
          <p:cNvPr id="15" name="Shape 13"/>
          <p:cNvSpPr/>
          <p:nvPr/>
        </p:nvSpPr>
        <p:spPr>
          <a:xfrm>
            <a:off x="5730088" y="1737360"/>
            <a:ext cx="731520" cy="731520"/>
          </a:xfrm>
          <a:prstGeom prst="ellipse">
            <a:avLst/>
          </a:prstGeom>
          <a:solidFill>
            <a:srgbClr val="1F4E79"/>
          </a:solidFill>
          <a:ln w="38100">
            <a:solidFill>
              <a:srgbClr val="FFFFFF"/>
            </a:solidFill>
            <a:prstDash val="solid"/>
          </a:ln>
        </p:spPr>
      </p:sp>
      <p:sp>
        <p:nvSpPr>
          <p:cNvPr id="16" name="Text 14"/>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5077846" y="2743200"/>
            <a:ext cx="2036003" cy="3291840"/>
          </a:xfrm>
          <a:prstGeom prst="roundRect">
            <a:avLst>
              <a:gd name="adj" fmla="val 4491"/>
            </a:avLst>
          </a:prstGeom>
          <a:solidFill>
            <a:srgbClr val="F4F7FA"/>
          </a:solidFill>
          <a:ln w="9525">
            <a:solidFill>
              <a:srgbClr val="DDE4EC"/>
            </a:solidFill>
            <a:prstDash val="solid"/>
          </a:ln>
        </p:spPr>
      </p:sp>
      <p:sp>
        <p:nvSpPr>
          <p:cNvPr id="18" name="Text 16"/>
          <p:cNvSpPr txBox="1"/>
          <p:nvPr/>
        </p:nvSpPr>
        <p:spPr>
          <a:xfrm>
            <a:off x="5260726"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Registrar</a:t>
            </a:r>
            <a:endParaRPr lang="en-US" sz="1350" dirty="0"/>
          </a:p>
        </p:txBody>
      </p:sp>
      <p:sp>
        <p:nvSpPr>
          <p:cNvPr id="19" name="Text 17"/>
          <p:cNvSpPr txBox="1"/>
          <p:nvPr/>
        </p:nvSpPr>
        <p:spPr>
          <a:xfrm>
            <a:off x="5260726"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Los CWP en el orden acordado en el taller, con predecesor, inicio y duración.</a:t>
            </a:r>
            <a:endParaRPr lang="en-US" sz="1450" dirty="0"/>
          </a:p>
        </p:txBody>
      </p:sp>
      <p:sp>
        <p:nvSpPr>
          <p:cNvPr id="20" name="Shape 18"/>
          <p:cNvSpPr/>
          <p:nvPr/>
        </p:nvSpPr>
        <p:spPr>
          <a:xfrm>
            <a:off x="7994691" y="1737360"/>
            <a:ext cx="731520" cy="731520"/>
          </a:xfrm>
          <a:prstGeom prst="ellipse">
            <a:avLst/>
          </a:prstGeom>
          <a:solidFill>
            <a:srgbClr val="1F4E79"/>
          </a:solidFill>
          <a:ln w="38100">
            <a:solidFill>
              <a:srgbClr val="FFFFFF"/>
            </a:solidFill>
            <a:prstDash val="solid"/>
          </a:ln>
        </p:spPr>
      </p:sp>
      <p:sp>
        <p:nvSpPr>
          <p:cNvPr id="21" name="Text 19"/>
          <p:cNvSpPr txBox="1"/>
          <p:nvPr/>
        </p:nvSpPr>
        <p:spPr>
          <a:xfrm>
            <a:off x="799469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7342449" y="2743200"/>
            <a:ext cx="2036003" cy="3291840"/>
          </a:xfrm>
          <a:prstGeom prst="roundRect">
            <a:avLst>
              <a:gd name="adj" fmla="val 4491"/>
            </a:avLst>
          </a:prstGeom>
          <a:solidFill>
            <a:srgbClr val="F4F7FA"/>
          </a:solidFill>
          <a:ln w="9525">
            <a:solidFill>
              <a:srgbClr val="DDE4EC"/>
            </a:solidFill>
            <a:prstDash val="solid"/>
          </a:ln>
        </p:spPr>
      </p:sp>
      <p:sp>
        <p:nvSpPr>
          <p:cNvPr id="23" name="Text 21"/>
          <p:cNvSpPr txBox="1"/>
          <p:nvPr/>
        </p:nvSpPr>
        <p:spPr>
          <a:xfrm>
            <a:off x="7525329"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Controlar</a:t>
            </a:r>
            <a:endParaRPr lang="en-US" sz="1350" dirty="0"/>
          </a:p>
        </p:txBody>
      </p:sp>
      <p:sp>
        <p:nvSpPr>
          <p:cNvPr id="24" name="Text 22"/>
          <p:cNvSpPr txBox="1"/>
          <p:nvPr/>
        </p:nvSpPr>
        <p:spPr>
          <a:xfrm>
            <a:off x="7525329"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Revisar «Control de secuencia»: no debe haber conflictos.</a:t>
            </a:r>
            <a:endParaRPr lang="en-US" sz="1450" dirty="0"/>
          </a:p>
        </p:txBody>
      </p:sp>
      <p:sp>
        <p:nvSpPr>
          <p:cNvPr id="25" name="Shape 23"/>
          <p:cNvSpPr/>
          <p:nvPr/>
        </p:nvSpPr>
        <p:spPr>
          <a:xfrm>
            <a:off x="10259294" y="1737360"/>
            <a:ext cx="731520" cy="731520"/>
          </a:xfrm>
          <a:prstGeom prst="ellipse">
            <a:avLst/>
          </a:prstGeom>
          <a:solidFill>
            <a:srgbClr val="F5A623"/>
          </a:solidFill>
          <a:ln w="38100">
            <a:solidFill>
              <a:srgbClr val="FFFFFF"/>
            </a:solidFill>
            <a:prstDash val="solid"/>
          </a:ln>
        </p:spPr>
      </p:sp>
      <p:sp>
        <p:nvSpPr>
          <p:cNvPr id="26" name="Text 24"/>
          <p:cNvSpPr txBox="1"/>
          <p:nvPr/>
        </p:nvSpPr>
        <p:spPr>
          <a:xfrm>
            <a:off x="10259294" y="1737360"/>
            <a:ext cx="731520" cy="731520"/>
          </a:xfrm>
          <a:prstGeom prst="rect">
            <a:avLst/>
          </a:prstGeom>
          <a:noFill/>
          <a:ln/>
        </p:spPr>
        <p:txBody>
          <a:bodyPr wrap="square" lIns="0" tIns="0" rIns="0" bIns="0" rtlCol="0" anchor="ctr"/>
          <a:lstStyle/>
          <a:p>
            <a:pPr algn="ctr" indent="0" marL="0">
              <a:buNone/>
            </a:pPr>
            <a:r>
              <a:rPr lang="en-US" sz="2200" b="1" dirty="0">
                <a:solidFill>
                  <a:srgbClr val="0F2A43"/>
                </a:solidFill>
                <a:latin typeface="Calibri" pitchFamily="34" charset="0"/>
                <a:ea typeface="Calibri" pitchFamily="34" charset="-122"/>
                <a:cs typeface="Calibri" pitchFamily="34" charset="-120"/>
              </a:rPr>
              <a:t>5</a:t>
            </a:r>
            <a:endParaRPr lang="en-US" sz="2200" dirty="0"/>
          </a:p>
        </p:txBody>
      </p:sp>
      <p:sp>
        <p:nvSpPr>
          <p:cNvPr id="27" name="Shape 25"/>
          <p:cNvSpPr/>
          <p:nvPr/>
        </p:nvSpPr>
        <p:spPr>
          <a:xfrm>
            <a:off x="9607052" y="2743200"/>
            <a:ext cx="2036003" cy="3291840"/>
          </a:xfrm>
          <a:prstGeom prst="roundRect">
            <a:avLst>
              <a:gd name="adj" fmla="val 4491"/>
            </a:avLst>
          </a:prstGeom>
          <a:solidFill>
            <a:srgbClr val="F4F7FA"/>
          </a:solidFill>
          <a:ln w="9525">
            <a:solidFill>
              <a:srgbClr val="DDE4EC"/>
            </a:solidFill>
            <a:prstDash val="solid"/>
          </a:ln>
        </p:spPr>
      </p:sp>
      <p:sp>
        <p:nvSpPr>
          <p:cNvPr id="28" name="Text 26"/>
          <p:cNvSpPr txBox="1"/>
          <p:nvPr/>
        </p:nvSpPr>
        <p:spPr>
          <a:xfrm>
            <a:off x="9789932"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163A5C"/>
                </a:solidFill>
                <a:latin typeface="Calibri" pitchFamily="34" charset="0"/>
                <a:ea typeface="Calibri" pitchFamily="34" charset="-122"/>
                <a:cs typeface="Calibri" pitchFamily="34" charset="-120"/>
              </a:rPr>
              <a:t>Trasladar</a:t>
            </a:r>
            <a:endParaRPr lang="en-US" sz="1350" dirty="0"/>
          </a:p>
        </p:txBody>
      </p:sp>
      <p:sp>
        <p:nvSpPr>
          <p:cNvPr id="29" name="Text 27"/>
          <p:cNvSpPr txBox="1"/>
          <p:nvPr/>
        </p:nvSpPr>
        <p:spPr>
          <a:xfrm>
            <a:off x="9789932"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Llevar «EWP IFC requerido» y «RAS» al plan de ingeniería y de procura, y a Seguimiento_Paquetes.</a:t>
            </a:r>
            <a:endParaRPr lang="en-US" sz="1450" dirty="0"/>
          </a:p>
        </p:txBody>
      </p:sp>
      <p:sp>
        <p:nvSpPr>
          <p:cNvPr id="30" name="Text 2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La plantilla Path_of_Construction.xlsx</a:t>
            </a:r>
            <a:endParaRPr lang="en-US" sz="1000" dirty="0"/>
          </a:p>
        </p:txBody>
      </p:sp>
      <p:sp>
        <p:nvSpPr>
          <p:cNvPr id="31" name="Text 2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94</a:t>
            </a:r>
            <a:endParaRPr lang="en-US" sz="1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 plantilla en el kit</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De dónde vienen sus datos y a dónde van</a:t>
            </a:r>
            <a:endParaRPr lang="en-US" sz="1500" dirty="0"/>
          </a:p>
        </p:txBody>
      </p:sp>
      <p:sp>
        <p:nvSpPr>
          <p:cNvPr id="4" name="Shape 2"/>
          <p:cNvSpPr/>
          <p:nvPr/>
        </p:nvSpPr>
        <p:spPr>
          <a:xfrm>
            <a:off x="548640" y="2011680"/>
            <a:ext cx="1911645" cy="3291840"/>
          </a:xfrm>
          <a:prstGeom prst="roundRect">
            <a:avLst>
              <a:gd name="adj" fmla="val 3827"/>
            </a:avLst>
          </a:prstGeom>
          <a:solidFill>
            <a:srgbClr val="F4F7FA"/>
          </a:solidFill>
          <a:ln w="9525">
            <a:solidFill>
              <a:srgbClr val="DDE4EC"/>
            </a:solidFill>
            <a:prstDash val="solid"/>
          </a:ln>
        </p:spPr>
      </p:sp>
      <p:sp>
        <p:nvSpPr>
          <p:cNvPr id="5" name="Shape 3"/>
          <p:cNvSpPr/>
          <p:nvPr/>
        </p:nvSpPr>
        <p:spPr>
          <a:xfrm>
            <a:off x="713232" y="2194560"/>
            <a:ext cx="1582461" cy="640080"/>
          </a:xfrm>
          <a:prstGeom prst="roundRect">
            <a:avLst>
              <a:gd name="adj" fmla="val 11429"/>
            </a:avLst>
          </a:prstGeom>
          <a:solidFill>
            <a:srgbClr val="1F4E79"/>
          </a:solidFill>
          <a:ln w="12700">
            <a:solidFill>
              <a:srgbClr val="1F4E79"/>
            </a:solidFill>
            <a:prstDash val="solid"/>
          </a:ln>
        </p:spPr>
      </p:sp>
      <p:sp>
        <p:nvSpPr>
          <p:cNvPr id="6" name="Text 4"/>
          <p:cNvSpPr txBox="1"/>
          <p:nvPr/>
        </p:nvSpPr>
        <p:spPr>
          <a:xfrm>
            <a:off x="713232"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Definicion_​CWA</a:t>
            </a:r>
            <a:endParaRPr lang="en-US" sz="1600" dirty="0"/>
          </a:p>
        </p:txBody>
      </p:sp>
      <p:sp>
        <p:nvSpPr>
          <p:cNvPr id="7" name="Text 5"/>
          <p:cNvSpPr txBox="1"/>
          <p:nvPr/>
        </p:nvSpPr>
        <p:spPr>
          <a:xfrm>
            <a:off x="749808"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CWA, límites, secuencia y predecesoras de cada fase.</a:t>
            </a:r>
            <a:endParaRPr lang="en-US" sz="1450" dirty="0"/>
          </a:p>
        </p:txBody>
      </p:sp>
      <p:pic>
        <p:nvPicPr>
          <p:cNvPr id="8" name="Image 0" descr="preencoded.png">    </p:cNvPr>
          <p:cNvPicPr>
            <a:picLocks noChangeAspect="1"/>
          </p:cNvPicPr>
          <p:nvPr/>
        </p:nvPicPr>
        <p:blipFill>
          <a:blip r:embed="rId1"/>
          <a:stretch>
            <a:fillRect/>
          </a:stretch>
        </p:blipFill>
        <p:spPr>
          <a:xfrm>
            <a:off x="2496861" y="3502152"/>
            <a:ext cx="310896" cy="310896"/>
          </a:xfrm>
          <a:prstGeom prst="rect">
            <a:avLst/>
          </a:prstGeom>
        </p:spPr>
      </p:pic>
      <p:sp>
        <p:nvSpPr>
          <p:cNvPr id="9" name="Shape 6"/>
          <p:cNvSpPr/>
          <p:nvPr/>
        </p:nvSpPr>
        <p:spPr>
          <a:xfrm>
            <a:off x="2844333" y="2011680"/>
            <a:ext cx="1911645" cy="3291840"/>
          </a:xfrm>
          <a:prstGeom prst="roundRect">
            <a:avLst>
              <a:gd name="adj" fmla="val 3827"/>
            </a:avLst>
          </a:prstGeom>
          <a:solidFill>
            <a:srgbClr val="F4F7FA"/>
          </a:solidFill>
          <a:ln w="9525">
            <a:solidFill>
              <a:srgbClr val="DDE4EC"/>
            </a:solidFill>
            <a:prstDash val="solid"/>
          </a:ln>
        </p:spPr>
      </p:sp>
      <p:sp>
        <p:nvSpPr>
          <p:cNvPr id="10" name="Shape 7"/>
          <p:cNvSpPr/>
          <p:nvPr/>
        </p:nvSpPr>
        <p:spPr>
          <a:xfrm>
            <a:off x="3008925" y="2194560"/>
            <a:ext cx="1582461" cy="640080"/>
          </a:xfrm>
          <a:prstGeom prst="roundRect">
            <a:avLst>
              <a:gd name="adj" fmla="val 11429"/>
            </a:avLst>
          </a:prstGeom>
          <a:solidFill>
            <a:srgbClr val="1F4E79"/>
          </a:solidFill>
          <a:ln w="12700">
            <a:solidFill>
              <a:srgbClr val="1F4E79"/>
            </a:solidFill>
            <a:prstDash val="solid"/>
          </a:ln>
        </p:spPr>
      </p:sp>
      <p:sp>
        <p:nvSpPr>
          <p:cNvPr id="11" name="Text 8"/>
          <p:cNvSpPr txBox="1"/>
          <p:nvPr/>
        </p:nvSpPr>
        <p:spPr>
          <a:xfrm>
            <a:off x="3008925" y="2194560"/>
            <a:ext cx="1582461" cy="64008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Acta del taller IPP</a:t>
            </a:r>
            <a:endParaRPr lang="en-US" sz="1300" dirty="0"/>
          </a:p>
        </p:txBody>
      </p:sp>
      <p:sp>
        <p:nvSpPr>
          <p:cNvPr id="12" name="Text 9"/>
          <p:cNvSpPr txBox="1"/>
          <p:nvPr/>
        </p:nvSpPr>
        <p:spPr>
          <a:xfrm>
            <a:off x="3045501"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Secuencia acordada, supuestos, decisiones y firmas.</a:t>
            </a:r>
            <a:endParaRPr lang="en-US" sz="1450" dirty="0"/>
          </a:p>
        </p:txBody>
      </p:sp>
      <p:pic>
        <p:nvPicPr>
          <p:cNvPr id="13" name="Image 1" descr="preencoded.png">    </p:cNvPr>
          <p:cNvPicPr>
            <a:picLocks noChangeAspect="1"/>
          </p:cNvPicPr>
          <p:nvPr/>
        </p:nvPicPr>
        <p:blipFill>
          <a:blip r:embed="rId2"/>
          <a:stretch>
            <a:fillRect/>
          </a:stretch>
        </p:blipFill>
        <p:spPr>
          <a:xfrm>
            <a:off x="4792553" y="3502152"/>
            <a:ext cx="310896" cy="310896"/>
          </a:xfrm>
          <a:prstGeom prst="rect">
            <a:avLst/>
          </a:prstGeom>
        </p:spPr>
      </p:pic>
      <p:sp>
        <p:nvSpPr>
          <p:cNvPr id="14" name="Shape 10"/>
          <p:cNvSpPr/>
          <p:nvPr/>
        </p:nvSpPr>
        <p:spPr>
          <a:xfrm>
            <a:off x="5140025" y="2011680"/>
            <a:ext cx="1911645" cy="3291840"/>
          </a:xfrm>
          <a:prstGeom prst="roundRect">
            <a:avLst>
              <a:gd name="adj" fmla="val 3827"/>
            </a:avLst>
          </a:prstGeom>
          <a:solidFill>
            <a:srgbClr val="FFF3DC"/>
          </a:solidFill>
          <a:ln w="9525">
            <a:solidFill>
              <a:srgbClr val="DDE4EC"/>
            </a:solidFill>
            <a:prstDash val="solid"/>
          </a:ln>
        </p:spPr>
      </p:sp>
      <p:sp>
        <p:nvSpPr>
          <p:cNvPr id="15" name="Shape 11"/>
          <p:cNvSpPr/>
          <p:nvPr/>
        </p:nvSpPr>
        <p:spPr>
          <a:xfrm>
            <a:off x="5304617" y="2194560"/>
            <a:ext cx="1582461" cy="640080"/>
          </a:xfrm>
          <a:prstGeom prst="roundRect">
            <a:avLst>
              <a:gd name="adj" fmla="val 11429"/>
            </a:avLst>
          </a:prstGeom>
          <a:solidFill>
            <a:srgbClr val="1F4E79"/>
          </a:solidFill>
          <a:ln w="12700">
            <a:solidFill>
              <a:srgbClr val="1F4E79"/>
            </a:solidFill>
            <a:prstDash val="solid"/>
          </a:ln>
        </p:spPr>
      </p:sp>
      <p:sp>
        <p:nvSpPr>
          <p:cNvPr id="16" name="Text 12"/>
          <p:cNvSpPr txBox="1"/>
          <p:nvPr/>
        </p:nvSpPr>
        <p:spPr>
          <a:xfrm>
            <a:off x="5304617" y="2194560"/>
            <a:ext cx="1582461" cy="64008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Path_​of_​Construction</a:t>
            </a:r>
            <a:endParaRPr lang="en-US" sz="1300" dirty="0"/>
          </a:p>
        </p:txBody>
      </p:sp>
      <p:sp>
        <p:nvSpPr>
          <p:cNvPr id="17" name="Text 13"/>
          <p:cNvSpPr txBox="1"/>
          <p:nvPr/>
        </p:nvSpPr>
        <p:spPr>
          <a:xfrm>
            <a:off x="5341193"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CWP secuenciados y fechas requeridas; control de secuencia.</a:t>
            </a:r>
            <a:endParaRPr lang="en-US" sz="1450" dirty="0"/>
          </a:p>
        </p:txBody>
      </p:sp>
      <p:pic>
        <p:nvPicPr>
          <p:cNvPr id="18" name="Image 2" descr="preencoded.png">    </p:cNvPr>
          <p:cNvPicPr>
            <a:picLocks noChangeAspect="1"/>
          </p:cNvPicPr>
          <p:nvPr/>
        </p:nvPicPr>
        <p:blipFill>
          <a:blip r:embed="rId3"/>
          <a:stretch>
            <a:fillRect/>
          </a:stretch>
        </p:blipFill>
        <p:spPr>
          <a:xfrm>
            <a:off x="7088246" y="3502152"/>
            <a:ext cx="310896" cy="310896"/>
          </a:xfrm>
          <a:prstGeom prst="rect">
            <a:avLst/>
          </a:prstGeom>
        </p:spPr>
      </p:pic>
      <p:sp>
        <p:nvSpPr>
          <p:cNvPr id="19" name="Shape 14"/>
          <p:cNvSpPr/>
          <p:nvPr/>
        </p:nvSpPr>
        <p:spPr>
          <a:xfrm>
            <a:off x="7435718" y="2011680"/>
            <a:ext cx="1911645" cy="3291840"/>
          </a:xfrm>
          <a:prstGeom prst="roundRect">
            <a:avLst>
              <a:gd name="adj" fmla="val 3827"/>
            </a:avLst>
          </a:prstGeom>
          <a:solidFill>
            <a:srgbClr val="F4F7FA"/>
          </a:solidFill>
          <a:ln w="9525">
            <a:solidFill>
              <a:srgbClr val="DDE4EC"/>
            </a:solidFill>
            <a:prstDash val="solid"/>
          </a:ln>
        </p:spPr>
      </p:sp>
      <p:sp>
        <p:nvSpPr>
          <p:cNvPr id="20" name="Shape 15"/>
          <p:cNvSpPr/>
          <p:nvPr/>
        </p:nvSpPr>
        <p:spPr>
          <a:xfrm>
            <a:off x="7600310" y="2194560"/>
            <a:ext cx="1582461" cy="640080"/>
          </a:xfrm>
          <a:prstGeom prst="roundRect">
            <a:avLst>
              <a:gd name="adj" fmla="val 11429"/>
            </a:avLst>
          </a:prstGeom>
          <a:solidFill>
            <a:srgbClr val="1F4E79"/>
          </a:solidFill>
          <a:ln w="12700">
            <a:solidFill>
              <a:srgbClr val="1F4E79"/>
            </a:solidFill>
            <a:prstDash val="solid"/>
          </a:ln>
        </p:spPr>
      </p:sp>
      <p:sp>
        <p:nvSpPr>
          <p:cNvPr id="21" name="Text 16"/>
          <p:cNvSpPr txBox="1"/>
          <p:nvPr/>
        </p:nvSpPr>
        <p:spPr>
          <a:xfrm>
            <a:off x="7600310" y="2194560"/>
            <a:ext cx="1582461" cy="64008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Seguimiento_​Paquetes</a:t>
            </a:r>
            <a:endParaRPr lang="en-US" sz="1300" dirty="0"/>
          </a:p>
        </p:txBody>
      </p:sp>
      <p:sp>
        <p:nvSpPr>
          <p:cNvPr id="22" name="Text 17"/>
          <p:cNvSpPr txBox="1"/>
          <p:nvPr/>
        </p:nvSpPr>
        <p:spPr>
          <a:xfrm>
            <a:off x="7636886"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Fechas plan de CWP, EWP y PWP; avance y situación.</a:t>
            </a:r>
            <a:endParaRPr lang="en-US" sz="1450" dirty="0"/>
          </a:p>
        </p:txBody>
      </p:sp>
      <p:pic>
        <p:nvPicPr>
          <p:cNvPr id="23" name="Image 3" descr="preencoded.png">    </p:cNvPr>
          <p:cNvPicPr>
            <a:picLocks noChangeAspect="1"/>
          </p:cNvPicPr>
          <p:nvPr/>
        </p:nvPicPr>
        <p:blipFill>
          <a:blip r:embed="rId4"/>
          <a:stretch>
            <a:fillRect/>
          </a:stretch>
        </p:blipFill>
        <p:spPr>
          <a:xfrm>
            <a:off x="9383939" y="3502152"/>
            <a:ext cx="310896" cy="310896"/>
          </a:xfrm>
          <a:prstGeom prst="rect">
            <a:avLst/>
          </a:prstGeom>
        </p:spPr>
      </p:pic>
      <p:sp>
        <p:nvSpPr>
          <p:cNvPr id="24" name="Shape 18"/>
          <p:cNvSpPr/>
          <p:nvPr/>
        </p:nvSpPr>
        <p:spPr>
          <a:xfrm>
            <a:off x="9731411" y="2011680"/>
            <a:ext cx="1911645" cy="3291840"/>
          </a:xfrm>
          <a:prstGeom prst="roundRect">
            <a:avLst>
              <a:gd name="adj" fmla="val 3827"/>
            </a:avLst>
          </a:prstGeom>
          <a:solidFill>
            <a:srgbClr val="F4F7FA"/>
          </a:solidFill>
          <a:ln w="9525">
            <a:solidFill>
              <a:srgbClr val="DDE4EC"/>
            </a:solidFill>
            <a:prstDash val="solid"/>
          </a:ln>
        </p:spPr>
      </p:sp>
      <p:sp>
        <p:nvSpPr>
          <p:cNvPr id="25" name="Shape 19"/>
          <p:cNvSpPr/>
          <p:nvPr/>
        </p:nvSpPr>
        <p:spPr>
          <a:xfrm>
            <a:off x="9896003" y="2194560"/>
            <a:ext cx="1582461" cy="640080"/>
          </a:xfrm>
          <a:prstGeom prst="roundRect">
            <a:avLst>
              <a:gd name="adj" fmla="val 11429"/>
            </a:avLst>
          </a:prstGeom>
          <a:solidFill>
            <a:srgbClr val="1F4E79"/>
          </a:solidFill>
          <a:ln w="12700">
            <a:solidFill>
              <a:srgbClr val="1F4E79"/>
            </a:solidFill>
            <a:prstDash val="solid"/>
          </a:ln>
        </p:spPr>
      </p:sp>
      <p:sp>
        <p:nvSpPr>
          <p:cNvPr id="26" name="Text 20"/>
          <p:cNvSpPr txBox="1"/>
          <p:nvPr/>
        </p:nvSpPr>
        <p:spPr>
          <a:xfrm>
            <a:off x="9896003" y="2194560"/>
            <a:ext cx="1582461" cy="64008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Programa_​Liberacion_​IWP</a:t>
            </a:r>
            <a:endParaRPr lang="en-US" sz="1300" dirty="0"/>
          </a:p>
        </p:txBody>
      </p:sp>
      <p:sp>
        <p:nvSpPr>
          <p:cNvPr id="27" name="Text 21"/>
          <p:cNvSpPr txBox="1"/>
          <p:nvPr/>
        </p:nvSpPr>
        <p:spPr>
          <a:xfrm>
            <a:off x="9932579"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IWP del CWP con los plazos de la fase; lookahead.</a:t>
            </a:r>
            <a:endParaRPr lang="en-US" sz="1450" dirty="0"/>
          </a:p>
        </p:txBody>
      </p:sp>
      <p:sp>
        <p:nvSpPr>
          <p:cNvPr id="28" name="Text 2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La plantilla Path_of_Construction.xlsx</a:t>
            </a:r>
            <a:endParaRPr lang="en-US" sz="1000" dirty="0"/>
          </a:p>
        </p:txBody>
      </p:sp>
      <p:sp>
        <p:nvSpPr>
          <p:cNvPr id="29" name="Text 2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95</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11</a:t>
            </a:r>
            <a:endParaRPr lang="en-US" sz="9600" dirty="0"/>
          </a:p>
        </p:txBody>
      </p:sp>
      <p:sp>
        <p:nvSpPr>
          <p:cNvPr id="3" name="Text 1"/>
          <p:cNvSpPr txBox="1"/>
          <p:nvPr/>
        </p:nvSpPr>
        <p:spPr>
          <a:xfrm>
            <a:off x="548640" y="2697480"/>
            <a:ext cx="594360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Del PoC a la ejecución</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Cómo la ruta guía el trabajo diario en el campo</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La cadena completa</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CWP → IWP → lookahead</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Sistemas, SWP y TOP</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El PoC en la aplicación AWP</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Del PoC a la ejecución</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96</a:t>
            </a:r>
            <a:endParaRPr lang="en-US" sz="1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La cadena completa, del PoC al sistema entregado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Cada eslabón hereda la secuencia del anterior</a:t>
            </a:r>
            <a:endParaRPr lang="en-US" sz="1500" dirty="0"/>
          </a:p>
        </p:txBody>
      </p:sp>
      <p:sp>
        <p:nvSpPr>
          <p:cNvPr id="4" name="Shape 2"/>
          <p:cNvSpPr/>
          <p:nvPr/>
        </p:nvSpPr>
        <p:spPr>
          <a:xfrm>
            <a:off x="548640" y="1737360"/>
            <a:ext cx="1635709" cy="3611880"/>
          </a:xfrm>
          <a:prstGeom prst="roundRect">
            <a:avLst>
              <a:gd name="adj" fmla="val 4472"/>
            </a:avLst>
          </a:prstGeom>
          <a:solidFill>
            <a:srgbClr val="F4F7FA"/>
          </a:solidFill>
          <a:ln w="9525">
            <a:solidFill>
              <a:srgbClr val="DDE4EC"/>
            </a:solidFill>
            <a:prstDash val="solid"/>
          </a:ln>
        </p:spPr>
      </p:sp>
      <p:sp>
        <p:nvSpPr>
          <p:cNvPr id="5" name="Shape 3"/>
          <p:cNvSpPr/>
          <p:nvPr/>
        </p:nvSpPr>
        <p:spPr>
          <a:xfrm>
            <a:off x="909295" y="1965960"/>
            <a:ext cx="914400" cy="914400"/>
          </a:xfrm>
          <a:prstGeom prst="ellipse">
            <a:avLst/>
          </a:prstGeom>
          <a:solidFill>
            <a:srgbClr val="0F2A43"/>
          </a:solidFill>
          <a:ln w="12700">
            <a:solidFill>
              <a:srgbClr val="0F2A43"/>
            </a:solidFill>
            <a:prstDash val="solid"/>
          </a:ln>
        </p:spPr>
      </p:sp>
      <p:pic>
        <p:nvPicPr>
          <p:cNvPr id="6" name="Image 0" descr="preencoded.png">    </p:cNvPr>
          <p:cNvPicPr>
            <a:picLocks noChangeAspect="1"/>
          </p:cNvPicPr>
          <p:nvPr/>
        </p:nvPicPr>
        <p:blipFill>
          <a:blip r:embed="rId1"/>
          <a:stretch>
            <a:fillRect/>
          </a:stretch>
        </p:blipFill>
        <p:spPr>
          <a:xfrm>
            <a:off x="1115035" y="2171700"/>
            <a:ext cx="502920" cy="502920"/>
          </a:xfrm>
          <a:prstGeom prst="rect">
            <a:avLst/>
          </a:prstGeom>
        </p:spPr>
      </p:pic>
      <p:sp>
        <p:nvSpPr>
          <p:cNvPr id="7" name="Text 4"/>
          <p:cNvSpPr txBox="1"/>
          <p:nvPr/>
        </p:nvSpPr>
        <p:spPr>
          <a:xfrm>
            <a:off x="658368" y="3017520"/>
            <a:ext cx="1416253" cy="457200"/>
          </a:xfrm>
          <a:prstGeom prst="rect">
            <a:avLst/>
          </a:prstGeom>
          <a:noFill/>
          <a:ln/>
        </p:spPr>
        <p:txBody>
          <a:bodyPr wrap="square" lIns="0" tIns="0" rIns="0" bIns="0" rtlCol="0" anchor="t"/>
          <a:lstStyle/>
          <a:p>
            <a:pPr algn="ctr" indent="0" marL="0">
              <a:buNone/>
            </a:pPr>
            <a:r>
              <a:rPr lang="en-US" sz="1600" b="1" dirty="0">
                <a:solidFill>
                  <a:srgbClr val="1B1F24"/>
                </a:solidFill>
                <a:latin typeface="Calibri" pitchFamily="34" charset="0"/>
                <a:ea typeface="Calibri" pitchFamily="34" charset="-122"/>
                <a:cs typeface="Calibri" pitchFamily="34" charset="-120"/>
              </a:rPr>
              <a:t>PoC</a:t>
            </a:r>
            <a:endParaRPr lang="en-US" sz="1600" dirty="0"/>
          </a:p>
        </p:txBody>
      </p:sp>
      <p:sp>
        <p:nvSpPr>
          <p:cNvPr id="8" name="Text 5"/>
          <p:cNvSpPr txBox="1"/>
          <p:nvPr/>
        </p:nvSpPr>
        <p:spPr>
          <a:xfrm>
            <a:off x="685800" y="3520440"/>
            <a:ext cx="1361389" cy="1005840"/>
          </a:xfrm>
          <a:prstGeom prst="rect">
            <a:avLst/>
          </a:prstGeom>
          <a:noFill/>
          <a:ln/>
        </p:spPr>
        <p:txBody>
          <a:bodyPr wrap="square" lIns="0" tIns="0" rIns="0" bIns="0" rtlCol="0" anchor="t"/>
          <a:lstStyle/>
          <a:p>
            <a:pPr algn="ctr" indent="0" marL="0">
              <a:buNone/>
            </a:pPr>
            <a:r>
              <a:rPr lang="en-US" sz="1300" dirty="0">
                <a:solidFill>
                  <a:srgbClr val="56606B"/>
                </a:solidFill>
                <a:latin typeface="Calibri" pitchFamily="34" charset="0"/>
                <a:ea typeface="Calibri" pitchFamily="34" charset="-122"/>
                <a:cs typeface="Calibri" pitchFamily="34" charset="-120"/>
              </a:rPr>
              <a:t>Secuencia de CWA y CWP</a:t>
            </a:r>
            <a:endParaRPr lang="en-US" sz="1300" dirty="0"/>
          </a:p>
        </p:txBody>
      </p:sp>
      <p:sp>
        <p:nvSpPr>
          <p:cNvPr id="9" name="Shape 6"/>
          <p:cNvSpPr/>
          <p:nvPr/>
        </p:nvSpPr>
        <p:spPr>
          <a:xfrm>
            <a:off x="731520" y="4709160"/>
            <a:ext cx="1269949" cy="411480"/>
          </a:xfrm>
          <a:prstGeom prst="roundRect">
            <a:avLst>
              <a:gd name="adj" fmla="val 44444"/>
            </a:avLst>
          </a:prstGeom>
          <a:solidFill>
            <a:srgbClr val="E2EBF4"/>
          </a:solidFill>
          <a:ln w="12700">
            <a:solidFill>
              <a:srgbClr val="E2EBF4"/>
            </a:solidFill>
            <a:prstDash val="solid"/>
          </a:ln>
        </p:spPr>
      </p:sp>
      <p:sp>
        <p:nvSpPr>
          <p:cNvPr id="10" name="Text 7"/>
          <p:cNvSpPr txBox="1"/>
          <p:nvPr/>
        </p:nvSpPr>
        <p:spPr>
          <a:xfrm>
            <a:off x="731520" y="4709160"/>
            <a:ext cx="1269949" cy="411480"/>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CON · CHA</a:t>
            </a:r>
            <a:endParaRPr lang="en-US" sz="1150" dirty="0"/>
          </a:p>
        </p:txBody>
      </p:sp>
      <p:pic>
        <p:nvPicPr>
          <p:cNvPr id="11" name="Image 1" descr="preencoded.png">    </p:cNvPr>
          <p:cNvPicPr>
            <a:picLocks noChangeAspect="1"/>
          </p:cNvPicPr>
          <p:nvPr/>
        </p:nvPicPr>
        <p:blipFill>
          <a:blip r:embed="rId2"/>
          <a:stretch>
            <a:fillRect/>
          </a:stretch>
        </p:blipFill>
        <p:spPr>
          <a:xfrm>
            <a:off x="2156917" y="2267712"/>
            <a:ext cx="310896" cy="310896"/>
          </a:xfrm>
          <a:prstGeom prst="rect">
            <a:avLst/>
          </a:prstGeom>
        </p:spPr>
      </p:pic>
      <p:sp>
        <p:nvSpPr>
          <p:cNvPr id="12" name="Shape 8"/>
          <p:cNvSpPr/>
          <p:nvPr/>
        </p:nvSpPr>
        <p:spPr>
          <a:xfrm>
            <a:off x="2440381" y="1737360"/>
            <a:ext cx="1635709" cy="3611880"/>
          </a:xfrm>
          <a:prstGeom prst="roundRect">
            <a:avLst>
              <a:gd name="adj" fmla="val 4472"/>
            </a:avLst>
          </a:prstGeom>
          <a:solidFill>
            <a:srgbClr val="F4F7FA"/>
          </a:solidFill>
          <a:ln w="9525">
            <a:solidFill>
              <a:srgbClr val="DDE4EC"/>
            </a:solidFill>
            <a:prstDash val="solid"/>
          </a:ln>
        </p:spPr>
      </p:sp>
      <p:sp>
        <p:nvSpPr>
          <p:cNvPr id="13" name="Shape 9"/>
          <p:cNvSpPr/>
          <p:nvPr/>
        </p:nvSpPr>
        <p:spPr>
          <a:xfrm>
            <a:off x="2801036" y="1965960"/>
            <a:ext cx="914400" cy="914400"/>
          </a:xfrm>
          <a:prstGeom prst="ellipse">
            <a:avLst/>
          </a:prstGeom>
          <a:solidFill>
            <a:srgbClr val="1F4E79"/>
          </a:solidFill>
          <a:ln w="12700">
            <a:solidFill>
              <a:srgbClr val="1F4E79"/>
            </a:solidFill>
            <a:prstDash val="solid"/>
          </a:ln>
        </p:spPr>
      </p:sp>
      <p:pic>
        <p:nvPicPr>
          <p:cNvPr id="14" name="Image 2" descr="preencoded.png">    </p:cNvPr>
          <p:cNvPicPr>
            <a:picLocks noChangeAspect="1"/>
          </p:cNvPicPr>
          <p:nvPr/>
        </p:nvPicPr>
        <p:blipFill>
          <a:blip r:embed="rId3"/>
          <a:stretch>
            <a:fillRect/>
          </a:stretch>
        </p:blipFill>
        <p:spPr>
          <a:xfrm>
            <a:off x="3006776" y="2171700"/>
            <a:ext cx="502920" cy="502920"/>
          </a:xfrm>
          <a:prstGeom prst="rect">
            <a:avLst/>
          </a:prstGeom>
        </p:spPr>
      </p:pic>
      <p:sp>
        <p:nvSpPr>
          <p:cNvPr id="15" name="Text 10"/>
          <p:cNvSpPr txBox="1"/>
          <p:nvPr/>
        </p:nvSpPr>
        <p:spPr>
          <a:xfrm>
            <a:off x="2550109" y="3017520"/>
            <a:ext cx="1416253" cy="457200"/>
          </a:xfrm>
          <a:prstGeom prst="rect">
            <a:avLst/>
          </a:prstGeom>
          <a:noFill/>
          <a:ln/>
        </p:spPr>
        <p:txBody>
          <a:bodyPr wrap="square" lIns="0" tIns="0" rIns="0" bIns="0" rtlCol="0" anchor="t"/>
          <a:lstStyle/>
          <a:p>
            <a:pPr algn="ctr" indent="0" marL="0">
              <a:buNone/>
            </a:pPr>
            <a:r>
              <a:rPr lang="en-US" sz="1600" b="1" dirty="0">
                <a:solidFill>
                  <a:srgbClr val="1B1F24"/>
                </a:solidFill>
                <a:latin typeface="Calibri" pitchFamily="34" charset="0"/>
                <a:ea typeface="Calibri" pitchFamily="34" charset="-122"/>
                <a:cs typeface="Calibri" pitchFamily="34" charset="-120"/>
              </a:rPr>
              <a:t>Fechas requeridas</a:t>
            </a:r>
            <a:endParaRPr lang="en-US" sz="1600" dirty="0"/>
          </a:p>
        </p:txBody>
      </p:sp>
      <p:sp>
        <p:nvSpPr>
          <p:cNvPr id="16" name="Text 11"/>
          <p:cNvSpPr txBox="1"/>
          <p:nvPr/>
        </p:nvSpPr>
        <p:spPr>
          <a:xfrm>
            <a:off x="2577541" y="3520440"/>
            <a:ext cx="1361389" cy="1005840"/>
          </a:xfrm>
          <a:prstGeom prst="rect">
            <a:avLst/>
          </a:prstGeom>
          <a:noFill/>
          <a:ln/>
        </p:spPr>
        <p:txBody>
          <a:bodyPr wrap="square" lIns="0" tIns="0" rIns="0" bIns="0" rtlCol="0" anchor="t"/>
          <a:lstStyle/>
          <a:p>
            <a:pPr algn="ctr" indent="0" marL="0">
              <a:buNone/>
            </a:pPr>
            <a:r>
              <a:rPr lang="en-US" sz="1300" dirty="0">
                <a:solidFill>
                  <a:srgbClr val="56606B"/>
                </a:solidFill>
                <a:latin typeface="Calibri" pitchFamily="34" charset="0"/>
                <a:ea typeface="Calibri" pitchFamily="34" charset="-122"/>
                <a:cs typeface="Calibri" pitchFamily="34" charset="-120"/>
              </a:rPr>
              <a:t>EWP −13 sem · RAS −10 días</a:t>
            </a:r>
            <a:endParaRPr lang="en-US" sz="1300" dirty="0"/>
          </a:p>
        </p:txBody>
      </p:sp>
      <p:sp>
        <p:nvSpPr>
          <p:cNvPr id="17" name="Shape 12"/>
          <p:cNvSpPr/>
          <p:nvPr/>
        </p:nvSpPr>
        <p:spPr>
          <a:xfrm>
            <a:off x="2623261" y="4709160"/>
            <a:ext cx="1269949" cy="411480"/>
          </a:xfrm>
          <a:prstGeom prst="roundRect">
            <a:avLst>
              <a:gd name="adj" fmla="val 44444"/>
            </a:avLst>
          </a:prstGeom>
          <a:solidFill>
            <a:srgbClr val="E2EBF4"/>
          </a:solidFill>
          <a:ln w="12700">
            <a:solidFill>
              <a:srgbClr val="E2EBF4"/>
            </a:solidFill>
            <a:prstDash val="solid"/>
          </a:ln>
        </p:spPr>
      </p:sp>
      <p:sp>
        <p:nvSpPr>
          <p:cNvPr id="18" name="Text 13"/>
          <p:cNvSpPr txBox="1"/>
          <p:nvPr/>
        </p:nvSpPr>
        <p:spPr>
          <a:xfrm>
            <a:off x="2623261" y="4709160"/>
            <a:ext cx="1269949" cy="411480"/>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CTR · ING · PRO</a:t>
            </a:r>
            <a:endParaRPr lang="en-US" sz="1150" dirty="0"/>
          </a:p>
        </p:txBody>
      </p:sp>
      <p:pic>
        <p:nvPicPr>
          <p:cNvPr id="19" name="Image 3" descr="preencoded.png">    </p:cNvPr>
          <p:cNvPicPr>
            <a:picLocks noChangeAspect="1"/>
          </p:cNvPicPr>
          <p:nvPr/>
        </p:nvPicPr>
        <p:blipFill>
          <a:blip r:embed="rId4"/>
          <a:stretch>
            <a:fillRect/>
          </a:stretch>
        </p:blipFill>
        <p:spPr>
          <a:xfrm>
            <a:off x="4048658" y="2267712"/>
            <a:ext cx="310896" cy="310896"/>
          </a:xfrm>
          <a:prstGeom prst="rect">
            <a:avLst/>
          </a:prstGeom>
        </p:spPr>
      </p:pic>
      <p:sp>
        <p:nvSpPr>
          <p:cNvPr id="20" name="Shape 14"/>
          <p:cNvSpPr/>
          <p:nvPr/>
        </p:nvSpPr>
        <p:spPr>
          <a:xfrm>
            <a:off x="4332122" y="1737360"/>
            <a:ext cx="1635709" cy="3611880"/>
          </a:xfrm>
          <a:prstGeom prst="roundRect">
            <a:avLst>
              <a:gd name="adj" fmla="val 4472"/>
            </a:avLst>
          </a:prstGeom>
          <a:solidFill>
            <a:srgbClr val="F4F7FA"/>
          </a:solidFill>
          <a:ln w="9525">
            <a:solidFill>
              <a:srgbClr val="DDE4EC"/>
            </a:solidFill>
            <a:prstDash val="solid"/>
          </a:ln>
        </p:spPr>
      </p:sp>
      <p:sp>
        <p:nvSpPr>
          <p:cNvPr id="21" name="Shape 15"/>
          <p:cNvSpPr/>
          <p:nvPr/>
        </p:nvSpPr>
        <p:spPr>
          <a:xfrm>
            <a:off x="4692777" y="1965960"/>
            <a:ext cx="914400" cy="914400"/>
          </a:xfrm>
          <a:prstGeom prst="ellipse">
            <a:avLst/>
          </a:prstGeom>
          <a:solidFill>
            <a:srgbClr val="2A78D6"/>
          </a:solidFill>
          <a:ln w="12700">
            <a:solidFill>
              <a:srgbClr val="2A78D6"/>
            </a:solidFill>
            <a:prstDash val="solid"/>
          </a:ln>
        </p:spPr>
      </p:sp>
      <p:pic>
        <p:nvPicPr>
          <p:cNvPr id="22" name="Image 4" descr="preencoded.png">    </p:cNvPr>
          <p:cNvPicPr>
            <a:picLocks noChangeAspect="1"/>
          </p:cNvPicPr>
          <p:nvPr/>
        </p:nvPicPr>
        <p:blipFill>
          <a:blip r:embed="rId5"/>
          <a:stretch>
            <a:fillRect/>
          </a:stretch>
        </p:blipFill>
        <p:spPr>
          <a:xfrm>
            <a:off x="4898517" y="2171700"/>
            <a:ext cx="502920" cy="502920"/>
          </a:xfrm>
          <a:prstGeom prst="rect">
            <a:avLst/>
          </a:prstGeom>
        </p:spPr>
      </p:pic>
      <p:sp>
        <p:nvSpPr>
          <p:cNvPr id="23" name="Text 16"/>
          <p:cNvSpPr txBox="1"/>
          <p:nvPr/>
        </p:nvSpPr>
        <p:spPr>
          <a:xfrm>
            <a:off x="4441850" y="3017520"/>
            <a:ext cx="1416253" cy="457200"/>
          </a:xfrm>
          <a:prstGeom prst="rect">
            <a:avLst/>
          </a:prstGeom>
          <a:noFill/>
          <a:ln/>
        </p:spPr>
        <p:txBody>
          <a:bodyPr wrap="square" lIns="0" tIns="0" rIns="0" bIns="0" rtlCol="0" anchor="t"/>
          <a:lstStyle/>
          <a:p>
            <a:pPr algn="ctr" indent="0" marL="0">
              <a:buNone/>
            </a:pPr>
            <a:r>
              <a:rPr lang="en-US" sz="1600" b="1" dirty="0">
                <a:solidFill>
                  <a:srgbClr val="1B1F24"/>
                </a:solidFill>
                <a:latin typeface="Calibri" pitchFamily="34" charset="0"/>
                <a:ea typeface="Calibri" pitchFamily="34" charset="-122"/>
                <a:cs typeface="Calibri" pitchFamily="34" charset="-120"/>
              </a:rPr>
              <a:t>CWP emitido</a:t>
            </a:r>
            <a:endParaRPr lang="en-US" sz="1600" dirty="0"/>
          </a:p>
        </p:txBody>
      </p:sp>
      <p:sp>
        <p:nvSpPr>
          <p:cNvPr id="24" name="Text 17"/>
          <p:cNvSpPr txBox="1"/>
          <p:nvPr/>
        </p:nvSpPr>
        <p:spPr>
          <a:xfrm>
            <a:off x="4469282" y="3520440"/>
            <a:ext cx="1361389" cy="1005840"/>
          </a:xfrm>
          <a:prstGeom prst="rect">
            <a:avLst/>
          </a:prstGeom>
          <a:noFill/>
          <a:ln/>
        </p:spPr>
        <p:txBody>
          <a:bodyPr wrap="square" lIns="0" tIns="0" rIns="0" bIns="0" rtlCol="0" anchor="t"/>
          <a:lstStyle/>
          <a:p>
            <a:pPr algn="ctr" indent="0" marL="0">
              <a:buNone/>
            </a:pPr>
            <a:r>
              <a:rPr lang="en-US" sz="1300" dirty="0">
                <a:solidFill>
                  <a:srgbClr val="56606B"/>
                </a:solidFill>
                <a:latin typeface="Calibri" pitchFamily="34" charset="0"/>
                <a:ea typeface="Calibri" pitchFamily="34" charset="-122"/>
                <a:cs typeface="Calibri" pitchFamily="34" charset="-120"/>
              </a:rPr>
              <a:t>−10 semanas, completo (H6)</a:t>
            </a:r>
            <a:endParaRPr lang="en-US" sz="1300" dirty="0"/>
          </a:p>
        </p:txBody>
      </p:sp>
      <p:sp>
        <p:nvSpPr>
          <p:cNvPr id="25" name="Shape 18"/>
          <p:cNvSpPr/>
          <p:nvPr/>
        </p:nvSpPr>
        <p:spPr>
          <a:xfrm>
            <a:off x="4515002" y="4709160"/>
            <a:ext cx="1269949" cy="411480"/>
          </a:xfrm>
          <a:prstGeom prst="roundRect">
            <a:avLst>
              <a:gd name="adj" fmla="val 44444"/>
            </a:avLst>
          </a:prstGeom>
          <a:solidFill>
            <a:srgbClr val="E2EBF4"/>
          </a:solidFill>
          <a:ln w="12700">
            <a:solidFill>
              <a:srgbClr val="E2EBF4"/>
            </a:solidFill>
            <a:prstDash val="solid"/>
          </a:ln>
        </p:spPr>
      </p:sp>
      <p:sp>
        <p:nvSpPr>
          <p:cNvPr id="26" name="Text 19"/>
          <p:cNvSpPr txBox="1"/>
          <p:nvPr/>
        </p:nvSpPr>
        <p:spPr>
          <a:xfrm>
            <a:off x="4515002" y="4709160"/>
            <a:ext cx="1269949" cy="411480"/>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CON · LWF</a:t>
            </a:r>
            <a:endParaRPr lang="en-US" sz="1150" dirty="0"/>
          </a:p>
        </p:txBody>
      </p:sp>
      <p:pic>
        <p:nvPicPr>
          <p:cNvPr id="27" name="Image 5" descr="preencoded.png">    </p:cNvPr>
          <p:cNvPicPr>
            <a:picLocks noChangeAspect="1"/>
          </p:cNvPicPr>
          <p:nvPr/>
        </p:nvPicPr>
        <p:blipFill>
          <a:blip r:embed="rId6"/>
          <a:stretch>
            <a:fillRect/>
          </a:stretch>
        </p:blipFill>
        <p:spPr>
          <a:xfrm>
            <a:off x="5940400" y="2267712"/>
            <a:ext cx="310896" cy="310896"/>
          </a:xfrm>
          <a:prstGeom prst="rect">
            <a:avLst/>
          </a:prstGeom>
        </p:spPr>
      </p:pic>
      <p:sp>
        <p:nvSpPr>
          <p:cNvPr id="28" name="Shape 20"/>
          <p:cNvSpPr/>
          <p:nvPr/>
        </p:nvSpPr>
        <p:spPr>
          <a:xfrm>
            <a:off x="6223864" y="1737360"/>
            <a:ext cx="1635709" cy="3611880"/>
          </a:xfrm>
          <a:prstGeom prst="roundRect">
            <a:avLst>
              <a:gd name="adj" fmla="val 4472"/>
            </a:avLst>
          </a:prstGeom>
          <a:solidFill>
            <a:srgbClr val="F4F7FA"/>
          </a:solidFill>
          <a:ln w="9525">
            <a:solidFill>
              <a:srgbClr val="DDE4EC"/>
            </a:solidFill>
            <a:prstDash val="solid"/>
          </a:ln>
        </p:spPr>
      </p:sp>
      <p:sp>
        <p:nvSpPr>
          <p:cNvPr id="29" name="Shape 21"/>
          <p:cNvSpPr/>
          <p:nvPr/>
        </p:nvSpPr>
        <p:spPr>
          <a:xfrm>
            <a:off x="6584518" y="1965960"/>
            <a:ext cx="914400" cy="914400"/>
          </a:xfrm>
          <a:prstGeom prst="ellipse">
            <a:avLst/>
          </a:prstGeom>
          <a:solidFill>
            <a:srgbClr val="EB6834"/>
          </a:solidFill>
          <a:ln w="12700">
            <a:solidFill>
              <a:srgbClr val="EB6834"/>
            </a:solidFill>
            <a:prstDash val="solid"/>
          </a:ln>
        </p:spPr>
      </p:sp>
      <p:pic>
        <p:nvPicPr>
          <p:cNvPr id="30" name="Image 6" descr="preencoded.png">    </p:cNvPr>
          <p:cNvPicPr>
            <a:picLocks noChangeAspect="1"/>
          </p:cNvPicPr>
          <p:nvPr/>
        </p:nvPicPr>
        <p:blipFill>
          <a:blip r:embed="rId7"/>
          <a:stretch>
            <a:fillRect/>
          </a:stretch>
        </p:blipFill>
        <p:spPr>
          <a:xfrm>
            <a:off x="6790258" y="2171700"/>
            <a:ext cx="502920" cy="502920"/>
          </a:xfrm>
          <a:prstGeom prst="rect">
            <a:avLst/>
          </a:prstGeom>
        </p:spPr>
      </p:pic>
      <p:sp>
        <p:nvSpPr>
          <p:cNvPr id="31" name="Text 22"/>
          <p:cNvSpPr txBox="1"/>
          <p:nvPr/>
        </p:nvSpPr>
        <p:spPr>
          <a:xfrm>
            <a:off x="6333592" y="3017520"/>
            <a:ext cx="1416253" cy="457200"/>
          </a:xfrm>
          <a:prstGeom prst="rect">
            <a:avLst/>
          </a:prstGeom>
          <a:noFill/>
          <a:ln/>
        </p:spPr>
        <p:txBody>
          <a:bodyPr wrap="square" lIns="0" tIns="0" rIns="0" bIns="0" rtlCol="0" anchor="t"/>
          <a:lstStyle/>
          <a:p>
            <a:pPr algn="ctr" indent="0" marL="0">
              <a:buNone/>
            </a:pPr>
            <a:r>
              <a:rPr lang="en-US" sz="1600" b="1" dirty="0">
                <a:solidFill>
                  <a:srgbClr val="1B1F24"/>
                </a:solidFill>
                <a:latin typeface="Calibri" pitchFamily="34" charset="0"/>
                <a:ea typeface="Calibri" pitchFamily="34" charset="-122"/>
                <a:cs typeface="Calibri" pitchFamily="34" charset="-120"/>
              </a:rPr>
              <a:t>IWP liberados</a:t>
            </a:r>
            <a:endParaRPr lang="en-US" sz="1600" dirty="0"/>
          </a:p>
        </p:txBody>
      </p:sp>
      <p:sp>
        <p:nvSpPr>
          <p:cNvPr id="32" name="Text 23"/>
          <p:cNvSpPr txBox="1"/>
          <p:nvPr/>
        </p:nvSpPr>
        <p:spPr>
          <a:xfrm>
            <a:off x="6361024" y="3520440"/>
            <a:ext cx="1361389" cy="1005840"/>
          </a:xfrm>
          <a:prstGeom prst="rect">
            <a:avLst/>
          </a:prstGeom>
          <a:noFill/>
          <a:ln/>
        </p:spPr>
        <p:txBody>
          <a:bodyPr wrap="square" lIns="0" tIns="0" rIns="0" bIns="0" rtlCol="0" anchor="t"/>
          <a:lstStyle/>
          <a:p>
            <a:pPr algn="ctr" indent="0" marL="0">
              <a:buNone/>
            </a:pPr>
            <a:r>
              <a:rPr lang="en-US" sz="1300" dirty="0">
                <a:solidFill>
                  <a:srgbClr val="56606B"/>
                </a:solidFill>
                <a:latin typeface="Calibri" pitchFamily="34" charset="0"/>
                <a:ea typeface="Calibri" pitchFamily="34" charset="-122"/>
                <a:cs typeface="Calibri" pitchFamily="34" charset="-120"/>
              </a:rPr>
              <a:t>Sin restricciones (H7); backlog (H8)</a:t>
            </a:r>
            <a:endParaRPr lang="en-US" sz="1300" dirty="0"/>
          </a:p>
        </p:txBody>
      </p:sp>
      <p:sp>
        <p:nvSpPr>
          <p:cNvPr id="33" name="Shape 24"/>
          <p:cNvSpPr/>
          <p:nvPr/>
        </p:nvSpPr>
        <p:spPr>
          <a:xfrm>
            <a:off x="6406744" y="4709160"/>
            <a:ext cx="1269949" cy="411480"/>
          </a:xfrm>
          <a:prstGeom prst="roundRect">
            <a:avLst>
              <a:gd name="adj" fmla="val 44444"/>
            </a:avLst>
          </a:prstGeom>
          <a:solidFill>
            <a:srgbClr val="E2EBF4"/>
          </a:solidFill>
          <a:ln w="12700">
            <a:solidFill>
              <a:srgbClr val="E2EBF4"/>
            </a:solidFill>
            <a:prstDash val="solid"/>
          </a:ln>
        </p:spPr>
      </p:sp>
      <p:sp>
        <p:nvSpPr>
          <p:cNvPr id="34" name="Text 25"/>
          <p:cNvSpPr txBox="1"/>
          <p:nvPr/>
        </p:nvSpPr>
        <p:spPr>
          <a:xfrm>
            <a:off x="6406744" y="4709160"/>
            <a:ext cx="1269949" cy="411480"/>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LWF · WFP</a:t>
            </a:r>
            <a:endParaRPr lang="en-US" sz="1150" dirty="0"/>
          </a:p>
        </p:txBody>
      </p:sp>
      <p:pic>
        <p:nvPicPr>
          <p:cNvPr id="35" name="Image 7" descr="preencoded.png">    </p:cNvPr>
          <p:cNvPicPr>
            <a:picLocks noChangeAspect="1"/>
          </p:cNvPicPr>
          <p:nvPr/>
        </p:nvPicPr>
        <p:blipFill>
          <a:blip r:embed="rId8"/>
          <a:stretch>
            <a:fillRect/>
          </a:stretch>
        </p:blipFill>
        <p:spPr>
          <a:xfrm>
            <a:off x="7832141" y="2267712"/>
            <a:ext cx="310896" cy="310896"/>
          </a:xfrm>
          <a:prstGeom prst="rect">
            <a:avLst/>
          </a:prstGeom>
        </p:spPr>
      </p:pic>
      <p:sp>
        <p:nvSpPr>
          <p:cNvPr id="36" name="Shape 26"/>
          <p:cNvSpPr/>
          <p:nvPr/>
        </p:nvSpPr>
        <p:spPr>
          <a:xfrm>
            <a:off x="8115605" y="1737360"/>
            <a:ext cx="1635709" cy="3611880"/>
          </a:xfrm>
          <a:prstGeom prst="roundRect">
            <a:avLst>
              <a:gd name="adj" fmla="val 4472"/>
            </a:avLst>
          </a:prstGeom>
          <a:solidFill>
            <a:srgbClr val="F4F7FA"/>
          </a:solidFill>
          <a:ln w="9525">
            <a:solidFill>
              <a:srgbClr val="DDE4EC"/>
            </a:solidFill>
            <a:prstDash val="solid"/>
          </a:ln>
        </p:spPr>
      </p:sp>
      <p:sp>
        <p:nvSpPr>
          <p:cNvPr id="37" name="Shape 27"/>
          <p:cNvSpPr/>
          <p:nvPr/>
        </p:nvSpPr>
        <p:spPr>
          <a:xfrm>
            <a:off x="8476259" y="1965960"/>
            <a:ext cx="914400" cy="914400"/>
          </a:xfrm>
          <a:prstGeom prst="ellipse">
            <a:avLst/>
          </a:prstGeom>
          <a:solidFill>
            <a:srgbClr val="1BAF7A"/>
          </a:solidFill>
          <a:ln w="12700">
            <a:solidFill>
              <a:srgbClr val="1BAF7A"/>
            </a:solidFill>
            <a:prstDash val="solid"/>
          </a:ln>
        </p:spPr>
      </p:sp>
      <p:pic>
        <p:nvPicPr>
          <p:cNvPr id="38" name="Image 8" descr="preencoded.png">    </p:cNvPr>
          <p:cNvPicPr>
            <a:picLocks noChangeAspect="1"/>
          </p:cNvPicPr>
          <p:nvPr/>
        </p:nvPicPr>
        <p:blipFill>
          <a:blip r:embed="rId9"/>
          <a:stretch>
            <a:fillRect/>
          </a:stretch>
        </p:blipFill>
        <p:spPr>
          <a:xfrm>
            <a:off x="8681999" y="2171700"/>
            <a:ext cx="502920" cy="502920"/>
          </a:xfrm>
          <a:prstGeom prst="rect">
            <a:avLst/>
          </a:prstGeom>
        </p:spPr>
      </p:pic>
      <p:sp>
        <p:nvSpPr>
          <p:cNvPr id="39" name="Text 28"/>
          <p:cNvSpPr txBox="1"/>
          <p:nvPr/>
        </p:nvSpPr>
        <p:spPr>
          <a:xfrm>
            <a:off x="8225333" y="3017520"/>
            <a:ext cx="1416253" cy="457200"/>
          </a:xfrm>
          <a:prstGeom prst="rect">
            <a:avLst/>
          </a:prstGeom>
          <a:noFill/>
          <a:ln/>
        </p:spPr>
        <p:txBody>
          <a:bodyPr wrap="square" lIns="0" tIns="0" rIns="0" bIns="0" rtlCol="0" anchor="t"/>
          <a:lstStyle/>
          <a:p>
            <a:pPr algn="ctr" indent="0" marL="0">
              <a:buNone/>
            </a:pPr>
            <a:r>
              <a:rPr lang="en-US" sz="1600" b="1" dirty="0">
                <a:solidFill>
                  <a:srgbClr val="1B1F24"/>
                </a:solidFill>
                <a:latin typeface="Calibri" pitchFamily="34" charset="0"/>
                <a:ea typeface="Calibri" pitchFamily="34" charset="-122"/>
                <a:cs typeface="Calibri" pitchFamily="34" charset="-120"/>
              </a:rPr>
              <a:t>Lookahead</a:t>
            </a:r>
            <a:endParaRPr lang="en-US" sz="1600" dirty="0"/>
          </a:p>
        </p:txBody>
      </p:sp>
      <p:sp>
        <p:nvSpPr>
          <p:cNvPr id="40" name="Text 29"/>
          <p:cNvSpPr txBox="1"/>
          <p:nvPr/>
        </p:nvSpPr>
        <p:spPr>
          <a:xfrm>
            <a:off x="8252765" y="3520440"/>
            <a:ext cx="1361389" cy="1005840"/>
          </a:xfrm>
          <a:prstGeom prst="rect">
            <a:avLst/>
          </a:prstGeom>
          <a:noFill/>
          <a:ln/>
        </p:spPr>
        <p:txBody>
          <a:bodyPr wrap="square" lIns="0" tIns="0" rIns="0" bIns="0" rtlCol="0" anchor="t"/>
          <a:lstStyle/>
          <a:p>
            <a:pPr algn="ctr" indent="0" marL="0">
              <a:buNone/>
            </a:pPr>
            <a:r>
              <a:rPr lang="en-US" sz="1300" dirty="0">
                <a:solidFill>
                  <a:srgbClr val="56606B"/>
                </a:solidFill>
                <a:latin typeface="Calibri" pitchFamily="34" charset="0"/>
                <a:ea typeface="Calibri" pitchFamily="34" charset="-122"/>
                <a:cs typeface="Calibri" pitchFamily="34" charset="-120"/>
              </a:rPr>
              <a:t>3 semanas; orden del PoC</a:t>
            </a:r>
            <a:endParaRPr lang="en-US" sz="1300" dirty="0"/>
          </a:p>
        </p:txBody>
      </p:sp>
      <p:sp>
        <p:nvSpPr>
          <p:cNvPr id="41" name="Shape 30"/>
          <p:cNvSpPr/>
          <p:nvPr/>
        </p:nvSpPr>
        <p:spPr>
          <a:xfrm>
            <a:off x="8298485" y="4709160"/>
            <a:ext cx="1269949" cy="411480"/>
          </a:xfrm>
          <a:prstGeom prst="roundRect">
            <a:avLst>
              <a:gd name="adj" fmla="val 44444"/>
            </a:avLst>
          </a:prstGeom>
          <a:solidFill>
            <a:srgbClr val="E2EBF4"/>
          </a:solidFill>
          <a:ln w="12700">
            <a:solidFill>
              <a:srgbClr val="E2EBF4"/>
            </a:solidFill>
            <a:prstDash val="solid"/>
          </a:ln>
        </p:spPr>
      </p:sp>
      <p:sp>
        <p:nvSpPr>
          <p:cNvPr id="42" name="Text 31"/>
          <p:cNvSpPr txBox="1"/>
          <p:nvPr/>
        </p:nvSpPr>
        <p:spPr>
          <a:xfrm>
            <a:off x="8298485" y="4709160"/>
            <a:ext cx="1269949" cy="411480"/>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SUP · LWF</a:t>
            </a:r>
            <a:endParaRPr lang="en-US" sz="1150" dirty="0"/>
          </a:p>
        </p:txBody>
      </p:sp>
      <p:pic>
        <p:nvPicPr>
          <p:cNvPr id="43" name="Image 9" descr="preencoded.png">    </p:cNvPr>
          <p:cNvPicPr>
            <a:picLocks noChangeAspect="1"/>
          </p:cNvPicPr>
          <p:nvPr/>
        </p:nvPicPr>
        <p:blipFill>
          <a:blip r:embed="rId10"/>
          <a:stretch>
            <a:fillRect/>
          </a:stretch>
        </p:blipFill>
        <p:spPr>
          <a:xfrm>
            <a:off x="9723882" y="2267712"/>
            <a:ext cx="310896" cy="310896"/>
          </a:xfrm>
          <a:prstGeom prst="rect">
            <a:avLst/>
          </a:prstGeom>
        </p:spPr>
      </p:pic>
      <p:sp>
        <p:nvSpPr>
          <p:cNvPr id="44" name="Shape 32"/>
          <p:cNvSpPr/>
          <p:nvPr/>
        </p:nvSpPr>
        <p:spPr>
          <a:xfrm>
            <a:off x="10007346" y="1737360"/>
            <a:ext cx="1635709" cy="3611880"/>
          </a:xfrm>
          <a:prstGeom prst="roundRect">
            <a:avLst>
              <a:gd name="adj" fmla="val 4472"/>
            </a:avLst>
          </a:prstGeom>
          <a:solidFill>
            <a:srgbClr val="F4F7FA"/>
          </a:solidFill>
          <a:ln w="9525">
            <a:solidFill>
              <a:srgbClr val="DDE4EC"/>
            </a:solidFill>
            <a:prstDash val="solid"/>
          </a:ln>
        </p:spPr>
      </p:sp>
      <p:sp>
        <p:nvSpPr>
          <p:cNvPr id="45" name="Shape 33"/>
          <p:cNvSpPr/>
          <p:nvPr/>
        </p:nvSpPr>
        <p:spPr>
          <a:xfrm>
            <a:off x="10368001" y="1965960"/>
            <a:ext cx="914400" cy="914400"/>
          </a:xfrm>
          <a:prstGeom prst="ellipse">
            <a:avLst/>
          </a:prstGeom>
          <a:solidFill>
            <a:srgbClr val="F5A623"/>
          </a:solidFill>
          <a:ln w="12700">
            <a:solidFill>
              <a:srgbClr val="F5A623"/>
            </a:solidFill>
            <a:prstDash val="solid"/>
          </a:ln>
        </p:spPr>
      </p:sp>
      <p:pic>
        <p:nvPicPr>
          <p:cNvPr id="46" name="Image 10" descr="preencoded.png">    </p:cNvPr>
          <p:cNvPicPr>
            <a:picLocks noChangeAspect="1"/>
          </p:cNvPicPr>
          <p:nvPr/>
        </p:nvPicPr>
        <p:blipFill>
          <a:blip r:embed="rId11"/>
          <a:stretch>
            <a:fillRect/>
          </a:stretch>
        </p:blipFill>
        <p:spPr>
          <a:xfrm>
            <a:off x="10573741" y="2171700"/>
            <a:ext cx="502920" cy="502920"/>
          </a:xfrm>
          <a:prstGeom prst="rect">
            <a:avLst/>
          </a:prstGeom>
        </p:spPr>
      </p:pic>
      <p:sp>
        <p:nvSpPr>
          <p:cNvPr id="47" name="Text 34"/>
          <p:cNvSpPr txBox="1"/>
          <p:nvPr/>
        </p:nvSpPr>
        <p:spPr>
          <a:xfrm>
            <a:off x="10117074" y="3017520"/>
            <a:ext cx="1416253" cy="457200"/>
          </a:xfrm>
          <a:prstGeom prst="rect">
            <a:avLst/>
          </a:prstGeom>
          <a:noFill/>
          <a:ln/>
        </p:spPr>
        <p:txBody>
          <a:bodyPr wrap="square" lIns="0" tIns="0" rIns="0" bIns="0" rtlCol="0" anchor="t"/>
          <a:lstStyle/>
          <a:p>
            <a:pPr algn="ctr" indent="0" marL="0">
              <a:buNone/>
            </a:pPr>
            <a:r>
              <a:rPr lang="en-US" sz="1600" b="1" dirty="0">
                <a:solidFill>
                  <a:srgbClr val="1B1F24"/>
                </a:solidFill>
                <a:latin typeface="Calibri" pitchFamily="34" charset="0"/>
                <a:ea typeface="Calibri" pitchFamily="34" charset="-122"/>
                <a:cs typeface="Calibri" pitchFamily="34" charset="-120"/>
              </a:rPr>
              <a:t>SWP · TOP</a:t>
            </a:r>
            <a:endParaRPr lang="en-US" sz="1600" dirty="0"/>
          </a:p>
        </p:txBody>
      </p:sp>
      <p:sp>
        <p:nvSpPr>
          <p:cNvPr id="48" name="Text 35"/>
          <p:cNvSpPr txBox="1"/>
          <p:nvPr/>
        </p:nvSpPr>
        <p:spPr>
          <a:xfrm>
            <a:off x="10144506" y="3520440"/>
            <a:ext cx="1361389" cy="1005840"/>
          </a:xfrm>
          <a:prstGeom prst="rect">
            <a:avLst/>
          </a:prstGeom>
          <a:noFill/>
          <a:ln/>
        </p:spPr>
        <p:txBody>
          <a:bodyPr wrap="square" lIns="0" tIns="0" rIns="0" bIns="0" rtlCol="0" anchor="t"/>
          <a:lstStyle/>
          <a:p>
            <a:pPr algn="ctr" indent="0" marL="0">
              <a:buNone/>
            </a:pPr>
            <a:r>
              <a:rPr lang="en-US" sz="1300" dirty="0">
                <a:solidFill>
                  <a:srgbClr val="56606B"/>
                </a:solidFill>
                <a:latin typeface="Calibri" pitchFamily="34" charset="0"/>
                <a:ea typeface="Calibri" pitchFamily="34" charset="-122"/>
                <a:cs typeface="Calibri" pitchFamily="34" charset="-120"/>
              </a:rPr>
              <a:t>Sistemas entregados (H9)</a:t>
            </a:r>
            <a:endParaRPr lang="en-US" sz="1300" dirty="0"/>
          </a:p>
        </p:txBody>
      </p:sp>
      <p:sp>
        <p:nvSpPr>
          <p:cNvPr id="49" name="Shape 36"/>
          <p:cNvSpPr/>
          <p:nvPr/>
        </p:nvSpPr>
        <p:spPr>
          <a:xfrm>
            <a:off x="10190226" y="4709160"/>
            <a:ext cx="1269949" cy="411480"/>
          </a:xfrm>
          <a:prstGeom prst="roundRect">
            <a:avLst>
              <a:gd name="adj" fmla="val 44444"/>
            </a:avLst>
          </a:prstGeom>
          <a:solidFill>
            <a:srgbClr val="E2EBF4"/>
          </a:solidFill>
          <a:ln w="12700">
            <a:solidFill>
              <a:srgbClr val="E2EBF4"/>
            </a:solidFill>
            <a:prstDash val="solid"/>
          </a:ln>
        </p:spPr>
      </p:sp>
      <p:sp>
        <p:nvSpPr>
          <p:cNvPr id="50" name="Text 37"/>
          <p:cNvSpPr txBox="1"/>
          <p:nvPr/>
        </p:nvSpPr>
        <p:spPr>
          <a:xfrm>
            <a:off x="10190226" y="4709160"/>
            <a:ext cx="1269949" cy="411480"/>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COM · CLI</a:t>
            </a:r>
            <a:endParaRPr lang="en-US" sz="1150" dirty="0"/>
          </a:p>
        </p:txBody>
      </p:sp>
      <p:sp>
        <p:nvSpPr>
          <p:cNvPr id="51" name="Text 38"/>
          <p:cNvSpPr txBox="1"/>
          <p:nvPr/>
        </p:nvSpPr>
        <p:spPr>
          <a:xfrm>
            <a:off x="548640" y="5669280"/>
            <a:ext cx="11094415" cy="411480"/>
          </a:xfrm>
          <a:prstGeom prst="rect">
            <a:avLst/>
          </a:prstGeom>
          <a:noFill/>
          <a:ln/>
        </p:spPr>
        <p:txBody>
          <a:bodyPr wrap="square" lIns="0" tIns="0" rIns="0" bIns="0" rtlCol="0" anchor="t"/>
          <a:lstStyle/>
          <a:p>
            <a:pPr algn="ctr" indent="0" marL="0">
              <a:buNone/>
            </a:pPr>
            <a:r>
              <a:rPr lang="en-US" sz="1500" i="1" dirty="0">
                <a:solidFill>
                  <a:srgbClr val="163A5C"/>
                </a:solidFill>
                <a:latin typeface="Calibri" pitchFamily="34" charset="0"/>
                <a:ea typeface="Calibri" pitchFamily="34" charset="-122"/>
                <a:cs typeface="Calibri" pitchFamily="34" charset="-120"/>
              </a:rPr>
              <a:t>Cada eslabón hereda la secuencia del anterior: un cambio en el PoC se propaga a toda la cadena.</a:t>
            </a:r>
            <a:endParaRPr lang="en-US" sz="1500" dirty="0"/>
          </a:p>
        </p:txBody>
      </p:sp>
      <p:sp>
        <p:nvSpPr>
          <p:cNvPr id="52" name="Text 3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Del PoC a la ejecución</a:t>
            </a:r>
            <a:endParaRPr lang="en-US" sz="1000" dirty="0"/>
          </a:p>
        </p:txBody>
      </p:sp>
      <p:sp>
        <p:nvSpPr>
          <p:cNvPr id="53" name="Text 4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97</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El PoC en el nivel de ejecución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La visión micro: IWP, lookahead y sistemas</a:t>
            </a:r>
            <a:endParaRPr lang="en-US" sz="1500" dirty="0"/>
          </a:p>
        </p:txBody>
      </p:sp>
      <p:sp>
        <p:nvSpPr>
          <p:cNvPr id="4" name="Shape 2"/>
          <p:cNvSpPr/>
          <p:nvPr/>
        </p:nvSpPr>
        <p:spPr>
          <a:xfrm>
            <a:off x="548640" y="1554480"/>
            <a:ext cx="541004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División en IWP</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El PoC guía cómo se divide cada CWP: por niveles, ejes o tramos en la secuencia acordada (ej.: columnas nivel 1 ejes A1–A4).</a:t>
            </a:r>
            <a:endParaRPr lang="en-US" sz="1700" dirty="0"/>
          </a:p>
        </p:txBody>
      </p:sp>
      <p:sp>
        <p:nvSpPr>
          <p:cNvPr id="9" name="Shape 6"/>
          <p:cNvSpPr/>
          <p:nvPr/>
        </p:nvSpPr>
        <p:spPr>
          <a:xfrm>
            <a:off x="6233008" y="1554480"/>
            <a:ext cx="541004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646160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Lookahead de 3 semanas</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Los IWP entran al lookahead en el orden del PoC; solo IWP liberados del backlog.</a:t>
            </a:r>
            <a:endParaRPr lang="en-US" sz="1700" dirty="0"/>
          </a:p>
        </p:txBody>
      </p:sp>
      <p:sp>
        <p:nvSpPr>
          <p:cNvPr id="14" name="Shape 10"/>
          <p:cNvSpPr/>
          <p:nvPr/>
        </p:nvSpPr>
        <p:spPr>
          <a:xfrm>
            <a:off x="548640" y="4046220"/>
            <a:ext cx="541004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777240" y="427482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Sistema en cada IWP</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Lección LA-06: sin sistema en el IWP no se sabe qué falta para entregar cada sistema.</a:t>
            </a:r>
            <a:endParaRPr lang="en-US" sz="1700" dirty="0"/>
          </a:p>
        </p:txBody>
      </p:sp>
      <p:sp>
        <p:nvSpPr>
          <p:cNvPr id="19" name="Shape 14"/>
          <p:cNvSpPr/>
          <p:nvPr/>
        </p:nvSpPr>
        <p:spPr>
          <a:xfrm>
            <a:off x="6233008" y="4046220"/>
            <a:ext cx="541004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6461608"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SWP y TOP</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6606B"/>
                </a:solidFill>
                <a:latin typeface="Calibri" pitchFamily="34" charset="0"/>
                <a:ea typeface="Calibri" pitchFamily="34" charset="-122"/>
                <a:cs typeface="Calibri" pitchFamily="34" charset="-120"/>
              </a:rPr>
              <a:t>El SWP se prepara cuando los IWP del sistema están cerrados; la entrega sigue la secuencia de sistemas.</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Del PoC a la ejecución</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98</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Del CWP a los IWP: la estructura del bloque 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CWP-2.01-EST-01 (≈ 9 600 HH) dividido en 24 IWP según la secuencia</a:t>
            </a:r>
            <a:endParaRPr lang="en-US" sz="1500" dirty="0"/>
          </a:p>
        </p:txBody>
      </p:sp>
      <p:sp>
        <p:nvSpPr>
          <p:cNvPr id="4" name="Shape 2"/>
          <p:cNvSpPr/>
          <p:nvPr/>
        </p:nvSpPr>
        <p:spPr>
          <a:xfrm>
            <a:off x="548640" y="2011680"/>
            <a:ext cx="1911645" cy="3291840"/>
          </a:xfrm>
          <a:prstGeom prst="roundRect">
            <a:avLst>
              <a:gd name="adj" fmla="val 3827"/>
            </a:avLst>
          </a:prstGeom>
          <a:solidFill>
            <a:srgbClr val="F4F7FA"/>
          </a:solidFill>
          <a:ln w="9525">
            <a:solidFill>
              <a:srgbClr val="DDE4EC"/>
            </a:solidFill>
            <a:prstDash val="solid"/>
          </a:ln>
        </p:spPr>
      </p:sp>
      <p:sp>
        <p:nvSpPr>
          <p:cNvPr id="5" name="Shape 3"/>
          <p:cNvSpPr/>
          <p:nvPr/>
        </p:nvSpPr>
        <p:spPr>
          <a:xfrm>
            <a:off x="713232" y="2194560"/>
            <a:ext cx="1582461" cy="640080"/>
          </a:xfrm>
          <a:prstGeom prst="roundRect">
            <a:avLst>
              <a:gd name="adj" fmla="val 11429"/>
            </a:avLst>
          </a:prstGeom>
          <a:solidFill>
            <a:srgbClr val="1F4E79"/>
          </a:solidFill>
          <a:ln w="12700">
            <a:solidFill>
              <a:srgbClr val="1F4E79"/>
            </a:solidFill>
            <a:prstDash val="solid"/>
          </a:ln>
        </p:spPr>
      </p:sp>
      <p:sp>
        <p:nvSpPr>
          <p:cNvPr id="6" name="Text 4"/>
          <p:cNvSpPr txBox="1"/>
          <p:nvPr/>
        </p:nvSpPr>
        <p:spPr>
          <a:xfrm>
            <a:off x="713232"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IWP-001</a:t>
            </a:r>
            <a:endParaRPr lang="en-US" sz="1600" dirty="0"/>
          </a:p>
        </p:txBody>
      </p:sp>
      <p:sp>
        <p:nvSpPr>
          <p:cNvPr id="7" name="Text 5"/>
          <p:cNvSpPr txBox="1"/>
          <p:nvPr/>
        </p:nvSpPr>
        <p:spPr>
          <a:xfrm>
            <a:off x="749808"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Columnas nivel 1, ejes A1–A4 · ≈ 420 HH.</a:t>
            </a:r>
            <a:endParaRPr lang="en-US" sz="1450" dirty="0"/>
          </a:p>
        </p:txBody>
      </p:sp>
      <p:pic>
        <p:nvPicPr>
          <p:cNvPr id="8" name="Image 0" descr="preencoded.png">    </p:cNvPr>
          <p:cNvPicPr>
            <a:picLocks noChangeAspect="1"/>
          </p:cNvPicPr>
          <p:nvPr/>
        </p:nvPicPr>
        <p:blipFill>
          <a:blip r:embed="rId1"/>
          <a:stretch>
            <a:fillRect/>
          </a:stretch>
        </p:blipFill>
        <p:spPr>
          <a:xfrm>
            <a:off x="2496861" y="3502152"/>
            <a:ext cx="310896" cy="310896"/>
          </a:xfrm>
          <a:prstGeom prst="rect">
            <a:avLst/>
          </a:prstGeom>
        </p:spPr>
      </p:pic>
      <p:sp>
        <p:nvSpPr>
          <p:cNvPr id="9" name="Shape 6"/>
          <p:cNvSpPr/>
          <p:nvPr/>
        </p:nvSpPr>
        <p:spPr>
          <a:xfrm>
            <a:off x="2844333" y="2011680"/>
            <a:ext cx="1911645" cy="3291840"/>
          </a:xfrm>
          <a:prstGeom prst="roundRect">
            <a:avLst>
              <a:gd name="adj" fmla="val 3827"/>
            </a:avLst>
          </a:prstGeom>
          <a:solidFill>
            <a:srgbClr val="F4F7FA"/>
          </a:solidFill>
          <a:ln w="9525">
            <a:solidFill>
              <a:srgbClr val="DDE4EC"/>
            </a:solidFill>
            <a:prstDash val="solid"/>
          </a:ln>
        </p:spPr>
      </p:sp>
      <p:sp>
        <p:nvSpPr>
          <p:cNvPr id="10" name="Shape 7"/>
          <p:cNvSpPr/>
          <p:nvPr/>
        </p:nvSpPr>
        <p:spPr>
          <a:xfrm>
            <a:off x="3008925" y="2194560"/>
            <a:ext cx="1582461" cy="640080"/>
          </a:xfrm>
          <a:prstGeom prst="roundRect">
            <a:avLst>
              <a:gd name="adj" fmla="val 11429"/>
            </a:avLst>
          </a:prstGeom>
          <a:solidFill>
            <a:srgbClr val="1F4E79"/>
          </a:solidFill>
          <a:ln w="12700">
            <a:solidFill>
              <a:srgbClr val="1F4E79"/>
            </a:solidFill>
            <a:prstDash val="solid"/>
          </a:ln>
        </p:spPr>
      </p:sp>
      <p:sp>
        <p:nvSpPr>
          <p:cNvPr id="11" name="Text 8"/>
          <p:cNvSpPr txBox="1"/>
          <p:nvPr/>
        </p:nvSpPr>
        <p:spPr>
          <a:xfrm>
            <a:off x="3008925"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IWP-002</a:t>
            </a:r>
            <a:endParaRPr lang="en-US" sz="1600" dirty="0"/>
          </a:p>
        </p:txBody>
      </p:sp>
      <p:sp>
        <p:nvSpPr>
          <p:cNvPr id="12" name="Text 9"/>
          <p:cNvSpPr txBox="1"/>
          <p:nvPr/>
        </p:nvSpPr>
        <p:spPr>
          <a:xfrm>
            <a:off x="3045501"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Vigas nivel 1, ejes A1–A4.</a:t>
            </a:r>
            <a:endParaRPr lang="en-US" sz="1450" dirty="0"/>
          </a:p>
        </p:txBody>
      </p:sp>
      <p:pic>
        <p:nvPicPr>
          <p:cNvPr id="13" name="Image 1" descr="preencoded.png">    </p:cNvPr>
          <p:cNvPicPr>
            <a:picLocks noChangeAspect="1"/>
          </p:cNvPicPr>
          <p:nvPr/>
        </p:nvPicPr>
        <p:blipFill>
          <a:blip r:embed="rId2"/>
          <a:stretch>
            <a:fillRect/>
          </a:stretch>
        </p:blipFill>
        <p:spPr>
          <a:xfrm>
            <a:off x="4792553" y="3502152"/>
            <a:ext cx="310896" cy="310896"/>
          </a:xfrm>
          <a:prstGeom prst="rect">
            <a:avLst/>
          </a:prstGeom>
        </p:spPr>
      </p:pic>
      <p:sp>
        <p:nvSpPr>
          <p:cNvPr id="14" name="Shape 10"/>
          <p:cNvSpPr/>
          <p:nvPr/>
        </p:nvSpPr>
        <p:spPr>
          <a:xfrm>
            <a:off x="5140025" y="2011680"/>
            <a:ext cx="1911645" cy="3291840"/>
          </a:xfrm>
          <a:prstGeom prst="roundRect">
            <a:avLst>
              <a:gd name="adj" fmla="val 3827"/>
            </a:avLst>
          </a:prstGeom>
          <a:solidFill>
            <a:srgbClr val="F4F7FA"/>
          </a:solidFill>
          <a:ln w="9525">
            <a:solidFill>
              <a:srgbClr val="DDE4EC"/>
            </a:solidFill>
            <a:prstDash val="solid"/>
          </a:ln>
        </p:spPr>
      </p:sp>
      <p:sp>
        <p:nvSpPr>
          <p:cNvPr id="15" name="Shape 11"/>
          <p:cNvSpPr/>
          <p:nvPr/>
        </p:nvSpPr>
        <p:spPr>
          <a:xfrm>
            <a:off x="5304617" y="2194560"/>
            <a:ext cx="1582461" cy="640080"/>
          </a:xfrm>
          <a:prstGeom prst="roundRect">
            <a:avLst>
              <a:gd name="adj" fmla="val 11429"/>
            </a:avLst>
          </a:prstGeom>
          <a:solidFill>
            <a:srgbClr val="1F4E79"/>
          </a:solidFill>
          <a:ln w="12700">
            <a:solidFill>
              <a:srgbClr val="1F4E79"/>
            </a:solidFill>
            <a:prstDash val="solid"/>
          </a:ln>
        </p:spPr>
      </p:sp>
      <p:sp>
        <p:nvSpPr>
          <p:cNvPr id="16" name="Text 12"/>
          <p:cNvSpPr txBox="1"/>
          <p:nvPr/>
        </p:nvSpPr>
        <p:spPr>
          <a:xfrm>
            <a:off x="5304617"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IWP-003</a:t>
            </a:r>
            <a:endParaRPr lang="en-US" sz="1600" dirty="0"/>
          </a:p>
        </p:txBody>
      </p:sp>
      <p:sp>
        <p:nvSpPr>
          <p:cNvPr id="17" name="Text 13"/>
          <p:cNvSpPr txBox="1"/>
          <p:nvPr/>
        </p:nvSpPr>
        <p:spPr>
          <a:xfrm>
            <a:off x="5341193"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Arriostres nivel 1.</a:t>
            </a:r>
            <a:endParaRPr lang="en-US" sz="1450" dirty="0"/>
          </a:p>
        </p:txBody>
      </p:sp>
      <p:pic>
        <p:nvPicPr>
          <p:cNvPr id="18" name="Image 2" descr="preencoded.png">    </p:cNvPr>
          <p:cNvPicPr>
            <a:picLocks noChangeAspect="1"/>
          </p:cNvPicPr>
          <p:nvPr/>
        </p:nvPicPr>
        <p:blipFill>
          <a:blip r:embed="rId3"/>
          <a:stretch>
            <a:fillRect/>
          </a:stretch>
        </p:blipFill>
        <p:spPr>
          <a:xfrm>
            <a:off x="7088246" y="3502152"/>
            <a:ext cx="310896" cy="310896"/>
          </a:xfrm>
          <a:prstGeom prst="rect">
            <a:avLst/>
          </a:prstGeom>
        </p:spPr>
      </p:pic>
      <p:sp>
        <p:nvSpPr>
          <p:cNvPr id="19" name="Shape 14"/>
          <p:cNvSpPr/>
          <p:nvPr/>
        </p:nvSpPr>
        <p:spPr>
          <a:xfrm>
            <a:off x="7435718" y="2011680"/>
            <a:ext cx="1911645" cy="3291840"/>
          </a:xfrm>
          <a:prstGeom prst="roundRect">
            <a:avLst>
              <a:gd name="adj" fmla="val 3827"/>
            </a:avLst>
          </a:prstGeom>
          <a:solidFill>
            <a:srgbClr val="F4F7FA"/>
          </a:solidFill>
          <a:ln w="9525">
            <a:solidFill>
              <a:srgbClr val="DDE4EC"/>
            </a:solidFill>
            <a:prstDash val="solid"/>
          </a:ln>
        </p:spPr>
      </p:sp>
      <p:sp>
        <p:nvSpPr>
          <p:cNvPr id="20" name="Shape 15"/>
          <p:cNvSpPr/>
          <p:nvPr/>
        </p:nvSpPr>
        <p:spPr>
          <a:xfrm>
            <a:off x="7600310" y="2194560"/>
            <a:ext cx="1582461" cy="640080"/>
          </a:xfrm>
          <a:prstGeom prst="roundRect">
            <a:avLst>
              <a:gd name="adj" fmla="val 11429"/>
            </a:avLst>
          </a:prstGeom>
          <a:solidFill>
            <a:srgbClr val="1F4E79"/>
          </a:solidFill>
          <a:ln w="12700">
            <a:solidFill>
              <a:srgbClr val="1F4E79"/>
            </a:solidFill>
            <a:prstDash val="solid"/>
          </a:ln>
        </p:spPr>
      </p:sp>
      <p:sp>
        <p:nvSpPr>
          <p:cNvPr id="21" name="Text 16"/>
          <p:cNvSpPr txBox="1"/>
          <p:nvPr/>
        </p:nvSpPr>
        <p:spPr>
          <a:xfrm>
            <a:off x="7600310"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IWP-004 …</a:t>
            </a:r>
            <a:endParaRPr lang="en-US" sz="1600" dirty="0"/>
          </a:p>
        </p:txBody>
      </p:sp>
      <p:sp>
        <p:nvSpPr>
          <p:cNvPr id="22" name="Text 17"/>
          <p:cNvSpPr txBox="1"/>
          <p:nvPr/>
        </p:nvSpPr>
        <p:spPr>
          <a:xfrm>
            <a:off x="7636886"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Niveles superiores y ejes siguientes, en el orden del PoC.</a:t>
            </a:r>
            <a:endParaRPr lang="en-US" sz="1450" dirty="0"/>
          </a:p>
        </p:txBody>
      </p:sp>
      <p:pic>
        <p:nvPicPr>
          <p:cNvPr id="23" name="Image 3" descr="preencoded.png">    </p:cNvPr>
          <p:cNvPicPr>
            <a:picLocks noChangeAspect="1"/>
          </p:cNvPicPr>
          <p:nvPr/>
        </p:nvPicPr>
        <p:blipFill>
          <a:blip r:embed="rId4"/>
          <a:stretch>
            <a:fillRect/>
          </a:stretch>
        </p:blipFill>
        <p:spPr>
          <a:xfrm>
            <a:off x="9383939" y="3502152"/>
            <a:ext cx="310896" cy="310896"/>
          </a:xfrm>
          <a:prstGeom prst="rect">
            <a:avLst/>
          </a:prstGeom>
        </p:spPr>
      </p:pic>
      <p:sp>
        <p:nvSpPr>
          <p:cNvPr id="24" name="Shape 18"/>
          <p:cNvSpPr/>
          <p:nvPr/>
        </p:nvSpPr>
        <p:spPr>
          <a:xfrm>
            <a:off x="9731411" y="2011680"/>
            <a:ext cx="1911645" cy="3291840"/>
          </a:xfrm>
          <a:prstGeom prst="roundRect">
            <a:avLst>
              <a:gd name="adj" fmla="val 3827"/>
            </a:avLst>
          </a:prstGeom>
          <a:solidFill>
            <a:srgbClr val="F4F7FA"/>
          </a:solidFill>
          <a:ln w="9525">
            <a:solidFill>
              <a:srgbClr val="DDE4EC"/>
            </a:solidFill>
            <a:prstDash val="solid"/>
          </a:ln>
        </p:spPr>
      </p:sp>
      <p:sp>
        <p:nvSpPr>
          <p:cNvPr id="25" name="Shape 19"/>
          <p:cNvSpPr/>
          <p:nvPr/>
        </p:nvSpPr>
        <p:spPr>
          <a:xfrm>
            <a:off x="9896003" y="2194560"/>
            <a:ext cx="1582461" cy="640080"/>
          </a:xfrm>
          <a:prstGeom prst="roundRect">
            <a:avLst>
              <a:gd name="adj" fmla="val 11429"/>
            </a:avLst>
          </a:prstGeom>
          <a:solidFill>
            <a:srgbClr val="1F4E79"/>
          </a:solidFill>
          <a:ln w="12700">
            <a:solidFill>
              <a:srgbClr val="1F4E79"/>
            </a:solidFill>
            <a:prstDash val="solid"/>
          </a:ln>
        </p:spPr>
      </p:sp>
      <p:sp>
        <p:nvSpPr>
          <p:cNvPr id="26" name="Text 20"/>
          <p:cNvSpPr txBox="1"/>
          <p:nvPr/>
        </p:nvSpPr>
        <p:spPr>
          <a:xfrm>
            <a:off x="9896003" y="2194560"/>
            <a:ext cx="1582461" cy="6400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IWP-024</a:t>
            </a:r>
            <a:endParaRPr lang="en-US" sz="1600" dirty="0"/>
          </a:p>
        </p:txBody>
      </p:sp>
      <p:sp>
        <p:nvSpPr>
          <p:cNvPr id="27" name="Text 21"/>
          <p:cNvSpPr txBox="1"/>
          <p:nvPr/>
        </p:nvSpPr>
        <p:spPr>
          <a:xfrm>
            <a:off x="9932579" y="3017520"/>
            <a:ext cx="1509309" cy="2148840"/>
          </a:xfrm>
          <a:prstGeom prst="rect">
            <a:avLst/>
          </a:prstGeom>
          <a:noFill/>
          <a:ln/>
        </p:spPr>
        <p:txBody>
          <a:bodyPr wrap="square" lIns="0" tIns="0" rIns="0" bIns="0" rtlCol="0" anchor="t">
            <a:normAutofit/>
          </a:bodyPr>
          <a:lstStyle/>
          <a:p>
            <a:pPr indent="0" marL="0">
              <a:buNone/>
            </a:pPr>
            <a:r>
              <a:rPr lang="en-US" sz="1450" dirty="0">
                <a:solidFill>
                  <a:srgbClr val="1B1F24"/>
                </a:solidFill>
                <a:latin typeface="Calibri" pitchFamily="34" charset="0"/>
                <a:ea typeface="Calibri" pitchFamily="34" charset="-122"/>
                <a:cs typeface="Calibri" pitchFamily="34" charset="-120"/>
              </a:rPr>
              <a:t>Cubierta: cierra el CWP y el sistema «Estructura bloque A».</a:t>
            </a:r>
            <a:endParaRPr lang="en-US" sz="1450" dirty="0"/>
          </a:p>
        </p:txBody>
      </p:sp>
      <p:sp>
        <p:nvSpPr>
          <p:cNvPr id="28" name="Text 2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Del PoC a la ejecución</a:t>
            </a:r>
            <a:endParaRPr lang="en-US" sz="1000" dirty="0"/>
          </a:p>
        </p:txBody>
      </p:sp>
      <p:sp>
        <p:nvSpPr>
          <p:cNvPr id="29" name="Text 2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99</a:t>
            </a:r>
            <a:endParaRPr lang="en-US" sz="1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Programa de liberación del IWP-2.01-EST-01-001</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Plazos de la Fase 2 (12 / 10 / 8 / 4 / 2 semanas) aplicados al primer IWP de montaje</a:t>
            </a:r>
            <a:endParaRPr lang="en-US" sz="1500" dirty="0"/>
          </a:p>
        </p:txBody>
      </p:sp>
      <p:sp>
        <p:nvSpPr>
          <p:cNvPr id="4" name="Shape 2"/>
          <p:cNvSpPr/>
          <p:nvPr/>
        </p:nvSpPr>
        <p:spPr>
          <a:xfrm>
            <a:off x="1554480" y="2743200"/>
            <a:ext cx="9082735" cy="0"/>
          </a:xfrm>
          <a:prstGeom prst="line">
            <a:avLst/>
          </a:prstGeom>
          <a:noFill/>
          <a:ln w="50800">
            <a:solidFill>
              <a:srgbClr val="B9CCE0"/>
            </a:solidFill>
            <a:prstDash val="solid"/>
          </a:ln>
        </p:spPr>
      </p:sp>
      <p:sp>
        <p:nvSpPr>
          <p:cNvPr id="5" name="Shape 3"/>
          <p:cNvSpPr/>
          <p:nvPr/>
        </p:nvSpPr>
        <p:spPr>
          <a:xfrm>
            <a:off x="1280160" y="2468880"/>
            <a:ext cx="548640" cy="548640"/>
          </a:xfrm>
          <a:prstGeom prst="ellipse">
            <a:avLst/>
          </a:prstGeom>
          <a:solidFill>
            <a:srgbClr val="1F4E79"/>
          </a:solidFill>
          <a:ln w="38100">
            <a:solidFill>
              <a:srgbClr val="FFFFFF"/>
            </a:solidFill>
            <a:prstDash val="solid"/>
          </a:ln>
        </p:spPr>
      </p:sp>
      <p:sp>
        <p:nvSpPr>
          <p:cNvPr id="6" name="Text 4"/>
          <p:cNvSpPr txBox="1"/>
          <p:nvPr/>
        </p:nvSpPr>
        <p:spPr>
          <a:xfrm>
            <a:off x="548640"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01/02/2028</a:t>
            </a:r>
            <a:endParaRPr lang="en-US" sz="1800" dirty="0"/>
          </a:p>
        </p:txBody>
      </p:sp>
      <p:sp>
        <p:nvSpPr>
          <p:cNvPr id="7" name="Shape 5"/>
          <p:cNvSpPr/>
          <p:nvPr/>
        </p:nvSpPr>
        <p:spPr>
          <a:xfrm>
            <a:off x="548640" y="3291840"/>
            <a:ext cx="2011680" cy="2468880"/>
          </a:xfrm>
          <a:prstGeom prst="roundRect">
            <a:avLst>
              <a:gd name="adj" fmla="val 4545"/>
            </a:avLst>
          </a:prstGeom>
          <a:solidFill>
            <a:srgbClr val="F4F7FA"/>
          </a:solidFill>
          <a:ln w="9525">
            <a:solidFill>
              <a:srgbClr val="DDE4EC"/>
            </a:solidFill>
            <a:prstDash val="solid"/>
          </a:ln>
        </p:spPr>
      </p:sp>
      <p:sp>
        <p:nvSpPr>
          <p:cNvPr id="8" name="Text 6"/>
          <p:cNvSpPr txBox="1"/>
          <p:nvPr/>
        </p:nvSpPr>
        <p:spPr>
          <a:xfrm>
            <a:off x="685800"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IWP iniciado: 12 semanas antes de su ejecución (≈ al emitirse el CWP el 15/02).</a:t>
            </a:r>
            <a:endParaRPr lang="en-US" sz="1550" dirty="0"/>
          </a:p>
        </p:txBody>
      </p:sp>
      <p:sp>
        <p:nvSpPr>
          <p:cNvPr id="9" name="Shape 7"/>
          <p:cNvSpPr/>
          <p:nvPr/>
        </p:nvSpPr>
        <p:spPr>
          <a:xfrm>
            <a:off x="3550844" y="2468880"/>
            <a:ext cx="548640" cy="548640"/>
          </a:xfrm>
          <a:prstGeom prst="ellipse">
            <a:avLst/>
          </a:prstGeom>
          <a:solidFill>
            <a:srgbClr val="1F4E79"/>
          </a:solidFill>
          <a:ln w="38100">
            <a:solidFill>
              <a:srgbClr val="FFFFFF"/>
            </a:solidFill>
            <a:prstDash val="solid"/>
          </a:ln>
        </p:spPr>
      </p:sp>
      <p:sp>
        <p:nvSpPr>
          <p:cNvPr id="10" name="Text 8"/>
          <p:cNvSpPr txBox="1"/>
          <p:nvPr/>
        </p:nvSpPr>
        <p:spPr>
          <a:xfrm>
            <a:off x="2819324"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15/02/2028</a:t>
            </a:r>
            <a:endParaRPr lang="en-US" sz="1800" dirty="0"/>
          </a:p>
        </p:txBody>
      </p:sp>
      <p:sp>
        <p:nvSpPr>
          <p:cNvPr id="11" name="Shape 9"/>
          <p:cNvSpPr/>
          <p:nvPr/>
        </p:nvSpPr>
        <p:spPr>
          <a:xfrm>
            <a:off x="2819324" y="3291840"/>
            <a:ext cx="2011680" cy="2468880"/>
          </a:xfrm>
          <a:prstGeom prst="roundRect">
            <a:avLst>
              <a:gd name="adj" fmla="val 4545"/>
            </a:avLst>
          </a:prstGeom>
          <a:solidFill>
            <a:srgbClr val="F4F7FA"/>
          </a:solidFill>
          <a:ln w="9525">
            <a:solidFill>
              <a:srgbClr val="DDE4EC"/>
            </a:solidFill>
            <a:prstDash val="solid"/>
          </a:ln>
        </p:spPr>
      </p:sp>
      <p:sp>
        <p:nvSpPr>
          <p:cNvPr id="12" name="Text 10"/>
          <p:cNvSpPr txBox="1"/>
          <p:nvPr/>
        </p:nvSpPr>
        <p:spPr>
          <a:xfrm>
            <a:off x="2956484"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Restricciones identificadas: 10 semanas antes.</a:t>
            </a:r>
            <a:endParaRPr lang="en-US" sz="1550" dirty="0"/>
          </a:p>
        </p:txBody>
      </p:sp>
      <p:sp>
        <p:nvSpPr>
          <p:cNvPr id="13" name="Shape 11"/>
          <p:cNvSpPr/>
          <p:nvPr/>
        </p:nvSpPr>
        <p:spPr>
          <a:xfrm>
            <a:off x="5821528" y="2468880"/>
            <a:ext cx="548640" cy="548640"/>
          </a:xfrm>
          <a:prstGeom prst="ellipse">
            <a:avLst/>
          </a:prstGeom>
          <a:solidFill>
            <a:srgbClr val="1F4E79"/>
          </a:solidFill>
          <a:ln w="38100">
            <a:solidFill>
              <a:srgbClr val="FFFFFF"/>
            </a:solidFill>
            <a:prstDash val="solid"/>
          </a:ln>
        </p:spPr>
      </p:sp>
      <p:sp>
        <p:nvSpPr>
          <p:cNvPr id="14" name="Text 12"/>
          <p:cNvSpPr txBox="1"/>
          <p:nvPr/>
        </p:nvSpPr>
        <p:spPr>
          <a:xfrm>
            <a:off x="5090008"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29/02/2028</a:t>
            </a:r>
            <a:endParaRPr lang="en-US" sz="1800" dirty="0"/>
          </a:p>
        </p:txBody>
      </p:sp>
      <p:sp>
        <p:nvSpPr>
          <p:cNvPr id="15" name="Shape 13"/>
          <p:cNvSpPr/>
          <p:nvPr/>
        </p:nvSpPr>
        <p:spPr>
          <a:xfrm>
            <a:off x="5090008" y="3291840"/>
            <a:ext cx="2011680" cy="2468880"/>
          </a:xfrm>
          <a:prstGeom prst="roundRect">
            <a:avLst>
              <a:gd name="adj" fmla="val 4545"/>
            </a:avLst>
          </a:prstGeom>
          <a:solidFill>
            <a:srgbClr val="F4F7FA"/>
          </a:solidFill>
          <a:ln w="9525">
            <a:solidFill>
              <a:srgbClr val="DDE4EC"/>
            </a:solidFill>
            <a:prstDash val="solid"/>
          </a:ln>
        </p:spPr>
      </p:sp>
      <p:sp>
        <p:nvSpPr>
          <p:cNvPr id="16" name="Text 14"/>
          <p:cNvSpPr txBox="1"/>
          <p:nvPr/>
        </p:nvSpPr>
        <p:spPr>
          <a:xfrm>
            <a:off x="5227168"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Restricciones asignadas: 8 semanas antes, con responsable y fecha.</a:t>
            </a:r>
            <a:endParaRPr lang="en-US" sz="1550" dirty="0"/>
          </a:p>
        </p:txBody>
      </p:sp>
      <p:sp>
        <p:nvSpPr>
          <p:cNvPr id="17" name="Shape 15"/>
          <p:cNvSpPr/>
          <p:nvPr/>
        </p:nvSpPr>
        <p:spPr>
          <a:xfrm>
            <a:off x="8092211" y="2468880"/>
            <a:ext cx="548640" cy="548640"/>
          </a:xfrm>
          <a:prstGeom prst="ellipse">
            <a:avLst/>
          </a:prstGeom>
          <a:solidFill>
            <a:srgbClr val="1F4E79"/>
          </a:solidFill>
          <a:ln w="38100">
            <a:solidFill>
              <a:srgbClr val="FFFFFF"/>
            </a:solidFill>
            <a:prstDash val="solid"/>
          </a:ln>
        </p:spPr>
      </p:sp>
      <p:sp>
        <p:nvSpPr>
          <p:cNvPr id="18" name="Text 16"/>
          <p:cNvSpPr txBox="1"/>
          <p:nvPr/>
        </p:nvSpPr>
        <p:spPr>
          <a:xfrm>
            <a:off x="7360691"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28/03/2028</a:t>
            </a:r>
            <a:endParaRPr lang="en-US" sz="1800" dirty="0"/>
          </a:p>
        </p:txBody>
      </p:sp>
      <p:sp>
        <p:nvSpPr>
          <p:cNvPr id="19" name="Shape 17"/>
          <p:cNvSpPr/>
          <p:nvPr/>
        </p:nvSpPr>
        <p:spPr>
          <a:xfrm>
            <a:off x="7360691" y="3291840"/>
            <a:ext cx="2011680" cy="2468880"/>
          </a:xfrm>
          <a:prstGeom prst="roundRect">
            <a:avLst>
              <a:gd name="adj" fmla="val 4545"/>
            </a:avLst>
          </a:prstGeom>
          <a:solidFill>
            <a:srgbClr val="F4F7FA"/>
          </a:solidFill>
          <a:ln w="9525">
            <a:solidFill>
              <a:srgbClr val="DDE4EC"/>
            </a:solidFill>
            <a:prstDash val="solid"/>
          </a:ln>
        </p:spPr>
      </p:sp>
      <p:sp>
        <p:nvSpPr>
          <p:cNvPr id="20" name="Text 18"/>
          <p:cNvSpPr txBox="1"/>
          <p:nvPr/>
        </p:nvSpPr>
        <p:spPr>
          <a:xfrm>
            <a:off x="7497851"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Restricciones levantadas: 4 semanas antes.</a:t>
            </a:r>
            <a:endParaRPr lang="en-US" sz="1550" dirty="0"/>
          </a:p>
        </p:txBody>
      </p:sp>
      <p:sp>
        <p:nvSpPr>
          <p:cNvPr id="21" name="Shape 19"/>
          <p:cNvSpPr/>
          <p:nvPr/>
        </p:nvSpPr>
        <p:spPr>
          <a:xfrm>
            <a:off x="10362895" y="2468880"/>
            <a:ext cx="548640" cy="548640"/>
          </a:xfrm>
          <a:prstGeom prst="ellipse">
            <a:avLst/>
          </a:prstGeom>
          <a:solidFill>
            <a:srgbClr val="F5A623"/>
          </a:solidFill>
          <a:ln w="38100">
            <a:solidFill>
              <a:srgbClr val="FFFFFF"/>
            </a:solidFill>
            <a:prstDash val="solid"/>
          </a:ln>
        </p:spPr>
      </p:sp>
      <p:sp>
        <p:nvSpPr>
          <p:cNvPr id="22" name="Text 20"/>
          <p:cNvSpPr txBox="1"/>
          <p:nvPr/>
        </p:nvSpPr>
        <p:spPr>
          <a:xfrm>
            <a:off x="9631375" y="1691640"/>
            <a:ext cx="2011680" cy="548640"/>
          </a:xfrm>
          <a:prstGeom prst="rect">
            <a:avLst/>
          </a:prstGeom>
          <a:noFill/>
          <a:ln/>
        </p:spPr>
        <p:txBody>
          <a:bodyPr wrap="square" lIns="0" tIns="0" rIns="0" bIns="0" rtlCol="0" anchor="b"/>
          <a:lstStyle/>
          <a:p>
            <a:pPr algn="ctr" indent="0" marL="0">
              <a:buNone/>
            </a:pPr>
            <a:r>
              <a:rPr lang="en-US" sz="1800" b="1" dirty="0">
                <a:solidFill>
                  <a:srgbClr val="163A5C"/>
                </a:solidFill>
                <a:latin typeface="Calibri" pitchFamily="34" charset="0"/>
                <a:ea typeface="Calibri" pitchFamily="34" charset="-122"/>
                <a:cs typeface="Calibri" pitchFamily="34" charset="-120"/>
              </a:rPr>
              <a:t>11/04/2028</a:t>
            </a:r>
            <a:endParaRPr lang="en-US" sz="1800" dirty="0"/>
          </a:p>
        </p:txBody>
      </p:sp>
      <p:sp>
        <p:nvSpPr>
          <p:cNvPr id="23" name="Shape 21"/>
          <p:cNvSpPr/>
          <p:nvPr/>
        </p:nvSpPr>
        <p:spPr>
          <a:xfrm>
            <a:off x="9631375" y="3291840"/>
            <a:ext cx="2011680" cy="2468880"/>
          </a:xfrm>
          <a:prstGeom prst="roundRect">
            <a:avLst>
              <a:gd name="adj" fmla="val 4545"/>
            </a:avLst>
          </a:prstGeom>
          <a:solidFill>
            <a:srgbClr val="F4F7FA"/>
          </a:solidFill>
          <a:ln w="9525">
            <a:solidFill>
              <a:srgbClr val="DDE4EC"/>
            </a:solidFill>
            <a:prstDash val="solid"/>
          </a:ln>
        </p:spPr>
      </p:sp>
      <p:sp>
        <p:nvSpPr>
          <p:cNvPr id="24" name="Text 22"/>
          <p:cNvSpPr txBox="1"/>
          <p:nvPr/>
        </p:nvSpPr>
        <p:spPr>
          <a:xfrm>
            <a:off x="9768535" y="3456432"/>
            <a:ext cx="1737360" cy="2194560"/>
          </a:xfrm>
          <a:prstGeom prst="rect">
            <a:avLst/>
          </a:prstGeom>
          <a:noFill/>
          <a:ln/>
        </p:spPr>
        <p:txBody>
          <a:bodyPr wrap="square" lIns="0" tIns="0" rIns="0" bIns="0" rtlCol="0" anchor="t"/>
          <a:lstStyle/>
          <a:p>
            <a:pPr indent="0" marL="0">
              <a:buNone/>
            </a:pPr>
            <a:r>
              <a:rPr lang="en-US" sz="1550" dirty="0">
                <a:solidFill>
                  <a:srgbClr val="1B1F24"/>
                </a:solidFill>
                <a:latin typeface="Calibri" pitchFamily="34" charset="0"/>
                <a:ea typeface="Calibri" pitchFamily="34" charset="-122"/>
                <a:cs typeface="Calibri" pitchFamily="34" charset="-120"/>
              </a:rPr>
              <a:t>IWP liberado (2 semanas antes); estructura en obra (RAS) el 15/04; montaje el 25/04.</a:t>
            </a:r>
            <a:endParaRPr lang="en-US" sz="1550" dirty="0"/>
          </a:p>
        </p:txBody>
      </p:sp>
      <p:sp>
        <p:nvSpPr>
          <p:cNvPr id="25" name="Text 2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Del PoC a la ejecución</a:t>
            </a:r>
            <a:endParaRPr lang="en-US" sz="1000" dirty="0"/>
          </a:p>
        </p:txBody>
      </p:sp>
      <p:sp>
        <p:nvSpPr>
          <p:cNvPr id="26" name="Text 2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100</a:t>
            </a:r>
            <a:endParaRPr lang="en-US" sz="1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El PoC en la aplicación AWP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Módulo «Path of Construction», previsto para la Etapa 3 de la aplicación</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Ordenar la secuencia</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Arrastrar y soltar los CWP; predecesor elegido de una lista.</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Gantt por fase</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Con conflictos de secuencia marcados y fechas requeridas de EWP, CWP y RAS.</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Parámetros</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Anticipaciones de EWP, CWP y RAS por proyecto.</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Talleres IPP</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Registrar el acta: participantes desde la lista de personas; secuencia desde el PoC.</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Hito H2 y actividad FEL-04</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Ya disponibles hoy en los módulos Hitos y Avance AWP.</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Mientras tanto</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Usar Path_of_Construction.xlsx y el acta desde Recursos.</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Del PoC a la ejecución</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101</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12</a:t>
            </a:r>
            <a:endParaRPr lang="en-US" sz="9600" dirty="0"/>
          </a:p>
        </p:txBody>
      </p:sp>
      <p:sp>
        <p:nvSpPr>
          <p:cNvPr id="3" name="Text 1"/>
          <p:cNvSpPr txBox="1"/>
          <p:nvPr/>
        </p:nvSpPr>
        <p:spPr>
          <a:xfrm>
            <a:off x="548640" y="2697480"/>
            <a:ext cx="594360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Control, riesgos y lecciones</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Cómo saber si el PoC se está cumpliendo</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Indicadores del PoC</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Riesgos del kit</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Lecciones del proyecto tipo</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Señales de alerta</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Control, riesgos y lecciones</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102</a:t>
            </a:r>
            <a:endParaRPr lang="en-US" sz="1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Indicadores que miden 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KPI del Tablero_KPI.xlsx con metas por fase (F1 / F2 / F3)</a:t>
            </a:r>
            <a:endParaRPr lang="en-US" sz="15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743200"/>
                <a:gridCol w="3108960"/>
                <a:gridCol w="3474720"/>
                <a:gridCol w="164592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KPI</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Qué mide del PoC</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Fórmula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Metas</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K01 · EWP emitidos a tiempo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Que ingeniería siga 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EWP IFC a tiempo ÷ EWP con fecha requerida vencida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80 / 90 / 95 %</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K02 · Materiales al liberar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Que procura cumpla las RAS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IWP liberados con 100 % de materiales ÷ IWP liberados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90 / 95 / 98 %</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K04 · Backlog de IWP liberados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Que el flujo llegue al campo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HH liberadas no iniciadas ÷ HH ejecutadas por semana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2 / 2 / 3 sem</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K08 · PPC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Que el plan semanal se cumpla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IWP completados según plan ÷ planificados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75 / 80 / 85 %</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K13 · SPI de construcción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Que la secuencia avance según lo planificado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Valor ganado ÷ valor planificado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0,95 / 0,98 / 1,00</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Control, riesgos y lecciones</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103</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Riesgos del kit relacionados con 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Registro_Riesgos.xlsx: probabilidad × impacto y mitigación</a:t>
            </a:r>
            <a:endParaRPr lang="en-US" sz="15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834640"/>
                <a:gridCol w="2377440"/>
                <a:gridCol w="822960"/>
                <a:gridCol w="3474720"/>
                <a:gridCol w="146304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Riesgo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Causa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 × I</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Mitigación</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Responsable</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R02 · Ingeniería no entrega EWP en la secuencia del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Planificación por disciplina y no por CWP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4×4 = 16</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Fechas de EWP del PoC en el contrato; K01; revisión quincenal del plan de liberación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ING</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R08 · Backlog insuficiente por ingeniería o procura detrás del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Atrasos de EWP y PWP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3×4 = 12</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Backlog proyectado a 8 semanas; alertas tempranas; trabajo de «plan B»</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CON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R09 · Conflictos de recursos entre fases superpuestas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Grúas, accesos y almacenes compartidos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4×3 = 12</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Registro único de restricciones; lookahead conjunto; tablero de recursos compartidos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CON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R07 · Herramientas y datos desintegrados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Sin codificación común</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3×3 = 9</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Coordinador de IM desde FEL; codificación única; integración probada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IM</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Control, riesgos y lecciones</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104</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Lecciones del proyecto tipo para el próximo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Registro_Lecciones_Aprendidas.xlsx</a:t>
            </a:r>
            <a:endParaRPr lang="en-US" sz="1500" dirty="0"/>
          </a:p>
        </p:txBody>
      </p:sp>
      <p:graphicFrame>
        <p:nvGraphicFramePr>
          <p:cNvPr id="10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80160"/>
                <a:gridCol w="4846320"/>
                <a:gridCol w="484632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Lección</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Qué pasó</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Qué hacer en el próximo PoC</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LA-02</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Las órdenes de compra no tenían código de CWP; el almacén no podía reservar por IWP.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Código de CWP obligatorio en toda orden de compra: el PWP debe seguir al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LA-04</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La documentación del proveedor de tableros llegó tarde y retrasó los IWP de montaje.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Dar fecha propia a la documentación del proveedor en cada PWP.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LA-05</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El lookahead conjunto con la Fase 3 redujo los conflictos de grúas (positiva).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Mantener un lookahead conjunto durante la superposición de fases.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LA-06</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Los IWP no indicaban sistema; no se sabía qué faltaba para entregar cada sistema.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Sistema obligatorio en cada CWP e IWP desde el PoC.</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LA-01</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IWP de movimiento de tierras de 3 semanas: el PPC no reflejaba los problemas.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Dividir según el PoC en IWP de 1 semana y 600 HH máximo.</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Control, riesgos y lecciones</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105</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Señales de alerta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Síntomas de un PoC que no se está cumpliendo</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EWP fuera de secuencia</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Ingeniería emite paquetes que construcción no necesita todavía, y atrasa los que sí.</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CWP emitidos incompletos</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Sin planos IFC o sin PWP asegurado: el hito H6 no debería cumplirse así.</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Compras por urgencia</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Materiales pedidos «para ayer» porque la RAS no se respetó.</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Frentes «donde se puede»</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Cuadrillas movidas a áreas fuera de secuencia para no parar.</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Backlog que cae</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K04 por debajo de la meta varias semanas seguidas.</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Cambios sin registro</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La secuencia real ya no coincide con la última revisión del PoC.</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Control, riesgos y lecciones</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106</a:t>
            </a:r>
            <a:endParaRPr lang="en-US" sz="1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Ritmo de revisión del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Qué se revisa, con qué frecuencia y quién lo hace</a:t>
            </a:r>
            <a:endParaRPr lang="en-US" sz="150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645920"/>
                <a:gridCol w="4754880"/>
                <a:gridCol w="2011680"/>
                <a:gridCol w="256032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Frecuencia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Qué se revisa</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Quién</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Instrumento</a:t>
                      </a:r>
                      <a:endParaRPr lang="en-US" sz="15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Semanal</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IWP del lookahead en el orden del PoC; restricciones que bloquean la secuencia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CON, LWF, WFP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Lookahead_3_Semanas; Registro_Restricciones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Quincenal</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Plan de liberación CWP/EWP/PWP frente a las fechas requeridas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CHA, ING, PRO, CTR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Seguimiento_Paquetes (mitigación de R02)</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Mensual</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K01, K02, K04, K13; hitos; cambios de secuencia propuestos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Comité AWP</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Tablero_KPI</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En cada cambio mayor</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Nueva revisión del PoC con impacto en fechas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CON, CHA, CLI</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Taller IPP corto; acta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F24"/>
                          </a:solidFill>
                          <a:latin typeface="Calibri" pitchFamily="34" charset="0"/>
                          <a:ea typeface="Calibri" pitchFamily="34" charset="-122"/>
                          <a:cs typeface="Calibri" pitchFamily="34" charset="-120"/>
                        </a:rPr>
                        <a:t>Cierre de fase</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Qué funcionó y qué no del PoC; recomendaciones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CHA</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500" dirty="0">
                          <a:solidFill>
                            <a:srgbClr val="1B1F24"/>
                          </a:solidFill>
                          <a:latin typeface="Calibri" pitchFamily="34" charset="0"/>
                          <a:ea typeface="Calibri" pitchFamily="34" charset="-122"/>
                          <a:cs typeface="Calibri" pitchFamily="34" charset="-120"/>
                        </a:rPr>
                        <a:t>Informe_Cierre_Fase_AWP; lecciones</a:t>
                      </a:r>
                      <a:endParaRPr lang="en-US" sz="15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Control, riesgos y lecciones</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107</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5A623"/>
                </a:solidFill>
                <a:latin typeface="Calibri" pitchFamily="34" charset="0"/>
                <a:ea typeface="Calibri" pitchFamily="34" charset="-122"/>
                <a:cs typeface="Calibri" pitchFamily="34" charset="-120"/>
              </a:rPr>
              <a:t>13</a:t>
            </a:r>
            <a:endParaRPr lang="en-US" sz="9600" dirty="0"/>
          </a:p>
        </p:txBody>
      </p:sp>
      <p:sp>
        <p:nvSpPr>
          <p:cNvPr id="3" name="Text 1"/>
          <p:cNvSpPr txBox="1"/>
          <p:nvPr/>
        </p:nvSpPr>
        <p:spPr>
          <a:xfrm>
            <a:off x="548640" y="2697480"/>
            <a:ext cx="594360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Buenas prácticas y cierre</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B9CCE0"/>
                </a:solidFill>
                <a:latin typeface="Calibri" pitchFamily="34" charset="0"/>
                <a:ea typeface="Calibri" pitchFamily="34" charset="-122"/>
                <a:cs typeface="Calibri" pitchFamily="34" charset="-120"/>
              </a:rPr>
              <a:t>Lo esencial para que el PoC funcione</a:t>
            </a:r>
            <a:endParaRPr lang="en-US" sz="1800" dirty="0"/>
          </a:p>
        </p:txBody>
      </p:sp>
      <p:sp>
        <p:nvSpPr>
          <p:cNvPr id="5" name="Shape 3"/>
          <p:cNvSpPr/>
          <p:nvPr/>
        </p:nvSpPr>
        <p:spPr>
          <a:xfrm>
            <a:off x="6766560" y="1234440"/>
            <a:ext cx="4892040" cy="4480560"/>
          </a:xfrm>
          <a:prstGeom prst="roundRect">
            <a:avLst>
              <a:gd name="adj" fmla="val 2449"/>
            </a:avLst>
          </a:prstGeom>
          <a:solidFill>
            <a:srgbClr val="17385A"/>
          </a:solidFill>
          <a:ln w="12700">
            <a:solidFill>
              <a:srgbClr val="2A4D72"/>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5A623"/>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5A623"/>
          </a:solidFill>
          <a:ln w="12700">
            <a:solidFill>
              <a:srgbClr val="F5A623"/>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Buenas prácticas</a:t>
            </a:r>
            <a:endParaRPr lang="en-US" sz="1700" dirty="0"/>
          </a:p>
        </p:txBody>
      </p:sp>
      <p:sp>
        <p:nvSpPr>
          <p:cNvPr id="9" name="Shape 7"/>
          <p:cNvSpPr/>
          <p:nvPr/>
        </p:nvSpPr>
        <p:spPr>
          <a:xfrm>
            <a:off x="7178040" y="2816352"/>
            <a:ext cx="146304" cy="146304"/>
          </a:xfrm>
          <a:prstGeom prst="ellipse">
            <a:avLst/>
          </a:prstGeom>
          <a:solidFill>
            <a:srgbClr val="F5A623"/>
          </a:solidFill>
          <a:ln w="12700">
            <a:solidFill>
              <a:srgbClr val="F5A623"/>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Errores comunes</a:t>
            </a:r>
            <a:endParaRPr lang="en-US" sz="1700" dirty="0"/>
          </a:p>
        </p:txBody>
      </p:sp>
      <p:sp>
        <p:nvSpPr>
          <p:cNvPr id="11" name="Shape 9"/>
          <p:cNvSpPr/>
          <p:nvPr/>
        </p:nvSpPr>
        <p:spPr>
          <a:xfrm>
            <a:off x="7178040" y="3529584"/>
            <a:ext cx="146304" cy="146304"/>
          </a:xfrm>
          <a:prstGeom prst="ellipse">
            <a:avLst/>
          </a:prstGeom>
          <a:solidFill>
            <a:srgbClr val="F5A623"/>
          </a:solidFill>
          <a:ln w="12700">
            <a:solidFill>
              <a:srgbClr val="F5A623"/>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Checklist del PoC</a:t>
            </a:r>
            <a:endParaRPr lang="en-US" sz="1700" dirty="0"/>
          </a:p>
        </p:txBody>
      </p:sp>
      <p:sp>
        <p:nvSpPr>
          <p:cNvPr id="13" name="Shape 11"/>
          <p:cNvSpPr/>
          <p:nvPr/>
        </p:nvSpPr>
        <p:spPr>
          <a:xfrm>
            <a:off x="7178040" y="4242816"/>
            <a:ext cx="146304" cy="146304"/>
          </a:xfrm>
          <a:prstGeom prst="ellipse">
            <a:avLst/>
          </a:prstGeom>
          <a:solidFill>
            <a:srgbClr val="F5A623"/>
          </a:solidFill>
          <a:ln w="12700">
            <a:solidFill>
              <a:srgbClr val="F5A623"/>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Preguntas frecuentes</a:t>
            </a:r>
            <a:endParaRPr lang="en-US" sz="1700" dirty="0"/>
          </a:p>
        </p:txBody>
      </p:sp>
      <p:sp>
        <p:nvSpPr>
          <p:cNvPr id="15" name="Shape 13"/>
          <p:cNvSpPr/>
          <p:nvPr/>
        </p:nvSpPr>
        <p:spPr>
          <a:xfrm>
            <a:off x="7178040" y="4956048"/>
            <a:ext cx="146304" cy="146304"/>
          </a:xfrm>
          <a:prstGeom prst="ellipse">
            <a:avLst/>
          </a:prstGeom>
          <a:solidFill>
            <a:srgbClr val="F5A623"/>
          </a:solidFill>
          <a:ln w="12700">
            <a:solidFill>
              <a:srgbClr val="F5A623"/>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Resumen</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FA8C4"/>
                </a:solidFill>
                <a:latin typeface="Calibri" pitchFamily="34" charset="0"/>
                <a:ea typeface="Calibri" pitchFamily="34" charset="-122"/>
                <a:cs typeface="Calibri" pitchFamily="34" charset="-120"/>
              </a:rPr>
              <a:t>Path of Construction · Buenas prácticas y cierre</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FA8C4"/>
                </a:solidFill>
                <a:latin typeface="Calibri" pitchFamily="34" charset="0"/>
                <a:ea typeface="Calibri" pitchFamily="34" charset="-122"/>
                <a:cs typeface="Calibri" pitchFamily="34" charset="-120"/>
              </a:rPr>
              <a:t>108</a:t>
            </a:r>
            <a:endParaRPr lang="en-US" sz="1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Buenas prácticas y errores comunes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Lo que hace la diferencia</a:t>
            </a:r>
            <a:endParaRPr lang="en-US" sz="1500" dirty="0"/>
          </a:p>
        </p:txBody>
      </p:sp>
      <p:sp>
        <p:nvSpPr>
          <p:cNvPr id="4" name="Shape 2"/>
          <p:cNvSpPr/>
          <p:nvPr/>
        </p:nvSpPr>
        <p:spPr>
          <a:xfrm>
            <a:off x="548640" y="1554480"/>
            <a:ext cx="5364328" cy="4709160"/>
          </a:xfrm>
          <a:prstGeom prst="roundRect">
            <a:avLst>
              <a:gd name="adj" fmla="val 1942"/>
            </a:avLst>
          </a:prstGeom>
          <a:solidFill>
            <a:srgbClr val="F4F7FA"/>
          </a:solidFill>
          <a:ln w="9525">
            <a:solidFill>
              <a:srgbClr val="DDE4EC"/>
            </a:solidFill>
            <a:prstDash val="solid"/>
          </a:ln>
        </p:spPr>
      </p:sp>
      <p:sp>
        <p:nvSpPr>
          <p:cNvPr id="5" name="Shape 3"/>
          <p:cNvSpPr/>
          <p:nvPr/>
        </p:nvSpPr>
        <p:spPr>
          <a:xfrm>
            <a:off x="822960" y="1810512"/>
            <a:ext cx="566928" cy="56692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50519" y="1938071"/>
            <a:ext cx="311810" cy="311810"/>
          </a:xfrm>
          <a:prstGeom prst="rect">
            <a:avLst/>
          </a:prstGeom>
        </p:spPr>
      </p:pic>
      <p:sp>
        <p:nvSpPr>
          <p:cNvPr id="7" name="Text 4"/>
          <p:cNvSpPr txBox="1"/>
          <p:nvPr/>
        </p:nvSpPr>
        <p:spPr>
          <a:xfrm>
            <a:off x="1554480" y="1810512"/>
            <a:ext cx="4084168" cy="566928"/>
          </a:xfrm>
          <a:prstGeom prst="rect">
            <a:avLst/>
          </a:prstGeom>
          <a:noFill/>
          <a:ln/>
        </p:spPr>
        <p:txBody>
          <a:bodyPr wrap="square" lIns="0" tIns="0" rIns="0" bIns="0" rtlCol="0" anchor="ctr"/>
          <a:lstStyle/>
          <a:p>
            <a:pPr indent="0" marL="0">
              <a:buNone/>
            </a:pPr>
            <a:r>
              <a:rPr lang="en-US" sz="2100" b="1" dirty="0">
                <a:solidFill>
                  <a:srgbClr val="0CA30C"/>
                </a:solidFill>
                <a:latin typeface="Calibri" pitchFamily="34" charset="0"/>
                <a:ea typeface="Calibri" pitchFamily="34" charset="-122"/>
                <a:cs typeface="Calibri" pitchFamily="34" charset="-120"/>
              </a:rPr>
              <a:t>Buenas prácticas</a:t>
            </a:r>
            <a:endParaRPr lang="en-US" sz="2100" dirty="0"/>
          </a:p>
        </p:txBody>
      </p:sp>
      <p:sp>
        <p:nvSpPr>
          <p:cNvPr id="8" name="Text 5"/>
          <p:cNvSpPr txBox="1"/>
          <p:nvPr/>
        </p:nvSpPr>
        <p:spPr>
          <a:xfrm>
            <a:off x="868680"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Empezar por los sistemas a entregar y trabajar hacia atrás.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Hacer el paso 1 solo con construcción; luego sumar a todos.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Registrar la justificación de cada posición en la secuencia.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Poner las fechas requeridas en los contratos de ingeniería y procura.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Revisar lecciones y riesgos de la fase anterior en cada taller.</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Congelar al final de FEL 3 y cambiar solo con control de cambios.</a:t>
            </a:r>
            <a:endParaRPr lang="en-US" sz="1600" dirty="0"/>
          </a:p>
        </p:txBody>
      </p:sp>
      <p:sp>
        <p:nvSpPr>
          <p:cNvPr id="9" name="Shape 6"/>
          <p:cNvSpPr/>
          <p:nvPr/>
        </p:nvSpPr>
        <p:spPr>
          <a:xfrm>
            <a:off x="6278728" y="1554480"/>
            <a:ext cx="5364328" cy="4709160"/>
          </a:xfrm>
          <a:prstGeom prst="roundRect">
            <a:avLst>
              <a:gd name="adj" fmla="val 1942"/>
            </a:avLst>
          </a:prstGeom>
          <a:solidFill>
            <a:srgbClr val="F4F7FA"/>
          </a:solidFill>
          <a:ln w="9525">
            <a:solidFill>
              <a:srgbClr val="DDE4EC"/>
            </a:solidFill>
            <a:prstDash val="solid"/>
          </a:ln>
        </p:spPr>
      </p:sp>
      <p:sp>
        <p:nvSpPr>
          <p:cNvPr id="10" name="Shape 7"/>
          <p:cNvSpPr/>
          <p:nvPr/>
        </p:nvSpPr>
        <p:spPr>
          <a:xfrm>
            <a:off x="6553048" y="1810512"/>
            <a:ext cx="566928" cy="56692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80606" y="1938071"/>
            <a:ext cx="311810" cy="311810"/>
          </a:xfrm>
          <a:prstGeom prst="rect">
            <a:avLst/>
          </a:prstGeom>
        </p:spPr>
      </p:pic>
      <p:sp>
        <p:nvSpPr>
          <p:cNvPr id="12" name="Text 8"/>
          <p:cNvSpPr txBox="1"/>
          <p:nvPr/>
        </p:nvSpPr>
        <p:spPr>
          <a:xfrm>
            <a:off x="7284568" y="1810512"/>
            <a:ext cx="4084168" cy="566928"/>
          </a:xfrm>
          <a:prstGeom prst="rect">
            <a:avLst/>
          </a:prstGeom>
          <a:noFill/>
          <a:ln/>
        </p:spPr>
        <p:txBody>
          <a:bodyPr wrap="square" lIns="0" tIns="0" rIns="0" bIns="0" rtlCol="0" anchor="ctr"/>
          <a:lstStyle/>
          <a:p>
            <a:pPr indent="0" marL="0">
              <a:buNone/>
            </a:pPr>
            <a:r>
              <a:rPr lang="en-US" sz="2100" b="1" dirty="0">
                <a:solidFill>
                  <a:srgbClr val="D03B3B"/>
                </a:solidFill>
                <a:latin typeface="Calibri" pitchFamily="34" charset="0"/>
                <a:ea typeface="Calibri" pitchFamily="34" charset="-122"/>
                <a:cs typeface="Calibri" pitchFamily="34" charset="-120"/>
              </a:rPr>
              <a:t>Errores comunes</a:t>
            </a:r>
            <a:endParaRPr lang="en-US" sz="2100" dirty="0"/>
          </a:p>
        </p:txBody>
      </p:sp>
      <p:sp>
        <p:nvSpPr>
          <p:cNvPr id="13" name="Text 9"/>
          <p:cNvSpPr txBox="1"/>
          <p:nvPr/>
        </p:nvSpPr>
        <p:spPr>
          <a:xfrm>
            <a:off x="6598768"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Hacer el PoC tarde, cuando la ingeniería de detalle ya avanzó.</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Un PoC hecho solo por construcción y nunca revisado con ingeniería y procura.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Secuenciar por disciplina en lugar de por área y sistema.</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No calcular las fechas requeridas: el PoC queda como un dibujo.</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Olvidar recursos compartidos e interfaces entre fases.</a:t>
            </a:r>
            <a:endParaRPr lang="en-US" sz="1600" dirty="0"/>
          </a:p>
          <a:p>
            <a:pPr marL="203200" indent="-203200">
              <a:spcAft>
                <a:spcPts val="1000"/>
              </a:spcAft>
              <a:buSzPct val="100000"/>
              <a:buChar char="•"/>
            </a:pPr>
            <a:r>
              <a:rPr lang="en-US" sz="1600" dirty="0">
                <a:solidFill>
                  <a:srgbClr val="1B1F24"/>
                </a:solidFill>
                <a:latin typeface="Calibri" pitchFamily="34" charset="0"/>
                <a:ea typeface="Calibri" pitchFamily="34" charset="-122"/>
                <a:cs typeface="Calibri" pitchFamily="34" charset="-120"/>
              </a:rPr>
              <a:t>No actualizarlo: la obra sigue otra secuencia.</a:t>
            </a:r>
            <a:endParaRPr lang="en-US" sz="1600" dirty="0"/>
          </a:p>
        </p:txBody>
      </p:sp>
      <p:sp>
        <p:nvSpPr>
          <p:cNvPr id="14"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Buenas prácticas y cierre</a:t>
            </a:r>
            <a:endParaRPr lang="en-US" sz="1000" dirty="0"/>
          </a:p>
        </p:txBody>
      </p:sp>
      <p:sp>
        <p:nvSpPr>
          <p:cNvPr id="15"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109</a:t>
            </a:r>
            <a:endParaRPr lang="en-US" sz="1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Checklist del Path of Construction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Antes de declarar cumplido el hito H2</a:t>
            </a:r>
            <a:endParaRPr lang="en-US" sz="1500" dirty="0"/>
          </a:p>
        </p:txBody>
      </p:sp>
      <p:sp>
        <p:nvSpPr>
          <p:cNvPr id="4" name="Shape 2"/>
          <p:cNvSpPr/>
          <p:nvPr/>
        </p:nvSpPr>
        <p:spPr>
          <a:xfrm>
            <a:off x="548640" y="1572768"/>
            <a:ext cx="5410048" cy="1042416"/>
          </a:xfrm>
          <a:prstGeom prst="roundRect">
            <a:avLst>
              <a:gd name="adj" fmla="val 7018"/>
            </a:avLst>
          </a:prstGeom>
          <a:solidFill>
            <a:srgbClr val="F4F7FA"/>
          </a:solidFill>
          <a:ln w="9525">
            <a:solidFill>
              <a:srgbClr val="DDE4EC"/>
            </a:solidFill>
            <a:prstDash val="solid"/>
          </a:ln>
        </p:spPr>
      </p:sp>
      <p:pic>
        <p:nvPicPr>
          <p:cNvPr id="5" name="Image 0" descr="preencoded.png">    </p:cNvPr>
          <p:cNvPicPr>
            <a:picLocks noChangeAspect="1"/>
          </p:cNvPicPr>
          <p:nvPr/>
        </p:nvPicPr>
        <p:blipFill>
          <a:blip r:embed="rId1"/>
          <a:stretch>
            <a:fillRect/>
          </a:stretch>
        </p:blipFill>
        <p:spPr>
          <a:xfrm>
            <a:off x="749808" y="1892808"/>
            <a:ext cx="402336" cy="402336"/>
          </a:xfrm>
          <a:prstGeom prst="rect">
            <a:avLst/>
          </a:prstGeom>
        </p:spPr>
      </p:pic>
      <p:sp>
        <p:nvSpPr>
          <p:cNvPr id="6" name="Text 3"/>
          <p:cNvSpPr txBox="1"/>
          <p:nvPr/>
        </p:nvSpPr>
        <p:spPr>
          <a:xfrm>
            <a:off x="1325880" y="1572768"/>
            <a:ext cx="4449928" cy="1042416"/>
          </a:xfrm>
          <a:prstGeom prst="rect">
            <a:avLst/>
          </a:prstGeom>
          <a:noFill/>
          <a:ln/>
        </p:spPr>
        <p:txBody>
          <a:bodyPr wrap="square" lIns="0" tIns="0" rIns="0" bIns="0" rtlCol="0" anchor="ctr"/>
          <a:lstStyle/>
          <a:p>
            <a:pPr indent="0" marL="0">
              <a:buNone/>
            </a:pPr>
            <a:r>
              <a:rPr lang="en-US" sz="1550" dirty="0">
                <a:solidFill>
                  <a:srgbClr val="1B1F24"/>
                </a:solidFill>
                <a:latin typeface="Calibri" pitchFamily="34" charset="0"/>
                <a:ea typeface="Calibri" pitchFamily="34" charset="-122"/>
                <a:cs typeface="Calibri" pitchFamily="34" charset="-120"/>
              </a:rPr>
              <a:t>Las CWA de la fase cumplen los 10 criterios y el hito H1.</a:t>
            </a:r>
            <a:endParaRPr lang="en-US" sz="1550" dirty="0"/>
          </a:p>
        </p:txBody>
      </p:sp>
      <p:sp>
        <p:nvSpPr>
          <p:cNvPr id="7" name="Shape 4"/>
          <p:cNvSpPr/>
          <p:nvPr/>
        </p:nvSpPr>
        <p:spPr>
          <a:xfrm>
            <a:off x="548640" y="2779776"/>
            <a:ext cx="5410048" cy="1042416"/>
          </a:xfrm>
          <a:prstGeom prst="roundRect">
            <a:avLst>
              <a:gd name="adj" fmla="val 7018"/>
            </a:avLst>
          </a:prstGeom>
          <a:solidFill>
            <a:srgbClr val="F4F7FA"/>
          </a:solidFill>
          <a:ln w="9525">
            <a:solidFill>
              <a:srgbClr val="DDE4EC"/>
            </a:solidFill>
            <a:prstDash val="solid"/>
          </a:ln>
        </p:spPr>
      </p:sp>
      <p:pic>
        <p:nvPicPr>
          <p:cNvPr id="8" name="Image 1" descr="preencoded.png">    </p:cNvPr>
          <p:cNvPicPr>
            <a:picLocks noChangeAspect="1"/>
          </p:cNvPicPr>
          <p:nvPr/>
        </p:nvPicPr>
        <p:blipFill>
          <a:blip r:embed="rId2"/>
          <a:stretch>
            <a:fillRect/>
          </a:stretch>
        </p:blipFill>
        <p:spPr>
          <a:xfrm>
            <a:off x="749808" y="3099816"/>
            <a:ext cx="402336" cy="402336"/>
          </a:xfrm>
          <a:prstGeom prst="rect">
            <a:avLst/>
          </a:prstGeom>
        </p:spPr>
      </p:pic>
      <p:sp>
        <p:nvSpPr>
          <p:cNvPr id="9" name="Text 5"/>
          <p:cNvSpPr txBox="1"/>
          <p:nvPr/>
        </p:nvSpPr>
        <p:spPr>
          <a:xfrm>
            <a:off x="1325880" y="2779776"/>
            <a:ext cx="4449928" cy="1042416"/>
          </a:xfrm>
          <a:prstGeom prst="rect">
            <a:avLst/>
          </a:prstGeom>
          <a:noFill/>
          <a:ln/>
        </p:spPr>
        <p:txBody>
          <a:bodyPr wrap="square" lIns="0" tIns="0" rIns="0" bIns="0" rtlCol="0" anchor="ctr"/>
          <a:lstStyle/>
          <a:p>
            <a:pPr indent="0" marL="0">
              <a:buNone/>
            </a:pPr>
            <a:r>
              <a:rPr lang="en-US" sz="1550" dirty="0">
                <a:solidFill>
                  <a:srgbClr val="1B1F24"/>
                </a:solidFill>
                <a:latin typeface="Calibri" pitchFamily="34" charset="0"/>
                <a:ea typeface="Calibri" pitchFamily="34" charset="-122"/>
                <a:cs typeface="Calibri" pitchFamily="34" charset="-120"/>
              </a:rPr>
              <a:t>Hay lista de sistemas con su prioridad de puesta en marcha.</a:t>
            </a:r>
            <a:endParaRPr lang="en-US" sz="1550" dirty="0"/>
          </a:p>
        </p:txBody>
      </p:sp>
      <p:sp>
        <p:nvSpPr>
          <p:cNvPr id="10" name="Shape 6"/>
          <p:cNvSpPr/>
          <p:nvPr/>
        </p:nvSpPr>
        <p:spPr>
          <a:xfrm>
            <a:off x="548640" y="3986784"/>
            <a:ext cx="5410048" cy="1042416"/>
          </a:xfrm>
          <a:prstGeom prst="roundRect">
            <a:avLst>
              <a:gd name="adj" fmla="val 7018"/>
            </a:avLst>
          </a:prstGeom>
          <a:solidFill>
            <a:srgbClr val="F4F7FA"/>
          </a:solidFill>
          <a:ln w="9525">
            <a:solidFill>
              <a:srgbClr val="DDE4EC"/>
            </a:solidFill>
            <a:prstDash val="solid"/>
          </a:ln>
        </p:spPr>
      </p:sp>
      <p:pic>
        <p:nvPicPr>
          <p:cNvPr id="11" name="Image 2" descr="preencoded.png">    </p:cNvPr>
          <p:cNvPicPr>
            <a:picLocks noChangeAspect="1"/>
          </p:cNvPicPr>
          <p:nvPr/>
        </p:nvPicPr>
        <p:blipFill>
          <a:blip r:embed="rId3"/>
          <a:stretch>
            <a:fillRect/>
          </a:stretch>
        </p:blipFill>
        <p:spPr>
          <a:xfrm>
            <a:off x="749808" y="4306824"/>
            <a:ext cx="402336" cy="402336"/>
          </a:xfrm>
          <a:prstGeom prst="rect">
            <a:avLst/>
          </a:prstGeom>
        </p:spPr>
      </p:pic>
      <p:sp>
        <p:nvSpPr>
          <p:cNvPr id="12" name="Text 7"/>
          <p:cNvSpPr txBox="1"/>
          <p:nvPr/>
        </p:nvSpPr>
        <p:spPr>
          <a:xfrm>
            <a:off x="1325880" y="3986784"/>
            <a:ext cx="4449928" cy="1042416"/>
          </a:xfrm>
          <a:prstGeom prst="rect">
            <a:avLst/>
          </a:prstGeom>
          <a:noFill/>
          <a:ln/>
        </p:spPr>
        <p:txBody>
          <a:bodyPr wrap="square" lIns="0" tIns="0" rIns="0" bIns="0" rtlCol="0" anchor="ctr"/>
          <a:lstStyle/>
          <a:p>
            <a:pPr indent="0" marL="0">
              <a:buNone/>
            </a:pPr>
            <a:r>
              <a:rPr lang="en-US" sz="1550" dirty="0">
                <a:solidFill>
                  <a:srgbClr val="1B1F24"/>
                </a:solidFill>
                <a:latin typeface="Calibri" pitchFamily="34" charset="0"/>
                <a:ea typeface="Calibri" pitchFamily="34" charset="-122"/>
                <a:cs typeface="Calibri" pitchFamily="34" charset="-120"/>
              </a:rPr>
              <a:t>Construcción, ingeniería, procura y comisionamiento participaron en el taller.</a:t>
            </a:r>
            <a:endParaRPr lang="en-US" sz="1550" dirty="0"/>
          </a:p>
        </p:txBody>
      </p:sp>
      <p:sp>
        <p:nvSpPr>
          <p:cNvPr id="13" name="Shape 8"/>
          <p:cNvSpPr/>
          <p:nvPr/>
        </p:nvSpPr>
        <p:spPr>
          <a:xfrm>
            <a:off x="548640" y="5193792"/>
            <a:ext cx="5410048" cy="1042416"/>
          </a:xfrm>
          <a:prstGeom prst="roundRect">
            <a:avLst>
              <a:gd name="adj" fmla="val 7018"/>
            </a:avLst>
          </a:prstGeom>
          <a:solidFill>
            <a:srgbClr val="F4F7FA"/>
          </a:solidFill>
          <a:ln w="9525">
            <a:solidFill>
              <a:srgbClr val="DDE4EC"/>
            </a:solidFill>
            <a:prstDash val="solid"/>
          </a:ln>
        </p:spPr>
      </p:sp>
      <p:pic>
        <p:nvPicPr>
          <p:cNvPr id="14" name="Image 3" descr="preencoded.png">    </p:cNvPr>
          <p:cNvPicPr>
            <a:picLocks noChangeAspect="1"/>
          </p:cNvPicPr>
          <p:nvPr/>
        </p:nvPicPr>
        <p:blipFill>
          <a:blip r:embed="rId4"/>
          <a:stretch>
            <a:fillRect/>
          </a:stretch>
        </p:blipFill>
        <p:spPr>
          <a:xfrm>
            <a:off x="749808" y="5513832"/>
            <a:ext cx="402336" cy="402336"/>
          </a:xfrm>
          <a:prstGeom prst="rect">
            <a:avLst/>
          </a:prstGeom>
        </p:spPr>
      </p:pic>
      <p:sp>
        <p:nvSpPr>
          <p:cNvPr id="15" name="Text 9"/>
          <p:cNvSpPr txBox="1"/>
          <p:nvPr/>
        </p:nvSpPr>
        <p:spPr>
          <a:xfrm>
            <a:off x="1325880" y="5193792"/>
            <a:ext cx="4449928" cy="1042416"/>
          </a:xfrm>
          <a:prstGeom prst="rect">
            <a:avLst/>
          </a:prstGeom>
          <a:noFill/>
          <a:ln/>
        </p:spPr>
        <p:txBody>
          <a:bodyPr wrap="square" lIns="0" tIns="0" rIns="0" bIns="0" rtlCol="0" anchor="ctr"/>
          <a:lstStyle/>
          <a:p>
            <a:pPr indent="0" marL="0">
              <a:buNone/>
            </a:pPr>
            <a:r>
              <a:rPr lang="en-US" sz="1550" dirty="0">
                <a:solidFill>
                  <a:srgbClr val="1B1F24"/>
                </a:solidFill>
                <a:latin typeface="Calibri" pitchFamily="34" charset="0"/>
                <a:ea typeface="Calibri" pitchFamily="34" charset="-122"/>
                <a:cs typeface="Calibri" pitchFamily="34" charset="-120"/>
              </a:rPr>
              <a:t>Cada CWP tiene inicio, duración, predecesor, sistema y justificación.</a:t>
            </a:r>
            <a:endParaRPr lang="en-US" sz="1550" dirty="0"/>
          </a:p>
        </p:txBody>
      </p:sp>
      <p:sp>
        <p:nvSpPr>
          <p:cNvPr id="16" name="Shape 10"/>
          <p:cNvSpPr/>
          <p:nvPr/>
        </p:nvSpPr>
        <p:spPr>
          <a:xfrm>
            <a:off x="6233008" y="1572768"/>
            <a:ext cx="5410048" cy="1042416"/>
          </a:xfrm>
          <a:prstGeom prst="roundRect">
            <a:avLst>
              <a:gd name="adj" fmla="val 7018"/>
            </a:avLst>
          </a:prstGeom>
          <a:solidFill>
            <a:srgbClr val="F4F7FA"/>
          </a:solidFill>
          <a:ln w="9525">
            <a:solidFill>
              <a:srgbClr val="DDE4EC"/>
            </a:solidFill>
            <a:prstDash val="solid"/>
          </a:ln>
        </p:spPr>
      </p:sp>
      <p:pic>
        <p:nvPicPr>
          <p:cNvPr id="17" name="Image 4" descr="preencoded.png">    </p:cNvPr>
          <p:cNvPicPr>
            <a:picLocks noChangeAspect="1"/>
          </p:cNvPicPr>
          <p:nvPr/>
        </p:nvPicPr>
        <p:blipFill>
          <a:blip r:embed="rId5"/>
          <a:stretch>
            <a:fillRect/>
          </a:stretch>
        </p:blipFill>
        <p:spPr>
          <a:xfrm>
            <a:off x="6434176" y="1892808"/>
            <a:ext cx="402336" cy="402336"/>
          </a:xfrm>
          <a:prstGeom prst="rect">
            <a:avLst/>
          </a:prstGeom>
        </p:spPr>
      </p:pic>
      <p:sp>
        <p:nvSpPr>
          <p:cNvPr id="18" name="Text 11"/>
          <p:cNvSpPr txBox="1"/>
          <p:nvPr/>
        </p:nvSpPr>
        <p:spPr>
          <a:xfrm>
            <a:off x="7010248" y="1572768"/>
            <a:ext cx="4449928" cy="1042416"/>
          </a:xfrm>
          <a:prstGeom prst="rect">
            <a:avLst/>
          </a:prstGeom>
          <a:noFill/>
          <a:ln/>
        </p:spPr>
        <p:txBody>
          <a:bodyPr wrap="square" lIns="0" tIns="0" rIns="0" bIns="0" rtlCol="0" anchor="ctr"/>
          <a:lstStyle/>
          <a:p>
            <a:pPr indent="0" marL="0">
              <a:buNone/>
            </a:pPr>
            <a:r>
              <a:rPr lang="en-US" sz="1550" dirty="0">
                <a:solidFill>
                  <a:srgbClr val="1B1F24"/>
                </a:solidFill>
                <a:latin typeface="Calibri" pitchFamily="34" charset="0"/>
                <a:ea typeface="Calibri" pitchFamily="34" charset="-122"/>
                <a:cs typeface="Calibri" pitchFamily="34" charset="-120"/>
              </a:rPr>
              <a:t>El control de secuencia no muestra conflictos.</a:t>
            </a:r>
            <a:endParaRPr lang="en-US" sz="1550" dirty="0"/>
          </a:p>
        </p:txBody>
      </p:sp>
      <p:sp>
        <p:nvSpPr>
          <p:cNvPr id="19" name="Shape 12"/>
          <p:cNvSpPr/>
          <p:nvPr/>
        </p:nvSpPr>
        <p:spPr>
          <a:xfrm>
            <a:off x="6233008" y="2779776"/>
            <a:ext cx="5410048" cy="1042416"/>
          </a:xfrm>
          <a:prstGeom prst="roundRect">
            <a:avLst>
              <a:gd name="adj" fmla="val 7018"/>
            </a:avLst>
          </a:prstGeom>
          <a:solidFill>
            <a:srgbClr val="F4F7FA"/>
          </a:solidFill>
          <a:ln w="9525">
            <a:solidFill>
              <a:srgbClr val="DDE4EC"/>
            </a:solidFill>
            <a:prstDash val="solid"/>
          </a:ln>
        </p:spPr>
      </p:sp>
      <p:pic>
        <p:nvPicPr>
          <p:cNvPr id="20" name="Image 5" descr="preencoded.png">    </p:cNvPr>
          <p:cNvPicPr>
            <a:picLocks noChangeAspect="1"/>
          </p:cNvPicPr>
          <p:nvPr/>
        </p:nvPicPr>
        <p:blipFill>
          <a:blip r:embed="rId6"/>
          <a:stretch>
            <a:fillRect/>
          </a:stretch>
        </p:blipFill>
        <p:spPr>
          <a:xfrm>
            <a:off x="6434176" y="3099816"/>
            <a:ext cx="402336" cy="402336"/>
          </a:xfrm>
          <a:prstGeom prst="rect">
            <a:avLst/>
          </a:prstGeom>
        </p:spPr>
      </p:pic>
      <p:sp>
        <p:nvSpPr>
          <p:cNvPr id="21" name="Text 13"/>
          <p:cNvSpPr txBox="1"/>
          <p:nvPr/>
        </p:nvSpPr>
        <p:spPr>
          <a:xfrm>
            <a:off x="7010248" y="2779776"/>
            <a:ext cx="4449928" cy="1042416"/>
          </a:xfrm>
          <a:prstGeom prst="rect">
            <a:avLst/>
          </a:prstGeom>
          <a:noFill/>
          <a:ln/>
        </p:spPr>
        <p:txBody>
          <a:bodyPr wrap="square" lIns="0" tIns="0" rIns="0" bIns="0" rtlCol="0" anchor="ctr"/>
          <a:lstStyle/>
          <a:p>
            <a:pPr indent="0" marL="0">
              <a:buNone/>
            </a:pPr>
            <a:r>
              <a:rPr lang="en-US" sz="1550" dirty="0">
                <a:solidFill>
                  <a:srgbClr val="1B1F24"/>
                </a:solidFill>
                <a:latin typeface="Calibri" pitchFamily="34" charset="0"/>
                <a:ea typeface="Calibri" pitchFamily="34" charset="-122"/>
                <a:cs typeface="Calibri" pitchFamily="34" charset="-120"/>
              </a:rPr>
              <a:t>Están calculadas las fechas de EWP IFC, emisión de CWP y RAS.</a:t>
            </a:r>
            <a:endParaRPr lang="en-US" sz="1550" dirty="0"/>
          </a:p>
        </p:txBody>
      </p:sp>
      <p:sp>
        <p:nvSpPr>
          <p:cNvPr id="22" name="Shape 14"/>
          <p:cNvSpPr/>
          <p:nvPr/>
        </p:nvSpPr>
        <p:spPr>
          <a:xfrm>
            <a:off x="6233008" y="3986784"/>
            <a:ext cx="5410048" cy="1042416"/>
          </a:xfrm>
          <a:prstGeom prst="roundRect">
            <a:avLst>
              <a:gd name="adj" fmla="val 7018"/>
            </a:avLst>
          </a:prstGeom>
          <a:solidFill>
            <a:srgbClr val="F4F7FA"/>
          </a:solidFill>
          <a:ln w="9525">
            <a:solidFill>
              <a:srgbClr val="DDE4EC"/>
            </a:solidFill>
            <a:prstDash val="solid"/>
          </a:ln>
        </p:spPr>
      </p:sp>
      <p:pic>
        <p:nvPicPr>
          <p:cNvPr id="23" name="Image 6" descr="preencoded.png">    </p:cNvPr>
          <p:cNvPicPr>
            <a:picLocks noChangeAspect="1"/>
          </p:cNvPicPr>
          <p:nvPr/>
        </p:nvPicPr>
        <p:blipFill>
          <a:blip r:embed="rId7"/>
          <a:stretch>
            <a:fillRect/>
          </a:stretch>
        </p:blipFill>
        <p:spPr>
          <a:xfrm>
            <a:off x="6434176" y="4306824"/>
            <a:ext cx="402336" cy="402336"/>
          </a:xfrm>
          <a:prstGeom prst="rect">
            <a:avLst/>
          </a:prstGeom>
        </p:spPr>
      </p:pic>
      <p:sp>
        <p:nvSpPr>
          <p:cNvPr id="24" name="Text 15"/>
          <p:cNvSpPr txBox="1"/>
          <p:nvPr/>
        </p:nvSpPr>
        <p:spPr>
          <a:xfrm>
            <a:off x="7010248" y="3986784"/>
            <a:ext cx="4449928" cy="1042416"/>
          </a:xfrm>
          <a:prstGeom prst="rect">
            <a:avLst/>
          </a:prstGeom>
          <a:noFill/>
          <a:ln/>
        </p:spPr>
        <p:txBody>
          <a:bodyPr wrap="square" lIns="0" tIns="0" rIns="0" bIns="0" rtlCol="0" anchor="ctr"/>
          <a:lstStyle/>
          <a:p>
            <a:pPr indent="0" marL="0">
              <a:buNone/>
            </a:pPr>
            <a:r>
              <a:rPr lang="en-US" sz="1550" dirty="0">
                <a:solidFill>
                  <a:srgbClr val="1B1F24"/>
                </a:solidFill>
                <a:latin typeface="Calibri" pitchFamily="34" charset="0"/>
                <a:ea typeface="Calibri" pitchFamily="34" charset="-122"/>
                <a:cs typeface="Calibri" pitchFamily="34" charset="-120"/>
              </a:rPr>
              <a:t>Supuestos, riesgos, decisiones y acciones están en el acta.</a:t>
            </a:r>
            <a:endParaRPr lang="en-US" sz="1550" dirty="0"/>
          </a:p>
        </p:txBody>
      </p:sp>
      <p:sp>
        <p:nvSpPr>
          <p:cNvPr id="25" name="Shape 16"/>
          <p:cNvSpPr/>
          <p:nvPr/>
        </p:nvSpPr>
        <p:spPr>
          <a:xfrm>
            <a:off x="6233008" y="5193792"/>
            <a:ext cx="5410048" cy="1042416"/>
          </a:xfrm>
          <a:prstGeom prst="roundRect">
            <a:avLst>
              <a:gd name="adj" fmla="val 7018"/>
            </a:avLst>
          </a:prstGeom>
          <a:solidFill>
            <a:srgbClr val="F4F7FA"/>
          </a:solidFill>
          <a:ln w="9525">
            <a:solidFill>
              <a:srgbClr val="DDE4EC"/>
            </a:solidFill>
            <a:prstDash val="solid"/>
          </a:ln>
        </p:spPr>
      </p:sp>
      <p:pic>
        <p:nvPicPr>
          <p:cNvPr id="26" name="Image 7" descr="preencoded.png">    </p:cNvPr>
          <p:cNvPicPr>
            <a:picLocks noChangeAspect="1"/>
          </p:cNvPicPr>
          <p:nvPr/>
        </p:nvPicPr>
        <p:blipFill>
          <a:blip r:embed="rId8"/>
          <a:stretch>
            <a:fillRect/>
          </a:stretch>
        </p:blipFill>
        <p:spPr>
          <a:xfrm>
            <a:off x="6434176" y="5513832"/>
            <a:ext cx="402336" cy="402336"/>
          </a:xfrm>
          <a:prstGeom prst="rect">
            <a:avLst/>
          </a:prstGeom>
        </p:spPr>
      </p:pic>
      <p:sp>
        <p:nvSpPr>
          <p:cNvPr id="27" name="Text 17"/>
          <p:cNvSpPr txBox="1"/>
          <p:nvPr/>
        </p:nvSpPr>
        <p:spPr>
          <a:xfrm>
            <a:off x="7010248" y="5193792"/>
            <a:ext cx="4449928" cy="1042416"/>
          </a:xfrm>
          <a:prstGeom prst="rect">
            <a:avLst/>
          </a:prstGeom>
          <a:noFill/>
          <a:ln/>
        </p:spPr>
        <p:txBody>
          <a:bodyPr wrap="square" lIns="0" tIns="0" rIns="0" bIns="0" rtlCol="0" anchor="ctr"/>
          <a:lstStyle/>
          <a:p>
            <a:pPr indent="0" marL="0">
              <a:buNone/>
            </a:pPr>
            <a:r>
              <a:rPr lang="en-US" sz="1550" dirty="0">
                <a:solidFill>
                  <a:srgbClr val="1B1F24"/>
                </a:solidFill>
                <a:latin typeface="Calibri" pitchFamily="34" charset="0"/>
                <a:ea typeface="Calibri" pitchFamily="34" charset="-122"/>
                <a:cs typeface="Calibri" pitchFamily="34" charset="-120"/>
              </a:rPr>
              <a:t>El acta está firmada por CON, CHA y el cliente: PoC congelado.</a:t>
            </a:r>
            <a:endParaRPr lang="en-US" sz="1550" dirty="0"/>
          </a:p>
        </p:txBody>
      </p:sp>
      <p:sp>
        <p:nvSpPr>
          <p:cNvPr id="28"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Buenas prácticas y cierre</a:t>
            </a:r>
            <a:endParaRPr lang="en-US" sz="1000" dirty="0"/>
          </a:p>
        </p:txBody>
      </p:sp>
      <p:sp>
        <p:nvSpPr>
          <p:cNvPr id="29"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110</a:t>
            </a:r>
            <a:endParaRPr lang="en-US" sz="1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Preguntas frecuentes</a:t>
            </a:r>
            <a:endParaRPr lang="en-US" sz="2800" dirty="0"/>
          </a:p>
        </p:txBody>
      </p:sp>
      <p:sp>
        <p:nvSpPr>
          <p:cNvPr id="3" name="Shape 1"/>
          <p:cNvSpPr/>
          <p:nvPr/>
        </p:nvSpPr>
        <p:spPr>
          <a:xfrm>
            <a:off x="548640" y="1325880"/>
            <a:ext cx="5410048" cy="1078992"/>
          </a:xfrm>
          <a:prstGeom prst="roundRect">
            <a:avLst>
              <a:gd name="adj" fmla="val 6780"/>
            </a:avLst>
          </a:prstGeom>
          <a:solidFill>
            <a:srgbClr val="F4F7FA"/>
          </a:solidFill>
          <a:ln w="9525">
            <a:solidFill>
              <a:srgbClr val="DDE4EC"/>
            </a:solidFill>
            <a:prstDash val="solid"/>
          </a:ln>
        </p:spPr>
      </p:sp>
      <p:sp>
        <p:nvSpPr>
          <p:cNvPr id="4" name="Shape 2"/>
          <p:cNvSpPr/>
          <p:nvPr/>
        </p:nvSpPr>
        <p:spPr>
          <a:xfrm>
            <a:off x="713232" y="1508760"/>
            <a:ext cx="402336" cy="402336"/>
          </a:xfrm>
          <a:prstGeom prst="ellipse">
            <a:avLst/>
          </a:prstGeom>
          <a:solidFill>
            <a:srgbClr val="E2EBF4"/>
          </a:solidFill>
          <a:ln w="12700">
            <a:solidFill>
              <a:srgbClr val="E2EBF4"/>
            </a:solidFill>
            <a:prstDash val="solid"/>
          </a:ln>
        </p:spPr>
      </p:sp>
      <p:pic>
        <p:nvPicPr>
          <p:cNvPr id="5" name="Image 0" descr="preencoded.png">    </p:cNvPr>
          <p:cNvPicPr>
            <a:picLocks noChangeAspect="1"/>
          </p:cNvPicPr>
          <p:nvPr/>
        </p:nvPicPr>
        <p:blipFill>
          <a:blip r:embed="rId1"/>
          <a:stretch>
            <a:fillRect/>
          </a:stretch>
        </p:blipFill>
        <p:spPr>
          <a:xfrm>
            <a:off x="803758" y="1599286"/>
            <a:ext cx="221285" cy="221285"/>
          </a:xfrm>
          <a:prstGeom prst="rect">
            <a:avLst/>
          </a:prstGeom>
        </p:spPr>
      </p:pic>
      <p:sp>
        <p:nvSpPr>
          <p:cNvPr id="6" name="Text 3"/>
          <p:cNvSpPr txBox="1"/>
          <p:nvPr/>
        </p:nvSpPr>
        <p:spPr>
          <a:xfrm>
            <a:off x="1261872" y="145389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F24"/>
                </a:solidFill>
                <a:latin typeface="Calibri" pitchFamily="34" charset="0"/>
                <a:ea typeface="Calibri" pitchFamily="34" charset="-122"/>
                <a:cs typeface="Calibri" pitchFamily="34" charset="-120"/>
              </a:rPr>
              <a:t>¿Quién es el dueño del PoC?</a:t>
            </a:r>
            <a:endParaRPr lang="en-US" sz="1450" dirty="0"/>
          </a:p>
          <a:p>
            <a:pPr indent="0" marL="0">
              <a:spcAft>
                <a:spcPts val="300"/>
              </a:spcAft>
              <a:buNone/>
            </a:pPr>
            <a:r>
              <a:rPr lang="en-US" sz="1300" dirty="0">
                <a:solidFill>
                  <a:srgbClr val="56606B"/>
                </a:solidFill>
                <a:latin typeface="Calibri" pitchFamily="34" charset="0"/>
                <a:ea typeface="Calibri" pitchFamily="34" charset="-122"/>
                <a:cs typeface="Calibri" pitchFamily="34" charset="-120"/>
              </a:rPr>
              <a:t>Lo lidera el Gerente de Construcción (A); lo facilita el AWP Champion; lo aprueba el cliente.</a:t>
            </a:r>
            <a:endParaRPr lang="en-US" sz="1450" dirty="0"/>
          </a:p>
        </p:txBody>
      </p:sp>
      <p:sp>
        <p:nvSpPr>
          <p:cNvPr id="7" name="Shape 4"/>
          <p:cNvSpPr/>
          <p:nvPr/>
        </p:nvSpPr>
        <p:spPr>
          <a:xfrm>
            <a:off x="548640" y="2560320"/>
            <a:ext cx="5410048" cy="1078992"/>
          </a:xfrm>
          <a:prstGeom prst="roundRect">
            <a:avLst>
              <a:gd name="adj" fmla="val 6780"/>
            </a:avLst>
          </a:prstGeom>
          <a:solidFill>
            <a:srgbClr val="F4F7FA"/>
          </a:solidFill>
          <a:ln w="9525">
            <a:solidFill>
              <a:srgbClr val="DDE4EC"/>
            </a:solidFill>
            <a:prstDash val="solid"/>
          </a:ln>
        </p:spPr>
      </p:sp>
      <p:sp>
        <p:nvSpPr>
          <p:cNvPr id="8" name="Shape 5"/>
          <p:cNvSpPr/>
          <p:nvPr/>
        </p:nvSpPr>
        <p:spPr>
          <a:xfrm>
            <a:off x="713232" y="2743200"/>
            <a:ext cx="402336" cy="402336"/>
          </a:xfrm>
          <a:prstGeom prst="ellipse">
            <a:avLst/>
          </a:prstGeom>
          <a:solidFill>
            <a:srgbClr val="E2EBF4"/>
          </a:solidFill>
          <a:ln w="12700">
            <a:solidFill>
              <a:srgbClr val="E2EBF4"/>
            </a:solidFill>
            <a:prstDash val="solid"/>
          </a:ln>
        </p:spPr>
      </p:sp>
      <p:pic>
        <p:nvPicPr>
          <p:cNvPr id="9" name="Image 1" descr="preencoded.png">    </p:cNvPr>
          <p:cNvPicPr>
            <a:picLocks noChangeAspect="1"/>
          </p:cNvPicPr>
          <p:nvPr/>
        </p:nvPicPr>
        <p:blipFill>
          <a:blip r:embed="rId2"/>
          <a:stretch>
            <a:fillRect/>
          </a:stretch>
        </p:blipFill>
        <p:spPr>
          <a:xfrm>
            <a:off x="803758" y="2833726"/>
            <a:ext cx="221285" cy="221285"/>
          </a:xfrm>
          <a:prstGeom prst="rect">
            <a:avLst/>
          </a:prstGeom>
        </p:spPr>
      </p:pic>
      <p:sp>
        <p:nvSpPr>
          <p:cNvPr id="10" name="Text 6"/>
          <p:cNvSpPr txBox="1"/>
          <p:nvPr/>
        </p:nvSpPr>
        <p:spPr>
          <a:xfrm>
            <a:off x="1261872" y="268833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F24"/>
                </a:solidFill>
                <a:latin typeface="Calibri" pitchFamily="34" charset="0"/>
                <a:ea typeface="Calibri" pitchFamily="34" charset="-122"/>
                <a:cs typeface="Calibri" pitchFamily="34" charset="-120"/>
              </a:rPr>
              <a:t>¿Cuándo debe estar listo?</a:t>
            </a:r>
            <a:endParaRPr lang="en-US" sz="1450" dirty="0"/>
          </a:p>
          <a:p>
            <a:pPr indent="0" marL="0">
              <a:spcAft>
                <a:spcPts val="300"/>
              </a:spcAft>
              <a:buNone/>
            </a:pPr>
            <a:r>
              <a:rPr lang="en-US" sz="1300" dirty="0">
                <a:solidFill>
                  <a:srgbClr val="56606B"/>
                </a:solidFill>
                <a:latin typeface="Calibri" pitchFamily="34" charset="0"/>
                <a:ea typeface="Calibri" pitchFamily="34" charset="-122"/>
                <a:cs typeface="Calibri" pitchFamily="34" charset="-120"/>
              </a:rPr>
              <a:t>Se crea en FEL 2 y se congela al final de FEL 3, antes de la ingeniería de detalle.</a:t>
            </a:r>
            <a:endParaRPr lang="en-US" sz="1450" dirty="0"/>
          </a:p>
        </p:txBody>
      </p:sp>
      <p:sp>
        <p:nvSpPr>
          <p:cNvPr id="11" name="Shape 7"/>
          <p:cNvSpPr/>
          <p:nvPr/>
        </p:nvSpPr>
        <p:spPr>
          <a:xfrm>
            <a:off x="548640" y="3794760"/>
            <a:ext cx="5410048" cy="1078992"/>
          </a:xfrm>
          <a:prstGeom prst="roundRect">
            <a:avLst>
              <a:gd name="adj" fmla="val 6780"/>
            </a:avLst>
          </a:prstGeom>
          <a:solidFill>
            <a:srgbClr val="F4F7FA"/>
          </a:solidFill>
          <a:ln w="9525">
            <a:solidFill>
              <a:srgbClr val="DDE4EC"/>
            </a:solidFill>
            <a:prstDash val="solid"/>
          </a:ln>
        </p:spPr>
      </p:sp>
      <p:sp>
        <p:nvSpPr>
          <p:cNvPr id="12" name="Shape 8"/>
          <p:cNvSpPr/>
          <p:nvPr/>
        </p:nvSpPr>
        <p:spPr>
          <a:xfrm>
            <a:off x="713232" y="3977640"/>
            <a:ext cx="402336" cy="402336"/>
          </a:xfrm>
          <a:prstGeom prst="ellipse">
            <a:avLst/>
          </a:prstGeom>
          <a:solidFill>
            <a:srgbClr val="E2EBF4"/>
          </a:solidFill>
          <a:ln w="12700">
            <a:solidFill>
              <a:srgbClr val="E2EBF4"/>
            </a:solidFill>
            <a:prstDash val="solid"/>
          </a:ln>
        </p:spPr>
      </p:sp>
      <p:pic>
        <p:nvPicPr>
          <p:cNvPr id="13" name="Image 2" descr="preencoded.png">    </p:cNvPr>
          <p:cNvPicPr>
            <a:picLocks noChangeAspect="1"/>
          </p:cNvPicPr>
          <p:nvPr/>
        </p:nvPicPr>
        <p:blipFill>
          <a:blip r:embed="rId3"/>
          <a:stretch>
            <a:fillRect/>
          </a:stretch>
        </p:blipFill>
        <p:spPr>
          <a:xfrm>
            <a:off x="803758" y="4068166"/>
            <a:ext cx="221285" cy="221285"/>
          </a:xfrm>
          <a:prstGeom prst="rect">
            <a:avLst/>
          </a:prstGeom>
        </p:spPr>
      </p:pic>
      <p:sp>
        <p:nvSpPr>
          <p:cNvPr id="14" name="Text 9"/>
          <p:cNvSpPr txBox="1"/>
          <p:nvPr/>
        </p:nvSpPr>
        <p:spPr>
          <a:xfrm>
            <a:off x="1261872" y="392277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F24"/>
                </a:solidFill>
                <a:latin typeface="Calibri" pitchFamily="34" charset="0"/>
                <a:ea typeface="Calibri" pitchFamily="34" charset="-122"/>
                <a:cs typeface="Calibri" pitchFamily="34" charset="-120"/>
              </a:rPr>
              <a:t>¿Es lo mismo que el cronograma?</a:t>
            </a:r>
            <a:endParaRPr lang="en-US" sz="1450" dirty="0"/>
          </a:p>
          <a:p>
            <a:pPr indent="0" marL="0">
              <a:spcAft>
                <a:spcPts val="300"/>
              </a:spcAft>
              <a:buNone/>
            </a:pPr>
            <a:r>
              <a:rPr lang="en-US" sz="1300" dirty="0">
                <a:solidFill>
                  <a:srgbClr val="56606B"/>
                </a:solidFill>
                <a:latin typeface="Calibri" pitchFamily="34" charset="0"/>
                <a:ea typeface="Calibri" pitchFamily="34" charset="-122"/>
                <a:cs typeface="Calibri" pitchFamily="34" charset="-120"/>
              </a:rPr>
              <a:t>No: el PoC es la secuencia y su lógica; el cronograma de nivel 3 se construye a partir de él.</a:t>
            </a:r>
            <a:endParaRPr lang="en-US" sz="1450" dirty="0"/>
          </a:p>
        </p:txBody>
      </p:sp>
      <p:sp>
        <p:nvSpPr>
          <p:cNvPr id="15" name="Shape 10"/>
          <p:cNvSpPr/>
          <p:nvPr/>
        </p:nvSpPr>
        <p:spPr>
          <a:xfrm>
            <a:off x="548640" y="5029200"/>
            <a:ext cx="5410048" cy="1078992"/>
          </a:xfrm>
          <a:prstGeom prst="roundRect">
            <a:avLst>
              <a:gd name="adj" fmla="val 6780"/>
            </a:avLst>
          </a:prstGeom>
          <a:solidFill>
            <a:srgbClr val="F4F7FA"/>
          </a:solidFill>
          <a:ln w="9525">
            <a:solidFill>
              <a:srgbClr val="DDE4EC"/>
            </a:solidFill>
            <a:prstDash val="solid"/>
          </a:ln>
        </p:spPr>
      </p:sp>
      <p:sp>
        <p:nvSpPr>
          <p:cNvPr id="16" name="Shape 11"/>
          <p:cNvSpPr/>
          <p:nvPr/>
        </p:nvSpPr>
        <p:spPr>
          <a:xfrm>
            <a:off x="713232" y="5212080"/>
            <a:ext cx="402336" cy="402336"/>
          </a:xfrm>
          <a:prstGeom prst="ellipse">
            <a:avLst/>
          </a:prstGeom>
          <a:solidFill>
            <a:srgbClr val="E2EBF4"/>
          </a:solidFill>
          <a:ln w="12700">
            <a:solidFill>
              <a:srgbClr val="E2EBF4"/>
            </a:solidFill>
            <a:prstDash val="solid"/>
          </a:ln>
        </p:spPr>
      </p:sp>
      <p:pic>
        <p:nvPicPr>
          <p:cNvPr id="17" name="Image 3" descr="preencoded.png">    </p:cNvPr>
          <p:cNvPicPr>
            <a:picLocks noChangeAspect="1"/>
          </p:cNvPicPr>
          <p:nvPr/>
        </p:nvPicPr>
        <p:blipFill>
          <a:blip r:embed="rId4"/>
          <a:stretch>
            <a:fillRect/>
          </a:stretch>
        </p:blipFill>
        <p:spPr>
          <a:xfrm>
            <a:off x="803758" y="5302606"/>
            <a:ext cx="221285" cy="221285"/>
          </a:xfrm>
          <a:prstGeom prst="rect">
            <a:avLst/>
          </a:prstGeom>
        </p:spPr>
      </p:pic>
      <p:sp>
        <p:nvSpPr>
          <p:cNvPr id="18" name="Text 12"/>
          <p:cNvSpPr txBox="1"/>
          <p:nvPr/>
        </p:nvSpPr>
        <p:spPr>
          <a:xfrm>
            <a:off x="1261872" y="515721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F24"/>
                </a:solidFill>
                <a:latin typeface="Calibri" pitchFamily="34" charset="0"/>
                <a:ea typeface="Calibri" pitchFamily="34" charset="-122"/>
                <a:cs typeface="Calibri" pitchFamily="34" charset="-120"/>
              </a:rPr>
              <a:t>¿Cada fase tiene su PoC?</a:t>
            </a:r>
            <a:endParaRPr lang="en-US" sz="1450" dirty="0"/>
          </a:p>
          <a:p>
            <a:pPr indent="0" marL="0">
              <a:spcAft>
                <a:spcPts val="300"/>
              </a:spcAft>
              <a:buNone/>
            </a:pPr>
            <a:r>
              <a:rPr lang="en-US" sz="1300" dirty="0">
                <a:solidFill>
                  <a:srgbClr val="56606B"/>
                </a:solidFill>
                <a:latin typeface="Calibri" pitchFamily="34" charset="0"/>
                <a:ea typeface="Calibri" pitchFamily="34" charset="-122"/>
                <a:cs typeface="Calibri" pitchFamily="34" charset="-120"/>
              </a:rPr>
              <a:t>Sí: en el proyecto tipo, en M3–M4, M6–M9 y M16–M21.</a:t>
            </a:r>
            <a:endParaRPr lang="en-US" sz="1450" dirty="0"/>
          </a:p>
        </p:txBody>
      </p:sp>
      <p:sp>
        <p:nvSpPr>
          <p:cNvPr id="19" name="Shape 13"/>
          <p:cNvSpPr/>
          <p:nvPr/>
        </p:nvSpPr>
        <p:spPr>
          <a:xfrm>
            <a:off x="6233008" y="1325880"/>
            <a:ext cx="5410048" cy="1078992"/>
          </a:xfrm>
          <a:prstGeom prst="roundRect">
            <a:avLst>
              <a:gd name="adj" fmla="val 6780"/>
            </a:avLst>
          </a:prstGeom>
          <a:solidFill>
            <a:srgbClr val="F4F7FA"/>
          </a:solidFill>
          <a:ln w="9525">
            <a:solidFill>
              <a:srgbClr val="DDE4EC"/>
            </a:solidFill>
            <a:prstDash val="solid"/>
          </a:ln>
        </p:spPr>
      </p:sp>
      <p:sp>
        <p:nvSpPr>
          <p:cNvPr id="20" name="Shape 14"/>
          <p:cNvSpPr/>
          <p:nvPr/>
        </p:nvSpPr>
        <p:spPr>
          <a:xfrm>
            <a:off x="6397600" y="1508760"/>
            <a:ext cx="402336" cy="402336"/>
          </a:xfrm>
          <a:prstGeom prst="ellipse">
            <a:avLst/>
          </a:prstGeom>
          <a:solidFill>
            <a:srgbClr val="E2EBF4"/>
          </a:solidFill>
          <a:ln w="12700">
            <a:solidFill>
              <a:srgbClr val="E2EBF4"/>
            </a:solidFill>
            <a:prstDash val="solid"/>
          </a:ln>
        </p:spPr>
      </p:sp>
      <p:pic>
        <p:nvPicPr>
          <p:cNvPr id="21" name="Image 4" descr="preencoded.png">    </p:cNvPr>
          <p:cNvPicPr>
            <a:picLocks noChangeAspect="1"/>
          </p:cNvPicPr>
          <p:nvPr/>
        </p:nvPicPr>
        <p:blipFill>
          <a:blip r:embed="rId5"/>
          <a:stretch>
            <a:fillRect/>
          </a:stretch>
        </p:blipFill>
        <p:spPr>
          <a:xfrm>
            <a:off x="6488125" y="1599286"/>
            <a:ext cx="221285" cy="221285"/>
          </a:xfrm>
          <a:prstGeom prst="rect">
            <a:avLst/>
          </a:prstGeom>
        </p:spPr>
      </p:pic>
      <p:sp>
        <p:nvSpPr>
          <p:cNvPr id="22" name="Text 15"/>
          <p:cNvSpPr txBox="1"/>
          <p:nvPr/>
        </p:nvSpPr>
        <p:spPr>
          <a:xfrm>
            <a:off x="6946240" y="145389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F24"/>
                </a:solidFill>
                <a:latin typeface="Calibri" pitchFamily="34" charset="0"/>
                <a:ea typeface="Calibri" pitchFamily="34" charset="-122"/>
                <a:cs typeface="Calibri" pitchFamily="34" charset="-120"/>
              </a:rPr>
              <a:t>¿Se puede cambiar?</a:t>
            </a:r>
            <a:endParaRPr lang="en-US" sz="1450" dirty="0"/>
          </a:p>
          <a:p>
            <a:pPr indent="0" marL="0">
              <a:spcAft>
                <a:spcPts val="300"/>
              </a:spcAft>
              <a:buNone/>
            </a:pPr>
            <a:r>
              <a:rPr lang="en-US" sz="1300" dirty="0">
                <a:solidFill>
                  <a:srgbClr val="56606B"/>
                </a:solidFill>
                <a:latin typeface="Calibri" pitchFamily="34" charset="0"/>
                <a:ea typeface="Calibri" pitchFamily="34" charset="-122"/>
                <a:cs typeface="Calibri" pitchFamily="34" charset="-120"/>
              </a:rPr>
              <a:t>Sí, con control de cambios: evaluar impacto, taller corto, aprobación y nueva revisión.</a:t>
            </a:r>
            <a:endParaRPr lang="en-US" sz="1450" dirty="0"/>
          </a:p>
        </p:txBody>
      </p:sp>
      <p:sp>
        <p:nvSpPr>
          <p:cNvPr id="23" name="Shape 16"/>
          <p:cNvSpPr/>
          <p:nvPr/>
        </p:nvSpPr>
        <p:spPr>
          <a:xfrm>
            <a:off x="6233008" y="2560320"/>
            <a:ext cx="5410048" cy="1078992"/>
          </a:xfrm>
          <a:prstGeom prst="roundRect">
            <a:avLst>
              <a:gd name="adj" fmla="val 6780"/>
            </a:avLst>
          </a:prstGeom>
          <a:solidFill>
            <a:srgbClr val="F4F7FA"/>
          </a:solidFill>
          <a:ln w="9525">
            <a:solidFill>
              <a:srgbClr val="DDE4EC"/>
            </a:solidFill>
            <a:prstDash val="solid"/>
          </a:ln>
        </p:spPr>
      </p:sp>
      <p:sp>
        <p:nvSpPr>
          <p:cNvPr id="24" name="Shape 17"/>
          <p:cNvSpPr/>
          <p:nvPr/>
        </p:nvSpPr>
        <p:spPr>
          <a:xfrm>
            <a:off x="6397600" y="2743200"/>
            <a:ext cx="402336" cy="402336"/>
          </a:xfrm>
          <a:prstGeom prst="ellipse">
            <a:avLst/>
          </a:prstGeom>
          <a:solidFill>
            <a:srgbClr val="E2EBF4"/>
          </a:solidFill>
          <a:ln w="12700">
            <a:solidFill>
              <a:srgbClr val="E2EBF4"/>
            </a:solidFill>
            <a:prstDash val="solid"/>
          </a:ln>
        </p:spPr>
      </p:sp>
      <p:pic>
        <p:nvPicPr>
          <p:cNvPr id="25" name="Image 5" descr="preencoded.png">    </p:cNvPr>
          <p:cNvPicPr>
            <a:picLocks noChangeAspect="1"/>
          </p:cNvPicPr>
          <p:nvPr/>
        </p:nvPicPr>
        <p:blipFill>
          <a:blip r:embed="rId6"/>
          <a:stretch>
            <a:fillRect/>
          </a:stretch>
        </p:blipFill>
        <p:spPr>
          <a:xfrm>
            <a:off x="6488125" y="2833726"/>
            <a:ext cx="221285" cy="221285"/>
          </a:xfrm>
          <a:prstGeom prst="rect">
            <a:avLst/>
          </a:prstGeom>
        </p:spPr>
      </p:pic>
      <p:sp>
        <p:nvSpPr>
          <p:cNvPr id="26" name="Text 18"/>
          <p:cNvSpPr txBox="1"/>
          <p:nvPr/>
        </p:nvSpPr>
        <p:spPr>
          <a:xfrm>
            <a:off x="6946240" y="268833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F24"/>
                </a:solidFill>
                <a:latin typeface="Calibri" pitchFamily="34" charset="0"/>
                <a:ea typeface="Calibri" pitchFamily="34" charset="-122"/>
                <a:cs typeface="Calibri" pitchFamily="34" charset="-120"/>
              </a:rPr>
              <a:t>¿Por qué 13 semanas para el EWP?</a:t>
            </a:r>
            <a:endParaRPr lang="en-US" sz="1450" dirty="0"/>
          </a:p>
          <a:p>
            <a:pPr indent="0" marL="0">
              <a:spcAft>
                <a:spcPts val="300"/>
              </a:spcAft>
              <a:buNone/>
            </a:pPr>
            <a:r>
              <a:rPr lang="en-US" sz="1300" dirty="0">
                <a:solidFill>
                  <a:srgbClr val="56606B"/>
                </a:solidFill>
                <a:latin typeface="Calibri" pitchFamily="34" charset="0"/>
                <a:ea typeface="Calibri" pitchFamily="34" charset="-122"/>
                <a:cs typeface="Calibri" pitchFamily="34" charset="-120"/>
              </a:rPr>
              <a:t>Es el parámetro del kit (≈ 3 meses) para permitir la fabricación; se ajusta por proyecto.</a:t>
            </a:r>
            <a:endParaRPr lang="en-US" sz="1450" dirty="0"/>
          </a:p>
        </p:txBody>
      </p:sp>
      <p:sp>
        <p:nvSpPr>
          <p:cNvPr id="27" name="Shape 19"/>
          <p:cNvSpPr/>
          <p:nvPr/>
        </p:nvSpPr>
        <p:spPr>
          <a:xfrm>
            <a:off x="6233008" y="3794760"/>
            <a:ext cx="5410048" cy="1078992"/>
          </a:xfrm>
          <a:prstGeom prst="roundRect">
            <a:avLst>
              <a:gd name="adj" fmla="val 6780"/>
            </a:avLst>
          </a:prstGeom>
          <a:solidFill>
            <a:srgbClr val="F4F7FA"/>
          </a:solidFill>
          <a:ln w="9525">
            <a:solidFill>
              <a:srgbClr val="DDE4EC"/>
            </a:solidFill>
            <a:prstDash val="solid"/>
          </a:ln>
        </p:spPr>
      </p:sp>
      <p:sp>
        <p:nvSpPr>
          <p:cNvPr id="28" name="Shape 20"/>
          <p:cNvSpPr/>
          <p:nvPr/>
        </p:nvSpPr>
        <p:spPr>
          <a:xfrm>
            <a:off x="6397600" y="3977640"/>
            <a:ext cx="402336" cy="402336"/>
          </a:xfrm>
          <a:prstGeom prst="ellipse">
            <a:avLst/>
          </a:prstGeom>
          <a:solidFill>
            <a:srgbClr val="E2EBF4"/>
          </a:solidFill>
          <a:ln w="12700">
            <a:solidFill>
              <a:srgbClr val="E2EBF4"/>
            </a:solidFill>
            <a:prstDash val="solid"/>
          </a:ln>
        </p:spPr>
      </p:sp>
      <p:pic>
        <p:nvPicPr>
          <p:cNvPr id="29" name="Image 6" descr="preencoded.png">    </p:cNvPr>
          <p:cNvPicPr>
            <a:picLocks noChangeAspect="1"/>
          </p:cNvPicPr>
          <p:nvPr/>
        </p:nvPicPr>
        <p:blipFill>
          <a:blip r:embed="rId7"/>
          <a:stretch>
            <a:fillRect/>
          </a:stretch>
        </p:blipFill>
        <p:spPr>
          <a:xfrm>
            <a:off x="6488125" y="4068166"/>
            <a:ext cx="221285" cy="221285"/>
          </a:xfrm>
          <a:prstGeom prst="rect">
            <a:avLst/>
          </a:prstGeom>
        </p:spPr>
      </p:pic>
      <p:sp>
        <p:nvSpPr>
          <p:cNvPr id="30" name="Text 21"/>
          <p:cNvSpPr txBox="1"/>
          <p:nvPr/>
        </p:nvSpPr>
        <p:spPr>
          <a:xfrm>
            <a:off x="6946240" y="392277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F24"/>
                </a:solidFill>
                <a:latin typeface="Calibri" pitchFamily="34" charset="0"/>
                <a:ea typeface="Calibri" pitchFamily="34" charset="-122"/>
                <a:cs typeface="Calibri" pitchFamily="34" charset="-120"/>
              </a:rPr>
              <a:t>¿Dónde se documenta?</a:t>
            </a:r>
            <a:endParaRPr lang="en-US" sz="1450" dirty="0"/>
          </a:p>
          <a:p>
            <a:pPr indent="0" marL="0">
              <a:spcAft>
                <a:spcPts val="300"/>
              </a:spcAft>
              <a:buNone/>
            </a:pPr>
            <a:r>
              <a:rPr lang="en-US" sz="1300" dirty="0">
                <a:solidFill>
                  <a:srgbClr val="56606B"/>
                </a:solidFill>
                <a:latin typeface="Calibri" pitchFamily="34" charset="0"/>
                <a:ea typeface="Calibri" pitchFamily="34" charset="-122"/>
                <a:cs typeface="Calibri" pitchFamily="34" charset="-120"/>
              </a:rPr>
              <a:t>Path_of_Construction.xlsx y el acta del taller (PT-AWP-FOR-IPP).</a:t>
            </a:r>
            <a:endParaRPr lang="en-US" sz="1450" dirty="0"/>
          </a:p>
        </p:txBody>
      </p:sp>
      <p:sp>
        <p:nvSpPr>
          <p:cNvPr id="31" name="Shape 22"/>
          <p:cNvSpPr/>
          <p:nvPr/>
        </p:nvSpPr>
        <p:spPr>
          <a:xfrm>
            <a:off x="6233008" y="5029200"/>
            <a:ext cx="5410048" cy="1078992"/>
          </a:xfrm>
          <a:prstGeom prst="roundRect">
            <a:avLst>
              <a:gd name="adj" fmla="val 6780"/>
            </a:avLst>
          </a:prstGeom>
          <a:solidFill>
            <a:srgbClr val="F4F7FA"/>
          </a:solidFill>
          <a:ln w="9525">
            <a:solidFill>
              <a:srgbClr val="DDE4EC"/>
            </a:solidFill>
            <a:prstDash val="solid"/>
          </a:ln>
        </p:spPr>
      </p:sp>
      <p:sp>
        <p:nvSpPr>
          <p:cNvPr id="32" name="Shape 23"/>
          <p:cNvSpPr/>
          <p:nvPr/>
        </p:nvSpPr>
        <p:spPr>
          <a:xfrm>
            <a:off x="6397600" y="5212080"/>
            <a:ext cx="402336" cy="402336"/>
          </a:xfrm>
          <a:prstGeom prst="ellipse">
            <a:avLst/>
          </a:prstGeom>
          <a:solidFill>
            <a:srgbClr val="E2EBF4"/>
          </a:solidFill>
          <a:ln w="12700">
            <a:solidFill>
              <a:srgbClr val="E2EBF4"/>
            </a:solidFill>
            <a:prstDash val="solid"/>
          </a:ln>
        </p:spPr>
      </p:sp>
      <p:pic>
        <p:nvPicPr>
          <p:cNvPr id="33" name="Image 7" descr="preencoded.png">    </p:cNvPr>
          <p:cNvPicPr>
            <a:picLocks noChangeAspect="1"/>
          </p:cNvPicPr>
          <p:nvPr/>
        </p:nvPicPr>
        <p:blipFill>
          <a:blip r:embed="rId8"/>
          <a:stretch>
            <a:fillRect/>
          </a:stretch>
        </p:blipFill>
        <p:spPr>
          <a:xfrm>
            <a:off x="6488125" y="5302606"/>
            <a:ext cx="221285" cy="221285"/>
          </a:xfrm>
          <a:prstGeom prst="rect">
            <a:avLst/>
          </a:prstGeom>
        </p:spPr>
      </p:pic>
      <p:sp>
        <p:nvSpPr>
          <p:cNvPr id="34" name="Text 24"/>
          <p:cNvSpPr txBox="1"/>
          <p:nvPr/>
        </p:nvSpPr>
        <p:spPr>
          <a:xfrm>
            <a:off x="6946240" y="515721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F24"/>
                </a:solidFill>
                <a:latin typeface="Calibri" pitchFamily="34" charset="0"/>
                <a:ea typeface="Calibri" pitchFamily="34" charset="-122"/>
                <a:cs typeface="Calibri" pitchFamily="34" charset="-120"/>
              </a:rPr>
              <a:t>¿Y si ingeniería no puede cumplir?</a:t>
            </a:r>
            <a:endParaRPr lang="en-US" sz="1450" dirty="0"/>
          </a:p>
          <a:p>
            <a:pPr indent="0" marL="0">
              <a:spcAft>
                <a:spcPts val="300"/>
              </a:spcAft>
              <a:buNone/>
            </a:pPr>
            <a:r>
              <a:rPr lang="en-US" sz="1300" dirty="0">
                <a:solidFill>
                  <a:srgbClr val="56606B"/>
                </a:solidFill>
                <a:latin typeface="Calibri" pitchFamily="34" charset="0"/>
                <a:ea typeface="Calibri" pitchFamily="34" charset="-122"/>
                <a:cs typeface="Calibri" pitchFamily="34" charset="-120"/>
              </a:rPr>
              <a:t>Se discute en el taller (paso 2) y, si hace falta, se reordena; nunca se ignora.</a:t>
            </a:r>
            <a:endParaRPr lang="en-US" sz="1450" dirty="0"/>
          </a:p>
        </p:txBody>
      </p:sp>
      <p:sp>
        <p:nvSpPr>
          <p:cNvPr id="35" name="Text 2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Buenas prácticas y cierre</a:t>
            </a:r>
            <a:endParaRPr lang="en-US" sz="1000" dirty="0"/>
          </a:p>
        </p:txBody>
      </p:sp>
      <p:sp>
        <p:nvSpPr>
          <p:cNvPr id="36" name="Text 2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111</a:t>
            </a:r>
            <a:endParaRPr lang="en-US" sz="1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Resumen: el PoC en una lámina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Qué, cuándo, quién, cómo y con qué</a:t>
            </a:r>
            <a:endParaRPr lang="en-US" sz="15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877824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Pregunta</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Respuesta</a:t>
                      </a:r>
                      <a:endParaRPr lang="en-US" sz="140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1F4E79"/>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¿Qué es?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La secuencia óptima para construir, probar y entregar las CWA, CWP y sistemas; la base del cronograma de nivel 3.</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¿Cuándo?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Se crea en FEL 2, se congela al final de FEL 3 (H2) y se mantiene con control de cambios.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¿Quién?</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Lidera CON; facilita CHA; aportan ING, PRO, COM, CTR, HSE, LWF; aprueba CLI.</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¿Cómo?</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Tres pasos iterativos (sin restricciones, con restricciones, final) en talleres IPP.</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¿Con qué?</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Plano general, CWA, sistemas, cronogramas, estrategias, restricciones, recursos críticos, lecciones.</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¿Qué produce?</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CWP secuenciados; fechas de EWP (−13 sem), CWP (−10 sem) y RAS (−10 días); plan de liberación (H3).</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F24"/>
                          </a:solidFill>
                          <a:latin typeface="Calibri" pitchFamily="34" charset="0"/>
                          <a:ea typeface="Calibri" pitchFamily="34" charset="-122"/>
                          <a:cs typeface="Calibri" pitchFamily="34" charset="-120"/>
                        </a:rPr>
                        <a:t>¿Cómo se controla?</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c>
                  <a:txBody>
                    <a:bodyPr/>
                    <a:lstStyle/>
                    <a:p>
                      <a:pPr indent="0" marL="0">
                        <a:buNone/>
                      </a:pPr>
                      <a:r>
                        <a:rPr lang="en-US" sz="1350" dirty="0">
                          <a:solidFill>
                            <a:srgbClr val="1B1F24"/>
                          </a:solidFill>
                          <a:latin typeface="Calibri" pitchFamily="34" charset="0"/>
                          <a:ea typeface="Calibri" pitchFamily="34" charset="-122"/>
                          <a:cs typeface="Calibri" pitchFamily="34" charset="-120"/>
                        </a:rPr>
                        <a:t>K01, K02, K04, K08, K13; riesgos R02, R07, R08, R09; lecciones LA-01 a LA-06.</a:t>
                      </a:r>
                      <a:endParaRPr lang="en-US" sz="1350" dirty="0">
                        <a:latin typeface="Calibri" charset="0"/>
                        <a:ea typeface="Calibri" charset="0"/>
                        <a:cs typeface="Calibri" charset="0"/>
                      </a:endParaRPr>
                    </a:p>
                  </a:txBody>
                  <a:tcPr marL="88900" marR="88900" marT="50800" marB="50800" anchor="ctr">
                    <a:lnL w="9525" cap="flat" cmpd="sng" algn="ctr">
                      <a:solidFill>
                        <a:srgbClr val="DDE4EC"/>
                      </a:solidFill>
                      <a:prstDash val="solid"/>
                      <a:round/>
                      <a:headEnd type="none" w="med" len="med"/>
                      <a:tailEnd type="none" w="med" len="med"/>
                    </a:lnL>
                    <a:lnR w="9525" cap="flat" cmpd="sng" algn="ctr">
                      <a:solidFill>
                        <a:srgbClr val="DDE4EC"/>
                      </a:solidFill>
                      <a:prstDash val="solid"/>
                      <a:round/>
                      <a:headEnd type="none" w="med" len="med"/>
                      <a:tailEnd type="none" w="med" len="med"/>
                    </a:lnR>
                    <a:lnT w="9525" cap="flat" cmpd="sng" algn="ctr">
                      <a:solidFill>
                        <a:srgbClr val="DDE4EC"/>
                      </a:solidFill>
                      <a:prstDash val="solid"/>
                      <a:round/>
                      <a:headEnd type="none" w="med" len="med"/>
                      <a:tailEnd type="none" w="med" len="med"/>
                    </a:lnT>
                    <a:lnB w="9525" cap="flat" cmpd="sng" algn="ctr">
                      <a:solidFill>
                        <a:srgbClr val="DDE4EC"/>
                      </a:solidFill>
                      <a:prstDash val="solid"/>
                      <a:round/>
                      <a:headEnd type="none" w="med" len="med"/>
                      <a:tailEnd type="none" w="med" len="med"/>
                    </a:lnB>
                    <a:solidFill>
                      <a:srgbClr val="F4F7FA"/>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Buenas prácticas y cierre</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112</a:t>
            </a:r>
            <a:endParaRPr lang="en-US" sz="10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F24"/>
                </a:solidFill>
                <a:latin typeface="Calibri" pitchFamily="34" charset="0"/>
                <a:ea typeface="Calibri" pitchFamily="34" charset="-122"/>
                <a:cs typeface="Calibri" pitchFamily="34" charset="-120"/>
              </a:rPr>
              <a:t>Plantillas y documentos del kit para el PoC</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6606B"/>
                </a:solidFill>
                <a:latin typeface="Calibri" pitchFamily="34" charset="0"/>
                <a:ea typeface="Calibri" pitchFamily="34" charset="-122"/>
                <a:cs typeface="Calibri" pitchFamily="34" charset="-120"/>
              </a:rPr>
              <a:t>Disponibles en Recursos de la aplicación AWP y en la web del kit</a:t>
            </a:r>
            <a:endParaRPr lang="en-US" sz="1500" dirty="0"/>
          </a:p>
        </p:txBody>
      </p:sp>
      <p:sp>
        <p:nvSpPr>
          <p:cNvPr id="4" name="Shape 2"/>
          <p:cNvSpPr/>
          <p:nvPr/>
        </p:nvSpPr>
        <p:spPr>
          <a:xfrm>
            <a:off x="548640" y="1554480"/>
            <a:ext cx="3515258" cy="2217420"/>
          </a:xfrm>
          <a:prstGeom prst="roundRect">
            <a:avLst>
              <a:gd name="adj" fmla="val 4124"/>
            </a:avLst>
          </a:prstGeom>
          <a:solidFill>
            <a:srgbClr val="F4F7FA"/>
          </a:solidFill>
          <a:ln w="9525">
            <a:solidFill>
              <a:srgbClr val="DDE4EC"/>
            </a:solidFill>
            <a:prstDash val="solid"/>
          </a:ln>
        </p:spPr>
      </p:sp>
      <p:sp>
        <p:nvSpPr>
          <p:cNvPr id="5" name="Shape 3"/>
          <p:cNvSpPr/>
          <p:nvPr/>
        </p:nvSpPr>
        <p:spPr>
          <a:xfrm>
            <a:off x="777240" y="1783080"/>
            <a:ext cx="548640" cy="548640"/>
          </a:xfrm>
          <a:prstGeom prst="ellipse">
            <a:avLst/>
          </a:prstGeom>
          <a:solidFill>
            <a:srgbClr val="E2EBF4"/>
          </a:solidFill>
          <a:ln w="12700">
            <a:solidFill>
              <a:srgbClr val="E2EBF4"/>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Definicion_​CWA.xlsx</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CWA, límites, HH, secuencia, predecesora y los 10 criterios.</a:t>
            </a:r>
            <a:endParaRPr lang="en-US" sz="1500" dirty="0"/>
          </a:p>
        </p:txBody>
      </p:sp>
      <p:sp>
        <p:nvSpPr>
          <p:cNvPr id="9" name="Shape 6"/>
          <p:cNvSpPr/>
          <p:nvPr/>
        </p:nvSpPr>
        <p:spPr>
          <a:xfrm>
            <a:off x="4338218" y="1554480"/>
            <a:ext cx="3515258" cy="2217420"/>
          </a:xfrm>
          <a:prstGeom prst="roundRect">
            <a:avLst>
              <a:gd name="adj" fmla="val 4124"/>
            </a:avLst>
          </a:prstGeom>
          <a:solidFill>
            <a:srgbClr val="F4F7FA"/>
          </a:solidFill>
          <a:ln w="9525">
            <a:solidFill>
              <a:srgbClr val="DDE4EC"/>
            </a:solidFill>
            <a:prstDash val="solid"/>
          </a:ln>
        </p:spPr>
      </p:sp>
      <p:sp>
        <p:nvSpPr>
          <p:cNvPr id="10" name="Shape 7"/>
          <p:cNvSpPr/>
          <p:nvPr/>
        </p:nvSpPr>
        <p:spPr>
          <a:xfrm>
            <a:off x="4566818" y="1783080"/>
            <a:ext cx="548640" cy="548640"/>
          </a:xfrm>
          <a:prstGeom prst="ellipse">
            <a:avLst/>
          </a:prstGeom>
          <a:solidFill>
            <a:srgbClr val="E2EBF4"/>
          </a:solidFill>
          <a:ln w="12700">
            <a:solidFill>
              <a:srgbClr val="E2EBF4"/>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Path_​of_​Construction.xlsx</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CWP secuenciados, fechas requeridas, control de secuencia y barras M1–M36.</a:t>
            </a:r>
            <a:endParaRPr lang="en-US" sz="1500" dirty="0"/>
          </a:p>
        </p:txBody>
      </p:sp>
      <p:sp>
        <p:nvSpPr>
          <p:cNvPr id="14" name="Shape 10"/>
          <p:cNvSpPr/>
          <p:nvPr/>
        </p:nvSpPr>
        <p:spPr>
          <a:xfrm>
            <a:off x="8127797" y="1554480"/>
            <a:ext cx="3515258" cy="2217420"/>
          </a:xfrm>
          <a:prstGeom prst="roundRect">
            <a:avLst>
              <a:gd name="adj" fmla="val 4124"/>
            </a:avLst>
          </a:prstGeom>
          <a:solidFill>
            <a:srgbClr val="F4F7FA"/>
          </a:solidFill>
          <a:ln w="9525">
            <a:solidFill>
              <a:srgbClr val="DDE4EC"/>
            </a:solidFill>
            <a:prstDash val="solid"/>
          </a:ln>
        </p:spPr>
      </p:sp>
      <p:sp>
        <p:nvSpPr>
          <p:cNvPr id="15" name="Shape 11"/>
          <p:cNvSpPr/>
          <p:nvPr/>
        </p:nvSpPr>
        <p:spPr>
          <a:xfrm>
            <a:off x="8356397" y="1783080"/>
            <a:ext cx="548640" cy="548640"/>
          </a:xfrm>
          <a:prstGeom prst="ellipse">
            <a:avLst/>
          </a:prstGeom>
          <a:solidFill>
            <a:srgbClr val="E2EBF4"/>
          </a:solidFill>
          <a:ln w="12700">
            <a:solidFill>
              <a:srgbClr val="E2EBF4"/>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Acta_​Taller_​Path_​of_​Construction.docx</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Acta del taller IPP (PT-AWP-FOR-IPP), 9 secciones y firmas.</a:t>
            </a:r>
            <a:endParaRPr lang="en-US" sz="1500" dirty="0"/>
          </a:p>
        </p:txBody>
      </p:sp>
      <p:sp>
        <p:nvSpPr>
          <p:cNvPr id="19" name="Shape 14"/>
          <p:cNvSpPr/>
          <p:nvPr/>
        </p:nvSpPr>
        <p:spPr>
          <a:xfrm>
            <a:off x="548640" y="4046220"/>
            <a:ext cx="3515258" cy="2217420"/>
          </a:xfrm>
          <a:prstGeom prst="roundRect">
            <a:avLst>
              <a:gd name="adj" fmla="val 4124"/>
            </a:avLst>
          </a:prstGeom>
          <a:solidFill>
            <a:srgbClr val="F4F7FA"/>
          </a:solidFill>
          <a:ln w="9525">
            <a:solidFill>
              <a:srgbClr val="DDE4EC"/>
            </a:solidFill>
            <a:prstDash val="solid"/>
          </a:ln>
        </p:spPr>
      </p:sp>
      <p:sp>
        <p:nvSpPr>
          <p:cNvPr id="20" name="Shape 15"/>
          <p:cNvSpPr/>
          <p:nvPr/>
        </p:nvSpPr>
        <p:spPr>
          <a:xfrm>
            <a:off x="777240" y="4274820"/>
            <a:ext cx="548640" cy="548640"/>
          </a:xfrm>
          <a:prstGeom prst="ellipse">
            <a:avLst/>
          </a:prstGeom>
          <a:solidFill>
            <a:srgbClr val="E2EBF4"/>
          </a:solidFill>
          <a:ln w="12700">
            <a:solidFill>
              <a:srgbClr val="E2EBF4"/>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Seguimiento_​Paquetes.xlsx</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Fechas plan y real de CWP, EWP, PWP e IWP.</a:t>
            </a:r>
            <a:endParaRPr lang="en-US" sz="1500" dirty="0"/>
          </a:p>
        </p:txBody>
      </p:sp>
      <p:sp>
        <p:nvSpPr>
          <p:cNvPr id="24" name="Shape 18"/>
          <p:cNvSpPr/>
          <p:nvPr/>
        </p:nvSpPr>
        <p:spPr>
          <a:xfrm>
            <a:off x="4338218" y="4046220"/>
            <a:ext cx="3515258" cy="2217420"/>
          </a:xfrm>
          <a:prstGeom prst="roundRect">
            <a:avLst>
              <a:gd name="adj" fmla="val 4124"/>
            </a:avLst>
          </a:prstGeom>
          <a:solidFill>
            <a:srgbClr val="F4F7FA"/>
          </a:solidFill>
          <a:ln w="9525">
            <a:solidFill>
              <a:srgbClr val="DDE4EC"/>
            </a:solidFill>
            <a:prstDash val="solid"/>
          </a:ln>
        </p:spPr>
      </p:sp>
      <p:sp>
        <p:nvSpPr>
          <p:cNvPr id="25" name="Shape 19"/>
          <p:cNvSpPr/>
          <p:nvPr/>
        </p:nvSpPr>
        <p:spPr>
          <a:xfrm>
            <a:off x="4566818" y="4274820"/>
            <a:ext cx="548640" cy="548640"/>
          </a:xfrm>
          <a:prstGeom prst="ellipse">
            <a:avLst/>
          </a:prstGeom>
          <a:solidFill>
            <a:srgbClr val="E2EBF4"/>
          </a:solidFill>
          <a:ln w="12700">
            <a:solidFill>
              <a:srgbClr val="E2EBF4"/>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Programa_​Liberacion_​IWP.xlsx</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Plazos de liberación por fase aplicados a cada IWP.</a:t>
            </a:r>
            <a:endParaRPr lang="en-US" sz="1500" dirty="0"/>
          </a:p>
        </p:txBody>
      </p:sp>
      <p:sp>
        <p:nvSpPr>
          <p:cNvPr id="29" name="Shape 22"/>
          <p:cNvSpPr/>
          <p:nvPr/>
        </p:nvSpPr>
        <p:spPr>
          <a:xfrm>
            <a:off x="8127797" y="4046220"/>
            <a:ext cx="3515258" cy="2217420"/>
          </a:xfrm>
          <a:prstGeom prst="roundRect">
            <a:avLst>
              <a:gd name="adj" fmla="val 4124"/>
            </a:avLst>
          </a:prstGeom>
          <a:solidFill>
            <a:srgbClr val="F4F7FA"/>
          </a:solidFill>
          <a:ln w="9525">
            <a:solidFill>
              <a:srgbClr val="DDE4EC"/>
            </a:solidFill>
            <a:prstDash val="solid"/>
          </a:ln>
        </p:spPr>
      </p:sp>
      <p:sp>
        <p:nvSpPr>
          <p:cNvPr id="30" name="Shape 23"/>
          <p:cNvSpPr/>
          <p:nvPr/>
        </p:nvSpPr>
        <p:spPr>
          <a:xfrm>
            <a:off x="8356397" y="4274820"/>
            <a:ext cx="548640" cy="548640"/>
          </a:xfrm>
          <a:prstGeom prst="ellipse">
            <a:avLst/>
          </a:prstGeom>
          <a:solidFill>
            <a:srgbClr val="E2EBF4"/>
          </a:solidFill>
          <a:ln w="12700">
            <a:solidFill>
              <a:srgbClr val="E2EBF4"/>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F24"/>
                </a:solidFill>
                <a:latin typeface="Calibri" pitchFamily="34" charset="0"/>
                <a:ea typeface="Calibri" pitchFamily="34" charset="-122"/>
                <a:cs typeface="Calibri" pitchFamily="34" charset="-120"/>
              </a:rPr>
              <a:t>Plan de implementación AWP</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6606B"/>
                </a:solidFill>
                <a:latin typeface="Calibri" pitchFamily="34" charset="0"/>
                <a:ea typeface="Calibri" pitchFamily="34" charset="-122"/>
                <a:cs typeface="Calibri" pitchFamily="34" charset="-120"/>
              </a:rPr>
              <a:t>Hitos H1–H3, actividad FEL-04, organización y gobierno.</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A3AD"/>
                </a:solidFill>
                <a:latin typeface="Calibri" pitchFamily="34" charset="0"/>
                <a:ea typeface="Calibri" pitchFamily="34" charset="-122"/>
                <a:cs typeface="Calibri" pitchFamily="34" charset="-120"/>
              </a:rPr>
              <a:t>Path of Construction · Buenas prácticas y cierre</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A3AD"/>
                </a:solidFill>
                <a:latin typeface="Calibri" pitchFamily="34" charset="0"/>
                <a:ea typeface="Calibri" pitchFamily="34" charset="-122"/>
                <a:cs typeface="Calibri" pitchFamily="34" charset="-120"/>
              </a:rPr>
              <a:t>113</a:t>
            </a:r>
            <a:endParaRPr lang="en-US" sz="1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5547208" y="1188720"/>
            <a:ext cx="1097280" cy="1097280"/>
          </a:xfrm>
          <a:prstGeom prst="ellipse">
            <a:avLst/>
          </a:prstGeom>
          <a:solidFill>
            <a:srgbClr val="F5A623"/>
          </a:solidFill>
          <a:ln w="12700">
            <a:solidFill>
              <a:srgbClr val="F5A623"/>
            </a:solidFill>
            <a:prstDash val="solid"/>
          </a:ln>
        </p:spPr>
      </p:sp>
      <p:pic>
        <p:nvPicPr>
          <p:cNvPr id="3" name="Image 0" descr="preencoded.png">    </p:cNvPr>
          <p:cNvPicPr>
            <a:picLocks noChangeAspect="1"/>
          </p:cNvPicPr>
          <p:nvPr/>
        </p:nvPicPr>
        <p:blipFill>
          <a:blip r:embed="rId1"/>
          <a:stretch>
            <a:fillRect/>
          </a:stretch>
        </p:blipFill>
        <p:spPr>
          <a:xfrm>
            <a:off x="5794096" y="1435608"/>
            <a:ext cx="603504" cy="603504"/>
          </a:xfrm>
          <a:prstGeom prst="rect">
            <a:avLst/>
          </a:prstGeom>
        </p:spPr>
      </p:pic>
      <p:sp>
        <p:nvSpPr>
          <p:cNvPr id="4" name="Text 1"/>
          <p:cNvSpPr txBox="1"/>
          <p:nvPr/>
        </p:nvSpPr>
        <p:spPr>
          <a:xfrm>
            <a:off x="731520" y="2606040"/>
            <a:ext cx="10728655" cy="914400"/>
          </a:xfrm>
          <a:prstGeom prst="rect">
            <a:avLst/>
          </a:prstGeom>
          <a:noFill/>
          <a:ln/>
        </p:spPr>
        <p:txBody>
          <a:bodyPr wrap="square" lIns="0" tIns="0" rIns="0" bIns="0" rtlCol="0" anchor="t"/>
          <a:lstStyle/>
          <a:p>
            <a:pPr algn="ctr" indent="0" marL="0">
              <a:buNone/>
            </a:pPr>
            <a:r>
              <a:rPr lang="en-US" sz="3800" b="1" dirty="0">
                <a:solidFill>
                  <a:srgbClr val="FFFFFF"/>
                </a:solidFill>
                <a:latin typeface="Calibri" pitchFamily="34" charset="0"/>
                <a:ea typeface="Calibri" pitchFamily="34" charset="-122"/>
                <a:cs typeface="Calibri" pitchFamily="34" charset="-120"/>
              </a:rPr>
              <a:t>La secuencia de construcción manda</a:t>
            </a:r>
            <a:endParaRPr lang="en-US" sz="3800" dirty="0"/>
          </a:p>
        </p:txBody>
      </p:sp>
      <p:sp>
        <p:nvSpPr>
          <p:cNvPr id="5" name="Text 2"/>
          <p:cNvSpPr txBox="1"/>
          <p:nvPr/>
        </p:nvSpPr>
        <p:spPr>
          <a:xfrm>
            <a:off x="1371600" y="3611880"/>
            <a:ext cx="9448495" cy="822960"/>
          </a:xfrm>
          <a:prstGeom prst="rect">
            <a:avLst/>
          </a:prstGeom>
          <a:noFill/>
          <a:ln/>
        </p:spPr>
        <p:txBody>
          <a:bodyPr wrap="square" lIns="0" tIns="0" rIns="0" bIns="0" rtlCol="0" anchor="t"/>
          <a:lstStyle/>
          <a:p>
            <a:pPr algn="ctr" indent="0" marL="0">
              <a:buNone/>
            </a:pPr>
            <a:r>
              <a:rPr lang="en-US" sz="2200" dirty="0">
                <a:solidFill>
                  <a:srgbClr val="B9CCE0"/>
                </a:solidFill>
                <a:latin typeface="Calibri" pitchFamily="34" charset="0"/>
                <a:ea typeface="Calibri" pitchFamily="34" charset="-122"/>
                <a:cs typeface="Calibri" pitchFamily="34" charset="-120"/>
              </a:rPr>
              <a:t>Construye la ruta temprano, con todos en la mesa, y deja que ordene la ingeniería, la procura y el campo.</a:t>
            </a:r>
            <a:endParaRPr lang="en-US" sz="2200" dirty="0"/>
          </a:p>
        </p:txBody>
      </p:sp>
      <p:sp>
        <p:nvSpPr>
          <p:cNvPr id="6" name="Text 3"/>
          <p:cNvSpPr txBox="1"/>
          <p:nvPr/>
        </p:nvSpPr>
        <p:spPr>
          <a:xfrm>
            <a:off x="914400" y="5577840"/>
            <a:ext cx="10362895" cy="457200"/>
          </a:xfrm>
          <a:prstGeom prst="rect">
            <a:avLst/>
          </a:prstGeom>
          <a:noFill/>
          <a:ln/>
        </p:spPr>
        <p:txBody>
          <a:bodyPr wrap="square" lIns="0" tIns="0" rIns="0" bIns="0" rtlCol="0" anchor="t"/>
          <a:lstStyle/>
          <a:p>
            <a:pPr algn="ctr" indent="0" marL="0">
              <a:buNone/>
            </a:pPr>
            <a:r>
              <a:rPr lang="en-US" sz="1400" dirty="0">
                <a:solidFill>
                  <a:srgbClr val="F5A623"/>
                </a:solidFill>
                <a:latin typeface="Calibri" pitchFamily="34" charset="0"/>
                <a:ea typeface="Calibri" pitchFamily="34" charset="-122"/>
                <a:cs typeface="Calibri" pitchFamily="34" charset="-120"/>
              </a:rPr>
              <a:t>Plantillas: Path_of_Construction.xlsx · Acta_Taller_Path_of_Construction.docx · Definicion_CWA.xlsx</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114</Slides>
  <Notes>114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114</vt:i4>
      </vt:variant>
    </vt:vector>
  </HeadingPairs>
  <TitlesOfParts>
    <vt:vector size="1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vector>
  </TitlesOfParts>
  <Company>Kit de implementación 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 of Construction · AWP</dc:title>
  <dc:subject>PptxGenJS Presentation</dc:subject>
  <dc:creator>Kit de implementación AWP</dc:creator>
  <cp:lastModifiedBy>Kit de implementación AWP</cp:lastModifiedBy>
  <cp:revision>1</cp:revision>
  <dcterms:created xsi:type="dcterms:W3CDTF">2026-09-30T02:08:22Z</dcterms:created>
  <dcterms:modified xsi:type="dcterms:W3CDTF">2026-09-30T02:08:22Z</dcterms:modified>
</cp:coreProperties>
</file>