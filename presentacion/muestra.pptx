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Portada. Presente el propósito: esta guía explica cómo implementar Advanced Work Packaging (AWP) en un proyecto real, fase por fase.</a:t>
            </a:r>
          </a:p>
          <a:p>
            <a:r>
              <a:t>Idea central: AWP es un proceso dirigido por Construcción. Se decide primero cómo y en qué orden se construirá la planta (Path of Construction) y, a partir de ahí, Ingeniería y Compras entregan sus productos en ese mismo orden.</a:t>
            </a:r>
          </a:p>
          <a:p>
            <a:r>
              <a:t>Los bloques de la derecha anticipan la jerarquía que se verá en detalle: Construction Work Area (CWA) → Construction Work Package (CWP) → Installation Work Package (IWP).</a:t>
            </a:r>
          </a:p>
          <a:p>
            <a:r>
              <a:t>Resultados que respaldan el método: +25 % de productividad y −10 % de costo total instalado (TIC), según los estudios RT-272 y RT-319 del Construction Industry Institute (CII).</a:t>
            </a:r>
          </a:p>
          <a:p/>
          <a:p>
            <a:r>
              <a:t>FUENTE: cii-awp-cba-education-framework-pdf.md (definición y beneficios); advanced-work-packaging-awp-quick-start-guide-pdf.md (Introducción).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Separador del Módulo 6. Hasta aquí, Construcción definió el orden (Fase 1) e Ingeniería y Compras entregaron sus paquetes en ese orden (Fase 2). Ahora el plan llega al frente de trabajo.</a:t>
            </a:r>
          </a:p>
          <a:p>
            <a:r>
              <a:t>En este módulo se verá el proceso de Workface Planning (WFP): cómo se dividen los Construction Work Packages (CWP) en Installation Work Packages (IWP), cómo se eliminan las restricciones antes de liberar un paquete, cómo se mantiene un backlog y cómo se registra el avance.</a:t>
            </a:r>
          </a:p>
          <a:p>
            <a:r>
              <a:t>La barra inferior indica en qué fase del proyecto estamos; se repite en todos los separadores de fase.</a:t>
            </a:r>
          </a:p>
          <a:p/>
          <a:p>
            <a:r>
              <a:t>FUENTE: advanced-work-packaging-awp-quick-start-guide-pdf.md (secciones 5-7); 3-workface-planning-procedure-insight-awp-2017-pdf.md.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jerarquía de paquetes es el esqueleto de AWP. Léala de arriba hacia abajo:</a:t>
            </a:r>
          </a:p>
          <a:p>
            <a:r>
              <a:t>• Construction Work Area (CWA): división lógica del plano de implantación. Es una actividad de nivel 2 del cronograma.</a:t>
            </a:r>
          </a:p>
          <a:p>
            <a:r>
              <a:t>• Construction Work Package (CWP): una sola disciplina dentro de una CWA, con menos de 40 000 horas-hombre. Es una actividad de nivel 3.</a:t>
            </a:r>
          </a:p>
          <a:p>
            <a:r>
              <a:t>• Engineering Work Package (EWP): contiene toda la ingeniería que necesita un CWP (alcance, planos, datos de proveedor, lista de materiales y especificaciones).</a:t>
            </a:r>
          </a:p>
          <a:p>
            <a:r>
              <a:t>• Procurement Work Package (PWP): agrupa los materiales y equipos de un CWP. El CII todavía lo trata como paquete en definición (RT-363).</a:t>
            </a:r>
          </a:p>
          <a:p>
            <a:r>
              <a:t>• Installation Work Package (IWP): trabajo de un capataz y su cuadrilla en unos 7 días, formado por planos completos. Es una actividad de nivel 5.</a:t>
            </a:r>
          </a:p>
          <a:p>
            <a:r>
              <a:t>Regla base: 1 EWP = 1 PWP = 1 CWP. Omega 365 y el curso 2023 admiten excepciones, como materiales a granel o varios EWP para un mismo CWP.</a:t>
            </a:r>
          </a:p>
          <a:p>
            <a:r>
              <a:t>Advierta que el Glosario del CII ubica el IWP en el nivel 4. Cada proyecto debe fijar su criterio en el procedimiento.</a:t>
            </a:r>
          </a:p>
          <a:p/>
          <a:p>
            <a:r>
              <a:t>FUENTE: 1-advanced-work-packaging-procedure-insight-awp-2017-pdf.md (§2 Definiciones); advanced-work-packaging-a-recommended-practice-for-capital-projects-omega-365-blogs.md (jerarquía de paquetes); awp-acronyms-definitions-pdf.md; INDICE.md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Education Framework del CII propone un calendario típico de restricciones para cada IWP, medido en semanas antes de su ejecución:</a:t>
            </a:r>
          </a:p>
          <a:p>
            <a:r>
              <a:t>• Proyecto pequeño, parada de planta o turnaround: IWP iniciado 6 semanas antes; restricciones identificadas a las 4; asignadas a las 3; liberadas a las 2 semanas, cuando el paquete se libera.</a:t>
            </a:r>
          </a:p>
          <a:p>
            <a:r>
              <a:t>• Proyecto grande, mega o giga: 12, 10, 8 y 4 semanas, respectivamente.</a:t>
            </a:r>
          </a:p>
          <a:p>
            <a:r>
              <a:t>Críticas: documentos, materiales y andamios. Secundarias: equipos de construcción, controles, seguridad, calidad y personal, que el equipo resuelve internamente en poco tiempo (Quick Start Guide).</a:t>
            </a:r>
          </a:p>
          <a:p>
            <a:r>
              <a:t>Buenas prácticas: una lista única de restricciones abiertas; dueño, fecha y prioridad para cada una; flujo de aprobación para cerrarlas; reunión estándar de revisión; árbol de decisión para paquetes con restricciones abiertas; reporte de estado.</a:t>
            </a:r>
          </a:p>
          <a:p>
            <a:r>
              <a:t>La regla de oro de la Quick Start Guide dice que los IWP no se liberan a campo hasta que estén libres de restricciones y listos para ejecutarse. El Workface Planner recoge las firmas en la página de restricciones del IWP.</a:t>
            </a:r>
          </a:p>
          <a:p>
            <a:r>
              <a:t>Nota: el curso 2023 indica liberar 2-3 semanas antes, y la Quick Start pide enviar la lista de materiales 8 semanas antes. Ajuste los plazos al proyecto.</a:t>
            </a:r>
          </a:p>
          <a:p/>
          <a:p>
            <a:r>
              <a:t>FUENTE: cii-awp-cba-education-framework-pdf.md (Typical IWP Constraint Schedule by Project Size / Type; Constraint Management Best Practices); advanced-work-packaging-awp-quick-start-guide-pdf.md (§7 Constraint Removal).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diferencia no está en cuánto trabajo hace Ingeniería, sino en el orden en que lo entrega. El curso AWP 2023 lo resume: la intención no es crear trabajo extra para Ingeniería ni cambiar cómo diseña, sino alinear su secuencia con la de Construcción.</a:t>
            </a:r>
          </a:p>
          <a:p>
            <a:r>
              <a:t>Enfoque tradicional: Ingeniería define su propia secuencia, libera documentos a Construcción a medida que los termina, y Construcción ejecuta el alcance que tenga disponible. El resultado son frentes de trabajo incompletos y cuadrillas esperando información.</a:t>
            </a:r>
          </a:p>
          <a:p>
            <a:r>
              <a:t>Enfoque AWP: Construcción define primero el Path of Construction (POC). Ingeniería usa el POC como base de su Path of Engineering y entrega Engineering Work Packages (EWP) completos por Construction Work Area (CWA). Construcción ejecuta según el plan acordado.</a:t>
            </a:r>
          </a:p>
          <a:p>
            <a:r>
              <a:t>Beneficio adicional: gestionar la ingeniería por CWA crea una serie de miniproyectos con entregables más pequeños, lo que permite detectar atrasos antes.</a:t>
            </a:r>
          </a:p>
          <a:p/>
          <a:p>
            <a:r>
              <a:t>FUENTE: awp-2023-integrado-pdf.md (Lección 3: AWP and Engineering, 'Understanding the Path of Engineering', 'Managing Engineering by CWA').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procedimientos de Insight-AWP (2017) definen siete niveles de cronograma. Cada nivel tiene su unidad de planificación y su horizonte:</a:t>
            </a:r>
          </a:p>
          <a:p>
            <a:r>
              <a:t>Nivel 1: planta, año. Nivel 2: Construction Work Area (CWA), 6 meses. Nivel 3: Construction Work Package (CWP), 3 meses. Nivel 4: código de función, mes. Nivel 5: Installation Work Package (IWP), semana. Nivel 6: plan diario, día. Nivel 7: tarea, hora.</a:t>
            </a:r>
          </a:p>
          <a:p>
            <a:r>
              <a:t>La clave práctica es que el cronograma del proyecto se lleva hasta el nivel 3 con CWP. Luego el Workface Planner lo baja al nivel 5 dividiendo cada CWP en IWP y entregando la secuencia al programador. Según la Quick Start Guide, el cronograma de nivel 5 solo debe contener CWP, IWP e hitos.</a:t>
            </a:r>
          </a:p>
          <a:p>
            <a:r>
              <a:t>Advertencia: el Glosario del CII ubica el IWP en el nivel 4. Defina el criterio en el procedimiento del proyecto y aplíquelo de forma consistente.</a:t>
            </a:r>
          </a:p>
          <a:p/>
          <a:p>
            <a:r>
              <a:t>FUENTE: 1-advanced-work-packaging-procedure-insight-awp-2017-pdf.md (§2 Definiciones, niveles de cronograma); advanced-work-packaging-awp-quick-start-guide-pdf.md (§6 The Project Schedule); INDICE.md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tool time, o tiempo en herramientas, es el porcentaje de la jornada en que el trabajador está instalando. Es el indicador principal de productividad en campo.</a:t>
            </a:r>
          </a:p>
          <a:p>
            <a:r>
              <a:t>Según el Education Framework del CII, en proyectos tradicionales es del 37 % (3,7 h de una jornada de 10 h) y con AWP sube al 46 % (4,6 h). El curso 2023 cita 47 %. El resto del tiempo se pierde esperando información, materiales, herramientas o accesos, desplazándose o en pausas.</a:t>
            </a:r>
          </a:p>
          <a:p>
            <a:r>
              <a:t>0,9 h adicionales de trabajo efectivo por persona y día equivalen a un aumento de productividad de alrededor del 24-25 %, coherente con el +25 % de productividad y el −10 % de costo total instalado (TIC) que reportan los estudios RT-272 y RT-319 del CII.</a:t>
            </a:r>
          </a:p>
          <a:p>
            <a:r>
              <a:t>Cómo medirlo: el Procedimiento 3.0 recomienda estudios de tool time hechos por terceros cada 2 o 3 meses. Estos estudios son una "nota" para la gerencia, no para los trabajadores: miden si se entregan información, herramientas, materiales y acceso a tiempo.</a:t>
            </a:r>
          </a:p>
          <a:p/>
          <a:p>
            <a:r>
              <a:t>FUENTE: cii-awp-cba-education-framework-pdf.md (Benefits &amp; Value of AWP: 37 % vs 46 %); awp-2023-integrado-pdf.md (Lección 2: Tool Time 37 % / 47 %); 3-workface-planning-procedure-insight-awp-2017-pdf.md (§18 Tool Time Studies).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Cierre. Resuma el hilo conductor de toda la presentación en tres ideas:</a:t>
            </a:r>
          </a:p>
          <a:p>
            <a:r>
              <a:t>1. Construcción define el orden. El Path of Construction (POC) se construye en sesiones de planificación interactiva, se define en FEL 2 y se congela en FEL 3. De él salen las Construction Work Areas (CWA) y los Construction Work Packages (CWP).</a:t>
            </a:r>
          </a:p>
          <a:p>
            <a:r>
              <a:t>2. Ingeniería y Compras siguen ese orden. Los Engineering Work Packages (EWP) y Procurement Work Packages (PWP) se entregan en la secuencia del POC (1 EWP = 1 PWP = 1 CWP).</a:t>
            </a:r>
          </a:p>
          <a:p>
            <a:r>
              <a:t>3. El campo ejecuta sin restricciones. Cada capataz recibe un Installation Work Package (IWP) libre de restricciones, tomado de un backlog, y registra el avance a diario.</a:t>
            </a:r>
          </a:p>
          <a:p>
            <a:r>
              <a:t>Siguiente paso concreto: nombrar un AWP Champion dedicado a tiempo completo. Es el primer componente de la Quick Start Guide y la lección 8 del curso 2023.</a:t>
            </a:r>
          </a:p>
          <a:p>
            <a:r>
              <a:t>Abra la ronda de preguntas.</a:t>
            </a:r>
          </a:p>
          <a:p/>
          <a:p>
            <a:r>
              <a:t>FUENTE: advanced-work-packaging-awp-quick-start-guide-pdf.md (§1 y §8); awp-2023-integrado-pdf.md (AWP Related Lessons Learned, lección 8); síntesis de la presentación.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300">
                <a:solidFill>
                  <a:srgbClr val="FF6600"/>
                </a:solidFill>
                <a:latin typeface="Arial"/>
              </a:rPr>
              <a:t>GUÍA PRÁCTICA DE IMPLEMENTACIÓN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16002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Arial"/>
              </a:rPr>
              <a:t>Implementar AWP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>
                <a:solidFill>
                  <a:srgbClr val="FF9955"/>
                </a:solidFill>
                <a:latin typeface="Arial"/>
              </a:rPr>
              <a:t>Construir el proyecto en el orden</a:t>
            </a:r>
          </a:p>
          <a:p>
            <a:pPr algn="l">
              <a:lnSpc>
                <a:spcPct val="105000"/>
              </a:lnSpc>
            </a:pPr>
            <a:r>
              <a:rPr sz="2400" b="0">
                <a:solidFill>
                  <a:srgbClr val="FF9955"/>
                </a:solidFill>
                <a:latin typeface="Arial"/>
              </a:rPr>
              <a:t>en que se va a construir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77639"/>
            <a:ext cx="6035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Advanced Work Packaging (AWP)</a:t>
            </a:r>
            <a:r>
              <a:rPr sz="1500" b="0">
                <a:solidFill>
                  <a:srgbClr val="BCBEC0"/>
                </a:solidFill>
                <a:latin typeface="Arial"/>
              </a:rPr>
              <a:t> fase por fase: roles, entregables, errores comunes y lecciones aprendidas.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064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D6E71"/>
                </a:solidFill>
                <a:latin typeface="Arial"/>
              </a:rPr>
              <a:t>Basado en guías del CII, la COAA e Insight-AWP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143000"/>
            <a:ext cx="4005072" cy="960120"/>
          </a:xfrm>
          <a:prstGeom prst="rect">
            <a:avLst/>
          </a:prstGeom>
          <a:solidFill>
            <a:srgbClr val="CC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a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1417320"/>
            <a:ext cx="41148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549640" y="130759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urier New"/>
              </a:rPr>
              <a:t>CWA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6916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Construction Work Area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103120"/>
            <a:ext cx="4005072" cy="384048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909560" y="2103120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BCBEC0"/>
                </a:solidFill>
                <a:latin typeface="Arial"/>
              </a:rPr>
              <a:t>Área del terreno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715768"/>
            <a:ext cx="4005072" cy="9601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helm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2990087"/>
            <a:ext cx="411480" cy="4114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54964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urier New"/>
              </a:rPr>
              <a:t>CWP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326440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Construction Work Package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3675887"/>
            <a:ext cx="4005072" cy="384048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909560" y="3675887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BCBEC0"/>
                </a:solidFill>
                <a:latin typeface="Arial"/>
              </a:rPr>
              <a:t>Una disciplina del área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4288536"/>
            <a:ext cx="4005072" cy="960120"/>
          </a:xfrm>
          <a:prstGeom prst="rect">
            <a:avLst/>
          </a:prstGeom>
          <a:solidFill>
            <a:srgbClr val="FF99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clip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0" y="4562855"/>
            <a:ext cx="411480" cy="4114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549640" y="445312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ourier New"/>
              </a:rPr>
              <a:t>IWP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4837175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Installation Work Package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5248655"/>
            <a:ext cx="4005072" cy="384048"/>
          </a:xfrm>
          <a:prstGeom prst="rect">
            <a:avLst/>
          </a:prstGeom>
          <a:solidFill>
            <a:srgbClr val="2222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09560" y="5248655"/>
            <a:ext cx="35478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BCBEC0"/>
                </a:solidFill>
                <a:latin typeface="Arial"/>
              </a:rPr>
              <a:t>Una cuadrilla, una semana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109728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0" b="1">
                <a:solidFill>
                  <a:srgbClr val="FF6600"/>
                </a:solidFill>
                <a:latin typeface="Arial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60520" y="148132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300">
                <a:solidFill>
                  <a:srgbClr val="FF6600"/>
                </a:solidFill>
                <a:latin typeface="Arial"/>
              </a:rPr>
              <a:t>MÓDULO 6  ·  FASE 3: CONSTRUCCIÓN</a:t>
            </a:r>
          </a:p>
        </p:txBody>
      </p:sp>
      <p:sp>
        <p:nvSpPr>
          <p:cNvPr id="5" name="Título"/>
          <p:cNvSpPr txBox="1"/>
          <p:nvPr/>
        </p:nvSpPr>
        <p:spPr>
          <a:xfrm>
            <a:off x="4160520" y="1874519"/>
            <a:ext cx="7406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3600" b="1">
                <a:solidFill>
                  <a:srgbClr val="FFFFFF"/>
                </a:solidFill>
                <a:latin typeface="Arial"/>
              </a:rPr>
              <a:t>En campo, cada capataz recibe un paquete listo para ejecutar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60520" y="3429000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BCBEC0"/>
                </a:solidFill>
                <a:latin typeface="Arial"/>
              </a:rPr>
              <a:t>Workface Planning (WFP), gestión de restricciones, backlog y seguimiento diario del avance.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892040"/>
            <a:ext cx="2606040" cy="868680"/>
          </a:xfrm>
          <a:prstGeom prst="rect">
            <a:avLst/>
          </a:prstGeom>
          <a:solidFill>
            <a:srgbClr val="22222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77240" y="5047488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FF6600"/>
                </a:solidFill>
                <a:latin typeface="Arial"/>
              </a:rPr>
              <a:t>FASE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21807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CBEC0"/>
                </a:solidFill>
                <a:latin typeface="Arial"/>
              </a:rPr>
              <a:t>Planificación · FEL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74136" y="4892040"/>
            <a:ext cx="2606040" cy="868680"/>
          </a:xfrm>
          <a:prstGeom prst="rect">
            <a:avLst/>
          </a:prstGeom>
          <a:solidFill>
            <a:srgbClr val="22222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02736" y="5047488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FF6600"/>
                </a:solidFill>
                <a:latin typeface="Arial"/>
              </a:rPr>
              <a:t>FASE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2736" y="5321807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CBEC0"/>
                </a:solidFill>
                <a:latin typeface="Arial"/>
              </a:rPr>
              <a:t>Ingeniería y compras · FEL 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4892040"/>
            <a:ext cx="2606040" cy="86868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28231" y="5047488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FFFFFF"/>
                </a:solidFill>
                <a:latin typeface="Arial"/>
              </a:rPr>
              <a:t>FASE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1" y="5321807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Construcción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25128" y="4892040"/>
            <a:ext cx="2606040" cy="868680"/>
          </a:xfrm>
          <a:prstGeom prst="rect">
            <a:avLst/>
          </a:prstGeom>
          <a:solidFill>
            <a:srgbClr val="22222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53728" y="5047488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FF6600"/>
                </a:solidFill>
                <a:latin typeface="Arial"/>
              </a:rPr>
              <a:t>FASE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5321807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BCBEC0"/>
                </a:solidFill>
                <a:latin typeface="Arial"/>
              </a:rPr>
              <a:t>Puesta en marcha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8A8B8E"/>
                </a:solidFill>
                <a:latin typeface="Arial"/>
              </a:rPr>
              <a:t>IMPLEMENTACIÓN DE AWP  ·  M6 · CONSTRUCCIÓN Y WORKFACE PLANNING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8B8E"/>
                </a:solidFill>
                <a:latin typeface="Courier New"/>
              </a:rPr>
              <a:t>059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6600"/>
                </a:solidFill>
                <a:latin typeface="Arial"/>
              </a:rPr>
              <a:t>MÓDULO 2 · QUÉ ES AWP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676656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>
                <a:solidFill>
                  <a:srgbClr val="1A1A1A"/>
                </a:solidFill>
                <a:latin typeface="Arial"/>
              </a:rPr>
              <a:t>Todo se ordena en una jerarquía: del área al paquete que recibe el capataz</a:t>
            </a:r>
          </a:p>
        </p:txBody>
      </p:sp>
      <p:sp>
        <p:nvSpPr>
          <p:cNvPr id="5" name="Rectangle 4"/>
          <p:cNvSpPr/>
          <p:nvPr/>
        </p:nvSpPr>
        <p:spPr>
          <a:xfrm>
            <a:off x="4495647" y="1783080"/>
            <a:ext cx="3200400" cy="9875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map_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6815" y="2084832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272887" y="1911095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urier New"/>
              </a:rPr>
              <a:t>CWA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72887" y="222199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Construction Work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2887" y="245973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9955"/>
                </a:solidFill>
                <a:latin typeface="Arial"/>
              </a:rPr>
              <a:t>Área del terreno · nivel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5647" y="3246120"/>
            <a:ext cx="3200400" cy="98755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helme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6815" y="3547872"/>
            <a:ext cx="384048" cy="3840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72887" y="337413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urier New"/>
              </a:rPr>
              <a:t>CWP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2887" y="368503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Construction Work Package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72887" y="392277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Arial"/>
              </a:rPr>
              <a:t>1 disciplina · &lt; 40 000 HH · nivel 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246120"/>
            <a:ext cx="3200400" cy="987552"/>
          </a:xfrm>
          <a:prstGeom prst="rect">
            <a:avLst/>
          </a:prstGeom>
          <a:solidFill>
            <a:srgbClr val="003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uler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547872"/>
            <a:ext cx="384048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463040" y="337413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urier New"/>
              </a:rPr>
              <a:t>EWP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68503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Engineering Work Package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92277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A8CFE8"/>
                </a:solidFill>
                <a:latin typeface="Arial"/>
              </a:rPr>
              <a:t>Planos, specs, lista de materiales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305495" y="3246120"/>
            <a:ext cx="3200400" cy="987552"/>
          </a:xfrm>
          <a:prstGeom prst="rect">
            <a:avLst/>
          </a:prstGeom>
          <a:solidFill>
            <a:srgbClr val="007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truck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6663" y="3547872"/>
            <a:ext cx="384048" cy="38404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82735" y="3374136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urier New"/>
              </a:rPr>
              <a:t>PWP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82735" y="3685031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Procurement Work Package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82735" y="3922776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Arial"/>
              </a:rPr>
              <a:t>Materiales y equipos del CWP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959352" y="3739896"/>
            <a:ext cx="444855" cy="0"/>
          </a:xfrm>
          <a:prstGeom prst="line">
            <a:avLst/>
          </a:prstGeom>
          <a:ln w="22225">
            <a:solidFill>
              <a:srgbClr val="00308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7787487" y="3739896"/>
            <a:ext cx="444856" cy="0"/>
          </a:xfrm>
          <a:prstGeom prst="line">
            <a:avLst/>
          </a:prstGeom>
          <a:ln w="22225">
            <a:solidFill>
              <a:srgbClr val="0078C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95847" y="2825496"/>
            <a:ext cx="0" cy="347472"/>
          </a:xfrm>
          <a:prstGeom prst="line">
            <a:avLst/>
          </a:prstGeom>
          <a:ln w="22225">
            <a:solidFill>
              <a:srgbClr val="6D6E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2438247" y="470916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Picture 28" descr="clip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1127" y="4946904"/>
            <a:ext cx="384048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169767" y="483717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ourier New"/>
              </a:rPr>
              <a:t>IWP-01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69767" y="5184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D6E71"/>
                </a:solidFill>
                <a:latin typeface="Arial"/>
              </a:rPr>
              <a:t>1 cuadrilla · 1 semana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3581247" y="4288536"/>
            <a:ext cx="2514600" cy="347472"/>
          </a:xfrm>
          <a:prstGeom prst="line">
            <a:avLst/>
          </a:prstGeom>
          <a:ln w="15875">
            <a:solidFill>
              <a:srgbClr val="6D6E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4952847" y="470916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clip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5727" y="4946904"/>
            <a:ext cx="384048" cy="38404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84367" y="483717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ourier New"/>
              </a:rPr>
              <a:t>IWP-02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84367" y="5184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D6E71"/>
                </a:solidFill>
                <a:latin typeface="Arial"/>
              </a:rPr>
              <a:t>1 cuadrilla · 1 semana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5847" y="4288536"/>
            <a:ext cx="0" cy="347472"/>
          </a:xfrm>
          <a:prstGeom prst="line">
            <a:avLst/>
          </a:prstGeom>
          <a:ln w="15875">
            <a:solidFill>
              <a:srgbClr val="6D6E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7467447" y="4709160"/>
            <a:ext cx="2286000" cy="86868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clip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50327" y="4946904"/>
            <a:ext cx="384048" cy="38404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198967" y="4837176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ourier New"/>
              </a:rPr>
              <a:t>IWP-03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8967" y="5184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D6E71"/>
                </a:solidFill>
                <a:latin typeface="Arial"/>
              </a:rPr>
              <a:t>1 cuadrilla · 1 semana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095847" y="4288536"/>
            <a:ext cx="2514600" cy="347472"/>
          </a:xfrm>
          <a:prstGeom prst="line">
            <a:avLst/>
          </a:prstGeom>
          <a:ln w="15875">
            <a:solidFill>
              <a:srgbClr val="6D6E71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438247" y="573328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1A1A1A"/>
                </a:solidFill>
                <a:latin typeface="Arial"/>
              </a:rPr>
              <a:t>Installation Work Package (IWP): </a:t>
            </a:r>
            <a:r>
              <a:rPr sz="1100" b="0">
                <a:solidFill>
                  <a:srgbClr val="6D6E71"/>
                </a:solidFill>
                <a:latin typeface="Arial"/>
              </a:rPr>
              <a:t>lo que recibe el capataz · nivel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27767" y="4754880"/>
            <a:ext cx="2468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FF6600"/>
                </a:solidFill>
                <a:latin typeface="Arial"/>
              </a:rPr>
              <a:t>Regla base</a:t>
            </a:r>
          </a:p>
          <a:p>
            <a:pPr algn="l">
              <a:lnSpc>
                <a:spcPct val="110000"/>
              </a:lnSpc>
            </a:pPr>
            <a:r>
              <a:rPr sz="1100" b="0">
                <a:solidFill>
                  <a:srgbClr val="2E2E2E"/>
                </a:solidFill>
                <a:latin typeface="Arial"/>
              </a:rPr>
              <a:t>1 EWP = 1 PWP = 1 CWP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6D6E71"/>
                </a:solidFill>
                <a:latin typeface="Arial"/>
              </a:rPr>
              <a:t>IMPLEMENTACIÓN DE AWP  ·  M2 · QUÉ ES AWP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D6E71"/>
                </a:solidFill>
                <a:latin typeface="Courier New"/>
              </a:rPr>
              <a:t>016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6600"/>
                </a:solidFill>
                <a:latin typeface="Arial"/>
              </a:rPr>
              <a:t>MÓDULO 6 · GESTIÓN DE RESTRICCIONES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676656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>
                <a:solidFill>
                  <a:srgbClr val="1A1A1A"/>
                </a:solidFill>
                <a:latin typeface="Arial"/>
              </a:rPr>
              <a:t>Las restricciones se liberan en cuatro pasos, con semanas de anticipación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74519"/>
            <a:ext cx="254203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822959" y="2148839"/>
            <a:ext cx="502920" cy="502920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2148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8" name="Picture 7" descr="clip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152" y="217627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59" y="2862072"/>
            <a:ext cx="203911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IWP iniciado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474720"/>
            <a:ext cx="20391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D6E71"/>
                </a:solidFill>
                <a:latin typeface="Arial"/>
              </a:rPr>
              <a:t>El planificador crea el paquete a partir del CWP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4206240"/>
            <a:ext cx="1993391" cy="10972"/>
          </a:xfrm>
          <a:prstGeom prst="rect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22959" y="43251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Pequeño / parada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01952" y="4325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FF6600"/>
                </a:solidFill>
                <a:latin typeface="Courier New"/>
              </a:rPr>
              <a:t>−6 sem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46542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Megaproyecto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1952" y="46542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003087"/>
                </a:solidFill>
                <a:latin typeface="Courier New"/>
              </a:rPr>
              <a:t>−12 sem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27248" y="3497579"/>
            <a:ext cx="201167" cy="0"/>
          </a:xfrm>
          <a:prstGeom prst="line">
            <a:avLst/>
          </a:prstGeom>
          <a:ln w="25400">
            <a:solidFill>
              <a:srgbClr val="FF66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364991" y="1874519"/>
            <a:ext cx="254203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3639311" y="2148839"/>
            <a:ext cx="502920" cy="502920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639311" y="2148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20" name="Picture 19" descr="search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3" y="2176272"/>
            <a:ext cx="438912" cy="438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39311" y="2862072"/>
            <a:ext cx="203911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Restricciones identificadas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311" y="3474720"/>
            <a:ext cx="20391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D6E71"/>
                </a:solidFill>
                <a:latin typeface="Arial"/>
              </a:rPr>
              <a:t>Documentos, materiales, andamios, equipos, permisos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39311" y="4206240"/>
            <a:ext cx="1993391" cy="10972"/>
          </a:xfrm>
          <a:prstGeom prst="rect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3639311" y="43251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Pequeño / parada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18303" y="4325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FF6600"/>
                </a:solidFill>
                <a:latin typeface="Courier New"/>
              </a:rPr>
              <a:t>−4 sem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311" y="46542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Megaproyecto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18303" y="46542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003087"/>
                </a:solidFill>
                <a:latin typeface="Courier New"/>
              </a:rPr>
              <a:t>−10 sem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943599" y="3497579"/>
            <a:ext cx="201168" cy="0"/>
          </a:xfrm>
          <a:prstGeom prst="line">
            <a:avLst/>
          </a:prstGeom>
          <a:ln w="25400">
            <a:solidFill>
              <a:srgbClr val="FF66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181344" y="1874519"/>
            <a:ext cx="254203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val 29"/>
          <p:cNvSpPr/>
          <p:nvPr/>
        </p:nvSpPr>
        <p:spPr>
          <a:xfrm>
            <a:off x="6455664" y="2148839"/>
            <a:ext cx="502920" cy="502920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55664" y="2148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32" name="Picture 31" descr="usercheck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5" y="2176272"/>
            <a:ext cx="438912" cy="43891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55664" y="2862072"/>
            <a:ext cx="203911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Restricciones asignadas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474720"/>
            <a:ext cx="20391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D6E71"/>
                </a:solidFill>
                <a:latin typeface="Arial"/>
              </a:rPr>
              <a:t>Cada una con dueño, fecha y prioridad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55664" y="4206240"/>
            <a:ext cx="1993391" cy="10972"/>
          </a:xfrm>
          <a:prstGeom prst="rect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6455664" y="43251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Pequeño / parada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34655" y="4325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FF6600"/>
                </a:solidFill>
                <a:latin typeface="Courier New"/>
              </a:rPr>
              <a:t>−3 sem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46542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Megaproyecto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34655" y="46542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003087"/>
                </a:solidFill>
                <a:latin typeface="Courier New"/>
              </a:rPr>
              <a:t>−8 sem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759951" y="3497579"/>
            <a:ext cx="201169" cy="0"/>
          </a:xfrm>
          <a:prstGeom prst="line">
            <a:avLst/>
          </a:prstGeom>
          <a:ln w="25400">
            <a:solidFill>
              <a:srgbClr val="FF66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8997696" y="1874519"/>
            <a:ext cx="2542032" cy="324612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val 41"/>
          <p:cNvSpPr/>
          <p:nvPr/>
        </p:nvSpPr>
        <p:spPr>
          <a:xfrm>
            <a:off x="9272016" y="2148839"/>
            <a:ext cx="502920" cy="502920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9272016" y="2148839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pic>
        <p:nvPicPr>
          <p:cNvPr id="44" name="Picture 43" descr="unlock_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8207" y="2176272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9272016" y="2862072"/>
            <a:ext cx="2039111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1A1A1A"/>
                </a:solidFill>
                <a:latin typeface="Arial"/>
              </a:rPr>
              <a:t>Restricciones liberadas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72016" y="3474720"/>
            <a:ext cx="20391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6D6E71"/>
                </a:solidFill>
                <a:latin typeface="Arial"/>
              </a:rPr>
              <a:t>El IWP pasa al backlog, listo para campo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72016" y="4206240"/>
            <a:ext cx="1993391" cy="10972"/>
          </a:xfrm>
          <a:prstGeom prst="rect">
            <a:avLst/>
          </a:prstGeom>
          <a:solidFill>
            <a:srgbClr val="BCBE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9272016" y="432511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Pequeño / parada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51007" y="432511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FF6600"/>
                </a:solidFill>
                <a:latin typeface="Courier New"/>
              </a:rPr>
              <a:t>−2 sem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2016" y="465429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6D6E71"/>
                </a:solidFill>
                <a:latin typeface="Arial"/>
              </a:rPr>
              <a:t>Megaproyecto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351007" y="46542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>
                <a:solidFill>
                  <a:srgbClr val="003087"/>
                </a:solidFill>
                <a:latin typeface="Courier New"/>
              </a:rPr>
              <a:t>−4 sem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8640" y="5394960"/>
            <a:ext cx="11094415" cy="6858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3" name="Picture 52" descr="flag_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59" y="5550408"/>
            <a:ext cx="365760" cy="36576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417319" y="5394960"/>
            <a:ext cx="987552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FF6600"/>
                </a:solidFill>
                <a:latin typeface="Arial"/>
              </a:rPr>
              <a:t>Regla de oro: </a:t>
            </a:r>
            <a:r>
              <a:rPr sz="1500" b="0">
                <a:solidFill>
                  <a:srgbClr val="FFFFFF"/>
                </a:solidFill>
                <a:latin typeface="Arial"/>
              </a:rPr>
              <a:t>ningún IWP va a campo mientras tenga una restricción abierta.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6D6E71"/>
                </a:solidFill>
                <a:latin typeface="Arial"/>
              </a:rPr>
              <a:t>IMPLEMENTACIÓN DE AWP  ·  M6 · CONSTRUCCIÓN Y WORKFACE PLANNING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D6E71"/>
                </a:solidFill>
                <a:latin typeface="Courier New"/>
              </a:rPr>
              <a:t>066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6600"/>
                </a:solidFill>
                <a:latin typeface="Arial"/>
              </a:rPr>
              <a:t>MÓDULO 5 · FASE 2: INGENIERÍA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676656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>
                <a:solidFill>
                  <a:srgbClr val="1A1A1A"/>
                </a:solidFill>
                <a:latin typeface="Arial"/>
              </a:rPr>
              <a:t>Tradicional: se diseña lo disponible. AWP: se diseña lo que se construirá primero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828800"/>
            <a:ext cx="539496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5394960" cy="50292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59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FFFFFF"/>
                </a:solidFill>
                <a:latin typeface="Arial"/>
              </a:rPr>
              <a:t>ENFOQUE TRADICIONAL</a:t>
            </a:r>
          </a:p>
        </p:txBody>
      </p:sp>
      <p:sp>
        <p:nvSpPr>
          <p:cNvPr id="8" name="Oval 7"/>
          <p:cNvSpPr/>
          <p:nvPr/>
        </p:nvSpPr>
        <p:spPr>
          <a:xfrm>
            <a:off x="822959" y="2560320"/>
            <a:ext cx="384048" cy="384048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560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54203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Secuencia de ingeniería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834639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D6E71"/>
                </a:solidFill>
                <a:latin typeface="Arial"/>
              </a:rPr>
              <a:t>Ingeniería avanza según su propia lógica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014983" y="2990087"/>
            <a:ext cx="0" cy="329185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822959" y="3383279"/>
            <a:ext cx="384048" cy="384048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959" y="338327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3364991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Liberación a construcción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19" y="3657599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D6E71"/>
                </a:solidFill>
                <a:latin typeface="Arial"/>
              </a:rPr>
              <a:t>Se emiten planos a medida que se terminan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14983" y="3813048"/>
            <a:ext cx="0" cy="329183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822959" y="4206240"/>
            <a:ext cx="384048" cy="384048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59" y="42062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418795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Se ejecuta el alcance disponible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19" y="4480559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D6E71"/>
                </a:solidFill>
                <a:latin typeface="Arial"/>
              </a:rPr>
              <a:t>El campo trabaja donde hay información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59" y="5257800"/>
            <a:ext cx="48463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Picture 22" descr="xmark_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5394960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554480" y="525780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1A1A1A"/>
                </a:solidFill>
                <a:latin typeface="Arial"/>
              </a:rPr>
              <a:t>Frentes incompletos, esperas y retrabajo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1828800"/>
            <a:ext cx="5394960" cy="4297680"/>
          </a:xfrm>
          <a:prstGeom prst="rect">
            <a:avLst/>
          </a:prstGeom>
          <a:solidFill>
            <a:srgbClr val="FFFFFF"/>
          </a:solidFill>
          <a:ln w="9525">
            <a:solidFill>
              <a:srgbClr val="BCBE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ctangle 25"/>
          <p:cNvSpPr/>
          <p:nvPr/>
        </p:nvSpPr>
        <p:spPr>
          <a:xfrm>
            <a:off x="6245352" y="1828800"/>
            <a:ext cx="5394960" cy="50292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519672" y="1828800"/>
            <a:ext cx="48463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spc="200">
                <a:solidFill>
                  <a:srgbClr val="FFFFFF"/>
                </a:solidFill>
                <a:latin typeface="Arial"/>
              </a:rPr>
              <a:t>ENFOQUE AWP</a:t>
            </a:r>
          </a:p>
        </p:txBody>
      </p:sp>
      <p:sp>
        <p:nvSpPr>
          <p:cNvPr id="28" name="Oval 27"/>
          <p:cNvSpPr/>
          <p:nvPr/>
        </p:nvSpPr>
        <p:spPr>
          <a:xfrm>
            <a:off x="6519672" y="2560320"/>
            <a:ext cx="384048" cy="384048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19672" y="256032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14032" y="254203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Secuencia de construcción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4032" y="2834639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D6E71"/>
                </a:solidFill>
                <a:latin typeface="Arial"/>
              </a:rPr>
              <a:t>El Path of Construction (POC) fija el orden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711696" y="2990087"/>
            <a:ext cx="0" cy="329185"/>
          </a:xfrm>
          <a:prstGeom prst="line">
            <a:avLst/>
          </a:prstGeom>
          <a:ln w="19050">
            <a:solidFill>
              <a:srgbClr val="FF66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/>
          <p:cNvSpPr/>
          <p:nvPr/>
        </p:nvSpPr>
        <p:spPr>
          <a:xfrm>
            <a:off x="6519672" y="3383279"/>
            <a:ext cx="384048" cy="384048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519672" y="338327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4032" y="3364991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Secuencia de ingeniería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14032" y="3657599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D6E71"/>
                </a:solidFill>
                <a:latin typeface="Arial"/>
              </a:rPr>
              <a:t>Los EWP se entregan en el orden del POC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11696" y="3813048"/>
            <a:ext cx="0" cy="329183"/>
          </a:xfrm>
          <a:prstGeom prst="line">
            <a:avLst/>
          </a:prstGeom>
          <a:ln w="19050">
            <a:solidFill>
              <a:srgbClr val="FF66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Oval 37"/>
          <p:cNvSpPr/>
          <p:nvPr/>
        </p:nvSpPr>
        <p:spPr>
          <a:xfrm>
            <a:off x="6519672" y="4206240"/>
            <a:ext cx="384048" cy="384048"/>
          </a:xfrm>
          <a:prstGeom prst="ellipse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519672" y="420624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14032" y="4187952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A1A1A"/>
                </a:solidFill>
                <a:latin typeface="Arial"/>
              </a:rPr>
              <a:t>Se ejecuta según el plan acordado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4032" y="4480559"/>
            <a:ext cx="4251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6D6E71"/>
                </a:solidFill>
                <a:latin typeface="Arial"/>
              </a:rPr>
              <a:t>Cada CWP llega completo a campo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19672" y="5257800"/>
            <a:ext cx="4846320" cy="6400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Picture 42" descr="check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552" y="5394960"/>
            <a:ext cx="365760" cy="36576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51192" y="5257800"/>
            <a:ext cx="40233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1A1A1A"/>
                </a:solidFill>
                <a:latin typeface="Arial"/>
              </a:rPr>
              <a:t>Paquetes completos, en orden y a tiempo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6D6E71"/>
                </a:solidFill>
                <a:latin typeface="Arial"/>
              </a:rPr>
              <a:t>IMPLEMENTACIÓN DE AWP  ·  M5 · INGENIERÍA DE DETALLE Y COMPRAS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D6E71"/>
                </a:solidFill>
                <a:latin typeface="Courier New"/>
              </a:rPr>
              <a:t>049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6600"/>
                </a:solidFill>
                <a:latin typeface="Arial"/>
              </a:rPr>
              <a:t>MÓDULO 4 · FASE 1: PLANIFICACIÓN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676656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>
                <a:solidFill>
                  <a:srgbClr val="1A1A1A"/>
                </a:solidFill>
                <a:latin typeface="Arial"/>
              </a:rPr>
              <a:t>El cronograma se escalona en 7 niveles, del año a la hora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59" y="1783080"/>
          <a:ext cx="10424160" cy="37856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4754880"/>
                <a:gridCol w="2194560"/>
                <a:gridCol w="23774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1" spc="100">
                          <a:solidFill>
                            <a:srgbClr val="FFFFFF"/>
                          </a:solidFill>
                          <a:latin typeface="Arial"/>
                        </a:rPr>
                        <a:t>NIVEL</a:t>
                      </a:r>
                    </a:p>
                  </a:txBody>
                  <a:tcPr marL="182880" marR="91440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spc="100">
                          <a:solidFill>
                            <a:srgbClr val="FFFFFF"/>
                          </a:solidFill>
                          <a:latin typeface="Arial"/>
                        </a:rPr>
                        <a:t>UNIDAD DE PLANIFICACIÓN</a:t>
                      </a:r>
                    </a:p>
                  </a:txBody>
                  <a:tcPr marL="182880" marR="91440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spc="100">
                          <a:solidFill>
                            <a:srgbClr val="FFFFFF"/>
                          </a:solidFill>
                          <a:latin typeface="Arial"/>
                        </a:rPr>
                        <a:t>HORIZONTE</a:t>
                      </a:r>
                    </a:p>
                  </a:txBody>
                  <a:tcPr marL="182880" marR="91440" marT="0" marB="0" anchor="ctr"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spc="100">
                          <a:solidFill>
                            <a:srgbClr val="FFFFFF"/>
                          </a:solidFill>
                          <a:latin typeface="Arial"/>
                        </a:rPr>
                        <a:t>PAQUETE AWP</a:t>
                      </a:r>
                    </a:p>
                  </a:txBody>
                  <a:tcPr marL="182880" marR="91440" marT="0" marB="0" anchor="ctr">
                    <a:solidFill>
                      <a:srgbClr val="1A1A1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6D6E71"/>
                          </a:solidFill>
                          <a:latin typeface="Courier New"/>
                        </a:rPr>
                        <a:t>1</a:t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Planta</a:t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Año</a:t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087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6D6E71"/>
                          </a:solidFill>
                          <a:latin typeface="Courier New"/>
                        </a:rPr>
                        <a:t>2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Construction Work Area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6 meses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087"/>
                          </a:solidFill>
                          <a:latin typeface="Courier New"/>
                        </a:rPr>
                        <a:t>CWA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6600"/>
                          </a:solidFill>
                          <a:latin typeface="Courier New"/>
                        </a:rPr>
                        <a:t>3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Arial"/>
                        </a:rPr>
                        <a:t>Construction Work Package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3 meses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C4400"/>
                          </a:solidFill>
                          <a:latin typeface="Courier New"/>
                        </a:rPr>
                        <a:t>CWP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6D6E71"/>
                          </a:solidFill>
                          <a:latin typeface="Courier New"/>
                        </a:rPr>
                        <a:t>4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Código de función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Mes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087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6600"/>
                          </a:solidFill>
                          <a:latin typeface="Courier New"/>
                        </a:rPr>
                        <a:t>5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1A1A1A"/>
                          </a:solidFill>
                          <a:latin typeface="Arial"/>
                        </a:rPr>
                        <a:t>Installation Work Package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Semana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CC4400"/>
                          </a:solidFill>
                          <a:latin typeface="Courier New"/>
                        </a:rPr>
                        <a:t>IWP</a:t>
                      </a:r>
                    </a:p>
                  </a:txBody>
                  <a:tcPr marL="182880" marR="91440" marT="0" marB="0" anchor="ctr">
                    <a:solidFill>
                      <a:srgbClr val="FFE3C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6D6E71"/>
                          </a:solidFill>
                          <a:latin typeface="Courier New"/>
                        </a:rPr>
                        <a:t>6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Plan diario del capataz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Día</a:t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087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 marL="182880" marR="91440" marT="0" marB="0" anchor="ctr">
                    <a:solidFill>
                      <a:srgbClr val="F7F7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6D6E71"/>
                          </a:solidFill>
                          <a:latin typeface="Courier New"/>
                        </a:rPr>
                        <a:t>7</a:t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A1A1A"/>
                          </a:solidFill>
                          <a:latin typeface="Arial"/>
                        </a:rPr>
                        <a:t>Tarea</a:t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E2E2E"/>
                          </a:solidFill>
                          <a:latin typeface="Arial"/>
                        </a:rPr>
                        <a:t>Hora</a:t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3087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 marL="182880" marR="91440" marT="0" marB="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layers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59" y="5815583"/>
            <a:ext cx="292608" cy="29260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579729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rial"/>
              </a:rPr>
              <a:t>El CWP se divide en IWP: </a:t>
            </a:r>
            <a:r>
              <a:rPr sz="1200" b="0">
                <a:solidFill>
                  <a:srgbClr val="2E2E2E"/>
                </a:solidFill>
                <a:latin typeface="Arial"/>
              </a:rPr>
              <a:t>el planificador entrega esa secuencia al programador como cronograma de nivel 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6D6E71"/>
                </a:solidFill>
                <a:latin typeface="Arial"/>
              </a:rPr>
              <a:t>IMPLEMENTACIÓN DE AWP  ·  M4 · FASE 1: PLANIFICACIÓN PRELIMINAR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D6E71"/>
                </a:solidFill>
                <a:latin typeface="Courier New"/>
              </a:rPr>
              <a:t>045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300">
                <a:solidFill>
                  <a:srgbClr val="FF6600"/>
                </a:solidFill>
                <a:latin typeface="Arial"/>
              </a:rPr>
              <a:t>MÓDULO 10 · MEDICIÓN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676656"/>
            <a:ext cx="110944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800" b="1">
                <a:solidFill>
                  <a:srgbClr val="1A1A1A"/>
                </a:solidFill>
                <a:latin typeface="Arial"/>
              </a:rPr>
              <a:t>El tool time pasa de 37 % a 46 % con AWP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292608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6D6E71"/>
                </a:solidFill>
                <a:latin typeface="Arial"/>
              </a:rPr>
              <a:t>37 %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632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rial"/>
              </a:rPr>
              <a:t>Proyectos tradicionales</a:t>
            </a:r>
          </a:p>
          <a:p>
            <a:pPr algn="l"/>
            <a:r>
              <a:rPr sz="1200" b="0">
                <a:solidFill>
                  <a:srgbClr val="6D6E71"/>
                </a:solidFill>
                <a:latin typeface="Arial"/>
              </a:rPr>
              <a:t>3,7 h productivas por jornada de 10 h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611880" y="2487168"/>
            <a:ext cx="914400" cy="0"/>
          </a:xfrm>
          <a:prstGeom prst="line">
            <a:avLst/>
          </a:prstGeom>
          <a:ln w="38100">
            <a:solidFill>
              <a:srgbClr val="FF66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54880" y="182880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>
                <a:solidFill>
                  <a:srgbClr val="FF6600"/>
                </a:solidFill>
                <a:latin typeface="Arial"/>
              </a:rPr>
              <a:t>46 %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063240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rial"/>
              </a:rPr>
              <a:t>Proyectos con AWP</a:t>
            </a:r>
          </a:p>
          <a:p>
            <a:pPr algn="l"/>
            <a:r>
              <a:rPr sz="1200" b="0">
                <a:solidFill>
                  <a:srgbClr val="6D6E71"/>
                </a:solidFill>
                <a:latin typeface="Arial"/>
              </a:rPr>
              <a:t>4,6 h productivas por jornada de 10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79475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spc="200">
                <a:solidFill>
                  <a:srgbClr val="6D6E71"/>
                </a:solidFill>
                <a:latin typeface="Arial"/>
              </a:rPr>
              <a:t>JORNADA DE 10 HORAS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160520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rial"/>
              </a:rPr>
              <a:t>Tradicional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4160520"/>
            <a:ext cx="2706624" cy="457200"/>
          </a:xfrm>
          <a:prstGeom prst="rect">
            <a:avLst/>
          </a:prstGeom>
          <a:solidFill>
            <a:srgbClr val="6D6E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4535424" y="4160520"/>
            <a:ext cx="4608576" cy="45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965960" y="4160520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ourier New"/>
              </a:rPr>
              <a:t>3,7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41605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D6E71"/>
                </a:solidFill>
                <a:latin typeface="Arial"/>
              </a:rPr>
              <a:t>6,3 h sin herramientas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818888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Arial"/>
              </a:rPr>
              <a:t>AWP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800" y="4818888"/>
            <a:ext cx="3364992" cy="457200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193792" y="4818888"/>
            <a:ext cx="3950208" cy="457200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965960" y="4818888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ourier New"/>
              </a:rPr>
              <a:t>4,6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2" y="481888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6D6E71"/>
                </a:solidFill>
                <a:latin typeface="Arial"/>
              </a:rPr>
              <a:t>5,4 h sin herramientas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64040" y="1828800"/>
            <a:ext cx="2179015" cy="3447288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wrench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2148840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784080" y="2834640"/>
            <a:ext cx="1783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6600"/>
                </a:solidFill>
                <a:latin typeface="Arial"/>
              </a:rPr>
              <a:t>+25 %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3611880"/>
            <a:ext cx="17830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FFFFFF"/>
                </a:solidFill>
                <a:latin typeface="Arial"/>
              </a:rPr>
              <a:t>de productividad en campo (CII)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0" y="4434840"/>
            <a:ext cx="17830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CBEC0"/>
                </a:solidFill>
                <a:latin typeface="Arial"/>
              </a:rPr>
              <a:t>Mídalo con estudios de tool time cada 2-3 meses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6D6E71"/>
                </a:solidFill>
                <a:latin typeface="Arial"/>
              </a:rPr>
              <a:t>IMPLEMENTACIÓN DE AWP  ·  M10 · MEDICIÓN: KPIs, CONTROLES Y PRODUCTIVIDAD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6D6E71"/>
                </a:solidFill>
                <a:latin typeface="Courier New"/>
              </a:rPr>
              <a:t>101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"/>
          </a:xfrm>
          <a:prstGeom prst="rect">
            <a:avLst/>
          </a:prstGeom>
          <a:solidFill>
            <a:srgbClr val="FF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300">
                <a:solidFill>
                  <a:srgbClr val="FF6600"/>
                </a:solidFill>
                <a:latin typeface="Arial"/>
              </a:rPr>
              <a:t>EN RESUMEN</a:t>
            </a:r>
          </a:p>
        </p:txBody>
      </p:sp>
      <p:sp>
        <p:nvSpPr>
          <p:cNvPr id="4" name="Título"/>
          <p:cNvSpPr txBox="1"/>
          <p:nvPr/>
        </p:nvSpPr>
        <p:spPr>
          <a:xfrm>
            <a:off x="548640" y="123444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4000" b="1">
                <a:solidFill>
                  <a:srgbClr val="FFFFFF"/>
                </a:solidFill>
                <a:latin typeface="Arial"/>
              </a:rPr>
              <a:t>Construya en el orden correcto y la productividad llega sola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926080"/>
            <a:ext cx="3502152" cy="1965960"/>
          </a:xfrm>
          <a:prstGeom prst="rect">
            <a:avLst/>
          </a:prstGeom>
          <a:solidFill>
            <a:srgbClr val="22222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helmet_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20040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3749040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Construcción define el orden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2953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CBEC0"/>
                </a:solidFill>
                <a:latin typeface="Arial"/>
              </a:rPr>
              <a:t>Path of Construction (POC) y CWP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926080"/>
            <a:ext cx="3502152" cy="1965960"/>
          </a:xfrm>
          <a:prstGeom prst="rect">
            <a:avLst/>
          </a:prstGeom>
          <a:solidFill>
            <a:srgbClr val="22222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uler_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20040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63440" y="3749040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Ingeniería y Compras lo siguen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4389120"/>
            <a:ext cx="2953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CBEC0"/>
                </a:solidFill>
                <a:latin typeface="Arial"/>
              </a:rPr>
              <a:t>EWP y PWP en la secuencia del POC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2926080"/>
            <a:ext cx="3502152" cy="1965960"/>
          </a:xfrm>
          <a:prstGeom prst="rect">
            <a:avLst/>
          </a:prstGeom>
          <a:solidFill>
            <a:srgbClr val="222222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clip_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3200400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458200" y="3749040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95000"/>
              </a:lnSpc>
            </a:pPr>
            <a:r>
              <a:rPr sz="1500" b="1">
                <a:solidFill>
                  <a:srgbClr val="FFFFFF"/>
                </a:solidFill>
                <a:latin typeface="Arial"/>
              </a:rPr>
              <a:t>El campo ejecuta sin restricciones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389120"/>
            <a:ext cx="295351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BCBEC0"/>
                </a:solidFill>
                <a:latin typeface="Arial"/>
              </a:rPr>
              <a:t>IWP listos, backlog y avance diario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FF9955"/>
                </a:solidFill>
                <a:latin typeface="Arial"/>
              </a:rPr>
              <a:t>¿Preguntas?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5349240"/>
            <a:ext cx="533369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0">
                <a:solidFill>
                  <a:srgbClr val="BCBEC0"/>
                </a:solidFill>
                <a:latin typeface="Arial"/>
              </a:rPr>
              <a:t>Siguiente paso: nombrar al AWP Champion del proyecto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spc="100">
                <a:solidFill>
                  <a:srgbClr val="8A8B8E"/>
                </a:solidFill>
                <a:latin typeface="Arial"/>
              </a:rPr>
              <a:t>IMPLEMENTACIÓN DE AWP  ·  CIERRE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14255" y="64190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>
                <a:solidFill>
                  <a:srgbClr val="8A8B8E"/>
                </a:solidFill>
                <a:latin typeface="Courier New"/>
              </a:rPr>
              <a:t>122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9443</Words>
  <Application>Microsoft Office PowerPoint</Application>
  <PresentationFormat>Panorámica</PresentationFormat>
  <Paragraphs>2268</Paragraphs>
  <Slides>20</Slides>
  <Notes>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20</vt:i4>
      </vt:variant>
    </vt:vector>
  </HeadingPairs>
  <TitlesOfParts>
    <vt:vector size="25" baseType="lpstr">
      <vt:lpstr>Arial</vt:lpstr>
      <vt:lpstr>Arial Black</vt:lpstr>
      <vt:lpstr>Courier New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Implementar AWP: muestra de diseño</dc:title>
  <dc:subject>PptxGenJS Presentation</dc:subject>
  <dc:creator>PptxGenJS</dc:creator>
  <cp:lastModifiedBy>Elmer Chávez</cp:lastModifiedBy>
  <cp:revision>1</cp:revision>
  <dcterms:created xsi:type="dcterms:W3CDTF">2026-02-23T12:54:46Z</dcterms:created>
  <dcterms:modified xsi:type="dcterms:W3CDTF">2026-09-21T12:39:43Z</dcterms:modified>
  <dc:language>es-PE</dc:language>
</cp:coreProperties>
</file>